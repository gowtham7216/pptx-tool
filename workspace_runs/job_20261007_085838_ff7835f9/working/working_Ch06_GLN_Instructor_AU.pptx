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0" r:id="rId4"/>
  </p:sldMasterIdLst>
  <p:notesMasterIdLst>
    <p:notesMasterId r:id="rId55"/>
  </p:notesMasterIdLst>
  <p:sldIdLst>
    <p:sldId id="399" r:id="rId5"/>
    <p:sldId id="400" r:id="rId6"/>
    <p:sldId id="415" r:id="rId7"/>
    <p:sldId id="416" r:id="rId8"/>
    <p:sldId id="417" r:id="rId9"/>
    <p:sldId id="418" r:id="rId10"/>
    <p:sldId id="419" r:id="rId11"/>
    <p:sldId id="420" r:id="rId12"/>
    <p:sldId id="421" r:id="rId13"/>
    <p:sldId id="422" r:id="rId14"/>
    <p:sldId id="423" r:id="rId15"/>
    <p:sldId id="424" r:id="rId16"/>
    <p:sldId id="425" r:id="rId17"/>
    <p:sldId id="426" r:id="rId18"/>
    <p:sldId id="427" r:id="rId19"/>
    <p:sldId id="429" r:id="rId20"/>
    <p:sldId id="428"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448" r:id="rId40"/>
    <p:sldId id="449" r:id="rId41"/>
    <p:sldId id="450" r:id="rId42"/>
    <p:sldId id="451" r:id="rId43"/>
    <p:sldId id="452" r:id="rId44"/>
    <p:sldId id="453" r:id="rId45"/>
    <p:sldId id="454" r:id="rId46"/>
    <p:sldId id="455" r:id="rId47"/>
    <p:sldId id="456" r:id="rId48"/>
    <p:sldId id="457" r:id="rId49"/>
    <p:sldId id="458" r:id="rId50"/>
    <p:sldId id="459" r:id="rId51"/>
    <p:sldId id="460" r:id="rId52"/>
    <p:sldId id="461" r:id="rId53"/>
    <p:sldId id="46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i, Wendy" initials="LW" lastIdx="3" clrIdx="0">
    <p:extLst>
      <p:ext uri="{19B8F6BF-5375-455C-9EA6-DF929625EA0E}">
        <p15:presenceInfo xmlns:p15="http://schemas.microsoft.com/office/powerpoint/2012/main" userId="S::welai@wiley.com::a5371048-0c99-493d-8b6a-2e0d44ed8f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6C0B7"/>
    <a:srgbClr val="C0694F"/>
    <a:srgbClr val="007440"/>
    <a:srgbClr val="2326C0"/>
    <a:srgbClr val="0F4FB1"/>
    <a:srgbClr val="8B4B3B"/>
    <a:srgbClr val="D29D65"/>
    <a:srgbClr val="016F1F"/>
    <a:srgbClr val="CBDDE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32" autoAdjust="0"/>
    <p:restoredTop sz="93447" autoAdjust="0"/>
  </p:normalViewPr>
  <p:slideViewPr>
    <p:cSldViewPr snapToGrid="0" snapToObjects="1">
      <p:cViewPr varScale="1">
        <p:scale>
          <a:sx n="29" d="100"/>
          <a:sy n="29" d="100"/>
        </p:scale>
        <p:origin x="964" y="40"/>
      </p:cViewPr>
      <p:guideLst/>
    </p:cSldViewPr>
  </p:slideViewPr>
  <p:outlineViewPr>
    <p:cViewPr>
      <p:scale>
        <a:sx n="33" d="100"/>
        <a:sy n="33" d="100"/>
      </p:scale>
      <p:origin x="0" y="0"/>
    </p:cViewPr>
  </p:outlineViewPr>
  <p:notesTextViewPr>
    <p:cViewPr>
      <p:scale>
        <a:sx n="85" d="100"/>
        <a:sy n="8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pitchFamily="2" charset="0"/>
              </a:defRPr>
            </a:lvl1pPr>
          </a:lstStyle>
          <a:p>
            <a:fld id="{4EFE1D2D-E1D2-EB4D-B872-60B7945D79A5}" type="datetimeFigureOut">
              <a:rPr lang="en-US" smtClean="0"/>
              <a:pPr/>
              <a:t>9/28/2026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pitchFamily="2" charset="0"/>
              </a:defRPr>
            </a:lvl1pPr>
          </a:lstStyle>
          <a:p>
            <a:fld id="{688C51AE-C483-2D4F-8F27-8D6A8821F4E1}" type="slidenum">
              <a:rPr lang="en-US" smtClean="0"/>
              <a:pPr/>
              <a:t>‹#›</a:t>
            </a:fld>
            <a:endParaRPr lang="en-US" dirty="0"/>
          </a:p>
        </p:txBody>
      </p:sp>
    </p:spTree>
    <p:extLst>
      <p:ext uri="{BB962C8B-B14F-4D97-AF65-F5344CB8AC3E}">
        <p14:creationId xmlns:p14="http://schemas.microsoft.com/office/powerpoint/2010/main" val="3514066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pitchFamily="2" charset="0"/>
        <a:ea typeface="+mn-ea"/>
        <a:cs typeface="+mn-cs"/>
      </a:defRPr>
    </a:lvl1pPr>
    <a:lvl2pPr marL="457200" algn="l" defTabSz="914400" rtl="0" eaLnBrk="1" latinLnBrk="0" hangingPunct="1">
      <a:defRPr sz="1200" b="0" i="0" kern="1200">
        <a:solidFill>
          <a:schemeClr val="tx1"/>
        </a:solidFill>
        <a:latin typeface="Times" pitchFamily="2" charset="0"/>
        <a:ea typeface="+mn-ea"/>
        <a:cs typeface="+mn-cs"/>
      </a:defRPr>
    </a:lvl2pPr>
    <a:lvl3pPr marL="914400" algn="l" defTabSz="914400" rtl="0" eaLnBrk="1" latinLnBrk="0" hangingPunct="1">
      <a:defRPr sz="1200" b="0" i="0" kern="1200">
        <a:solidFill>
          <a:schemeClr val="tx1"/>
        </a:solidFill>
        <a:latin typeface="Times" pitchFamily="2" charset="0"/>
        <a:ea typeface="+mn-ea"/>
        <a:cs typeface="+mn-cs"/>
      </a:defRPr>
    </a:lvl3pPr>
    <a:lvl4pPr marL="1371600" algn="l" defTabSz="914400" rtl="0" eaLnBrk="1" latinLnBrk="0" hangingPunct="1">
      <a:defRPr sz="1200" b="0" i="0" kern="1200">
        <a:solidFill>
          <a:schemeClr val="tx1"/>
        </a:solidFill>
        <a:latin typeface="Times" pitchFamily="2" charset="0"/>
        <a:ea typeface="+mn-ea"/>
        <a:cs typeface="+mn-cs"/>
      </a:defRPr>
    </a:lvl4pPr>
    <a:lvl5pPr marL="1828800" algn="l" defTabSz="914400" rtl="0" eaLnBrk="1" latinLnBrk="0" hangingPunct="1">
      <a:defRPr sz="1200" b="0" i="0" kern="1200">
        <a:solidFill>
          <a:schemeClr val="tx1"/>
        </a:solidFill>
        <a:latin typeface="Time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0E68-2FB7-95B5-B3FC-F6FAE1A12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75D39-9C9E-D9CD-03D0-792AF94037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7AD7FA-0F10-D90E-0399-32A34AF45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C496-EDD1-CFD9-D22A-54F12F562B14}"/>
              </a:ext>
            </a:extLst>
          </p:cNvPr>
          <p:cNvSpPr>
            <a:spLocks noGrp="1"/>
          </p:cNvSpPr>
          <p:nvPr>
            <p:ph type="sldNum" sz="quarter" idx="5"/>
          </p:nvPr>
        </p:nvSpPr>
        <p:spPr/>
        <p:txBody>
          <a:bodyPr/>
          <a:lstStyle/>
          <a:p>
            <a:fld id="{688C51AE-C483-2D4F-8F27-8D6A8821F4E1}" type="slidenum">
              <a:rPr lang="en-US" smtClean="0"/>
              <a:t>1</a:t>
            </a:fld>
            <a:endParaRPr lang="en-US"/>
          </a:p>
        </p:txBody>
      </p:sp>
    </p:spTree>
    <p:extLst>
      <p:ext uri="{BB962C8B-B14F-4D97-AF65-F5344CB8AC3E}">
        <p14:creationId xmlns:p14="http://schemas.microsoft.com/office/powerpoint/2010/main" val="244393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9F69-19E9-71AB-4339-F8676131C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5A315-98C0-EE49-3CC6-EE619E2F4E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796ABB2-D494-CE78-271B-F4EECC3F3C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8D170-2DDC-EF1D-0C15-21032C27EAF7}"/>
              </a:ext>
            </a:extLst>
          </p:cNvPr>
          <p:cNvSpPr>
            <a:spLocks noGrp="1"/>
          </p:cNvSpPr>
          <p:nvPr>
            <p:ph type="sldNum" sz="quarter" idx="5"/>
          </p:nvPr>
        </p:nvSpPr>
        <p:spPr/>
        <p:txBody>
          <a:bodyPr/>
          <a:lstStyle/>
          <a:p>
            <a:fld id="{688C51AE-C483-2D4F-8F27-8D6A8821F4E1}" type="slidenum">
              <a:rPr lang="en-US" smtClean="0"/>
              <a:t>2</a:t>
            </a:fld>
            <a:endParaRPr lang="en-US"/>
          </a:p>
        </p:txBody>
      </p:sp>
    </p:spTree>
    <p:extLst>
      <p:ext uri="{BB962C8B-B14F-4D97-AF65-F5344CB8AC3E}">
        <p14:creationId xmlns:p14="http://schemas.microsoft.com/office/powerpoint/2010/main" val="364949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22DFA-AC70-4B1A-7274-6C2EF89D9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D1E55-1CCB-24E1-D471-BA763C36E89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C42B4F4-BF6C-55F9-DB6A-A15ABE5A26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B56EA-BD8E-14F6-7D63-99264660FC63}"/>
              </a:ext>
            </a:extLst>
          </p:cNvPr>
          <p:cNvSpPr>
            <a:spLocks noGrp="1"/>
          </p:cNvSpPr>
          <p:nvPr>
            <p:ph type="sldNum" sz="quarter" idx="5"/>
          </p:nvPr>
        </p:nvSpPr>
        <p:spPr/>
        <p:txBody>
          <a:bodyPr/>
          <a:lstStyle/>
          <a:p>
            <a:fld id="{688C51AE-C483-2D4F-8F27-8D6A8821F4E1}" type="slidenum">
              <a:rPr lang="en-US" smtClean="0"/>
              <a:t>3</a:t>
            </a:fld>
            <a:endParaRPr lang="en-US"/>
          </a:p>
        </p:txBody>
      </p:sp>
    </p:spTree>
    <p:extLst>
      <p:ext uri="{BB962C8B-B14F-4D97-AF65-F5344CB8AC3E}">
        <p14:creationId xmlns:p14="http://schemas.microsoft.com/office/powerpoint/2010/main" val="250405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22D8C-B610-B4DD-7927-672323118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E814A-FF31-8F11-1D0E-EA1FD416857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595D718-AB95-6F92-5E57-EBF731EEE0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E89609-CC91-39B4-F98B-3BA0EF268F79}"/>
              </a:ext>
            </a:extLst>
          </p:cNvPr>
          <p:cNvSpPr>
            <a:spLocks noGrp="1"/>
          </p:cNvSpPr>
          <p:nvPr>
            <p:ph type="sldNum" sz="quarter" idx="5"/>
          </p:nvPr>
        </p:nvSpPr>
        <p:spPr/>
        <p:txBody>
          <a:bodyPr/>
          <a:lstStyle/>
          <a:p>
            <a:fld id="{688C51AE-C483-2D4F-8F27-8D6A8821F4E1}" type="slidenum">
              <a:rPr lang="en-US" smtClean="0"/>
              <a:t>4</a:t>
            </a:fld>
            <a:endParaRPr lang="en-US"/>
          </a:p>
        </p:txBody>
      </p:sp>
    </p:spTree>
    <p:extLst>
      <p:ext uri="{BB962C8B-B14F-4D97-AF65-F5344CB8AC3E}">
        <p14:creationId xmlns:p14="http://schemas.microsoft.com/office/powerpoint/2010/main" val="1054673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94CD4-380A-3033-6424-6FA71B916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DFCB6-2229-6246-2BB6-A8E760027F0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33CB30F-5944-3601-79D3-B90753915F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94A0A9-5296-FAE6-461F-81CE0B4A78D7}"/>
              </a:ext>
            </a:extLst>
          </p:cNvPr>
          <p:cNvSpPr>
            <a:spLocks noGrp="1"/>
          </p:cNvSpPr>
          <p:nvPr>
            <p:ph type="sldNum" sz="quarter" idx="5"/>
          </p:nvPr>
        </p:nvSpPr>
        <p:spPr/>
        <p:txBody>
          <a:bodyPr/>
          <a:lstStyle/>
          <a:p>
            <a:fld id="{688C51AE-C483-2D4F-8F27-8D6A8821F4E1}" type="slidenum">
              <a:rPr lang="en-US" smtClean="0"/>
              <a:t>5</a:t>
            </a:fld>
            <a:endParaRPr lang="en-US"/>
          </a:p>
        </p:txBody>
      </p:sp>
    </p:spTree>
    <p:extLst>
      <p:ext uri="{BB962C8B-B14F-4D97-AF65-F5344CB8AC3E}">
        <p14:creationId xmlns:p14="http://schemas.microsoft.com/office/powerpoint/2010/main" val="365948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C2C23-D1E4-8C9E-EF4C-D72B0A17FE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C4E79-ECD8-9943-50AE-BC0FD09BE8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AC8F404-39BC-1430-9CAD-D74713F8B1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1E8054-B1FC-1E35-3B76-357CE5CBE31F}"/>
              </a:ext>
            </a:extLst>
          </p:cNvPr>
          <p:cNvSpPr>
            <a:spLocks noGrp="1"/>
          </p:cNvSpPr>
          <p:nvPr>
            <p:ph type="sldNum" sz="quarter" idx="5"/>
          </p:nvPr>
        </p:nvSpPr>
        <p:spPr/>
        <p:txBody>
          <a:bodyPr/>
          <a:lstStyle/>
          <a:p>
            <a:fld id="{688C51AE-C483-2D4F-8F27-8D6A8821F4E1}" type="slidenum">
              <a:rPr lang="en-US" smtClean="0"/>
              <a:t>6</a:t>
            </a:fld>
            <a:endParaRPr lang="en-US"/>
          </a:p>
        </p:txBody>
      </p:sp>
    </p:spTree>
    <p:extLst>
      <p:ext uri="{BB962C8B-B14F-4D97-AF65-F5344CB8AC3E}">
        <p14:creationId xmlns:p14="http://schemas.microsoft.com/office/powerpoint/2010/main" val="256557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6D94E-CA7D-C159-2AC1-194F4BD38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48B51-EB8E-BC45-605C-01DA7C0AB9C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6254E33-DE6C-6B42-8A4D-946A192B5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37E2DA-717B-11B7-12C8-2036BF99EB44}"/>
              </a:ext>
            </a:extLst>
          </p:cNvPr>
          <p:cNvSpPr>
            <a:spLocks noGrp="1"/>
          </p:cNvSpPr>
          <p:nvPr>
            <p:ph type="sldNum" sz="quarter" idx="5"/>
          </p:nvPr>
        </p:nvSpPr>
        <p:spPr/>
        <p:txBody>
          <a:bodyPr/>
          <a:lstStyle/>
          <a:p>
            <a:fld id="{688C51AE-C483-2D4F-8F27-8D6A8821F4E1}" type="slidenum">
              <a:rPr lang="en-US" smtClean="0"/>
              <a:t>7</a:t>
            </a:fld>
            <a:endParaRPr lang="en-US"/>
          </a:p>
        </p:txBody>
      </p:sp>
    </p:spTree>
    <p:extLst>
      <p:ext uri="{BB962C8B-B14F-4D97-AF65-F5344CB8AC3E}">
        <p14:creationId xmlns:p14="http://schemas.microsoft.com/office/powerpoint/2010/main" val="3416492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7064-F3DD-1EFA-B095-ABD77A939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774B8-ACB1-472F-64FC-8286F2D769F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0AAC795-4B87-EB2E-1726-0A8D28D4DD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3F2B7-D800-E5E2-95E5-E34683AA03C0}"/>
              </a:ext>
            </a:extLst>
          </p:cNvPr>
          <p:cNvSpPr>
            <a:spLocks noGrp="1"/>
          </p:cNvSpPr>
          <p:nvPr>
            <p:ph type="sldNum" sz="quarter" idx="5"/>
          </p:nvPr>
        </p:nvSpPr>
        <p:spPr/>
        <p:txBody>
          <a:bodyPr/>
          <a:lstStyle/>
          <a:p>
            <a:fld id="{688C51AE-C483-2D4F-8F27-8D6A8821F4E1}" type="slidenum">
              <a:rPr lang="en-US" smtClean="0"/>
              <a:t>8</a:t>
            </a:fld>
            <a:endParaRPr lang="en-US"/>
          </a:p>
        </p:txBody>
      </p:sp>
    </p:spTree>
    <p:extLst>
      <p:ext uri="{BB962C8B-B14F-4D97-AF65-F5344CB8AC3E}">
        <p14:creationId xmlns:p14="http://schemas.microsoft.com/office/powerpoint/2010/main" val="2647695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35C0D-169C-1D29-E2AA-2197C2E87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81E32-85FA-C163-C818-94F6F928438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0603CA9-7B63-0FFA-D1F2-86BE0D4DE8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0A983A-3655-B46A-CE8C-955BE5D75DD3}"/>
              </a:ext>
            </a:extLst>
          </p:cNvPr>
          <p:cNvSpPr>
            <a:spLocks noGrp="1"/>
          </p:cNvSpPr>
          <p:nvPr>
            <p:ph type="sldNum" sz="quarter" idx="5"/>
          </p:nvPr>
        </p:nvSpPr>
        <p:spPr/>
        <p:txBody>
          <a:bodyPr/>
          <a:lstStyle/>
          <a:p>
            <a:fld id="{688C51AE-C483-2D4F-8F27-8D6A8821F4E1}" type="slidenum">
              <a:rPr lang="en-US" smtClean="0"/>
              <a:t>9</a:t>
            </a:fld>
            <a:endParaRPr lang="en-US"/>
          </a:p>
        </p:txBody>
      </p:sp>
    </p:spTree>
    <p:extLst>
      <p:ext uri="{BB962C8B-B14F-4D97-AF65-F5344CB8AC3E}">
        <p14:creationId xmlns:p14="http://schemas.microsoft.com/office/powerpoint/2010/main" val="1857158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ACA2A-4EF3-A0D5-F131-8E8D92FF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D624C-BF94-6EBC-B10E-B855FE997C2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ABBD66-AEB9-861D-913B-A2ECD8A7A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AF2F1-A3A6-2D67-A461-FFE4D5848DEF}"/>
              </a:ext>
            </a:extLst>
          </p:cNvPr>
          <p:cNvSpPr>
            <a:spLocks noGrp="1"/>
          </p:cNvSpPr>
          <p:nvPr>
            <p:ph type="sldNum" sz="quarter" idx="5"/>
          </p:nvPr>
        </p:nvSpPr>
        <p:spPr/>
        <p:txBody>
          <a:bodyPr/>
          <a:lstStyle/>
          <a:p>
            <a:fld id="{688C51AE-C483-2D4F-8F27-8D6A8821F4E1}" type="slidenum">
              <a:rPr lang="en-US" smtClean="0"/>
              <a:t>10</a:t>
            </a:fld>
            <a:endParaRPr lang="en-US"/>
          </a:p>
        </p:txBody>
      </p:sp>
    </p:spTree>
    <p:extLst>
      <p:ext uri="{BB962C8B-B14F-4D97-AF65-F5344CB8AC3E}">
        <p14:creationId xmlns:p14="http://schemas.microsoft.com/office/powerpoint/2010/main" val="2131037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A177-44BF-7912-86D3-CC1788354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DEE96-6102-71D0-834B-5B5AC8ED62E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C908138-C300-0322-5A0C-9593FB7BD1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452A3-73B9-6149-6B70-FB0B8954F629}"/>
              </a:ext>
            </a:extLst>
          </p:cNvPr>
          <p:cNvSpPr>
            <a:spLocks noGrp="1"/>
          </p:cNvSpPr>
          <p:nvPr>
            <p:ph type="sldNum" sz="quarter" idx="5"/>
          </p:nvPr>
        </p:nvSpPr>
        <p:spPr/>
        <p:txBody>
          <a:bodyPr/>
          <a:lstStyle/>
          <a:p>
            <a:fld id="{688C51AE-C483-2D4F-8F27-8D6A8821F4E1}" type="slidenum">
              <a:rPr lang="en-US" smtClean="0"/>
              <a:t>11</a:t>
            </a:fld>
            <a:endParaRPr lang="en-US"/>
          </a:p>
        </p:txBody>
      </p:sp>
    </p:spTree>
    <p:extLst>
      <p:ext uri="{BB962C8B-B14F-4D97-AF65-F5344CB8AC3E}">
        <p14:creationId xmlns:p14="http://schemas.microsoft.com/office/powerpoint/2010/main" val="959884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EED89-4ACD-C791-4312-8482E8C96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9BCAE-C69B-BBF0-BD9E-92E602E7858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2B481B0-CBBA-94F3-AA9F-4DC903E958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4E746B-2A01-63F5-EDB2-2E9FB63B9550}"/>
              </a:ext>
            </a:extLst>
          </p:cNvPr>
          <p:cNvSpPr>
            <a:spLocks noGrp="1"/>
          </p:cNvSpPr>
          <p:nvPr>
            <p:ph type="sldNum" sz="quarter" idx="5"/>
          </p:nvPr>
        </p:nvSpPr>
        <p:spPr/>
        <p:txBody>
          <a:bodyPr/>
          <a:lstStyle/>
          <a:p>
            <a:fld id="{688C51AE-C483-2D4F-8F27-8D6A8821F4E1}" type="slidenum">
              <a:rPr lang="en-US" smtClean="0"/>
              <a:t>12</a:t>
            </a:fld>
            <a:endParaRPr lang="en-US"/>
          </a:p>
        </p:txBody>
      </p:sp>
    </p:spTree>
    <p:extLst>
      <p:ext uri="{BB962C8B-B14F-4D97-AF65-F5344CB8AC3E}">
        <p14:creationId xmlns:p14="http://schemas.microsoft.com/office/powerpoint/2010/main" val="2705601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A047-BA13-E46B-B830-459870888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CE59C-2808-E6B7-EDF1-12A452DB357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0F4CE8A-76E2-C566-BBD1-5ACFDB3D36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824351-1D55-A386-2D15-ECA3674AED03}"/>
              </a:ext>
            </a:extLst>
          </p:cNvPr>
          <p:cNvSpPr>
            <a:spLocks noGrp="1"/>
          </p:cNvSpPr>
          <p:nvPr>
            <p:ph type="sldNum" sz="quarter" idx="5"/>
          </p:nvPr>
        </p:nvSpPr>
        <p:spPr/>
        <p:txBody>
          <a:bodyPr/>
          <a:lstStyle/>
          <a:p>
            <a:fld id="{688C51AE-C483-2D4F-8F27-8D6A8821F4E1}" type="slidenum">
              <a:rPr lang="en-US" smtClean="0"/>
              <a:t>13</a:t>
            </a:fld>
            <a:endParaRPr lang="en-US"/>
          </a:p>
        </p:txBody>
      </p:sp>
    </p:spTree>
    <p:extLst>
      <p:ext uri="{BB962C8B-B14F-4D97-AF65-F5344CB8AC3E}">
        <p14:creationId xmlns:p14="http://schemas.microsoft.com/office/powerpoint/2010/main" val="351222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8F13-153C-FCD2-C437-0B482C3CA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B3047-2279-8462-B007-E688E48A17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A37EBD3-6614-3F63-5A18-53C86D1E46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F2D4A3-56E6-8860-873A-C8C5A6CACF1C}"/>
              </a:ext>
            </a:extLst>
          </p:cNvPr>
          <p:cNvSpPr>
            <a:spLocks noGrp="1"/>
          </p:cNvSpPr>
          <p:nvPr>
            <p:ph type="sldNum" sz="quarter" idx="5"/>
          </p:nvPr>
        </p:nvSpPr>
        <p:spPr/>
        <p:txBody>
          <a:bodyPr/>
          <a:lstStyle/>
          <a:p>
            <a:fld id="{688C51AE-C483-2D4F-8F27-8D6A8821F4E1}" type="slidenum">
              <a:rPr lang="en-US" smtClean="0"/>
              <a:t>14</a:t>
            </a:fld>
            <a:endParaRPr lang="en-US"/>
          </a:p>
        </p:txBody>
      </p:sp>
    </p:spTree>
    <p:extLst>
      <p:ext uri="{BB962C8B-B14F-4D97-AF65-F5344CB8AC3E}">
        <p14:creationId xmlns:p14="http://schemas.microsoft.com/office/powerpoint/2010/main" val="21104544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FE07B-5890-1533-AE09-ED1E131C7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11C6A-706D-491C-9AC2-736B187EC4E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7665081-1C82-9CA1-613B-ADA03C9377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434BFF-0DFB-0D58-2634-C91FE8442BE9}"/>
              </a:ext>
            </a:extLst>
          </p:cNvPr>
          <p:cNvSpPr>
            <a:spLocks noGrp="1"/>
          </p:cNvSpPr>
          <p:nvPr>
            <p:ph type="sldNum" sz="quarter" idx="5"/>
          </p:nvPr>
        </p:nvSpPr>
        <p:spPr/>
        <p:txBody>
          <a:bodyPr/>
          <a:lstStyle/>
          <a:p>
            <a:fld id="{688C51AE-C483-2D4F-8F27-8D6A8821F4E1}" type="slidenum">
              <a:rPr lang="en-US" smtClean="0"/>
              <a:t>15</a:t>
            </a:fld>
            <a:endParaRPr lang="en-US"/>
          </a:p>
        </p:txBody>
      </p:sp>
    </p:spTree>
    <p:extLst>
      <p:ext uri="{BB962C8B-B14F-4D97-AF65-F5344CB8AC3E}">
        <p14:creationId xmlns:p14="http://schemas.microsoft.com/office/powerpoint/2010/main" val="2579287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6D40F-7CD4-F844-862B-39EF2F419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AB548-CEA0-DC08-618F-546FAF566B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63980C2-D77C-447A-6D05-417A91D702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F838B7-F03D-79EF-BBEB-9BF8BD8FEB50}"/>
              </a:ext>
            </a:extLst>
          </p:cNvPr>
          <p:cNvSpPr>
            <a:spLocks noGrp="1"/>
          </p:cNvSpPr>
          <p:nvPr>
            <p:ph type="sldNum" sz="quarter" idx="5"/>
          </p:nvPr>
        </p:nvSpPr>
        <p:spPr/>
        <p:txBody>
          <a:bodyPr/>
          <a:lstStyle/>
          <a:p>
            <a:fld id="{688C51AE-C483-2D4F-8F27-8D6A8821F4E1}" type="slidenum">
              <a:rPr lang="en-US" smtClean="0"/>
              <a:t>16</a:t>
            </a:fld>
            <a:endParaRPr lang="en-US"/>
          </a:p>
        </p:txBody>
      </p:sp>
    </p:spTree>
    <p:extLst>
      <p:ext uri="{BB962C8B-B14F-4D97-AF65-F5344CB8AC3E}">
        <p14:creationId xmlns:p14="http://schemas.microsoft.com/office/powerpoint/2010/main" val="834379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19E40-47BA-3414-74F0-B2F342CE9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062888-465B-7DEA-CECB-9436B8823F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60BD4D4-A3C3-AA14-CF65-A71EE62CF1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4D411-088A-E525-CD5C-3414D931E4B2}"/>
              </a:ext>
            </a:extLst>
          </p:cNvPr>
          <p:cNvSpPr>
            <a:spLocks noGrp="1"/>
          </p:cNvSpPr>
          <p:nvPr>
            <p:ph type="sldNum" sz="quarter" idx="5"/>
          </p:nvPr>
        </p:nvSpPr>
        <p:spPr/>
        <p:txBody>
          <a:bodyPr/>
          <a:lstStyle/>
          <a:p>
            <a:fld id="{688C51AE-C483-2D4F-8F27-8D6A8821F4E1}" type="slidenum">
              <a:rPr lang="en-US" smtClean="0"/>
              <a:t>17</a:t>
            </a:fld>
            <a:endParaRPr lang="en-US"/>
          </a:p>
        </p:txBody>
      </p:sp>
    </p:spTree>
    <p:extLst>
      <p:ext uri="{BB962C8B-B14F-4D97-AF65-F5344CB8AC3E}">
        <p14:creationId xmlns:p14="http://schemas.microsoft.com/office/powerpoint/2010/main" val="3266006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C7E2A-7F6A-6839-6AA5-194F3C8FF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B4166-354B-E901-468F-166FFC9CE6B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CD1F8D9-00DB-3803-FC9A-D4B6C1F8A5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453F8E-7807-93A7-62B1-84D6BF5617D1}"/>
              </a:ext>
            </a:extLst>
          </p:cNvPr>
          <p:cNvSpPr>
            <a:spLocks noGrp="1"/>
          </p:cNvSpPr>
          <p:nvPr>
            <p:ph type="sldNum" sz="quarter" idx="5"/>
          </p:nvPr>
        </p:nvSpPr>
        <p:spPr/>
        <p:txBody>
          <a:bodyPr/>
          <a:lstStyle/>
          <a:p>
            <a:fld id="{688C51AE-C483-2D4F-8F27-8D6A8821F4E1}" type="slidenum">
              <a:rPr lang="en-US" smtClean="0"/>
              <a:t>18</a:t>
            </a:fld>
            <a:endParaRPr lang="en-US"/>
          </a:p>
        </p:txBody>
      </p:sp>
    </p:spTree>
    <p:extLst>
      <p:ext uri="{BB962C8B-B14F-4D97-AF65-F5344CB8AC3E}">
        <p14:creationId xmlns:p14="http://schemas.microsoft.com/office/powerpoint/2010/main" val="928208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4D1AA-D73A-063B-AC0A-6AA828DCC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4B4A1-CBD7-00EB-5BC4-41276E8A7E2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944B387-9033-701E-C06F-3BA43DFEC3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050D06-C0D7-1EE5-D054-808F266732A6}"/>
              </a:ext>
            </a:extLst>
          </p:cNvPr>
          <p:cNvSpPr>
            <a:spLocks noGrp="1"/>
          </p:cNvSpPr>
          <p:nvPr>
            <p:ph type="sldNum" sz="quarter" idx="5"/>
          </p:nvPr>
        </p:nvSpPr>
        <p:spPr/>
        <p:txBody>
          <a:bodyPr/>
          <a:lstStyle/>
          <a:p>
            <a:fld id="{688C51AE-C483-2D4F-8F27-8D6A8821F4E1}" type="slidenum">
              <a:rPr lang="en-US" smtClean="0"/>
              <a:t>19</a:t>
            </a:fld>
            <a:endParaRPr lang="en-US"/>
          </a:p>
        </p:txBody>
      </p:sp>
    </p:spTree>
    <p:extLst>
      <p:ext uri="{BB962C8B-B14F-4D97-AF65-F5344CB8AC3E}">
        <p14:creationId xmlns:p14="http://schemas.microsoft.com/office/powerpoint/2010/main" val="3088472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07A37-A73B-FDAA-A7FF-863E09DCC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E24E1-4FF1-6F03-7A75-59605BD972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E53C24A-E751-CAE8-1DAA-0D9F0E80C8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D3BC93-AFC3-0A75-EC44-FD42F4EB28D2}"/>
              </a:ext>
            </a:extLst>
          </p:cNvPr>
          <p:cNvSpPr>
            <a:spLocks noGrp="1"/>
          </p:cNvSpPr>
          <p:nvPr>
            <p:ph type="sldNum" sz="quarter" idx="5"/>
          </p:nvPr>
        </p:nvSpPr>
        <p:spPr/>
        <p:txBody>
          <a:bodyPr/>
          <a:lstStyle/>
          <a:p>
            <a:fld id="{688C51AE-C483-2D4F-8F27-8D6A8821F4E1}" type="slidenum">
              <a:rPr lang="en-US" smtClean="0"/>
              <a:t>20</a:t>
            </a:fld>
            <a:endParaRPr lang="en-US"/>
          </a:p>
        </p:txBody>
      </p:sp>
    </p:spTree>
    <p:extLst>
      <p:ext uri="{BB962C8B-B14F-4D97-AF65-F5344CB8AC3E}">
        <p14:creationId xmlns:p14="http://schemas.microsoft.com/office/powerpoint/2010/main" val="24137439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D3B2B-5E9C-5E11-892C-7E4F2DAA7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A7E1B-036E-EFA8-8BF8-F8017AE166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489C17-FE5D-981C-AC6E-3A1C7C7E6B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2EE981-92CA-6913-7AA8-2EDC69BEBF1D}"/>
              </a:ext>
            </a:extLst>
          </p:cNvPr>
          <p:cNvSpPr>
            <a:spLocks noGrp="1"/>
          </p:cNvSpPr>
          <p:nvPr>
            <p:ph type="sldNum" sz="quarter" idx="5"/>
          </p:nvPr>
        </p:nvSpPr>
        <p:spPr/>
        <p:txBody>
          <a:bodyPr/>
          <a:lstStyle/>
          <a:p>
            <a:fld id="{688C51AE-C483-2D4F-8F27-8D6A8821F4E1}" type="slidenum">
              <a:rPr lang="en-US" smtClean="0"/>
              <a:t>21</a:t>
            </a:fld>
            <a:endParaRPr lang="en-US"/>
          </a:p>
        </p:txBody>
      </p:sp>
    </p:spTree>
    <p:extLst>
      <p:ext uri="{BB962C8B-B14F-4D97-AF65-F5344CB8AC3E}">
        <p14:creationId xmlns:p14="http://schemas.microsoft.com/office/powerpoint/2010/main" val="4292378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E0AB5-CFC5-306C-39B7-2D3F00BF0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F80FD-E7D0-63F6-0218-DBCDE5E22E1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31A3E8-3BEE-FC63-05FE-C603544AAF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EB71F7-6F15-CDE7-143B-E26782A6EFF0}"/>
              </a:ext>
            </a:extLst>
          </p:cNvPr>
          <p:cNvSpPr>
            <a:spLocks noGrp="1"/>
          </p:cNvSpPr>
          <p:nvPr>
            <p:ph type="sldNum" sz="quarter" idx="5"/>
          </p:nvPr>
        </p:nvSpPr>
        <p:spPr/>
        <p:txBody>
          <a:bodyPr/>
          <a:lstStyle/>
          <a:p>
            <a:fld id="{688C51AE-C483-2D4F-8F27-8D6A8821F4E1}" type="slidenum">
              <a:rPr lang="en-US" smtClean="0"/>
              <a:t>22</a:t>
            </a:fld>
            <a:endParaRPr lang="en-US"/>
          </a:p>
        </p:txBody>
      </p:sp>
    </p:spTree>
    <p:extLst>
      <p:ext uri="{BB962C8B-B14F-4D97-AF65-F5344CB8AC3E}">
        <p14:creationId xmlns:p14="http://schemas.microsoft.com/office/powerpoint/2010/main" val="2876059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D6074-CE3F-9C1B-3B97-67259CF14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34E93-8840-CCFC-4BA4-D986F6310E0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8B0FC92-934E-FE7F-ECE7-F9530504C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24E5A2-3726-5599-EA07-BD6AFAFB101B}"/>
              </a:ext>
            </a:extLst>
          </p:cNvPr>
          <p:cNvSpPr>
            <a:spLocks noGrp="1"/>
          </p:cNvSpPr>
          <p:nvPr>
            <p:ph type="sldNum" sz="quarter" idx="5"/>
          </p:nvPr>
        </p:nvSpPr>
        <p:spPr/>
        <p:txBody>
          <a:bodyPr/>
          <a:lstStyle/>
          <a:p>
            <a:fld id="{688C51AE-C483-2D4F-8F27-8D6A8821F4E1}" type="slidenum">
              <a:rPr lang="en-US" smtClean="0"/>
              <a:t>23</a:t>
            </a:fld>
            <a:endParaRPr lang="en-US"/>
          </a:p>
        </p:txBody>
      </p:sp>
    </p:spTree>
    <p:extLst>
      <p:ext uri="{BB962C8B-B14F-4D97-AF65-F5344CB8AC3E}">
        <p14:creationId xmlns:p14="http://schemas.microsoft.com/office/powerpoint/2010/main" val="28369831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78C71-0C4B-CF86-90E5-70A2B694A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67C82-3279-5F60-2705-F08697902B3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C1CAF9D-31AB-1E18-05D9-E2327239F8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76D510-35C0-EE06-FD1C-3CEDF6CA9AEF}"/>
              </a:ext>
            </a:extLst>
          </p:cNvPr>
          <p:cNvSpPr>
            <a:spLocks noGrp="1"/>
          </p:cNvSpPr>
          <p:nvPr>
            <p:ph type="sldNum" sz="quarter" idx="5"/>
          </p:nvPr>
        </p:nvSpPr>
        <p:spPr/>
        <p:txBody>
          <a:bodyPr/>
          <a:lstStyle/>
          <a:p>
            <a:fld id="{688C51AE-C483-2D4F-8F27-8D6A8821F4E1}" type="slidenum">
              <a:rPr lang="en-US" smtClean="0"/>
              <a:t>24</a:t>
            </a:fld>
            <a:endParaRPr lang="en-US"/>
          </a:p>
        </p:txBody>
      </p:sp>
    </p:spTree>
    <p:extLst>
      <p:ext uri="{BB962C8B-B14F-4D97-AF65-F5344CB8AC3E}">
        <p14:creationId xmlns:p14="http://schemas.microsoft.com/office/powerpoint/2010/main" val="8115844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4156-5593-ECE8-A5B8-46A738E93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F1614-DA8E-4A28-B1B1-207723697B8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25B9DE0-8DB6-0EEA-52AA-747152CFD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F4BC35-3C02-C0FA-5B99-B4DFBB41A69A}"/>
              </a:ext>
            </a:extLst>
          </p:cNvPr>
          <p:cNvSpPr>
            <a:spLocks noGrp="1"/>
          </p:cNvSpPr>
          <p:nvPr>
            <p:ph type="sldNum" sz="quarter" idx="5"/>
          </p:nvPr>
        </p:nvSpPr>
        <p:spPr/>
        <p:txBody>
          <a:bodyPr/>
          <a:lstStyle/>
          <a:p>
            <a:fld id="{688C51AE-C483-2D4F-8F27-8D6A8821F4E1}" type="slidenum">
              <a:rPr lang="en-US" smtClean="0"/>
              <a:t>25</a:t>
            </a:fld>
            <a:endParaRPr lang="en-US"/>
          </a:p>
        </p:txBody>
      </p:sp>
    </p:spTree>
    <p:extLst>
      <p:ext uri="{BB962C8B-B14F-4D97-AF65-F5344CB8AC3E}">
        <p14:creationId xmlns:p14="http://schemas.microsoft.com/office/powerpoint/2010/main" val="3278655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D806-E7A1-A8CD-FECE-361FC0D5F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DA17C-E7C5-F156-37DC-AB181537E00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97A2A83-EA2E-EE9D-7C4F-34E4EDA5D5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1382CA-4EE7-0888-8C22-46C1A1753DB4}"/>
              </a:ext>
            </a:extLst>
          </p:cNvPr>
          <p:cNvSpPr>
            <a:spLocks noGrp="1"/>
          </p:cNvSpPr>
          <p:nvPr>
            <p:ph type="sldNum" sz="quarter" idx="5"/>
          </p:nvPr>
        </p:nvSpPr>
        <p:spPr/>
        <p:txBody>
          <a:bodyPr/>
          <a:lstStyle/>
          <a:p>
            <a:fld id="{688C51AE-C483-2D4F-8F27-8D6A8821F4E1}" type="slidenum">
              <a:rPr lang="en-US" smtClean="0"/>
              <a:t>26</a:t>
            </a:fld>
            <a:endParaRPr lang="en-US"/>
          </a:p>
        </p:txBody>
      </p:sp>
    </p:spTree>
    <p:extLst>
      <p:ext uri="{BB962C8B-B14F-4D97-AF65-F5344CB8AC3E}">
        <p14:creationId xmlns:p14="http://schemas.microsoft.com/office/powerpoint/2010/main" val="1480900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6A37-5228-7756-94F5-08CC3D2CC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40BF3-366D-DD23-FAEE-D276B6BF7E8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731BEC3-E895-273E-0639-C9AED552FC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0A0F40-C6F4-31AF-7C0F-4F3EA8A8A386}"/>
              </a:ext>
            </a:extLst>
          </p:cNvPr>
          <p:cNvSpPr>
            <a:spLocks noGrp="1"/>
          </p:cNvSpPr>
          <p:nvPr>
            <p:ph type="sldNum" sz="quarter" idx="5"/>
          </p:nvPr>
        </p:nvSpPr>
        <p:spPr/>
        <p:txBody>
          <a:bodyPr/>
          <a:lstStyle/>
          <a:p>
            <a:fld id="{688C51AE-C483-2D4F-8F27-8D6A8821F4E1}" type="slidenum">
              <a:rPr lang="en-US" smtClean="0"/>
              <a:t>27</a:t>
            </a:fld>
            <a:endParaRPr lang="en-US"/>
          </a:p>
        </p:txBody>
      </p:sp>
    </p:spTree>
    <p:extLst>
      <p:ext uri="{BB962C8B-B14F-4D97-AF65-F5344CB8AC3E}">
        <p14:creationId xmlns:p14="http://schemas.microsoft.com/office/powerpoint/2010/main" val="41955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B093-2928-8884-CD7F-0BF93F099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ACC25-13AE-C145-CD3F-23D50AE9483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C0FB5EB-3257-D03E-E092-772FD8274E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3C4A24-A477-0B40-4365-B8F5A5BC48FA}"/>
              </a:ext>
            </a:extLst>
          </p:cNvPr>
          <p:cNvSpPr>
            <a:spLocks noGrp="1"/>
          </p:cNvSpPr>
          <p:nvPr>
            <p:ph type="sldNum" sz="quarter" idx="5"/>
          </p:nvPr>
        </p:nvSpPr>
        <p:spPr/>
        <p:txBody>
          <a:bodyPr/>
          <a:lstStyle/>
          <a:p>
            <a:fld id="{688C51AE-C483-2D4F-8F27-8D6A8821F4E1}" type="slidenum">
              <a:rPr lang="en-US" smtClean="0"/>
              <a:t>28</a:t>
            </a:fld>
            <a:endParaRPr lang="en-US"/>
          </a:p>
        </p:txBody>
      </p:sp>
    </p:spTree>
    <p:extLst>
      <p:ext uri="{BB962C8B-B14F-4D97-AF65-F5344CB8AC3E}">
        <p14:creationId xmlns:p14="http://schemas.microsoft.com/office/powerpoint/2010/main" val="1001898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2C70C-B255-FF3D-BECD-7B638554B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E0F18-BFAF-FE97-55A2-9C69D6417B0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BB34EF8-04C9-25DD-6026-C3A7ACA470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D2710B-67F2-D6FA-8F8D-B6F3FF6ACD99}"/>
              </a:ext>
            </a:extLst>
          </p:cNvPr>
          <p:cNvSpPr>
            <a:spLocks noGrp="1"/>
          </p:cNvSpPr>
          <p:nvPr>
            <p:ph type="sldNum" sz="quarter" idx="5"/>
          </p:nvPr>
        </p:nvSpPr>
        <p:spPr/>
        <p:txBody>
          <a:bodyPr/>
          <a:lstStyle/>
          <a:p>
            <a:fld id="{688C51AE-C483-2D4F-8F27-8D6A8821F4E1}" type="slidenum">
              <a:rPr lang="en-US" smtClean="0"/>
              <a:t>29</a:t>
            </a:fld>
            <a:endParaRPr lang="en-US"/>
          </a:p>
        </p:txBody>
      </p:sp>
    </p:spTree>
    <p:extLst>
      <p:ext uri="{BB962C8B-B14F-4D97-AF65-F5344CB8AC3E}">
        <p14:creationId xmlns:p14="http://schemas.microsoft.com/office/powerpoint/2010/main" val="3372534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523E-07F7-8C85-B352-0E733F4FA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55D8D-8FC0-BAEE-313E-AEA0BE8D4C7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A78BD2-F6BF-5B97-5CF0-EB53FC0AD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BB21C5-0DDD-D218-3C2D-63CB4808770F}"/>
              </a:ext>
            </a:extLst>
          </p:cNvPr>
          <p:cNvSpPr>
            <a:spLocks noGrp="1"/>
          </p:cNvSpPr>
          <p:nvPr>
            <p:ph type="sldNum" sz="quarter" idx="5"/>
          </p:nvPr>
        </p:nvSpPr>
        <p:spPr/>
        <p:txBody>
          <a:bodyPr/>
          <a:lstStyle/>
          <a:p>
            <a:fld id="{688C51AE-C483-2D4F-8F27-8D6A8821F4E1}" type="slidenum">
              <a:rPr lang="en-US" smtClean="0"/>
              <a:t>30</a:t>
            </a:fld>
            <a:endParaRPr lang="en-US"/>
          </a:p>
        </p:txBody>
      </p:sp>
    </p:spTree>
    <p:extLst>
      <p:ext uri="{BB962C8B-B14F-4D97-AF65-F5344CB8AC3E}">
        <p14:creationId xmlns:p14="http://schemas.microsoft.com/office/powerpoint/2010/main" val="27514219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F8ECC-CA75-76A6-D2F7-164CAF3AE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6EB68-B2DB-A84E-0EDD-CB97D333A65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686ECA2-05E2-BCEF-7517-C09EC2DBD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630317-E55A-66B0-1589-0D62D108D7CA}"/>
              </a:ext>
            </a:extLst>
          </p:cNvPr>
          <p:cNvSpPr>
            <a:spLocks noGrp="1"/>
          </p:cNvSpPr>
          <p:nvPr>
            <p:ph type="sldNum" sz="quarter" idx="5"/>
          </p:nvPr>
        </p:nvSpPr>
        <p:spPr/>
        <p:txBody>
          <a:bodyPr/>
          <a:lstStyle/>
          <a:p>
            <a:fld id="{688C51AE-C483-2D4F-8F27-8D6A8821F4E1}" type="slidenum">
              <a:rPr lang="en-US" smtClean="0"/>
              <a:t>31</a:t>
            </a:fld>
            <a:endParaRPr lang="en-US"/>
          </a:p>
        </p:txBody>
      </p:sp>
    </p:spTree>
    <p:extLst>
      <p:ext uri="{BB962C8B-B14F-4D97-AF65-F5344CB8AC3E}">
        <p14:creationId xmlns:p14="http://schemas.microsoft.com/office/powerpoint/2010/main" val="969349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1CB94-DB06-2199-0165-DF144C1AB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7B707-B230-7FE7-EAE1-7FA032C25FF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E0DB811-DCD1-181F-C5D4-7A1B159661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F67408-CEDC-26E4-2F2D-1F9ABD17A5D3}"/>
              </a:ext>
            </a:extLst>
          </p:cNvPr>
          <p:cNvSpPr>
            <a:spLocks noGrp="1"/>
          </p:cNvSpPr>
          <p:nvPr>
            <p:ph type="sldNum" sz="quarter" idx="5"/>
          </p:nvPr>
        </p:nvSpPr>
        <p:spPr/>
        <p:txBody>
          <a:bodyPr/>
          <a:lstStyle/>
          <a:p>
            <a:fld id="{688C51AE-C483-2D4F-8F27-8D6A8821F4E1}" type="slidenum">
              <a:rPr lang="en-US" smtClean="0"/>
              <a:t>32</a:t>
            </a:fld>
            <a:endParaRPr lang="en-US"/>
          </a:p>
        </p:txBody>
      </p:sp>
    </p:spTree>
    <p:extLst>
      <p:ext uri="{BB962C8B-B14F-4D97-AF65-F5344CB8AC3E}">
        <p14:creationId xmlns:p14="http://schemas.microsoft.com/office/powerpoint/2010/main" val="2271864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8A40-29BE-5D89-C325-425B0C2E1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72975-53A5-E62F-1079-EE35D392D4F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1E5127D-3B88-CAD5-D3D8-E7ADF1957B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BE475F-A5D9-F914-2F55-01E340587A86}"/>
              </a:ext>
            </a:extLst>
          </p:cNvPr>
          <p:cNvSpPr>
            <a:spLocks noGrp="1"/>
          </p:cNvSpPr>
          <p:nvPr>
            <p:ph type="sldNum" sz="quarter" idx="5"/>
          </p:nvPr>
        </p:nvSpPr>
        <p:spPr/>
        <p:txBody>
          <a:bodyPr/>
          <a:lstStyle/>
          <a:p>
            <a:fld id="{688C51AE-C483-2D4F-8F27-8D6A8821F4E1}" type="slidenum">
              <a:rPr lang="en-US" smtClean="0"/>
              <a:t>33</a:t>
            </a:fld>
            <a:endParaRPr lang="en-US"/>
          </a:p>
        </p:txBody>
      </p:sp>
    </p:spTree>
    <p:extLst>
      <p:ext uri="{BB962C8B-B14F-4D97-AF65-F5344CB8AC3E}">
        <p14:creationId xmlns:p14="http://schemas.microsoft.com/office/powerpoint/2010/main" val="5673549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90E1-B7FF-7820-9DB7-DB645C339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4EBB5-E9F0-3D9F-D51E-27EDEDFE3AB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49AC12-B6B7-813B-37A8-BD611C6FE2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011D6B-28E1-2560-14A1-6A62DB30D62A}"/>
              </a:ext>
            </a:extLst>
          </p:cNvPr>
          <p:cNvSpPr>
            <a:spLocks noGrp="1"/>
          </p:cNvSpPr>
          <p:nvPr>
            <p:ph type="sldNum" sz="quarter" idx="5"/>
          </p:nvPr>
        </p:nvSpPr>
        <p:spPr/>
        <p:txBody>
          <a:bodyPr/>
          <a:lstStyle/>
          <a:p>
            <a:fld id="{688C51AE-C483-2D4F-8F27-8D6A8821F4E1}" type="slidenum">
              <a:rPr lang="en-US" smtClean="0"/>
              <a:t>34</a:t>
            </a:fld>
            <a:endParaRPr lang="en-US"/>
          </a:p>
        </p:txBody>
      </p:sp>
    </p:spTree>
    <p:extLst>
      <p:ext uri="{BB962C8B-B14F-4D97-AF65-F5344CB8AC3E}">
        <p14:creationId xmlns:p14="http://schemas.microsoft.com/office/powerpoint/2010/main" val="37215862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282C0-22D1-F2BD-E16E-B860A35B1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482D6-6E23-9EF1-8171-EB705D5B4D7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7F1B463-A017-2D56-830B-CD432130E1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A170AA-D358-5B65-EB42-170F75E7D52C}"/>
              </a:ext>
            </a:extLst>
          </p:cNvPr>
          <p:cNvSpPr>
            <a:spLocks noGrp="1"/>
          </p:cNvSpPr>
          <p:nvPr>
            <p:ph type="sldNum" sz="quarter" idx="5"/>
          </p:nvPr>
        </p:nvSpPr>
        <p:spPr/>
        <p:txBody>
          <a:bodyPr/>
          <a:lstStyle/>
          <a:p>
            <a:fld id="{688C51AE-C483-2D4F-8F27-8D6A8821F4E1}" type="slidenum">
              <a:rPr lang="en-US" smtClean="0"/>
              <a:t>35</a:t>
            </a:fld>
            <a:endParaRPr lang="en-US"/>
          </a:p>
        </p:txBody>
      </p:sp>
    </p:spTree>
    <p:extLst>
      <p:ext uri="{BB962C8B-B14F-4D97-AF65-F5344CB8AC3E}">
        <p14:creationId xmlns:p14="http://schemas.microsoft.com/office/powerpoint/2010/main" val="14847489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A7C25-4F44-2E14-25FC-A2612FF5A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83A03-E125-6CA5-A9C0-9616455CAA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FC6CB54-8C69-2269-C2AF-B17AFC6D97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762D2B-4988-8E0A-465E-BF09D4E4E5EA}"/>
              </a:ext>
            </a:extLst>
          </p:cNvPr>
          <p:cNvSpPr>
            <a:spLocks noGrp="1"/>
          </p:cNvSpPr>
          <p:nvPr>
            <p:ph type="sldNum" sz="quarter" idx="5"/>
          </p:nvPr>
        </p:nvSpPr>
        <p:spPr/>
        <p:txBody>
          <a:bodyPr/>
          <a:lstStyle/>
          <a:p>
            <a:fld id="{688C51AE-C483-2D4F-8F27-8D6A8821F4E1}" type="slidenum">
              <a:rPr lang="en-US" smtClean="0"/>
              <a:t>36</a:t>
            </a:fld>
            <a:endParaRPr lang="en-US"/>
          </a:p>
        </p:txBody>
      </p:sp>
    </p:spTree>
    <p:extLst>
      <p:ext uri="{BB962C8B-B14F-4D97-AF65-F5344CB8AC3E}">
        <p14:creationId xmlns:p14="http://schemas.microsoft.com/office/powerpoint/2010/main" val="30705743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E7E8C-945B-BCD9-F5B1-9B9CF3BE2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F236A-F4F8-5CC9-0E18-65EC9C9E4E7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2A97AA6-EA12-CBEB-8E7A-F83250DB1C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DE7DC7-D3C7-B7C4-528D-BA90CA2210E1}"/>
              </a:ext>
            </a:extLst>
          </p:cNvPr>
          <p:cNvSpPr>
            <a:spLocks noGrp="1"/>
          </p:cNvSpPr>
          <p:nvPr>
            <p:ph type="sldNum" sz="quarter" idx="5"/>
          </p:nvPr>
        </p:nvSpPr>
        <p:spPr/>
        <p:txBody>
          <a:bodyPr/>
          <a:lstStyle/>
          <a:p>
            <a:fld id="{688C51AE-C483-2D4F-8F27-8D6A8821F4E1}" type="slidenum">
              <a:rPr lang="en-US" smtClean="0"/>
              <a:t>37</a:t>
            </a:fld>
            <a:endParaRPr lang="en-US"/>
          </a:p>
        </p:txBody>
      </p:sp>
    </p:spTree>
    <p:extLst>
      <p:ext uri="{BB962C8B-B14F-4D97-AF65-F5344CB8AC3E}">
        <p14:creationId xmlns:p14="http://schemas.microsoft.com/office/powerpoint/2010/main" val="385360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9C97C-9B4B-7901-1DF4-FB544FDF2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012B2-D4EB-F4A4-B4B4-A276057D679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1C9356E-2045-7B59-107B-1DED7772B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9F669-09C4-CA2A-E4DE-5A0B89C0D0DE}"/>
              </a:ext>
            </a:extLst>
          </p:cNvPr>
          <p:cNvSpPr>
            <a:spLocks noGrp="1"/>
          </p:cNvSpPr>
          <p:nvPr>
            <p:ph type="sldNum" sz="quarter" idx="5"/>
          </p:nvPr>
        </p:nvSpPr>
        <p:spPr/>
        <p:txBody>
          <a:bodyPr/>
          <a:lstStyle/>
          <a:p>
            <a:fld id="{688C51AE-C483-2D4F-8F27-8D6A8821F4E1}" type="slidenum">
              <a:rPr lang="en-US" smtClean="0"/>
              <a:t>38</a:t>
            </a:fld>
            <a:endParaRPr lang="en-US"/>
          </a:p>
        </p:txBody>
      </p:sp>
    </p:spTree>
    <p:extLst>
      <p:ext uri="{BB962C8B-B14F-4D97-AF65-F5344CB8AC3E}">
        <p14:creationId xmlns:p14="http://schemas.microsoft.com/office/powerpoint/2010/main" val="36098375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5FF0F-286C-71BB-3FA6-E66F7B951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B232C-8724-201B-53F9-D7645FF747E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F61550-B547-C817-C6A4-248D54D8E4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CA2B8-8CE9-3260-5962-EA9B179BF7DE}"/>
              </a:ext>
            </a:extLst>
          </p:cNvPr>
          <p:cNvSpPr>
            <a:spLocks noGrp="1"/>
          </p:cNvSpPr>
          <p:nvPr>
            <p:ph type="sldNum" sz="quarter" idx="5"/>
          </p:nvPr>
        </p:nvSpPr>
        <p:spPr/>
        <p:txBody>
          <a:bodyPr/>
          <a:lstStyle/>
          <a:p>
            <a:fld id="{688C51AE-C483-2D4F-8F27-8D6A8821F4E1}" type="slidenum">
              <a:rPr lang="en-US" smtClean="0"/>
              <a:t>39</a:t>
            </a:fld>
            <a:endParaRPr lang="en-US"/>
          </a:p>
        </p:txBody>
      </p:sp>
    </p:spTree>
    <p:extLst>
      <p:ext uri="{BB962C8B-B14F-4D97-AF65-F5344CB8AC3E}">
        <p14:creationId xmlns:p14="http://schemas.microsoft.com/office/powerpoint/2010/main" val="220445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ED89F-36FC-2C75-97E6-1119C48AB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E8FE9-08E2-6B25-1211-F90456C0DE4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FAF45EE-15EB-8246-1C2C-ED271569A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68481-94B2-ED55-C35A-99F5ACDAAE17}"/>
              </a:ext>
            </a:extLst>
          </p:cNvPr>
          <p:cNvSpPr>
            <a:spLocks noGrp="1"/>
          </p:cNvSpPr>
          <p:nvPr>
            <p:ph type="sldNum" sz="quarter" idx="5"/>
          </p:nvPr>
        </p:nvSpPr>
        <p:spPr/>
        <p:txBody>
          <a:bodyPr/>
          <a:lstStyle/>
          <a:p>
            <a:fld id="{688C51AE-C483-2D4F-8F27-8D6A8821F4E1}" type="slidenum">
              <a:rPr lang="en-US" smtClean="0"/>
              <a:t>40</a:t>
            </a:fld>
            <a:endParaRPr lang="en-US"/>
          </a:p>
        </p:txBody>
      </p:sp>
    </p:spTree>
    <p:extLst>
      <p:ext uri="{BB962C8B-B14F-4D97-AF65-F5344CB8AC3E}">
        <p14:creationId xmlns:p14="http://schemas.microsoft.com/office/powerpoint/2010/main" val="2606544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DB08E-4388-0666-4063-E235265DF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D2AA6-50F2-68A2-A0FF-84225DF66E3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F27B151-4288-94E2-0D15-753CACE1D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3430B4-D5CE-6165-3E36-007C6AEF5E3D}"/>
              </a:ext>
            </a:extLst>
          </p:cNvPr>
          <p:cNvSpPr>
            <a:spLocks noGrp="1"/>
          </p:cNvSpPr>
          <p:nvPr>
            <p:ph type="sldNum" sz="quarter" idx="5"/>
          </p:nvPr>
        </p:nvSpPr>
        <p:spPr/>
        <p:txBody>
          <a:bodyPr/>
          <a:lstStyle/>
          <a:p>
            <a:fld id="{688C51AE-C483-2D4F-8F27-8D6A8821F4E1}" type="slidenum">
              <a:rPr lang="en-US" smtClean="0"/>
              <a:t>41</a:t>
            </a:fld>
            <a:endParaRPr lang="en-US"/>
          </a:p>
        </p:txBody>
      </p:sp>
    </p:spTree>
    <p:extLst>
      <p:ext uri="{BB962C8B-B14F-4D97-AF65-F5344CB8AC3E}">
        <p14:creationId xmlns:p14="http://schemas.microsoft.com/office/powerpoint/2010/main" val="29627037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0350-9D53-5933-8963-BDED728F3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05A69-25F1-2176-E08C-05E7666AAB9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16C6FBC-177E-0247-94D8-9D00176D4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877F06-C63D-395A-D5FC-881337C889E6}"/>
              </a:ext>
            </a:extLst>
          </p:cNvPr>
          <p:cNvSpPr>
            <a:spLocks noGrp="1"/>
          </p:cNvSpPr>
          <p:nvPr>
            <p:ph type="sldNum" sz="quarter" idx="5"/>
          </p:nvPr>
        </p:nvSpPr>
        <p:spPr/>
        <p:txBody>
          <a:bodyPr/>
          <a:lstStyle/>
          <a:p>
            <a:fld id="{688C51AE-C483-2D4F-8F27-8D6A8821F4E1}" type="slidenum">
              <a:rPr lang="en-US" smtClean="0"/>
              <a:t>42</a:t>
            </a:fld>
            <a:endParaRPr lang="en-US"/>
          </a:p>
        </p:txBody>
      </p:sp>
    </p:spTree>
    <p:extLst>
      <p:ext uri="{BB962C8B-B14F-4D97-AF65-F5344CB8AC3E}">
        <p14:creationId xmlns:p14="http://schemas.microsoft.com/office/powerpoint/2010/main" val="24810328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23ED-094C-9370-3E18-936788BBF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341A0-25B9-73CD-AAD0-8A343121B5E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0BED421-98FE-B17D-CF06-F8A3ECACA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3BB9B8-F16B-1F5D-58BC-665B8C09ECE5}"/>
              </a:ext>
            </a:extLst>
          </p:cNvPr>
          <p:cNvSpPr>
            <a:spLocks noGrp="1"/>
          </p:cNvSpPr>
          <p:nvPr>
            <p:ph type="sldNum" sz="quarter" idx="5"/>
          </p:nvPr>
        </p:nvSpPr>
        <p:spPr/>
        <p:txBody>
          <a:bodyPr/>
          <a:lstStyle/>
          <a:p>
            <a:fld id="{688C51AE-C483-2D4F-8F27-8D6A8821F4E1}" type="slidenum">
              <a:rPr lang="en-US" smtClean="0"/>
              <a:t>43</a:t>
            </a:fld>
            <a:endParaRPr lang="en-US"/>
          </a:p>
        </p:txBody>
      </p:sp>
    </p:spTree>
    <p:extLst>
      <p:ext uri="{BB962C8B-B14F-4D97-AF65-F5344CB8AC3E}">
        <p14:creationId xmlns:p14="http://schemas.microsoft.com/office/powerpoint/2010/main" val="3996354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CAD2-2C28-2B94-4264-0B4E5F5C3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F1E6F-F6F4-8232-9EC2-AA7925AAFB3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F73D469-564D-FE5B-156F-03F88B0F55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BC9B5C-6A1F-9579-CC1F-FC078688AB32}"/>
              </a:ext>
            </a:extLst>
          </p:cNvPr>
          <p:cNvSpPr>
            <a:spLocks noGrp="1"/>
          </p:cNvSpPr>
          <p:nvPr>
            <p:ph type="sldNum" sz="quarter" idx="5"/>
          </p:nvPr>
        </p:nvSpPr>
        <p:spPr/>
        <p:txBody>
          <a:bodyPr/>
          <a:lstStyle/>
          <a:p>
            <a:fld id="{688C51AE-C483-2D4F-8F27-8D6A8821F4E1}" type="slidenum">
              <a:rPr lang="en-US" smtClean="0"/>
              <a:t>44</a:t>
            </a:fld>
            <a:endParaRPr lang="en-US"/>
          </a:p>
        </p:txBody>
      </p:sp>
    </p:spTree>
    <p:extLst>
      <p:ext uri="{BB962C8B-B14F-4D97-AF65-F5344CB8AC3E}">
        <p14:creationId xmlns:p14="http://schemas.microsoft.com/office/powerpoint/2010/main" val="13171422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13C70-AF9E-96F7-1DDE-DCFDE006E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1F5DA-C9FD-3D8A-EEB0-681C53BE1D7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8457F37-B817-7845-2AB3-9A71999CB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ABD513-BCE6-994F-DAC2-F001FB60A59B}"/>
              </a:ext>
            </a:extLst>
          </p:cNvPr>
          <p:cNvSpPr>
            <a:spLocks noGrp="1"/>
          </p:cNvSpPr>
          <p:nvPr>
            <p:ph type="sldNum" sz="quarter" idx="5"/>
          </p:nvPr>
        </p:nvSpPr>
        <p:spPr/>
        <p:txBody>
          <a:bodyPr/>
          <a:lstStyle/>
          <a:p>
            <a:fld id="{688C51AE-C483-2D4F-8F27-8D6A8821F4E1}" type="slidenum">
              <a:rPr lang="en-US" smtClean="0"/>
              <a:t>45</a:t>
            </a:fld>
            <a:endParaRPr lang="en-US"/>
          </a:p>
        </p:txBody>
      </p:sp>
    </p:spTree>
    <p:extLst>
      <p:ext uri="{BB962C8B-B14F-4D97-AF65-F5344CB8AC3E}">
        <p14:creationId xmlns:p14="http://schemas.microsoft.com/office/powerpoint/2010/main" val="19251312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A4354-50A9-49C1-835E-A03934CE2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13571-5126-853A-CEA2-7E43AAB73ED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AD3C26D-B9E7-9BA9-177F-3DDBE7AEF4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F2878-65F0-1B88-4773-1E42F25F5767}"/>
              </a:ext>
            </a:extLst>
          </p:cNvPr>
          <p:cNvSpPr>
            <a:spLocks noGrp="1"/>
          </p:cNvSpPr>
          <p:nvPr>
            <p:ph type="sldNum" sz="quarter" idx="5"/>
          </p:nvPr>
        </p:nvSpPr>
        <p:spPr/>
        <p:txBody>
          <a:bodyPr/>
          <a:lstStyle/>
          <a:p>
            <a:fld id="{688C51AE-C483-2D4F-8F27-8D6A8821F4E1}" type="slidenum">
              <a:rPr lang="en-US" smtClean="0"/>
              <a:t>46</a:t>
            </a:fld>
            <a:endParaRPr lang="en-US"/>
          </a:p>
        </p:txBody>
      </p:sp>
    </p:spTree>
    <p:extLst>
      <p:ext uri="{BB962C8B-B14F-4D97-AF65-F5344CB8AC3E}">
        <p14:creationId xmlns:p14="http://schemas.microsoft.com/office/powerpoint/2010/main" val="23281298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A2C59-3E9B-CFF1-DF85-38F2C0C4A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EF678-C28E-436E-152E-83F841B4BB2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3D0BE4-E237-28A7-DF23-49CCB37EC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C937BD-7B77-6E0B-9C03-512808D6724E}"/>
              </a:ext>
            </a:extLst>
          </p:cNvPr>
          <p:cNvSpPr>
            <a:spLocks noGrp="1"/>
          </p:cNvSpPr>
          <p:nvPr>
            <p:ph type="sldNum" sz="quarter" idx="5"/>
          </p:nvPr>
        </p:nvSpPr>
        <p:spPr/>
        <p:txBody>
          <a:bodyPr/>
          <a:lstStyle/>
          <a:p>
            <a:fld id="{688C51AE-C483-2D4F-8F27-8D6A8821F4E1}" type="slidenum">
              <a:rPr lang="en-US" smtClean="0"/>
              <a:t>47</a:t>
            </a:fld>
            <a:endParaRPr lang="en-US"/>
          </a:p>
        </p:txBody>
      </p:sp>
    </p:spTree>
    <p:extLst>
      <p:ext uri="{BB962C8B-B14F-4D97-AF65-F5344CB8AC3E}">
        <p14:creationId xmlns:p14="http://schemas.microsoft.com/office/powerpoint/2010/main" val="1488642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C2B6E-155B-7DFC-8925-72E68C460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F02BC-FAD6-2BE7-C189-357CBD5ACC0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6B1770-F7D7-5ED7-00CB-F5F09ED43B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0DA9C-92B2-2651-473E-C5416285D2F3}"/>
              </a:ext>
            </a:extLst>
          </p:cNvPr>
          <p:cNvSpPr>
            <a:spLocks noGrp="1"/>
          </p:cNvSpPr>
          <p:nvPr>
            <p:ph type="sldNum" sz="quarter" idx="5"/>
          </p:nvPr>
        </p:nvSpPr>
        <p:spPr/>
        <p:txBody>
          <a:bodyPr/>
          <a:lstStyle/>
          <a:p>
            <a:fld id="{688C51AE-C483-2D4F-8F27-8D6A8821F4E1}" type="slidenum">
              <a:rPr lang="en-US" smtClean="0"/>
              <a:t>48</a:t>
            </a:fld>
            <a:endParaRPr lang="en-US"/>
          </a:p>
        </p:txBody>
      </p:sp>
    </p:spTree>
    <p:extLst>
      <p:ext uri="{BB962C8B-B14F-4D97-AF65-F5344CB8AC3E}">
        <p14:creationId xmlns:p14="http://schemas.microsoft.com/office/powerpoint/2010/main" val="13706148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F87CC-A1E5-0FBA-7B9B-9A5DA85A5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FFAEA-7328-28F1-5E8E-9D97C086F7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139D04-C0E6-48D4-0CA4-795B427D88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9A7978-76DA-DB95-928E-2F59E052CCB7}"/>
              </a:ext>
            </a:extLst>
          </p:cNvPr>
          <p:cNvSpPr>
            <a:spLocks noGrp="1"/>
          </p:cNvSpPr>
          <p:nvPr>
            <p:ph type="sldNum" sz="quarter" idx="5"/>
          </p:nvPr>
        </p:nvSpPr>
        <p:spPr/>
        <p:txBody>
          <a:bodyPr/>
          <a:lstStyle/>
          <a:p>
            <a:fld id="{688C51AE-C483-2D4F-8F27-8D6A8821F4E1}" type="slidenum">
              <a:rPr lang="en-US" smtClean="0"/>
              <a:t>49</a:t>
            </a:fld>
            <a:endParaRPr lang="en-US"/>
          </a:p>
        </p:txBody>
      </p:sp>
    </p:spTree>
    <p:extLst>
      <p:ext uri="{BB962C8B-B14F-4D97-AF65-F5344CB8AC3E}">
        <p14:creationId xmlns:p14="http://schemas.microsoft.com/office/powerpoint/2010/main" val="41939305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08715-AEDC-CE78-C299-9DF2601E3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92DD1-5133-FCF9-5B54-8CE68E18527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A1F5B9A-E0FF-AC30-1FB2-212BBF1E6B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4D86C8-5DD5-2308-AC90-B1FCCD62DB6A}"/>
              </a:ext>
            </a:extLst>
          </p:cNvPr>
          <p:cNvSpPr>
            <a:spLocks noGrp="1"/>
          </p:cNvSpPr>
          <p:nvPr>
            <p:ph type="sldNum" sz="quarter" idx="5"/>
          </p:nvPr>
        </p:nvSpPr>
        <p:spPr/>
        <p:txBody>
          <a:bodyPr/>
          <a:lstStyle/>
          <a:p>
            <a:fld id="{688C51AE-C483-2D4F-8F27-8D6A8821F4E1}" type="slidenum">
              <a:rPr lang="en-US" smtClean="0"/>
              <a:t>50</a:t>
            </a:fld>
            <a:endParaRPr lang="en-US"/>
          </a:p>
        </p:txBody>
      </p:sp>
    </p:spTree>
    <p:extLst>
      <p:ext uri="{BB962C8B-B14F-4D97-AF65-F5344CB8AC3E}">
        <p14:creationId xmlns:p14="http://schemas.microsoft.com/office/powerpoint/2010/main" val="2785269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hapter Opener: author at top">
    <p:spTree>
      <p:nvGrpSpPr>
        <p:cNvPr id="1" name=""/>
        <p:cNvGrpSpPr/>
        <p:nvPr/>
      </p:nvGrpSpPr>
      <p:grpSpPr>
        <a:xfrm>
          <a:off x="0" y="0"/>
          <a:ext cx="0" cy="0"/>
          <a:chOff x="0" y="0"/>
          <a:chExt cx="0" cy="0"/>
        </a:xfrm>
      </p:grpSpPr>
      <p:sp>
        <p:nvSpPr>
          <p:cNvPr id="2" name="Title "/>
          <p:cNvSpPr>
            <a:spLocks noGrp="1"/>
          </p:cNvSpPr>
          <p:nvPr>
            <p:ph type="ctrTitle" hasCustomPrompt="1"/>
          </p:nvPr>
        </p:nvSpPr>
        <p:spPr>
          <a:xfrm>
            <a:off x="443345" y="464185"/>
            <a:ext cx="11294227" cy="1066801"/>
          </a:xfrm>
          <a:prstGeom prst="rect">
            <a:avLst/>
          </a:prstGeom>
        </p:spPr>
        <p:txBody>
          <a:bodyPr anchor="t">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5" name="Edition">
            <a:extLst>
              <a:ext uri="{FF2B5EF4-FFF2-40B4-BE49-F238E27FC236}">
                <a16:creationId xmlns:a16="http://schemas.microsoft.com/office/drawing/2014/main" id="{B16BE010-E2AD-8943-AA26-A3BD45390A63}"/>
              </a:ext>
            </a:extLst>
          </p:cNvPr>
          <p:cNvSpPr>
            <a:spLocks noGrp="1"/>
          </p:cNvSpPr>
          <p:nvPr>
            <p:ph sz="quarter" idx="24" hasCustomPrompt="1"/>
          </p:nvPr>
        </p:nvSpPr>
        <p:spPr>
          <a:xfrm>
            <a:off x="442384" y="1414249"/>
            <a:ext cx="11294533" cy="603504"/>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stStyle>
          <a:p>
            <a:pPr lvl="0"/>
            <a:r>
              <a:rPr lang="en-US" dirty="0"/>
              <a:t>Third Edition</a:t>
            </a:r>
          </a:p>
        </p:txBody>
      </p:sp>
      <p:sp>
        <p:nvSpPr>
          <p:cNvPr id="7" name="Author">
            <a:extLst>
              <a:ext uri="{FF2B5EF4-FFF2-40B4-BE49-F238E27FC236}">
                <a16:creationId xmlns:a16="http://schemas.microsoft.com/office/drawing/2014/main" id="{D071BBAD-F08D-AA46-8DDD-B137F9C0B7FA}"/>
              </a:ext>
            </a:extLst>
          </p:cNvPr>
          <p:cNvSpPr>
            <a:spLocks noGrp="1"/>
          </p:cNvSpPr>
          <p:nvPr>
            <p:ph sz="quarter" idx="25" hasCustomPrompt="1"/>
          </p:nvPr>
        </p:nvSpPr>
        <p:spPr>
          <a:xfrm>
            <a:off x="442384" y="2234394"/>
            <a:ext cx="11294533" cy="668222"/>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4" name="CN">
            <a:extLst>
              <a:ext uri="{FF2B5EF4-FFF2-40B4-BE49-F238E27FC236}">
                <a16:creationId xmlns:a16="http://schemas.microsoft.com/office/drawing/2014/main" id="{7D7AAD37-2105-EA4E-810B-DEF0E8A3B04B}"/>
              </a:ext>
            </a:extLst>
          </p:cNvPr>
          <p:cNvSpPr>
            <a:spLocks noGrp="1"/>
          </p:cNvSpPr>
          <p:nvPr>
            <p:ph sz="quarter" idx="26" hasCustomPrompt="1"/>
          </p:nvPr>
        </p:nvSpPr>
        <p:spPr>
          <a:xfrm>
            <a:off x="442384" y="3909878"/>
            <a:ext cx="11294533" cy="533400"/>
          </a:xfrm>
          <a:prstGeom prst="rect">
            <a:avLst/>
          </a:prstGeom>
        </p:spPr>
        <p:txBody>
          <a:bodyPr>
            <a:noAutofit/>
          </a:bodyPr>
          <a:lstStyle>
            <a:lvl1pPr marL="0" indent="0" algn="ctr">
              <a:buNone/>
              <a:defRPr sz="2300" b="1" i="0" spc="450">
                <a:solidFill>
                  <a:schemeClr val="accent3"/>
                </a:solidFill>
                <a:latin typeface="Times" pitchFamily="2" charset="0"/>
                <a:cs typeface="Calibri" panose="020F0502020204030204" pitchFamily="34" charset="0"/>
              </a:defRPr>
            </a:lvl1pPr>
          </a:lstStyle>
          <a:p>
            <a:pPr lvl="0"/>
            <a:r>
              <a:rPr lang="en-US" dirty="0"/>
              <a:t>CHAPTER 1</a:t>
            </a:r>
          </a:p>
        </p:txBody>
      </p:sp>
      <p:sp>
        <p:nvSpPr>
          <p:cNvPr id="3" name="CT"/>
          <p:cNvSpPr>
            <a:spLocks noGrp="1"/>
          </p:cNvSpPr>
          <p:nvPr>
            <p:ph type="subTitle" idx="1" hasCustomPrompt="1"/>
          </p:nvPr>
        </p:nvSpPr>
        <p:spPr>
          <a:xfrm>
            <a:off x="443345" y="4226859"/>
            <a:ext cx="11294227" cy="2286000"/>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Chapter Title</a:t>
            </a:r>
          </a:p>
        </p:txBody>
      </p:sp>
      <p:pic>
        <p:nvPicPr>
          <p:cNvPr id="6" name="Logo">
            <a:extLst>
              <a:ext uri="{FF2B5EF4-FFF2-40B4-BE49-F238E27FC236}">
                <a16:creationId xmlns:a16="http://schemas.microsoft.com/office/drawing/2014/main" id="{076F5C57-EF05-B54E-BD97-6E0EACCBC874}"/>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701DEE96-975A-2A49-BF22-625374CB4B0A}"/>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0" name="Decorative">
            <a:extLst>
              <a:ext uri="{FF2B5EF4-FFF2-40B4-BE49-F238E27FC236}">
                <a16:creationId xmlns:a16="http://schemas.microsoft.com/office/drawing/2014/main" id="{03EE7FB3-778B-8D48-B422-96226F5FE35E}"/>
              </a:ext>
              <a:ext uri="{C183D7F6-B498-43B3-948B-1728B52AA6E4}">
                <adec:decorative xmlns:adec="http://schemas.microsoft.com/office/drawing/2017/decorative" val="1"/>
              </a:ext>
            </a:extLst>
          </p:cNvPr>
          <p:cNvGrpSpPr/>
          <p:nvPr/>
        </p:nvGrpSpPr>
        <p:grpSpPr>
          <a:xfrm>
            <a:off x="0" y="3081528"/>
            <a:ext cx="12192000" cy="347472"/>
            <a:chOff x="0" y="3089817"/>
            <a:chExt cx="12192000" cy="347472"/>
          </a:xfrm>
        </p:grpSpPr>
        <p:sp>
          <p:nvSpPr>
            <p:cNvPr id="12" name="Rectangle">
              <a:extLst>
                <a:ext uri="{FF2B5EF4-FFF2-40B4-BE49-F238E27FC236}">
                  <a16:creationId xmlns:a16="http://schemas.microsoft.com/office/drawing/2014/main" id="{2A78E3D0-E07D-7E4F-92F5-2C47C124D0A7}"/>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9" name="Rectangle">
              <a:extLst>
                <a:ext uri="{FF2B5EF4-FFF2-40B4-BE49-F238E27FC236}">
                  <a16:creationId xmlns:a16="http://schemas.microsoft.com/office/drawing/2014/main" id="{CA4B4EE4-0763-C24B-BE56-9BEDAE60F35A}"/>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8C5FBFDD-ED67-F54F-8ACE-25B8836B078A}"/>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4" name="Logo">
            <a:extLst>
              <a:ext uri="{FF2B5EF4-FFF2-40B4-BE49-F238E27FC236}">
                <a16:creationId xmlns:a16="http://schemas.microsoft.com/office/drawing/2014/main" id="{81428C14-2284-8418-0DEA-19D1F2947537}"/>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8" name="Decorative">
            <a:extLst>
              <a:ext uri="{FF2B5EF4-FFF2-40B4-BE49-F238E27FC236}">
                <a16:creationId xmlns:a16="http://schemas.microsoft.com/office/drawing/2014/main" id="{1A10813D-06D2-AF3A-4502-3B392F9F59B9}"/>
              </a:ext>
              <a:ext uri="{C183D7F6-B498-43B3-948B-1728B52AA6E4}">
                <adec:decorative xmlns:adec="http://schemas.microsoft.com/office/drawing/2017/decorative" val="1"/>
              </a:ext>
            </a:extLst>
          </p:cNvPr>
          <p:cNvGrpSpPr/>
          <p:nvPr userDrawn="1"/>
        </p:nvGrpSpPr>
        <p:grpSpPr>
          <a:xfrm>
            <a:off x="0" y="3081528"/>
            <a:ext cx="12192000" cy="347472"/>
            <a:chOff x="0" y="3089817"/>
            <a:chExt cx="12192000" cy="347472"/>
          </a:xfrm>
        </p:grpSpPr>
        <p:sp>
          <p:nvSpPr>
            <p:cNvPr id="11" name="Rectangle">
              <a:extLst>
                <a:ext uri="{FF2B5EF4-FFF2-40B4-BE49-F238E27FC236}">
                  <a16:creationId xmlns:a16="http://schemas.microsoft.com/office/drawing/2014/main" id="{FB63D611-AF3E-3C9D-444C-8546FC64825E}"/>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57A5103B-0112-2BF0-E916-B689CF7C5C4C}"/>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206B1838-BD64-855A-E858-2B426AFCB764}"/>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7850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F7FD46-EC67-CB42-BDEB-4574D2915560}"/>
              </a:ext>
            </a:extLst>
          </p:cNvPr>
          <p:cNvSpPr>
            <a:spLocks noGrp="1"/>
          </p:cNvSpPr>
          <p:nvPr>
            <p:ph type="title" hasCustomPrompt="1"/>
          </p:nvPr>
        </p:nvSpPr>
        <p:spPr>
          <a:xfrm>
            <a:off x="442693" y="3239350"/>
            <a:ext cx="11294227" cy="1792150"/>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4" name="Edition">
            <a:extLst>
              <a:ext uri="{FF2B5EF4-FFF2-40B4-BE49-F238E27FC236}">
                <a16:creationId xmlns:a16="http://schemas.microsoft.com/office/drawing/2014/main" id="{B1132A1D-83C2-484F-8B2B-0AE9CDFA7CE4}"/>
              </a:ext>
            </a:extLst>
          </p:cNvPr>
          <p:cNvSpPr>
            <a:spLocks noGrp="1"/>
          </p:cNvSpPr>
          <p:nvPr>
            <p:ph sz="quarter" idx="26" hasCustomPrompt="1"/>
          </p:nvPr>
        </p:nvSpPr>
        <p:spPr>
          <a:xfrm>
            <a:off x="442384" y="4599979"/>
            <a:ext cx="11294533" cy="606829"/>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4" name="CN">
            <a:extLst>
              <a:ext uri="{FF2B5EF4-FFF2-40B4-BE49-F238E27FC236}">
                <a16:creationId xmlns:a16="http://schemas.microsoft.com/office/drawing/2014/main" id="{D25FCFE5-AC52-324F-B495-E1961647D016}"/>
              </a:ext>
            </a:extLst>
          </p:cNvPr>
          <p:cNvSpPr>
            <a:spLocks noGrp="1"/>
          </p:cNvSpPr>
          <p:nvPr>
            <p:ph sz="quarter" idx="24" hasCustomPrompt="1"/>
          </p:nvPr>
        </p:nvSpPr>
        <p:spPr>
          <a:xfrm>
            <a:off x="442384" y="469543"/>
            <a:ext cx="11294533" cy="492622"/>
          </a:xfrm>
          <a:prstGeom prst="rect">
            <a:avLst/>
          </a:prstGeom>
        </p:spPr>
        <p:txBody>
          <a:bodyPr>
            <a:noAutofit/>
          </a:bodyPr>
          <a:lstStyle>
            <a:lvl1pPr marL="0" indent="0" algn="ctr">
              <a:buNone/>
              <a:defRPr sz="2300" b="1" spc="450">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2" name="CT">
            <a:extLst>
              <a:ext uri="{FF2B5EF4-FFF2-40B4-BE49-F238E27FC236}">
                <a16:creationId xmlns:a16="http://schemas.microsoft.com/office/drawing/2014/main" id="{F735601A-B5EA-F54B-BA38-DCB45C4A1328}"/>
              </a:ext>
            </a:extLst>
          </p:cNvPr>
          <p:cNvSpPr>
            <a:spLocks noGrp="1"/>
          </p:cNvSpPr>
          <p:nvPr>
            <p:ph sz="quarter" idx="25" hasCustomPrompt="1"/>
          </p:nvPr>
        </p:nvSpPr>
        <p:spPr>
          <a:xfrm>
            <a:off x="442384" y="921829"/>
            <a:ext cx="11294533" cy="1748433"/>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16" name="Author">
            <a:extLst>
              <a:ext uri="{FF2B5EF4-FFF2-40B4-BE49-F238E27FC236}">
                <a16:creationId xmlns:a16="http://schemas.microsoft.com/office/drawing/2014/main" id="{B3E3A9B7-50B3-7146-9DE9-810F099F4CC8}"/>
              </a:ext>
            </a:extLst>
          </p:cNvPr>
          <p:cNvSpPr>
            <a:spLocks noGrp="1"/>
          </p:cNvSpPr>
          <p:nvPr>
            <p:ph sz="quarter" idx="27" hasCustomPrompt="1"/>
          </p:nvPr>
        </p:nvSpPr>
        <p:spPr>
          <a:xfrm>
            <a:off x="442384" y="5497561"/>
            <a:ext cx="11294533" cy="622213"/>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solidFill>
                  <a:schemeClr val="accent2"/>
                </a:solidFill>
              </a:defRPr>
            </a:lvl2pPr>
            <a:lvl3pPr marL="480060" indent="0" algn="ctr">
              <a:buNone/>
              <a:defRPr>
                <a:solidFill>
                  <a:schemeClr val="accent2"/>
                </a:solidFill>
              </a:defRPr>
            </a:lvl3pPr>
            <a:lvl4pPr marL="685800" indent="0" algn="ctr">
              <a:buNone/>
              <a:defRPr>
                <a:solidFill>
                  <a:schemeClr val="accent2"/>
                </a:solidFill>
              </a:defRPr>
            </a:lvl4pPr>
            <a:lvl5pPr marL="891540" indent="0" algn="ctr">
              <a:buNone/>
              <a:defRPr>
                <a:solidFill>
                  <a:schemeClr val="accent2"/>
                </a:solidFill>
              </a:defRPr>
            </a:lvl5pPr>
          </a:lstStyle>
          <a:p>
            <a:pPr lvl="0"/>
            <a:r>
              <a:rPr lang="en-US" dirty="0"/>
              <a:t>David Klein</a:t>
            </a:r>
          </a:p>
        </p:txBody>
      </p:sp>
      <p:pic>
        <p:nvPicPr>
          <p:cNvPr id="19" name="Logo">
            <a:extLst>
              <a:ext uri="{FF2B5EF4-FFF2-40B4-BE49-F238E27FC236}">
                <a16:creationId xmlns:a16="http://schemas.microsoft.com/office/drawing/2014/main" id="{CCE8835F-9AAF-DB47-9FE6-EB4956C44F93}"/>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EA806F02-AA3F-8D46-97DD-5954EEE9E3EF}"/>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9" name="Decorative">
            <a:extLst>
              <a:ext uri="{FF2B5EF4-FFF2-40B4-BE49-F238E27FC236}">
                <a16:creationId xmlns:a16="http://schemas.microsoft.com/office/drawing/2014/main" id="{EB8A6A9A-221C-6048-A34B-24FA446C5C9B}"/>
              </a:ext>
              <a:ext uri="{C183D7F6-B498-43B3-948B-1728B52AA6E4}">
                <adec:decorative xmlns:adec="http://schemas.microsoft.com/office/drawing/2017/decorative" val="1"/>
              </a:ext>
            </a:extLst>
          </p:cNvPr>
          <p:cNvGrpSpPr/>
          <p:nvPr/>
        </p:nvGrpSpPr>
        <p:grpSpPr>
          <a:xfrm>
            <a:off x="0" y="2891878"/>
            <a:ext cx="12192000" cy="347472"/>
            <a:chOff x="0" y="3089817"/>
            <a:chExt cx="12192000" cy="347472"/>
          </a:xfrm>
        </p:grpSpPr>
        <p:sp>
          <p:nvSpPr>
            <p:cNvPr id="11" name="Rectangle">
              <a:extLst>
                <a:ext uri="{FF2B5EF4-FFF2-40B4-BE49-F238E27FC236}">
                  <a16:creationId xmlns:a16="http://schemas.microsoft.com/office/drawing/2014/main" id="{8728953C-D98C-3E49-B412-3C134A34E34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CD12045F-A611-3641-8B5D-71236DD109E0}"/>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1D403840-98C9-B747-AE17-28C05EE6E322}"/>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059239F5-C55E-1EC2-F1EE-E80C5C7A831F}"/>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2A831F51-1B87-9B93-DF35-3279ABBC34A8}"/>
              </a:ext>
              <a:ext uri="{C183D7F6-B498-43B3-948B-1728B52AA6E4}">
                <adec:decorative xmlns:adec="http://schemas.microsoft.com/office/drawing/2017/decorative" val="1"/>
              </a:ext>
            </a:extLst>
          </p:cNvPr>
          <p:cNvGrpSpPr/>
          <p:nvPr userDrawn="1"/>
        </p:nvGrpSpPr>
        <p:grpSpPr>
          <a:xfrm>
            <a:off x="0" y="2891878"/>
            <a:ext cx="12192000" cy="347472"/>
            <a:chOff x="0" y="3089817"/>
            <a:chExt cx="12192000" cy="347472"/>
          </a:xfrm>
        </p:grpSpPr>
        <p:sp>
          <p:nvSpPr>
            <p:cNvPr id="6" name="Rectangle">
              <a:extLst>
                <a:ext uri="{FF2B5EF4-FFF2-40B4-BE49-F238E27FC236}">
                  <a16:creationId xmlns:a16="http://schemas.microsoft.com/office/drawing/2014/main" id="{36B9B088-3FA9-B09A-E6E9-98CFB3D78A44}"/>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AE67AD3F-1CE4-4390-3B77-487E19642788}"/>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4D67895E-F98D-2922-442A-7D3FA6769419}"/>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3892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with cover image">
    <p:spTree>
      <p:nvGrpSpPr>
        <p:cNvPr id="1" name=""/>
        <p:cNvGrpSpPr/>
        <p:nvPr/>
      </p:nvGrpSpPr>
      <p:grpSpPr>
        <a:xfrm>
          <a:off x="0" y="0"/>
          <a:ext cx="0" cy="0"/>
          <a:chOff x="0" y="0"/>
          <a:chExt cx="0" cy="0"/>
        </a:xfrm>
      </p:grpSpPr>
      <p:sp>
        <p:nvSpPr>
          <p:cNvPr id="4" name="CN">
            <a:extLst>
              <a:ext uri="{FF2B5EF4-FFF2-40B4-BE49-F238E27FC236}">
                <a16:creationId xmlns:a16="http://schemas.microsoft.com/office/drawing/2014/main" id="{0BAE0954-7993-BF44-B26B-B5E3A7B6D192}"/>
              </a:ext>
            </a:extLst>
          </p:cNvPr>
          <p:cNvSpPr>
            <a:spLocks noGrp="1"/>
          </p:cNvSpPr>
          <p:nvPr>
            <p:ph sz="quarter" idx="25" hasCustomPrompt="1"/>
          </p:nvPr>
        </p:nvSpPr>
        <p:spPr>
          <a:xfrm>
            <a:off x="3962400" y="228600"/>
            <a:ext cx="7774517" cy="532341"/>
          </a:xfrm>
          <a:prstGeom prst="rect">
            <a:avLst/>
          </a:prstGeom>
        </p:spPr>
        <p:txBody>
          <a:bodyPr>
            <a:noAutofit/>
          </a:bodyPr>
          <a:lstStyle>
            <a:lvl1pPr marL="0" indent="0" algn="ctr">
              <a:buNone/>
              <a:defRPr sz="2300" b="1" spc="225">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3" name="CT">
            <a:extLst>
              <a:ext uri="{FF2B5EF4-FFF2-40B4-BE49-F238E27FC236}">
                <a16:creationId xmlns:a16="http://schemas.microsoft.com/office/drawing/2014/main" id="{A0488DDF-7F81-C647-968D-1B7CBA6AB5FC}"/>
              </a:ext>
            </a:extLst>
          </p:cNvPr>
          <p:cNvSpPr>
            <a:spLocks noGrp="1"/>
          </p:cNvSpPr>
          <p:nvPr>
            <p:ph sz="quarter" idx="26" hasCustomPrompt="1"/>
          </p:nvPr>
        </p:nvSpPr>
        <p:spPr>
          <a:xfrm>
            <a:off x="3962400" y="760944"/>
            <a:ext cx="7774517" cy="2286001"/>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2" name="Title">
            <a:extLst>
              <a:ext uri="{FF2B5EF4-FFF2-40B4-BE49-F238E27FC236}">
                <a16:creationId xmlns:a16="http://schemas.microsoft.com/office/drawing/2014/main" id="{D4299543-EA93-204D-A71A-CDEF1C90B988}"/>
              </a:ext>
            </a:extLst>
          </p:cNvPr>
          <p:cNvSpPr>
            <a:spLocks noGrp="1"/>
          </p:cNvSpPr>
          <p:nvPr>
            <p:ph type="title" hasCustomPrompt="1"/>
          </p:nvPr>
        </p:nvSpPr>
        <p:spPr>
          <a:xfrm>
            <a:off x="443345" y="3506268"/>
            <a:ext cx="11294227" cy="1522941"/>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5" name="Edition">
            <a:extLst>
              <a:ext uri="{FF2B5EF4-FFF2-40B4-BE49-F238E27FC236}">
                <a16:creationId xmlns:a16="http://schemas.microsoft.com/office/drawing/2014/main" id="{357E9F03-19DB-C04A-9554-E5165B81BE98}"/>
              </a:ext>
            </a:extLst>
          </p:cNvPr>
          <p:cNvSpPr>
            <a:spLocks noGrp="1"/>
          </p:cNvSpPr>
          <p:nvPr>
            <p:ph sz="quarter" idx="27" hasCustomPrompt="1"/>
          </p:nvPr>
        </p:nvSpPr>
        <p:spPr>
          <a:xfrm>
            <a:off x="442384" y="4789320"/>
            <a:ext cx="11294533" cy="674306"/>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17" name="Author">
            <a:extLst>
              <a:ext uri="{FF2B5EF4-FFF2-40B4-BE49-F238E27FC236}">
                <a16:creationId xmlns:a16="http://schemas.microsoft.com/office/drawing/2014/main" id="{0C002D38-323C-0040-8548-6C0885CCDA25}"/>
              </a:ext>
            </a:extLst>
          </p:cNvPr>
          <p:cNvSpPr>
            <a:spLocks noGrp="1"/>
          </p:cNvSpPr>
          <p:nvPr>
            <p:ph sz="quarter" idx="28" hasCustomPrompt="1"/>
          </p:nvPr>
        </p:nvSpPr>
        <p:spPr>
          <a:xfrm>
            <a:off x="442384" y="5600878"/>
            <a:ext cx="11294533" cy="547398"/>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1" name="Cover image">
            <a:extLst>
              <a:ext uri="{FF2B5EF4-FFF2-40B4-BE49-F238E27FC236}">
                <a16:creationId xmlns:a16="http://schemas.microsoft.com/office/drawing/2014/main" id="{399A8AAF-2AC9-F644-96AD-94B478294DA4}"/>
              </a:ext>
            </a:extLst>
          </p:cNvPr>
          <p:cNvSpPr>
            <a:spLocks noGrp="1"/>
          </p:cNvSpPr>
          <p:nvPr>
            <p:ph type="pic" sz="quarter" idx="24" hasCustomPrompt="1"/>
          </p:nvPr>
        </p:nvSpPr>
        <p:spPr>
          <a:xfrm>
            <a:off x="508003" y="251264"/>
            <a:ext cx="3009676" cy="2647723"/>
          </a:xfrm>
          <a:prstGeom prst="rect">
            <a:avLst/>
          </a:prstGeom>
          <a:solidFill>
            <a:schemeClr val="bg2"/>
          </a:solidFill>
          <a:ln w="6350">
            <a:solidFill>
              <a:schemeClr val="bg1">
                <a:lumMod val="50000"/>
              </a:schemeClr>
            </a:solidFill>
          </a:ln>
        </p:spPr>
        <p:txBody>
          <a:bodyPr anchor="ctr"/>
          <a:lstStyle>
            <a:lvl1pPr marL="0" indent="0" algn="ctr">
              <a:buNone/>
              <a:defRPr sz="1500"/>
            </a:lvl1pPr>
          </a:lstStyle>
          <a:p>
            <a:r>
              <a:rPr lang="en-US" dirty="0"/>
              <a:t>Click to</a:t>
            </a:r>
            <a:br>
              <a:rPr lang="en-US" dirty="0"/>
            </a:br>
            <a:r>
              <a:rPr lang="en-US" dirty="0"/>
              <a:t>Add Cover Image</a:t>
            </a:r>
          </a:p>
        </p:txBody>
      </p:sp>
      <p:pic>
        <p:nvPicPr>
          <p:cNvPr id="19" name="Logo">
            <a:extLst>
              <a:ext uri="{FF2B5EF4-FFF2-40B4-BE49-F238E27FC236}">
                <a16:creationId xmlns:a16="http://schemas.microsoft.com/office/drawing/2014/main" id="{5C941B12-5A6D-2D43-A53E-1056F6FCB3F2}"/>
              </a:ext>
            </a:extLst>
          </p:cNvPr>
          <p:cNvPicPr>
            <a:picLocks noChangeAspect="1"/>
          </p:cNvPicPr>
          <p:nvPr/>
        </p:nvPicPr>
        <p:blipFill>
          <a:blip r:embed="rId2"/>
          <a:srcRect/>
          <a:stretch/>
        </p:blipFill>
        <p:spPr>
          <a:xfrm>
            <a:off x="454428" y="6501725"/>
            <a:ext cx="914401" cy="192617"/>
          </a:xfrm>
          <a:prstGeom prst="rect">
            <a:avLst/>
          </a:prstGeom>
        </p:spPr>
      </p:pic>
      <p:sp>
        <p:nvSpPr>
          <p:cNvPr id="21" name="Invisible animation alert">
            <a:extLst>
              <a:ext uri="{FF2B5EF4-FFF2-40B4-BE49-F238E27FC236}">
                <a16:creationId xmlns:a16="http://schemas.microsoft.com/office/drawing/2014/main" id="{995F79C4-4323-0345-9D75-F40C6CDED105}"/>
              </a:ext>
            </a:extLst>
          </p:cNvPr>
          <p:cNvSpPr>
            <a:spLocks noGrp="1"/>
          </p:cNvSpPr>
          <p:nvPr>
            <p:ph sz="quarter" idx="29"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2" name="Decorative">
            <a:extLst>
              <a:ext uri="{FF2B5EF4-FFF2-40B4-BE49-F238E27FC236}">
                <a16:creationId xmlns:a16="http://schemas.microsoft.com/office/drawing/2014/main" id="{9333E768-1E6A-5946-86E8-E384A09C91A6}"/>
              </a:ext>
              <a:ext uri="{C183D7F6-B498-43B3-948B-1728B52AA6E4}">
                <adec:decorative xmlns:adec="http://schemas.microsoft.com/office/drawing/2017/decorative" val="1"/>
              </a:ext>
            </a:extLst>
          </p:cNvPr>
          <p:cNvGrpSpPr/>
          <p:nvPr/>
        </p:nvGrpSpPr>
        <p:grpSpPr>
          <a:xfrm>
            <a:off x="0" y="3075637"/>
            <a:ext cx="12192000" cy="347472"/>
            <a:chOff x="0" y="3089817"/>
            <a:chExt cx="12192000" cy="347472"/>
          </a:xfrm>
        </p:grpSpPr>
        <p:sp>
          <p:nvSpPr>
            <p:cNvPr id="14" name="Rectangle">
              <a:extLst>
                <a:ext uri="{FF2B5EF4-FFF2-40B4-BE49-F238E27FC236}">
                  <a16:creationId xmlns:a16="http://schemas.microsoft.com/office/drawing/2014/main" id="{6A9D3241-01B8-CF4F-A8DE-ED3E0B403D8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6ED2EEB2-DB69-744E-9E6C-C6C37A29636E}"/>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8" name="Rectangle">
              <a:extLst>
                <a:ext uri="{FF2B5EF4-FFF2-40B4-BE49-F238E27FC236}">
                  <a16:creationId xmlns:a16="http://schemas.microsoft.com/office/drawing/2014/main" id="{306368B5-3288-AC43-8ED2-6589E5D1F9D1}"/>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23CB4E80-5493-CB14-580E-5C2B4838FFA6}"/>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75897CAD-5433-B79F-D414-4524FF8F6CC9}"/>
              </a:ext>
              <a:ext uri="{C183D7F6-B498-43B3-948B-1728B52AA6E4}">
                <adec:decorative xmlns:adec="http://schemas.microsoft.com/office/drawing/2017/decorative" val="1"/>
              </a:ext>
            </a:extLst>
          </p:cNvPr>
          <p:cNvGrpSpPr/>
          <p:nvPr userDrawn="1"/>
        </p:nvGrpSpPr>
        <p:grpSpPr>
          <a:xfrm>
            <a:off x="0" y="3075637"/>
            <a:ext cx="12192000" cy="347472"/>
            <a:chOff x="0" y="3089817"/>
            <a:chExt cx="12192000" cy="347472"/>
          </a:xfrm>
        </p:grpSpPr>
        <p:sp>
          <p:nvSpPr>
            <p:cNvPr id="6" name="Rectangle">
              <a:extLst>
                <a:ext uri="{FF2B5EF4-FFF2-40B4-BE49-F238E27FC236}">
                  <a16:creationId xmlns:a16="http://schemas.microsoft.com/office/drawing/2014/main" id="{0CCB7099-BA30-F7D9-64C8-7A0C35ABB793}"/>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8DFC5D56-8B09-35FD-5273-640F8DEF31C7}"/>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A69FBE72-E2C8-8472-736C-1B704EC05125}"/>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4231559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lus 1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E04750B-87C8-BA49-9BD3-C465B46973B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a:extLst>
              <a:ext uri="{FF2B5EF4-FFF2-40B4-BE49-F238E27FC236}">
                <a16:creationId xmlns:a16="http://schemas.microsoft.com/office/drawing/2014/main" id="{32AC4F3A-7D5E-944E-BEF6-CD50CC99DF69}"/>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Tree>
    <p:extLst>
      <p:ext uri="{BB962C8B-B14F-4D97-AF65-F5344CB8AC3E}">
        <p14:creationId xmlns:p14="http://schemas.microsoft.com/office/powerpoint/2010/main" val="391504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49E8-6DEF-1BAD-FB0A-7D40E74DD69E}"/>
              </a:ext>
            </a:extLst>
          </p:cNvPr>
          <p:cNvSpPr>
            <a:spLocks noGrp="1"/>
          </p:cNvSpPr>
          <p:nvPr>
            <p:ph type="title"/>
          </p:nvPr>
        </p:nvSpPr>
        <p:spPr/>
        <p:txBody>
          <a:bodyPr/>
          <a:lstStyle/>
          <a:p>
            <a:r>
              <a:rPr lang="en-GB"/>
              <a:t>Click to edit Master title style</a:t>
            </a:r>
            <a:endParaRPr lang="en-US"/>
          </a:p>
        </p:txBody>
      </p:sp>
      <p:sp>
        <p:nvSpPr>
          <p:cNvPr id="6" name="Content Placeholder 5">
            <a:extLst>
              <a:ext uri="{FF2B5EF4-FFF2-40B4-BE49-F238E27FC236}">
                <a16:creationId xmlns:a16="http://schemas.microsoft.com/office/drawing/2014/main" id="{5ED0FBD7-F720-487E-D85C-FDC3058C1C0C}"/>
              </a:ext>
            </a:extLst>
          </p:cNvPr>
          <p:cNvSpPr>
            <a:spLocks noGrp="1"/>
          </p:cNvSpPr>
          <p:nvPr>
            <p:ph sz="quarter" idx="10"/>
          </p:nvPr>
        </p:nvSpPr>
        <p:spPr>
          <a:xfrm>
            <a:off x="858837" y="1684338"/>
            <a:ext cx="1583279" cy="849312"/>
          </a:xfrm>
        </p:spPr>
        <p:txBody>
          <a:bodyPr/>
          <a:lstStyle>
            <a:lvl1pPr>
              <a:buNone/>
              <a:defRPr sz="2400"/>
            </a:lvl1pPr>
          </a:lstStyle>
          <a:p>
            <a:pPr lvl="0"/>
            <a:endParaRPr lang="en-US" dirty="0"/>
          </a:p>
        </p:txBody>
      </p:sp>
      <p:sp>
        <p:nvSpPr>
          <p:cNvPr id="7" name="Content Placeholder 5">
            <a:extLst>
              <a:ext uri="{FF2B5EF4-FFF2-40B4-BE49-F238E27FC236}">
                <a16:creationId xmlns:a16="http://schemas.microsoft.com/office/drawing/2014/main" id="{6E0CBCB1-7BC9-DCA3-1393-DF45F5F98333}"/>
              </a:ext>
            </a:extLst>
          </p:cNvPr>
          <p:cNvSpPr>
            <a:spLocks noGrp="1"/>
          </p:cNvSpPr>
          <p:nvPr>
            <p:ph sz="quarter" idx="11"/>
          </p:nvPr>
        </p:nvSpPr>
        <p:spPr>
          <a:xfrm>
            <a:off x="858836" y="2791561"/>
            <a:ext cx="1583279" cy="849312"/>
          </a:xfrm>
        </p:spPr>
        <p:txBody>
          <a:bodyPr/>
          <a:lstStyle>
            <a:lvl1pPr>
              <a:buNone/>
              <a:defRPr sz="2400"/>
            </a:lvl1pPr>
          </a:lstStyle>
          <a:p>
            <a:pPr lvl="0"/>
            <a:endParaRPr lang="en-US" dirty="0"/>
          </a:p>
        </p:txBody>
      </p:sp>
      <p:sp>
        <p:nvSpPr>
          <p:cNvPr id="8" name="Content Placeholder 5">
            <a:extLst>
              <a:ext uri="{FF2B5EF4-FFF2-40B4-BE49-F238E27FC236}">
                <a16:creationId xmlns:a16="http://schemas.microsoft.com/office/drawing/2014/main" id="{B0D4EB24-47AE-7B02-6E9F-8D180CBEC784}"/>
              </a:ext>
            </a:extLst>
          </p:cNvPr>
          <p:cNvSpPr>
            <a:spLocks noGrp="1"/>
          </p:cNvSpPr>
          <p:nvPr>
            <p:ph sz="quarter" idx="12"/>
          </p:nvPr>
        </p:nvSpPr>
        <p:spPr>
          <a:xfrm>
            <a:off x="858837" y="3590988"/>
            <a:ext cx="1583279" cy="849312"/>
          </a:xfrm>
        </p:spPr>
        <p:txBody>
          <a:bodyPr/>
          <a:lstStyle>
            <a:lvl1pPr>
              <a:buNone/>
              <a:defRPr sz="2400"/>
            </a:lvl1pPr>
          </a:lstStyle>
          <a:p>
            <a:pPr lvl="0"/>
            <a:endParaRPr lang="en-US" dirty="0"/>
          </a:p>
        </p:txBody>
      </p:sp>
      <p:sp>
        <p:nvSpPr>
          <p:cNvPr id="9" name="Content Placeholder 5">
            <a:extLst>
              <a:ext uri="{FF2B5EF4-FFF2-40B4-BE49-F238E27FC236}">
                <a16:creationId xmlns:a16="http://schemas.microsoft.com/office/drawing/2014/main" id="{45085A9C-CC6A-44B8-46D5-BB73418D0962}"/>
              </a:ext>
            </a:extLst>
          </p:cNvPr>
          <p:cNvSpPr>
            <a:spLocks noGrp="1"/>
          </p:cNvSpPr>
          <p:nvPr>
            <p:ph sz="quarter" idx="13"/>
          </p:nvPr>
        </p:nvSpPr>
        <p:spPr>
          <a:xfrm>
            <a:off x="858837" y="4698211"/>
            <a:ext cx="1583279" cy="849312"/>
          </a:xfrm>
        </p:spPr>
        <p:txBody>
          <a:bodyPr/>
          <a:lstStyle>
            <a:lvl1pPr>
              <a:buNone/>
              <a:defRPr sz="2400"/>
            </a:lvl1pPr>
          </a:lstStyle>
          <a:p>
            <a:pPr lvl="0"/>
            <a:endParaRPr lang="en-US" dirty="0"/>
          </a:p>
        </p:txBody>
      </p:sp>
      <p:sp>
        <p:nvSpPr>
          <p:cNvPr id="10" name="Content Placeholder 5">
            <a:extLst>
              <a:ext uri="{FF2B5EF4-FFF2-40B4-BE49-F238E27FC236}">
                <a16:creationId xmlns:a16="http://schemas.microsoft.com/office/drawing/2014/main" id="{8F82FB17-3FA9-5B49-FF2D-B1F927F0B78C}"/>
              </a:ext>
            </a:extLst>
          </p:cNvPr>
          <p:cNvSpPr>
            <a:spLocks noGrp="1"/>
          </p:cNvSpPr>
          <p:nvPr>
            <p:ph sz="quarter" idx="14"/>
          </p:nvPr>
        </p:nvSpPr>
        <p:spPr>
          <a:xfrm>
            <a:off x="2765696" y="2103210"/>
            <a:ext cx="1583279" cy="849312"/>
          </a:xfrm>
        </p:spPr>
        <p:txBody>
          <a:bodyPr/>
          <a:lstStyle>
            <a:lvl1pPr>
              <a:buNone/>
              <a:defRPr sz="2400"/>
            </a:lvl1pPr>
          </a:lstStyle>
          <a:p>
            <a:pPr lvl="0"/>
            <a:endParaRPr lang="en-US" dirty="0"/>
          </a:p>
        </p:txBody>
      </p:sp>
      <p:sp>
        <p:nvSpPr>
          <p:cNvPr id="11" name="Content Placeholder 5">
            <a:extLst>
              <a:ext uri="{FF2B5EF4-FFF2-40B4-BE49-F238E27FC236}">
                <a16:creationId xmlns:a16="http://schemas.microsoft.com/office/drawing/2014/main" id="{2D07BEB6-4FF6-A7CD-7282-9F21E8FB858E}"/>
              </a:ext>
            </a:extLst>
          </p:cNvPr>
          <p:cNvSpPr>
            <a:spLocks noGrp="1"/>
          </p:cNvSpPr>
          <p:nvPr>
            <p:ph sz="quarter" idx="15"/>
          </p:nvPr>
        </p:nvSpPr>
        <p:spPr>
          <a:xfrm>
            <a:off x="2765696" y="3321509"/>
            <a:ext cx="1583279" cy="849312"/>
          </a:xfrm>
        </p:spPr>
        <p:txBody>
          <a:bodyPr/>
          <a:lstStyle>
            <a:lvl1pPr>
              <a:buNone/>
              <a:defRPr sz="2400"/>
            </a:lvl1pPr>
          </a:lstStyle>
          <a:p>
            <a:pPr lvl="0"/>
            <a:endParaRPr lang="en-US" dirty="0"/>
          </a:p>
        </p:txBody>
      </p:sp>
      <p:sp>
        <p:nvSpPr>
          <p:cNvPr id="12" name="Content Placeholder 5">
            <a:extLst>
              <a:ext uri="{FF2B5EF4-FFF2-40B4-BE49-F238E27FC236}">
                <a16:creationId xmlns:a16="http://schemas.microsoft.com/office/drawing/2014/main" id="{C6D3A51D-C7E2-12FA-85BB-8E4856FCE3F8}"/>
              </a:ext>
            </a:extLst>
          </p:cNvPr>
          <p:cNvSpPr>
            <a:spLocks noGrp="1"/>
          </p:cNvSpPr>
          <p:nvPr>
            <p:ph sz="quarter" idx="16"/>
          </p:nvPr>
        </p:nvSpPr>
        <p:spPr>
          <a:xfrm>
            <a:off x="2765696" y="4528922"/>
            <a:ext cx="1583279" cy="849312"/>
          </a:xfrm>
        </p:spPr>
        <p:txBody>
          <a:bodyPr/>
          <a:lstStyle>
            <a:lvl1pPr>
              <a:buNone/>
              <a:defRPr sz="2400"/>
            </a:lvl1pPr>
          </a:lstStyle>
          <a:p>
            <a:pPr lvl="0"/>
            <a:endParaRPr lang="en-US" dirty="0"/>
          </a:p>
        </p:txBody>
      </p:sp>
      <p:sp>
        <p:nvSpPr>
          <p:cNvPr id="13" name="Content Placeholder 5">
            <a:extLst>
              <a:ext uri="{FF2B5EF4-FFF2-40B4-BE49-F238E27FC236}">
                <a16:creationId xmlns:a16="http://schemas.microsoft.com/office/drawing/2014/main" id="{F2BE394E-8739-8C07-2FFA-52079E4A85C1}"/>
              </a:ext>
            </a:extLst>
          </p:cNvPr>
          <p:cNvSpPr>
            <a:spLocks noGrp="1"/>
          </p:cNvSpPr>
          <p:nvPr>
            <p:ph sz="quarter" idx="17"/>
          </p:nvPr>
        </p:nvSpPr>
        <p:spPr>
          <a:xfrm>
            <a:off x="5085150" y="2154577"/>
            <a:ext cx="1583279" cy="849312"/>
          </a:xfrm>
        </p:spPr>
        <p:txBody>
          <a:bodyPr/>
          <a:lstStyle>
            <a:lvl1pPr>
              <a:buNone/>
              <a:defRPr sz="2400"/>
            </a:lvl1pPr>
          </a:lstStyle>
          <a:p>
            <a:pPr lvl="0"/>
            <a:endParaRPr lang="en-US" dirty="0"/>
          </a:p>
        </p:txBody>
      </p:sp>
      <p:sp>
        <p:nvSpPr>
          <p:cNvPr id="14" name="Content Placeholder 5">
            <a:extLst>
              <a:ext uri="{FF2B5EF4-FFF2-40B4-BE49-F238E27FC236}">
                <a16:creationId xmlns:a16="http://schemas.microsoft.com/office/drawing/2014/main" id="{82432982-AC2A-4943-B299-5DE428C4E717}"/>
              </a:ext>
            </a:extLst>
          </p:cNvPr>
          <p:cNvSpPr>
            <a:spLocks noGrp="1"/>
          </p:cNvSpPr>
          <p:nvPr>
            <p:ph sz="quarter" idx="18"/>
          </p:nvPr>
        </p:nvSpPr>
        <p:spPr>
          <a:xfrm>
            <a:off x="5085150" y="3198126"/>
            <a:ext cx="1583279" cy="849312"/>
          </a:xfrm>
        </p:spPr>
        <p:txBody>
          <a:bodyPr/>
          <a:lstStyle>
            <a:lvl1pPr>
              <a:buNone/>
              <a:defRPr sz="2400"/>
            </a:lvl1pPr>
          </a:lstStyle>
          <a:p>
            <a:pPr lvl="0"/>
            <a:endParaRPr lang="en-US" dirty="0"/>
          </a:p>
        </p:txBody>
      </p:sp>
      <p:sp>
        <p:nvSpPr>
          <p:cNvPr id="15" name="Content Placeholder 5">
            <a:extLst>
              <a:ext uri="{FF2B5EF4-FFF2-40B4-BE49-F238E27FC236}">
                <a16:creationId xmlns:a16="http://schemas.microsoft.com/office/drawing/2014/main" id="{99016584-A215-7BB1-F621-108DC65AC95E}"/>
              </a:ext>
            </a:extLst>
          </p:cNvPr>
          <p:cNvSpPr>
            <a:spLocks noGrp="1"/>
          </p:cNvSpPr>
          <p:nvPr>
            <p:ph sz="quarter" idx="19"/>
          </p:nvPr>
        </p:nvSpPr>
        <p:spPr>
          <a:xfrm>
            <a:off x="5085150" y="4273555"/>
            <a:ext cx="1583279" cy="849312"/>
          </a:xfrm>
        </p:spPr>
        <p:txBody>
          <a:bodyPr/>
          <a:lstStyle>
            <a:lvl1pPr>
              <a:buNone/>
              <a:defRPr sz="2400"/>
            </a:lvl1pPr>
          </a:lstStyle>
          <a:p>
            <a:pPr lvl="0"/>
            <a:endParaRPr lang="en-US" dirty="0"/>
          </a:p>
        </p:txBody>
      </p:sp>
      <p:sp>
        <p:nvSpPr>
          <p:cNvPr id="16" name="Content Placeholder 5">
            <a:extLst>
              <a:ext uri="{FF2B5EF4-FFF2-40B4-BE49-F238E27FC236}">
                <a16:creationId xmlns:a16="http://schemas.microsoft.com/office/drawing/2014/main" id="{E3237BEB-86F5-1F5B-AC16-9490AC5730A8}"/>
              </a:ext>
            </a:extLst>
          </p:cNvPr>
          <p:cNvSpPr>
            <a:spLocks noGrp="1"/>
          </p:cNvSpPr>
          <p:nvPr>
            <p:ph sz="quarter" idx="20"/>
          </p:nvPr>
        </p:nvSpPr>
        <p:spPr>
          <a:xfrm>
            <a:off x="7136975" y="2069932"/>
            <a:ext cx="1583279" cy="849312"/>
          </a:xfrm>
        </p:spPr>
        <p:txBody>
          <a:bodyPr/>
          <a:lstStyle>
            <a:lvl1pPr>
              <a:buNone/>
              <a:defRPr sz="2400"/>
            </a:lvl1pPr>
          </a:lstStyle>
          <a:p>
            <a:pPr lvl="0"/>
            <a:endParaRPr lang="en-US" dirty="0"/>
          </a:p>
        </p:txBody>
      </p:sp>
      <p:sp>
        <p:nvSpPr>
          <p:cNvPr id="17" name="Content Placeholder 5">
            <a:extLst>
              <a:ext uri="{FF2B5EF4-FFF2-40B4-BE49-F238E27FC236}">
                <a16:creationId xmlns:a16="http://schemas.microsoft.com/office/drawing/2014/main" id="{51068298-CB63-5B9C-21C2-793F00269032}"/>
              </a:ext>
            </a:extLst>
          </p:cNvPr>
          <p:cNvSpPr>
            <a:spLocks noGrp="1"/>
          </p:cNvSpPr>
          <p:nvPr>
            <p:ph sz="quarter" idx="21"/>
          </p:nvPr>
        </p:nvSpPr>
        <p:spPr>
          <a:xfrm>
            <a:off x="7136975" y="3023816"/>
            <a:ext cx="1583279" cy="849312"/>
          </a:xfrm>
        </p:spPr>
        <p:txBody>
          <a:bodyPr/>
          <a:lstStyle>
            <a:lvl1pPr>
              <a:buNone/>
              <a:defRPr sz="2400"/>
            </a:lvl1pPr>
          </a:lstStyle>
          <a:p>
            <a:pPr lvl="0"/>
            <a:endParaRPr lang="en-US" dirty="0"/>
          </a:p>
        </p:txBody>
      </p:sp>
      <p:sp>
        <p:nvSpPr>
          <p:cNvPr id="18" name="Content Placeholder 5">
            <a:extLst>
              <a:ext uri="{FF2B5EF4-FFF2-40B4-BE49-F238E27FC236}">
                <a16:creationId xmlns:a16="http://schemas.microsoft.com/office/drawing/2014/main" id="{E31B08AB-EF88-D94D-2234-48DFEC1F1210}"/>
              </a:ext>
            </a:extLst>
          </p:cNvPr>
          <p:cNvSpPr>
            <a:spLocks noGrp="1"/>
          </p:cNvSpPr>
          <p:nvPr>
            <p:ph sz="quarter" idx="22"/>
          </p:nvPr>
        </p:nvSpPr>
        <p:spPr>
          <a:xfrm>
            <a:off x="7136975" y="4104266"/>
            <a:ext cx="1583279" cy="849312"/>
          </a:xfrm>
        </p:spPr>
        <p:txBody>
          <a:bodyPr/>
          <a:lstStyle>
            <a:lvl1pPr>
              <a:buNone/>
              <a:defRPr sz="2400"/>
            </a:lvl1pPr>
          </a:lstStyle>
          <a:p>
            <a:pPr lvl="0"/>
            <a:endParaRPr lang="en-US" dirty="0"/>
          </a:p>
        </p:txBody>
      </p:sp>
    </p:spTree>
    <p:extLst>
      <p:ext uri="{BB962C8B-B14F-4D97-AF65-F5344CB8AC3E}">
        <p14:creationId xmlns:p14="http://schemas.microsoft.com/office/powerpoint/2010/main" val="1253806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lus 1 column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E3FF190-56AE-0B4D-86D2-C76B1C4C4811}"/>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D4BD2D34-5403-5E4F-8B40-56327BFEB86B}"/>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
        <p:nvSpPr>
          <p:cNvPr id="5" name="LON">
            <a:extLst>
              <a:ext uri="{FF2B5EF4-FFF2-40B4-BE49-F238E27FC236}">
                <a16:creationId xmlns:a16="http://schemas.microsoft.com/office/drawing/2014/main" id="{278C8BA6-10FC-B449-8802-38272DECEA2F}"/>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68959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lus 2 columns">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31E7A4-C9C8-F34D-B1BD-4D02B4DFAF0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1" name="Content Placeholder">
            <a:extLst>
              <a:ext uri="{FF2B5EF4-FFF2-40B4-BE49-F238E27FC236}">
                <a16:creationId xmlns:a16="http://schemas.microsoft.com/office/drawing/2014/main" id="{1939B3BB-CD8E-014F-8EFF-BD7A719BA5CF}"/>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Tree>
    <p:extLst>
      <p:ext uri="{BB962C8B-B14F-4D97-AF65-F5344CB8AC3E}">
        <p14:creationId xmlns:p14="http://schemas.microsoft.com/office/powerpoint/2010/main" val="2483109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lus 2 column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5FC24C-2D07-1245-BB5E-7A50D0AE115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40D17E47-229C-5E4C-A647-00CFE969C39A}"/>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
        <p:nvSpPr>
          <p:cNvPr id="5" name="LON">
            <a:extLst>
              <a:ext uri="{FF2B5EF4-FFF2-40B4-BE49-F238E27FC236}">
                <a16:creationId xmlns:a16="http://schemas.microsoft.com/office/drawing/2014/main" id="{24D4F3B7-367D-C343-B199-03EF10B1E7D4}"/>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931822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plus 2 columns in box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83B3636F-78D9-9148-B35D-52D7D42EA7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0" name="Content Placeholder 1">
            <a:extLst>
              <a:ext uri="{FF2B5EF4-FFF2-40B4-BE49-F238E27FC236}">
                <a16:creationId xmlns:a16="http://schemas.microsoft.com/office/drawing/2014/main" id="{4C9ADD40-E72D-754E-8872-0700492B3236}"/>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12" name="Content Placeholder 2">
            <a:extLst>
              <a:ext uri="{FF2B5EF4-FFF2-40B4-BE49-F238E27FC236}">
                <a16:creationId xmlns:a16="http://schemas.microsoft.com/office/drawing/2014/main" id="{1FE47AB5-328A-AF4D-81CF-19E66E998930}"/>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Tree>
    <p:extLst>
      <p:ext uri="{BB962C8B-B14F-4D97-AF65-F5344CB8AC3E}">
        <p14:creationId xmlns:p14="http://schemas.microsoft.com/office/powerpoint/2010/main" val="73506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lus 2 columns in boxe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FB408D-6820-9042-9000-649FF974466C}"/>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602FBEB7-44EC-2D40-9945-803059A4C6EA}"/>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9F8BF1B7-F842-E74B-B834-BDC9C251578B}"/>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
        <p:nvSpPr>
          <p:cNvPr id="6" name="LON">
            <a:extLst>
              <a:ext uri="{FF2B5EF4-FFF2-40B4-BE49-F238E27FC236}">
                <a16:creationId xmlns:a16="http://schemas.microsoft.com/office/drawing/2014/main" id="{7DCFB52C-D625-D243-8958-45EDAF5BFF95}"/>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10238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plus 4 Content Holder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0BF27C0-B6AB-BD4B-AABA-D3C2A2B71E1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54E2AA6A-8EB2-6844-839C-FC05A2A7CF26}"/>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0" name="Content Placeholder 2">
            <a:extLst>
              <a:ext uri="{FF2B5EF4-FFF2-40B4-BE49-F238E27FC236}">
                <a16:creationId xmlns:a16="http://schemas.microsoft.com/office/drawing/2014/main" id="{970A9D46-13B8-A449-861A-D9A62A3EB8B4}"/>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8" name="Content Placeholder 3">
            <a:extLst>
              <a:ext uri="{FF2B5EF4-FFF2-40B4-BE49-F238E27FC236}">
                <a16:creationId xmlns:a16="http://schemas.microsoft.com/office/drawing/2014/main" id="{95D5F048-83BA-BD49-94A8-0FBCAFBFC889}"/>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2" name="Content Placeholder 4">
            <a:extLst>
              <a:ext uri="{FF2B5EF4-FFF2-40B4-BE49-F238E27FC236}">
                <a16:creationId xmlns:a16="http://schemas.microsoft.com/office/drawing/2014/main" id="{2AE4F9B1-309D-3D41-90C3-2C1290FCB673}"/>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Tree>
    <p:extLst>
      <p:ext uri="{BB962C8B-B14F-4D97-AF65-F5344CB8AC3E}">
        <p14:creationId xmlns:p14="http://schemas.microsoft.com/office/powerpoint/2010/main" val="381039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lus 4 Content Holder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4290BFF-2C6A-D547-A81E-0388CF5245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A61BB724-08A0-CA4B-86A7-9CD3F1CBDBBA}"/>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CC954E9B-6B7D-9943-93F9-F54702C2DB03}"/>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6" name="Content Placeholder 3">
            <a:extLst>
              <a:ext uri="{FF2B5EF4-FFF2-40B4-BE49-F238E27FC236}">
                <a16:creationId xmlns:a16="http://schemas.microsoft.com/office/drawing/2014/main" id="{F8777C0D-2E2E-C04D-9E08-C88A9C06FE34}"/>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7" name="Content Placeholder 4">
            <a:extLst>
              <a:ext uri="{FF2B5EF4-FFF2-40B4-BE49-F238E27FC236}">
                <a16:creationId xmlns:a16="http://schemas.microsoft.com/office/drawing/2014/main" id="{C50F43EC-4CB6-6B43-B882-87CAEAB1725D}"/>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
        <p:nvSpPr>
          <p:cNvPr id="8" name="LON">
            <a:extLst>
              <a:ext uri="{FF2B5EF4-FFF2-40B4-BE49-F238E27FC236}">
                <a16:creationId xmlns:a16="http://schemas.microsoft.com/office/drawing/2014/main" id="{69F1331E-9F95-5949-BE4C-14B3D76FECD3}"/>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768881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E1C3346-7CF8-9B4A-BD6A-35B50027FBA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97308A14-A585-5B40-9D6D-D56F7011C2ED}"/>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8" name="Content Placeholder 1">
            <a:extLst>
              <a:ext uri="{FF2B5EF4-FFF2-40B4-BE49-F238E27FC236}">
                <a16:creationId xmlns:a16="http://schemas.microsoft.com/office/drawing/2014/main" id="{0512377D-40A5-2A46-B3E4-9DC9B8BA6CFD}"/>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614C6823-B099-6346-9F11-9BBB713BD4E8}"/>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12" name="Content Placeholder 2">
            <a:extLst>
              <a:ext uri="{FF2B5EF4-FFF2-40B4-BE49-F238E27FC236}">
                <a16:creationId xmlns:a16="http://schemas.microsoft.com/office/drawing/2014/main" id="{A6C6AE8D-5CA0-2A41-A8AB-AE2009CA9559}"/>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292418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FDD509C-8B93-D544-88C0-7CD6884F24A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04A8AB45-DE11-9D47-9A87-DE01CC6C7A94}"/>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5" name="Content Placeholder 1">
            <a:extLst>
              <a:ext uri="{FF2B5EF4-FFF2-40B4-BE49-F238E27FC236}">
                <a16:creationId xmlns:a16="http://schemas.microsoft.com/office/drawing/2014/main" id="{3638B8CA-8FB4-124A-B747-BFC3A8F99C57}"/>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89A878F9-05D5-F440-A197-801316926493}"/>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7" name="Content Placeholder 2">
            <a:extLst>
              <a:ext uri="{FF2B5EF4-FFF2-40B4-BE49-F238E27FC236}">
                <a16:creationId xmlns:a16="http://schemas.microsoft.com/office/drawing/2014/main" id="{7A848487-A351-BA43-B5FD-CEE81DF8C694}"/>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LON">
            <a:extLst>
              <a:ext uri="{FF2B5EF4-FFF2-40B4-BE49-F238E27FC236}">
                <a16:creationId xmlns:a16="http://schemas.microsoft.com/office/drawing/2014/main" id="{34E5444F-F94C-9E41-8173-33D4D5358C79}"/>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15347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1076D4CD-F0B4-124B-8113-705D33B57F73}"/>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3D0BA947-0F36-8349-A4BA-26245B77CD19}"/>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8" name="Content Placeholder 1">
            <a:extLst>
              <a:ext uri="{FF2B5EF4-FFF2-40B4-BE49-F238E27FC236}">
                <a16:creationId xmlns:a16="http://schemas.microsoft.com/office/drawing/2014/main" id="{C173C378-6271-D743-A776-6409A7FA9342}"/>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37B3B6E1-C965-334A-BD53-424487E73D7D}"/>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3" name="Content Placeholder 2">
            <a:extLst>
              <a:ext uri="{FF2B5EF4-FFF2-40B4-BE49-F238E27FC236}">
                <a16:creationId xmlns:a16="http://schemas.microsoft.com/office/drawing/2014/main" id="{EDA96C3C-B9CF-8B41-81EB-3C25817BE3D9}"/>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5" name="Column head 3">
            <a:extLst>
              <a:ext uri="{FF2B5EF4-FFF2-40B4-BE49-F238E27FC236}">
                <a16:creationId xmlns:a16="http://schemas.microsoft.com/office/drawing/2014/main" id="{72104B81-5D72-D246-8705-46A764C52741}"/>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7" name="Content Placeholder 3">
            <a:extLst>
              <a:ext uri="{FF2B5EF4-FFF2-40B4-BE49-F238E27FC236}">
                <a16:creationId xmlns:a16="http://schemas.microsoft.com/office/drawing/2014/main" id="{20ADF7F0-1D6C-6C49-BD92-8365B898E53C}"/>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76719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2D902C-F7C9-9440-939D-D84A4F9609C9}"/>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4B0A01FF-A48B-6A48-BC18-7D841F6DB0DE}"/>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5" name="Content Placeholder 1">
            <a:extLst>
              <a:ext uri="{FF2B5EF4-FFF2-40B4-BE49-F238E27FC236}">
                <a16:creationId xmlns:a16="http://schemas.microsoft.com/office/drawing/2014/main" id="{31840C35-E932-D64D-BA71-52B92790B46D}"/>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5371FDD0-8EDD-5440-B66F-B0A5309AF881}"/>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7" name="Content Placeholder 2">
            <a:extLst>
              <a:ext uri="{FF2B5EF4-FFF2-40B4-BE49-F238E27FC236}">
                <a16:creationId xmlns:a16="http://schemas.microsoft.com/office/drawing/2014/main" id="{CA1520A6-1299-6A49-9EFD-A4F91B187A2C}"/>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Column head 3">
            <a:extLst>
              <a:ext uri="{FF2B5EF4-FFF2-40B4-BE49-F238E27FC236}">
                <a16:creationId xmlns:a16="http://schemas.microsoft.com/office/drawing/2014/main" id="{12B5E08D-BE68-7B40-A805-F20B8744BF3B}"/>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9" name="Content Placeholder 3">
            <a:extLst>
              <a:ext uri="{FF2B5EF4-FFF2-40B4-BE49-F238E27FC236}">
                <a16:creationId xmlns:a16="http://schemas.microsoft.com/office/drawing/2014/main" id="{B0F303C0-853B-7547-BA06-107EE6C8AD4F}"/>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LON">
            <a:extLst>
              <a:ext uri="{FF2B5EF4-FFF2-40B4-BE49-F238E27FC236}">
                <a16:creationId xmlns:a16="http://schemas.microsoft.com/office/drawing/2014/main" id="{F6284ABA-7D4B-8C45-8812-6CB27464D04D}"/>
              </a:ext>
            </a:extLst>
          </p:cNvPr>
          <p:cNvSpPr>
            <a:spLocks noGrp="1"/>
          </p:cNvSpPr>
          <p:nvPr>
            <p:ph sz="quarter" idx="18"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690741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plus Multiple Content ">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E690358-CC3E-564C-966E-C1C7CED8699F}"/>
              </a:ext>
            </a:extLst>
          </p:cNvPr>
          <p:cNvSpPr>
            <a:spLocks noGrp="1"/>
          </p:cNvSpPr>
          <p:nvPr>
            <p:ph type="title" hasCustomPrompt="1"/>
          </p:nvPr>
        </p:nvSpPr>
        <p:spPr>
          <a:xfrm>
            <a:off x="685147" y="460255"/>
            <a:ext cx="10821056" cy="849312"/>
          </a:xfrm>
        </p:spPr>
        <p:txBody>
          <a:bodyPr/>
          <a:lstStyle>
            <a:lvl1pPr>
              <a:defRPr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92DBC287-7A50-404F-B583-851D0F7791CC}"/>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2">
            <a:extLst>
              <a:ext uri="{FF2B5EF4-FFF2-40B4-BE49-F238E27FC236}">
                <a16:creationId xmlns:a16="http://schemas.microsoft.com/office/drawing/2014/main" id="{292F575A-DA58-CD47-B145-2EEC4D32E7E8}"/>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3">
            <a:extLst>
              <a:ext uri="{FF2B5EF4-FFF2-40B4-BE49-F238E27FC236}">
                <a16:creationId xmlns:a16="http://schemas.microsoft.com/office/drawing/2014/main" id="{9C05BB7B-AB59-DE4D-A944-5504896DE205}"/>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4">
            <a:extLst>
              <a:ext uri="{FF2B5EF4-FFF2-40B4-BE49-F238E27FC236}">
                <a16:creationId xmlns:a16="http://schemas.microsoft.com/office/drawing/2014/main" id="{7829821A-510E-FD4B-AD62-D4518384985E}"/>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4" name="Content Placeholder 5">
            <a:extLst>
              <a:ext uri="{FF2B5EF4-FFF2-40B4-BE49-F238E27FC236}">
                <a16:creationId xmlns:a16="http://schemas.microsoft.com/office/drawing/2014/main" id="{78767F66-B6AE-AE4C-B489-36009A75C90F}"/>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7" name="Content Placeholder 6">
            <a:extLst>
              <a:ext uri="{FF2B5EF4-FFF2-40B4-BE49-F238E27FC236}">
                <a16:creationId xmlns:a16="http://schemas.microsoft.com/office/drawing/2014/main" id="{37C2D694-2FFF-2543-8703-9D9C5F93E583}"/>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9" name="Content Placeholder 7">
            <a:extLst>
              <a:ext uri="{FF2B5EF4-FFF2-40B4-BE49-F238E27FC236}">
                <a16:creationId xmlns:a16="http://schemas.microsoft.com/office/drawing/2014/main" id="{57FDF21A-AF40-6547-AB06-C387DAE39182}"/>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1" name="Content Placeholder 8">
            <a:extLst>
              <a:ext uri="{FF2B5EF4-FFF2-40B4-BE49-F238E27FC236}">
                <a16:creationId xmlns:a16="http://schemas.microsoft.com/office/drawing/2014/main" id="{1058EE27-F947-8A41-AC83-223A6236295B}"/>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3" name="Content Placeholder 9">
            <a:extLst>
              <a:ext uri="{FF2B5EF4-FFF2-40B4-BE49-F238E27FC236}">
                <a16:creationId xmlns:a16="http://schemas.microsoft.com/office/drawing/2014/main" id="{59E26C59-6E0D-AB44-A5BE-2FF4A9BE7E10}"/>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25" name="Content Placeholder 10">
            <a:extLst>
              <a:ext uri="{FF2B5EF4-FFF2-40B4-BE49-F238E27FC236}">
                <a16:creationId xmlns:a16="http://schemas.microsoft.com/office/drawing/2014/main" id="{EF0222B6-9957-6D47-B5D6-C0B5F4719587}"/>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Tree>
    <p:extLst>
      <p:ext uri="{BB962C8B-B14F-4D97-AF65-F5344CB8AC3E}">
        <p14:creationId xmlns:p14="http://schemas.microsoft.com/office/powerpoint/2010/main" val="3459493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plus Multiple Content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6E398D-3129-0449-B2FB-A6A4CCA4C1A4}"/>
              </a:ext>
            </a:extLst>
          </p:cNvPr>
          <p:cNvSpPr>
            <a:spLocks noGrp="1"/>
          </p:cNvSpPr>
          <p:nvPr>
            <p:ph type="title" hasCustomPrompt="1"/>
          </p:nvPr>
        </p:nvSpPr>
        <p:spPr>
          <a:xfrm>
            <a:off x="685147" y="460255"/>
            <a:ext cx="10821056" cy="849312"/>
          </a:xfrm>
        </p:spPr>
        <p:txBody>
          <a:bodyPr/>
          <a:lstStyle>
            <a:lvl1pPr>
              <a:defRPr b="0" i="0"/>
            </a:lvl1pPr>
          </a:lstStyle>
          <a:p>
            <a:r>
              <a:rPr lang="en-US" dirty="0"/>
              <a:t>Click to Add Title</a:t>
            </a:r>
          </a:p>
        </p:txBody>
      </p:sp>
      <p:sp>
        <p:nvSpPr>
          <p:cNvPr id="4" name="Content Placeholder 1">
            <a:extLst>
              <a:ext uri="{FF2B5EF4-FFF2-40B4-BE49-F238E27FC236}">
                <a16:creationId xmlns:a16="http://schemas.microsoft.com/office/drawing/2014/main" id="{136D1C9A-76C2-9744-910E-29C1A9984DF8}"/>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5" name="Content Placeholder 2">
            <a:extLst>
              <a:ext uri="{FF2B5EF4-FFF2-40B4-BE49-F238E27FC236}">
                <a16:creationId xmlns:a16="http://schemas.microsoft.com/office/drawing/2014/main" id="{3EAAB49E-29C7-254B-959D-DD70B6EF767B}"/>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6" name="Content Placeholder 3">
            <a:extLst>
              <a:ext uri="{FF2B5EF4-FFF2-40B4-BE49-F238E27FC236}">
                <a16:creationId xmlns:a16="http://schemas.microsoft.com/office/drawing/2014/main" id="{82AB166E-28C2-7047-9713-7D034F50D03D}"/>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7" name="Content Placeholder 4">
            <a:extLst>
              <a:ext uri="{FF2B5EF4-FFF2-40B4-BE49-F238E27FC236}">
                <a16:creationId xmlns:a16="http://schemas.microsoft.com/office/drawing/2014/main" id="{98A4D256-B5AF-FF4C-AC0B-526E40A60193}"/>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5">
            <a:extLst>
              <a:ext uri="{FF2B5EF4-FFF2-40B4-BE49-F238E27FC236}">
                <a16:creationId xmlns:a16="http://schemas.microsoft.com/office/drawing/2014/main" id="{68AD2C22-047C-6249-858D-098EEC0D53E0}"/>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9" name="Content Placeholder 6">
            <a:extLst>
              <a:ext uri="{FF2B5EF4-FFF2-40B4-BE49-F238E27FC236}">
                <a16:creationId xmlns:a16="http://schemas.microsoft.com/office/drawing/2014/main" id="{A739E962-1130-9749-ABD5-213A7E47522A}"/>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7">
            <a:extLst>
              <a:ext uri="{FF2B5EF4-FFF2-40B4-BE49-F238E27FC236}">
                <a16:creationId xmlns:a16="http://schemas.microsoft.com/office/drawing/2014/main" id="{4A53092C-2D37-1D45-B69F-2202835431B6}"/>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1" name="Content Placeholder 8">
            <a:extLst>
              <a:ext uri="{FF2B5EF4-FFF2-40B4-BE49-F238E27FC236}">
                <a16:creationId xmlns:a16="http://schemas.microsoft.com/office/drawing/2014/main" id="{9C1DE770-7F00-0E48-988B-9BE952F2C70E}"/>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9">
            <a:extLst>
              <a:ext uri="{FF2B5EF4-FFF2-40B4-BE49-F238E27FC236}">
                <a16:creationId xmlns:a16="http://schemas.microsoft.com/office/drawing/2014/main" id="{90D86BCA-285A-FA45-A956-A1ADB4CFBBEA}"/>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13" name="Content Placeholder 10">
            <a:extLst>
              <a:ext uri="{FF2B5EF4-FFF2-40B4-BE49-F238E27FC236}">
                <a16:creationId xmlns:a16="http://schemas.microsoft.com/office/drawing/2014/main" id="{CADF4259-D095-6B45-B487-51FF116AB723}"/>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5" name="LON">
            <a:extLst>
              <a:ext uri="{FF2B5EF4-FFF2-40B4-BE49-F238E27FC236}">
                <a16:creationId xmlns:a16="http://schemas.microsoft.com/office/drawing/2014/main" id="{703C0522-40C1-E542-962A-16F7DBF88E78}"/>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26047531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lus question and answer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625A-A2BD-A14C-8E2D-2D92535588BD}"/>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6" name="Content Placeholder">
            <a:extLst>
              <a:ext uri="{FF2B5EF4-FFF2-40B4-BE49-F238E27FC236}">
                <a16:creationId xmlns:a16="http://schemas.microsoft.com/office/drawing/2014/main" id="{E73A7EA0-F98F-BE4E-87CA-6C917EC13001}"/>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Tree>
    <p:extLst>
      <p:ext uri="{BB962C8B-B14F-4D97-AF65-F5344CB8AC3E}">
        <p14:creationId xmlns:p14="http://schemas.microsoft.com/office/powerpoint/2010/main" val="624455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lus question and answer list with L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D2F9AD-A5DB-9949-B229-2FB3D8D60D1E}"/>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4" name="Content Placeholder">
            <a:extLst>
              <a:ext uri="{FF2B5EF4-FFF2-40B4-BE49-F238E27FC236}">
                <a16:creationId xmlns:a16="http://schemas.microsoft.com/office/drawing/2014/main" id="{448A82C7-035B-9448-8BF0-EEC3EDCE504D}"/>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
        <p:nvSpPr>
          <p:cNvPr id="5" name="LON">
            <a:extLst>
              <a:ext uri="{FF2B5EF4-FFF2-40B4-BE49-F238E27FC236}">
                <a16:creationId xmlns:a16="http://schemas.microsoft.com/office/drawing/2014/main" id="{F1660F36-E56F-4D4C-9087-F66CAA865B8A}"/>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1754771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p:spTree>
      <p:nvGrpSpPr>
        <p:cNvPr id="1" name=""/>
        <p:cNvGrpSpPr/>
        <p:nvPr/>
      </p:nvGrpSpPr>
      <p:grpSpPr>
        <a:xfrm>
          <a:off x="0" y="0"/>
          <a:ext cx="0" cy="0"/>
          <a:chOff x="0" y="0"/>
          <a:chExt cx="0" cy="0"/>
        </a:xfrm>
      </p:grpSpPr>
      <p:sp>
        <p:nvSpPr>
          <p:cNvPr id="6" name="Content Placeholder">
            <a:extLst>
              <a:ext uri="{FF2B5EF4-FFF2-40B4-BE49-F238E27FC236}">
                <a16:creationId xmlns:a16="http://schemas.microsoft.com/office/drawing/2014/main" id="{F16179AC-EC34-4C40-8E6B-BEB5702E9F50}"/>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title">
            <a:extLst>
              <a:ext uri="{FF2B5EF4-FFF2-40B4-BE49-F238E27FC236}">
                <a16:creationId xmlns:a16="http://schemas.microsoft.com/office/drawing/2014/main" id="{F51AA1B8-B311-6E4B-86C5-5C509DDE2BD4}"/>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10" name="Figure caption">
            <a:extLst>
              <a:ext uri="{FF2B5EF4-FFF2-40B4-BE49-F238E27FC236}">
                <a16:creationId xmlns:a16="http://schemas.microsoft.com/office/drawing/2014/main" id="{5F92F2A8-2231-CB4C-9E9E-BE9DD704492E}"/>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2" name="Figure source note">
            <a:extLst>
              <a:ext uri="{FF2B5EF4-FFF2-40B4-BE49-F238E27FC236}">
                <a16:creationId xmlns:a16="http://schemas.microsoft.com/office/drawing/2014/main" id="{7DD20C02-8EF0-F645-9932-84DCA794BBF2}"/>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2" name="Title 1">
            <a:extLst>
              <a:ext uri="{FF2B5EF4-FFF2-40B4-BE49-F238E27FC236}">
                <a16:creationId xmlns:a16="http://schemas.microsoft.com/office/drawing/2014/main" id="{F39E8F1D-6463-024C-A2F4-06E1DBEE69F3}"/>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Tree>
    <p:extLst>
      <p:ext uri="{BB962C8B-B14F-4D97-AF65-F5344CB8AC3E}">
        <p14:creationId xmlns:p14="http://schemas.microsoft.com/office/powerpoint/2010/main" val="3616483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with LO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DEB4B85-2048-3B45-8B14-CAE77DC08DB7}"/>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3" name="Content Placeholder">
            <a:extLst>
              <a:ext uri="{FF2B5EF4-FFF2-40B4-BE49-F238E27FC236}">
                <a16:creationId xmlns:a16="http://schemas.microsoft.com/office/drawing/2014/main" id="{16E541C9-040D-314F-8E50-4191C968D159}"/>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4" name="Figure title">
            <a:extLst>
              <a:ext uri="{FF2B5EF4-FFF2-40B4-BE49-F238E27FC236}">
                <a16:creationId xmlns:a16="http://schemas.microsoft.com/office/drawing/2014/main" id="{5D414B6C-FA21-5043-9ECF-2439DCF316C0}"/>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5" name="Figure caption">
            <a:extLst>
              <a:ext uri="{FF2B5EF4-FFF2-40B4-BE49-F238E27FC236}">
                <a16:creationId xmlns:a16="http://schemas.microsoft.com/office/drawing/2014/main" id="{B8D626BF-C27F-4C4A-AA75-D719F7E18C8D}"/>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76019B9-9FBC-7341-988E-16B1099AB57A}"/>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8" name="LON">
            <a:extLst>
              <a:ext uri="{FF2B5EF4-FFF2-40B4-BE49-F238E27FC236}">
                <a16:creationId xmlns:a16="http://schemas.microsoft.com/office/drawing/2014/main" id="{4A286827-D739-3A44-A6A8-39E27D636477}"/>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5532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age plus figure title, caption, and sourc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49C45D5-05E5-F24D-A1D1-12F5C6D94923}"/>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6" name="Content Placeholder">
            <a:extLst>
              <a:ext uri="{FF2B5EF4-FFF2-40B4-BE49-F238E27FC236}">
                <a16:creationId xmlns:a16="http://schemas.microsoft.com/office/drawing/2014/main" id="{91CE61A6-80D4-1D46-9747-534997C0A7C7}"/>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caption">
            <a:extLst>
              <a:ext uri="{FF2B5EF4-FFF2-40B4-BE49-F238E27FC236}">
                <a16:creationId xmlns:a16="http://schemas.microsoft.com/office/drawing/2014/main" id="{30F4AE5B-9EC0-0F40-B06D-DF4AAD62565F}"/>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0" name="Figure source note">
            <a:extLst>
              <a:ext uri="{FF2B5EF4-FFF2-40B4-BE49-F238E27FC236}">
                <a16:creationId xmlns:a16="http://schemas.microsoft.com/office/drawing/2014/main" id="{70769691-F199-9444-B93E-6F622FAF852A}"/>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Tree>
    <p:extLst>
      <p:ext uri="{BB962C8B-B14F-4D97-AF65-F5344CB8AC3E}">
        <p14:creationId xmlns:p14="http://schemas.microsoft.com/office/powerpoint/2010/main" val="5128821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plus figure title, caption, and source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A8D3AC-0293-C94C-A7F5-941ADBAAC1BE}"/>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4" name="Content Placeholder">
            <a:extLst>
              <a:ext uri="{FF2B5EF4-FFF2-40B4-BE49-F238E27FC236}">
                <a16:creationId xmlns:a16="http://schemas.microsoft.com/office/drawing/2014/main" id="{0BC8778B-3655-0B4E-B132-287C2BA78698}"/>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Figure caption">
            <a:extLst>
              <a:ext uri="{FF2B5EF4-FFF2-40B4-BE49-F238E27FC236}">
                <a16:creationId xmlns:a16="http://schemas.microsoft.com/office/drawing/2014/main" id="{C6724138-0C2B-314B-9E27-32AC7A35CD3D}"/>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62E42E8-BA46-E94A-A4E2-2ADD1513927F}"/>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
        <p:nvSpPr>
          <p:cNvPr id="7" name="LON">
            <a:extLst>
              <a:ext uri="{FF2B5EF4-FFF2-40B4-BE49-F238E27FC236}">
                <a16:creationId xmlns:a16="http://schemas.microsoft.com/office/drawing/2014/main" id="{E52E7061-3BA2-2443-8969-408C5477EC90}"/>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9379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plus figure tit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25A19D2-E201-E04B-8213-AD2F82E02ACD}"/>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6" name="Content Placeholder">
            <a:extLst>
              <a:ext uri="{FF2B5EF4-FFF2-40B4-BE49-F238E27FC236}">
                <a16:creationId xmlns:a16="http://schemas.microsoft.com/office/drawing/2014/main" id="{F7C27705-8F57-3543-B8B6-8884A3445F31}"/>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Tree>
    <p:extLst>
      <p:ext uri="{BB962C8B-B14F-4D97-AF65-F5344CB8AC3E}">
        <p14:creationId xmlns:p14="http://schemas.microsoft.com/office/powerpoint/2010/main" val="3222349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 plus figure title with LON">
    <p:spTree>
      <p:nvGrpSpPr>
        <p:cNvPr id="1" name=""/>
        <p:cNvGrpSpPr/>
        <p:nvPr/>
      </p:nvGrpSpPr>
      <p:grpSpPr>
        <a:xfrm>
          <a:off x="0" y="0"/>
          <a:ext cx="0" cy="0"/>
          <a:chOff x="0" y="0"/>
          <a:chExt cx="0" cy="0"/>
        </a:xfrm>
      </p:grpSpPr>
      <p:sp>
        <p:nvSpPr>
          <p:cNvPr id="3" name="Title ">
            <a:extLst>
              <a:ext uri="{FF2B5EF4-FFF2-40B4-BE49-F238E27FC236}">
                <a16:creationId xmlns:a16="http://schemas.microsoft.com/office/drawing/2014/main" id="{EE0C413A-E9D2-874E-B667-7D52A7C6D63E}"/>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4" name="Content Placeholder">
            <a:extLst>
              <a:ext uri="{FF2B5EF4-FFF2-40B4-BE49-F238E27FC236}">
                <a16:creationId xmlns:a16="http://schemas.microsoft.com/office/drawing/2014/main" id="{E0790748-4FDE-2740-9056-03023766B8FD}"/>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LON">
            <a:extLst>
              <a:ext uri="{FF2B5EF4-FFF2-40B4-BE49-F238E27FC236}">
                <a16:creationId xmlns:a16="http://schemas.microsoft.com/office/drawing/2014/main" id="{605772DC-A4D5-384D-9F48-D64BD7545E62}"/>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5224291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C038FED-6BF6-AB44-9A08-55D37B5C3CD2}"/>
              </a:ext>
            </a:extLst>
          </p:cNvPr>
          <p:cNvSpPr>
            <a:spLocks noGrp="1"/>
          </p:cNvSpPr>
          <p:nvPr>
            <p:ph type="title" hasCustomPrompt="1"/>
          </p:nvPr>
        </p:nvSpPr>
        <p:spPr>
          <a:xfrm>
            <a:off x="685150" y="460260"/>
            <a:ext cx="10821053" cy="448733"/>
          </a:xfrm>
          <a:prstGeom prst="rect">
            <a:avLst/>
          </a:prstGeom>
        </p:spPr>
        <p:txBody>
          <a:bodyPr anchor="ctr">
            <a:normAutofit/>
          </a:bodyPr>
          <a:lstStyle>
            <a:lvl1pPr>
              <a:defRPr sz="1875" b="0" i="0">
                <a:solidFill>
                  <a:schemeClr val="tx2"/>
                </a:solidFill>
              </a:defRPr>
            </a:lvl1pPr>
          </a:lstStyle>
          <a:p>
            <a:r>
              <a:rPr lang="en-US" dirty="0"/>
              <a:t>Click to Add Section Heading</a:t>
            </a:r>
          </a:p>
        </p:txBody>
      </p:sp>
      <p:sp>
        <p:nvSpPr>
          <p:cNvPr id="6" name="LOH">
            <a:extLst>
              <a:ext uri="{FF2B5EF4-FFF2-40B4-BE49-F238E27FC236}">
                <a16:creationId xmlns:a16="http://schemas.microsoft.com/office/drawing/2014/main" id="{49E9A051-991C-0F46-BAA2-7226FFD829BB}"/>
              </a:ext>
            </a:extLst>
          </p:cNvPr>
          <p:cNvSpPr>
            <a:spLocks noGrp="1"/>
          </p:cNvSpPr>
          <p:nvPr>
            <p:ph sz="quarter" idx="12" hasCustomPrompt="1"/>
          </p:nvPr>
        </p:nvSpPr>
        <p:spPr>
          <a:xfrm>
            <a:off x="0" y="908989"/>
            <a:ext cx="12192000" cy="576072"/>
          </a:xfrm>
          <a:prstGeom prst="rect">
            <a:avLst/>
          </a:prstGeom>
          <a:solidFill>
            <a:schemeClr val="accent5">
              <a:lumMod val="20000"/>
              <a:lumOff val="80000"/>
            </a:schemeClr>
          </a:solidFill>
        </p:spPr>
        <p:txBody>
          <a:bodyPr tIns="228600" anchor="t">
            <a:normAutofit/>
          </a:bodyPr>
          <a:lstStyle>
            <a:lvl1pPr marL="685800" indent="0">
              <a:buNone/>
              <a:defRPr sz="2400" b="1">
                <a:solidFill>
                  <a:schemeClr val="accent3"/>
                </a:solidFill>
              </a:defRPr>
            </a:lvl1pPr>
          </a:lstStyle>
          <a:p>
            <a:pPr lvl="0"/>
            <a:r>
              <a:rPr lang="en-US" dirty="0"/>
              <a:t>LEARNING OBJECTIVE</a:t>
            </a:r>
          </a:p>
        </p:txBody>
      </p:sp>
      <p:sp>
        <p:nvSpPr>
          <p:cNvPr id="7" name="LO">
            <a:extLst>
              <a:ext uri="{FF2B5EF4-FFF2-40B4-BE49-F238E27FC236}">
                <a16:creationId xmlns:a16="http://schemas.microsoft.com/office/drawing/2014/main" id="{6B2BBFD0-F1EC-4C47-B12D-5C12ED25E097}"/>
              </a:ext>
            </a:extLst>
          </p:cNvPr>
          <p:cNvSpPr>
            <a:spLocks noGrp="1"/>
          </p:cNvSpPr>
          <p:nvPr>
            <p:ph sz="quarter" idx="13" hasCustomPrompt="1"/>
          </p:nvPr>
        </p:nvSpPr>
        <p:spPr>
          <a:xfrm>
            <a:off x="0" y="1485062"/>
            <a:ext cx="12192000" cy="576072"/>
          </a:xfrm>
          <a:prstGeom prst="rect">
            <a:avLst/>
          </a:prstGeom>
          <a:solidFill>
            <a:schemeClr val="accent5">
              <a:lumMod val="20000"/>
              <a:lumOff val="80000"/>
            </a:schemeClr>
          </a:solidFill>
        </p:spPr>
        <p:txBody>
          <a:bodyPr bIns="137160" anchor="t">
            <a:normAutofit/>
          </a:bodyPr>
          <a:lstStyle>
            <a:lvl1pPr marL="685800" indent="0">
              <a:buNone/>
              <a:defRPr sz="2800" b="1"/>
            </a:lvl1pPr>
          </a:lstStyle>
          <a:p>
            <a:pPr lvl="0"/>
            <a:r>
              <a:rPr lang="en-US" b="1" dirty="0"/>
              <a:t>Click to add learning objective</a:t>
            </a:r>
            <a:endParaRPr lang="en-US" dirty="0"/>
          </a:p>
        </p:txBody>
      </p:sp>
      <p:sp>
        <p:nvSpPr>
          <p:cNvPr id="9" name="Content Placeholder ">
            <a:extLst>
              <a:ext uri="{FF2B5EF4-FFF2-40B4-BE49-F238E27FC236}">
                <a16:creationId xmlns:a16="http://schemas.microsoft.com/office/drawing/2014/main" id="{65D5B835-3B9C-E14E-A29A-0724ED8AF90D}"/>
              </a:ext>
            </a:extLst>
          </p:cNvPr>
          <p:cNvSpPr>
            <a:spLocks noGrp="1"/>
          </p:cNvSpPr>
          <p:nvPr>
            <p:ph sz="quarter" idx="14" hasCustomPrompt="1"/>
          </p:nvPr>
        </p:nvSpPr>
        <p:spPr>
          <a:xfrm>
            <a:off x="685150" y="2441984"/>
            <a:ext cx="10820401" cy="3795530"/>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8" name="LON">
            <a:extLst>
              <a:ext uri="{FF2B5EF4-FFF2-40B4-BE49-F238E27FC236}">
                <a16:creationId xmlns:a16="http://schemas.microsoft.com/office/drawing/2014/main" id="{0165F52E-6DB2-1947-9EBF-D8C707B6D127}"/>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30107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85149" y="460255"/>
            <a:ext cx="10820403" cy="84931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p:cNvSpPr>
            <a:spLocks noGrp="1"/>
          </p:cNvSpPr>
          <p:nvPr>
            <p:ph type="body" idx="1"/>
          </p:nvPr>
        </p:nvSpPr>
        <p:spPr>
          <a:xfrm>
            <a:off x="685149" y="1452563"/>
            <a:ext cx="10820401" cy="45825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Decorative">
            <a:extLst>
              <a:ext uri="{FF2B5EF4-FFF2-40B4-BE49-F238E27FC236}">
                <a16:creationId xmlns:a16="http://schemas.microsoft.com/office/drawing/2014/main" id="{CCA493B3-CA46-AE42-92E0-65E2C321C4EE}"/>
              </a:ext>
              <a:ext uri="{C183D7F6-B498-43B3-948B-1728B52AA6E4}">
                <adec:decorative xmlns:adec="http://schemas.microsoft.com/office/drawing/2017/decorative" val="1"/>
              </a:ext>
            </a:extLst>
          </p:cNvPr>
          <p:cNvGrpSpPr/>
          <p:nvPr/>
        </p:nvGrpSpPr>
        <p:grpSpPr>
          <a:xfrm>
            <a:off x="0" y="6446652"/>
            <a:ext cx="12192000" cy="457200"/>
            <a:chOff x="0" y="6437034"/>
            <a:chExt cx="12192000" cy="457200"/>
          </a:xfrm>
        </p:grpSpPr>
        <p:sp>
          <p:nvSpPr>
            <p:cNvPr id="9" name="Rectangle">
              <a:extLst>
                <a:ext uri="{FF2B5EF4-FFF2-40B4-BE49-F238E27FC236}">
                  <a16:creationId xmlns:a16="http://schemas.microsoft.com/office/drawing/2014/main" id="{1435C606-734A-6E44-8696-5C3FDC502060}"/>
                </a:ext>
              </a:extLst>
            </p:cNvPr>
            <p:cNvSpPr/>
            <p:nvPr/>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0" name="Rectangle">
              <a:extLst>
                <a:ext uri="{FF2B5EF4-FFF2-40B4-BE49-F238E27FC236}">
                  <a16:creationId xmlns:a16="http://schemas.microsoft.com/office/drawing/2014/main" id="{3F0CDFAC-CEDE-EC48-B4AF-B38FC99BC062}"/>
                </a:ext>
              </a:extLst>
            </p:cNvPr>
            <p:cNvSpPr/>
            <p:nvPr/>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1" name="Rectangle">
              <a:extLst>
                <a:ext uri="{FF2B5EF4-FFF2-40B4-BE49-F238E27FC236}">
                  <a16:creationId xmlns:a16="http://schemas.microsoft.com/office/drawing/2014/main" id="{8653603B-C5BF-254D-A851-223464C33766}"/>
                </a:ext>
              </a:extLst>
            </p:cNvPr>
            <p:cNvSpPr/>
            <p:nvPr/>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5" name="Logo">
            <a:extLst>
              <a:ext uri="{FF2B5EF4-FFF2-40B4-BE49-F238E27FC236}">
                <a16:creationId xmlns:a16="http://schemas.microsoft.com/office/drawing/2014/main" id="{7C7EE61F-0A99-B444-AF52-6D916C599FBA}"/>
              </a:ext>
            </a:extLst>
          </p:cNvPr>
          <p:cNvPicPr>
            <a:picLocks noChangeAspect="1"/>
          </p:cNvPicPr>
          <p:nvPr/>
        </p:nvPicPr>
        <p:blipFill>
          <a:blip r:embed="rId29"/>
          <a:srcRect/>
          <a:stretch/>
        </p:blipFill>
        <p:spPr>
          <a:xfrm>
            <a:off x="685149" y="6578943"/>
            <a:ext cx="914401" cy="192617"/>
          </a:xfrm>
          <a:prstGeom prst="rect">
            <a:avLst/>
          </a:prstGeom>
        </p:spPr>
      </p:pic>
      <p:grpSp>
        <p:nvGrpSpPr>
          <p:cNvPr id="4" name="Decorative">
            <a:extLst>
              <a:ext uri="{FF2B5EF4-FFF2-40B4-BE49-F238E27FC236}">
                <a16:creationId xmlns:a16="http://schemas.microsoft.com/office/drawing/2014/main" id="{68DBE87E-583D-5353-BE8B-E8D611752F42}"/>
              </a:ext>
              <a:ext uri="{C183D7F6-B498-43B3-948B-1728B52AA6E4}">
                <adec:decorative xmlns:adec="http://schemas.microsoft.com/office/drawing/2017/decorative" val="1"/>
              </a:ext>
            </a:extLst>
          </p:cNvPr>
          <p:cNvGrpSpPr/>
          <p:nvPr userDrawn="1"/>
        </p:nvGrpSpPr>
        <p:grpSpPr>
          <a:xfrm>
            <a:off x="0" y="6446652"/>
            <a:ext cx="12192000" cy="457200"/>
            <a:chOff x="0" y="6437034"/>
            <a:chExt cx="12192000" cy="457200"/>
          </a:xfrm>
        </p:grpSpPr>
        <p:sp>
          <p:nvSpPr>
            <p:cNvPr id="6" name="Rectangle">
              <a:extLst>
                <a:ext uri="{FF2B5EF4-FFF2-40B4-BE49-F238E27FC236}">
                  <a16:creationId xmlns:a16="http://schemas.microsoft.com/office/drawing/2014/main" id="{F7268FCC-A3A8-5103-50C9-2957FC1C632A}"/>
                </a:ext>
              </a:extLst>
            </p:cNvPr>
            <p:cNvSpPr/>
            <p:nvPr userDrawn="1"/>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48BB55D9-C184-2F0C-CD7F-AF79F10A9075}"/>
                </a:ext>
              </a:extLst>
            </p:cNvPr>
            <p:cNvSpPr/>
            <p:nvPr userDrawn="1"/>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81288B08-A0C0-EEB4-F92D-9375EDCCD2E4}"/>
                </a:ext>
              </a:extLst>
            </p:cNvPr>
            <p:cNvSpPr/>
            <p:nvPr userDrawn="1"/>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12" name="Logo">
            <a:extLst>
              <a:ext uri="{FF2B5EF4-FFF2-40B4-BE49-F238E27FC236}">
                <a16:creationId xmlns:a16="http://schemas.microsoft.com/office/drawing/2014/main" id="{36161B95-7B9C-08F8-A277-4D09C7E90CC9}"/>
              </a:ext>
            </a:extLst>
          </p:cNvPr>
          <p:cNvPicPr>
            <a:picLocks noChangeAspect="1"/>
          </p:cNvPicPr>
          <p:nvPr userDrawn="1"/>
        </p:nvPicPr>
        <p:blipFill>
          <a:blip r:embed="rId29"/>
          <a:srcRect/>
          <a:stretch/>
        </p:blipFill>
        <p:spPr>
          <a:xfrm>
            <a:off x="685149" y="6578943"/>
            <a:ext cx="914401" cy="192617"/>
          </a:xfrm>
          <a:prstGeom prst="rect">
            <a:avLst/>
          </a:prstGeom>
        </p:spPr>
      </p:pic>
    </p:spTree>
    <p:extLst>
      <p:ext uri="{BB962C8B-B14F-4D97-AF65-F5344CB8AC3E}">
        <p14:creationId xmlns:p14="http://schemas.microsoft.com/office/powerpoint/2010/main" val="9615988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37"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Lst>
  <p:hf hdr="0" ftr="0" dt="0"/>
  <p:txStyles>
    <p:titleStyle>
      <a:lvl1pPr algn="l" defTabSz="685800" rtl="0" eaLnBrk="1" latinLnBrk="0" hangingPunct="1">
        <a:lnSpc>
          <a:spcPct val="90000"/>
        </a:lnSpc>
        <a:spcBef>
          <a:spcPct val="0"/>
        </a:spcBef>
        <a:buNone/>
        <a:defRPr sz="4000" b="0" i="0" kern="1200">
          <a:solidFill>
            <a:schemeClr val="accent3"/>
          </a:solidFill>
          <a:latin typeface="Times" pitchFamily="2" charset="0"/>
          <a:ea typeface="+mj-ea"/>
          <a:cs typeface="Calibri" panose="020F0502020204030204" pitchFamily="34" charset="0"/>
        </a:defRPr>
      </a:lvl1pPr>
    </p:titleStyle>
    <p:bodyStyle>
      <a:lvl1pPr marL="219456" indent="-219456" algn="l" defTabSz="685800" rtl="0" eaLnBrk="1" latinLnBrk="0" hangingPunct="1">
        <a:lnSpc>
          <a:spcPct val="90000"/>
        </a:lnSpc>
        <a:spcBef>
          <a:spcPts val="750"/>
        </a:spcBef>
        <a:buClr>
          <a:schemeClr val="accent3"/>
        </a:buClr>
        <a:buFont typeface="Arial" panose="020B0604020202020204" pitchFamily="34" charset="0"/>
        <a:buChar char="•"/>
        <a:defRPr sz="2800" b="0" i="0" kern="1200">
          <a:solidFill>
            <a:schemeClr val="tx1"/>
          </a:solidFill>
          <a:latin typeface="Times" pitchFamily="2" charset="0"/>
          <a:ea typeface="+mn-ea"/>
          <a:cs typeface="+mn-cs"/>
        </a:defRPr>
      </a:lvl1pPr>
      <a:lvl2pPr marL="617220" indent="-219456" algn="l" defTabSz="685800" rtl="0" eaLnBrk="1" latinLnBrk="0" hangingPunct="1">
        <a:lnSpc>
          <a:spcPct val="90000"/>
        </a:lnSpc>
        <a:spcBef>
          <a:spcPts val="375"/>
        </a:spcBef>
        <a:buClr>
          <a:schemeClr val="accent3"/>
        </a:buClr>
        <a:buFont typeface="Arial" panose="020B0604020202020204" pitchFamily="34" charset="0"/>
        <a:buChar char="•"/>
        <a:defRPr sz="2400" b="0" i="0" kern="1200">
          <a:solidFill>
            <a:schemeClr val="tx1"/>
          </a:solidFill>
          <a:latin typeface="Times" pitchFamily="2" charset="0"/>
          <a:ea typeface="+mn-ea"/>
          <a:cs typeface="+mn-cs"/>
        </a:defRPr>
      </a:lvl2pPr>
      <a:lvl3pPr marL="908685" indent="-192024" algn="l" defTabSz="685800" rtl="0" eaLnBrk="1" latinLnBrk="0" hangingPunct="1">
        <a:lnSpc>
          <a:spcPct val="90000"/>
        </a:lnSpc>
        <a:spcBef>
          <a:spcPts val="375"/>
        </a:spcBef>
        <a:buClr>
          <a:schemeClr val="accent3"/>
        </a:buClr>
        <a:buFont typeface="Arial" panose="020B0604020202020204" pitchFamily="34" charset="0"/>
        <a:buChar char="•"/>
        <a:defRPr sz="2200" b="0" i="0" kern="1200">
          <a:solidFill>
            <a:schemeClr val="tx1"/>
          </a:solidFill>
          <a:latin typeface="Times" pitchFamily="2" charset="0"/>
          <a:ea typeface="+mn-ea"/>
          <a:cs typeface="+mn-cs"/>
        </a:defRPr>
      </a:lvl3pPr>
      <a:lvl4pPr marL="1131570" indent="-171450" algn="l" defTabSz="685800" rtl="0" eaLnBrk="1" latinLnBrk="0" hangingPunct="1">
        <a:lnSpc>
          <a:spcPct val="90000"/>
        </a:lnSpc>
        <a:spcBef>
          <a:spcPts val="375"/>
        </a:spcBef>
        <a:buClr>
          <a:schemeClr val="accent3"/>
        </a:buClr>
        <a:buFont typeface="Arial" panose="020B0604020202020204" pitchFamily="34" charset="0"/>
        <a:buChar char="•"/>
        <a:defRPr sz="1800" b="0" i="0" kern="1200">
          <a:solidFill>
            <a:schemeClr val="tx1"/>
          </a:solidFill>
          <a:latin typeface="Times" pitchFamily="2" charset="0"/>
          <a:ea typeface="+mn-ea"/>
          <a:cs typeface="+mn-cs"/>
        </a:defRPr>
      </a:lvl4pPr>
      <a:lvl5pPr marL="1345883" indent="-150876" algn="l" defTabSz="685800" rtl="0" eaLnBrk="1" latinLnBrk="0" hangingPunct="1">
        <a:lnSpc>
          <a:spcPct val="90000"/>
        </a:lnSpc>
        <a:spcBef>
          <a:spcPts val="375"/>
        </a:spcBef>
        <a:buClr>
          <a:schemeClr val="accent3"/>
        </a:buClr>
        <a:buFont typeface="Arial" panose="020B0604020202020204" pitchFamily="34" charset="0"/>
        <a:buChar char="•"/>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6.png"/><Relationship Id="rId7" Type="http://schemas.openxmlformats.org/officeDocument/2006/relationships/image" Target="../media/image13.emf"/><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6.emf"/><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0.emf"/><Relationship Id="rId4" Type="http://schemas.openxmlformats.org/officeDocument/2006/relationships/image" Target="../media/image19.emf"/></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8.emf"/><Relationship Id="rId4" Type="http://schemas.openxmlformats.org/officeDocument/2006/relationships/image" Target="../media/image21.emf"/></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6.emf"/></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emf"/><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16.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emf"/><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42.emf"/><Relationship Id="rId5" Type="http://schemas.openxmlformats.org/officeDocument/2006/relationships/image" Target="../media/image41.emf"/><Relationship Id="rId4" Type="http://schemas.openxmlformats.org/officeDocument/2006/relationships/image" Target="../media/image40.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image" Target="../media/image47.jpeg"/><Relationship Id="rId7" Type="http://schemas.openxmlformats.org/officeDocument/2006/relationships/image" Target="../media/image50.emf"/><Relationship Id="rId12" Type="http://schemas.openxmlformats.org/officeDocument/2006/relationships/image" Target="../media/image55.emf"/><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49.emf"/><Relationship Id="rId11" Type="http://schemas.openxmlformats.org/officeDocument/2006/relationships/image" Target="../media/image54.emf"/><Relationship Id="rId5" Type="http://schemas.openxmlformats.org/officeDocument/2006/relationships/image" Target="../media/image48.emf"/><Relationship Id="rId10" Type="http://schemas.openxmlformats.org/officeDocument/2006/relationships/image" Target="../media/image53.emf"/><Relationship Id="rId4" Type="http://schemas.openxmlformats.org/officeDocument/2006/relationships/image" Target="../media/image45.emf"/><Relationship Id="rId9" Type="http://schemas.openxmlformats.org/officeDocument/2006/relationships/image" Target="../media/image52.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48.xml"/><Relationship Id="rId1" Type="http://schemas.openxmlformats.org/officeDocument/2006/relationships/slideLayout" Target="../slideLayouts/slideLayout4.xml"/><Relationship Id="rId5" Type="http://schemas.openxmlformats.org/officeDocument/2006/relationships/image" Target="../media/image58.emf"/><Relationship Id="rId4" Type="http://schemas.openxmlformats.org/officeDocument/2006/relationships/image" Target="../media/image57.emf"/></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6C62-CCFF-1C02-E799-ECD9BFF15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658A-67B4-C5BC-CB9C-31F02F7608AE}"/>
              </a:ext>
            </a:extLst>
          </p:cNvPr>
          <p:cNvSpPr>
            <a:spLocks noGrp="1"/>
          </p:cNvSpPr>
          <p:nvPr>
            <p:ph type="ctrTitle"/>
          </p:nvPr>
        </p:nvSpPr>
        <p:spPr/>
        <p:txBody>
          <a:bodyPr>
            <a:noAutofit/>
          </a:bodyPr>
          <a:lstStyle/>
          <a:p>
            <a:r>
              <a:rPr lang="en-US" sz="4000" dirty="0" err="1">
                <a:solidFill>
                  <a:schemeClr val="tx1"/>
                </a:solidFill>
              </a:rPr>
              <a:t>Cutnell</a:t>
            </a:r>
            <a:r>
              <a:rPr lang="en-US" sz="4000" dirty="0">
                <a:solidFill>
                  <a:schemeClr val="tx1"/>
                </a:solidFill>
              </a:rPr>
              <a:t> &amp; Johnson </a:t>
            </a:r>
            <a:br>
              <a:rPr lang="en-US" sz="4000" dirty="0">
                <a:solidFill>
                  <a:schemeClr val="tx1"/>
                </a:solidFill>
              </a:rPr>
            </a:br>
            <a:r>
              <a:rPr lang="en-US" sz="4000" dirty="0">
                <a:solidFill>
                  <a:schemeClr val="tx1"/>
                </a:solidFill>
              </a:rPr>
              <a:t>Physics</a:t>
            </a:r>
          </a:p>
        </p:txBody>
      </p:sp>
      <p:sp>
        <p:nvSpPr>
          <p:cNvPr id="3" name="Edition 2">
            <a:extLst>
              <a:ext uri="{FF2B5EF4-FFF2-40B4-BE49-F238E27FC236}">
                <a16:creationId xmlns:a16="http://schemas.microsoft.com/office/drawing/2014/main" id="{FE4A4E37-3C3B-52BE-75F5-3352E7A80047}"/>
              </a:ext>
            </a:extLst>
          </p:cNvPr>
          <p:cNvSpPr>
            <a:spLocks noGrp="1"/>
          </p:cNvSpPr>
          <p:nvPr>
            <p:ph sz="quarter" idx="24"/>
          </p:nvPr>
        </p:nvSpPr>
        <p:spPr>
          <a:xfrm>
            <a:off x="442384" y="1901135"/>
            <a:ext cx="11294533" cy="603504"/>
          </a:xfrm>
        </p:spPr>
        <p:txBody>
          <a:bodyPr/>
          <a:lstStyle/>
          <a:p>
            <a:r>
              <a:rPr lang="en-US" dirty="0"/>
              <a:t>Twelfth Edition</a:t>
            </a:r>
          </a:p>
        </p:txBody>
      </p:sp>
      <p:sp>
        <p:nvSpPr>
          <p:cNvPr id="4" name="Author 3">
            <a:extLst>
              <a:ext uri="{FF2B5EF4-FFF2-40B4-BE49-F238E27FC236}">
                <a16:creationId xmlns:a16="http://schemas.microsoft.com/office/drawing/2014/main" id="{1653E4EB-8C72-6F2A-0C74-00D79E54C15B}"/>
              </a:ext>
            </a:extLst>
          </p:cNvPr>
          <p:cNvSpPr>
            <a:spLocks noGrp="1"/>
          </p:cNvSpPr>
          <p:nvPr>
            <p:ph sz="quarter" idx="25"/>
          </p:nvPr>
        </p:nvSpPr>
        <p:spPr>
          <a:xfrm>
            <a:off x="442384" y="2353144"/>
            <a:ext cx="11294533" cy="668222"/>
          </a:xfrm>
        </p:spPr>
        <p:txBody>
          <a:bodyPr>
            <a:normAutofit/>
          </a:bodyPr>
          <a:lstStyle/>
          <a:p>
            <a:r>
              <a:rPr lang="en-US" sz="2800" dirty="0">
                <a:solidFill>
                  <a:schemeClr val="accent3"/>
                </a:solidFill>
              </a:rPr>
              <a:t>David Young and Shane Stadler</a:t>
            </a:r>
          </a:p>
        </p:txBody>
      </p:sp>
      <p:sp>
        <p:nvSpPr>
          <p:cNvPr id="5" name="CN 4">
            <a:extLst>
              <a:ext uri="{FF2B5EF4-FFF2-40B4-BE49-F238E27FC236}">
                <a16:creationId xmlns:a16="http://schemas.microsoft.com/office/drawing/2014/main" id="{478EC628-D124-7C5F-E556-56B66C56FC64}"/>
              </a:ext>
            </a:extLst>
          </p:cNvPr>
          <p:cNvSpPr>
            <a:spLocks noGrp="1"/>
          </p:cNvSpPr>
          <p:nvPr>
            <p:ph sz="quarter" idx="26"/>
          </p:nvPr>
        </p:nvSpPr>
        <p:spPr/>
        <p:txBody>
          <a:bodyPr/>
          <a:lstStyle/>
          <a:p>
            <a:r>
              <a:rPr lang="en-US" dirty="0"/>
              <a:t>CHAPTER 6</a:t>
            </a:r>
          </a:p>
        </p:txBody>
      </p:sp>
      <p:sp>
        <p:nvSpPr>
          <p:cNvPr id="6" name="CT 5">
            <a:extLst>
              <a:ext uri="{FF2B5EF4-FFF2-40B4-BE49-F238E27FC236}">
                <a16:creationId xmlns:a16="http://schemas.microsoft.com/office/drawing/2014/main" id="{31CFED87-BA07-F954-7BF4-19C4873CC49D}"/>
              </a:ext>
            </a:extLst>
          </p:cNvPr>
          <p:cNvSpPr>
            <a:spLocks noGrp="1"/>
          </p:cNvSpPr>
          <p:nvPr>
            <p:ph type="subTitle" idx="1"/>
          </p:nvPr>
        </p:nvSpPr>
        <p:spPr>
          <a:xfrm>
            <a:off x="455083" y="4396646"/>
            <a:ext cx="11294226" cy="1581408"/>
          </a:xfrm>
        </p:spPr>
        <p:txBody>
          <a:bodyPr>
            <a:noAutofit/>
          </a:bodyPr>
          <a:lstStyle/>
          <a:p>
            <a:pPr>
              <a:lnSpc>
                <a:spcPct val="100000"/>
              </a:lnSpc>
            </a:pPr>
            <a:r>
              <a:rPr lang="en-US" sz="2800" dirty="0"/>
              <a:t>Work and Energy</a:t>
            </a:r>
          </a:p>
        </p:txBody>
      </p:sp>
    </p:spTree>
    <p:extLst>
      <p:ext uri="{BB962C8B-B14F-4D97-AF65-F5344CB8AC3E}">
        <p14:creationId xmlns:p14="http://schemas.microsoft.com/office/powerpoint/2010/main" val="135930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C14A-163B-91AC-19AB-AE4673EB8F7B}"/>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F4ADFB39-6AB2-4D8A-B257-AEEF0083F39C}"/>
              </a:ext>
            </a:extLst>
          </p:cNvPr>
          <p:cNvSpPr/>
          <p:nvPr/>
        </p:nvSpPr>
        <p:spPr>
          <a:xfrm>
            <a:off x="0" y="1272209"/>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F6FD14-EC24-06F3-3981-E52F40B1F7E6}"/>
              </a:ext>
            </a:extLst>
          </p:cNvPr>
          <p:cNvSpPr>
            <a:spLocks noGrp="1"/>
          </p:cNvSpPr>
          <p:nvPr>
            <p:ph type="title"/>
          </p:nvPr>
        </p:nvSpPr>
        <p:spPr/>
        <p:txBody>
          <a:bodyPr/>
          <a:lstStyle/>
          <a:p>
            <a:r>
              <a:rPr lang="en-US" b="1" dirty="0">
                <a:ea typeface="Calibri" charset="0"/>
                <a:cs typeface="Calibri" charset="0"/>
              </a:rPr>
              <a:t>6.1</a:t>
            </a:r>
            <a:r>
              <a:rPr lang="en-US" dirty="0">
                <a:ea typeface="Calibri" charset="0"/>
                <a:cs typeface="Calibri" charset="0"/>
              </a:rPr>
              <a:t> Work Done by a Constant Force</a:t>
            </a:r>
            <a:endParaRPr lang="en-US" sz="3000" dirty="0"/>
          </a:p>
        </p:txBody>
      </p:sp>
      <p:sp>
        <p:nvSpPr>
          <p:cNvPr id="5" name="Content Placeholder 2">
            <a:extLst>
              <a:ext uri="{FF2B5EF4-FFF2-40B4-BE49-F238E27FC236}">
                <a16:creationId xmlns:a16="http://schemas.microsoft.com/office/drawing/2014/main" id="{8A94F337-0296-189A-A04A-41DD577C9D5A}"/>
              </a:ext>
            </a:extLst>
          </p:cNvPr>
          <p:cNvSpPr txBox="1">
            <a:spLocks/>
          </p:cNvSpPr>
          <p:nvPr/>
        </p:nvSpPr>
        <p:spPr>
          <a:xfrm>
            <a:off x="959715" y="1339400"/>
            <a:ext cx="10820401"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6.1 </a:t>
            </a:r>
            <a:r>
              <a:rPr lang="en-US" dirty="0"/>
              <a:t>– Determine the work done by a constant force.</a:t>
            </a:r>
          </a:p>
        </p:txBody>
      </p:sp>
      <p:sp>
        <p:nvSpPr>
          <p:cNvPr id="16" name="TextBox 15">
            <a:extLst>
              <a:ext uri="{FF2B5EF4-FFF2-40B4-BE49-F238E27FC236}">
                <a16:creationId xmlns:a16="http://schemas.microsoft.com/office/drawing/2014/main" id="{10CE5ED8-42B4-F79D-2EA1-9EC757205841}"/>
              </a:ext>
            </a:extLst>
          </p:cNvPr>
          <p:cNvSpPr txBox="1"/>
          <p:nvPr/>
        </p:nvSpPr>
        <p:spPr>
          <a:xfrm>
            <a:off x="925158" y="1957891"/>
            <a:ext cx="10316584" cy="954107"/>
          </a:xfrm>
          <a:prstGeom prst="rect">
            <a:avLst/>
          </a:prstGeom>
          <a:noFill/>
        </p:spPr>
        <p:txBody>
          <a:bodyPr wrap="square" rtlCol="0">
            <a:spAutoFit/>
          </a:bodyPr>
          <a:lstStyle/>
          <a:p>
            <a:pPr algn="just"/>
            <a:r>
              <a:rPr lang="en-US" sz="2800" dirty="0">
                <a:solidFill>
                  <a:srgbClr val="007440"/>
                </a:solidFill>
                <a:latin typeface="Times" pitchFamily="2" charset="0"/>
              </a:rPr>
              <a:t>Work</a:t>
            </a:r>
            <a:r>
              <a:rPr lang="en-US" sz="2800" dirty="0">
                <a:latin typeface="Times" pitchFamily="2" charset="0"/>
              </a:rPr>
              <a:t> is a familiar concept. In everyday life, we often associate work with effort or something strenuous.</a:t>
            </a:r>
          </a:p>
        </p:txBody>
      </p:sp>
      <p:sp>
        <p:nvSpPr>
          <p:cNvPr id="18" name="TextBox 17">
            <a:extLst>
              <a:ext uri="{FF2B5EF4-FFF2-40B4-BE49-F238E27FC236}">
                <a16:creationId xmlns:a16="http://schemas.microsoft.com/office/drawing/2014/main" id="{69E63EBE-BC79-7264-E6FB-1849FA68681C}"/>
              </a:ext>
            </a:extLst>
          </p:cNvPr>
          <p:cNvSpPr txBox="1"/>
          <p:nvPr/>
        </p:nvSpPr>
        <p:spPr>
          <a:xfrm>
            <a:off x="925158" y="3022899"/>
            <a:ext cx="10919012" cy="523220"/>
          </a:xfrm>
          <a:prstGeom prst="rect">
            <a:avLst/>
          </a:prstGeom>
          <a:noFill/>
        </p:spPr>
        <p:txBody>
          <a:bodyPr wrap="square" rtlCol="0">
            <a:spAutoFit/>
          </a:bodyPr>
          <a:lstStyle/>
          <a:p>
            <a:pPr algn="just"/>
            <a:r>
              <a:rPr lang="en-US" sz="2800" dirty="0">
                <a:latin typeface="Times" pitchFamily="2" charset="0"/>
              </a:rPr>
              <a:t>We say things like, </a:t>
            </a:r>
            <a:r>
              <a:rPr lang="en-US" sz="2800" i="1" dirty="0">
                <a:latin typeface="Times" pitchFamily="2" charset="0"/>
              </a:rPr>
              <a:t>"I have to go to work,"</a:t>
            </a:r>
            <a:r>
              <a:rPr lang="en-US" sz="2800" dirty="0">
                <a:latin typeface="Times" pitchFamily="2" charset="0"/>
              </a:rPr>
              <a:t> or </a:t>
            </a:r>
            <a:r>
              <a:rPr lang="en-US" sz="2800" i="1" dirty="0">
                <a:latin typeface="Times" pitchFamily="2" charset="0"/>
              </a:rPr>
              <a:t>"I have a lot of work to do."</a:t>
            </a:r>
            <a:endParaRPr lang="en-US" sz="2800" dirty="0">
              <a:latin typeface="Times" pitchFamily="2" charset="0"/>
            </a:endParaRPr>
          </a:p>
        </p:txBody>
      </p:sp>
      <p:sp>
        <p:nvSpPr>
          <p:cNvPr id="19" name="TextBox 18">
            <a:extLst>
              <a:ext uri="{FF2B5EF4-FFF2-40B4-BE49-F238E27FC236}">
                <a16:creationId xmlns:a16="http://schemas.microsoft.com/office/drawing/2014/main" id="{0AF5F7CA-7A2B-E9A2-4F14-189C601283A1}"/>
              </a:ext>
            </a:extLst>
          </p:cNvPr>
          <p:cNvSpPr txBox="1"/>
          <p:nvPr/>
        </p:nvSpPr>
        <p:spPr>
          <a:xfrm>
            <a:off x="925158" y="3670150"/>
            <a:ext cx="10919012" cy="954107"/>
          </a:xfrm>
          <a:prstGeom prst="rect">
            <a:avLst/>
          </a:prstGeom>
          <a:noFill/>
        </p:spPr>
        <p:txBody>
          <a:bodyPr wrap="square" rtlCol="0">
            <a:spAutoFit/>
          </a:bodyPr>
          <a:lstStyle/>
          <a:p>
            <a:pPr algn="just"/>
            <a:r>
              <a:rPr lang="en-US" sz="2800" dirty="0">
                <a:latin typeface="Times" pitchFamily="2" charset="0"/>
              </a:rPr>
              <a:t>In physics, however, work has a much more precise meaning. Work is done when a force acts on an object and causes it to undergo a displacement. </a:t>
            </a:r>
          </a:p>
        </p:txBody>
      </p:sp>
      <p:sp>
        <p:nvSpPr>
          <p:cNvPr id="20" name="TextBox 19">
            <a:extLst>
              <a:ext uri="{FF2B5EF4-FFF2-40B4-BE49-F238E27FC236}">
                <a16:creationId xmlns:a16="http://schemas.microsoft.com/office/drawing/2014/main" id="{B49594A7-2C84-BCD6-7D6E-66E26C8801F7}"/>
              </a:ext>
            </a:extLst>
          </p:cNvPr>
          <p:cNvSpPr txBox="1"/>
          <p:nvPr/>
        </p:nvSpPr>
        <p:spPr>
          <a:xfrm>
            <a:off x="925158" y="4801495"/>
            <a:ext cx="5299935" cy="1384995"/>
          </a:xfrm>
          <a:prstGeom prst="rect">
            <a:avLst/>
          </a:prstGeom>
          <a:noFill/>
        </p:spPr>
        <p:txBody>
          <a:bodyPr wrap="square" rtlCol="0">
            <a:spAutoFit/>
          </a:bodyPr>
          <a:lstStyle/>
          <a:p>
            <a:pPr algn="just"/>
            <a:r>
              <a:rPr lang="en-US" sz="2800" dirty="0">
                <a:latin typeface="Times" pitchFamily="2" charset="0"/>
              </a:rPr>
              <a:t>For example, if I push a stalled car, I do work on the car. The farther I push it, the more work I do.</a:t>
            </a:r>
          </a:p>
        </p:txBody>
      </p:sp>
      <p:pic>
        <p:nvPicPr>
          <p:cNvPr id="22" name="Picture 21">
            <a:extLst>
              <a:ext uri="{FF2B5EF4-FFF2-40B4-BE49-F238E27FC236}">
                <a16:creationId xmlns:a16="http://schemas.microsoft.com/office/drawing/2014/main" id="{B9BAB7F7-D9B7-1AD6-D87C-F5531FBD085C}"/>
              </a:ext>
            </a:extLst>
          </p:cNvPr>
          <p:cNvPicPr>
            <a:picLocks noChangeAspect="1"/>
          </p:cNvPicPr>
          <p:nvPr/>
        </p:nvPicPr>
        <p:blipFill>
          <a:blip r:embed="rId3"/>
          <a:stretch>
            <a:fillRect/>
          </a:stretch>
        </p:blipFill>
        <p:spPr>
          <a:xfrm>
            <a:off x="6336254" y="4948518"/>
            <a:ext cx="5698809" cy="1417320"/>
          </a:xfrm>
          <a:prstGeom prst="rect">
            <a:avLst/>
          </a:prstGeom>
        </p:spPr>
      </p:pic>
    </p:spTree>
    <p:extLst>
      <p:ext uri="{BB962C8B-B14F-4D97-AF65-F5344CB8AC3E}">
        <p14:creationId xmlns:p14="http://schemas.microsoft.com/office/powerpoint/2010/main" val="17640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dissolve">
                                      <p:cBhvr>
                                        <p:cTn id="2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AA70-E9CB-D71E-4610-307430D42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D7016-5037-7827-628E-5218EEBD485D}"/>
              </a:ext>
            </a:extLst>
          </p:cNvPr>
          <p:cNvSpPr>
            <a:spLocks noGrp="1"/>
          </p:cNvSpPr>
          <p:nvPr>
            <p:ph type="title"/>
          </p:nvPr>
        </p:nvSpPr>
        <p:spPr>
          <a:xfrm>
            <a:off x="685805" y="155459"/>
            <a:ext cx="10820401" cy="849312"/>
          </a:xfrm>
        </p:spPr>
        <p:txBody>
          <a:bodyPr/>
          <a:lstStyle/>
          <a:p>
            <a:r>
              <a:rPr lang="en-US" b="1" dirty="0">
                <a:ea typeface="Calibri" charset="0"/>
                <a:cs typeface="Calibri" charset="0"/>
              </a:rPr>
              <a:t>6.1</a:t>
            </a:r>
            <a:r>
              <a:rPr lang="en-US" dirty="0">
                <a:ea typeface="Calibri" charset="0"/>
                <a:cs typeface="Calibri" charset="0"/>
              </a:rPr>
              <a:t> Work Done by a Constant Force</a:t>
            </a:r>
            <a:endParaRPr lang="en-US" sz="3000" dirty="0"/>
          </a:p>
        </p:txBody>
      </p:sp>
      <p:pic>
        <p:nvPicPr>
          <p:cNvPr id="22" name="Picture 21">
            <a:extLst>
              <a:ext uri="{FF2B5EF4-FFF2-40B4-BE49-F238E27FC236}">
                <a16:creationId xmlns:a16="http://schemas.microsoft.com/office/drawing/2014/main" id="{D27A8013-EF5D-4B08-7FE0-211C9F23B52B}"/>
              </a:ext>
            </a:extLst>
          </p:cNvPr>
          <p:cNvPicPr>
            <a:picLocks noChangeAspect="1"/>
          </p:cNvPicPr>
          <p:nvPr/>
        </p:nvPicPr>
        <p:blipFill>
          <a:blip r:embed="rId3"/>
          <a:stretch>
            <a:fillRect/>
          </a:stretch>
        </p:blipFill>
        <p:spPr>
          <a:xfrm>
            <a:off x="120984" y="933113"/>
            <a:ext cx="5698809" cy="1417320"/>
          </a:xfrm>
          <a:prstGeom prst="rect">
            <a:avLst/>
          </a:prstGeom>
        </p:spPr>
      </p:pic>
      <p:grpSp>
        <p:nvGrpSpPr>
          <p:cNvPr id="8" name="Group 7">
            <a:extLst>
              <a:ext uri="{FF2B5EF4-FFF2-40B4-BE49-F238E27FC236}">
                <a16:creationId xmlns:a16="http://schemas.microsoft.com/office/drawing/2014/main" id="{27A887C1-039C-2E04-A460-0CEDBF084FCD}"/>
              </a:ext>
            </a:extLst>
          </p:cNvPr>
          <p:cNvGrpSpPr/>
          <p:nvPr/>
        </p:nvGrpSpPr>
        <p:grpSpPr>
          <a:xfrm>
            <a:off x="5830957" y="857965"/>
            <a:ext cx="6241773" cy="1815882"/>
            <a:chOff x="5830957" y="1136257"/>
            <a:chExt cx="6241773" cy="1815882"/>
          </a:xfrm>
        </p:grpSpPr>
        <p:sp>
          <p:nvSpPr>
            <p:cNvPr id="16" name="TextBox 15">
              <a:extLst>
                <a:ext uri="{FF2B5EF4-FFF2-40B4-BE49-F238E27FC236}">
                  <a16:creationId xmlns:a16="http://schemas.microsoft.com/office/drawing/2014/main" id="{551E7FDD-8E98-1E27-643E-530636541BBE}"/>
                </a:ext>
              </a:extLst>
            </p:cNvPr>
            <p:cNvSpPr txBox="1"/>
            <p:nvPr/>
          </p:nvSpPr>
          <p:spPr>
            <a:xfrm>
              <a:off x="5830957" y="1136257"/>
              <a:ext cx="6241773" cy="1815882"/>
            </a:xfrm>
            <a:prstGeom prst="rect">
              <a:avLst/>
            </a:prstGeom>
            <a:noFill/>
          </p:spPr>
          <p:txBody>
            <a:bodyPr wrap="square" rtlCol="0">
              <a:spAutoFit/>
            </a:bodyPr>
            <a:lstStyle/>
            <a:p>
              <a:pPr algn="just"/>
              <a:r>
                <a:rPr lang="en-US" sz="2800" dirty="0">
                  <a:latin typeface="Times" pitchFamily="2" charset="0"/>
                </a:rPr>
                <a:t>Both the                       of the force and the                   .                the object moves determine how much work is done. </a:t>
              </a:r>
            </a:p>
            <a:p>
              <a:pPr algn="just"/>
              <a:endParaRPr lang="en-US" sz="2800" dirty="0">
                <a:solidFill>
                  <a:srgbClr val="007440"/>
                </a:solidFill>
                <a:latin typeface="Times" pitchFamily="2" charset="0"/>
              </a:endParaRPr>
            </a:p>
          </p:txBody>
        </p:sp>
        <p:sp>
          <p:nvSpPr>
            <p:cNvPr id="3" name="Rounded Rectangle 2">
              <a:extLst>
                <a:ext uri="{FF2B5EF4-FFF2-40B4-BE49-F238E27FC236}">
                  <a16:creationId xmlns:a16="http://schemas.microsoft.com/office/drawing/2014/main" id="{4718B1B8-04E6-5C7F-C837-14077D6E3848}"/>
                </a:ext>
              </a:extLst>
            </p:cNvPr>
            <p:cNvSpPr/>
            <p:nvPr/>
          </p:nvSpPr>
          <p:spPr>
            <a:xfrm>
              <a:off x="7182680" y="1152939"/>
              <a:ext cx="1974573" cy="4108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FA3ED13F-E41D-9A14-6BDB-E9BC14F125D9}"/>
                </a:ext>
              </a:extLst>
            </p:cNvPr>
            <p:cNvSpPr/>
            <p:nvPr/>
          </p:nvSpPr>
          <p:spPr>
            <a:xfrm>
              <a:off x="5917097" y="1596887"/>
              <a:ext cx="1848677" cy="4108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13114AAE-9F65-92BC-2C9E-3AF0EDA6A54D}"/>
              </a:ext>
            </a:extLst>
          </p:cNvPr>
          <p:cNvSpPr txBox="1"/>
          <p:nvPr/>
        </p:nvSpPr>
        <p:spPr>
          <a:xfrm>
            <a:off x="7169425" y="848143"/>
            <a:ext cx="2941983"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magnitude</a:t>
            </a:r>
          </a:p>
        </p:txBody>
      </p:sp>
      <p:sp>
        <p:nvSpPr>
          <p:cNvPr id="7" name="TextBox 6">
            <a:extLst>
              <a:ext uri="{FF2B5EF4-FFF2-40B4-BE49-F238E27FC236}">
                <a16:creationId xmlns:a16="http://schemas.microsoft.com/office/drawing/2014/main" id="{0E04F82F-4369-27DC-D965-7A41703F5A83}"/>
              </a:ext>
            </a:extLst>
          </p:cNvPr>
          <p:cNvSpPr txBox="1"/>
          <p:nvPr/>
        </p:nvSpPr>
        <p:spPr>
          <a:xfrm>
            <a:off x="6009861" y="1318597"/>
            <a:ext cx="2140227"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distance</a:t>
            </a:r>
          </a:p>
        </p:txBody>
      </p:sp>
      <p:sp>
        <p:nvSpPr>
          <p:cNvPr id="29" name="Rectangle 28">
            <a:extLst>
              <a:ext uri="{FF2B5EF4-FFF2-40B4-BE49-F238E27FC236}">
                <a16:creationId xmlns:a16="http://schemas.microsoft.com/office/drawing/2014/main" id="{914A9161-C217-6CE3-422B-5DCC61C828C5}"/>
              </a:ext>
            </a:extLst>
          </p:cNvPr>
          <p:cNvSpPr/>
          <p:nvPr/>
        </p:nvSpPr>
        <p:spPr>
          <a:xfrm>
            <a:off x="145774" y="5658678"/>
            <a:ext cx="11913704" cy="728870"/>
          </a:xfrm>
          <a:prstGeom prst="rect">
            <a:avLst/>
          </a:prstGeom>
          <a:noFill/>
          <a:ln w="3175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9418980-D4E3-AE00-AC98-6791F67BFB00}"/>
              </a:ext>
            </a:extLst>
          </p:cNvPr>
          <p:cNvGrpSpPr/>
          <p:nvPr/>
        </p:nvGrpSpPr>
        <p:grpSpPr>
          <a:xfrm>
            <a:off x="156818" y="5623798"/>
            <a:ext cx="11862904" cy="830997"/>
            <a:chOff x="156818" y="5464774"/>
            <a:chExt cx="11862904" cy="830997"/>
          </a:xfrm>
        </p:grpSpPr>
        <p:sp>
          <p:nvSpPr>
            <p:cNvPr id="28" name="TextBox 27">
              <a:extLst>
                <a:ext uri="{FF2B5EF4-FFF2-40B4-BE49-F238E27FC236}">
                  <a16:creationId xmlns:a16="http://schemas.microsoft.com/office/drawing/2014/main" id="{FCA22E61-6181-28BB-613B-9DC54B87FB68}"/>
                </a:ext>
              </a:extLst>
            </p:cNvPr>
            <p:cNvSpPr txBox="1"/>
            <p:nvPr/>
          </p:nvSpPr>
          <p:spPr>
            <a:xfrm>
              <a:off x="156818" y="5464774"/>
              <a:ext cx="11862904" cy="830997"/>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*Note:  No matter how large the applied force is, the object must undergo a displacement for work to be done. </a:t>
              </a:r>
              <a:endParaRPr lang="en-US" sz="2400" b="1" dirty="0">
                <a:solidFill>
                  <a:schemeClr val="tx1">
                    <a:lumMod val="75000"/>
                    <a:lumOff val="25000"/>
                  </a:schemeClr>
                </a:solidFill>
                <a:effectLst/>
                <a:latin typeface="Times" pitchFamily="2" charset="0"/>
              </a:endParaRPr>
            </a:p>
          </p:txBody>
        </p:sp>
        <p:sp>
          <p:nvSpPr>
            <p:cNvPr id="30" name="Rounded Rectangle 29">
              <a:extLst>
                <a:ext uri="{FF2B5EF4-FFF2-40B4-BE49-F238E27FC236}">
                  <a16:creationId xmlns:a16="http://schemas.microsoft.com/office/drawing/2014/main" id="{2946A8ED-14FD-7083-4639-E6CA492E1E86}"/>
                </a:ext>
              </a:extLst>
            </p:cNvPr>
            <p:cNvSpPr/>
            <p:nvPr/>
          </p:nvSpPr>
          <p:spPr>
            <a:xfrm>
              <a:off x="2531164" y="5870713"/>
              <a:ext cx="6281531" cy="3180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8AD892C8-6939-F9C8-7136-1BAEA3185BF1}"/>
              </a:ext>
            </a:extLst>
          </p:cNvPr>
          <p:cNvSpPr txBox="1"/>
          <p:nvPr/>
        </p:nvSpPr>
        <p:spPr>
          <a:xfrm>
            <a:off x="2517913" y="6016485"/>
            <a:ext cx="7023653" cy="369332"/>
          </a:xfrm>
          <a:prstGeom prst="rect">
            <a:avLst/>
          </a:prstGeom>
          <a:noFill/>
        </p:spPr>
        <p:txBody>
          <a:bodyPr wrap="square" rtlCol="0">
            <a:spAutoFit/>
          </a:bodyPr>
          <a:lstStyle/>
          <a:p>
            <a:r>
              <a:rPr lang="en-US" sz="1800" dirty="0">
                <a:solidFill>
                  <a:srgbClr val="007440"/>
                </a:solidFill>
                <a:effectLst/>
                <a:latin typeface="Chalkduster" panose="03050602040202020205" pitchFamily="66" charset="77"/>
              </a:rPr>
              <a:t>If the object does not move, the work is zero.</a:t>
            </a:r>
            <a:endParaRPr lang="en-US" dirty="0">
              <a:solidFill>
                <a:srgbClr val="007440"/>
              </a:solidFill>
              <a:latin typeface="Chalkduster" panose="03050602040202020205" pitchFamily="66" charset="77"/>
            </a:endParaRPr>
          </a:p>
        </p:txBody>
      </p:sp>
      <p:grpSp>
        <p:nvGrpSpPr>
          <p:cNvPr id="38" name="Group 37">
            <a:extLst>
              <a:ext uri="{FF2B5EF4-FFF2-40B4-BE49-F238E27FC236}">
                <a16:creationId xmlns:a16="http://schemas.microsoft.com/office/drawing/2014/main" id="{E3487FCA-893F-3372-5804-B9E369C43985}"/>
              </a:ext>
            </a:extLst>
          </p:cNvPr>
          <p:cNvGrpSpPr/>
          <p:nvPr/>
        </p:nvGrpSpPr>
        <p:grpSpPr>
          <a:xfrm>
            <a:off x="173225" y="2320552"/>
            <a:ext cx="12323575" cy="3123933"/>
            <a:chOff x="173225" y="2320552"/>
            <a:chExt cx="12323575" cy="3123933"/>
          </a:xfrm>
        </p:grpSpPr>
        <p:grpSp>
          <p:nvGrpSpPr>
            <p:cNvPr id="27" name="Group 26">
              <a:extLst>
                <a:ext uri="{FF2B5EF4-FFF2-40B4-BE49-F238E27FC236}">
                  <a16:creationId xmlns:a16="http://schemas.microsoft.com/office/drawing/2014/main" id="{FDD9DD06-271F-1C8F-AE55-4B10871E08E6}"/>
                </a:ext>
              </a:extLst>
            </p:cNvPr>
            <p:cNvGrpSpPr/>
            <p:nvPr/>
          </p:nvGrpSpPr>
          <p:grpSpPr>
            <a:xfrm>
              <a:off x="173225" y="2320552"/>
              <a:ext cx="12323575" cy="3123933"/>
              <a:chOff x="-621905" y="2850637"/>
              <a:chExt cx="12323575" cy="3123933"/>
            </a:xfrm>
          </p:grpSpPr>
          <p:grpSp>
            <p:nvGrpSpPr>
              <p:cNvPr id="9" name="Group 8">
                <a:extLst>
                  <a:ext uri="{FF2B5EF4-FFF2-40B4-BE49-F238E27FC236}">
                    <a16:creationId xmlns:a16="http://schemas.microsoft.com/office/drawing/2014/main" id="{639D5729-331C-2798-DD76-85F418606E8B}"/>
                  </a:ext>
                </a:extLst>
              </p:cNvPr>
              <p:cNvGrpSpPr/>
              <p:nvPr/>
            </p:nvGrpSpPr>
            <p:grpSpPr>
              <a:xfrm>
                <a:off x="-621905" y="2850637"/>
                <a:ext cx="12323575" cy="3086335"/>
                <a:chOff x="772347" y="2199861"/>
                <a:chExt cx="10050420" cy="3086335"/>
              </a:xfrm>
            </p:grpSpPr>
            <p:sp>
              <p:nvSpPr>
                <p:cNvPr id="11" name="TextBox 10">
                  <a:extLst>
                    <a:ext uri="{FF2B5EF4-FFF2-40B4-BE49-F238E27FC236}">
                      <a16:creationId xmlns:a16="http://schemas.microsoft.com/office/drawing/2014/main" id="{73AACE20-7A38-6DD9-CDB6-EE60FD99C8E7}"/>
                    </a:ext>
                  </a:extLst>
                </p:cNvPr>
                <p:cNvSpPr txBox="1"/>
                <p:nvPr/>
              </p:nvSpPr>
              <p:spPr>
                <a:xfrm>
                  <a:off x="1683027" y="2673771"/>
                  <a:ext cx="9051234" cy="461665"/>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The work done on an object by a </a:t>
                  </a:r>
                  <a:r>
                    <a:rPr lang="en-US" sz="2400" b="1" dirty="0">
                      <a:solidFill>
                        <a:schemeClr val="tx1">
                          <a:lumMod val="75000"/>
                          <a:lumOff val="25000"/>
                        </a:schemeClr>
                      </a:solidFill>
                      <a:effectLst/>
                      <a:latin typeface="Times" pitchFamily="2" charset="0"/>
                    </a:rPr>
                    <a:t>constant</a:t>
                  </a:r>
                  <a:r>
                    <a:rPr lang="en-US" sz="2400" dirty="0">
                      <a:solidFill>
                        <a:schemeClr val="tx1">
                          <a:lumMod val="75000"/>
                          <a:lumOff val="25000"/>
                        </a:schemeClr>
                      </a:solidFill>
                      <a:effectLst/>
                      <a:latin typeface="Times" pitchFamily="2" charset="0"/>
                    </a:rPr>
                    <a:t> force </a:t>
                  </a:r>
                  <a:r>
                    <a:rPr lang="en-US" sz="2400" b="1" dirty="0">
                      <a:solidFill>
                        <a:schemeClr val="tx1">
                          <a:lumMod val="75000"/>
                          <a:lumOff val="25000"/>
                        </a:schemeClr>
                      </a:solidFill>
                      <a:effectLst/>
                      <a:latin typeface="Times" pitchFamily="2" charset="0"/>
                    </a:rPr>
                    <a:t>F</a:t>
                  </a:r>
                  <a:r>
                    <a:rPr lang="en-US" sz="2400" dirty="0">
                      <a:solidFill>
                        <a:schemeClr val="tx1">
                          <a:lumMod val="75000"/>
                          <a:lumOff val="25000"/>
                        </a:schemeClr>
                      </a:solidFill>
                      <a:effectLst/>
                      <a:latin typeface="Times" pitchFamily="2" charset="0"/>
                    </a:rPr>
                    <a:t> is</a:t>
                  </a:r>
                </a:p>
              </p:txBody>
            </p:sp>
            <p:sp>
              <p:nvSpPr>
                <p:cNvPr id="12" name="TextBox 11">
                  <a:extLst>
                    <a:ext uri="{FF2B5EF4-FFF2-40B4-BE49-F238E27FC236}">
                      <a16:creationId xmlns:a16="http://schemas.microsoft.com/office/drawing/2014/main" id="{302F7CA7-1436-EB5D-5209-0100A5CD8DD3}"/>
                    </a:ext>
                  </a:extLst>
                </p:cNvPr>
                <p:cNvSpPr txBox="1"/>
                <p:nvPr/>
              </p:nvSpPr>
              <p:spPr>
                <a:xfrm>
                  <a:off x="1709530" y="2199861"/>
                  <a:ext cx="9113237" cy="523220"/>
                </a:xfrm>
                <a:prstGeom prst="rect">
                  <a:avLst/>
                </a:prstGeom>
                <a:noFill/>
              </p:spPr>
              <p:txBody>
                <a:bodyPr wrap="square" rtlCol="0">
                  <a:spAutoFit/>
                </a:bodyPr>
                <a:lstStyle/>
                <a:p>
                  <a:r>
                    <a:rPr lang="en-US" sz="2800" b="1" dirty="0">
                      <a:solidFill>
                        <a:srgbClr val="C00000"/>
                      </a:solidFill>
                      <a:latin typeface="Times New Roman" panose="02020603050405020304" pitchFamily="18" charset="0"/>
                      <a:ea typeface="Calibri" charset="0"/>
                      <a:cs typeface="Times New Roman" panose="02020603050405020304" pitchFamily="18" charset="0"/>
                    </a:rPr>
                    <a:t>DEFINITION OF WORK DONE BY A CONSTANT FORCE</a:t>
                  </a:r>
                  <a:endParaRPr lang="en-US" sz="2800" b="1" dirty="0">
                    <a:solidFill>
                      <a:srgbClr val="C00000"/>
                    </a:solidFill>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D6EA1F9E-AFE9-0E5F-FEEC-3C2D1897108E}"/>
                    </a:ext>
                  </a:extLst>
                </p:cNvPr>
                <p:cNvCxnSpPr>
                  <a:cxnSpLocks/>
                </p:cNvCxnSpPr>
                <p:nvPr/>
              </p:nvCxnSpPr>
              <p:spPr>
                <a:xfrm>
                  <a:off x="772347" y="2299254"/>
                  <a:ext cx="0" cy="2986942"/>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FE8DAB6-5F18-08AA-C742-699055EE8BA1}"/>
                    </a:ext>
                  </a:extLst>
                </p:cNvPr>
                <p:cNvCxnSpPr>
                  <a:cxnSpLocks/>
                </p:cNvCxnSpPr>
                <p:nvPr/>
              </p:nvCxnSpPr>
              <p:spPr>
                <a:xfrm>
                  <a:off x="10442130" y="2299254"/>
                  <a:ext cx="0" cy="2986942"/>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FA9324C8-68C1-3019-8273-440FC42CF4A1}"/>
                  </a:ext>
                </a:extLst>
              </p:cNvPr>
              <p:cNvSpPr txBox="1"/>
              <p:nvPr/>
            </p:nvSpPr>
            <p:spPr>
              <a:xfrm>
                <a:off x="3737114" y="4227442"/>
                <a:ext cx="2438399" cy="461665"/>
              </a:xfrm>
              <a:prstGeom prst="rect">
                <a:avLst/>
              </a:prstGeom>
              <a:noFill/>
            </p:spPr>
            <p:txBody>
              <a:bodyPr wrap="square" rtlCol="0">
                <a:spAutoFit/>
              </a:bodyPr>
              <a:lstStyle/>
              <a:p>
                <a:r>
                  <a:rPr lang="en-US" sz="2400" i="1" dirty="0">
                    <a:latin typeface="Times" pitchFamily="2" charset="0"/>
                  </a:rPr>
                  <a:t>W</a:t>
                </a:r>
                <a:r>
                  <a:rPr lang="en-US" sz="2400" dirty="0">
                    <a:latin typeface="Times" pitchFamily="2" charset="0"/>
                  </a:rPr>
                  <a:t> = (</a:t>
                </a:r>
                <a:r>
                  <a:rPr lang="en-US" sz="2400" i="1" dirty="0" err="1">
                    <a:latin typeface="Times" pitchFamily="2" charset="0"/>
                  </a:rPr>
                  <a:t>F</a:t>
                </a:r>
                <a:r>
                  <a:rPr lang="en-US" sz="2400" dirty="0" err="1">
                    <a:latin typeface="Times" pitchFamily="2" charset="0"/>
                  </a:rPr>
                  <a:t>cos</a:t>
                </a:r>
                <a:r>
                  <a:rPr lang="en-US" sz="2400" i="1" dirty="0" err="1">
                    <a:latin typeface="Symbol" pitchFamily="2" charset="2"/>
                  </a:rPr>
                  <a:t>q</a:t>
                </a:r>
                <a:r>
                  <a:rPr lang="en-US" sz="2400" dirty="0">
                    <a:latin typeface="Times" pitchFamily="2" charset="0"/>
                  </a:rPr>
                  <a:t>)(</a:t>
                </a:r>
                <a:r>
                  <a:rPr lang="en-US" sz="2400" i="1" dirty="0">
                    <a:latin typeface="Times" pitchFamily="2" charset="0"/>
                  </a:rPr>
                  <a:t>s</a:t>
                </a:r>
                <a:r>
                  <a:rPr lang="en-US" sz="2400" dirty="0">
                    <a:latin typeface="Times" pitchFamily="2" charset="0"/>
                  </a:rPr>
                  <a:t>),</a:t>
                </a:r>
              </a:p>
            </p:txBody>
          </p:sp>
          <p:sp>
            <p:nvSpPr>
              <p:cNvPr id="17" name="TextBox 16">
                <a:extLst>
                  <a:ext uri="{FF2B5EF4-FFF2-40B4-BE49-F238E27FC236}">
                    <a16:creationId xmlns:a16="http://schemas.microsoft.com/office/drawing/2014/main" id="{9CC324F1-2FFF-5AF2-B281-27A3027A2885}"/>
                  </a:ext>
                </a:extLst>
              </p:cNvPr>
              <p:cNvSpPr txBox="1"/>
              <p:nvPr/>
            </p:nvSpPr>
            <p:spPr>
              <a:xfrm>
                <a:off x="-516834" y="4643134"/>
                <a:ext cx="11595652" cy="830997"/>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where </a:t>
                </a:r>
                <a:r>
                  <a:rPr lang="en-US" sz="2400" i="1" dirty="0">
                    <a:solidFill>
                      <a:schemeClr val="tx1">
                        <a:lumMod val="75000"/>
                        <a:lumOff val="25000"/>
                      </a:schemeClr>
                    </a:solidFill>
                    <a:effectLst/>
                    <a:latin typeface="Times" pitchFamily="2" charset="0"/>
                  </a:rPr>
                  <a:t>F</a:t>
                </a:r>
                <a:r>
                  <a:rPr lang="en-US" sz="2400" dirty="0">
                    <a:solidFill>
                      <a:schemeClr val="tx1">
                        <a:lumMod val="75000"/>
                        <a:lumOff val="25000"/>
                      </a:schemeClr>
                    </a:solidFill>
                    <a:effectLst/>
                    <a:latin typeface="Times" pitchFamily="2" charset="0"/>
                  </a:rPr>
                  <a:t> is the magnitude of the force, </a:t>
                </a:r>
                <a:r>
                  <a:rPr lang="en-US" sz="2400" i="1" dirty="0">
                    <a:solidFill>
                      <a:schemeClr val="tx1">
                        <a:lumMod val="75000"/>
                        <a:lumOff val="25000"/>
                      </a:schemeClr>
                    </a:solidFill>
                    <a:effectLst/>
                    <a:latin typeface="Times" pitchFamily="2" charset="0"/>
                  </a:rPr>
                  <a:t>s</a:t>
                </a:r>
                <a:r>
                  <a:rPr lang="en-US" sz="2400" dirty="0">
                    <a:solidFill>
                      <a:schemeClr val="tx1">
                        <a:lumMod val="75000"/>
                        <a:lumOff val="25000"/>
                      </a:schemeClr>
                    </a:solidFill>
                    <a:effectLst/>
                    <a:latin typeface="Times" pitchFamily="2" charset="0"/>
                  </a:rPr>
                  <a:t> is the magnitude of the displacement, and </a:t>
                </a:r>
                <a:r>
                  <a:rPr lang="en-US" sz="2400" i="1" dirty="0">
                    <a:solidFill>
                      <a:schemeClr val="tx1">
                        <a:lumMod val="75000"/>
                        <a:lumOff val="25000"/>
                      </a:schemeClr>
                    </a:solidFill>
                    <a:effectLst/>
                    <a:latin typeface="Symbol" pitchFamily="2" charset="2"/>
                  </a:rPr>
                  <a:t>q</a:t>
                </a:r>
                <a:r>
                  <a:rPr lang="en-US" sz="2400" dirty="0">
                    <a:solidFill>
                      <a:schemeClr val="tx1">
                        <a:lumMod val="75000"/>
                        <a:lumOff val="25000"/>
                      </a:schemeClr>
                    </a:solidFill>
                    <a:effectLst/>
                    <a:latin typeface="Times" pitchFamily="2" charset="0"/>
                  </a:rPr>
                  <a:t> is the angle between the force and the displacement.</a:t>
                </a:r>
              </a:p>
            </p:txBody>
          </p:sp>
          <p:sp>
            <p:nvSpPr>
              <p:cNvPr id="25" name="TextBox 24">
                <a:extLst>
                  <a:ext uri="{FF2B5EF4-FFF2-40B4-BE49-F238E27FC236}">
                    <a16:creationId xmlns:a16="http://schemas.microsoft.com/office/drawing/2014/main" id="{E3D87007-137A-E5BE-C3E9-DC3912C69D74}"/>
                  </a:ext>
                </a:extLst>
              </p:cNvPr>
              <p:cNvSpPr txBox="1"/>
              <p:nvPr/>
            </p:nvSpPr>
            <p:spPr>
              <a:xfrm>
                <a:off x="2994991" y="5512905"/>
                <a:ext cx="699714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SI Unit of Work</a:t>
                </a:r>
                <a:r>
                  <a:rPr lang="en-US" sz="2400" dirty="0">
                    <a:latin typeface="Times New Roman" panose="02020603050405020304" pitchFamily="18" charset="0"/>
                    <a:cs typeface="Times New Roman" panose="02020603050405020304" pitchFamily="18" charset="0"/>
                  </a:rPr>
                  <a:t>:  newton   meter = joule (J)</a:t>
                </a:r>
              </a:p>
            </p:txBody>
          </p:sp>
          <p:sp>
            <p:nvSpPr>
              <p:cNvPr id="26" name="TextBox 25">
                <a:extLst>
                  <a:ext uri="{FF2B5EF4-FFF2-40B4-BE49-F238E27FC236}">
                    <a16:creationId xmlns:a16="http://schemas.microsoft.com/office/drawing/2014/main" id="{0B565577-EA53-CD76-0BF8-1A8FCEE57495}"/>
                  </a:ext>
                </a:extLst>
              </p:cNvPr>
              <p:cNvSpPr txBox="1"/>
              <p:nvPr/>
            </p:nvSpPr>
            <p:spPr>
              <a:xfrm>
                <a:off x="6281529" y="5459896"/>
                <a:ext cx="516835" cy="461665"/>
              </a:xfrm>
              <a:prstGeom prst="rect">
                <a:avLst/>
              </a:prstGeom>
              <a:noFill/>
            </p:spPr>
            <p:txBody>
              <a:bodyPr wrap="square" rtlCol="0">
                <a:spAutoFit/>
              </a:bodyPr>
              <a:lstStyle/>
              <a:p>
                <a:r>
                  <a:rPr lang="en-US" sz="2400" dirty="0"/>
                  <a:t>.</a:t>
                </a:r>
              </a:p>
            </p:txBody>
          </p:sp>
        </p:grpSp>
        <p:sp>
          <p:nvSpPr>
            <p:cNvPr id="36" name="TextBox 35">
              <a:extLst>
                <a:ext uri="{FF2B5EF4-FFF2-40B4-BE49-F238E27FC236}">
                  <a16:creationId xmlns:a16="http://schemas.microsoft.com/office/drawing/2014/main" id="{1AFC9423-EB3C-4521-26E8-66DD8F1492EF}"/>
                </a:ext>
              </a:extLst>
            </p:cNvPr>
            <p:cNvSpPr txBox="1"/>
            <p:nvPr/>
          </p:nvSpPr>
          <p:spPr>
            <a:xfrm>
              <a:off x="231913" y="3226905"/>
              <a:ext cx="11655287" cy="461665"/>
            </a:xfrm>
            <a:prstGeom prst="rect">
              <a:avLst/>
            </a:prstGeom>
            <a:noFill/>
          </p:spPr>
          <p:txBody>
            <a:bodyPr wrap="square" rtlCol="0">
              <a:spAutoFit/>
            </a:bodyPr>
            <a:lstStyle/>
            <a:p>
              <a:r>
                <a:rPr lang="en-US" sz="2400" dirty="0">
                  <a:latin typeface="Times" pitchFamily="2" charset="0"/>
                </a:rPr>
                <a:t>Work = (Component of the force along the direction of the displacement)×(Displacement), or</a:t>
              </a:r>
            </a:p>
          </p:txBody>
        </p:sp>
        <p:sp>
          <p:nvSpPr>
            <p:cNvPr id="37" name="TextBox 36">
              <a:extLst>
                <a:ext uri="{FF2B5EF4-FFF2-40B4-BE49-F238E27FC236}">
                  <a16:creationId xmlns:a16="http://schemas.microsoft.com/office/drawing/2014/main" id="{F6909839-DEA4-7E6E-67CB-DAF30FECD575}"/>
                </a:ext>
              </a:extLst>
            </p:cNvPr>
            <p:cNvSpPr txBox="1"/>
            <p:nvPr/>
          </p:nvSpPr>
          <p:spPr>
            <a:xfrm>
              <a:off x="6930886" y="3684104"/>
              <a:ext cx="887896"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6.1</a:t>
              </a:r>
              <a:r>
                <a:rPr lang="en-US" sz="2400" dirty="0">
                  <a:latin typeface="Times New Roman" panose="02020603050405020304" pitchFamily="18" charset="0"/>
                  <a:cs typeface="Times New Roman" panose="02020603050405020304" pitchFamily="18" charset="0"/>
                </a:rPr>
                <a:t>)</a:t>
              </a:r>
            </a:p>
          </p:txBody>
        </p:sp>
      </p:grpSp>
    </p:spTree>
    <p:extLst>
      <p:ext uri="{BB962C8B-B14F-4D97-AF65-F5344CB8AC3E}">
        <p14:creationId xmlns:p14="http://schemas.microsoft.com/office/powerpoint/2010/main" val="427319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dissolv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par>
                                <p:cTn id="28" presetID="9" presetClass="entr" presetSubtype="0" fill="hold"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dissolve">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9" grpId="0" animBg="1"/>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F7551-3FC3-2F8B-B651-992AEA8E5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99ECC-7B5B-B616-161A-A3505AF5EEBF}"/>
              </a:ext>
            </a:extLst>
          </p:cNvPr>
          <p:cNvSpPr>
            <a:spLocks noGrp="1"/>
          </p:cNvSpPr>
          <p:nvPr>
            <p:ph type="title"/>
          </p:nvPr>
        </p:nvSpPr>
        <p:spPr>
          <a:xfrm>
            <a:off x="685805" y="155459"/>
            <a:ext cx="10820401" cy="849312"/>
          </a:xfrm>
        </p:spPr>
        <p:txBody>
          <a:bodyPr/>
          <a:lstStyle/>
          <a:p>
            <a:r>
              <a:rPr lang="en-US" b="1" dirty="0">
                <a:ea typeface="Calibri" charset="0"/>
                <a:cs typeface="Calibri" charset="0"/>
              </a:rPr>
              <a:t>6.1</a:t>
            </a:r>
            <a:r>
              <a:rPr lang="en-US" dirty="0">
                <a:ea typeface="Calibri" charset="0"/>
                <a:cs typeface="Calibri" charset="0"/>
              </a:rPr>
              <a:t> Work Done by a Constant Force</a:t>
            </a:r>
            <a:endParaRPr lang="en-US" sz="3000" dirty="0"/>
          </a:p>
        </p:txBody>
      </p:sp>
      <p:grpSp>
        <p:nvGrpSpPr>
          <p:cNvPr id="5" name="Group 4">
            <a:extLst>
              <a:ext uri="{FF2B5EF4-FFF2-40B4-BE49-F238E27FC236}">
                <a16:creationId xmlns:a16="http://schemas.microsoft.com/office/drawing/2014/main" id="{C2B5D807-9770-E26B-DF5B-53FF1683E7C5}"/>
              </a:ext>
            </a:extLst>
          </p:cNvPr>
          <p:cNvGrpSpPr/>
          <p:nvPr/>
        </p:nvGrpSpPr>
        <p:grpSpPr>
          <a:xfrm>
            <a:off x="579550" y="2337441"/>
            <a:ext cx="11612450" cy="1262479"/>
            <a:chOff x="516079" y="1868745"/>
            <a:chExt cx="11612450" cy="1262479"/>
          </a:xfrm>
        </p:grpSpPr>
        <p:sp>
          <p:nvSpPr>
            <p:cNvPr id="10" name="TextBox 9">
              <a:extLst>
                <a:ext uri="{FF2B5EF4-FFF2-40B4-BE49-F238E27FC236}">
                  <a16:creationId xmlns:a16="http://schemas.microsoft.com/office/drawing/2014/main" id="{95DD3193-0ECE-BF0D-3240-D5E6B780BC95}"/>
                </a:ext>
              </a:extLst>
            </p:cNvPr>
            <p:cNvSpPr txBox="1"/>
            <p:nvPr/>
          </p:nvSpPr>
          <p:spPr>
            <a:xfrm>
              <a:off x="516079" y="1868745"/>
              <a:ext cx="8658610" cy="523220"/>
            </a:xfrm>
            <a:prstGeom prst="rect">
              <a:avLst/>
            </a:prstGeom>
            <a:noFill/>
          </p:spPr>
          <p:txBody>
            <a:bodyPr wrap="square" rtlCol="0">
              <a:spAutoFit/>
            </a:bodyPr>
            <a:lstStyle/>
            <a:p>
              <a:r>
                <a:rPr lang="en-US" sz="2800" dirty="0">
                  <a:solidFill>
                    <a:srgbClr val="C00000"/>
                  </a:solidFill>
                  <a:latin typeface="Times" pitchFamily="2" charset="0"/>
                </a:rPr>
                <a:t>Example – Pulling a Suitcase-on-Wheels</a:t>
              </a:r>
            </a:p>
          </p:txBody>
        </p:sp>
        <p:sp>
          <p:nvSpPr>
            <p:cNvPr id="18" name="TextBox 17">
              <a:extLst>
                <a:ext uri="{FF2B5EF4-FFF2-40B4-BE49-F238E27FC236}">
                  <a16:creationId xmlns:a16="http://schemas.microsoft.com/office/drawing/2014/main" id="{2E83091A-F334-BF63-4BDC-1DECCE3C0891}"/>
                </a:ext>
              </a:extLst>
            </p:cNvPr>
            <p:cNvSpPr txBox="1"/>
            <p:nvPr/>
          </p:nvSpPr>
          <p:spPr>
            <a:xfrm>
              <a:off x="4031449" y="2300227"/>
              <a:ext cx="8097080" cy="830997"/>
            </a:xfrm>
            <a:prstGeom prst="rect">
              <a:avLst/>
            </a:prstGeom>
            <a:noFill/>
          </p:spPr>
          <p:txBody>
            <a:bodyPr wrap="square">
              <a:spAutoFit/>
            </a:bodyPr>
            <a:lstStyle/>
            <a:p>
              <a:pPr algn="just"/>
              <a:r>
                <a:rPr lang="en-US" sz="2400" dirty="0">
                  <a:effectLst/>
                  <a:latin typeface="Times" pitchFamily="2" charset="0"/>
                </a:rPr>
                <a:t>Find the work done by a 45.0-N force in pulling the suitcase in the figure at an angle </a:t>
              </a:r>
              <a:r>
                <a:rPr lang="en-US" sz="2400" i="1" dirty="0">
                  <a:effectLst/>
                  <a:latin typeface="Symbol" pitchFamily="2" charset="2"/>
                </a:rPr>
                <a:t>q</a:t>
              </a:r>
              <a:r>
                <a:rPr lang="en-US" sz="2400" dirty="0">
                  <a:effectLst/>
                  <a:latin typeface="Times" pitchFamily="2" charset="0"/>
                </a:rPr>
                <a:t> = 50.0</a:t>
              </a:r>
              <a:r>
                <a:rPr lang="en-US" sz="2400" baseline="30000" dirty="0">
                  <a:effectLst/>
                  <a:latin typeface="Times" pitchFamily="2" charset="0"/>
                </a:rPr>
                <a:t>o</a:t>
              </a:r>
              <a:r>
                <a:rPr lang="en-US" sz="2400" dirty="0">
                  <a:effectLst/>
                  <a:latin typeface="Times" pitchFamily="2" charset="0"/>
                </a:rPr>
                <a:t> for a distance </a:t>
              </a:r>
              <a:r>
                <a:rPr lang="en-US" sz="2400" i="1" dirty="0">
                  <a:effectLst/>
                  <a:latin typeface="Times" pitchFamily="2" charset="0"/>
                </a:rPr>
                <a:t>s</a:t>
              </a:r>
              <a:r>
                <a:rPr lang="en-US" sz="2400" dirty="0">
                  <a:effectLst/>
                  <a:latin typeface="Times" pitchFamily="2" charset="0"/>
                </a:rPr>
                <a:t> = 75.0 m.</a:t>
              </a:r>
            </a:p>
          </p:txBody>
        </p:sp>
      </p:grpSp>
      <p:pic>
        <p:nvPicPr>
          <p:cNvPr id="20" name="Picture 19">
            <a:extLst>
              <a:ext uri="{FF2B5EF4-FFF2-40B4-BE49-F238E27FC236}">
                <a16:creationId xmlns:a16="http://schemas.microsoft.com/office/drawing/2014/main" id="{DD1214DD-3BF4-F822-8F6E-70E4A0D87A8D}"/>
              </a:ext>
            </a:extLst>
          </p:cNvPr>
          <p:cNvPicPr>
            <a:picLocks noChangeAspect="1"/>
          </p:cNvPicPr>
          <p:nvPr/>
        </p:nvPicPr>
        <p:blipFill>
          <a:blip r:embed="rId3"/>
          <a:srcRect r="49659" b="7222"/>
          <a:stretch/>
        </p:blipFill>
        <p:spPr>
          <a:xfrm>
            <a:off x="145774" y="2921730"/>
            <a:ext cx="3912704" cy="2047835"/>
          </a:xfrm>
          <a:prstGeom prst="rect">
            <a:avLst/>
          </a:prstGeom>
        </p:spPr>
      </p:pic>
      <p:grpSp>
        <p:nvGrpSpPr>
          <p:cNvPr id="24" name="Group 23">
            <a:extLst>
              <a:ext uri="{FF2B5EF4-FFF2-40B4-BE49-F238E27FC236}">
                <a16:creationId xmlns:a16="http://schemas.microsoft.com/office/drawing/2014/main" id="{C65BC20A-B250-CB0D-0476-23AC19A90121}"/>
              </a:ext>
            </a:extLst>
          </p:cNvPr>
          <p:cNvGrpSpPr/>
          <p:nvPr/>
        </p:nvGrpSpPr>
        <p:grpSpPr>
          <a:xfrm>
            <a:off x="4565372" y="3689949"/>
            <a:ext cx="8097080" cy="999149"/>
            <a:chOff x="4565372" y="2709301"/>
            <a:chExt cx="8097080" cy="999149"/>
          </a:xfrm>
        </p:grpSpPr>
        <p:sp>
          <p:nvSpPr>
            <p:cNvPr id="21" name="TextBox 20">
              <a:extLst>
                <a:ext uri="{FF2B5EF4-FFF2-40B4-BE49-F238E27FC236}">
                  <a16:creationId xmlns:a16="http://schemas.microsoft.com/office/drawing/2014/main" id="{CA524ABD-C14E-6DA1-D735-37117985E958}"/>
                </a:ext>
              </a:extLst>
            </p:cNvPr>
            <p:cNvSpPr txBox="1"/>
            <p:nvPr/>
          </p:nvSpPr>
          <p:spPr>
            <a:xfrm>
              <a:off x="4565372" y="2709301"/>
              <a:ext cx="8097080" cy="461665"/>
            </a:xfrm>
            <a:prstGeom prst="rect">
              <a:avLst/>
            </a:prstGeom>
            <a:noFill/>
          </p:spPr>
          <p:txBody>
            <a:bodyPr wrap="square">
              <a:spAutoFit/>
            </a:bodyPr>
            <a:lstStyle/>
            <a:p>
              <a:pPr algn="just"/>
              <a:r>
                <a:rPr lang="en-US" sz="2400" dirty="0">
                  <a:latin typeface="Times" pitchFamily="2" charset="0"/>
                </a:rPr>
                <a:t>Equation 6.1 can be used to calculate the work done:</a:t>
              </a:r>
              <a:endParaRPr lang="en-US" sz="2400" dirty="0">
                <a:effectLst/>
                <a:latin typeface="Times" pitchFamily="2" charset="0"/>
              </a:endParaRPr>
            </a:p>
          </p:txBody>
        </p:sp>
        <p:sp>
          <p:nvSpPr>
            <p:cNvPr id="23" name="TextBox 22">
              <a:extLst>
                <a:ext uri="{FF2B5EF4-FFF2-40B4-BE49-F238E27FC236}">
                  <a16:creationId xmlns:a16="http://schemas.microsoft.com/office/drawing/2014/main" id="{5A209330-CDB2-3FB5-5837-24E2085DC504}"/>
                </a:ext>
              </a:extLst>
            </p:cNvPr>
            <p:cNvSpPr txBox="1"/>
            <p:nvPr/>
          </p:nvSpPr>
          <p:spPr>
            <a:xfrm>
              <a:off x="7036905" y="3246785"/>
              <a:ext cx="2438399" cy="461665"/>
            </a:xfrm>
            <a:prstGeom prst="rect">
              <a:avLst/>
            </a:prstGeom>
            <a:noFill/>
          </p:spPr>
          <p:txBody>
            <a:bodyPr wrap="square" rtlCol="0">
              <a:spAutoFit/>
            </a:bodyPr>
            <a:lstStyle/>
            <a:p>
              <a:r>
                <a:rPr lang="en-US" sz="2400" i="1" dirty="0">
                  <a:latin typeface="Times" pitchFamily="2" charset="0"/>
                </a:rPr>
                <a:t>W</a:t>
              </a:r>
              <a:r>
                <a:rPr lang="en-US" sz="2400" dirty="0">
                  <a:latin typeface="Times" pitchFamily="2" charset="0"/>
                </a:rPr>
                <a:t> = (</a:t>
              </a:r>
              <a:r>
                <a:rPr lang="en-US" sz="2400" i="1" dirty="0" err="1">
                  <a:latin typeface="Times" pitchFamily="2" charset="0"/>
                </a:rPr>
                <a:t>F</a:t>
              </a:r>
              <a:r>
                <a:rPr lang="en-US" sz="2400" dirty="0" err="1">
                  <a:latin typeface="Times" pitchFamily="2" charset="0"/>
                </a:rPr>
                <a:t>cos</a:t>
              </a:r>
              <a:r>
                <a:rPr lang="en-US" sz="2400" i="1" dirty="0" err="1">
                  <a:latin typeface="Symbol" pitchFamily="2" charset="2"/>
                </a:rPr>
                <a:t>q</a:t>
              </a:r>
              <a:r>
                <a:rPr lang="en-US" sz="2400" dirty="0">
                  <a:latin typeface="Times" pitchFamily="2" charset="0"/>
                </a:rPr>
                <a:t>)(</a:t>
              </a:r>
              <a:r>
                <a:rPr lang="en-US" sz="2400" i="1" dirty="0">
                  <a:latin typeface="Times" pitchFamily="2" charset="0"/>
                </a:rPr>
                <a:t>s</a:t>
              </a:r>
              <a:r>
                <a:rPr lang="en-US" sz="2400" dirty="0">
                  <a:latin typeface="Times" pitchFamily="2" charset="0"/>
                </a:rPr>
                <a:t>)</a:t>
              </a:r>
            </a:p>
          </p:txBody>
        </p:sp>
      </p:grpSp>
      <p:pic>
        <p:nvPicPr>
          <p:cNvPr id="33" name="Picture 32">
            <a:extLst>
              <a:ext uri="{FF2B5EF4-FFF2-40B4-BE49-F238E27FC236}">
                <a16:creationId xmlns:a16="http://schemas.microsoft.com/office/drawing/2014/main" id="{DE14E562-998F-086A-D246-E818AA47458C}"/>
              </a:ext>
            </a:extLst>
          </p:cNvPr>
          <p:cNvPicPr>
            <a:picLocks noChangeAspect="1"/>
          </p:cNvPicPr>
          <p:nvPr/>
        </p:nvPicPr>
        <p:blipFill>
          <a:blip r:embed="rId3"/>
          <a:srcRect l="55499" t="22832" r="-2387" b="7222"/>
          <a:stretch/>
        </p:blipFill>
        <p:spPr>
          <a:xfrm>
            <a:off x="516834" y="4863549"/>
            <a:ext cx="3644347" cy="1543878"/>
          </a:xfrm>
          <a:prstGeom prst="rect">
            <a:avLst/>
          </a:prstGeom>
        </p:spPr>
      </p:pic>
      <p:sp>
        <p:nvSpPr>
          <p:cNvPr id="34" name="TextBox 33">
            <a:extLst>
              <a:ext uri="{FF2B5EF4-FFF2-40B4-BE49-F238E27FC236}">
                <a16:creationId xmlns:a16="http://schemas.microsoft.com/office/drawing/2014/main" id="{3DAA9DCD-8661-7D63-D9F1-3F346D6D37F4}"/>
              </a:ext>
            </a:extLst>
          </p:cNvPr>
          <p:cNvSpPr txBox="1"/>
          <p:nvPr/>
        </p:nvSpPr>
        <p:spPr>
          <a:xfrm>
            <a:off x="4651512" y="4730245"/>
            <a:ext cx="7540488" cy="830997"/>
          </a:xfrm>
          <a:prstGeom prst="rect">
            <a:avLst/>
          </a:prstGeom>
          <a:noFill/>
        </p:spPr>
        <p:txBody>
          <a:bodyPr wrap="square">
            <a:spAutoFit/>
          </a:bodyPr>
          <a:lstStyle/>
          <a:p>
            <a:pPr algn="just"/>
            <a:r>
              <a:rPr lang="en-US" sz="2400" dirty="0">
                <a:latin typeface="Times" pitchFamily="2" charset="0"/>
              </a:rPr>
              <a:t>Notice that </a:t>
            </a:r>
            <a:r>
              <a:rPr lang="en-US" sz="2400" i="1" dirty="0" err="1">
                <a:latin typeface="Times" pitchFamily="2" charset="0"/>
              </a:rPr>
              <a:t>F</a:t>
            </a:r>
            <a:r>
              <a:rPr lang="en-US" sz="2400" dirty="0" err="1">
                <a:latin typeface="Times" pitchFamily="2" charset="0"/>
              </a:rPr>
              <a:t>cos</a:t>
            </a:r>
            <a:r>
              <a:rPr lang="en-US" sz="2400" i="1" dirty="0" err="1">
                <a:latin typeface="Symbol" pitchFamily="2" charset="2"/>
              </a:rPr>
              <a:t>q</a:t>
            </a:r>
            <a:r>
              <a:rPr lang="en-US" sz="2400" dirty="0">
                <a:latin typeface="Times" pitchFamily="2" charset="0"/>
              </a:rPr>
              <a:t> </a:t>
            </a:r>
            <a:r>
              <a:rPr lang="en-US" sz="2400" u="sng" dirty="0">
                <a:latin typeface="Times" pitchFamily="2" charset="0"/>
              </a:rPr>
              <a:t>is</a:t>
            </a:r>
            <a:r>
              <a:rPr lang="en-US" sz="2400" dirty="0">
                <a:latin typeface="Times" pitchFamily="2" charset="0"/>
              </a:rPr>
              <a:t> the component of the force </a:t>
            </a:r>
            <a:r>
              <a:rPr lang="en-US" sz="2400" i="1" dirty="0">
                <a:latin typeface="Times" pitchFamily="2" charset="0"/>
              </a:rPr>
              <a:t>F</a:t>
            </a:r>
            <a:r>
              <a:rPr lang="en-US" sz="2400" dirty="0">
                <a:latin typeface="Times" pitchFamily="2" charset="0"/>
              </a:rPr>
              <a:t> along the direction of the displacement.  </a:t>
            </a:r>
            <a:endParaRPr lang="en-US" sz="2400" dirty="0">
              <a:effectLst/>
              <a:latin typeface="Times" pitchFamily="2" charset="0"/>
            </a:endParaRPr>
          </a:p>
        </p:txBody>
      </p:sp>
      <p:grpSp>
        <p:nvGrpSpPr>
          <p:cNvPr id="41" name="Group 40">
            <a:extLst>
              <a:ext uri="{FF2B5EF4-FFF2-40B4-BE49-F238E27FC236}">
                <a16:creationId xmlns:a16="http://schemas.microsoft.com/office/drawing/2014/main" id="{F0F9AE39-2067-06A5-5B36-AEF9AA847D5D}"/>
              </a:ext>
            </a:extLst>
          </p:cNvPr>
          <p:cNvGrpSpPr/>
          <p:nvPr/>
        </p:nvGrpSpPr>
        <p:grpSpPr>
          <a:xfrm>
            <a:off x="4605131" y="5671922"/>
            <a:ext cx="6738730" cy="636104"/>
            <a:chOff x="4552122" y="4426226"/>
            <a:chExt cx="6738730" cy="636104"/>
          </a:xfrm>
        </p:grpSpPr>
        <p:sp>
          <p:nvSpPr>
            <p:cNvPr id="35" name="TextBox 34">
              <a:extLst>
                <a:ext uri="{FF2B5EF4-FFF2-40B4-BE49-F238E27FC236}">
                  <a16:creationId xmlns:a16="http://schemas.microsoft.com/office/drawing/2014/main" id="{FC4B2F77-7296-56C5-4120-AAD9E89777E3}"/>
                </a:ext>
              </a:extLst>
            </p:cNvPr>
            <p:cNvSpPr txBox="1"/>
            <p:nvPr/>
          </p:nvSpPr>
          <p:spPr>
            <a:xfrm>
              <a:off x="4552122" y="4512366"/>
              <a:ext cx="2438399" cy="461665"/>
            </a:xfrm>
            <a:prstGeom prst="rect">
              <a:avLst/>
            </a:prstGeom>
            <a:noFill/>
          </p:spPr>
          <p:txBody>
            <a:bodyPr wrap="square" rtlCol="0">
              <a:spAutoFit/>
            </a:bodyPr>
            <a:lstStyle/>
            <a:p>
              <a:r>
                <a:rPr lang="en-US" sz="2400" i="1" dirty="0">
                  <a:latin typeface="Times" pitchFamily="2" charset="0"/>
                </a:rPr>
                <a:t>W</a:t>
              </a:r>
              <a:r>
                <a:rPr lang="en-US" sz="2400" dirty="0">
                  <a:latin typeface="Times" pitchFamily="2" charset="0"/>
                </a:rPr>
                <a:t> =</a:t>
              </a:r>
            </a:p>
          </p:txBody>
        </p:sp>
        <p:sp>
          <p:nvSpPr>
            <p:cNvPr id="40" name="Rounded Rectangle 39">
              <a:extLst>
                <a:ext uri="{FF2B5EF4-FFF2-40B4-BE49-F238E27FC236}">
                  <a16:creationId xmlns:a16="http://schemas.microsoft.com/office/drawing/2014/main" id="{294AACAE-CB33-0CBB-BE6F-21F97EEA3E1C}"/>
                </a:ext>
              </a:extLst>
            </p:cNvPr>
            <p:cNvSpPr/>
            <p:nvPr/>
          </p:nvSpPr>
          <p:spPr>
            <a:xfrm>
              <a:off x="5221356" y="4426226"/>
              <a:ext cx="6069496" cy="636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TextBox 38">
            <a:extLst>
              <a:ext uri="{FF2B5EF4-FFF2-40B4-BE49-F238E27FC236}">
                <a16:creationId xmlns:a16="http://schemas.microsoft.com/office/drawing/2014/main" id="{7C770D9E-9356-396D-A86B-D9D62A5E82D7}"/>
              </a:ext>
            </a:extLst>
          </p:cNvPr>
          <p:cNvSpPr txBox="1"/>
          <p:nvPr/>
        </p:nvSpPr>
        <p:spPr>
          <a:xfrm>
            <a:off x="5261114" y="5764688"/>
            <a:ext cx="2438399" cy="461665"/>
          </a:xfrm>
          <a:prstGeom prst="rect">
            <a:avLst/>
          </a:prstGeom>
          <a:noFill/>
        </p:spPr>
        <p:txBody>
          <a:bodyPr wrap="square" rtlCol="0">
            <a:spAutoFit/>
          </a:bodyPr>
          <a:lstStyle/>
          <a:p>
            <a:r>
              <a:rPr lang="en-US" sz="2400" dirty="0">
                <a:latin typeface="Times" pitchFamily="2" charset="0"/>
              </a:rPr>
              <a:t>(</a:t>
            </a:r>
            <a:r>
              <a:rPr lang="en-US" sz="2400" i="1" dirty="0" err="1">
                <a:latin typeface="Times" pitchFamily="2" charset="0"/>
              </a:rPr>
              <a:t>F</a:t>
            </a:r>
            <a:r>
              <a:rPr lang="en-US" sz="2400" dirty="0" err="1">
                <a:latin typeface="Times" pitchFamily="2" charset="0"/>
              </a:rPr>
              <a:t>cos</a:t>
            </a:r>
            <a:r>
              <a:rPr lang="en-US" sz="2400" i="1" dirty="0" err="1">
                <a:latin typeface="Symbol" pitchFamily="2" charset="2"/>
              </a:rPr>
              <a:t>q</a:t>
            </a:r>
            <a:r>
              <a:rPr lang="en-US" sz="2400" dirty="0">
                <a:latin typeface="Times" pitchFamily="2" charset="0"/>
              </a:rPr>
              <a:t>)s</a:t>
            </a:r>
          </a:p>
        </p:txBody>
      </p:sp>
      <p:sp>
        <p:nvSpPr>
          <p:cNvPr id="42" name="TextBox 41">
            <a:extLst>
              <a:ext uri="{FF2B5EF4-FFF2-40B4-BE49-F238E27FC236}">
                <a16:creationId xmlns:a16="http://schemas.microsoft.com/office/drawing/2014/main" id="{BAAE748E-7823-B5B3-C406-ABBD3BF38E67}"/>
              </a:ext>
            </a:extLst>
          </p:cNvPr>
          <p:cNvSpPr txBox="1"/>
          <p:nvPr/>
        </p:nvSpPr>
        <p:spPr>
          <a:xfrm>
            <a:off x="6447184" y="5771314"/>
            <a:ext cx="4247321" cy="461665"/>
          </a:xfrm>
          <a:prstGeom prst="rect">
            <a:avLst/>
          </a:prstGeom>
          <a:noFill/>
        </p:spPr>
        <p:txBody>
          <a:bodyPr wrap="square" rtlCol="0">
            <a:spAutoFit/>
          </a:bodyPr>
          <a:lstStyle/>
          <a:p>
            <a:r>
              <a:rPr lang="en-US" sz="2400" dirty="0">
                <a:latin typeface="Times" pitchFamily="2" charset="0"/>
              </a:rPr>
              <a:t>= [(45.0 N) cos</a:t>
            </a:r>
            <a:r>
              <a:rPr lang="en-US" sz="2400" dirty="0">
                <a:latin typeface="Symbol" pitchFamily="2" charset="2"/>
              </a:rPr>
              <a:t>50</a:t>
            </a:r>
            <a:r>
              <a:rPr lang="en-US" sz="2400" baseline="30000" dirty="0">
                <a:latin typeface="Symbol" pitchFamily="2" charset="2"/>
              </a:rPr>
              <a:t>o</a:t>
            </a:r>
            <a:r>
              <a:rPr lang="en-US" sz="2400" dirty="0">
                <a:latin typeface="Symbol" pitchFamily="2" charset="2"/>
              </a:rPr>
              <a:t> </a:t>
            </a:r>
            <a:r>
              <a:rPr lang="en-US" sz="2400" dirty="0">
                <a:latin typeface="Times" pitchFamily="2" charset="0"/>
              </a:rPr>
              <a:t>](75.0 m)</a:t>
            </a:r>
          </a:p>
        </p:txBody>
      </p:sp>
      <p:sp>
        <p:nvSpPr>
          <p:cNvPr id="43" name="TextBox 42">
            <a:extLst>
              <a:ext uri="{FF2B5EF4-FFF2-40B4-BE49-F238E27FC236}">
                <a16:creationId xmlns:a16="http://schemas.microsoft.com/office/drawing/2014/main" id="{523C7443-91F9-783C-76B7-46318BFC5F7A}"/>
              </a:ext>
            </a:extLst>
          </p:cNvPr>
          <p:cNvSpPr txBox="1"/>
          <p:nvPr/>
        </p:nvSpPr>
        <p:spPr>
          <a:xfrm>
            <a:off x="10045150" y="5777940"/>
            <a:ext cx="1470990" cy="461665"/>
          </a:xfrm>
          <a:prstGeom prst="rect">
            <a:avLst/>
          </a:prstGeom>
          <a:noFill/>
        </p:spPr>
        <p:txBody>
          <a:bodyPr wrap="square" rtlCol="0">
            <a:spAutoFit/>
          </a:bodyPr>
          <a:lstStyle/>
          <a:p>
            <a:r>
              <a:rPr lang="en-US" sz="2400" dirty="0">
                <a:latin typeface="Times" pitchFamily="2" charset="0"/>
              </a:rPr>
              <a:t>= 2170 J</a:t>
            </a:r>
          </a:p>
        </p:txBody>
      </p:sp>
      <p:sp>
        <p:nvSpPr>
          <p:cNvPr id="44" name="Rectangle 43">
            <a:extLst>
              <a:ext uri="{FF2B5EF4-FFF2-40B4-BE49-F238E27FC236}">
                <a16:creationId xmlns:a16="http://schemas.microsoft.com/office/drawing/2014/main" id="{3E5A2D3D-8211-67F2-6D5F-29EDD8BFA930}"/>
              </a:ext>
            </a:extLst>
          </p:cNvPr>
          <p:cNvSpPr/>
          <p:nvPr/>
        </p:nvSpPr>
        <p:spPr>
          <a:xfrm>
            <a:off x="10323444" y="5791192"/>
            <a:ext cx="914400" cy="3975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270041FE-16E5-2D64-D530-9D51849F40E7}"/>
              </a:ext>
            </a:extLst>
          </p:cNvPr>
          <p:cNvGrpSpPr/>
          <p:nvPr/>
        </p:nvGrpSpPr>
        <p:grpSpPr>
          <a:xfrm>
            <a:off x="245164" y="774471"/>
            <a:ext cx="11734801" cy="461665"/>
            <a:chOff x="324676" y="774471"/>
            <a:chExt cx="11734801" cy="461665"/>
          </a:xfrm>
        </p:grpSpPr>
        <p:sp>
          <p:nvSpPr>
            <p:cNvPr id="45" name="TextBox 44">
              <a:extLst>
                <a:ext uri="{FF2B5EF4-FFF2-40B4-BE49-F238E27FC236}">
                  <a16:creationId xmlns:a16="http://schemas.microsoft.com/office/drawing/2014/main" id="{7347C235-1B32-D3F5-8922-152D12CB4AE9}"/>
                </a:ext>
              </a:extLst>
            </p:cNvPr>
            <p:cNvSpPr txBox="1"/>
            <p:nvPr/>
          </p:nvSpPr>
          <p:spPr>
            <a:xfrm>
              <a:off x="324676" y="774471"/>
              <a:ext cx="11734801" cy="461665"/>
            </a:xfrm>
            <a:prstGeom prst="rect">
              <a:avLst/>
            </a:prstGeom>
            <a:noFill/>
          </p:spPr>
          <p:txBody>
            <a:bodyPr wrap="square">
              <a:spAutoFit/>
            </a:bodyPr>
            <a:lstStyle/>
            <a:p>
              <a:pPr algn="just"/>
              <a:r>
                <a:rPr lang="en-US" sz="2400" dirty="0">
                  <a:effectLst/>
                  <a:latin typeface="Times" pitchFamily="2" charset="0"/>
                </a:rPr>
                <a:t>Work is a                . </a:t>
              </a:r>
              <a:r>
                <a:rPr lang="en-US" sz="2400" dirty="0">
                  <a:latin typeface="Times" pitchFamily="2" charset="0"/>
                </a:rPr>
                <a:t> It can be either positive or negative.</a:t>
              </a:r>
              <a:endParaRPr lang="en-US" sz="2400" dirty="0">
                <a:effectLst/>
                <a:latin typeface="Times" pitchFamily="2" charset="0"/>
              </a:endParaRPr>
            </a:p>
          </p:txBody>
        </p:sp>
        <p:sp>
          <p:nvSpPr>
            <p:cNvPr id="46" name="Rounded Rectangle 45">
              <a:extLst>
                <a:ext uri="{FF2B5EF4-FFF2-40B4-BE49-F238E27FC236}">
                  <a16:creationId xmlns:a16="http://schemas.microsoft.com/office/drawing/2014/main" id="{BD62D719-F223-0C05-ECFD-E2846E1FF53E}"/>
                </a:ext>
              </a:extLst>
            </p:cNvPr>
            <p:cNvSpPr/>
            <p:nvPr/>
          </p:nvSpPr>
          <p:spPr>
            <a:xfrm>
              <a:off x="1683027" y="821636"/>
              <a:ext cx="1060174"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Box 46">
            <a:extLst>
              <a:ext uri="{FF2B5EF4-FFF2-40B4-BE49-F238E27FC236}">
                <a16:creationId xmlns:a16="http://schemas.microsoft.com/office/drawing/2014/main" id="{D5D11733-F2E2-6A7B-DEEF-B3EAB2B74004}"/>
              </a:ext>
            </a:extLst>
          </p:cNvPr>
          <p:cNvSpPr txBox="1"/>
          <p:nvPr/>
        </p:nvSpPr>
        <p:spPr>
          <a:xfrm>
            <a:off x="1643271" y="821634"/>
            <a:ext cx="1126435"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scalar</a:t>
            </a:r>
          </a:p>
        </p:txBody>
      </p:sp>
      <p:grpSp>
        <p:nvGrpSpPr>
          <p:cNvPr id="58" name="Group 57">
            <a:extLst>
              <a:ext uri="{FF2B5EF4-FFF2-40B4-BE49-F238E27FC236}">
                <a16:creationId xmlns:a16="http://schemas.microsoft.com/office/drawing/2014/main" id="{62D33DDC-B0F3-D0E8-B580-0E61669D4D02}"/>
              </a:ext>
            </a:extLst>
          </p:cNvPr>
          <p:cNvGrpSpPr/>
          <p:nvPr/>
        </p:nvGrpSpPr>
        <p:grpSpPr>
          <a:xfrm>
            <a:off x="265043" y="1311184"/>
            <a:ext cx="11734801" cy="830997"/>
            <a:chOff x="344555" y="1311184"/>
            <a:chExt cx="11734801" cy="830997"/>
          </a:xfrm>
        </p:grpSpPr>
        <p:sp>
          <p:nvSpPr>
            <p:cNvPr id="49" name="TextBox 48">
              <a:extLst>
                <a:ext uri="{FF2B5EF4-FFF2-40B4-BE49-F238E27FC236}">
                  <a16:creationId xmlns:a16="http://schemas.microsoft.com/office/drawing/2014/main" id="{5284EE54-E851-1D5F-C82D-A0D72036A304}"/>
                </a:ext>
              </a:extLst>
            </p:cNvPr>
            <p:cNvSpPr txBox="1"/>
            <p:nvPr/>
          </p:nvSpPr>
          <p:spPr>
            <a:xfrm>
              <a:off x="344555" y="1311184"/>
              <a:ext cx="11734801" cy="830997"/>
            </a:xfrm>
            <a:prstGeom prst="rect">
              <a:avLst/>
            </a:prstGeom>
            <a:noFill/>
          </p:spPr>
          <p:txBody>
            <a:bodyPr wrap="square">
              <a:spAutoFit/>
            </a:bodyPr>
            <a:lstStyle/>
            <a:p>
              <a:pPr marL="1322388" indent="-1322388" algn="just"/>
              <a:r>
                <a:rPr lang="en-US" sz="2400" dirty="0">
                  <a:effectLst/>
                  <a:latin typeface="Times" pitchFamily="2" charset="0"/>
                </a:rPr>
                <a:t>If the force performing the work is in the </a:t>
              </a:r>
              <a:r>
                <a:rPr lang="en-US" sz="2400" dirty="0">
                  <a:latin typeface="Times" pitchFamily="2" charset="0"/>
                </a:rPr>
                <a:t>        </a:t>
              </a:r>
              <a:r>
                <a:rPr lang="en-US" sz="2400" dirty="0">
                  <a:effectLst/>
                  <a:latin typeface="Times" pitchFamily="2" charset="0"/>
                </a:rPr>
                <a:t>direction as the object’s displacement, then         work is done.  If it’s in the </a:t>
              </a:r>
              <a:r>
                <a:rPr lang="en-US" sz="2400" dirty="0">
                  <a:latin typeface="Times" pitchFamily="2" charset="0"/>
                </a:rPr>
                <a:t>                  </a:t>
              </a:r>
              <a:r>
                <a:rPr lang="en-US" sz="2400" dirty="0">
                  <a:effectLst/>
                  <a:latin typeface="Times" pitchFamily="2" charset="0"/>
                </a:rPr>
                <a:t>direction, then </a:t>
              </a:r>
              <a:r>
                <a:rPr lang="en-US" sz="2400" dirty="0">
                  <a:latin typeface="Times" pitchFamily="2" charset="0"/>
                </a:rPr>
                <a:t>                   </a:t>
              </a:r>
              <a:r>
                <a:rPr lang="en-US" sz="2400" dirty="0">
                  <a:effectLst/>
                  <a:latin typeface="Times" pitchFamily="2" charset="0"/>
                </a:rPr>
                <a:t>work is done.</a:t>
              </a:r>
            </a:p>
          </p:txBody>
        </p:sp>
        <p:sp>
          <p:nvSpPr>
            <p:cNvPr id="50" name="Rounded Rectangle 49">
              <a:extLst>
                <a:ext uri="{FF2B5EF4-FFF2-40B4-BE49-F238E27FC236}">
                  <a16:creationId xmlns:a16="http://schemas.microsoft.com/office/drawing/2014/main" id="{3B3F336B-5B17-B722-47F6-8D2D83FD6ECE}"/>
                </a:ext>
              </a:extLst>
            </p:cNvPr>
            <p:cNvSpPr/>
            <p:nvPr/>
          </p:nvSpPr>
          <p:spPr>
            <a:xfrm>
              <a:off x="5724939" y="1378226"/>
              <a:ext cx="821634" cy="304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A639EAF7-7592-59C6-4462-F934E5571948}"/>
                </a:ext>
              </a:extLst>
            </p:cNvPr>
            <p:cNvSpPr/>
            <p:nvPr/>
          </p:nvSpPr>
          <p:spPr>
            <a:xfrm>
              <a:off x="443947" y="1716155"/>
              <a:ext cx="1212573" cy="3511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a:extLst>
                <a:ext uri="{FF2B5EF4-FFF2-40B4-BE49-F238E27FC236}">
                  <a16:creationId xmlns:a16="http://schemas.microsoft.com/office/drawing/2014/main" id="{4F5D55AF-E780-1DC4-F5FE-6FAE154C4242}"/>
                </a:ext>
              </a:extLst>
            </p:cNvPr>
            <p:cNvSpPr/>
            <p:nvPr/>
          </p:nvSpPr>
          <p:spPr>
            <a:xfrm>
              <a:off x="5062330" y="1722782"/>
              <a:ext cx="1285461" cy="3843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D1AA95F8-5681-5918-F33B-8FE9E42CDC11}"/>
                </a:ext>
              </a:extLst>
            </p:cNvPr>
            <p:cNvSpPr/>
            <p:nvPr/>
          </p:nvSpPr>
          <p:spPr>
            <a:xfrm>
              <a:off x="8289234" y="1742660"/>
              <a:ext cx="1345095" cy="3379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TextBox 53">
            <a:extLst>
              <a:ext uri="{FF2B5EF4-FFF2-40B4-BE49-F238E27FC236}">
                <a16:creationId xmlns:a16="http://schemas.microsoft.com/office/drawing/2014/main" id="{0A52B3EC-6ABA-ABE1-3691-F1EF7360E9B3}"/>
              </a:ext>
            </a:extLst>
          </p:cNvPr>
          <p:cNvSpPr txBox="1"/>
          <p:nvPr/>
        </p:nvSpPr>
        <p:spPr>
          <a:xfrm>
            <a:off x="5612298" y="1325217"/>
            <a:ext cx="1126435"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same</a:t>
            </a:r>
          </a:p>
        </p:txBody>
      </p:sp>
      <p:sp>
        <p:nvSpPr>
          <p:cNvPr id="55" name="TextBox 54">
            <a:extLst>
              <a:ext uri="{FF2B5EF4-FFF2-40B4-BE49-F238E27FC236}">
                <a16:creationId xmlns:a16="http://schemas.microsoft.com/office/drawing/2014/main" id="{D258607D-EEC5-C06E-5C75-75EC22CF2A4C}"/>
              </a:ext>
            </a:extLst>
          </p:cNvPr>
          <p:cNvSpPr txBox="1"/>
          <p:nvPr/>
        </p:nvSpPr>
        <p:spPr>
          <a:xfrm>
            <a:off x="304803" y="1649895"/>
            <a:ext cx="1616763"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positive</a:t>
            </a:r>
          </a:p>
        </p:txBody>
      </p:sp>
      <p:sp>
        <p:nvSpPr>
          <p:cNvPr id="56" name="TextBox 55">
            <a:extLst>
              <a:ext uri="{FF2B5EF4-FFF2-40B4-BE49-F238E27FC236}">
                <a16:creationId xmlns:a16="http://schemas.microsoft.com/office/drawing/2014/main" id="{CC0A03AE-DD2C-854E-421C-4C2C45E9A2C3}"/>
              </a:ext>
            </a:extLst>
          </p:cNvPr>
          <p:cNvSpPr txBox="1"/>
          <p:nvPr/>
        </p:nvSpPr>
        <p:spPr>
          <a:xfrm>
            <a:off x="4962943" y="1709529"/>
            <a:ext cx="1616763"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opposite</a:t>
            </a:r>
          </a:p>
        </p:txBody>
      </p:sp>
      <p:sp>
        <p:nvSpPr>
          <p:cNvPr id="57" name="TextBox 56">
            <a:extLst>
              <a:ext uri="{FF2B5EF4-FFF2-40B4-BE49-F238E27FC236}">
                <a16:creationId xmlns:a16="http://schemas.microsoft.com/office/drawing/2014/main" id="{F4D938EC-FD14-2782-A19D-6329254D933A}"/>
              </a:ext>
            </a:extLst>
          </p:cNvPr>
          <p:cNvSpPr txBox="1"/>
          <p:nvPr/>
        </p:nvSpPr>
        <p:spPr>
          <a:xfrm>
            <a:off x="8216351" y="1702902"/>
            <a:ext cx="1616763"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negative</a:t>
            </a:r>
          </a:p>
        </p:txBody>
      </p:sp>
      <p:sp>
        <p:nvSpPr>
          <p:cNvPr id="59" name="Rectangle 58">
            <a:extLst>
              <a:ext uri="{FF2B5EF4-FFF2-40B4-BE49-F238E27FC236}">
                <a16:creationId xmlns:a16="http://schemas.microsoft.com/office/drawing/2014/main" id="{9795F732-83BE-5BC8-B97B-FDA51B872F0B}"/>
              </a:ext>
            </a:extLst>
          </p:cNvPr>
          <p:cNvSpPr/>
          <p:nvPr/>
        </p:nvSpPr>
        <p:spPr>
          <a:xfrm>
            <a:off x="225288" y="755373"/>
            <a:ext cx="11754678" cy="1537253"/>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B041E340-F016-5FF0-F841-E13175D1C9B4}"/>
              </a:ext>
            </a:extLst>
          </p:cNvPr>
          <p:cNvSpPr txBox="1"/>
          <p:nvPr/>
        </p:nvSpPr>
        <p:spPr>
          <a:xfrm>
            <a:off x="8215969" y="807058"/>
            <a:ext cx="4943061" cy="461665"/>
          </a:xfrm>
          <a:prstGeom prst="rect">
            <a:avLst/>
          </a:prstGeom>
          <a:noFill/>
        </p:spPr>
        <p:txBody>
          <a:bodyPr wrap="square" rtlCol="0">
            <a:spAutoFit/>
          </a:bodyPr>
          <a:lstStyle/>
          <a:p>
            <a:r>
              <a:rPr lang="en-US" sz="2400" dirty="0">
                <a:solidFill>
                  <a:srgbClr val="C0694F"/>
                </a:solidFill>
                <a:latin typeface="Times New Roman" panose="02020603050405020304" pitchFamily="18" charset="0"/>
                <a:cs typeface="Times New Roman" panose="02020603050405020304" pitchFamily="18" charset="0"/>
              </a:rPr>
              <a:t>Problem-Solving Insight</a:t>
            </a:r>
          </a:p>
        </p:txBody>
      </p:sp>
    </p:spTree>
    <p:extLst>
      <p:ext uri="{BB962C8B-B14F-4D97-AF65-F5344CB8AC3E}">
        <p14:creationId xmlns:p14="http://schemas.microsoft.com/office/powerpoint/2010/main" val="13448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dissolv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dissolve">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dissolv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dissolve">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dissolve">
                                      <p:cBhvr>
                                        <p:cTn id="32" dur="500"/>
                                        <p:tgtEl>
                                          <p:spTgt spid="5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dissolv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dissolve">
                                      <p:cBhvr>
                                        <p:cTn id="42" dur="500"/>
                                        <p:tgtEl>
                                          <p:spTgt spid="5"/>
                                        </p:tgtEl>
                                      </p:cBhvr>
                                    </p:animEffect>
                                  </p:childTnLst>
                                </p:cTn>
                              </p:par>
                              <p:par>
                                <p:cTn id="43" presetID="9"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dissolve">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dissolve">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dissolve">
                                      <p:cBhvr>
                                        <p:cTn id="55" dur="500"/>
                                        <p:tgtEl>
                                          <p:spTgt spid="33"/>
                                        </p:tgtEl>
                                      </p:cBhvr>
                                    </p:animEffect>
                                  </p:childTnLst>
                                </p:cTn>
                              </p:par>
                            </p:childTnLst>
                          </p:cTn>
                        </p:par>
                        <p:par>
                          <p:cTn id="56" fill="hold">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dissolv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dissolve">
                                      <p:cBhvr>
                                        <p:cTn id="64" dur="50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dissolve">
                                      <p:cBhvr>
                                        <p:cTn id="69" dur="500"/>
                                        <p:tgtEl>
                                          <p:spTgt spid="39"/>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dissolve">
                                      <p:cBhvr>
                                        <p:cTn id="74" dur="500"/>
                                        <p:tgtEl>
                                          <p:spTgt spid="42"/>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dissolve">
                                      <p:cBhvr>
                                        <p:cTn id="79" dur="500"/>
                                        <p:tgtEl>
                                          <p:spTgt spid="43"/>
                                        </p:tgtEl>
                                      </p:cBhvr>
                                    </p:animEffect>
                                  </p:childTnLst>
                                </p:cTn>
                              </p:par>
                            </p:childTnLst>
                          </p:cTn>
                        </p:par>
                        <p:par>
                          <p:cTn id="80" fill="hold">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dissolve">
                                      <p:cBhvr>
                                        <p:cTn id="8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9" grpId="0"/>
      <p:bldP spid="42" grpId="0"/>
      <p:bldP spid="43" grpId="0"/>
      <p:bldP spid="44" grpId="0" animBg="1"/>
      <p:bldP spid="47" grpId="0"/>
      <p:bldP spid="54" grpId="0"/>
      <p:bldP spid="55" grpId="0"/>
      <p:bldP spid="56" grpId="0"/>
      <p:bldP spid="5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693B-F4AB-91F5-BE32-60CE2F71B6C4}"/>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0F7A46A3-5E02-D0B8-2BF4-8098D520F5BD}"/>
              </a:ext>
            </a:extLst>
          </p:cNvPr>
          <p:cNvSpPr/>
          <p:nvPr/>
        </p:nvSpPr>
        <p:spPr>
          <a:xfrm>
            <a:off x="1258256" y="4541909"/>
            <a:ext cx="685137"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2108F-69EB-CA00-B2F4-3868B1AC6A1F}"/>
              </a:ext>
            </a:extLst>
          </p:cNvPr>
          <p:cNvSpPr>
            <a:spLocks noGrp="1"/>
          </p:cNvSpPr>
          <p:nvPr>
            <p:ph type="title"/>
          </p:nvPr>
        </p:nvSpPr>
        <p:spPr>
          <a:xfrm>
            <a:off x="685805" y="155459"/>
            <a:ext cx="10820401" cy="849312"/>
          </a:xfrm>
        </p:spPr>
        <p:txBody>
          <a:bodyPr/>
          <a:lstStyle/>
          <a:p>
            <a:r>
              <a:rPr lang="en-US" b="1" dirty="0">
                <a:ea typeface="Calibri" charset="0"/>
                <a:cs typeface="Calibri" charset="0"/>
              </a:rPr>
              <a:t>6.1</a:t>
            </a:r>
            <a:r>
              <a:rPr lang="en-US" dirty="0">
                <a:ea typeface="Calibri" charset="0"/>
                <a:cs typeface="Calibri" charset="0"/>
              </a:rPr>
              <a:t> Work Done by a Constant Force</a:t>
            </a:r>
            <a:endParaRPr lang="en-US" sz="3000" dirty="0"/>
          </a:p>
        </p:txBody>
      </p:sp>
      <p:grpSp>
        <p:nvGrpSpPr>
          <p:cNvPr id="3" name="Group 2">
            <a:extLst>
              <a:ext uri="{FF2B5EF4-FFF2-40B4-BE49-F238E27FC236}">
                <a16:creationId xmlns:a16="http://schemas.microsoft.com/office/drawing/2014/main" id="{07C7657B-6D80-E290-A87B-D27B45CF1166}"/>
              </a:ext>
            </a:extLst>
          </p:cNvPr>
          <p:cNvGrpSpPr/>
          <p:nvPr/>
        </p:nvGrpSpPr>
        <p:grpSpPr>
          <a:xfrm>
            <a:off x="819648" y="913831"/>
            <a:ext cx="10548597" cy="4958501"/>
            <a:chOff x="1302027" y="3881523"/>
            <a:chExt cx="10548597" cy="4958501"/>
          </a:xfrm>
        </p:grpSpPr>
        <p:sp>
          <p:nvSpPr>
            <p:cNvPr id="4" name="TextBox 3">
              <a:extLst>
                <a:ext uri="{FF2B5EF4-FFF2-40B4-BE49-F238E27FC236}">
                  <a16:creationId xmlns:a16="http://schemas.microsoft.com/office/drawing/2014/main" id="{357707EB-0FB0-EA53-D6DC-0854D9FA77FE}"/>
                </a:ext>
              </a:extLst>
            </p:cNvPr>
            <p:cNvSpPr txBox="1"/>
            <p:nvPr/>
          </p:nvSpPr>
          <p:spPr>
            <a:xfrm>
              <a:off x="1302027" y="3881523"/>
              <a:ext cx="10548597" cy="2677656"/>
            </a:xfrm>
            <a:prstGeom prst="rect">
              <a:avLst/>
            </a:prstGeom>
            <a:noFill/>
          </p:spPr>
          <p:txBody>
            <a:bodyPr wrap="square" rtlCol="0">
              <a:spAutoFit/>
            </a:bodyPr>
            <a:lstStyle/>
            <a:p>
              <a:pPr algn="just"/>
              <a:r>
                <a:rPr lang="en-US" sz="2800" dirty="0">
                  <a:solidFill>
                    <a:srgbClr val="3E5891"/>
                  </a:solidFill>
                  <a:latin typeface="Times" pitchFamily="2" charset="0"/>
                </a:rPr>
                <a:t>CYU/TPS – Two forces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and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are acting on the box shown in the figure, causing the box to move across the floor. </a:t>
              </a:r>
              <a:r>
                <a:rPr lang="en-US" sz="2800" u="sng" dirty="0">
                  <a:solidFill>
                    <a:srgbClr val="3E5891"/>
                  </a:solidFill>
                  <a:latin typeface="Times" pitchFamily="2" charset="0"/>
                </a:rPr>
                <a:t>The two force vectors are drawn to scale</a:t>
              </a:r>
              <a:r>
                <a:rPr lang="en-US" sz="2800" dirty="0">
                  <a:solidFill>
                    <a:srgbClr val="3E5891"/>
                  </a:solidFill>
                  <a:latin typeface="Times" pitchFamily="2" charset="0"/>
                </a:rPr>
                <a:t>. Which one of the following statements is correct? (</a:t>
              </a:r>
              <a:r>
                <a:rPr lang="en-US" sz="2800" b="1" dirty="0">
                  <a:solidFill>
                    <a:srgbClr val="3E5891"/>
                  </a:solidFill>
                  <a:latin typeface="Times" pitchFamily="2" charset="0"/>
                </a:rPr>
                <a:t>a</a:t>
              </a:r>
              <a:r>
                <a:rPr lang="en-US" sz="2800" dirty="0">
                  <a:solidFill>
                    <a:srgbClr val="3E5891"/>
                  </a:solidFill>
                  <a:latin typeface="Times" pitchFamily="2" charset="0"/>
                </a:rPr>
                <a:t>)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does more work than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does. (</a:t>
              </a:r>
              <a:r>
                <a:rPr lang="en-US" sz="2800" b="1" dirty="0">
                  <a:solidFill>
                    <a:srgbClr val="3E5891"/>
                  </a:solidFill>
                  <a:latin typeface="Times" pitchFamily="2" charset="0"/>
                </a:rPr>
                <a:t>b</a:t>
              </a:r>
              <a:r>
                <a:rPr lang="en-US" sz="2800" dirty="0">
                  <a:solidFill>
                    <a:srgbClr val="3E5891"/>
                  </a:solidFill>
                  <a:latin typeface="Times" pitchFamily="2" charset="0"/>
                </a:rPr>
                <a:t>)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does more work than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does. (</a:t>
              </a:r>
              <a:r>
                <a:rPr lang="en-US" sz="2800" b="1" dirty="0">
                  <a:solidFill>
                    <a:srgbClr val="3E5891"/>
                  </a:solidFill>
                  <a:latin typeface="Times" pitchFamily="2" charset="0"/>
                </a:rPr>
                <a:t>c</a:t>
              </a:r>
              <a:r>
                <a:rPr lang="en-US" sz="2800" dirty="0">
                  <a:solidFill>
                    <a:srgbClr val="3E5891"/>
                  </a:solidFill>
                  <a:latin typeface="Times" pitchFamily="2" charset="0"/>
                </a:rPr>
                <a:t>) Both forces do the same amount of work. (</a:t>
              </a:r>
              <a:r>
                <a:rPr lang="en-US" sz="2800" b="1" dirty="0">
                  <a:solidFill>
                    <a:srgbClr val="3E5891"/>
                  </a:solidFill>
                  <a:latin typeface="Times" pitchFamily="2" charset="0"/>
                </a:rPr>
                <a:t>d</a:t>
              </a:r>
              <a:r>
                <a:rPr lang="en-US" sz="2800" dirty="0">
                  <a:solidFill>
                    <a:srgbClr val="3E5891"/>
                  </a:solidFill>
                  <a:latin typeface="Times" pitchFamily="2" charset="0"/>
                </a:rPr>
                <a:t>) Neither force does any work.</a:t>
              </a:r>
              <a:endParaRPr lang="en-US" sz="2800" dirty="0">
                <a:solidFill>
                  <a:srgbClr val="3E5891"/>
                </a:solidFill>
                <a:latin typeface="Times" pitchFamily="2" charset="0"/>
                <a:cs typeface="Times New Roman" panose="02020603050405020304" pitchFamily="18" charset="0"/>
              </a:endParaRPr>
            </a:p>
          </p:txBody>
        </p:sp>
        <p:sp>
          <p:nvSpPr>
            <p:cNvPr id="6" name="TextBox 5">
              <a:extLst>
                <a:ext uri="{FF2B5EF4-FFF2-40B4-BE49-F238E27FC236}">
                  <a16:creationId xmlns:a16="http://schemas.microsoft.com/office/drawing/2014/main" id="{7FC32306-CF1C-7795-C0A6-5AA43FDB0477}"/>
                </a:ext>
              </a:extLst>
            </p:cNvPr>
            <p:cNvSpPr txBox="1"/>
            <p:nvPr/>
          </p:nvSpPr>
          <p:spPr>
            <a:xfrm>
              <a:off x="1318194" y="7024142"/>
              <a:ext cx="2005451" cy="1815882"/>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a:t>
              </a:r>
            </a:p>
          </p:txBody>
        </p:sp>
      </p:grpSp>
      <p:sp>
        <p:nvSpPr>
          <p:cNvPr id="8" name="TextBox 7">
            <a:extLst>
              <a:ext uri="{FF2B5EF4-FFF2-40B4-BE49-F238E27FC236}">
                <a16:creationId xmlns:a16="http://schemas.microsoft.com/office/drawing/2014/main" id="{F882BD5E-A1C2-798D-7E43-1058F309C2D8}"/>
              </a:ext>
            </a:extLst>
          </p:cNvPr>
          <p:cNvSpPr txBox="1"/>
          <p:nvPr/>
        </p:nvSpPr>
        <p:spPr>
          <a:xfrm rot="2431060">
            <a:off x="2416151" y="4755584"/>
            <a:ext cx="1988191"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Discuss!</a:t>
            </a:r>
          </a:p>
        </p:txBody>
      </p:sp>
      <p:pic>
        <p:nvPicPr>
          <p:cNvPr id="11" name="Picture 10">
            <a:extLst>
              <a:ext uri="{FF2B5EF4-FFF2-40B4-BE49-F238E27FC236}">
                <a16:creationId xmlns:a16="http://schemas.microsoft.com/office/drawing/2014/main" id="{CB453FF5-D762-1492-37E6-BCC1DDA60273}"/>
              </a:ext>
            </a:extLst>
          </p:cNvPr>
          <p:cNvPicPr>
            <a:picLocks noChangeAspect="1"/>
          </p:cNvPicPr>
          <p:nvPr/>
        </p:nvPicPr>
        <p:blipFill>
          <a:blip r:embed="rId3"/>
          <a:stretch>
            <a:fillRect/>
          </a:stretch>
        </p:blipFill>
        <p:spPr>
          <a:xfrm>
            <a:off x="4344781" y="3449706"/>
            <a:ext cx="3263900" cy="2476500"/>
          </a:xfrm>
          <a:prstGeom prst="rect">
            <a:avLst/>
          </a:prstGeom>
        </p:spPr>
      </p:pic>
    </p:spTree>
    <p:extLst>
      <p:ext uri="{BB962C8B-B14F-4D97-AF65-F5344CB8AC3E}">
        <p14:creationId xmlns:p14="http://schemas.microsoft.com/office/powerpoint/2010/main" val="349476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805B-A7B1-D473-50BE-10468B3778C2}"/>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CB4FAA7F-A3A1-EC88-513E-C9931565FEFF}"/>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790DB7-45BA-363E-B413-8DB394680BEB}"/>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sp>
        <p:nvSpPr>
          <p:cNvPr id="5" name="Content Placeholder 2">
            <a:extLst>
              <a:ext uri="{FF2B5EF4-FFF2-40B4-BE49-F238E27FC236}">
                <a16:creationId xmlns:a16="http://schemas.microsoft.com/office/drawing/2014/main" id="{CE1A8E07-879A-7441-5C22-F769EE35EF68}"/>
              </a:ext>
            </a:extLst>
          </p:cNvPr>
          <p:cNvSpPr txBox="1">
            <a:spLocks/>
          </p:cNvSpPr>
          <p:nvPr/>
        </p:nvSpPr>
        <p:spPr>
          <a:xfrm>
            <a:off x="959715" y="87557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6.2 </a:t>
            </a:r>
            <a:r>
              <a:rPr lang="en-US" dirty="0"/>
              <a:t>– Relate work and kinetic energy.</a:t>
            </a:r>
          </a:p>
        </p:txBody>
      </p:sp>
      <p:sp>
        <p:nvSpPr>
          <p:cNvPr id="16" name="TextBox 15">
            <a:extLst>
              <a:ext uri="{FF2B5EF4-FFF2-40B4-BE49-F238E27FC236}">
                <a16:creationId xmlns:a16="http://schemas.microsoft.com/office/drawing/2014/main" id="{C3F2E0C7-9EBF-5DDC-2071-2A5D59FDABA1}"/>
              </a:ext>
            </a:extLst>
          </p:cNvPr>
          <p:cNvSpPr txBox="1"/>
          <p:nvPr/>
        </p:nvSpPr>
        <p:spPr>
          <a:xfrm>
            <a:off x="978166" y="1547074"/>
            <a:ext cx="10316584" cy="46166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We are all familiar with the word </a:t>
            </a:r>
            <a:r>
              <a:rPr lang="en-US" sz="2400" i="1" dirty="0">
                <a:solidFill>
                  <a:srgbClr val="007440"/>
                </a:solidFill>
                <a:latin typeface="Times New Roman" panose="02020603050405020304" pitchFamily="18" charset="0"/>
                <a:cs typeface="Times New Roman" panose="02020603050405020304" pitchFamily="18" charset="0"/>
              </a:rPr>
              <a:t>energy</a:t>
            </a:r>
            <a:r>
              <a:rPr lang="en-US" sz="2400" dirty="0">
                <a:latin typeface="Times New Roman" panose="02020603050405020304" pitchFamily="18" charset="0"/>
                <a:cs typeface="Times New Roman" panose="02020603050405020304" pitchFamily="18" charset="0"/>
              </a:rPr>
              <a:t>, but what exactly is it?</a:t>
            </a:r>
          </a:p>
        </p:txBody>
      </p:sp>
      <p:grpSp>
        <p:nvGrpSpPr>
          <p:cNvPr id="23" name="Group 22">
            <a:extLst>
              <a:ext uri="{FF2B5EF4-FFF2-40B4-BE49-F238E27FC236}">
                <a16:creationId xmlns:a16="http://schemas.microsoft.com/office/drawing/2014/main" id="{70A98768-6713-0243-93D9-C83A4254257F}"/>
              </a:ext>
            </a:extLst>
          </p:cNvPr>
          <p:cNvGrpSpPr/>
          <p:nvPr/>
        </p:nvGrpSpPr>
        <p:grpSpPr>
          <a:xfrm>
            <a:off x="1020417" y="2090027"/>
            <a:ext cx="10959548" cy="2183800"/>
            <a:chOff x="1020417" y="2090027"/>
            <a:chExt cx="10959548" cy="2183800"/>
          </a:xfrm>
        </p:grpSpPr>
        <p:sp>
          <p:nvSpPr>
            <p:cNvPr id="4" name="TextBox 3">
              <a:extLst>
                <a:ext uri="{FF2B5EF4-FFF2-40B4-BE49-F238E27FC236}">
                  <a16:creationId xmlns:a16="http://schemas.microsoft.com/office/drawing/2014/main" id="{A5BDC445-B2BB-8B80-6D80-233CAA02301E}"/>
                </a:ext>
              </a:extLst>
            </p:cNvPr>
            <p:cNvSpPr txBox="1"/>
            <p:nvPr/>
          </p:nvSpPr>
          <p:spPr>
            <a:xfrm>
              <a:off x="1020417" y="2090027"/>
              <a:ext cx="10959548" cy="1200329"/>
            </a:xfrm>
            <a:prstGeom prst="rect">
              <a:avLst/>
            </a:prstGeom>
            <a:noFill/>
          </p:spPr>
          <p:txBody>
            <a:bodyPr wrap="square">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latin typeface="Times New Roman" panose="02020603050405020304" pitchFamily="18" charset="0"/>
                  <a:cs typeface="Times New Roman" panose="02020603050405020304" pitchFamily="18" charset="0"/>
                </a:rPr>
                <a:t> exists in many forms, including mechanical, chemical, electrical, thermal, light, and nuclear energy, but at its most fundamental level, it can be classified into two broad categories:</a:t>
              </a:r>
            </a:p>
          </p:txBody>
        </p:sp>
        <p:sp>
          <p:nvSpPr>
            <p:cNvPr id="8" name="Rounded Rectangle 7">
              <a:extLst>
                <a:ext uri="{FF2B5EF4-FFF2-40B4-BE49-F238E27FC236}">
                  <a16:creationId xmlns:a16="http://schemas.microsoft.com/office/drawing/2014/main" id="{C617E269-A1C9-AFFC-81A6-ECB20687E786}"/>
                </a:ext>
              </a:extLst>
            </p:cNvPr>
            <p:cNvSpPr/>
            <p:nvPr/>
          </p:nvSpPr>
          <p:spPr>
            <a:xfrm>
              <a:off x="2703445" y="3074505"/>
              <a:ext cx="2305878"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87BDED6E-7671-825E-AFA2-6D52011210BB}"/>
                </a:ext>
              </a:extLst>
            </p:cNvPr>
            <p:cNvSpPr/>
            <p:nvPr/>
          </p:nvSpPr>
          <p:spPr>
            <a:xfrm>
              <a:off x="2683567" y="3796749"/>
              <a:ext cx="2551042"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407E79B-B6D9-E0C8-CA62-FE0E10D0C8F7}"/>
                </a:ext>
              </a:extLst>
            </p:cNvPr>
            <p:cNvSpPr txBox="1"/>
            <p:nvPr/>
          </p:nvSpPr>
          <p:spPr>
            <a:xfrm>
              <a:off x="4956313" y="3114262"/>
              <a:ext cx="5645426"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the energy associated with                 .</a:t>
              </a:r>
            </a:p>
          </p:txBody>
        </p:sp>
        <p:sp>
          <p:nvSpPr>
            <p:cNvPr id="13" name="Rounded Rectangle 12">
              <a:extLst>
                <a:ext uri="{FF2B5EF4-FFF2-40B4-BE49-F238E27FC236}">
                  <a16:creationId xmlns:a16="http://schemas.microsoft.com/office/drawing/2014/main" id="{1D23AD28-EFD5-E48D-C510-3E6D8F56835B}"/>
                </a:ext>
              </a:extLst>
            </p:cNvPr>
            <p:cNvSpPr/>
            <p:nvPr/>
          </p:nvSpPr>
          <p:spPr>
            <a:xfrm>
              <a:off x="8461514" y="3107636"/>
              <a:ext cx="1199321"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8DECE3E-7D70-B807-1238-A973BE6B4595}"/>
                </a:ext>
              </a:extLst>
            </p:cNvPr>
            <p:cNvSpPr txBox="1"/>
            <p:nvPr/>
          </p:nvSpPr>
          <p:spPr>
            <a:xfrm>
              <a:off x="5188226" y="3783497"/>
              <a:ext cx="5532783"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the energy associated with                   .</a:t>
              </a:r>
            </a:p>
          </p:txBody>
        </p:sp>
        <p:sp>
          <p:nvSpPr>
            <p:cNvPr id="17" name="Rounded Rectangle 16">
              <a:extLst>
                <a:ext uri="{FF2B5EF4-FFF2-40B4-BE49-F238E27FC236}">
                  <a16:creationId xmlns:a16="http://schemas.microsoft.com/office/drawing/2014/main" id="{8F008DEA-6A21-5E31-A96B-F9150599759C}"/>
                </a:ext>
              </a:extLst>
            </p:cNvPr>
            <p:cNvSpPr/>
            <p:nvPr/>
          </p:nvSpPr>
          <p:spPr>
            <a:xfrm>
              <a:off x="8746435" y="3776871"/>
              <a:ext cx="1298712"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DAB004EE-541E-FEBC-CAEE-28EC36C00307}"/>
              </a:ext>
            </a:extLst>
          </p:cNvPr>
          <p:cNvSpPr txBox="1"/>
          <p:nvPr/>
        </p:nvSpPr>
        <p:spPr>
          <a:xfrm>
            <a:off x="2729948" y="3127513"/>
            <a:ext cx="2544418"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Kinetic energy</a:t>
            </a:r>
          </a:p>
        </p:txBody>
      </p:sp>
      <p:sp>
        <p:nvSpPr>
          <p:cNvPr id="11" name="TextBox 10">
            <a:extLst>
              <a:ext uri="{FF2B5EF4-FFF2-40B4-BE49-F238E27FC236}">
                <a16:creationId xmlns:a16="http://schemas.microsoft.com/office/drawing/2014/main" id="{8CADC3F5-6B64-3EB8-CC9A-FC8358970108}"/>
              </a:ext>
            </a:extLst>
          </p:cNvPr>
          <p:cNvSpPr txBox="1"/>
          <p:nvPr/>
        </p:nvSpPr>
        <p:spPr>
          <a:xfrm>
            <a:off x="2696818" y="3849757"/>
            <a:ext cx="2776330"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Potential energy</a:t>
            </a:r>
          </a:p>
        </p:txBody>
      </p:sp>
      <p:sp>
        <p:nvSpPr>
          <p:cNvPr id="21" name="TextBox 20">
            <a:extLst>
              <a:ext uri="{FF2B5EF4-FFF2-40B4-BE49-F238E27FC236}">
                <a16:creationId xmlns:a16="http://schemas.microsoft.com/office/drawing/2014/main" id="{191B624A-6F00-B5A5-175F-8089A5F71C22}"/>
              </a:ext>
            </a:extLst>
          </p:cNvPr>
          <p:cNvSpPr txBox="1"/>
          <p:nvPr/>
        </p:nvSpPr>
        <p:spPr>
          <a:xfrm>
            <a:off x="8739810" y="3836505"/>
            <a:ext cx="1557130"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position</a:t>
            </a:r>
          </a:p>
        </p:txBody>
      </p:sp>
      <p:sp>
        <p:nvSpPr>
          <p:cNvPr id="14" name="TextBox 13">
            <a:extLst>
              <a:ext uri="{FF2B5EF4-FFF2-40B4-BE49-F238E27FC236}">
                <a16:creationId xmlns:a16="http://schemas.microsoft.com/office/drawing/2014/main" id="{C1329125-2CF9-1DE1-BB82-919354193069}"/>
              </a:ext>
            </a:extLst>
          </p:cNvPr>
          <p:cNvSpPr txBox="1"/>
          <p:nvPr/>
        </p:nvSpPr>
        <p:spPr>
          <a:xfrm>
            <a:off x="8494643" y="3167271"/>
            <a:ext cx="1338469"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motion</a:t>
            </a:r>
          </a:p>
        </p:txBody>
      </p:sp>
      <p:grpSp>
        <p:nvGrpSpPr>
          <p:cNvPr id="27" name="Group 26">
            <a:extLst>
              <a:ext uri="{FF2B5EF4-FFF2-40B4-BE49-F238E27FC236}">
                <a16:creationId xmlns:a16="http://schemas.microsoft.com/office/drawing/2014/main" id="{4AC5A262-2455-3C74-E33B-F73CC2B30B9F}"/>
              </a:ext>
            </a:extLst>
          </p:cNvPr>
          <p:cNvGrpSpPr/>
          <p:nvPr/>
        </p:nvGrpSpPr>
        <p:grpSpPr>
          <a:xfrm>
            <a:off x="437316" y="4571999"/>
            <a:ext cx="12245008" cy="483056"/>
            <a:chOff x="159027" y="4691269"/>
            <a:chExt cx="12245008" cy="483056"/>
          </a:xfrm>
        </p:grpSpPr>
        <p:sp>
          <p:nvSpPr>
            <p:cNvPr id="25" name="TextBox 24">
              <a:extLst>
                <a:ext uri="{FF2B5EF4-FFF2-40B4-BE49-F238E27FC236}">
                  <a16:creationId xmlns:a16="http://schemas.microsoft.com/office/drawing/2014/main" id="{203C576A-8939-1DA2-22D6-C561FD024E68}"/>
                </a:ext>
              </a:extLst>
            </p:cNvPr>
            <p:cNvSpPr txBox="1"/>
            <p:nvPr/>
          </p:nvSpPr>
          <p:spPr>
            <a:xfrm>
              <a:off x="159027" y="4712660"/>
              <a:ext cx="12245008" cy="461665"/>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In this chapter, we will discover that </a:t>
              </a:r>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latin typeface="Times New Roman" panose="02020603050405020304" pitchFamily="18" charset="0"/>
                  <a:cs typeface="Times New Roman" panose="02020603050405020304" pitchFamily="18" charset="0"/>
                </a:rPr>
                <a:t> obeys a set of powerful                                      . </a:t>
              </a:r>
            </a:p>
          </p:txBody>
        </p:sp>
        <p:sp>
          <p:nvSpPr>
            <p:cNvPr id="26" name="Rounded Rectangle 25">
              <a:extLst>
                <a:ext uri="{FF2B5EF4-FFF2-40B4-BE49-F238E27FC236}">
                  <a16:creationId xmlns:a16="http://schemas.microsoft.com/office/drawing/2014/main" id="{D702425B-462D-E716-A117-01617BF9EBFB}"/>
                </a:ext>
              </a:extLst>
            </p:cNvPr>
            <p:cNvSpPr/>
            <p:nvPr/>
          </p:nvSpPr>
          <p:spPr>
            <a:xfrm>
              <a:off x="8534401" y="4691269"/>
              <a:ext cx="2782956" cy="4373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28EFA510-8ADF-99F2-D51D-C6F5C55A1FE0}"/>
              </a:ext>
            </a:extLst>
          </p:cNvPr>
          <p:cNvSpPr txBox="1"/>
          <p:nvPr/>
        </p:nvSpPr>
        <p:spPr>
          <a:xfrm>
            <a:off x="8786191" y="4625010"/>
            <a:ext cx="3114262"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conservation laws</a:t>
            </a:r>
          </a:p>
        </p:txBody>
      </p:sp>
      <p:sp>
        <p:nvSpPr>
          <p:cNvPr id="30" name="TextBox 29">
            <a:extLst>
              <a:ext uri="{FF2B5EF4-FFF2-40B4-BE49-F238E27FC236}">
                <a16:creationId xmlns:a16="http://schemas.microsoft.com/office/drawing/2014/main" id="{700CE7BD-6DD2-ACD9-1B45-D5330707EEBD}"/>
              </a:ext>
            </a:extLst>
          </p:cNvPr>
          <p:cNvSpPr txBox="1"/>
          <p:nvPr/>
        </p:nvSpPr>
        <p:spPr>
          <a:xfrm>
            <a:off x="414130" y="5149916"/>
            <a:ext cx="11777869" cy="83099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We will also see that many problems that are difficult to solve using Newton's laws become much simpler when approached from the perspective of </a:t>
            </a:r>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latin typeface="Times New Roman" panose="02020603050405020304" pitchFamily="18" charset="0"/>
                <a:cs typeface="Times New Roman" panose="02020603050405020304" pitchFamily="18" charset="0"/>
              </a:rPr>
              <a:t>.</a:t>
            </a:r>
          </a:p>
        </p:txBody>
      </p:sp>
      <p:sp>
        <p:nvSpPr>
          <p:cNvPr id="31" name="TextBox 30">
            <a:extLst>
              <a:ext uri="{FF2B5EF4-FFF2-40B4-BE49-F238E27FC236}">
                <a16:creationId xmlns:a16="http://schemas.microsoft.com/office/drawing/2014/main" id="{B527FC11-A8F8-CB58-6AFF-A8C5239563E8}"/>
              </a:ext>
            </a:extLst>
          </p:cNvPr>
          <p:cNvSpPr txBox="1"/>
          <p:nvPr/>
        </p:nvSpPr>
        <p:spPr>
          <a:xfrm>
            <a:off x="1802067" y="5939129"/>
            <a:ext cx="8811512"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It is the concept of </a:t>
            </a:r>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latin typeface="Times New Roman" panose="02020603050405020304" pitchFamily="18" charset="0"/>
                <a:cs typeface="Times New Roman" panose="02020603050405020304" pitchFamily="18" charset="0"/>
              </a:rPr>
              <a:t> that ties these two approaches together.</a:t>
            </a:r>
          </a:p>
        </p:txBody>
      </p:sp>
    </p:spTree>
    <p:extLst>
      <p:ext uri="{BB962C8B-B14F-4D97-AF65-F5344CB8AC3E}">
        <p14:creationId xmlns:p14="http://schemas.microsoft.com/office/powerpoint/2010/main" val="100533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dissolv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P spid="11" grpId="0"/>
      <p:bldP spid="21" grpId="0"/>
      <p:bldP spid="14" grpId="0"/>
      <p:bldP spid="28" grpId="0"/>
      <p:bldP spid="30"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C50C-6A60-33E9-9D69-AA4332F82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AA730-DEA0-09A6-6A4E-C7D1E9EBD7A7}"/>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sp>
        <p:nvSpPr>
          <p:cNvPr id="3" name="TextBox 2">
            <a:extLst>
              <a:ext uri="{FF2B5EF4-FFF2-40B4-BE49-F238E27FC236}">
                <a16:creationId xmlns:a16="http://schemas.microsoft.com/office/drawing/2014/main" id="{8D57E99C-D628-41EA-9F17-80F561851706}"/>
              </a:ext>
            </a:extLst>
          </p:cNvPr>
          <p:cNvSpPr txBox="1"/>
          <p:nvPr/>
        </p:nvSpPr>
        <p:spPr>
          <a:xfrm>
            <a:off x="947056" y="661174"/>
            <a:ext cx="1072787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Consider the work being done on an object by a net external force...  </a:t>
            </a:r>
          </a:p>
        </p:txBody>
      </p:sp>
      <p:sp>
        <p:nvSpPr>
          <p:cNvPr id="6" name="TextBox 5">
            <a:extLst>
              <a:ext uri="{FF2B5EF4-FFF2-40B4-BE49-F238E27FC236}">
                <a16:creationId xmlns:a16="http://schemas.microsoft.com/office/drawing/2014/main" id="{F45E2C7F-920A-5606-19B3-487739BE7758}"/>
              </a:ext>
            </a:extLst>
          </p:cNvPr>
          <p:cNvSpPr txBox="1"/>
          <p:nvPr/>
        </p:nvSpPr>
        <p:spPr>
          <a:xfrm>
            <a:off x="4555670" y="1213757"/>
            <a:ext cx="7636330" cy="46166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For example, a fighter jet being accelerated down a runway.</a:t>
            </a:r>
          </a:p>
        </p:txBody>
      </p:sp>
      <p:pic>
        <p:nvPicPr>
          <p:cNvPr id="18" name="Picture 17">
            <a:extLst>
              <a:ext uri="{FF2B5EF4-FFF2-40B4-BE49-F238E27FC236}">
                <a16:creationId xmlns:a16="http://schemas.microsoft.com/office/drawing/2014/main" id="{1DC51EB8-0200-5B0A-E0E0-496E798D2181}"/>
              </a:ext>
            </a:extLst>
          </p:cNvPr>
          <p:cNvPicPr>
            <a:picLocks noChangeAspect="1"/>
          </p:cNvPicPr>
          <p:nvPr/>
        </p:nvPicPr>
        <p:blipFill>
          <a:blip r:embed="rId3"/>
          <a:srcRect b="37401"/>
          <a:stretch/>
        </p:blipFill>
        <p:spPr>
          <a:xfrm>
            <a:off x="139700" y="1220102"/>
            <a:ext cx="4203700" cy="1049565"/>
          </a:xfrm>
          <a:prstGeom prst="rect">
            <a:avLst/>
          </a:prstGeom>
        </p:spPr>
      </p:pic>
      <p:grpSp>
        <p:nvGrpSpPr>
          <p:cNvPr id="32" name="Group 31">
            <a:extLst>
              <a:ext uri="{FF2B5EF4-FFF2-40B4-BE49-F238E27FC236}">
                <a16:creationId xmlns:a16="http://schemas.microsoft.com/office/drawing/2014/main" id="{9C1FBB77-AFE7-3560-0EAC-FE6329AFBF56}"/>
              </a:ext>
            </a:extLst>
          </p:cNvPr>
          <p:cNvGrpSpPr/>
          <p:nvPr/>
        </p:nvGrpSpPr>
        <p:grpSpPr>
          <a:xfrm>
            <a:off x="306315" y="1790699"/>
            <a:ext cx="11885685" cy="1613986"/>
            <a:chOff x="306315" y="1790699"/>
            <a:chExt cx="11885685" cy="1613986"/>
          </a:xfrm>
        </p:grpSpPr>
        <p:sp>
          <p:nvSpPr>
            <p:cNvPr id="19" name="TextBox 18">
              <a:extLst>
                <a:ext uri="{FF2B5EF4-FFF2-40B4-BE49-F238E27FC236}">
                  <a16:creationId xmlns:a16="http://schemas.microsoft.com/office/drawing/2014/main" id="{BEF2062A-A963-AA1F-1C7C-438BA9C6FB17}"/>
                </a:ext>
              </a:extLst>
            </p:cNvPr>
            <p:cNvSpPr txBox="1"/>
            <p:nvPr/>
          </p:nvSpPr>
          <p:spPr>
            <a:xfrm>
              <a:off x="4555670" y="1790699"/>
              <a:ext cx="7636330" cy="46166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Here,       represents the                                       that is</a:t>
              </a:r>
            </a:p>
          </p:txBody>
        </p:sp>
        <p:sp>
          <p:nvSpPr>
            <p:cNvPr id="20" name="TextBox 19">
              <a:extLst>
                <a:ext uri="{FF2B5EF4-FFF2-40B4-BE49-F238E27FC236}">
                  <a16:creationId xmlns:a16="http://schemas.microsoft.com/office/drawing/2014/main" id="{7BDC22CD-D12B-FC25-8464-A1429DAD8A13}"/>
                </a:ext>
              </a:extLst>
            </p:cNvPr>
            <p:cNvSpPr txBox="1"/>
            <p:nvPr/>
          </p:nvSpPr>
          <p:spPr>
            <a:xfrm>
              <a:off x="306315" y="2204356"/>
              <a:ext cx="11865430" cy="1200329"/>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performing the work on the fighter jet.  Some forces could be doing positive work on the jet, like the thrust from its engine, and some of the forces could be doing negative work on the jet, like air resistance.</a:t>
              </a:r>
            </a:p>
          </p:txBody>
        </p:sp>
        <p:sp>
          <p:nvSpPr>
            <p:cNvPr id="22" name="Rounded Rectangle 21">
              <a:extLst>
                <a:ext uri="{FF2B5EF4-FFF2-40B4-BE49-F238E27FC236}">
                  <a16:creationId xmlns:a16="http://schemas.microsoft.com/office/drawing/2014/main" id="{908409AE-7B03-F008-AE9C-EA2E91537AC5}"/>
                </a:ext>
              </a:extLst>
            </p:cNvPr>
            <p:cNvSpPr/>
            <p:nvPr/>
          </p:nvSpPr>
          <p:spPr>
            <a:xfrm>
              <a:off x="7566935" y="1840417"/>
              <a:ext cx="2862243" cy="3755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55EBB0CC-5B42-21D8-1D81-87F0B9056933}"/>
                </a:ext>
              </a:extLst>
            </p:cNvPr>
            <p:cNvPicPr>
              <a:picLocks noChangeAspect="1"/>
            </p:cNvPicPr>
            <p:nvPr/>
          </p:nvPicPr>
          <p:blipFill>
            <a:blip r:embed="rId4"/>
            <a:stretch>
              <a:fillRect/>
            </a:stretch>
          </p:blipFill>
          <p:spPr>
            <a:xfrm>
              <a:off x="5353049" y="1927225"/>
              <a:ext cx="454113" cy="280759"/>
            </a:xfrm>
            <a:prstGeom prst="rect">
              <a:avLst/>
            </a:prstGeom>
          </p:spPr>
        </p:pic>
      </p:grpSp>
      <p:sp>
        <p:nvSpPr>
          <p:cNvPr id="24" name="TextBox 23">
            <a:extLst>
              <a:ext uri="{FF2B5EF4-FFF2-40B4-BE49-F238E27FC236}">
                <a16:creationId xmlns:a16="http://schemas.microsoft.com/office/drawing/2014/main" id="{D6F97C73-DE18-8552-71AB-65D38B774EAE}"/>
              </a:ext>
            </a:extLst>
          </p:cNvPr>
          <p:cNvSpPr txBox="1"/>
          <p:nvPr/>
        </p:nvSpPr>
        <p:spPr>
          <a:xfrm>
            <a:off x="7604737" y="1824871"/>
            <a:ext cx="3876139"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net external force</a:t>
            </a:r>
          </a:p>
        </p:txBody>
      </p:sp>
      <p:sp>
        <p:nvSpPr>
          <p:cNvPr id="33" name="TextBox 32">
            <a:extLst>
              <a:ext uri="{FF2B5EF4-FFF2-40B4-BE49-F238E27FC236}">
                <a16:creationId xmlns:a16="http://schemas.microsoft.com/office/drawing/2014/main" id="{B87BE757-7454-0732-25FA-FC298519182D}"/>
              </a:ext>
            </a:extLst>
          </p:cNvPr>
          <p:cNvSpPr txBox="1"/>
          <p:nvPr/>
        </p:nvSpPr>
        <p:spPr>
          <a:xfrm>
            <a:off x="289024" y="3488410"/>
            <a:ext cx="6790382" cy="1200329"/>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If the </a:t>
            </a:r>
            <a:r>
              <a:rPr lang="en-US" sz="2400" u="sng" dirty="0">
                <a:latin typeface="Times New Roman" panose="02020603050405020304" pitchFamily="18" charset="0"/>
                <a:cs typeface="Times New Roman" panose="02020603050405020304" pitchFamily="18" charset="0"/>
              </a:rPr>
              <a:t>net force is constant</a:t>
            </a:r>
            <a:r>
              <a:rPr lang="en-US" sz="2400" dirty="0">
                <a:latin typeface="Times New Roman" panose="02020603050405020304" pitchFamily="18" charset="0"/>
                <a:cs typeface="Times New Roman" panose="02020603050405020304" pitchFamily="18" charset="0"/>
              </a:rPr>
              <a:t>, and the fighter jet moves through a distance </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then the work done by the net force is given by Equation 6.1:</a:t>
            </a:r>
          </a:p>
        </p:txBody>
      </p:sp>
      <p:pic>
        <p:nvPicPr>
          <p:cNvPr id="34" name="Picture 33">
            <a:extLst>
              <a:ext uri="{FF2B5EF4-FFF2-40B4-BE49-F238E27FC236}">
                <a16:creationId xmlns:a16="http://schemas.microsoft.com/office/drawing/2014/main" id="{BEA8BCB6-3A4D-DD01-802D-33E0B2EE8AF1}"/>
              </a:ext>
            </a:extLst>
          </p:cNvPr>
          <p:cNvPicPr>
            <a:picLocks noChangeAspect="1"/>
          </p:cNvPicPr>
          <p:nvPr/>
        </p:nvPicPr>
        <p:blipFill>
          <a:blip r:embed="rId5"/>
          <a:stretch>
            <a:fillRect/>
          </a:stretch>
        </p:blipFill>
        <p:spPr>
          <a:xfrm>
            <a:off x="7482682" y="3774392"/>
            <a:ext cx="1994252" cy="551352"/>
          </a:xfrm>
          <a:prstGeom prst="rect">
            <a:avLst/>
          </a:prstGeom>
        </p:spPr>
      </p:pic>
      <p:sp>
        <p:nvSpPr>
          <p:cNvPr id="35" name="TextBox 34">
            <a:extLst>
              <a:ext uri="{FF2B5EF4-FFF2-40B4-BE49-F238E27FC236}">
                <a16:creationId xmlns:a16="http://schemas.microsoft.com/office/drawing/2014/main" id="{2267F220-1514-E81D-6314-2832804666AC}"/>
              </a:ext>
            </a:extLst>
          </p:cNvPr>
          <p:cNvSpPr txBox="1"/>
          <p:nvPr/>
        </p:nvSpPr>
        <p:spPr>
          <a:xfrm>
            <a:off x="294467" y="4930767"/>
            <a:ext cx="6790382" cy="1200329"/>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But, we know from Newton’s second law that the net force acting on an object must be equal to its mass times its acceleration:</a:t>
            </a:r>
          </a:p>
        </p:txBody>
      </p:sp>
      <p:pic>
        <p:nvPicPr>
          <p:cNvPr id="36" name="Picture 35">
            <a:extLst>
              <a:ext uri="{FF2B5EF4-FFF2-40B4-BE49-F238E27FC236}">
                <a16:creationId xmlns:a16="http://schemas.microsoft.com/office/drawing/2014/main" id="{71096D50-018A-B5B4-856E-67B48838F81D}"/>
              </a:ext>
            </a:extLst>
          </p:cNvPr>
          <p:cNvPicPr>
            <a:picLocks noChangeAspect="1"/>
          </p:cNvPicPr>
          <p:nvPr/>
        </p:nvPicPr>
        <p:blipFill>
          <a:blip r:embed="rId6"/>
          <a:stretch>
            <a:fillRect/>
          </a:stretch>
        </p:blipFill>
        <p:spPr>
          <a:xfrm>
            <a:off x="7502000" y="5323115"/>
            <a:ext cx="3117014" cy="529357"/>
          </a:xfrm>
          <a:prstGeom prst="rect">
            <a:avLst/>
          </a:prstGeom>
        </p:spPr>
      </p:pic>
      <p:grpSp>
        <p:nvGrpSpPr>
          <p:cNvPr id="52" name="Group 51">
            <a:extLst>
              <a:ext uri="{FF2B5EF4-FFF2-40B4-BE49-F238E27FC236}">
                <a16:creationId xmlns:a16="http://schemas.microsoft.com/office/drawing/2014/main" id="{E911FEC7-466D-9569-D5AC-F36CB39D3ED4}"/>
              </a:ext>
            </a:extLst>
          </p:cNvPr>
          <p:cNvGrpSpPr/>
          <p:nvPr/>
        </p:nvGrpSpPr>
        <p:grpSpPr>
          <a:xfrm>
            <a:off x="8305799" y="5746376"/>
            <a:ext cx="1913965" cy="555999"/>
            <a:chOff x="8305799" y="5746376"/>
            <a:chExt cx="1913965" cy="555999"/>
          </a:xfrm>
        </p:grpSpPr>
        <p:sp>
          <p:nvSpPr>
            <p:cNvPr id="38" name="Left Brace 37">
              <a:extLst>
                <a:ext uri="{FF2B5EF4-FFF2-40B4-BE49-F238E27FC236}">
                  <a16:creationId xmlns:a16="http://schemas.microsoft.com/office/drawing/2014/main" id="{8383C593-6B4F-5000-6303-4DA2E05DF9E2}"/>
                </a:ext>
              </a:extLst>
            </p:cNvPr>
            <p:cNvSpPr/>
            <p:nvPr/>
          </p:nvSpPr>
          <p:spPr>
            <a:xfrm rot="16200000">
              <a:off x="8543363" y="5665693"/>
              <a:ext cx="174813" cy="649941"/>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8F2382C9-58A2-C3A8-4D87-0E0C4250B67D}"/>
                </a:ext>
              </a:extLst>
            </p:cNvPr>
            <p:cNvSpPr/>
            <p:nvPr/>
          </p:nvSpPr>
          <p:spPr>
            <a:xfrm rot="16200000">
              <a:off x="9973235" y="5679141"/>
              <a:ext cx="179294" cy="313764"/>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B67FA604-CC5E-F401-5017-AB3587B43177}"/>
                </a:ext>
              </a:extLst>
            </p:cNvPr>
            <p:cNvCxnSpPr/>
            <p:nvPr/>
          </p:nvCxnSpPr>
          <p:spPr>
            <a:xfrm>
              <a:off x="8629308" y="6077749"/>
              <a:ext cx="0" cy="224493"/>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5D3F7A9-C45F-3A04-C92D-FF2C72DFEBD5}"/>
                </a:ext>
              </a:extLst>
            </p:cNvPr>
            <p:cNvCxnSpPr>
              <a:cxnSpLocks/>
            </p:cNvCxnSpPr>
            <p:nvPr/>
          </p:nvCxnSpPr>
          <p:spPr>
            <a:xfrm flipH="1">
              <a:off x="8611969" y="6290378"/>
              <a:ext cx="1459131"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D5942B-7197-FBF4-D1DA-2CC4391C31F3}"/>
                </a:ext>
              </a:extLst>
            </p:cNvPr>
            <p:cNvCxnSpPr>
              <a:cxnSpLocks/>
            </p:cNvCxnSpPr>
            <p:nvPr/>
          </p:nvCxnSpPr>
          <p:spPr>
            <a:xfrm>
              <a:off x="10062963" y="5918049"/>
              <a:ext cx="0" cy="384326"/>
            </a:xfrm>
            <a:prstGeom prst="line">
              <a:avLst/>
            </a:prstGeom>
            <a:ln w="317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072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dissolv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dissolve">
                                      <p:cBhvr>
                                        <p:cTn id="25" dur="500"/>
                                        <p:tgtEl>
                                          <p:spTgt spid="33"/>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dissolv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dissolve">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dissolve">
                                      <p:cBhvr>
                                        <p:cTn id="39" dur="500"/>
                                        <p:tgtEl>
                                          <p:spTgt spid="36"/>
                                        </p:tgtEl>
                                      </p:cBhvr>
                                    </p:animEffect>
                                  </p:childTnLst>
                                </p:cTn>
                              </p:par>
                            </p:childTnLst>
                          </p:cTn>
                        </p:par>
                        <p:par>
                          <p:cTn id="40" fill="hold">
                            <p:stCondLst>
                              <p:cond delay="500"/>
                            </p:stCondLst>
                            <p:childTnLst>
                              <p:par>
                                <p:cTn id="41" presetID="9" presetClass="entr" presetSubtype="0" fill="hold" nodeType="after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dissolve">
                                      <p:cBhvr>
                                        <p:cTn id="4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33"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6D4AB-7397-D986-92A9-BDA4B5323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37DB4-E109-A2B4-3868-A10F5D7ED11F}"/>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sp>
        <p:nvSpPr>
          <p:cNvPr id="6" name="TextBox 5">
            <a:extLst>
              <a:ext uri="{FF2B5EF4-FFF2-40B4-BE49-F238E27FC236}">
                <a16:creationId xmlns:a16="http://schemas.microsoft.com/office/drawing/2014/main" id="{2B12B0E6-4C83-D76F-9342-EBC84AE7F229}"/>
              </a:ext>
            </a:extLst>
          </p:cNvPr>
          <p:cNvSpPr txBox="1"/>
          <p:nvPr/>
        </p:nvSpPr>
        <p:spPr>
          <a:xfrm>
            <a:off x="4581070" y="1294929"/>
            <a:ext cx="7407730" cy="83099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right side of this expression depends on the product of </a:t>
            </a:r>
            <a:r>
              <a:rPr lang="en-US" sz="2400" i="1" dirty="0">
                <a:latin typeface="Times New Roman" panose="02020603050405020304" pitchFamily="18" charset="0"/>
                <a:cs typeface="Times New Roman" panose="02020603050405020304" pitchFamily="18" charset="0"/>
              </a:rPr>
              <a:t>as</a:t>
            </a:r>
            <a:r>
              <a:rPr lang="en-US" sz="2400" dirty="0">
                <a:latin typeface="Times New Roman" panose="02020603050405020304" pitchFamily="18" charset="0"/>
                <a:cs typeface="Times New Roman" panose="02020603050405020304" pitchFamily="18" charset="0"/>
              </a:rPr>
              <a:t>, which is </a:t>
            </a:r>
            <a:r>
              <a:rPr lang="en-US" sz="2400" u="sng" dirty="0">
                <a:latin typeface="Times New Roman" panose="02020603050405020304" pitchFamily="18" charset="0"/>
                <a:cs typeface="Times New Roman" panose="02020603050405020304" pitchFamily="18" charset="0"/>
              </a:rPr>
              <a:t>constant acceleration </a:t>
            </a:r>
            <a:r>
              <a:rPr lang="en-US" sz="2400" dirty="0">
                <a:latin typeface="Times New Roman" panose="02020603050405020304" pitchFamily="18" charset="0"/>
                <a:cs typeface="Times New Roman" panose="02020603050405020304" pitchFamily="18" charset="0"/>
              </a:rPr>
              <a:t>times displacement.  </a:t>
            </a:r>
          </a:p>
        </p:txBody>
      </p:sp>
      <p:pic>
        <p:nvPicPr>
          <p:cNvPr id="18" name="Picture 17">
            <a:extLst>
              <a:ext uri="{FF2B5EF4-FFF2-40B4-BE49-F238E27FC236}">
                <a16:creationId xmlns:a16="http://schemas.microsoft.com/office/drawing/2014/main" id="{D0C69E4E-5CF6-B529-0EC7-56F14AD2587C}"/>
              </a:ext>
            </a:extLst>
          </p:cNvPr>
          <p:cNvPicPr>
            <a:picLocks noChangeAspect="1"/>
          </p:cNvPicPr>
          <p:nvPr/>
        </p:nvPicPr>
        <p:blipFill>
          <a:blip r:embed="rId3"/>
          <a:srcRect b="37401"/>
          <a:stretch/>
        </p:blipFill>
        <p:spPr>
          <a:xfrm>
            <a:off x="165100" y="902602"/>
            <a:ext cx="4203700" cy="1049565"/>
          </a:xfrm>
          <a:prstGeom prst="rect">
            <a:avLst/>
          </a:prstGeom>
        </p:spPr>
      </p:pic>
      <p:pic>
        <p:nvPicPr>
          <p:cNvPr id="4" name="Picture 3">
            <a:extLst>
              <a:ext uri="{FF2B5EF4-FFF2-40B4-BE49-F238E27FC236}">
                <a16:creationId xmlns:a16="http://schemas.microsoft.com/office/drawing/2014/main" id="{3E6E0969-D915-B8B6-201E-116B1E1740CA}"/>
              </a:ext>
            </a:extLst>
          </p:cNvPr>
          <p:cNvPicPr>
            <a:picLocks noChangeAspect="1"/>
          </p:cNvPicPr>
          <p:nvPr/>
        </p:nvPicPr>
        <p:blipFill>
          <a:blip r:embed="rId4"/>
          <a:stretch>
            <a:fillRect/>
          </a:stretch>
        </p:blipFill>
        <p:spPr>
          <a:xfrm>
            <a:off x="6513144" y="758136"/>
            <a:ext cx="2973756" cy="538081"/>
          </a:xfrm>
          <a:prstGeom prst="rect">
            <a:avLst/>
          </a:prstGeom>
        </p:spPr>
      </p:pic>
      <p:sp>
        <p:nvSpPr>
          <p:cNvPr id="5" name="TextBox 4">
            <a:extLst>
              <a:ext uri="{FF2B5EF4-FFF2-40B4-BE49-F238E27FC236}">
                <a16:creationId xmlns:a16="http://schemas.microsoft.com/office/drawing/2014/main" id="{236A7FD3-31DE-AC92-8334-117AF7605F2B}"/>
              </a:ext>
            </a:extLst>
          </p:cNvPr>
          <p:cNvSpPr txBox="1"/>
          <p:nvPr/>
        </p:nvSpPr>
        <p:spPr>
          <a:xfrm>
            <a:off x="161470" y="2117669"/>
            <a:ext cx="11903530" cy="83099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We can use kinematics Equation 2.9 to write this product in terms of the change in speed of the jet, where we replaced </a:t>
            </a:r>
            <a:r>
              <a:rPr lang="en-US" sz="2400" i="1" dirty="0">
                <a:latin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cs typeface="Times New Roman" panose="02020603050405020304" pitchFamily="18" charset="0"/>
              </a:rPr>
              <a:t> with </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05F7AB04-F1E0-84F3-25B3-A893DE23DE53}"/>
              </a:ext>
            </a:extLst>
          </p:cNvPr>
          <p:cNvSpPr txBox="1"/>
          <p:nvPr/>
        </p:nvSpPr>
        <p:spPr>
          <a:xfrm>
            <a:off x="148770" y="2976301"/>
            <a:ext cx="11903530" cy="46166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Solving for </a:t>
            </a:r>
            <a:r>
              <a:rPr lang="en-US" sz="2400" i="1" dirty="0">
                <a:latin typeface="Times New Roman" panose="02020603050405020304" pitchFamily="18" charset="0"/>
                <a:cs typeface="Times New Roman" panose="02020603050405020304" pitchFamily="18" charset="0"/>
              </a:rPr>
              <a:t>as</a:t>
            </a:r>
            <a:r>
              <a:rPr lang="en-US" sz="2400" dirty="0">
                <a:latin typeface="Times New Roman" panose="02020603050405020304" pitchFamily="18" charset="0"/>
                <a:cs typeface="Times New Roman" panose="02020603050405020304" pitchFamily="18" charset="0"/>
              </a:rPr>
              <a:t> and plugging into the expression for the work above, we find:</a:t>
            </a:r>
          </a:p>
        </p:txBody>
      </p:sp>
      <p:pic>
        <p:nvPicPr>
          <p:cNvPr id="10" name="Picture 9">
            <a:extLst>
              <a:ext uri="{FF2B5EF4-FFF2-40B4-BE49-F238E27FC236}">
                <a16:creationId xmlns:a16="http://schemas.microsoft.com/office/drawing/2014/main" id="{432E564F-27BA-5C70-0938-657CFF292886}"/>
              </a:ext>
            </a:extLst>
          </p:cNvPr>
          <p:cNvPicPr>
            <a:picLocks noChangeAspect="1"/>
          </p:cNvPicPr>
          <p:nvPr/>
        </p:nvPicPr>
        <p:blipFill>
          <a:blip r:embed="rId5"/>
          <a:stretch>
            <a:fillRect/>
          </a:stretch>
        </p:blipFill>
        <p:spPr>
          <a:xfrm>
            <a:off x="245221" y="3628683"/>
            <a:ext cx="2118149" cy="609600"/>
          </a:xfrm>
          <a:prstGeom prst="rect">
            <a:avLst/>
          </a:prstGeom>
        </p:spPr>
      </p:pic>
      <p:pic>
        <p:nvPicPr>
          <p:cNvPr id="11" name="Picture 10">
            <a:extLst>
              <a:ext uri="{FF2B5EF4-FFF2-40B4-BE49-F238E27FC236}">
                <a16:creationId xmlns:a16="http://schemas.microsoft.com/office/drawing/2014/main" id="{0A354894-1D0F-8921-83A2-4947E105C98F}"/>
              </a:ext>
            </a:extLst>
          </p:cNvPr>
          <p:cNvPicPr>
            <a:picLocks noChangeAspect="1"/>
          </p:cNvPicPr>
          <p:nvPr/>
        </p:nvPicPr>
        <p:blipFill>
          <a:blip r:embed="rId6"/>
          <a:stretch>
            <a:fillRect/>
          </a:stretch>
        </p:blipFill>
        <p:spPr>
          <a:xfrm>
            <a:off x="4330700" y="2600154"/>
            <a:ext cx="1746250" cy="316708"/>
          </a:xfrm>
          <a:prstGeom prst="rect">
            <a:avLst/>
          </a:prstGeom>
        </p:spPr>
      </p:pic>
      <p:pic>
        <p:nvPicPr>
          <p:cNvPr id="12" name="Picture 11">
            <a:extLst>
              <a:ext uri="{FF2B5EF4-FFF2-40B4-BE49-F238E27FC236}">
                <a16:creationId xmlns:a16="http://schemas.microsoft.com/office/drawing/2014/main" id="{B39B57B1-3EDD-4F14-9A4B-289E5D06BED8}"/>
              </a:ext>
            </a:extLst>
          </p:cNvPr>
          <p:cNvPicPr>
            <a:picLocks noChangeAspect="1"/>
          </p:cNvPicPr>
          <p:nvPr/>
        </p:nvPicPr>
        <p:blipFill>
          <a:blip r:embed="rId7"/>
          <a:stretch>
            <a:fillRect/>
          </a:stretch>
        </p:blipFill>
        <p:spPr>
          <a:xfrm>
            <a:off x="2597426" y="3616255"/>
            <a:ext cx="2892286" cy="622028"/>
          </a:xfrm>
          <a:prstGeom prst="rect">
            <a:avLst/>
          </a:prstGeom>
        </p:spPr>
      </p:pic>
      <p:grpSp>
        <p:nvGrpSpPr>
          <p:cNvPr id="15" name="Group 14">
            <a:extLst>
              <a:ext uri="{FF2B5EF4-FFF2-40B4-BE49-F238E27FC236}">
                <a16:creationId xmlns:a16="http://schemas.microsoft.com/office/drawing/2014/main" id="{33ED6458-563B-ECCD-11AA-AA5221CD3098}"/>
              </a:ext>
            </a:extLst>
          </p:cNvPr>
          <p:cNvGrpSpPr/>
          <p:nvPr/>
        </p:nvGrpSpPr>
        <p:grpSpPr>
          <a:xfrm>
            <a:off x="6848296" y="3433502"/>
            <a:ext cx="5343704" cy="992730"/>
            <a:chOff x="6609757" y="3884070"/>
            <a:chExt cx="5343704" cy="992730"/>
          </a:xfrm>
        </p:grpSpPr>
        <p:sp>
          <p:nvSpPr>
            <p:cNvPr id="13" name="TextBox 12">
              <a:extLst>
                <a:ext uri="{FF2B5EF4-FFF2-40B4-BE49-F238E27FC236}">
                  <a16:creationId xmlns:a16="http://schemas.microsoft.com/office/drawing/2014/main" id="{F1B4B5DC-C73D-CBB0-0980-4D6E33E75FFA}"/>
                </a:ext>
              </a:extLst>
            </p:cNvPr>
            <p:cNvSpPr txBox="1"/>
            <p:nvPr/>
          </p:nvSpPr>
          <p:spPr>
            <a:xfrm>
              <a:off x="6609757" y="3884070"/>
              <a:ext cx="5343704" cy="46166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term ½(mass)(speed)</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is known as </a:t>
              </a:r>
            </a:p>
          </p:txBody>
        </p:sp>
        <p:sp>
          <p:nvSpPr>
            <p:cNvPr id="14" name="Rounded Rectangle 13">
              <a:extLst>
                <a:ext uri="{FF2B5EF4-FFF2-40B4-BE49-F238E27FC236}">
                  <a16:creationId xmlns:a16="http://schemas.microsoft.com/office/drawing/2014/main" id="{6AB46349-5923-D1B1-C150-6F1DE0778D33}"/>
                </a:ext>
              </a:extLst>
            </p:cNvPr>
            <p:cNvSpPr/>
            <p:nvPr/>
          </p:nvSpPr>
          <p:spPr>
            <a:xfrm>
              <a:off x="7726016" y="4452730"/>
              <a:ext cx="3021497" cy="4240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55AC2181-DA99-5F16-C28F-248673D210BD}"/>
              </a:ext>
            </a:extLst>
          </p:cNvPr>
          <p:cNvSpPr txBox="1"/>
          <p:nvPr/>
        </p:nvSpPr>
        <p:spPr>
          <a:xfrm>
            <a:off x="7964555" y="4015414"/>
            <a:ext cx="3578088"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Kinetic Energy (KE)</a:t>
            </a:r>
          </a:p>
        </p:txBody>
      </p:sp>
      <p:grpSp>
        <p:nvGrpSpPr>
          <p:cNvPr id="28" name="Group 27">
            <a:extLst>
              <a:ext uri="{FF2B5EF4-FFF2-40B4-BE49-F238E27FC236}">
                <a16:creationId xmlns:a16="http://schemas.microsoft.com/office/drawing/2014/main" id="{B047187A-9765-DB34-0FB2-B857D70FAB69}"/>
              </a:ext>
            </a:extLst>
          </p:cNvPr>
          <p:cNvGrpSpPr/>
          <p:nvPr/>
        </p:nvGrpSpPr>
        <p:grpSpPr>
          <a:xfrm>
            <a:off x="251791" y="4585256"/>
            <a:ext cx="12231757" cy="1683021"/>
            <a:chOff x="251791" y="4585256"/>
            <a:chExt cx="12231757" cy="1683021"/>
          </a:xfrm>
        </p:grpSpPr>
        <p:sp>
          <p:nvSpPr>
            <p:cNvPr id="17" name="TextBox 16">
              <a:extLst>
                <a:ext uri="{FF2B5EF4-FFF2-40B4-BE49-F238E27FC236}">
                  <a16:creationId xmlns:a16="http://schemas.microsoft.com/office/drawing/2014/main" id="{1DF30514-BAA9-4009-78E8-7123E1116CFF}"/>
                </a:ext>
              </a:extLst>
            </p:cNvPr>
            <p:cNvSpPr txBox="1"/>
            <p:nvPr/>
          </p:nvSpPr>
          <p:spPr>
            <a:xfrm>
              <a:off x="318052" y="4638265"/>
              <a:ext cx="5698435" cy="461665"/>
            </a:xfrm>
            <a:prstGeom prst="rect">
              <a:avLst/>
            </a:prstGeom>
            <a:noFill/>
          </p:spPr>
          <p:txBody>
            <a:bodyPr wrap="square" rtlCol="0">
              <a:spAutoFit/>
            </a:bodyPr>
            <a:lstStyle/>
            <a:p>
              <a:r>
                <a:rPr lang="en-US" sz="2400" dirty="0">
                  <a:solidFill>
                    <a:srgbClr val="C00000"/>
                  </a:solidFill>
                  <a:latin typeface="Times" pitchFamily="2" charset="0"/>
                  <a:cs typeface="Times New Roman" panose="02020603050405020304" pitchFamily="18" charset="0"/>
                </a:rPr>
                <a:t>DEFINITION OF KINETIC ENERGY</a:t>
              </a:r>
            </a:p>
          </p:txBody>
        </p:sp>
        <p:sp>
          <p:nvSpPr>
            <p:cNvPr id="23" name="TextBox 22">
              <a:extLst>
                <a:ext uri="{FF2B5EF4-FFF2-40B4-BE49-F238E27FC236}">
                  <a16:creationId xmlns:a16="http://schemas.microsoft.com/office/drawing/2014/main" id="{6AAD2BDE-8580-90CB-B001-F6470205BE43}"/>
                </a:ext>
              </a:extLst>
            </p:cNvPr>
            <p:cNvSpPr txBox="1"/>
            <p:nvPr/>
          </p:nvSpPr>
          <p:spPr>
            <a:xfrm>
              <a:off x="331304" y="5043971"/>
              <a:ext cx="9329530" cy="461665"/>
            </a:xfrm>
            <a:prstGeom prst="rect">
              <a:avLst/>
            </a:prstGeom>
            <a:noFill/>
          </p:spPr>
          <p:txBody>
            <a:bodyPr wrap="square">
              <a:spAutoFit/>
            </a:bodyPr>
            <a:lstStyle/>
            <a:p>
              <a:r>
                <a:rPr lang="en-US" sz="2400" dirty="0">
                  <a:latin typeface="Times" pitchFamily="2" charset="0"/>
                </a:rPr>
                <a:t>The kinetic energy KE of an object with mass </a:t>
              </a:r>
              <a:r>
                <a:rPr lang="en-US" sz="2400" i="1" dirty="0">
                  <a:latin typeface="Times" pitchFamily="2" charset="0"/>
                </a:rPr>
                <a:t>m</a:t>
              </a:r>
              <a:r>
                <a:rPr lang="en-US" sz="2400" dirty="0">
                  <a:latin typeface="Times" pitchFamily="2" charset="0"/>
                </a:rPr>
                <a:t> and speed </a:t>
              </a:r>
              <a:r>
                <a:rPr lang="en-US" sz="2400" i="1" dirty="0">
                  <a:latin typeface="Times" pitchFamily="2" charset="0"/>
                </a:rPr>
                <a:t>v</a:t>
              </a:r>
              <a:r>
                <a:rPr lang="en-US" sz="2400" dirty="0">
                  <a:latin typeface="Times" pitchFamily="2" charset="0"/>
                </a:rPr>
                <a:t> is given by:</a:t>
              </a:r>
            </a:p>
          </p:txBody>
        </p:sp>
        <p:sp>
          <p:nvSpPr>
            <p:cNvPr id="25" name="Rectangle 24">
              <a:extLst>
                <a:ext uri="{FF2B5EF4-FFF2-40B4-BE49-F238E27FC236}">
                  <a16:creationId xmlns:a16="http://schemas.microsoft.com/office/drawing/2014/main" id="{73E60128-D7D3-A3A8-4040-13CF4A5B7D51}"/>
                </a:ext>
              </a:extLst>
            </p:cNvPr>
            <p:cNvSpPr/>
            <p:nvPr/>
          </p:nvSpPr>
          <p:spPr>
            <a:xfrm>
              <a:off x="251791" y="4585256"/>
              <a:ext cx="11688418" cy="1683021"/>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74DF683F-BBD1-92BE-33B2-52D8E84299D8}"/>
                </a:ext>
              </a:extLst>
            </p:cNvPr>
            <p:cNvPicPr>
              <a:picLocks noChangeAspect="1"/>
            </p:cNvPicPr>
            <p:nvPr/>
          </p:nvPicPr>
          <p:blipFill>
            <a:blip r:embed="rId8"/>
            <a:stretch>
              <a:fillRect/>
            </a:stretch>
          </p:blipFill>
          <p:spPr>
            <a:xfrm>
              <a:off x="9440615" y="4996068"/>
              <a:ext cx="1292541" cy="579507"/>
            </a:xfrm>
            <a:prstGeom prst="rect">
              <a:avLst/>
            </a:prstGeom>
          </p:spPr>
        </p:pic>
        <p:sp>
          <p:nvSpPr>
            <p:cNvPr id="27" name="TextBox 26">
              <a:extLst>
                <a:ext uri="{FF2B5EF4-FFF2-40B4-BE49-F238E27FC236}">
                  <a16:creationId xmlns:a16="http://schemas.microsoft.com/office/drawing/2014/main" id="{366825E3-D543-C9C2-7D6F-4EE29C971770}"/>
                </a:ext>
              </a:extLst>
            </p:cNvPr>
            <p:cNvSpPr txBox="1"/>
            <p:nvPr/>
          </p:nvSpPr>
          <p:spPr>
            <a:xfrm>
              <a:off x="11145078" y="5102087"/>
              <a:ext cx="1338470" cy="400110"/>
            </a:xfrm>
            <a:prstGeom prst="rect">
              <a:avLst/>
            </a:prstGeom>
            <a:noFill/>
          </p:spPr>
          <p:txBody>
            <a:bodyPr wrap="square" rtlCol="0">
              <a:spAutoFit/>
            </a:bodyPr>
            <a:lstStyle/>
            <a:p>
              <a:r>
                <a:rPr lang="en-US" sz="2000" dirty="0"/>
                <a:t>(</a:t>
              </a:r>
              <a:r>
                <a:rPr lang="en-US" sz="2000" b="1" dirty="0">
                  <a:latin typeface="Times" pitchFamily="2" charset="0"/>
                </a:rPr>
                <a:t>6.2</a:t>
              </a:r>
              <a:r>
                <a:rPr lang="en-US" sz="2000" dirty="0"/>
                <a:t>)</a:t>
              </a:r>
            </a:p>
          </p:txBody>
        </p:sp>
      </p:grpSp>
      <p:sp>
        <p:nvSpPr>
          <p:cNvPr id="31" name="TextBox 30">
            <a:extLst>
              <a:ext uri="{FF2B5EF4-FFF2-40B4-BE49-F238E27FC236}">
                <a16:creationId xmlns:a16="http://schemas.microsoft.com/office/drawing/2014/main" id="{89AAE9C5-B54C-CD3B-29D7-EF136A8EF633}"/>
              </a:ext>
            </a:extLst>
          </p:cNvPr>
          <p:cNvSpPr txBox="1"/>
          <p:nvPr/>
        </p:nvSpPr>
        <p:spPr>
          <a:xfrm>
            <a:off x="364435" y="5725802"/>
            <a:ext cx="6374294" cy="461665"/>
          </a:xfrm>
          <a:prstGeom prst="rect">
            <a:avLst/>
          </a:prstGeom>
          <a:noFill/>
        </p:spPr>
        <p:txBody>
          <a:bodyPr wrap="square">
            <a:spAutoFit/>
          </a:bodyPr>
          <a:lstStyle/>
          <a:p>
            <a:r>
              <a:rPr lang="en-US" sz="2400" dirty="0">
                <a:latin typeface="Times" pitchFamily="2" charset="0"/>
              </a:rPr>
              <a:t>SI Unit of Kinetic Energy: joule (J)</a:t>
            </a:r>
          </a:p>
        </p:txBody>
      </p:sp>
    </p:spTree>
    <p:extLst>
      <p:ext uri="{BB962C8B-B14F-4D97-AF65-F5344CB8AC3E}">
        <p14:creationId xmlns:p14="http://schemas.microsoft.com/office/powerpoint/2010/main" val="309807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dissolv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dissolve">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8" grpId="0"/>
      <p:bldP spid="16"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BC6F6-044B-94DF-ABFA-0A346A68D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6C1C0-C6E1-EB06-ADAB-13CA5AE31404}"/>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pic>
        <p:nvPicPr>
          <p:cNvPr id="12" name="Picture 11">
            <a:extLst>
              <a:ext uri="{FF2B5EF4-FFF2-40B4-BE49-F238E27FC236}">
                <a16:creationId xmlns:a16="http://schemas.microsoft.com/office/drawing/2014/main" id="{3138E422-09BD-9497-18CD-59B45F901419}"/>
              </a:ext>
            </a:extLst>
          </p:cNvPr>
          <p:cNvPicPr>
            <a:picLocks noChangeAspect="1"/>
          </p:cNvPicPr>
          <p:nvPr/>
        </p:nvPicPr>
        <p:blipFill>
          <a:blip r:embed="rId3"/>
          <a:srcRect l="13288" t="4516"/>
          <a:stretch/>
        </p:blipFill>
        <p:spPr>
          <a:xfrm>
            <a:off x="162892" y="877955"/>
            <a:ext cx="2507972" cy="593935"/>
          </a:xfrm>
          <a:prstGeom prst="rect">
            <a:avLst/>
          </a:prstGeom>
        </p:spPr>
      </p:pic>
      <p:pic>
        <p:nvPicPr>
          <p:cNvPr id="3" name="Picture 2">
            <a:extLst>
              <a:ext uri="{FF2B5EF4-FFF2-40B4-BE49-F238E27FC236}">
                <a16:creationId xmlns:a16="http://schemas.microsoft.com/office/drawing/2014/main" id="{A0891B2F-6024-72A8-B3E9-714469C47F63}"/>
              </a:ext>
            </a:extLst>
          </p:cNvPr>
          <p:cNvPicPr>
            <a:picLocks noChangeAspect="1"/>
          </p:cNvPicPr>
          <p:nvPr/>
        </p:nvPicPr>
        <p:blipFill>
          <a:blip r:embed="rId4"/>
          <a:stretch>
            <a:fillRect/>
          </a:stretch>
        </p:blipFill>
        <p:spPr>
          <a:xfrm>
            <a:off x="2812222" y="1053706"/>
            <a:ext cx="2415207" cy="293094"/>
          </a:xfrm>
          <a:prstGeom prst="rect">
            <a:avLst/>
          </a:prstGeom>
        </p:spPr>
      </p:pic>
      <p:sp>
        <p:nvSpPr>
          <p:cNvPr id="7" name="TextBox 6">
            <a:extLst>
              <a:ext uri="{FF2B5EF4-FFF2-40B4-BE49-F238E27FC236}">
                <a16:creationId xmlns:a16="http://schemas.microsoft.com/office/drawing/2014/main" id="{95ABDD10-6990-FCF4-41EE-E407EB8C7D18}"/>
              </a:ext>
            </a:extLst>
          </p:cNvPr>
          <p:cNvSpPr txBox="1"/>
          <p:nvPr/>
        </p:nvSpPr>
        <p:spPr>
          <a:xfrm>
            <a:off x="5667197" y="758217"/>
            <a:ext cx="6232703" cy="83099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From this expression, we see that the work done is equal to the change in the jet’s</a:t>
            </a:r>
            <a:r>
              <a:rPr lang="en-US" sz="2400" dirty="0">
                <a:solidFill>
                  <a:srgbClr val="00744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kinetic energy.</a:t>
            </a:r>
          </a:p>
        </p:txBody>
      </p:sp>
      <p:sp>
        <p:nvSpPr>
          <p:cNvPr id="9" name="TextBox 8">
            <a:extLst>
              <a:ext uri="{FF2B5EF4-FFF2-40B4-BE49-F238E27FC236}">
                <a16:creationId xmlns:a16="http://schemas.microsoft.com/office/drawing/2014/main" id="{832B6B30-899F-61DF-EA2C-9701D1DCB9C6}"/>
              </a:ext>
            </a:extLst>
          </p:cNvPr>
          <p:cNvSpPr txBox="1"/>
          <p:nvPr/>
        </p:nvSpPr>
        <p:spPr>
          <a:xfrm>
            <a:off x="3355329" y="1619694"/>
            <a:ext cx="8208518" cy="46166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Clearly, </a:t>
            </a:r>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Kinetic Energy </a:t>
            </a:r>
            <a:r>
              <a:rPr lang="en-US" sz="2400" dirty="0">
                <a:latin typeface="Times New Roman" panose="02020603050405020304" pitchFamily="18" charset="0"/>
                <a:cs typeface="Times New Roman" panose="02020603050405020304" pitchFamily="18" charset="0"/>
              </a:rPr>
              <a:t>are closely related concepts:</a:t>
            </a:r>
          </a:p>
        </p:txBody>
      </p:sp>
      <p:grpSp>
        <p:nvGrpSpPr>
          <p:cNvPr id="22" name="Group 21">
            <a:extLst>
              <a:ext uri="{FF2B5EF4-FFF2-40B4-BE49-F238E27FC236}">
                <a16:creationId xmlns:a16="http://schemas.microsoft.com/office/drawing/2014/main" id="{227846B3-543D-780B-E506-65D5DEBAFA24}"/>
              </a:ext>
            </a:extLst>
          </p:cNvPr>
          <p:cNvGrpSpPr/>
          <p:nvPr/>
        </p:nvGrpSpPr>
        <p:grpSpPr>
          <a:xfrm>
            <a:off x="5782098" y="2159925"/>
            <a:ext cx="5754521" cy="499635"/>
            <a:chOff x="4701444" y="3025443"/>
            <a:chExt cx="5754521" cy="499635"/>
          </a:xfrm>
        </p:grpSpPr>
        <p:sp>
          <p:nvSpPr>
            <p:cNvPr id="20" name="TextBox 19">
              <a:extLst>
                <a:ext uri="{FF2B5EF4-FFF2-40B4-BE49-F238E27FC236}">
                  <a16:creationId xmlns:a16="http://schemas.microsoft.com/office/drawing/2014/main" id="{EE2D64A8-1CD3-F2F9-F2DE-F2479D184579}"/>
                </a:ext>
              </a:extLst>
            </p:cNvPr>
            <p:cNvSpPr txBox="1"/>
            <p:nvPr/>
          </p:nvSpPr>
          <p:spPr>
            <a:xfrm>
              <a:off x="4701444" y="3025443"/>
              <a:ext cx="2680017" cy="461665"/>
            </a:xfrm>
            <a:prstGeom prst="rect">
              <a:avLst/>
            </a:prstGeom>
            <a:noFill/>
          </p:spPr>
          <p:txBody>
            <a:bodyPr wrap="square" rtlCol="0">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latin typeface="Times New Roman" panose="02020603050405020304" pitchFamily="18" charset="0"/>
                  <a:cs typeface="Times New Roman" panose="02020603050405020304" pitchFamily="18" charset="0"/>
                </a:rPr>
                <a:t> is</a:t>
              </a:r>
            </a:p>
          </p:txBody>
        </p:sp>
        <p:sp>
          <p:nvSpPr>
            <p:cNvPr id="21" name="Rounded Rectangle 20">
              <a:extLst>
                <a:ext uri="{FF2B5EF4-FFF2-40B4-BE49-F238E27FC236}">
                  <a16:creationId xmlns:a16="http://schemas.microsoft.com/office/drawing/2014/main" id="{3EBD4E5D-9F79-3D0E-3CFC-A527FB4B9FBF}"/>
                </a:ext>
              </a:extLst>
            </p:cNvPr>
            <p:cNvSpPr/>
            <p:nvPr/>
          </p:nvSpPr>
          <p:spPr>
            <a:xfrm>
              <a:off x="5870713" y="3087757"/>
              <a:ext cx="4585252" cy="437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TextBox 28">
            <a:extLst>
              <a:ext uri="{FF2B5EF4-FFF2-40B4-BE49-F238E27FC236}">
                <a16:creationId xmlns:a16="http://schemas.microsoft.com/office/drawing/2014/main" id="{AF5A80BD-775C-E7CB-BC81-075BCA1F7F32}"/>
              </a:ext>
            </a:extLst>
          </p:cNvPr>
          <p:cNvSpPr txBox="1"/>
          <p:nvPr/>
        </p:nvSpPr>
        <p:spPr>
          <a:xfrm>
            <a:off x="6915158" y="2219559"/>
            <a:ext cx="496601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cs typeface="Times New Roman" panose="02020603050405020304" pitchFamily="18" charset="0"/>
              </a:rPr>
              <a:t>energy transferred by a force.</a:t>
            </a:r>
          </a:p>
        </p:txBody>
      </p:sp>
      <p:grpSp>
        <p:nvGrpSpPr>
          <p:cNvPr id="30" name="Group 29">
            <a:extLst>
              <a:ext uri="{FF2B5EF4-FFF2-40B4-BE49-F238E27FC236}">
                <a16:creationId xmlns:a16="http://schemas.microsoft.com/office/drawing/2014/main" id="{097AB636-9B50-BE93-B382-F4AC236111F9}"/>
              </a:ext>
            </a:extLst>
          </p:cNvPr>
          <p:cNvGrpSpPr/>
          <p:nvPr/>
        </p:nvGrpSpPr>
        <p:grpSpPr>
          <a:xfrm>
            <a:off x="4702045" y="2988186"/>
            <a:ext cx="6948184" cy="461665"/>
            <a:chOff x="3588261" y="3065200"/>
            <a:chExt cx="6948184" cy="461665"/>
          </a:xfrm>
        </p:grpSpPr>
        <p:sp>
          <p:nvSpPr>
            <p:cNvPr id="32" name="TextBox 31">
              <a:extLst>
                <a:ext uri="{FF2B5EF4-FFF2-40B4-BE49-F238E27FC236}">
                  <a16:creationId xmlns:a16="http://schemas.microsoft.com/office/drawing/2014/main" id="{34538511-6960-BDCB-1DA5-D4914044E670}"/>
                </a:ext>
              </a:extLst>
            </p:cNvPr>
            <p:cNvSpPr txBox="1"/>
            <p:nvPr/>
          </p:nvSpPr>
          <p:spPr>
            <a:xfrm>
              <a:off x="3588261" y="3065200"/>
              <a:ext cx="2680017" cy="461665"/>
            </a:xfrm>
            <a:prstGeom prst="rect">
              <a:avLst/>
            </a:prstGeom>
            <a:noFill/>
          </p:spPr>
          <p:txBody>
            <a:bodyPr wrap="square" rtlCol="0">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Kinetic energy </a:t>
              </a:r>
              <a:r>
                <a:rPr lang="en-US" sz="2400" dirty="0">
                  <a:latin typeface="Times New Roman" panose="02020603050405020304" pitchFamily="18" charset="0"/>
                  <a:cs typeface="Times New Roman" panose="02020603050405020304" pitchFamily="18" charset="0"/>
                </a:rPr>
                <a:t>is</a:t>
              </a:r>
            </a:p>
          </p:txBody>
        </p:sp>
        <p:sp>
          <p:nvSpPr>
            <p:cNvPr id="33" name="Rounded Rectangle 32">
              <a:extLst>
                <a:ext uri="{FF2B5EF4-FFF2-40B4-BE49-F238E27FC236}">
                  <a16:creationId xmlns:a16="http://schemas.microsoft.com/office/drawing/2014/main" id="{4347A9A3-DA05-F45D-516C-69E003AF2F83}"/>
                </a:ext>
              </a:extLst>
            </p:cNvPr>
            <p:cNvSpPr/>
            <p:nvPr/>
          </p:nvSpPr>
          <p:spPr>
            <a:xfrm>
              <a:off x="5870713" y="3087757"/>
              <a:ext cx="4665732" cy="437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a:extLst>
              <a:ext uri="{FF2B5EF4-FFF2-40B4-BE49-F238E27FC236}">
                <a16:creationId xmlns:a16="http://schemas.microsoft.com/office/drawing/2014/main" id="{5B4F51B0-FB06-883B-33F5-935F0960D0D2}"/>
              </a:ext>
            </a:extLst>
          </p:cNvPr>
          <p:cNvSpPr txBox="1"/>
          <p:nvPr/>
        </p:nvSpPr>
        <p:spPr>
          <a:xfrm>
            <a:off x="6948288" y="3008063"/>
            <a:ext cx="496601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cs typeface="Times New Roman" panose="02020603050405020304" pitchFamily="18" charset="0"/>
              </a:rPr>
              <a:t>energy associated with motion.</a:t>
            </a:r>
          </a:p>
        </p:txBody>
      </p:sp>
      <p:grpSp>
        <p:nvGrpSpPr>
          <p:cNvPr id="37" name="Group 36">
            <a:extLst>
              <a:ext uri="{FF2B5EF4-FFF2-40B4-BE49-F238E27FC236}">
                <a16:creationId xmlns:a16="http://schemas.microsoft.com/office/drawing/2014/main" id="{0D54CD1A-F2B4-FDA5-057D-0DF4D690F477}"/>
              </a:ext>
            </a:extLst>
          </p:cNvPr>
          <p:cNvGrpSpPr/>
          <p:nvPr/>
        </p:nvGrpSpPr>
        <p:grpSpPr>
          <a:xfrm>
            <a:off x="178991" y="2438573"/>
            <a:ext cx="3847606" cy="914400"/>
            <a:chOff x="285008" y="3313216"/>
            <a:chExt cx="3847606" cy="914400"/>
          </a:xfrm>
        </p:grpSpPr>
        <p:sp>
          <p:nvSpPr>
            <p:cNvPr id="36" name="Rectangle 35">
              <a:extLst>
                <a:ext uri="{FF2B5EF4-FFF2-40B4-BE49-F238E27FC236}">
                  <a16:creationId xmlns:a16="http://schemas.microsoft.com/office/drawing/2014/main" id="{23DC3DDB-85B2-5D7B-DEBE-2AE4B6949E24}"/>
                </a:ext>
              </a:extLst>
            </p:cNvPr>
            <p:cNvSpPr/>
            <p:nvPr/>
          </p:nvSpPr>
          <p:spPr>
            <a:xfrm>
              <a:off x="285008" y="3313216"/>
              <a:ext cx="377635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59190DD-BAB6-D004-B795-72A4597CBCEE}"/>
                </a:ext>
              </a:extLst>
            </p:cNvPr>
            <p:cNvSpPr txBox="1"/>
            <p:nvPr/>
          </p:nvSpPr>
          <p:spPr>
            <a:xfrm>
              <a:off x="475014" y="3420093"/>
              <a:ext cx="3657600" cy="707886"/>
            </a:xfrm>
            <a:prstGeom prst="rect">
              <a:avLst/>
            </a:prstGeom>
            <a:noFill/>
          </p:spPr>
          <p:txBody>
            <a:bodyPr wrap="square" rtlCol="0">
              <a:spAutoFit/>
            </a:bodyPr>
            <a:lstStyle/>
            <a:p>
              <a:r>
                <a:rPr lang="en-US" sz="2000" dirty="0">
                  <a:latin typeface="Times" pitchFamily="2" charset="0"/>
                </a:rPr>
                <a:t>*Both quantities are scalars, and both are measured in joules (J).</a:t>
              </a:r>
            </a:p>
          </p:txBody>
        </p:sp>
      </p:grpSp>
      <p:sp>
        <p:nvSpPr>
          <p:cNvPr id="38" name="Left Brace 37">
            <a:extLst>
              <a:ext uri="{FF2B5EF4-FFF2-40B4-BE49-F238E27FC236}">
                <a16:creationId xmlns:a16="http://schemas.microsoft.com/office/drawing/2014/main" id="{8A5ED3BF-D90B-5822-6A21-F7739F804FB7}"/>
              </a:ext>
            </a:extLst>
          </p:cNvPr>
          <p:cNvSpPr/>
          <p:nvPr/>
        </p:nvSpPr>
        <p:spPr>
          <a:xfrm rot="16200000">
            <a:off x="1079500" y="1333500"/>
            <a:ext cx="203200" cy="60960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8488395A-5820-5033-E27E-E7E750B828D0}"/>
              </a:ext>
            </a:extLst>
          </p:cNvPr>
          <p:cNvSpPr/>
          <p:nvPr/>
        </p:nvSpPr>
        <p:spPr>
          <a:xfrm rot="16200000">
            <a:off x="2120900" y="1333500"/>
            <a:ext cx="203200" cy="60960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FEAE90C5-8412-1655-E2E1-65AC1A86862A}"/>
              </a:ext>
            </a:extLst>
          </p:cNvPr>
          <p:cNvSpPr txBox="1"/>
          <p:nvPr/>
        </p:nvSpPr>
        <p:spPr>
          <a:xfrm>
            <a:off x="941466" y="1710753"/>
            <a:ext cx="876300" cy="369332"/>
          </a:xfrm>
          <a:prstGeom prst="rect">
            <a:avLst/>
          </a:prstGeom>
          <a:noFill/>
        </p:spPr>
        <p:txBody>
          <a:bodyPr wrap="square" rtlCol="0">
            <a:spAutoFit/>
          </a:bodyPr>
          <a:lstStyle/>
          <a:p>
            <a:r>
              <a:rPr lang="en-US" dirty="0" err="1">
                <a:latin typeface="Times" pitchFamily="2" charset="0"/>
              </a:rPr>
              <a:t>KE</a:t>
            </a:r>
            <a:r>
              <a:rPr lang="en-US" baseline="-25000" dirty="0" err="1">
                <a:latin typeface="Times" pitchFamily="2" charset="0"/>
              </a:rPr>
              <a:t>f</a:t>
            </a:r>
            <a:endParaRPr lang="en-US" dirty="0">
              <a:latin typeface="Times" pitchFamily="2" charset="0"/>
            </a:endParaRPr>
          </a:p>
        </p:txBody>
      </p:sp>
      <p:sp>
        <p:nvSpPr>
          <p:cNvPr id="41" name="TextBox 40">
            <a:extLst>
              <a:ext uri="{FF2B5EF4-FFF2-40B4-BE49-F238E27FC236}">
                <a16:creationId xmlns:a16="http://schemas.microsoft.com/office/drawing/2014/main" id="{EB2B64C5-54CF-3D24-9200-7975B7EE5B18}"/>
              </a:ext>
            </a:extLst>
          </p:cNvPr>
          <p:cNvSpPr txBox="1"/>
          <p:nvPr/>
        </p:nvSpPr>
        <p:spPr>
          <a:xfrm>
            <a:off x="1978285" y="1710753"/>
            <a:ext cx="876300" cy="369332"/>
          </a:xfrm>
          <a:prstGeom prst="rect">
            <a:avLst/>
          </a:prstGeom>
          <a:noFill/>
        </p:spPr>
        <p:txBody>
          <a:bodyPr wrap="square" rtlCol="0">
            <a:spAutoFit/>
          </a:bodyPr>
          <a:lstStyle/>
          <a:p>
            <a:r>
              <a:rPr lang="en-US" dirty="0">
                <a:latin typeface="Times" pitchFamily="2" charset="0"/>
              </a:rPr>
              <a:t>KE</a:t>
            </a:r>
            <a:r>
              <a:rPr lang="en-US" baseline="-25000" dirty="0">
                <a:latin typeface="Times" pitchFamily="2" charset="0"/>
              </a:rPr>
              <a:t>0</a:t>
            </a:r>
            <a:endParaRPr lang="en-US" dirty="0">
              <a:latin typeface="Times" pitchFamily="2" charset="0"/>
            </a:endParaRPr>
          </a:p>
        </p:txBody>
      </p:sp>
      <p:grpSp>
        <p:nvGrpSpPr>
          <p:cNvPr id="43" name="Group 42">
            <a:extLst>
              <a:ext uri="{FF2B5EF4-FFF2-40B4-BE49-F238E27FC236}">
                <a16:creationId xmlns:a16="http://schemas.microsoft.com/office/drawing/2014/main" id="{2792D028-CD08-3042-2FFC-9CF8E17FE5BA}"/>
              </a:ext>
            </a:extLst>
          </p:cNvPr>
          <p:cNvGrpSpPr/>
          <p:nvPr/>
        </p:nvGrpSpPr>
        <p:grpSpPr>
          <a:xfrm>
            <a:off x="265044" y="3803377"/>
            <a:ext cx="11688418" cy="2491406"/>
            <a:chOff x="265044" y="3803377"/>
            <a:chExt cx="11688418" cy="2491406"/>
          </a:xfrm>
        </p:grpSpPr>
        <p:grpSp>
          <p:nvGrpSpPr>
            <p:cNvPr id="28" name="Group 27">
              <a:extLst>
                <a:ext uri="{FF2B5EF4-FFF2-40B4-BE49-F238E27FC236}">
                  <a16:creationId xmlns:a16="http://schemas.microsoft.com/office/drawing/2014/main" id="{AD46052C-91B3-D880-8CCA-4D4DBE74D150}"/>
                </a:ext>
              </a:extLst>
            </p:cNvPr>
            <p:cNvGrpSpPr/>
            <p:nvPr/>
          </p:nvGrpSpPr>
          <p:grpSpPr>
            <a:xfrm>
              <a:off x="265044" y="3803377"/>
              <a:ext cx="11688418" cy="2491406"/>
              <a:chOff x="251791" y="4585256"/>
              <a:chExt cx="11688418" cy="2491406"/>
            </a:xfrm>
          </p:grpSpPr>
          <p:sp>
            <p:nvSpPr>
              <p:cNvPr id="17" name="TextBox 16">
                <a:extLst>
                  <a:ext uri="{FF2B5EF4-FFF2-40B4-BE49-F238E27FC236}">
                    <a16:creationId xmlns:a16="http://schemas.microsoft.com/office/drawing/2014/main" id="{7003A301-5B55-5179-8AA0-ACC8C28F2869}"/>
                  </a:ext>
                </a:extLst>
              </p:cNvPr>
              <p:cNvSpPr txBox="1"/>
              <p:nvPr/>
            </p:nvSpPr>
            <p:spPr>
              <a:xfrm>
                <a:off x="318052" y="4638265"/>
                <a:ext cx="5698435" cy="461665"/>
              </a:xfrm>
              <a:prstGeom prst="rect">
                <a:avLst/>
              </a:prstGeom>
              <a:noFill/>
            </p:spPr>
            <p:txBody>
              <a:bodyPr wrap="square" rtlCol="0">
                <a:spAutoFit/>
              </a:bodyPr>
              <a:lstStyle/>
              <a:p>
                <a:r>
                  <a:rPr lang="en-US" sz="2400" dirty="0">
                    <a:solidFill>
                      <a:srgbClr val="C00000"/>
                    </a:solidFill>
                    <a:latin typeface="Times" pitchFamily="2" charset="0"/>
                    <a:cs typeface="Times New Roman" panose="02020603050405020304" pitchFamily="18" charset="0"/>
                  </a:rPr>
                  <a:t>THE WORK-ENERGY THEOREM</a:t>
                </a:r>
              </a:p>
            </p:txBody>
          </p:sp>
          <p:sp>
            <p:nvSpPr>
              <p:cNvPr id="23" name="TextBox 22">
                <a:extLst>
                  <a:ext uri="{FF2B5EF4-FFF2-40B4-BE49-F238E27FC236}">
                    <a16:creationId xmlns:a16="http://schemas.microsoft.com/office/drawing/2014/main" id="{3D9CC616-2FFB-B48D-1306-9211E74608A0}"/>
                  </a:ext>
                </a:extLst>
              </p:cNvPr>
              <p:cNvSpPr txBox="1"/>
              <p:nvPr/>
            </p:nvSpPr>
            <p:spPr>
              <a:xfrm>
                <a:off x="331303" y="5043971"/>
                <a:ext cx="11569148" cy="1200329"/>
              </a:xfrm>
              <a:prstGeom prst="rect">
                <a:avLst/>
              </a:prstGeom>
              <a:noFill/>
            </p:spPr>
            <p:txBody>
              <a:bodyPr wrap="square">
                <a:spAutoFit/>
              </a:bodyPr>
              <a:lstStyle/>
              <a:p>
                <a:pPr algn="just"/>
                <a:r>
                  <a:rPr lang="en-US" sz="2400" dirty="0">
                    <a:latin typeface="Times" pitchFamily="2" charset="0"/>
                  </a:rPr>
                  <a:t>When a net external force does work W on an object, the kinetic energy of the object changes from its initial value of KE</a:t>
                </a:r>
                <a:r>
                  <a:rPr lang="en-US" sz="2400" baseline="-25000" dirty="0">
                    <a:latin typeface="Times" pitchFamily="2" charset="0"/>
                  </a:rPr>
                  <a:t>0</a:t>
                </a:r>
                <a:r>
                  <a:rPr lang="en-US" sz="2400" dirty="0">
                    <a:latin typeface="Times" pitchFamily="2" charset="0"/>
                  </a:rPr>
                  <a:t> to a final value of </a:t>
                </a:r>
                <a:r>
                  <a:rPr lang="en-US" sz="2400" dirty="0" err="1">
                    <a:latin typeface="Times" pitchFamily="2" charset="0"/>
                  </a:rPr>
                  <a:t>KE</a:t>
                </a:r>
                <a:r>
                  <a:rPr lang="en-US" sz="2400" baseline="-25000" dirty="0" err="1">
                    <a:latin typeface="Times" pitchFamily="2" charset="0"/>
                  </a:rPr>
                  <a:t>f</a:t>
                </a:r>
                <a:r>
                  <a:rPr lang="en-US" sz="2400" dirty="0">
                    <a:latin typeface="Times" pitchFamily="2" charset="0"/>
                  </a:rPr>
                  <a:t>, the difference between the two values being equal to the work:</a:t>
                </a:r>
              </a:p>
            </p:txBody>
          </p:sp>
          <p:sp>
            <p:nvSpPr>
              <p:cNvPr id="25" name="Rectangle 24">
                <a:extLst>
                  <a:ext uri="{FF2B5EF4-FFF2-40B4-BE49-F238E27FC236}">
                    <a16:creationId xmlns:a16="http://schemas.microsoft.com/office/drawing/2014/main" id="{C07A4242-4BFD-8019-D0E6-DD9A27B18C29}"/>
                  </a:ext>
                </a:extLst>
              </p:cNvPr>
              <p:cNvSpPr/>
              <p:nvPr/>
            </p:nvSpPr>
            <p:spPr>
              <a:xfrm>
                <a:off x="251791" y="4585256"/>
                <a:ext cx="11688418" cy="249140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824A309-BB50-A38C-001B-5255F83792BF}"/>
                  </a:ext>
                </a:extLst>
              </p:cNvPr>
              <p:cNvSpPr txBox="1"/>
              <p:nvPr/>
            </p:nvSpPr>
            <p:spPr>
              <a:xfrm>
                <a:off x="10522225" y="6255027"/>
                <a:ext cx="1338470" cy="400110"/>
              </a:xfrm>
              <a:prstGeom prst="rect">
                <a:avLst/>
              </a:prstGeom>
              <a:noFill/>
            </p:spPr>
            <p:txBody>
              <a:bodyPr wrap="square" rtlCol="0">
                <a:spAutoFit/>
              </a:bodyPr>
              <a:lstStyle/>
              <a:p>
                <a:r>
                  <a:rPr lang="en-US" sz="2000" dirty="0"/>
                  <a:t>(</a:t>
                </a:r>
                <a:r>
                  <a:rPr lang="en-US" sz="2000" b="1" dirty="0">
                    <a:latin typeface="Times" pitchFamily="2" charset="0"/>
                  </a:rPr>
                  <a:t>6.3</a:t>
                </a:r>
                <a:r>
                  <a:rPr lang="en-US" sz="2000" dirty="0"/>
                  <a:t>)</a:t>
                </a:r>
              </a:p>
            </p:txBody>
          </p:sp>
        </p:grpSp>
        <p:pic>
          <p:nvPicPr>
            <p:cNvPr id="42" name="Picture 41">
              <a:extLst>
                <a:ext uri="{FF2B5EF4-FFF2-40B4-BE49-F238E27FC236}">
                  <a16:creationId xmlns:a16="http://schemas.microsoft.com/office/drawing/2014/main" id="{E22962E2-E8CD-0000-6B23-BC008FBD38BC}"/>
                </a:ext>
              </a:extLst>
            </p:cNvPr>
            <p:cNvPicPr>
              <a:picLocks noChangeAspect="1"/>
            </p:cNvPicPr>
            <p:nvPr/>
          </p:nvPicPr>
          <p:blipFill>
            <a:blip r:embed="rId5"/>
            <a:stretch>
              <a:fillRect/>
            </a:stretch>
          </p:blipFill>
          <p:spPr>
            <a:xfrm>
              <a:off x="3670852" y="5348784"/>
              <a:ext cx="4747592" cy="594133"/>
            </a:xfrm>
            <a:prstGeom prst="rect">
              <a:avLst/>
            </a:prstGeom>
          </p:spPr>
        </p:pic>
      </p:grpSp>
    </p:spTree>
    <p:extLst>
      <p:ext uri="{BB962C8B-B14F-4D97-AF65-F5344CB8AC3E}">
        <p14:creationId xmlns:p14="http://schemas.microsoft.com/office/powerpoint/2010/main" val="3077657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dissolv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dissolv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dissolve">
                                      <p:cBhvr>
                                        <p:cTn id="36" dur="5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dissolv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dissolve">
                                      <p:cBhvr>
                                        <p:cTn id="4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9"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ACE20-0978-4D53-6552-1E9B02535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EE24A-1A99-F1CC-8BC2-E5CF5E72D597}"/>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sp>
        <p:nvSpPr>
          <p:cNvPr id="45" name="TextBox 44">
            <a:extLst>
              <a:ext uri="{FF2B5EF4-FFF2-40B4-BE49-F238E27FC236}">
                <a16:creationId xmlns:a16="http://schemas.microsoft.com/office/drawing/2014/main" id="{9B60C139-69F1-4BD5-052C-CCD04CAFF776}"/>
              </a:ext>
            </a:extLst>
          </p:cNvPr>
          <p:cNvSpPr txBox="1"/>
          <p:nvPr/>
        </p:nvSpPr>
        <p:spPr>
          <a:xfrm>
            <a:off x="520149" y="1235909"/>
            <a:ext cx="11234531" cy="1569660"/>
          </a:xfrm>
          <a:prstGeom prst="rect">
            <a:avLst/>
          </a:prstGeom>
          <a:noFill/>
        </p:spPr>
        <p:txBody>
          <a:bodyPr wrap="square">
            <a:spAutoFit/>
          </a:bodyPr>
          <a:lstStyle/>
          <a:p>
            <a:pPr algn="just"/>
            <a:r>
              <a:rPr lang="en-US" sz="2400" dirty="0">
                <a:latin typeface="Times" pitchFamily="2" charset="0"/>
              </a:rPr>
              <a:t>The </a:t>
            </a:r>
            <a:r>
              <a:rPr lang="en-US" sz="2400" b="1" dirty="0">
                <a:latin typeface="Times" pitchFamily="2" charset="0"/>
              </a:rPr>
              <a:t>work–energy theorem </a:t>
            </a:r>
            <a:r>
              <a:rPr lang="en-US" sz="2400" dirty="0">
                <a:latin typeface="Times" pitchFamily="2" charset="0"/>
              </a:rPr>
              <a:t>shows that a moving object possesses </a:t>
            </a:r>
            <a:r>
              <a:rPr lang="en-US" sz="2400" dirty="0">
                <a:solidFill>
                  <a:srgbClr val="007440"/>
                </a:solidFill>
                <a:latin typeface="Times" pitchFamily="2" charset="0"/>
              </a:rPr>
              <a:t>kinetic energy </a:t>
            </a:r>
            <a:r>
              <a:rPr lang="en-US" sz="2400" dirty="0">
                <a:latin typeface="Times" pitchFamily="2" charset="0"/>
              </a:rPr>
              <a:t>because </a:t>
            </a:r>
            <a:r>
              <a:rPr lang="en-US" sz="2400" dirty="0">
                <a:solidFill>
                  <a:srgbClr val="007440"/>
                </a:solidFill>
                <a:latin typeface="Times" pitchFamily="2" charset="0"/>
              </a:rPr>
              <a:t>work</a:t>
            </a:r>
            <a:r>
              <a:rPr lang="en-US" sz="2400" dirty="0">
                <a:latin typeface="Times" pitchFamily="2" charset="0"/>
              </a:rPr>
              <a:t> was done on the object to change its speed from one value to another. Conversely, an object with </a:t>
            </a:r>
            <a:r>
              <a:rPr lang="en-US" sz="2400" dirty="0">
                <a:solidFill>
                  <a:srgbClr val="007440"/>
                </a:solidFill>
                <a:latin typeface="Times" pitchFamily="2" charset="0"/>
              </a:rPr>
              <a:t>kinetic energy </a:t>
            </a:r>
            <a:r>
              <a:rPr lang="en-US" sz="2400" dirty="0">
                <a:latin typeface="Times" pitchFamily="2" charset="0"/>
              </a:rPr>
              <a:t>can do </a:t>
            </a:r>
            <a:r>
              <a:rPr lang="en-US" sz="2400" dirty="0">
                <a:solidFill>
                  <a:srgbClr val="007440"/>
                </a:solidFill>
                <a:latin typeface="Times" pitchFamily="2" charset="0"/>
              </a:rPr>
              <a:t>work</a:t>
            </a:r>
            <a:r>
              <a:rPr lang="en-US" sz="2400" dirty="0">
                <a:latin typeface="Times" pitchFamily="2" charset="0"/>
              </a:rPr>
              <a:t> by exerting a force (a push or pull) on another object as it moves – transferring some of its </a:t>
            </a:r>
            <a:r>
              <a:rPr lang="en-US" sz="2400" dirty="0">
                <a:solidFill>
                  <a:srgbClr val="007440"/>
                </a:solidFill>
                <a:latin typeface="Times" pitchFamily="2" charset="0"/>
              </a:rPr>
              <a:t>kinetic energy </a:t>
            </a:r>
            <a:r>
              <a:rPr lang="en-US" sz="2400" dirty="0">
                <a:latin typeface="Times" pitchFamily="2" charset="0"/>
              </a:rPr>
              <a:t>in the process.</a:t>
            </a:r>
          </a:p>
        </p:txBody>
      </p:sp>
      <p:sp>
        <p:nvSpPr>
          <p:cNvPr id="4" name="Rectangle 3">
            <a:extLst>
              <a:ext uri="{FF2B5EF4-FFF2-40B4-BE49-F238E27FC236}">
                <a16:creationId xmlns:a16="http://schemas.microsoft.com/office/drawing/2014/main" id="{FDFF5727-331B-56FF-7B0C-692698B25E1B}"/>
              </a:ext>
            </a:extLst>
          </p:cNvPr>
          <p:cNvSpPr/>
          <p:nvPr/>
        </p:nvSpPr>
        <p:spPr>
          <a:xfrm>
            <a:off x="410818" y="901148"/>
            <a:ext cx="11357113" cy="1948069"/>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CDF9A33-4D1B-9303-BA9E-35754A28908A}"/>
              </a:ext>
            </a:extLst>
          </p:cNvPr>
          <p:cNvSpPr txBox="1"/>
          <p:nvPr/>
        </p:nvSpPr>
        <p:spPr>
          <a:xfrm>
            <a:off x="530090" y="927652"/>
            <a:ext cx="3445564" cy="400110"/>
          </a:xfrm>
          <a:prstGeom prst="rect">
            <a:avLst/>
          </a:prstGeom>
          <a:noFill/>
        </p:spPr>
        <p:txBody>
          <a:bodyPr wrap="square" rtlCol="0">
            <a:spAutoFit/>
          </a:bodyPr>
          <a:lstStyle/>
          <a:p>
            <a:r>
              <a:rPr lang="en-US" sz="2000" dirty="0">
                <a:solidFill>
                  <a:srgbClr val="C0694F"/>
                </a:solidFill>
                <a:latin typeface="Times" pitchFamily="2" charset="0"/>
              </a:rPr>
              <a:t>Problem-Solving Insight</a:t>
            </a:r>
          </a:p>
        </p:txBody>
      </p:sp>
    </p:spTree>
    <p:extLst>
      <p:ext uri="{BB962C8B-B14F-4D97-AF65-F5344CB8AC3E}">
        <p14:creationId xmlns:p14="http://schemas.microsoft.com/office/powerpoint/2010/main" val="1646713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6C909-CACB-77DD-FE31-6C7380939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2B962-9478-C1E3-AA64-E8147F86B22D}"/>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grpSp>
        <p:nvGrpSpPr>
          <p:cNvPr id="3" name="Group 2">
            <a:extLst>
              <a:ext uri="{FF2B5EF4-FFF2-40B4-BE49-F238E27FC236}">
                <a16:creationId xmlns:a16="http://schemas.microsoft.com/office/drawing/2014/main" id="{6B632BFE-6F2A-1DA3-0C65-583931029EBB}"/>
              </a:ext>
            </a:extLst>
          </p:cNvPr>
          <p:cNvGrpSpPr/>
          <p:nvPr/>
        </p:nvGrpSpPr>
        <p:grpSpPr>
          <a:xfrm>
            <a:off x="897602" y="839960"/>
            <a:ext cx="10896832" cy="2489742"/>
            <a:chOff x="966653" y="1815738"/>
            <a:chExt cx="10896832" cy="2489742"/>
          </a:xfrm>
        </p:grpSpPr>
        <p:sp>
          <p:nvSpPr>
            <p:cNvPr id="6" name="TextBox 5">
              <a:extLst>
                <a:ext uri="{FF2B5EF4-FFF2-40B4-BE49-F238E27FC236}">
                  <a16:creationId xmlns:a16="http://schemas.microsoft.com/office/drawing/2014/main" id="{EEEF179C-4742-BDEE-A1EC-63A43823ADBA}"/>
                </a:ext>
              </a:extLst>
            </p:cNvPr>
            <p:cNvSpPr txBox="1"/>
            <p:nvPr/>
          </p:nvSpPr>
          <p:spPr>
            <a:xfrm>
              <a:off x="966653" y="1815738"/>
              <a:ext cx="8658610" cy="523220"/>
            </a:xfrm>
            <a:prstGeom prst="rect">
              <a:avLst/>
            </a:prstGeom>
            <a:noFill/>
          </p:spPr>
          <p:txBody>
            <a:bodyPr wrap="square" rtlCol="0">
              <a:spAutoFit/>
            </a:bodyPr>
            <a:lstStyle/>
            <a:p>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0FE3EC10-6AA7-DFD4-DA7E-959FE93E49E5}"/>
                </a:ext>
              </a:extLst>
            </p:cNvPr>
            <p:cNvSpPr txBox="1"/>
            <p:nvPr/>
          </p:nvSpPr>
          <p:spPr>
            <a:xfrm>
              <a:off x="982694" y="2366488"/>
              <a:ext cx="10880791" cy="1938992"/>
            </a:xfrm>
            <a:prstGeom prst="rect">
              <a:avLst/>
            </a:prstGeom>
            <a:noFill/>
          </p:spPr>
          <p:txBody>
            <a:bodyPr wrap="square">
              <a:spAutoFit/>
            </a:bodyPr>
            <a:lstStyle/>
            <a:p>
              <a:pPr algn="just"/>
              <a:r>
                <a:rPr lang="en-US" sz="2400" dirty="0">
                  <a:effectLst/>
                  <a:latin typeface="Times" pitchFamily="2" charset="0"/>
                </a:rPr>
                <a:t>A 58-kg skier is coasting down a 25° slope, as the figure shows. Near the top of the slope, her speed is 3.6 m/s. She accelerates down the slope because of the gravitational force, even though a kinetic frictional force of opposes her motion. The coefficient of kinetic friction is </a:t>
              </a:r>
              <a:r>
                <a:rPr lang="en-US" sz="2400" i="1" dirty="0" err="1">
                  <a:effectLst/>
                  <a:latin typeface="Symbol" pitchFamily="2" charset="2"/>
                </a:rPr>
                <a:t>m</a:t>
              </a:r>
              <a:r>
                <a:rPr lang="en-US" sz="2400" baseline="-25000" dirty="0" err="1">
                  <a:effectLst/>
                  <a:latin typeface="Times" pitchFamily="2" charset="0"/>
                </a:rPr>
                <a:t>k</a:t>
              </a:r>
              <a:r>
                <a:rPr lang="en-US" sz="2400" dirty="0">
                  <a:effectLst/>
                  <a:latin typeface="Times" pitchFamily="2" charset="0"/>
                </a:rPr>
                <a:t> = 0.14. Ignoring air resistance, determine the speed at a point that is displaced 57 m downhill.</a:t>
              </a:r>
            </a:p>
          </p:txBody>
        </p:sp>
      </p:grpSp>
      <p:pic>
        <p:nvPicPr>
          <p:cNvPr id="9" name="Picture 8">
            <a:extLst>
              <a:ext uri="{FF2B5EF4-FFF2-40B4-BE49-F238E27FC236}">
                <a16:creationId xmlns:a16="http://schemas.microsoft.com/office/drawing/2014/main" id="{5D1DA6B8-78B8-0C09-6634-51D8EDE0B48E}"/>
              </a:ext>
            </a:extLst>
          </p:cNvPr>
          <p:cNvPicPr>
            <a:picLocks noChangeAspect="1"/>
          </p:cNvPicPr>
          <p:nvPr/>
        </p:nvPicPr>
        <p:blipFill>
          <a:blip r:embed="rId3"/>
          <a:srcRect t="15793" r="52172" b="11757"/>
          <a:stretch/>
        </p:blipFill>
        <p:spPr>
          <a:xfrm>
            <a:off x="159027" y="3702710"/>
            <a:ext cx="3631096" cy="2578819"/>
          </a:xfrm>
          <a:prstGeom prst="rect">
            <a:avLst/>
          </a:prstGeom>
        </p:spPr>
      </p:pic>
      <p:grpSp>
        <p:nvGrpSpPr>
          <p:cNvPr id="4" name="Group 3">
            <a:extLst>
              <a:ext uri="{FF2B5EF4-FFF2-40B4-BE49-F238E27FC236}">
                <a16:creationId xmlns:a16="http://schemas.microsoft.com/office/drawing/2014/main" id="{48F1437C-05DA-D603-3279-F57A88C17B69}"/>
              </a:ext>
            </a:extLst>
          </p:cNvPr>
          <p:cNvGrpSpPr/>
          <p:nvPr/>
        </p:nvGrpSpPr>
        <p:grpSpPr>
          <a:xfrm>
            <a:off x="3829879" y="3684104"/>
            <a:ext cx="8229599" cy="2584174"/>
            <a:chOff x="3829879" y="3684104"/>
            <a:chExt cx="8229599" cy="2584174"/>
          </a:xfrm>
        </p:grpSpPr>
        <p:sp>
          <p:nvSpPr>
            <p:cNvPr id="10" name="TextBox 9">
              <a:extLst>
                <a:ext uri="{FF2B5EF4-FFF2-40B4-BE49-F238E27FC236}">
                  <a16:creationId xmlns:a16="http://schemas.microsoft.com/office/drawing/2014/main" id="{C38EB68D-6698-30D4-EAA7-22F11EB0BC02}"/>
                </a:ext>
              </a:extLst>
            </p:cNvPr>
            <p:cNvSpPr txBox="1"/>
            <p:nvPr/>
          </p:nvSpPr>
          <p:spPr>
            <a:xfrm>
              <a:off x="3869636" y="4929809"/>
              <a:ext cx="8163338" cy="1323439"/>
            </a:xfrm>
            <a:prstGeom prst="rect">
              <a:avLst/>
            </a:prstGeom>
            <a:noFill/>
          </p:spPr>
          <p:txBody>
            <a:bodyPr wrap="square" rtlCol="0">
              <a:spAutoFit/>
            </a:bodyPr>
            <a:lstStyle/>
            <a:p>
              <a:pPr algn="just"/>
              <a:r>
                <a:rPr lang="en-US" sz="2000" dirty="0">
                  <a:latin typeface="Times" pitchFamily="2" charset="0"/>
                </a:rPr>
                <a:t>Here, we use the </a:t>
              </a:r>
              <a:r>
                <a:rPr lang="en-US" sz="2000" dirty="0">
                  <a:solidFill>
                    <a:srgbClr val="007440"/>
                  </a:solidFill>
                  <a:latin typeface="Times" pitchFamily="2" charset="0"/>
                </a:rPr>
                <a:t>work–energy theorem</a:t>
              </a:r>
              <a:r>
                <a:rPr lang="en-US" sz="2000" dirty="0">
                  <a:latin typeface="Times" pitchFamily="2" charset="0"/>
                </a:rPr>
                <a:t>. As the skier's speed changes, so does her kinetic energy. According to the work–energy theorem, this change in kinetic energy equals the net work done on her by the net force acting along the direction of her displacement.</a:t>
              </a:r>
            </a:p>
          </p:txBody>
        </p:sp>
        <p:sp>
          <p:nvSpPr>
            <p:cNvPr id="11" name="TextBox 10">
              <a:extLst>
                <a:ext uri="{FF2B5EF4-FFF2-40B4-BE49-F238E27FC236}">
                  <a16:creationId xmlns:a16="http://schemas.microsoft.com/office/drawing/2014/main" id="{1CCC1D17-3A0D-A47A-9ABF-96671A0BE3BE}"/>
                </a:ext>
              </a:extLst>
            </p:cNvPr>
            <p:cNvSpPr txBox="1"/>
            <p:nvPr/>
          </p:nvSpPr>
          <p:spPr>
            <a:xfrm>
              <a:off x="3829879" y="3717235"/>
              <a:ext cx="8110330" cy="1015663"/>
            </a:xfrm>
            <a:prstGeom prst="rect">
              <a:avLst/>
            </a:prstGeom>
            <a:noFill/>
          </p:spPr>
          <p:txBody>
            <a:bodyPr wrap="square" rtlCol="0">
              <a:spAutoFit/>
            </a:bodyPr>
            <a:lstStyle/>
            <a:p>
              <a:pPr algn="just"/>
              <a:r>
                <a:rPr lang="en-US" sz="2000" dirty="0">
                  <a:latin typeface="Times" pitchFamily="2" charset="0"/>
                </a:rPr>
                <a:t>*We have solved problems like this before in Chapter 04.  This is a nonequilibrium problem, where we could apply Newton’s second law and the equations of kinematics to solve for the skier’s final speed.  </a:t>
              </a:r>
            </a:p>
          </p:txBody>
        </p:sp>
        <p:sp>
          <p:nvSpPr>
            <p:cNvPr id="12" name="Rectangle 11">
              <a:extLst>
                <a:ext uri="{FF2B5EF4-FFF2-40B4-BE49-F238E27FC236}">
                  <a16:creationId xmlns:a16="http://schemas.microsoft.com/office/drawing/2014/main" id="{5E425E78-B2DB-B8F3-B56D-6E8FB6E6F70B}"/>
                </a:ext>
              </a:extLst>
            </p:cNvPr>
            <p:cNvSpPr/>
            <p:nvPr/>
          </p:nvSpPr>
          <p:spPr>
            <a:xfrm>
              <a:off x="3843130" y="3684104"/>
              <a:ext cx="8216348" cy="2584174"/>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4231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A18E6-F4F3-CD20-3B76-1B5827938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72E6F-D45A-A5DB-4B5F-8C560918BC19}"/>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grpSp>
        <p:nvGrpSpPr>
          <p:cNvPr id="3" name="Group 2">
            <a:extLst>
              <a:ext uri="{FF2B5EF4-FFF2-40B4-BE49-F238E27FC236}">
                <a16:creationId xmlns:a16="http://schemas.microsoft.com/office/drawing/2014/main" id="{83882992-E0A6-9D58-ECC9-DB9F1213BCC1}"/>
              </a:ext>
            </a:extLst>
          </p:cNvPr>
          <p:cNvGrpSpPr/>
          <p:nvPr/>
        </p:nvGrpSpPr>
        <p:grpSpPr>
          <a:xfrm>
            <a:off x="897602" y="839960"/>
            <a:ext cx="10896832" cy="1751079"/>
            <a:chOff x="966653" y="1815738"/>
            <a:chExt cx="10896832" cy="1751079"/>
          </a:xfrm>
        </p:grpSpPr>
        <p:sp>
          <p:nvSpPr>
            <p:cNvPr id="6" name="TextBox 5">
              <a:extLst>
                <a:ext uri="{FF2B5EF4-FFF2-40B4-BE49-F238E27FC236}">
                  <a16:creationId xmlns:a16="http://schemas.microsoft.com/office/drawing/2014/main" id="{529D61DE-90B3-B594-8177-D7718B88E2E7}"/>
                </a:ext>
              </a:extLst>
            </p:cNvPr>
            <p:cNvSpPr txBox="1"/>
            <p:nvPr/>
          </p:nvSpPr>
          <p:spPr>
            <a:xfrm>
              <a:off x="966653" y="1815738"/>
              <a:ext cx="8658610" cy="523220"/>
            </a:xfrm>
            <a:prstGeom prst="rect">
              <a:avLst/>
            </a:prstGeom>
            <a:noFill/>
          </p:spPr>
          <p:txBody>
            <a:bodyPr wrap="square" rtlCol="0">
              <a:spAutoFit/>
            </a:bodyPr>
            <a:lstStyle/>
            <a:p>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DCD08C44-83E3-0BAB-6589-EB255D9EDBF9}"/>
                </a:ext>
              </a:extLst>
            </p:cNvPr>
            <p:cNvSpPr txBox="1"/>
            <p:nvPr/>
          </p:nvSpPr>
          <p:spPr>
            <a:xfrm>
              <a:off x="3408599" y="2366488"/>
              <a:ext cx="8454886" cy="1200329"/>
            </a:xfrm>
            <a:prstGeom prst="rect">
              <a:avLst/>
            </a:prstGeom>
            <a:noFill/>
          </p:spPr>
          <p:txBody>
            <a:bodyPr wrap="square">
              <a:spAutoFit/>
            </a:bodyPr>
            <a:lstStyle/>
            <a:p>
              <a:pPr algn="just"/>
              <a:r>
                <a:rPr lang="en-US" sz="2400" dirty="0">
                  <a:effectLst/>
                  <a:latin typeface="Times" pitchFamily="2" charset="0"/>
                </a:rPr>
                <a:t>We begin by drawing th</a:t>
              </a:r>
              <a:r>
                <a:rPr lang="en-US" sz="2400" dirty="0">
                  <a:latin typeface="Times" pitchFamily="2" charset="0"/>
                </a:rPr>
                <a:t>e FBD showing the forces that act on the skier.  Since we are on an incline, we rotate our coordinate system, so that the </a:t>
              </a:r>
              <a:r>
                <a:rPr lang="en-US" sz="2400" i="1" dirty="0">
                  <a:latin typeface="Times" pitchFamily="2" charset="0"/>
                </a:rPr>
                <a:t>x</a:t>
              </a:r>
              <a:r>
                <a:rPr lang="en-US" sz="2400" dirty="0">
                  <a:latin typeface="Times" pitchFamily="2" charset="0"/>
                </a:rPr>
                <a:t> axis is along the incline, and the </a:t>
              </a:r>
              <a:r>
                <a:rPr lang="en-US" sz="2400" i="1" dirty="0">
                  <a:latin typeface="Times" pitchFamily="2" charset="0"/>
                </a:rPr>
                <a:t>y</a:t>
              </a:r>
              <a:r>
                <a:rPr lang="en-US" sz="2400" dirty="0">
                  <a:latin typeface="Times" pitchFamily="2" charset="0"/>
                </a:rPr>
                <a:t> perpendicular to it.</a:t>
              </a:r>
              <a:endParaRPr lang="en-US" sz="2400" dirty="0">
                <a:effectLst/>
                <a:latin typeface="Times" pitchFamily="2" charset="0"/>
              </a:endParaRPr>
            </a:p>
          </p:txBody>
        </p:sp>
      </p:grpSp>
      <p:pic>
        <p:nvPicPr>
          <p:cNvPr id="9" name="Picture 8">
            <a:extLst>
              <a:ext uri="{FF2B5EF4-FFF2-40B4-BE49-F238E27FC236}">
                <a16:creationId xmlns:a16="http://schemas.microsoft.com/office/drawing/2014/main" id="{5826D3EB-F994-368F-5AD6-85E98266FCD4}"/>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F97A7679-2D58-AAD8-DF33-0645E112C35B}"/>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D1D14CE1-CF5D-A7F9-B7C2-041C16AC8C55}"/>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17E91A33-E828-6080-EEC1-6B0434F67F02}"/>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5599C51-79A4-1B4F-9542-A0871595C131}"/>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A1C8D5D-D2F4-46E4-85EF-CD81A5360070}"/>
                </a:ext>
              </a:extLst>
            </p:cNvPr>
            <p:cNvSpPr txBox="1"/>
            <p:nvPr/>
          </p:nvSpPr>
          <p:spPr>
            <a:xfrm>
              <a:off x="5168348" y="4611756"/>
              <a:ext cx="781878" cy="400110"/>
            </a:xfrm>
            <a:prstGeom prst="rect">
              <a:avLst/>
            </a:prstGeom>
            <a:noFill/>
          </p:spPr>
          <p:txBody>
            <a:bodyPr wrap="square" rtlCol="0">
              <a:spAutoFit/>
            </a:bodyPr>
            <a:lstStyle/>
            <a:p>
              <a:r>
                <a:rPr lang="en-US" sz="2000" i="1" dirty="0">
                  <a:latin typeface="Times" pitchFamily="2" charset="0"/>
                </a:rPr>
                <a:t>+x</a:t>
              </a:r>
            </a:p>
          </p:txBody>
        </p:sp>
        <p:sp>
          <p:nvSpPr>
            <p:cNvPr id="18" name="TextBox 17">
              <a:extLst>
                <a:ext uri="{FF2B5EF4-FFF2-40B4-BE49-F238E27FC236}">
                  <a16:creationId xmlns:a16="http://schemas.microsoft.com/office/drawing/2014/main" id="{5120B4BD-A3F4-0879-E543-960918672E67}"/>
                </a:ext>
              </a:extLst>
            </p:cNvPr>
            <p:cNvSpPr txBox="1"/>
            <p:nvPr/>
          </p:nvSpPr>
          <p:spPr>
            <a:xfrm>
              <a:off x="4790662" y="3597965"/>
              <a:ext cx="781878" cy="400110"/>
            </a:xfrm>
            <a:prstGeom prst="rect">
              <a:avLst/>
            </a:prstGeom>
            <a:noFill/>
          </p:spPr>
          <p:txBody>
            <a:bodyPr wrap="square" rtlCol="0">
              <a:spAutoFit/>
            </a:bodyPr>
            <a:lstStyle/>
            <a:p>
              <a:r>
                <a:rPr lang="en-US" sz="2000" i="1" dirty="0">
                  <a:latin typeface="Times" pitchFamily="2" charset="0"/>
                </a:rPr>
                <a:t>+y</a:t>
              </a:r>
            </a:p>
          </p:txBody>
        </p:sp>
      </p:grpSp>
      <p:sp>
        <p:nvSpPr>
          <p:cNvPr id="20" name="TextBox 19">
            <a:extLst>
              <a:ext uri="{FF2B5EF4-FFF2-40B4-BE49-F238E27FC236}">
                <a16:creationId xmlns:a16="http://schemas.microsoft.com/office/drawing/2014/main" id="{AA389FEE-31CF-62EA-5703-654F8DC0EB36}"/>
              </a:ext>
            </a:extLst>
          </p:cNvPr>
          <p:cNvSpPr txBox="1"/>
          <p:nvPr/>
        </p:nvSpPr>
        <p:spPr>
          <a:xfrm>
            <a:off x="3359426" y="2696050"/>
            <a:ext cx="8454886" cy="830997"/>
          </a:xfrm>
          <a:prstGeom prst="rect">
            <a:avLst/>
          </a:prstGeom>
          <a:noFill/>
        </p:spPr>
        <p:txBody>
          <a:bodyPr wrap="square">
            <a:spAutoFit/>
          </a:bodyPr>
          <a:lstStyle/>
          <a:p>
            <a:pPr algn="just"/>
            <a:r>
              <a:rPr lang="en-US" sz="2400" dirty="0">
                <a:effectLst/>
                <a:latin typeface="Times" pitchFamily="2" charset="0"/>
              </a:rPr>
              <a:t>There are 3 forces that act on the skier:  </a:t>
            </a:r>
            <a:r>
              <a:rPr lang="en-US" sz="2400" dirty="0">
                <a:solidFill>
                  <a:srgbClr val="2326C0"/>
                </a:solidFill>
                <a:effectLst/>
                <a:latin typeface="Times" pitchFamily="2" charset="0"/>
              </a:rPr>
              <a:t>Weight</a:t>
            </a:r>
            <a:r>
              <a:rPr lang="en-US" sz="2400" dirty="0">
                <a:effectLst/>
                <a:latin typeface="Times" pitchFamily="2" charset="0"/>
              </a:rPr>
              <a:t>, </a:t>
            </a:r>
            <a:r>
              <a:rPr lang="en-US" sz="2400" dirty="0">
                <a:solidFill>
                  <a:srgbClr val="2326C0"/>
                </a:solidFill>
                <a:effectLst/>
                <a:latin typeface="Times" pitchFamily="2" charset="0"/>
              </a:rPr>
              <a:t>Normal Force</a:t>
            </a:r>
            <a:r>
              <a:rPr lang="en-US" sz="2400" dirty="0">
                <a:effectLst/>
                <a:latin typeface="Times" pitchFamily="2" charset="0"/>
              </a:rPr>
              <a:t>, and </a:t>
            </a:r>
            <a:r>
              <a:rPr lang="en-US" sz="2400" dirty="0">
                <a:solidFill>
                  <a:srgbClr val="2326C0"/>
                </a:solidFill>
                <a:effectLst/>
                <a:latin typeface="Times" pitchFamily="2" charset="0"/>
              </a:rPr>
              <a:t>Kinetic Friction</a:t>
            </a:r>
            <a:r>
              <a:rPr lang="en-US" sz="2400" dirty="0">
                <a:effectLst/>
                <a:latin typeface="Times" pitchFamily="2" charset="0"/>
              </a:rPr>
              <a:t>.</a:t>
            </a:r>
          </a:p>
        </p:txBody>
      </p:sp>
      <p:sp>
        <p:nvSpPr>
          <p:cNvPr id="21" name="TextBox 20">
            <a:extLst>
              <a:ext uri="{FF2B5EF4-FFF2-40B4-BE49-F238E27FC236}">
                <a16:creationId xmlns:a16="http://schemas.microsoft.com/office/drawing/2014/main" id="{A4A15B31-C5B7-38F1-179B-E4E38580147F}"/>
              </a:ext>
            </a:extLst>
          </p:cNvPr>
          <p:cNvSpPr txBox="1"/>
          <p:nvPr/>
        </p:nvSpPr>
        <p:spPr>
          <a:xfrm>
            <a:off x="2729948" y="3656832"/>
            <a:ext cx="8454886" cy="461665"/>
          </a:xfrm>
          <a:prstGeom prst="rect">
            <a:avLst/>
          </a:prstGeom>
          <a:noFill/>
        </p:spPr>
        <p:txBody>
          <a:bodyPr wrap="square">
            <a:spAutoFit/>
          </a:bodyPr>
          <a:lstStyle/>
          <a:p>
            <a:pPr algn="just"/>
            <a:r>
              <a:rPr lang="en-US" sz="2400" dirty="0">
                <a:latin typeface="Times" pitchFamily="2" charset="0"/>
              </a:rPr>
              <a:t>Applying the work-energy theorem (Equation 6.3):</a:t>
            </a:r>
            <a:endParaRPr lang="en-US" sz="2400" dirty="0">
              <a:effectLst/>
              <a:latin typeface="Times" pitchFamily="2" charset="0"/>
            </a:endParaRPr>
          </a:p>
        </p:txBody>
      </p:sp>
      <p:pic>
        <p:nvPicPr>
          <p:cNvPr id="22" name="Picture 21">
            <a:extLst>
              <a:ext uri="{FF2B5EF4-FFF2-40B4-BE49-F238E27FC236}">
                <a16:creationId xmlns:a16="http://schemas.microsoft.com/office/drawing/2014/main" id="{C8265F21-5622-75FB-BDBD-EECA6664E763}"/>
              </a:ext>
            </a:extLst>
          </p:cNvPr>
          <p:cNvPicPr>
            <a:picLocks noChangeAspect="1"/>
          </p:cNvPicPr>
          <p:nvPr/>
        </p:nvPicPr>
        <p:blipFill>
          <a:blip r:embed="rId4"/>
          <a:stretch>
            <a:fillRect/>
          </a:stretch>
        </p:blipFill>
        <p:spPr>
          <a:xfrm>
            <a:off x="9250016" y="3535790"/>
            <a:ext cx="2600739" cy="671858"/>
          </a:xfrm>
          <a:prstGeom prst="rect">
            <a:avLst/>
          </a:prstGeom>
        </p:spPr>
      </p:pic>
      <p:sp>
        <p:nvSpPr>
          <p:cNvPr id="23" name="TextBox 22">
            <a:extLst>
              <a:ext uri="{FF2B5EF4-FFF2-40B4-BE49-F238E27FC236}">
                <a16:creationId xmlns:a16="http://schemas.microsoft.com/office/drawing/2014/main" id="{3295D8F5-17F5-61FC-0455-EB4318C95D48}"/>
              </a:ext>
            </a:extLst>
          </p:cNvPr>
          <p:cNvSpPr txBox="1"/>
          <p:nvPr/>
        </p:nvSpPr>
        <p:spPr>
          <a:xfrm>
            <a:off x="3147392" y="4498345"/>
            <a:ext cx="8454886" cy="461665"/>
          </a:xfrm>
          <a:prstGeom prst="rect">
            <a:avLst/>
          </a:prstGeom>
          <a:noFill/>
        </p:spPr>
        <p:txBody>
          <a:bodyPr wrap="square">
            <a:spAutoFit/>
          </a:bodyPr>
          <a:lstStyle/>
          <a:p>
            <a:pPr algn="just"/>
            <a:r>
              <a:rPr lang="en-US" sz="2400" dirty="0">
                <a:latin typeface="Times" pitchFamily="2" charset="0"/>
              </a:rPr>
              <a:t>To calculate the work done, we use Equation 6.1:</a:t>
            </a:r>
            <a:endParaRPr lang="en-US" sz="2400" dirty="0">
              <a:effectLst/>
              <a:latin typeface="Times" pitchFamily="2" charset="0"/>
            </a:endParaRPr>
          </a:p>
        </p:txBody>
      </p:sp>
      <p:sp>
        <p:nvSpPr>
          <p:cNvPr id="24" name="TextBox 23">
            <a:extLst>
              <a:ext uri="{FF2B5EF4-FFF2-40B4-BE49-F238E27FC236}">
                <a16:creationId xmlns:a16="http://schemas.microsoft.com/office/drawing/2014/main" id="{FD46C580-E3D2-4DA9-B524-61C83DF5FBB1}"/>
              </a:ext>
            </a:extLst>
          </p:cNvPr>
          <p:cNvSpPr txBox="1"/>
          <p:nvPr/>
        </p:nvSpPr>
        <p:spPr>
          <a:xfrm>
            <a:off x="9342784" y="4505729"/>
            <a:ext cx="2438399" cy="461665"/>
          </a:xfrm>
          <a:prstGeom prst="rect">
            <a:avLst/>
          </a:prstGeom>
          <a:noFill/>
        </p:spPr>
        <p:txBody>
          <a:bodyPr wrap="square" rtlCol="0">
            <a:spAutoFit/>
          </a:bodyPr>
          <a:lstStyle/>
          <a:p>
            <a:r>
              <a:rPr lang="en-US" sz="2400" i="1" dirty="0">
                <a:latin typeface="Times" pitchFamily="2" charset="0"/>
              </a:rPr>
              <a:t>W</a:t>
            </a:r>
            <a:r>
              <a:rPr lang="en-US" sz="2400" dirty="0">
                <a:latin typeface="Times" pitchFamily="2" charset="0"/>
              </a:rPr>
              <a:t> = (</a:t>
            </a:r>
            <a:r>
              <a:rPr lang="en-US" sz="2400" i="1" dirty="0" err="1">
                <a:latin typeface="Times" pitchFamily="2" charset="0"/>
              </a:rPr>
              <a:t>F</a:t>
            </a:r>
            <a:r>
              <a:rPr lang="en-US" sz="2400" dirty="0" err="1">
                <a:latin typeface="Times" pitchFamily="2" charset="0"/>
              </a:rPr>
              <a:t>cos</a:t>
            </a:r>
            <a:r>
              <a:rPr lang="en-US" sz="2400" i="1" dirty="0" err="1">
                <a:latin typeface="Symbol" pitchFamily="2" charset="2"/>
              </a:rPr>
              <a:t>q</a:t>
            </a:r>
            <a:r>
              <a:rPr lang="en-US" sz="2400" dirty="0">
                <a:latin typeface="Times" pitchFamily="2" charset="0"/>
              </a:rPr>
              <a:t>)(</a:t>
            </a:r>
            <a:r>
              <a:rPr lang="en-US" sz="2400" i="1" dirty="0">
                <a:latin typeface="Times" pitchFamily="2" charset="0"/>
              </a:rPr>
              <a:t>s</a:t>
            </a:r>
            <a:r>
              <a:rPr lang="en-US" sz="2400" dirty="0">
                <a:latin typeface="Times" pitchFamily="2" charset="0"/>
              </a:rPr>
              <a:t>)</a:t>
            </a:r>
          </a:p>
        </p:txBody>
      </p:sp>
      <p:grpSp>
        <p:nvGrpSpPr>
          <p:cNvPr id="28" name="Group 27">
            <a:extLst>
              <a:ext uri="{FF2B5EF4-FFF2-40B4-BE49-F238E27FC236}">
                <a16:creationId xmlns:a16="http://schemas.microsoft.com/office/drawing/2014/main" id="{F00847C4-7CC0-18A3-0E44-E4E18995460E}"/>
              </a:ext>
            </a:extLst>
          </p:cNvPr>
          <p:cNvGrpSpPr/>
          <p:nvPr/>
        </p:nvGrpSpPr>
        <p:grpSpPr>
          <a:xfrm>
            <a:off x="3154018" y="5180832"/>
            <a:ext cx="8454886" cy="830997"/>
            <a:chOff x="3154018" y="5180832"/>
            <a:chExt cx="8454886" cy="830997"/>
          </a:xfrm>
        </p:grpSpPr>
        <p:sp>
          <p:nvSpPr>
            <p:cNvPr id="25" name="TextBox 24">
              <a:extLst>
                <a:ext uri="{FF2B5EF4-FFF2-40B4-BE49-F238E27FC236}">
                  <a16:creationId xmlns:a16="http://schemas.microsoft.com/office/drawing/2014/main" id="{C7782CBF-A5DC-FBCA-39D6-2FCDCE6283BD}"/>
                </a:ext>
              </a:extLst>
            </p:cNvPr>
            <p:cNvSpPr txBox="1"/>
            <p:nvPr/>
          </p:nvSpPr>
          <p:spPr>
            <a:xfrm>
              <a:off x="3154018" y="5180832"/>
              <a:ext cx="8454886" cy="830997"/>
            </a:xfrm>
            <a:prstGeom prst="rect">
              <a:avLst/>
            </a:prstGeom>
            <a:noFill/>
          </p:spPr>
          <p:txBody>
            <a:bodyPr wrap="square">
              <a:spAutoFit/>
            </a:bodyPr>
            <a:lstStyle/>
            <a:p>
              <a:pPr marL="1544638" indent="-1544638" algn="just"/>
              <a:r>
                <a:rPr lang="en-US" sz="2400" dirty="0">
                  <a:latin typeface="Times" pitchFamily="2" charset="0"/>
                </a:rPr>
                <a:t>*Note:  </a:t>
              </a:r>
              <a:r>
                <a:rPr lang="en-US" sz="2400" i="1" dirty="0">
                  <a:latin typeface="Symbol" pitchFamily="2" charset="2"/>
                </a:rPr>
                <a:t>q</a:t>
              </a:r>
              <a:r>
                <a:rPr lang="en-US" sz="2400" dirty="0">
                  <a:latin typeface="Times" pitchFamily="2" charset="0"/>
                </a:rPr>
                <a:t> is </a:t>
              </a:r>
              <a:r>
                <a:rPr lang="en-US" sz="2400" u="sng" dirty="0">
                  <a:latin typeface="Times" pitchFamily="2" charset="0"/>
                </a:rPr>
                <a:t>not</a:t>
              </a:r>
              <a:r>
                <a:rPr lang="en-US" sz="2400" dirty="0">
                  <a:latin typeface="Times" pitchFamily="2" charset="0"/>
                </a:rPr>
                <a:t> the angle of the incline, but the angle between the doing the work and the displacement.</a:t>
              </a:r>
              <a:endParaRPr lang="en-US" sz="2400" dirty="0">
                <a:effectLst/>
                <a:latin typeface="Times" pitchFamily="2" charset="0"/>
              </a:endParaRPr>
            </a:p>
          </p:txBody>
        </p:sp>
        <p:sp>
          <p:nvSpPr>
            <p:cNvPr id="26" name="Rounded Rectangle 25">
              <a:extLst>
                <a:ext uri="{FF2B5EF4-FFF2-40B4-BE49-F238E27FC236}">
                  <a16:creationId xmlns:a16="http://schemas.microsoft.com/office/drawing/2014/main" id="{DD176212-6AE6-2004-1703-606F5ECBFCA5}"/>
                </a:ext>
              </a:extLst>
            </p:cNvPr>
            <p:cNvSpPr/>
            <p:nvPr/>
          </p:nvSpPr>
          <p:spPr>
            <a:xfrm>
              <a:off x="3299792" y="5592416"/>
              <a:ext cx="1431235"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5A300F7C-DBFA-FBA8-97A0-F79A37D3A8DE}"/>
              </a:ext>
            </a:extLst>
          </p:cNvPr>
          <p:cNvSpPr txBox="1"/>
          <p:nvPr/>
        </p:nvSpPr>
        <p:spPr>
          <a:xfrm>
            <a:off x="3273288" y="5592417"/>
            <a:ext cx="1590261"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net force</a:t>
            </a:r>
          </a:p>
        </p:txBody>
      </p:sp>
    </p:spTree>
    <p:extLst>
      <p:ext uri="{BB962C8B-B14F-4D97-AF65-F5344CB8AC3E}">
        <p14:creationId xmlns:p14="http://schemas.microsoft.com/office/powerpoint/2010/main" val="141610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dissolve">
                                      <p:cBhvr>
                                        <p:cTn id="21" dur="500"/>
                                        <p:tgtEl>
                                          <p:spTgt spid="21"/>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dissolve">
                                      <p:cBhvr>
                                        <p:cTn id="30" dur="500"/>
                                        <p:tgtEl>
                                          <p:spTgt spid="23"/>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dissolv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dissolve">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dissolve">
                                      <p:cBhvr>
                                        <p:cTn id="4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4" grpId="0"/>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217B4-D9F5-CBA8-D698-8727F2E27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CE313-C6CD-E1AF-3740-2B41CE9C2CF2}"/>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02BCCE0A-699A-DA5F-6055-F2CD01DD8BE4}"/>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686876B5-7F59-DAB2-FE27-E37E969C29CA}"/>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908A8515-F88E-A83F-7320-C0E31A3060DB}"/>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7ABC646D-2A1F-9901-C3A7-EC48651D94EC}"/>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9911131-7E83-513B-A0EA-C42700379DDA}"/>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8D71D8A-1866-1290-1506-2DB2C177A4AB}"/>
                </a:ext>
              </a:extLst>
            </p:cNvPr>
            <p:cNvSpPr txBox="1"/>
            <p:nvPr/>
          </p:nvSpPr>
          <p:spPr>
            <a:xfrm>
              <a:off x="5168348" y="4611756"/>
              <a:ext cx="781878" cy="400110"/>
            </a:xfrm>
            <a:prstGeom prst="rect">
              <a:avLst/>
            </a:prstGeom>
            <a:noFill/>
          </p:spPr>
          <p:txBody>
            <a:bodyPr wrap="square" rtlCol="0">
              <a:spAutoFit/>
            </a:bodyPr>
            <a:lstStyle/>
            <a:p>
              <a:r>
                <a:rPr lang="en-US" sz="2000" i="1" dirty="0">
                  <a:latin typeface="Times" pitchFamily="2" charset="0"/>
                </a:rPr>
                <a:t>+x</a:t>
              </a:r>
            </a:p>
          </p:txBody>
        </p:sp>
        <p:sp>
          <p:nvSpPr>
            <p:cNvPr id="18" name="TextBox 17">
              <a:extLst>
                <a:ext uri="{FF2B5EF4-FFF2-40B4-BE49-F238E27FC236}">
                  <a16:creationId xmlns:a16="http://schemas.microsoft.com/office/drawing/2014/main" id="{C1CF58E0-5AFA-50BC-C9FD-C328AD4261CA}"/>
                </a:ext>
              </a:extLst>
            </p:cNvPr>
            <p:cNvSpPr txBox="1"/>
            <p:nvPr/>
          </p:nvSpPr>
          <p:spPr>
            <a:xfrm>
              <a:off x="4790662" y="3597965"/>
              <a:ext cx="781878" cy="400110"/>
            </a:xfrm>
            <a:prstGeom prst="rect">
              <a:avLst/>
            </a:prstGeom>
            <a:noFill/>
          </p:spPr>
          <p:txBody>
            <a:bodyPr wrap="square" rtlCol="0">
              <a:spAutoFit/>
            </a:bodyPr>
            <a:lstStyle/>
            <a:p>
              <a:r>
                <a:rPr lang="en-US" sz="2000" i="1" dirty="0">
                  <a:latin typeface="Times" pitchFamily="2" charset="0"/>
                </a:rPr>
                <a:t>+y</a:t>
              </a:r>
            </a:p>
          </p:txBody>
        </p:sp>
      </p:grpSp>
      <p:sp>
        <p:nvSpPr>
          <p:cNvPr id="23" name="TextBox 22">
            <a:extLst>
              <a:ext uri="{FF2B5EF4-FFF2-40B4-BE49-F238E27FC236}">
                <a16:creationId xmlns:a16="http://schemas.microsoft.com/office/drawing/2014/main" id="{B551A752-C66A-7DC7-8962-146F842B22A7}"/>
              </a:ext>
            </a:extLst>
          </p:cNvPr>
          <p:cNvSpPr txBox="1"/>
          <p:nvPr/>
        </p:nvSpPr>
        <p:spPr>
          <a:xfrm>
            <a:off x="3286540" y="4988677"/>
            <a:ext cx="8905460" cy="830997"/>
          </a:xfrm>
          <a:prstGeom prst="rect">
            <a:avLst/>
          </a:prstGeom>
          <a:noFill/>
        </p:spPr>
        <p:txBody>
          <a:bodyPr wrap="square">
            <a:spAutoFit/>
          </a:bodyPr>
          <a:lstStyle/>
          <a:p>
            <a:pPr algn="just"/>
            <a:r>
              <a:rPr lang="en-US" sz="2400" dirty="0">
                <a:latin typeface="Times" pitchFamily="2" charset="0"/>
              </a:rPr>
              <a:t>To deal with the normal force (</a:t>
            </a:r>
            <a:r>
              <a:rPr lang="en-US" sz="2400" i="1" dirty="0">
                <a:latin typeface="Times" pitchFamily="2" charset="0"/>
              </a:rPr>
              <a:t>F</a:t>
            </a:r>
            <a:r>
              <a:rPr lang="en-US" sz="2400" baseline="-25000" dirty="0">
                <a:latin typeface="Times" pitchFamily="2" charset="0"/>
              </a:rPr>
              <a:t>N</a:t>
            </a:r>
            <a:r>
              <a:rPr lang="en-US" sz="2400" dirty="0">
                <a:latin typeface="Times" pitchFamily="2" charset="0"/>
              </a:rPr>
              <a:t>), we must analyze the forces in the </a:t>
            </a:r>
            <a:r>
              <a:rPr lang="en-US" sz="2400" i="1" dirty="0">
                <a:latin typeface="Times" pitchFamily="2" charset="0"/>
              </a:rPr>
              <a:t>y</a:t>
            </a:r>
            <a:r>
              <a:rPr lang="en-US" sz="2400" dirty="0">
                <a:latin typeface="Times" pitchFamily="2" charset="0"/>
              </a:rPr>
              <a:t> direction.  </a:t>
            </a:r>
            <a:endParaRPr lang="en-US" sz="2400" dirty="0">
              <a:effectLst/>
              <a:latin typeface="Times" pitchFamily="2" charset="0"/>
            </a:endParaRPr>
          </a:p>
        </p:txBody>
      </p:sp>
      <p:sp>
        <p:nvSpPr>
          <p:cNvPr id="6" name="TextBox 5">
            <a:extLst>
              <a:ext uri="{FF2B5EF4-FFF2-40B4-BE49-F238E27FC236}">
                <a16:creationId xmlns:a16="http://schemas.microsoft.com/office/drawing/2014/main" id="{F3E8C0CD-B818-0F62-3A3E-5E9D104F58B8}"/>
              </a:ext>
            </a:extLst>
          </p:cNvPr>
          <p:cNvSpPr txBox="1"/>
          <p:nvPr/>
        </p:nvSpPr>
        <p:spPr>
          <a:xfrm>
            <a:off x="897602" y="839960"/>
            <a:ext cx="8658610" cy="523220"/>
          </a:xfrm>
          <a:prstGeom prst="rect">
            <a:avLst/>
          </a:prstGeom>
          <a:noFill/>
        </p:spPr>
        <p:txBody>
          <a:bodyPr wrap="square" rtlCol="0">
            <a:spAutoFit/>
          </a:bodyPr>
          <a:lstStyle/>
          <a:p>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10046F0A-7970-77D2-D6B3-1EF312505239}"/>
              </a:ext>
            </a:extLst>
          </p:cNvPr>
          <p:cNvSpPr txBox="1"/>
          <p:nvPr/>
        </p:nvSpPr>
        <p:spPr>
          <a:xfrm>
            <a:off x="3339548" y="1390710"/>
            <a:ext cx="8454886" cy="461665"/>
          </a:xfrm>
          <a:prstGeom prst="rect">
            <a:avLst/>
          </a:prstGeom>
          <a:noFill/>
        </p:spPr>
        <p:txBody>
          <a:bodyPr wrap="square">
            <a:spAutoFit/>
          </a:bodyPr>
          <a:lstStyle/>
          <a:p>
            <a:pPr algn="just"/>
            <a:r>
              <a:rPr lang="en-US" sz="2400" dirty="0">
                <a:effectLst/>
                <a:latin typeface="Times" pitchFamily="2" charset="0"/>
              </a:rPr>
              <a:t>The skier is accelerating down the slope.  This tells us two things:</a:t>
            </a:r>
          </a:p>
        </p:txBody>
      </p:sp>
      <p:grpSp>
        <p:nvGrpSpPr>
          <p:cNvPr id="31" name="Group 30">
            <a:extLst>
              <a:ext uri="{FF2B5EF4-FFF2-40B4-BE49-F238E27FC236}">
                <a16:creationId xmlns:a16="http://schemas.microsoft.com/office/drawing/2014/main" id="{7B9FB399-3D55-86E6-C28D-24B16368192D}"/>
              </a:ext>
            </a:extLst>
          </p:cNvPr>
          <p:cNvGrpSpPr/>
          <p:nvPr/>
        </p:nvGrpSpPr>
        <p:grpSpPr>
          <a:xfrm>
            <a:off x="3352799" y="1817709"/>
            <a:ext cx="8489518" cy="1482083"/>
            <a:chOff x="3352799" y="1817709"/>
            <a:chExt cx="8489518" cy="1482083"/>
          </a:xfrm>
        </p:grpSpPr>
        <p:sp>
          <p:nvSpPr>
            <p:cNvPr id="30" name="Rounded Rectangle 29">
              <a:extLst>
                <a:ext uri="{FF2B5EF4-FFF2-40B4-BE49-F238E27FC236}">
                  <a16:creationId xmlns:a16="http://schemas.microsoft.com/office/drawing/2014/main" id="{561850C1-DB00-1ABB-EE7B-24C059F044C4}"/>
                </a:ext>
              </a:extLst>
            </p:cNvPr>
            <p:cNvSpPr/>
            <p:nvPr/>
          </p:nvSpPr>
          <p:spPr>
            <a:xfrm>
              <a:off x="3816627" y="2676939"/>
              <a:ext cx="6824870"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2804C713-2981-FCD3-E4A3-ECDA6BBD4D05}"/>
                </a:ext>
              </a:extLst>
            </p:cNvPr>
            <p:cNvGrpSpPr/>
            <p:nvPr/>
          </p:nvGrpSpPr>
          <p:grpSpPr>
            <a:xfrm>
              <a:off x="3352799" y="1817709"/>
              <a:ext cx="8489518" cy="830997"/>
              <a:chOff x="3352799" y="1817709"/>
              <a:chExt cx="8489518" cy="830997"/>
            </a:xfrm>
          </p:grpSpPr>
          <p:pic>
            <p:nvPicPr>
              <p:cNvPr id="5" name="Picture 4">
                <a:extLst>
                  <a:ext uri="{FF2B5EF4-FFF2-40B4-BE49-F238E27FC236}">
                    <a16:creationId xmlns:a16="http://schemas.microsoft.com/office/drawing/2014/main" id="{0D8BDA60-B3A2-2CB5-125F-61BCD676C17C}"/>
                  </a:ext>
                </a:extLst>
              </p:cNvPr>
              <p:cNvPicPr>
                <a:picLocks noChangeAspect="1"/>
              </p:cNvPicPr>
              <p:nvPr/>
            </p:nvPicPr>
            <p:blipFill>
              <a:blip r:embed="rId4"/>
              <a:stretch>
                <a:fillRect/>
              </a:stretch>
            </p:blipFill>
            <p:spPr>
              <a:xfrm>
                <a:off x="11270056" y="1868556"/>
                <a:ext cx="572261" cy="366643"/>
              </a:xfrm>
              <a:prstGeom prst="rect">
                <a:avLst/>
              </a:prstGeom>
            </p:spPr>
          </p:pic>
          <p:sp>
            <p:nvSpPr>
              <p:cNvPr id="12" name="TextBox 11">
                <a:extLst>
                  <a:ext uri="{FF2B5EF4-FFF2-40B4-BE49-F238E27FC236}">
                    <a16:creationId xmlns:a16="http://schemas.microsoft.com/office/drawing/2014/main" id="{3C58A577-F023-A855-852A-4AD84378D4B6}"/>
                  </a:ext>
                </a:extLst>
              </p:cNvPr>
              <p:cNvSpPr txBox="1"/>
              <p:nvPr/>
            </p:nvSpPr>
            <p:spPr>
              <a:xfrm>
                <a:off x="3352799" y="1817709"/>
                <a:ext cx="8176591" cy="830997"/>
              </a:xfrm>
              <a:prstGeom prst="rect">
                <a:avLst/>
              </a:prstGeom>
              <a:noFill/>
            </p:spPr>
            <p:txBody>
              <a:bodyPr wrap="square">
                <a:spAutoFit/>
              </a:bodyPr>
              <a:lstStyle/>
              <a:p>
                <a:pPr marL="457200" indent="-457200" algn="just">
                  <a:buAutoNum type="arabicPeriod"/>
                </a:pPr>
                <a:r>
                  <a:rPr lang="en-US" sz="2400" dirty="0">
                    <a:latin typeface="Times" pitchFamily="2" charset="0"/>
                  </a:rPr>
                  <a:t>The net force is along the direction of the displacement:  </a:t>
                </a:r>
                <a:r>
                  <a:rPr lang="en-US" sz="2400" i="1" dirty="0">
                    <a:latin typeface="Times" pitchFamily="2" charset="0"/>
                  </a:rPr>
                  <a:t>F</a:t>
                </a:r>
                <a:r>
                  <a:rPr lang="en-US" sz="2400" dirty="0">
                    <a:latin typeface="Times" pitchFamily="2" charset="0"/>
                  </a:rPr>
                  <a:t> = </a:t>
                </a:r>
              </a:p>
              <a:p>
                <a:pPr marL="457200" indent="-457200" algn="just">
                  <a:buAutoNum type="arabicPeriod"/>
                </a:pPr>
                <a:r>
                  <a:rPr lang="en-US" sz="2400" dirty="0">
                    <a:effectLst/>
                    <a:latin typeface="Times" pitchFamily="2" charset="0"/>
                  </a:rPr>
                  <a:t>The angle </a:t>
                </a:r>
                <a:r>
                  <a:rPr lang="en-US" sz="2400" i="1" dirty="0">
                    <a:effectLst/>
                    <a:latin typeface="Symbol" pitchFamily="2" charset="2"/>
                  </a:rPr>
                  <a:t>q</a:t>
                </a:r>
                <a:r>
                  <a:rPr lang="en-US" sz="2400" dirty="0">
                    <a:effectLst/>
                    <a:latin typeface="Times" pitchFamily="2" charset="0"/>
                  </a:rPr>
                  <a:t> in Equation 6.1 is = 0</a:t>
                </a:r>
                <a:r>
                  <a:rPr lang="en-US" sz="2400" baseline="30000" dirty="0">
                    <a:effectLst/>
                    <a:latin typeface="Times" pitchFamily="2" charset="0"/>
                  </a:rPr>
                  <a:t>o</a:t>
                </a:r>
                <a:r>
                  <a:rPr lang="en-US" sz="2400" dirty="0">
                    <a:effectLst/>
                    <a:latin typeface="Times" pitchFamily="2" charset="0"/>
                  </a:rPr>
                  <a:t>.</a:t>
                </a:r>
              </a:p>
            </p:txBody>
          </p:sp>
        </p:grpSp>
      </p:grpSp>
      <p:grpSp>
        <p:nvGrpSpPr>
          <p:cNvPr id="36" name="Group 35">
            <a:extLst>
              <a:ext uri="{FF2B5EF4-FFF2-40B4-BE49-F238E27FC236}">
                <a16:creationId xmlns:a16="http://schemas.microsoft.com/office/drawing/2014/main" id="{5FBBBA84-4E9C-05FA-FE39-70C4F5261F52}"/>
              </a:ext>
            </a:extLst>
          </p:cNvPr>
          <p:cNvGrpSpPr/>
          <p:nvPr/>
        </p:nvGrpSpPr>
        <p:grpSpPr>
          <a:xfrm>
            <a:off x="5764696" y="2775563"/>
            <a:ext cx="2637182" cy="468291"/>
            <a:chOff x="5764696" y="2775563"/>
            <a:chExt cx="2637182" cy="468291"/>
          </a:xfrm>
        </p:grpSpPr>
        <p:pic>
          <p:nvPicPr>
            <p:cNvPr id="15" name="Picture 14">
              <a:extLst>
                <a:ext uri="{FF2B5EF4-FFF2-40B4-BE49-F238E27FC236}">
                  <a16:creationId xmlns:a16="http://schemas.microsoft.com/office/drawing/2014/main" id="{998E6C85-717E-B7D5-1FC8-37297CD28911}"/>
                </a:ext>
              </a:extLst>
            </p:cNvPr>
            <p:cNvPicPr>
              <a:picLocks noChangeAspect="1"/>
            </p:cNvPicPr>
            <p:nvPr/>
          </p:nvPicPr>
          <p:blipFill>
            <a:blip r:embed="rId4"/>
            <a:stretch>
              <a:fillRect/>
            </a:stretch>
          </p:blipFill>
          <p:spPr>
            <a:xfrm>
              <a:off x="6081830" y="2855843"/>
              <a:ext cx="572261" cy="366643"/>
            </a:xfrm>
            <a:prstGeom prst="rect">
              <a:avLst/>
            </a:prstGeom>
          </p:spPr>
        </p:pic>
        <p:sp>
          <p:nvSpPr>
            <p:cNvPr id="16" name="TextBox 15">
              <a:extLst>
                <a:ext uri="{FF2B5EF4-FFF2-40B4-BE49-F238E27FC236}">
                  <a16:creationId xmlns:a16="http://schemas.microsoft.com/office/drawing/2014/main" id="{9D6BF8E6-1590-6B55-DC21-01CBEBDCFB82}"/>
                </a:ext>
              </a:extLst>
            </p:cNvPr>
            <p:cNvSpPr txBox="1"/>
            <p:nvPr/>
          </p:nvSpPr>
          <p:spPr>
            <a:xfrm>
              <a:off x="5764696" y="2782189"/>
              <a:ext cx="702365" cy="461665"/>
            </a:xfrm>
            <a:prstGeom prst="rect">
              <a:avLst/>
            </a:prstGeom>
            <a:noFill/>
          </p:spPr>
          <p:txBody>
            <a:bodyPr wrap="square">
              <a:spAutoFit/>
            </a:bodyPr>
            <a:lstStyle/>
            <a:p>
              <a:pPr algn="just"/>
              <a:r>
                <a:rPr lang="en-US" sz="2400" dirty="0">
                  <a:latin typeface="Times" pitchFamily="2" charset="0"/>
                </a:rPr>
                <a:t>=</a:t>
              </a:r>
              <a:endParaRPr lang="en-US" sz="2400" dirty="0">
                <a:effectLst/>
                <a:latin typeface="Times" pitchFamily="2" charset="0"/>
              </a:endParaRPr>
            </a:p>
          </p:txBody>
        </p:sp>
        <p:sp>
          <p:nvSpPr>
            <p:cNvPr id="29" name="TextBox 28">
              <a:extLst>
                <a:ext uri="{FF2B5EF4-FFF2-40B4-BE49-F238E27FC236}">
                  <a16:creationId xmlns:a16="http://schemas.microsoft.com/office/drawing/2014/main" id="{DEAD1561-9375-2C3D-0372-516D9D12AC2F}"/>
                </a:ext>
              </a:extLst>
            </p:cNvPr>
            <p:cNvSpPr txBox="1"/>
            <p:nvPr/>
          </p:nvSpPr>
          <p:spPr>
            <a:xfrm>
              <a:off x="6606209" y="2775563"/>
              <a:ext cx="1795669" cy="461665"/>
            </a:xfrm>
            <a:prstGeom prst="rect">
              <a:avLst/>
            </a:prstGeom>
            <a:noFill/>
          </p:spPr>
          <p:txBody>
            <a:bodyPr wrap="square">
              <a:spAutoFit/>
            </a:bodyPr>
            <a:lstStyle/>
            <a:p>
              <a:pPr algn="just"/>
              <a:r>
                <a:rPr lang="en-US" sz="2400" dirty="0">
                  <a:latin typeface="Times" pitchFamily="2" charset="0"/>
                </a:rPr>
                <a:t>(cos 0</a:t>
              </a:r>
              <a:r>
                <a:rPr lang="en-US" sz="2400" baseline="30000" dirty="0">
                  <a:latin typeface="Times" pitchFamily="2" charset="0"/>
                </a:rPr>
                <a:t>o</a:t>
              </a:r>
              <a:r>
                <a:rPr lang="en-US" sz="2400" dirty="0">
                  <a:latin typeface="Times" pitchFamily="2" charset="0"/>
                </a:rPr>
                <a:t>)(</a:t>
              </a:r>
              <a:r>
                <a:rPr lang="en-US" sz="2400" i="1" dirty="0">
                  <a:latin typeface="Times" pitchFamily="2" charset="0"/>
                </a:rPr>
                <a:t>s</a:t>
              </a:r>
              <a:r>
                <a:rPr lang="en-US" sz="2400" dirty="0">
                  <a:latin typeface="Times" pitchFamily="2" charset="0"/>
                </a:rPr>
                <a:t>)</a:t>
              </a:r>
              <a:endParaRPr lang="en-US" sz="2400" dirty="0">
                <a:effectLst/>
                <a:latin typeface="Times" pitchFamily="2" charset="0"/>
              </a:endParaRPr>
            </a:p>
          </p:txBody>
        </p:sp>
      </p:grpSp>
      <p:sp>
        <p:nvSpPr>
          <p:cNvPr id="24" name="TextBox 23">
            <a:extLst>
              <a:ext uri="{FF2B5EF4-FFF2-40B4-BE49-F238E27FC236}">
                <a16:creationId xmlns:a16="http://schemas.microsoft.com/office/drawing/2014/main" id="{0F8D3EF2-76D6-9FD6-2F80-9ABFCE46249C}"/>
              </a:ext>
            </a:extLst>
          </p:cNvPr>
          <p:cNvSpPr txBox="1"/>
          <p:nvPr/>
        </p:nvSpPr>
        <p:spPr>
          <a:xfrm>
            <a:off x="3816627" y="2782946"/>
            <a:ext cx="2146851" cy="461665"/>
          </a:xfrm>
          <a:prstGeom prst="rect">
            <a:avLst/>
          </a:prstGeom>
          <a:noFill/>
        </p:spPr>
        <p:txBody>
          <a:bodyPr wrap="square" rtlCol="0">
            <a:spAutoFit/>
          </a:bodyPr>
          <a:lstStyle/>
          <a:p>
            <a:r>
              <a:rPr lang="en-US" sz="2400" i="1" dirty="0">
                <a:latin typeface="Times" pitchFamily="2" charset="0"/>
              </a:rPr>
              <a:t>W</a:t>
            </a:r>
            <a:r>
              <a:rPr lang="en-US" sz="2400" dirty="0">
                <a:latin typeface="Times" pitchFamily="2" charset="0"/>
              </a:rPr>
              <a:t> = (</a:t>
            </a:r>
            <a:r>
              <a:rPr lang="en-US" sz="2400" i="1" dirty="0" err="1">
                <a:latin typeface="Times" pitchFamily="2" charset="0"/>
              </a:rPr>
              <a:t>F</a:t>
            </a:r>
            <a:r>
              <a:rPr lang="en-US" sz="2400" dirty="0" err="1">
                <a:latin typeface="Times" pitchFamily="2" charset="0"/>
              </a:rPr>
              <a:t>cos</a:t>
            </a:r>
            <a:r>
              <a:rPr lang="en-US" sz="2400" i="1" dirty="0" err="1">
                <a:latin typeface="Symbol" pitchFamily="2" charset="2"/>
              </a:rPr>
              <a:t>q</a:t>
            </a:r>
            <a:r>
              <a:rPr lang="en-US" sz="2400" dirty="0">
                <a:latin typeface="Times" pitchFamily="2" charset="0"/>
              </a:rPr>
              <a:t>)(</a:t>
            </a:r>
            <a:r>
              <a:rPr lang="en-US" sz="2400" i="1" dirty="0">
                <a:latin typeface="Times" pitchFamily="2" charset="0"/>
              </a:rPr>
              <a:t>s</a:t>
            </a:r>
            <a:r>
              <a:rPr lang="en-US" sz="2400" dirty="0">
                <a:latin typeface="Times" pitchFamily="2" charset="0"/>
              </a:rPr>
              <a:t>)</a:t>
            </a:r>
          </a:p>
        </p:txBody>
      </p:sp>
      <p:grpSp>
        <p:nvGrpSpPr>
          <p:cNvPr id="35" name="Group 34">
            <a:extLst>
              <a:ext uri="{FF2B5EF4-FFF2-40B4-BE49-F238E27FC236}">
                <a16:creationId xmlns:a16="http://schemas.microsoft.com/office/drawing/2014/main" id="{6C4F9236-B066-4D97-86F2-9935377921B9}"/>
              </a:ext>
            </a:extLst>
          </p:cNvPr>
          <p:cNvGrpSpPr/>
          <p:nvPr/>
        </p:nvGrpSpPr>
        <p:grpSpPr>
          <a:xfrm>
            <a:off x="6798365" y="2477388"/>
            <a:ext cx="980661" cy="901916"/>
            <a:chOff x="6798365" y="2477388"/>
            <a:chExt cx="980661" cy="901916"/>
          </a:xfrm>
        </p:grpSpPr>
        <p:cxnSp>
          <p:nvCxnSpPr>
            <p:cNvPr id="33" name="Straight Arrow Connector 32">
              <a:extLst>
                <a:ext uri="{FF2B5EF4-FFF2-40B4-BE49-F238E27FC236}">
                  <a16:creationId xmlns:a16="http://schemas.microsoft.com/office/drawing/2014/main" id="{2F77B1A0-1CED-E91F-BC00-EFECD8523833}"/>
                </a:ext>
              </a:extLst>
            </p:cNvPr>
            <p:cNvCxnSpPr/>
            <p:nvPr/>
          </p:nvCxnSpPr>
          <p:spPr>
            <a:xfrm flipV="1">
              <a:off x="6798365" y="2729948"/>
              <a:ext cx="543339" cy="64935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2E8E423-190C-D3D9-6DC7-A42349C40AF3}"/>
                </a:ext>
              </a:extLst>
            </p:cNvPr>
            <p:cNvSpPr txBox="1"/>
            <p:nvPr/>
          </p:nvSpPr>
          <p:spPr>
            <a:xfrm>
              <a:off x="7288696" y="2477388"/>
              <a:ext cx="490330" cy="461665"/>
            </a:xfrm>
            <a:prstGeom prst="rect">
              <a:avLst/>
            </a:prstGeom>
            <a:noFill/>
          </p:spPr>
          <p:txBody>
            <a:bodyPr wrap="square">
              <a:spAutoFit/>
            </a:bodyPr>
            <a:lstStyle/>
            <a:p>
              <a:pPr algn="just"/>
              <a:r>
                <a:rPr lang="en-US" sz="2400" dirty="0">
                  <a:solidFill>
                    <a:srgbClr val="FF0000"/>
                  </a:solidFill>
                  <a:latin typeface="Times" pitchFamily="2" charset="0"/>
                </a:rPr>
                <a:t>1</a:t>
              </a:r>
              <a:endParaRPr lang="en-US" sz="2400" dirty="0">
                <a:solidFill>
                  <a:srgbClr val="FF0000"/>
                </a:solidFill>
                <a:effectLst/>
                <a:latin typeface="Times" pitchFamily="2" charset="0"/>
              </a:endParaRPr>
            </a:p>
          </p:txBody>
        </p:sp>
      </p:grpSp>
      <p:sp>
        <p:nvSpPr>
          <p:cNvPr id="37" name="TextBox 36">
            <a:extLst>
              <a:ext uri="{FF2B5EF4-FFF2-40B4-BE49-F238E27FC236}">
                <a16:creationId xmlns:a16="http://schemas.microsoft.com/office/drawing/2014/main" id="{BB06C1FC-6630-1CF1-9292-2541497C13CF}"/>
              </a:ext>
            </a:extLst>
          </p:cNvPr>
          <p:cNvSpPr txBox="1"/>
          <p:nvPr/>
        </p:nvSpPr>
        <p:spPr>
          <a:xfrm>
            <a:off x="7964557" y="2768936"/>
            <a:ext cx="2623930" cy="461665"/>
          </a:xfrm>
          <a:prstGeom prst="rect">
            <a:avLst/>
          </a:prstGeom>
          <a:noFill/>
        </p:spPr>
        <p:txBody>
          <a:bodyPr wrap="square">
            <a:spAutoFit/>
          </a:bodyPr>
          <a:lstStyle/>
          <a:p>
            <a:pPr algn="just"/>
            <a:r>
              <a:rPr lang="en-US" sz="2400" dirty="0">
                <a:latin typeface="Times" pitchFamily="2" charset="0"/>
              </a:rPr>
              <a:t>= (</a:t>
            </a:r>
            <a:r>
              <a:rPr lang="en-US" sz="2400" i="1" dirty="0">
                <a:latin typeface="Times" pitchFamily="2" charset="0"/>
              </a:rPr>
              <a:t>mg</a:t>
            </a:r>
            <a:r>
              <a:rPr lang="en-US" sz="2400" dirty="0">
                <a:latin typeface="Times" pitchFamily="2" charset="0"/>
              </a:rPr>
              <a:t>sin</a:t>
            </a:r>
            <a:r>
              <a:rPr lang="en-US" sz="2400" dirty="0">
                <a:latin typeface="Symbol" pitchFamily="2" charset="2"/>
              </a:rPr>
              <a:t>25</a:t>
            </a:r>
            <a:r>
              <a:rPr lang="en-US" sz="2400" baseline="30000" dirty="0">
                <a:latin typeface="Symbol" pitchFamily="2" charset="2"/>
              </a:rPr>
              <a:t>o</a:t>
            </a:r>
            <a:r>
              <a:rPr lang="en-US" sz="2400" dirty="0">
                <a:latin typeface="Symbol" pitchFamily="2" charset="2"/>
              </a:rPr>
              <a:t> </a:t>
            </a:r>
            <a:r>
              <a:rPr lang="en-US" sz="2400" dirty="0">
                <a:latin typeface="Times" pitchFamily="2" charset="0"/>
              </a:rPr>
              <a:t>– </a:t>
            </a:r>
            <a:r>
              <a:rPr lang="en-US" sz="2400" i="1" dirty="0" err="1">
                <a:latin typeface="Times" pitchFamily="2" charset="0"/>
              </a:rPr>
              <a:t>f</a:t>
            </a:r>
            <a:r>
              <a:rPr lang="en-US" sz="2400" baseline="-25000" dirty="0" err="1">
                <a:latin typeface="Times" pitchFamily="2" charset="0"/>
              </a:rPr>
              <a:t>k</a:t>
            </a:r>
            <a:r>
              <a:rPr lang="en-US" sz="2400" dirty="0">
                <a:latin typeface="Times" pitchFamily="2" charset="0"/>
              </a:rPr>
              <a:t>)(</a:t>
            </a:r>
            <a:r>
              <a:rPr lang="en-US" sz="2400" i="1" dirty="0">
                <a:latin typeface="Times" pitchFamily="2" charset="0"/>
              </a:rPr>
              <a:t>s</a:t>
            </a:r>
            <a:r>
              <a:rPr lang="en-US" sz="2400" dirty="0">
                <a:latin typeface="Times" pitchFamily="2" charset="0"/>
              </a:rPr>
              <a:t>)</a:t>
            </a:r>
            <a:endParaRPr lang="en-US" sz="2400" dirty="0">
              <a:effectLst/>
              <a:latin typeface="Times" pitchFamily="2" charset="0"/>
            </a:endParaRPr>
          </a:p>
        </p:txBody>
      </p:sp>
      <p:grpSp>
        <p:nvGrpSpPr>
          <p:cNvPr id="43" name="Group 42">
            <a:extLst>
              <a:ext uri="{FF2B5EF4-FFF2-40B4-BE49-F238E27FC236}">
                <a16:creationId xmlns:a16="http://schemas.microsoft.com/office/drawing/2014/main" id="{D5D04124-AB08-A255-80E5-79CE58841D96}"/>
              </a:ext>
            </a:extLst>
          </p:cNvPr>
          <p:cNvGrpSpPr/>
          <p:nvPr/>
        </p:nvGrpSpPr>
        <p:grpSpPr>
          <a:xfrm>
            <a:off x="6076122" y="3352796"/>
            <a:ext cx="4035290" cy="344560"/>
            <a:chOff x="6076122" y="3352796"/>
            <a:chExt cx="4035290" cy="344560"/>
          </a:xfrm>
        </p:grpSpPr>
        <p:sp>
          <p:nvSpPr>
            <p:cNvPr id="38" name="Left Brace 37">
              <a:extLst>
                <a:ext uri="{FF2B5EF4-FFF2-40B4-BE49-F238E27FC236}">
                  <a16:creationId xmlns:a16="http://schemas.microsoft.com/office/drawing/2014/main" id="{02549192-0D9D-778C-3DF0-A6C0A9835C20}"/>
                </a:ext>
              </a:extLst>
            </p:cNvPr>
            <p:cNvSpPr/>
            <p:nvPr/>
          </p:nvSpPr>
          <p:spPr>
            <a:xfrm rot="16200000">
              <a:off x="6215268" y="3233529"/>
              <a:ext cx="324681" cy="602974"/>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DE41BA0D-64E7-BA64-7497-BC69085F395D}"/>
                </a:ext>
              </a:extLst>
            </p:cNvPr>
            <p:cNvSpPr/>
            <p:nvPr/>
          </p:nvSpPr>
          <p:spPr>
            <a:xfrm rot="16200000">
              <a:off x="9064488" y="2637179"/>
              <a:ext cx="331308" cy="1762541"/>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FCACD739-D743-A988-9FE1-F595EB3B0DC8}"/>
                </a:ext>
              </a:extLst>
            </p:cNvPr>
            <p:cNvCxnSpPr>
              <a:cxnSpLocks/>
            </p:cNvCxnSpPr>
            <p:nvPr/>
          </p:nvCxnSpPr>
          <p:spPr>
            <a:xfrm>
              <a:off x="6363755" y="3688121"/>
              <a:ext cx="2877227" cy="0"/>
            </a:xfrm>
            <a:prstGeom prst="line">
              <a:avLst/>
            </a:prstGeom>
            <a:ln w="317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C7C81B44-DAEF-931E-EF48-26FFB32A4D4F}"/>
              </a:ext>
            </a:extLst>
          </p:cNvPr>
          <p:cNvGrpSpPr/>
          <p:nvPr/>
        </p:nvGrpSpPr>
        <p:grpSpPr>
          <a:xfrm>
            <a:off x="4757531" y="3776102"/>
            <a:ext cx="5764695" cy="1147084"/>
            <a:chOff x="4757531" y="3776102"/>
            <a:chExt cx="5764695" cy="1147084"/>
          </a:xfrm>
        </p:grpSpPr>
        <p:sp>
          <p:nvSpPr>
            <p:cNvPr id="21" name="TextBox 20">
              <a:extLst>
                <a:ext uri="{FF2B5EF4-FFF2-40B4-BE49-F238E27FC236}">
                  <a16:creationId xmlns:a16="http://schemas.microsoft.com/office/drawing/2014/main" id="{B51A0211-8358-49B6-29B4-C0546B912DF7}"/>
                </a:ext>
              </a:extLst>
            </p:cNvPr>
            <p:cNvSpPr txBox="1"/>
            <p:nvPr/>
          </p:nvSpPr>
          <p:spPr>
            <a:xfrm>
              <a:off x="4757531" y="3776102"/>
              <a:ext cx="5764695" cy="461665"/>
            </a:xfrm>
            <a:prstGeom prst="rect">
              <a:avLst/>
            </a:prstGeom>
            <a:noFill/>
          </p:spPr>
          <p:txBody>
            <a:bodyPr wrap="square">
              <a:spAutoFit/>
            </a:bodyPr>
            <a:lstStyle/>
            <a:p>
              <a:pPr algn="just"/>
              <a:r>
                <a:rPr lang="en-US" sz="2400" dirty="0">
                  <a:latin typeface="Times" pitchFamily="2" charset="0"/>
                </a:rPr>
                <a:t>We can replace </a:t>
              </a:r>
              <a:r>
                <a:rPr lang="en-US" sz="2400" i="1" dirty="0" err="1">
                  <a:latin typeface="Times" pitchFamily="2" charset="0"/>
                </a:rPr>
                <a:t>f</a:t>
              </a:r>
              <a:r>
                <a:rPr lang="en-US" sz="2400" baseline="-25000" dirty="0" err="1">
                  <a:latin typeface="Times" pitchFamily="2" charset="0"/>
                </a:rPr>
                <a:t>k</a:t>
              </a:r>
              <a:r>
                <a:rPr lang="en-US" sz="2400" dirty="0">
                  <a:latin typeface="Times" pitchFamily="2" charset="0"/>
                </a:rPr>
                <a:t> with </a:t>
              </a:r>
              <a:r>
                <a:rPr lang="en-US" sz="2400" i="1" dirty="0" err="1">
                  <a:latin typeface="Symbol" pitchFamily="2" charset="2"/>
                </a:rPr>
                <a:t>m</a:t>
              </a:r>
              <a:r>
                <a:rPr lang="en-US" sz="2400" baseline="-25000" dirty="0" err="1">
                  <a:latin typeface="Times" pitchFamily="2" charset="0"/>
                </a:rPr>
                <a:t>k</a:t>
              </a:r>
              <a:r>
                <a:rPr lang="en-US" sz="2400" i="1" dirty="0" err="1">
                  <a:latin typeface="Times" pitchFamily="2" charset="0"/>
                </a:rPr>
                <a:t>F</a:t>
              </a:r>
              <a:r>
                <a:rPr lang="en-US" sz="2400" baseline="-25000" dirty="0" err="1">
                  <a:latin typeface="Times" pitchFamily="2" charset="0"/>
                </a:rPr>
                <a:t>N</a:t>
              </a:r>
              <a:r>
                <a:rPr lang="en-US" sz="2400" dirty="0">
                  <a:latin typeface="Times" pitchFamily="2" charset="0"/>
                </a:rPr>
                <a:t> (Equation 4.8):</a:t>
              </a:r>
              <a:endParaRPr lang="en-US" sz="2400" dirty="0">
                <a:effectLst/>
                <a:latin typeface="Times" pitchFamily="2" charset="0"/>
              </a:endParaRPr>
            </a:p>
          </p:txBody>
        </p:sp>
        <p:sp>
          <p:nvSpPr>
            <p:cNvPr id="44" name="Rounded Rectangle 43">
              <a:extLst>
                <a:ext uri="{FF2B5EF4-FFF2-40B4-BE49-F238E27FC236}">
                  <a16:creationId xmlns:a16="http://schemas.microsoft.com/office/drawing/2014/main" id="{98411AE8-802B-7AAD-22F8-5CBA0BB7C52A}"/>
                </a:ext>
              </a:extLst>
            </p:cNvPr>
            <p:cNvSpPr/>
            <p:nvPr/>
          </p:nvSpPr>
          <p:spPr>
            <a:xfrm>
              <a:off x="5784573" y="4300333"/>
              <a:ext cx="3438939"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TextBox 45">
            <a:extLst>
              <a:ext uri="{FF2B5EF4-FFF2-40B4-BE49-F238E27FC236}">
                <a16:creationId xmlns:a16="http://schemas.microsoft.com/office/drawing/2014/main" id="{6A4CCA68-79DE-1C8D-05E1-CA6E7B78A211}"/>
              </a:ext>
            </a:extLst>
          </p:cNvPr>
          <p:cNvSpPr txBox="1"/>
          <p:nvPr/>
        </p:nvSpPr>
        <p:spPr>
          <a:xfrm>
            <a:off x="5824332" y="4398955"/>
            <a:ext cx="3916016" cy="461665"/>
          </a:xfrm>
          <a:prstGeom prst="rect">
            <a:avLst/>
          </a:prstGeom>
          <a:noFill/>
        </p:spPr>
        <p:txBody>
          <a:bodyPr wrap="square">
            <a:spAutoFit/>
          </a:bodyPr>
          <a:lstStyle/>
          <a:p>
            <a:pPr algn="just"/>
            <a:r>
              <a:rPr lang="en-US" sz="2400" i="1" dirty="0">
                <a:latin typeface="Times" pitchFamily="2" charset="0"/>
              </a:rPr>
              <a:t>W</a:t>
            </a:r>
            <a:r>
              <a:rPr lang="en-US" sz="2400" dirty="0">
                <a:latin typeface="Times" pitchFamily="2" charset="0"/>
              </a:rPr>
              <a:t> = (</a:t>
            </a:r>
            <a:r>
              <a:rPr lang="en-US" sz="2400" i="1" dirty="0">
                <a:latin typeface="Times" pitchFamily="2" charset="0"/>
              </a:rPr>
              <a:t>mg</a:t>
            </a:r>
            <a:r>
              <a:rPr lang="en-US" sz="2400" dirty="0">
                <a:latin typeface="Times" pitchFamily="2" charset="0"/>
              </a:rPr>
              <a:t>sin</a:t>
            </a:r>
            <a:r>
              <a:rPr lang="en-US" sz="2400" dirty="0">
                <a:latin typeface="Symbol" pitchFamily="2" charset="2"/>
              </a:rPr>
              <a:t>25</a:t>
            </a:r>
            <a:r>
              <a:rPr lang="en-US" sz="2400" baseline="30000" dirty="0">
                <a:latin typeface="Symbol" pitchFamily="2" charset="2"/>
              </a:rPr>
              <a:t>o</a:t>
            </a:r>
            <a:r>
              <a:rPr lang="en-US" sz="2400" dirty="0">
                <a:latin typeface="Symbol" pitchFamily="2" charset="2"/>
              </a:rPr>
              <a:t> </a:t>
            </a:r>
            <a:r>
              <a:rPr lang="en-US" sz="2400" dirty="0">
                <a:latin typeface="Times" pitchFamily="2" charset="0"/>
              </a:rPr>
              <a:t>– </a:t>
            </a:r>
            <a:r>
              <a:rPr lang="en-US" sz="2400" i="1" dirty="0" err="1">
                <a:latin typeface="Symbol" pitchFamily="2" charset="2"/>
              </a:rPr>
              <a:t>m</a:t>
            </a:r>
            <a:r>
              <a:rPr lang="en-US" sz="2400" baseline="-25000" dirty="0" err="1">
                <a:latin typeface="Times" pitchFamily="2" charset="0"/>
              </a:rPr>
              <a:t>k</a:t>
            </a:r>
            <a:r>
              <a:rPr lang="en-US" sz="2400" i="1" dirty="0" err="1">
                <a:latin typeface="Times" pitchFamily="2" charset="0"/>
              </a:rPr>
              <a:t>F</a:t>
            </a:r>
            <a:r>
              <a:rPr lang="en-US" sz="2400" baseline="-25000" dirty="0" err="1">
                <a:latin typeface="Times" pitchFamily="2" charset="0"/>
              </a:rPr>
              <a:t>N</a:t>
            </a:r>
            <a:r>
              <a:rPr lang="en-US" sz="2400" dirty="0">
                <a:latin typeface="Times" pitchFamily="2" charset="0"/>
              </a:rPr>
              <a:t>)(</a:t>
            </a:r>
            <a:r>
              <a:rPr lang="en-US" sz="2400" i="1" dirty="0">
                <a:latin typeface="Times" pitchFamily="2" charset="0"/>
              </a:rPr>
              <a:t>s</a:t>
            </a:r>
            <a:r>
              <a:rPr lang="en-US" sz="2400" dirty="0">
                <a:latin typeface="Times" pitchFamily="2" charset="0"/>
              </a:rPr>
              <a:t>) </a:t>
            </a:r>
            <a:endParaRPr lang="en-US" sz="2400" dirty="0">
              <a:effectLst/>
              <a:latin typeface="Times" pitchFamily="2" charset="0"/>
            </a:endParaRPr>
          </a:p>
        </p:txBody>
      </p:sp>
      <p:grpSp>
        <p:nvGrpSpPr>
          <p:cNvPr id="50" name="Group 49">
            <a:extLst>
              <a:ext uri="{FF2B5EF4-FFF2-40B4-BE49-F238E27FC236}">
                <a16:creationId xmlns:a16="http://schemas.microsoft.com/office/drawing/2014/main" id="{F81F9A0C-B8AB-291E-BF28-00054183439F}"/>
              </a:ext>
            </a:extLst>
          </p:cNvPr>
          <p:cNvGrpSpPr/>
          <p:nvPr/>
        </p:nvGrpSpPr>
        <p:grpSpPr>
          <a:xfrm>
            <a:off x="3193774" y="5731564"/>
            <a:ext cx="8905460" cy="622853"/>
            <a:chOff x="3193774" y="5731564"/>
            <a:chExt cx="8905460" cy="622853"/>
          </a:xfrm>
        </p:grpSpPr>
        <p:sp>
          <p:nvSpPr>
            <p:cNvPr id="47" name="TextBox 46">
              <a:extLst>
                <a:ext uri="{FF2B5EF4-FFF2-40B4-BE49-F238E27FC236}">
                  <a16:creationId xmlns:a16="http://schemas.microsoft.com/office/drawing/2014/main" id="{89930B85-3409-F01D-B8D4-6DE27D806EB1}"/>
                </a:ext>
              </a:extLst>
            </p:cNvPr>
            <p:cNvSpPr txBox="1"/>
            <p:nvPr/>
          </p:nvSpPr>
          <p:spPr>
            <a:xfrm>
              <a:off x="3193774" y="5830191"/>
              <a:ext cx="8905460" cy="461665"/>
            </a:xfrm>
            <a:prstGeom prst="rect">
              <a:avLst/>
            </a:prstGeom>
            <a:noFill/>
          </p:spPr>
          <p:txBody>
            <a:bodyPr wrap="square">
              <a:spAutoFit/>
            </a:bodyPr>
            <a:lstStyle/>
            <a:p>
              <a:pPr algn="just"/>
              <a:r>
                <a:rPr lang="en-US" sz="2400" dirty="0">
                  <a:latin typeface="Times" pitchFamily="2" charset="0"/>
                </a:rPr>
                <a:t>There is no acceleration in the </a:t>
              </a:r>
              <a:r>
                <a:rPr lang="en-US" sz="2400" i="1" dirty="0">
                  <a:latin typeface="Times" pitchFamily="2" charset="0"/>
                </a:rPr>
                <a:t>y</a:t>
              </a:r>
              <a:r>
                <a:rPr lang="en-US" sz="2400" dirty="0">
                  <a:latin typeface="Times" pitchFamily="2" charset="0"/>
                </a:rPr>
                <a:t> direction, i.e. equilibrium:</a:t>
              </a:r>
              <a:endParaRPr lang="en-US" sz="2400" dirty="0">
                <a:effectLst/>
                <a:latin typeface="Times" pitchFamily="2" charset="0"/>
              </a:endParaRPr>
            </a:p>
          </p:txBody>
        </p:sp>
        <p:sp>
          <p:nvSpPr>
            <p:cNvPr id="49" name="Rounded Rectangle 48">
              <a:extLst>
                <a:ext uri="{FF2B5EF4-FFF2-40B4-BE49-F238E27FC236}">
                  <a16:creationId xmlns:a16="http://schemas.microsoft.com/office/drawing/2014/main" id="{EFCE8940-62A7-F65A-1AEB-3114BB4D07ED}"/>
                </a:ext>
              </a:extLst>
            </p:cNvPr>
            <p:cNvSpPr/>
            <p:nvPr/>
          </p:nvSpPr>
          <p:spPr>
            <a:xfrm>
              <a:off x="10595112" y="5731564"/>
              <a:ext cx="1411357"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8" name="Picture 47">
            <a:extLst>
              <a:ext uri="{FF2B5EF4-FFF2-40B4-BE49-F238E27FC236}">
                <a16:creationId xmlns:a16="http://schemas.microsoft.com/office/drawing/2014/main" id="{8B791FBE-E3BE-4715-BEE5-EF0B49B5E3D6}"/>
              </a:ext>
            </a:extLst>
          </p:cNvPr>
          <p:cNvPicPr>
            <a:picLocks noChangeAspect="1"/>
          </p:cNvPicPr>
          <p:nvPr/>
        </p:nvPicPr>
        <p:blipFill>
          <a:blip r:embed="rId5"/>
          <a:stretch>
            <a:fillRect/>
          </a:stretch>
        </p:blipFill>
        <p:spPr>
          <a:xfrm>
            <a:off x="10760766" y="5828948"/>
            <a:ext cx="1120359" cy="408407"/>
          </a:xfrm>
          <a:prstGeom prst="rect">
            <a:avLst/>
          </a:prstGeom>
        </p:spPr>
      </p:pic>
    </p:spTree>
    <p:extLst>
      <p:ext uri="{BB962C8B-B14F-4D97-AF65-F5344CB8AC3E}">
        <p14:creationId xmlns:p14="http://schemas.microsoft.com/office/powerpoint/2010/main" val="258221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dissolve">
                                      <p:cBhvr>
                                        <p:cTn id="21" dur="5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dissolve">
                                      <p:cBhvr>
                                        <p:cTn id="26" dur="500"/>
                                        <p:tgtEl>
                                          <p:spTgt spid="37"/>
                                        </p:tgtEl>
                                      </p:cBhvr>
                                    </p:animEffect>
                                  </p:childTnLst>
                                </p:cTn>
                              </p:par>
                              <p:par>
                                <p:cTn id="27" presetID="9"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dissolve">
                                      <p:cBhvr>
                                        <p:cTn id="29" dur="500"/>
                                        <p:tgtEl>
                                          <p:spTgt spid="4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dissolve">
                                      <p:cBhvr>
                                        <p:cTn id="34" dur="5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dissolve">
                                      <p:cBhvr>
                                        <p:cTn id="39" dur="500"/>
                                        <p:tgtEl>
                                          <p:spTgt spid="46"/>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dissolve">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dissolve">
                                      <p:cBhvr>
                                        <p:cTn id="49" dur="500"/>
                                        <p:tgtEl>
                                          <p:spTgt spid="50"/>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dissolve">
                                      <p:cBhvr>
                                        <p:cTn id="5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37" grpId="0"/>
      <p:bldP spid="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5F1E0-756F-419B-9A79-EB1DFE7F1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619A2-F1CE-948E-4EA8-1779823B45D8}"/>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58508476-1460-924E-C356-6A4C5E6818EF}"/>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5DF44BFE-F521-D32A-D2F9-922E398E228B}"/>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7A258EC8-F0E7-A45F-E19F-D13EB216AEA4}"/>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6E16C66F-0331-6405-09D8-0B936B670199}"/>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214DB59-6859-D7C3-8EEC-E9AB59526A57}"/>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6CA9EA7-EE11-97D6-A1BA-8FF5220DC6AF}"/>
                </a:ext>
              </a:extLst>
            </p:cNvPr>
            <p:cNvSpPr txBox="1"/>
            <p:nvPr/>
          </p:nvSpPr>
          <p:spPr>
            <a:xfrm>
              <a:off x="5168348" y="4611756"/>
              <a:ext cx="781878" cy="400110"/>
            </a:xfrm>
            <a:prstGeom prst="rect">
              <a:avLst/>
            </a:prstGeom>
            <a:noFill/>
          </p:spPr>
          <p:txBody>
            <a:bodyPr wrap="square" rtlCol="0">
              <a:spAutoFit/>
            </a:bodyPr>
            <a:lstStyle/>
            <a:p>
              <a:r>
                <a:rPr lang="en-US" sz="2000" i="1" dirty="0">
                  <a:latin typeface="Times" pitchFamily="2" charset="0"/>
                </a:rPr>
                <a:t>+x</a:t>
              </a:r>
            </a:p>
          </p:txBody>
        </p:sp>
        <p:sp>
          <p:nvSpPr>
            <p:cNvPr id="18" name="TextBox 17">
              <a:extLst>
                <a:ext uri="{FF2B5EF4-FFF2-40B4-BE49-F238E27FC236}">
                  <a16:creationId xmlns:a16="http://schemas.microsoft.com/office/drawing/2014/main" id="{ECEAABB9-E788-DD8B-8086-345A32C5BAAB}"/>
                </a:ext>
              </a:extLst>
            </p:cNvPr>
            <p:cNvSpPr txBox="1"/>
            <p:nvPr/>
          </p:nvSpPr>
          <p:spPr>
            <a:xfrm>
              <a:off x="4790662" y="3597965"/>
              <a:ext cx="781878" cy="400110"/>
            </a:xfrm>
            <a:prstGeom prst="rect">
              <a:avLst/>
            </a:prstGeom>
            <a:noFill/>
          </p:spPr>
          <p:txBody>
            <a:bodyPr wrap="square" rtlCol="0">
              <a:spAutoFit/>
            </a:bodyPr>
            <a:lstStyle/>
            <a:p>
              <a:r>
                <a:rPr lang="en-US" sz="2000" i="1" dirty="0">
                  <a:latin typeface="Times" pitchFamily="2" charset="0"/>
                </a:rPr>
                <a:t>+y</a:t>
              </a:r>
            </a:p>
          </p:txBody>
        </p:sp>
      </p:grpSp>
      <p:sp>
        <p:nvSpPr>
          <p:cNvPr id="6" name="TextBox 5">
            <a:extLst>
              <a:ext uri="{FF2B5EF4-FFF2-40B4-BE49-F238E27FC236}">
                <a16:creationId xmlns:a16="http://schemas.microsoft.com/office/drawing/2014/main" id="{553713AC-395C-5D57-464D-EBA3E2BA6104}"/>
              </a:ext>
            </a:extLst>
          </p:cNvPr>
          <p:cNvSpPr txBox="1"/>
          <p:nvPr/>
        </p:nvSpPr>
        <p:spPr>
          <a:xfrm>
            <a:off x="897602" y="839960"/>
            <a:ext cx="8658610" cy="523220"/>
          </a:xfrm>
          <a:prstGeom prst="rect">
            <a:avLst/>
          </a:prstGeom>
          <a:noFill/>
        </p:spPr>
        <p:txBody>
          <a:bodyPr wrap="square" rtlCol="0">
            <a:spAutoFit/>
          </a:bodyPr>
          <a:lstStyle/>
          <a:p>
            <a:r>
              <a:rPr lang="en-US" sz="2800" dirty="0">
                <a:solidFill>
                  <a:srgbClr val="C00000"/>
                </a:solidFill>
                <a:latin typeface="Times" pitchFamily="2" charset="0"/>
              </a:rPr>
              <a:t>Example – Downhill Skiing</a:t>
            </a:r>
          </a:p>
        </p:txBody>
      </p:sp>
      <p:grpSp>
        <p:nvGrpSpPr>
          <p:cNvPr id="22" name="Group 21">
            <a:extLst>
              <a:ext uri="{FF2B5EF4-FFF2-40B4-BE49-F238E27FC236}">
                <a16:creationId xmlns:a16="http://schemas.microsoft.com/office/drawing/2014/main" id="{3E657791-ECFF-F19B-86E6-D4608CB0B876}"/>
              </a:ext>
            </a:extLst>
          </p:cNvPr>
          <p:cNvGrpSpPr/>
          <p:nvPr/>
        </p:nvGrpSpPr>
        <p:grpSpPr>
          <a:xfrm>
            <a:off x="3604592" y="1788278"/>
            <a:ext cx="8905460" cy="1133829"/>
            <a:chOff x="3604592" y="1788278"/>
            <a:chExt cx="8905460" cy="1133829"/>
          </a:xfrm>
        </p:grpSpPr>
        <p:sp>
          <p:nvSpPr>
            <p:cNvPr id="44" name="Rounded Rectangle 43">
              <a:extLst>
                <a:ext uri="{FF2B5EF4-FFF2-40B4-BE49-F238E27FC236}">
                  <a16:creationId xmlns:a16="http://schemas.microsoft.com/office/drawing/2014/main" id="{AF9AFE99-BD77-200F-A7DA-6DB5AB63777B}"/>
                </a:ext>
              </a:extLst>
            </p:cNvPr>
            <p:cNvSpPr/>
            <p:nvPr/>
          </p:nvSpPr>
          <p:spPr>
            <a:xfrm>
              <a:off x="3796747" y="2299254"/>
              <a:ext cx="7878418"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849F6F1-5453-45F0-4647-534F556ACA35}"/>
                </a:ext>
              </a:extLst>
            </p:cNvPr>
            <p:cNvSpPr txBox="1"/>
            <p:nvPr/>
          </p:nvSpPr>
          <p:spPr>
            <a:xfrm>
              <a:off x="3770245" y="2397877"/>
              <a:ext cx="3916016" cy="461665"/>
            </a:xfrm>
            <a:prstGeom prst="rect">
              <a:avLst/>
            </a:prstGeom>
            <a:noFill/>
          </p:spPr>
          <p:txBody>
            <a:bodyPr wrap="square">
              <a:spAutoFit/>
            </a:bodyPr>
            <a:lstStyle/>
            <a:p>
              <a:pPr algn="just"/>
              <a:r>
                <a:rPr lang="en-US" sz="2400" i="1" dirty="0">
                  <a:latin typeface="Times" pitchFamily="2" charset="0"/>
                </a:rPr>
                <a:t>W</a:t>
              </a:r>
              <a:r>
                <a:rPr lang="en-US" sz="2400" dirty="0">
                  <a:latin typeface="Times" pitchFamily="2" charset="0"/>
                </a:rPr>
                <a:t> = (</a:t>
              </a:r>
              <a:r>
                <a:rPr lang="en-US" sz="2400" i="1" dirty="0">
                  <a:latin typeface="Times" pitchFamily="2" charset="0"/>
                </a:rPr>
                <a:t>mg</a:t>
              </a:r>
              <a:r>
                <a:rPr lang="en-US" sz="2400" dirty="0">
                  <a:latin typeface="Times" pitchFamily="2" charset="0"/>
                </a:rPr>
                <a:t>sin</a:t>
              </a:r>
              <a:r>
                <a:rPr lang="en-US" sz="2400" dirty="0">
                  <a:latin typeface="Symbol" pitchFamily="2" charset="2"/>
                </a:rPr>
                <a:t>25</a:t>
              </a:r>
              <a:r>
                <a:rPr lang="en-US" sz="2400" baseline="30000" dirty="0">
                  <a:latin typeface="Symbol" pitchFamily="2" charset="2"/>
                </a:rPr>
                <a:t>o</a:t>
              </a:r>
              <a:r>
                <a:rPr lang="en-US" sz="2400" dirty="0">
                  <a:latin typeface="Symbol" pitchFamily="2" charset="2"/>
                </a:rPr>
                <a:t> </a:t>
              </a:r>
              <a:r>
                <a:rPr lang="en-US" sz="2400" dirty="0">
                  <a:latin typeface="Times" pitchFamily="2" charset="0"/>
                </a:rPr>
                <a:t>– </a:t>
              </a:r>
              <a:r>
                <a:rPr lang="en-US" sz="2400" i="1" dirty="0" err="1">
                  <a:latin typeface="Symbol" pitchFamily="2" charset="2"/>
                </a:rPr>
                <a:t>m</a:t>
              </a:r>
              <a:r>
                <a:rPr lang="en-US" sz="2400" baseline="-25000" dirty="0" err="1">
                  <a:latin typeface="Times" pitchFamily="2" charset="0"/>
                </a:rPr>
                <a:t>k</a:t>
              </a:r>
              <a:r>
                <a:rPr lang="en-US" sz="2400" i="1" dirty="0" err="1">
                  <a:latin typeface="Times" pitchFamily="2" charset="0"/>
                </a:rPr>
                <a:t>F</a:t>
              </a:r>
              <a:r>
                <a:rPr lang="en-US" sz="2400" baseline="-25000" dirty="0" err="1">
                  <a:latin typeface="Times" pitchFamily="2" charset="0"/>
                </a:rPr>
                <a:t>N</a:t>
              </a:r>
              <a:r>
                <a:rPr lang="en-US" sz="2400" dirty="0">
                  <a:latin typeface="Times" pitchFamily="2" charset="0"/>
                </a:rPr>
                <a:t>)(</a:t>
              </a:r>
              <a:r>
                <a:rPr lang="en-US" sz="2400" i="1" dirty="0">
                  <a:latin typeface="Times" pitchFamily="2" charset="0"/>
                </a:rPr>
                <a:t>s</a:t>
              </a:r>
              <a:r>
                <a:rPr lang="en-US" sz="2400" dirty="0">
                  <a:latin typeface="Times" pitchFamily="2" charset="0"/>
                </a:rPr>
                <a:t>) </a:t>
              </a:r>
              <a:endParaRPr lang="en-US" sz="2400" dirty="0">
                <a:effectLst/>
                <a:latin typeface="Times" pitchFamily="2" charset="0"/>
              </a:endParaRPr>
            </a:p>
          </p:txBody>
        </p:sp>
        <p:sp>
          <p:nvSpPr>
            <p:cNvPr id="47" name="TextBox 46">
              <a:extLst>
                <a:ext uri="{FF2B5EF4-FFF2-40B4-BE49-F238E27FC236}">
                  <a16:creationId xmlns:a16="http://schemas.microsoft.com/office/drawing/2014/main" id="{86F3C3F7-AE6E-EB1D-03CC-95EDE735FA51}"/>
                </a:ext>
              </a:extLst>
            </p:cNvPr>
            <p:cNvSpPr txBox="1"/>
            <p:nvPr/>
          </p:nvSpPr>
          <p:spPr>
            <a:xfrm>
              <a:off x="3604592" y="1788278"/>
              <a:ext cx="8905460" cy="461665"/>
            </a:xfrm>
            <a:prstGeom prst="rect">
              <a:avLst/>
            </a:prstGeom>
            <a:noFill/>
          </p:spPr>
          <p:txBody>
            <a:bodyPr wrap="square">
              <a:spAutoFit/>
            </a:bodyPr>
            <a:lstStyle/>
            <a:p>
              <a:pPr algn="just"/>
              <a:r>
                <a:rPr lang="en-US" sz="2400" dirty="0">
                  <a:latin typeface="Times" pitchFamily="2" charset="0"/>
                </a:rPr>
                <a:t>We can now substitute </a:t>
              </a:r>
              <a:r>
                <a:rPr lang="en-US" sz="2400" i="1" dirty="0">
                  <a:latin typeface="Times" pitchFamily="2" charset="0"/>
                </a:rPr>
                <a:t>F</a:t>
              </a:r>
              <a:r>
                <a:rPr lang="en-US" sz="2400" baseline="-25000" dirty="0">
                  <a:latin typeface="Times" pitchFamily="2" charset="0"/>
                </a:rPr>
                <a:t>N</a:t>
              </a:r>
              <a:r>
                <a:rPr lang="en-US" sz="2400" dirty="0">
                  <a:latin typeface="Times" pitchFamily="2" charset="0"/>
                </a:rPr>
                <a:t> back into our expression for the work:</a:t>
              </a:r>
              <a:endParaRPr lang="en-US" sz="2400" dirty="0">
                <a:effectLst/>
                <a:latin typeface="Times" pitchFamily="2" charset="0"/>
              </a:endParaRPr>
            </a:p>
          </p:txBody>
        </p:sp>
      </p:grpSp>
      <p:sp>
        <p:nvSpPr>
          <p:cNvPr id="49" name="Rounded Rectangle 48">
            <a:extLst>
              <a:ext uri="{FF2B5EF4-FFF2-40B4-BE49-F238E27FC236}">
                <a16:creationId xmlns:a16="http://schemas.microsoft.com/office/drawing/2014/main" id="{64F9961C-7E60-BE97-2A23-330D7C7FC784}"/>
              </a:ext>
            </a:extLst>
          </p:cNvPr>
          <p:cNvSpPr/>
          <p:nvPr/>
        </p:nvSpPr>
        <p:spPr>
          <a:xfrm>
            <a:off x="5479774" y="894521"/>
            <a:ext cx="6049618"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35BDB62-F741-2151-C202-D5B9BC310550}"/>
              </a:ext>
            </a:extLst>
          </p:cNvPr>
          <p:cNvPicPr>
            <a:picLocks noChangeAspect="1"/>
          </p:cNvPicPr>
          <p:nvPr/>
        </p:nvPicPr>
        <p:blipFill>
          <a:blip r:embed="rId4"/>
          <a:stretch>
            <a:fillRect/>
          </a:stretch>
        </p:blipFill>
        <p:spPr>
          <a:xfrm>
            <a:off x="5552661" y="1004410"/>
            <a:ext cx="954983" cy="395903"/>
          </a:xfrm>
          <a:prstGeom prst="rect">
            <a:avLst/>
          </a:prstGeom>
        </p:spPr>
      </p:pic>
      <p:sp>
        <p:nvSpPr>
          <p:cNvPr id="10" name="TextBox 9">
            <a:extLst>
              <a:ext uri="{FF2B5EF4-FFF2-40B4-BE49-F238E27FC236}">
                <a16:creationId xmlns:a16="http://schemas.microsoft.com/office/drawing/2014/main" id="{1D879A25-25E1-2F0F-B16F-39F7630DD5F5}"/>
              </a:ext>
            </a:extLst>
          </p:cNvPr>
          <p:cNvSpPr txBox="1"/>
          <p:nvPr/>
        </p:nvSpPr>
        <p:spPr>
          <a:xfrm>
            <a:off x="6440558" y="986520"/>
            <a:ext cx="2637181" cy="461665"/>
          </a:xfrm>
          <a:prstGeom prst="rect">
            <a:avLst/>
          </a:prstGeom>
          <a:noFill/>
        </p:spPr>
        <p:txBody>
          <a:bodyPr wrap="square">
            <a:spAutoFit/>
          </a:bodyPr>
          <a:lstStyle/>
          <a:p>
            <a:pPr algn="just"/>
            <a:r>
              <a:rPr lang="en-US" sz="2400" i="1" dirty="0">
                <a:latin typeface="Times" pitchFamily="2" charset="0"/>
              </a:rPr>
              <a:t>F</a:t>
            </a:r>
            <a:r>
              <a:rPr lang="en-US" sz="2400" baseline="-25000" dirty="0">
                <a:latin typeface="Times" pitchFamily="2" charset="0"/>
              </a:rPr>
              <a:t>N </a:t>
            </a:r>
            <a:r>
              <a:rPr lang="en-US" sz="2400" dirty="0">
                <a:latin typeface="Times" pitchFamily="2" charset="0"/>
              </a:rPr>
              <a:t> – </a:t>
            </a:r>
            <a:r>
              <a:rPr lang="en-US" sz="2400" i="1" dirty="0">
                <a:latin typeface="Times" pitchFamily="2" charset="0"/>
              </a:rPr>
              <a:t>mg</a:t>
            </a:r>
            <a:r>
              <a:rPr lang="en-US" sz="2400" dirty="0">
                <a:latin typeface="Times" pitchFamily="2" charset="0"/>
              </a:rPr>
              <a:t>cos</a:t>
            </a:r>
            <a:r>
              <a:rPr lang="en-US" sz="2400" dirty="0">
                <a:latin typeface="Symbol" pitchFamily="2" charset="2"/>
              </a:rPr>
              <a:t>25</a:t>
            </a:r>
            <a:r>
              <a:rPr lang="en-US" sz="2400" baseline="30000" dirty="0">
                <a:latin typeface="Symbol" pitchFamily="2" charset="2"/>
              </a:rPr>
              <a:t>o</a:t>
            </a:r>
            <a:r>
              <a:rPr lang="en-US" sz="2400" dirty="0">
                <a:latin typeface="Times" pitchFamily="2" charset="0"/>
              </a:rPr>
              <a:t>  </a:t>
            </a:r>
            <a:endParaRPr lang="en-US" sz="2400" dirty="0">
              <a:effectLst/>
              <a:latin typeface="Times" pitchFamily="2" charset="0"/>
            </a:endParaRPr>
          </a:p>
        </p:txBody>
      </p:sp>
      <p:sp>
        <p:nvSpPr>
          <p:cNvPr id="11" name="TextBox 10">
            <a:extLst>
              <a:ext uri="{FF2B5EF4-FFF2-40B4-BE49-F238E27FC236}">
                <a16:creationId xmlns:a16="http://schemas.microsoft.com/office/drawing/2014/main" id="{F2DF7D7C-5780-80E2-6A47-3776732A4770}"/>
              </a:ext>
            </a:extLst>
          </p:cNvPr>
          <p:cNvSpPr txBox="1"/>
          <p:nvPr/>
        </p:nvSpPr>
        <p:spPr>
          <a:xfrm>
            <a:off x="8408506" y="1006399"/>
            <a:ext cx="947530" cy="461665"/>
          </a:xfrm>
          <a:prstGeom prst="rect">
            <a:avLst/>
          </a:prstGeom>
          <a:noFill/>
        </p:spPr>
        <p:txBody>
          <a:bodyPr wrap="square">
            <a:spAutoFit/>
          </a:bodyPr>
          <a:lstStyle/>
          <a:p>
            <a:pPr algn="just"/>
            <a:r>
              <a:rPr lang="en-US" sz="2400" dirty="0">
                <a:latin typeface="Times" pitchFamily="2" charset="0"/>
              </a:rPr>
              <a:t>= 0</a:t>
            </a:r>
            <a:endParaRPr lang="en-US" sz="2400" dirty="0">
              <a:effectLst/>
              <a:latin typeface="Times" pitchFamily="2" charset="0"/>
            </a:endParaRPr>
          </a:p>
        </p:txBody>
      </p:sp>
      <p:sp>
        <p:nvSpPr>
          <p:cNvPr id="20" name="TextBox 19">
            <a:extLst>
              <a:ext uri="{FF2B5EF4-FFF2-40B4-BE49-F238E27FC236}">
                <a16:creationId xmlns:a16="http://schemas.microsoft.com/office/drawing/2014/main" id="{61FC2DB9-FFF3-3E2C-ADE1-9F356F52CFF8}"/>
              </a:ext>
            </a:extLst>
          </p:cNvPr>
          <p:cNvSpPr txBox="1"/>
          <p:nvPr/>
        </p:nvSpPr>
        <p:spPr>
          <a:xfrm>
            <a:off x="8991602" y="1006399"/>
            <a:ext cx="2637181" cy="461665"/>
          </a:xfrm>
          <a:prstGeom prst="rect">
            <a:avLst/>
          </a:prstGeom>
          <a:noFill/>
        </p:spPr>
        <p:txBody>
          <a:bodyPr wrap="square">
            <a:spAutoFit/>
          </a:bodyPr>
          <a:lstStyle/>
          <a:p>
            <a:pPr algn="just"/>
            <a:r>
              <a:rPr lang="en-US" sz="2400" dirty="0">
                <a:latin typeface="Times" pitchFamily="2" charset="0"/>
              </a:rPr>
              <a:t>⇒</a:t>
            </a:r>
            <a:r>
              <a:rPr lang="en-US" sz="2400" i="1" dirty="0">
                <a:latin typeface="Times" pitchFamily="2" charset="0"/>
              </a:rPr>
              <a:t>  F</a:t>
            </a:r>
            <a:r>
              <a:rPr lang="en-US" sz="2400" baseline="-25000" dirty="0">
                <a:latin typeface="Times" pitchFamily="2" charset="0"/>
              </a:rPr>
              <a:t>N </a:t>
            </a:r>
            <a:r>
              <a:rPr lang="en-US" sz="2400" dirty="0">
                <a:latin typeface="Times" pitchFamily="2" charset="0"/>
              </a:rPr>
              <a:t> = </a:t>
            </a:r>
            <a:r>
              <a:rPr lang="en-US" sz="2400" i="1" dirty="0">
                <a:latin typeface="Times" pitchFamily="2" charset="0"/>
              </a:rPr>
              <a:t>mg</a:t>
            </a:r>
            <a:r>
              <a:rPr lang="en-US" sz="2400" dirty="0">
                <a:latin typeface="Times" pitchFamily="2" charset="0"/>
              </a:rPr>
              <a:t>cos</a:t>
            </a:r>
            <a:r>
              <a:rPr lang="en-US" sz="2400" dirty="0">
                <a:latin typeface="Symbol" pitchFamily="2" charset="2"/>
              </a:rPr>
              <a:t>25</a:t>
            </a:r>
            <a:r>
              <a:rPr lang="en-US" sz="2400" baseline="30000" dirty="0">
                <a:latin typeface="Symbol" pitchFamily="2" charset="2"/>
              </a:rPr>
              <a:t>o</a:t>
            </a:r>
            <a:r>
              <a:rPr lang="en-US" sz="2400" dirty="0">
                <a:latin typeface="Times" pitchFamily="2" charset="0"/>
              </a:rPr>
              <a:t>  </a:t>
            </a:r>
            <a:endParaRPr lang="en-US" sz="2400" dirty="0">
              <a:effectLst/>
              <a:latin typeface="Times" pitchFamily="2" charset="0"/>
            </a:endParaRPr>
          </a:p>
        </p:txBody>
      </p:sp>
      <p:sp>
        <p:nvSpPr>
          <p:cNvPr id="25" name="TextBox 24">
            <a:extLst>
              <a:ext uri="{FF2B5EF4-FFF2-40B4-BE49-F238E27FC236}">
                <a16:creationId xmlns:a16="http://schemas.microsoft.com/office/drawing/2014/main" id="{4B9B3888-FE3C-F5C6-C541-3F783BD9343E}"/>
              </a:ext>
            </a:extLst>
          </p:cNvPr>
          <p:cNvSpPr txBox="1"/>
          <p:nvPr/>
        </p:nvSpPr>
        <p:spPr>
          <a:xfrm>
            <a:off x="7036907" y="2391250"/>
            <a:ext cx="4439476" cy="461665"/>
          </a:xfrm>
          <a:prstGeom prst="rect">
            <a:avLst/>
          </a:prstGeom>
          <a:noFill/>
        </p:spPr>
        <p:txBody>
          <a:bodyPr wrap="square">
            <a:spAutoFit/>
          </a:bodyPr>
          <a:lstStyle/>
          <a:p>
            <a:pPr algn="just"/>
            <a:r>
              <a:rPr lang="en-US" sz="2400" dirty="0">
                <a:latin typeface="Times" pitchFamily="2" charset="0"/>
              </a:rPr>
              <a:t>= (</a:t>
            </a:r>
            <a:r>
              <a:rPr lang="en-US" sz="2400" i="1" dirty="0">
                <a:latin typeface="Times" pitchFamily="2" charset="0"/>
              </a:rPr>
              <a:t>mg</a:t>
            </a:r>
            <a:r>
              <a:rPr lang="en-US" sz="2400" dirty="0">
                <a:latin typeface="Times" pitchFamily="2" charset="0"/>
              </a:rPr>
              <a:t>sin</a:t>
            </a:r>
            <a:r>
              <a:rPr lang="en-US" sz="2400" dirty="0">
                <a:latin typeface="Symbol" pitchFamily="2" charset="2"/>
              </a:rPr>
              <a:t>25</a:t>
            </a:r>
            <a:r>
              <a:rPr lang="en-US" sz="2400" baseline="30000" dirty="0">
                <a:latin typeface="Symbol" pitchFamily="2" charset="2"/>
              </a:rPr>
              <a:t>o</a:t>
            </a:r>
            <a:r>
              <a:rPr lang="en-US" sz="2400" dirty="0">
                <a:latin typeface="Symbol" pitchFamily="2" charset="2"/>
              </a:rPr>
              <a:t> </a:t>
            </a:r>
            <a:r>
              <a:rPr lang="en-US" sz="2400" dirty="0">
                <a:latin typeface="Times" pitchFamily="2" charset="0"/>
              </a:rPr>
              <a:t>– </a:t>
            </a:r>
            <a:r>
              <a:rPr lang="en-US" sz="2400" i="1" dirty="0">
                <a:latin typeface="Symbol" pitchFamily="2" charset="2"/>
              </a:rPr>
              <a:t>m</a:t>
            </a:r>
            <a:r>
              <a:rPr lang="en-US" sz="2400" baseline="-25000" dirty="0">
                <a:latin typeface="Times" pitchFamily="2" charset="0"/>
              </a:rPr>
              <a:t>k</a:t>
            </a:r>
            <a:r>
              <a:rPr lang="en-US" sz="2400" i="1" dirty="0">
                <a:latin typeface="Times" pitchFamily="2" charset="0"/>
              </a:rPr>
              <a:t>mg</a:t>
            </a:r>
            <a:r>
              <a:rPr lang="en-US" sz="2400" dirty="0">
                <a:latin typeface="Times" pitchFamily="2" charset="0"/>
              </a:rPr>
              <a:t>cos</a:t>
            </a:r>
            <a:r>
              <a:rPr lang="en-US" sz="2400" dirty="0">
                <a:latin typeface="Symbol" pitchFamily="2" charset="2"/>
              </a:rPr>
              <a:t>25</a:t>
            </a:r>
            <a:r>
              <a:rPr lang="en-US" sz="2400" baseline="30000" dirty="0">
                <a:latin typeface="Symbol" pitchFamily="2" charset="2"/>
              </a:rPr>
              <a:t>o</a:t>
            </a:r>
            <a:r>
              <a:rPr lang="en-US" sz="2400" dirty="0">
                <a:latin typeface="Times" pitchFamily="2" charset="0"/>
              </a:rPr>
              <a:t>)(</a:t>
            </a:r>
            <a:r>
              <a:rPr lang="en-US" sz="2400" i="1" dirty="0">
                <a:latin typeface="Times" pitchFamily="2" charset="0"/>
              </a:rPr>
              <a:t>s</a:t>
            </a:r>
            <a:r>
              <a:rPr lang="en-US" sz="2400" dirty="0">
                <a:latin typeface="Times" pitchFamily="2" charset="0"/>
              </a:rPr>
              <a:t>) </a:t>
            </a:r>
            <a:endParaRPr lang="en-US" sz="2400" dirty="0">
              <a:effectLst/>
              <a:latin typeface="Times" pitchFamily="2" charset="0"/>
            </a:endParaRPr>
          </a:p>
        </p:txBody>
      </p:sp>
      <p:grpSp>
        <p:nvGrpSpPr>
          <p:cNvPr id="32" name="Group 31">
            <a:extLst>
              <a:ext uri="{FF2B5EF4-FFF2-40B4-BE49-F238E27FC236}">
                <a16:creationId xmlns:a16="http://schemas.microsoft.com/office/drawing/2014/main" id="{FBC07E13-337B-2906-45BE-3ED0FF7AA233}"/>
              </a:ext>
            </a:extLst>
          </p:cNvPr>
          <p:cNvGrpSpPr/>
          <p:nvPr/>
        </p:nvGrpSpPr>
        <p:grpSpPr>
          <a:xfrm>
            <a:off x="5473147" y="3007477"/>
            <a:ext cx="4002157" cy="1113952"/>
            <a:chOff x="5327373" y="3007477"/>
            <a:chExt cx="4002157" cy="1113952"/>
          </a:xfrm>
        </p:grpSpPr>
        <p:sp>
          <p:nvSpPr>
            <p:cNvPr id="26" name="TextBox 25">
              <a:extLst>
                <a:ext uri="{FF2B5EF4-FFF2-40B4-BE49-F238E27FC236}">
                  <a16:creationId xmlns:a16="http://schemas.microsoft.com/office/drawing/2014/main" id="{8F77C574-385D-8E76-CAA1-E3226F0C46EC}"/>
                </a:ext>
              </a:extLst>
            </p:cNvPr>
            <p:cNvSpPr txBox="1"/>
            <p:nvPr/>
          </p:nvSpPr>
          <p:spPr>
            <a:xfrm>
              <a:off x="7162801" y="3007477"/>
              <a:ext cx="1212573" cy="461665"/>
            </a:xfrm>
            <a:prstGeom prst="rect">
              <a:avLst/>
            </a:prstGeom>
            <a:noFill/>
          </p:spPr>
          <p:txBody>
            <a:bodyPr wrap="square">
              <a:spAutoFit/>
            </a:bodyPr>
            <a:lstStyle/>
            <a:p>
              <a:pPr algn="just"/>
              <a:r>
                <a:rPr lang="en-US" sz="2400" dirty="0">
                  <a:latin typeface="Times" pitchFamily="2" charset="0"/>
                </a:rPr>
                <a:t>Or...</a:t>
              </a:r>
              <a:endParaRPr lang="en-US" sz="2400" dirty="0">
                <a:effectLst/>
                <a:latin typeface="Times" pitchFamily="2" charset="0"/>
              </a:endParaRPr>
            </a:p>
          </p:txBody>
        </p:sp>
        <p:sp>
          <p:nvSpPr>
            <p:cNvPr id="27" name="Rounded Rectangle 26">
              <a:extLst>
                <a:ext uri="{FF2B5EF4-FFF2-40B4-BE49-F238E27FC236}">
                  <a16:creationId xmlns:a16="http://schemas.microsoft.com/office/drawing/2014/main" id="{C0CD1010-A33D-659E-480F-2E81A9340C68}"/>
                </a:ext>
              </a:extLst>
            </p:cNvPr>
            <p:cNvSpPr/>
            <p:nvPr/>
          </p:nvSpPr>
          <p:spPr>
            <a:xfrm>
              <a:off x="5327373" y="3498576"/>
              <a:ext cx="4002157"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1FA80DB-9FB3-15E0-EFDB-56BC36A991D4}"/>
              </a:ext>
            </a:extLst>
          </p:cNvPr>
          <p:cNvSpPr txBox="1"/>
          <p:nvPr/>
        </p:nvSpPr>
        <p:spPr>
          <a:xfrm>
            <a:off x="5532786" y="3590572"/>
            <a:ext cx="4141302" cy="461665"/>
          </a:xfrm>
          <a:prstGeom prst="rect">
            <a:avLst/>
          </a:prstGeom>
          <a:noFill/>
        </p:spPr>
        <p:txBody>
          <a:bodyPr wrap="square">
            <a:spAutoFit/>
          </a:bodyPr>
          <a:lstStyle/>
          <a:p>
            <a:pPr algn="just"/>
            <a:r>
              <a:rPr lang="en-US" sz="2400" i="1" dirty="0">
                <a:latin typeface="Times" pitchFamily="2" charset="0"/>
              </a:rPr>
              <a:t>W</a:t>
            </a:r>
            <a:r>
              <a:rPr lang="en-US" sz="2400" dirty="0">
                <a:latin typeface="Times" pitchFamily="2" charset="0"/>
              </a:rPr>
              <a:t> = </a:t>
            </a:r>
            <a:r>
              <a:rPr lang="en-US" sz="2400" i="1" dirty="0">
                <a:latin typeface="Times" pitchFamily="2" charset="0"/>
              </a:rPr>
              <a:t>mg</a:t>
            </a:r>
            <a:r>
              <a:rPr lang="en-US" sz="2400" dirty="0">
                <a:latin typeface="Times" pitchFamily="2" charset="0"/>
              </a:rPr>
              <a:t>(sin</a:t>
            </a:r>
            <a:r>
              <a:rPr lang="en-US" sz="2400" dirty="0">
                <a:latin typeface="Symbol" pitchFamily="2" charset="2"/>
              </a:rPr>
              <a:t>25</a:t>
            </a:r>
            <a:r>
              <a:rPr lang="en-US" sz="2400" baseline="30000" dirty="0">
                <a:latin typeface="Symbol" pitchFamily="2" charset="2"/>
              </a:rPr>
              <a:t>o</a:t>
            </a:r>
            <a:r>
              <a:rPr lang="en-US" sz="2400" dirty="0">
                <a:latin typeface="Symbol" pitchFamily="2" charset="2"/>
              </a:rPr>
              <a:t> </a:t>
            </a:r>
            <a:r>
              <a:rPr lang="en-US" sz="2400" dirty="0">
                <a:latin typeface="Times" pitchFamily="2" charset="0"/>
              </a:rPr>
              <a:t>– </a:t>
            </a:r>
            <a:r>
              <a:rPr lang="en-US" sz="2400" i="1" dirty="0">
                <a:latin typeface="Symbol" pitchFamily="2" charset="2"/>
              </a:rPr>
              <a:t>m</a:t>
            </a:r>
            <a:r>
              <a:rPr lang="en-US" sz="2400" baseline="-25000" dirty="0">
                <a:latin typeface="Times" pitchFamily="2" charset="0"/>
              </a:rPr>
              <a:t>k</a:t>
            </a:r>
            <a:r>
              <a:rPr lang="en-US" sz="2400" dirty="0">
                <a:latin typeface="Times" pitchFamily="2" charset="0"/>
              </a:rPr>
              <a:t>cos</a:t>
            </a:r>
            <a:r>
              <a:rPr lang="en-US" sz="2400" dirty="0">
                <a:latin typeface="Symbol" pitchFamily="2" charset="2"/>
              </a:rPr>
              <a:t>25</a:t>
            </a:r>
            <a:r>
              <a:rPr lang="en-US" sz="2400" baseline="30000" dirty="0">
                <a:latin typeface="Symbol" pitchFamily="2" charset="2"/>
              </a:rPr>
              <a:t>o</a:t>
            </a:r>
            <a:r>
              <a:rPr lang="en-US" sz="2400" dirty="0">
                <a:latin typeface="Times" pitchFamily="2" charset="0"/>
              </a:rPr>
              <a:t>)(</a:t>
            </a:r>
            <a:r>
              <a:rPr lang="en-US" sz="2400" i="1" dirty="0">
                <a:latin typeface="Times" pitchFamily="2" charset="0"/>
              </a:rPr>
              <a:t>s</a:t>
            </a:r>
            <a:r>
              <a:rPr lang="en-US" sz="2400" dirty="0">
                <a:latin typeface="Times" pitchFamily="2" charset="0"/>
              </a:rPr>
              <a:t>) </a:t>
            </a:r>
            <a:endParaRPr lang="en-US" sz="2400" dirty="0">
              <a:effectLst/>
              <a:latin typeface="Times" pitchFamily="2" charset="0"/>
            </a:endParaRPr>
          </a:p>
        </p:txBody>
      </p:sp>
      <p:grpSp>
        <p:nvGrpSpPr>
          <p:cNvPr id="52" name="Group 51">
            <a:extLst>
              <a:ext uri="{FF2B5EF4-FFF2-40B4-BE49-F238E27FC236}">
                <a16:creationId xmlns:a16="http://schemas.microsoft.com/office/drawing/2014/main" id="{6AEDD326-CC4C-B197-7C12-D62A1AF26578}"/>
              </a:ext>
            </a:extLst>
          </p:cNvPr>
          <p:cNvGrpSpPr/>
          <p:nvPr/>
        </p:nvGrpSpPr>
        <p:grpSpPr>
          <a:xfrm>
            <a:off x="3299792" y="4286313"/>
            <a:ext cx="8219659" cy="1942208"/>
            <a:chOff x="3299792" y="4286313"/>
            <a:chExt cx="8219659" cy="1942208"/>
          </a:xfrm>
        </p:grpSpPr>
        <p:grpSp>
          <p:nvGrpSpPr>
            <p:cNvPr id="42" name="Group 41">
              <a:extLst>
                <a:ext uri="{FF2B5EF4-FFF2-40B4-BE49-F238E27FC236}">
                  <a16:creationId xmlns:a16="http://schemas.microsoft.com/office/drawing/2014/main" id="{90D7C7D1-C181-CC3D-766F-18E83CE920CC}"/>
                </a:ext>
              </a:extLst>
            </p:cNvPr>
            <p:cNvGrpSpPr/>
            <p:nvPr/>
          </p:nvGrpSpPr>
          <p:grpSpPr>
            <a:xfrm>
              <a:off x="3299792" y="4286313"/>
              <a:ext cx="8219659" cy="830997"/>
              <a:chOff x="3299792" y="4286313"/>
              <a:chExt cx="8219659" cy="830997"/>
            </a:xfrm>
          </p:grpSpPr>
          <p:sp>
            <p:nvSpPr>
              <p:cNvPr id="23" name="TextBox 22">
                <a:extLst>
                  <a:ext uri="{FF2B5EF4-FFF2-40B4-BE49-F238E27FC236}">
                    <a16:creationId xmlns:a16="http://schemas.microsoft.com/office/drawing/2014/main" id="{4214C1A4-21C4-6D61-C3B1-1D2DDB8D7BEC}"/>
                  </a:ext>
                </a:extLst>
              </p:cNvPr>
              <p:cNvSpPr txBox="1"/>
              <p:nvPr/>
            </p:nvSpPr>
            <p:spPr>
              <a:xfrm>
                <a:off x="3299792" y="4286313"/>
                <a:ext cx="5274365" cy="830997"/>
              </a:xfrm>
              <a:prstGeom prst="rect">
                <a:avLst/>
              </a:prstGeom>
              <a:noFill/>
            </p:spPr>
            <p:txBody>
              <a:bodyPr wrap="square">
                <a:spAutoFit/>
              </a:bodyPr>
              <a:lstStyle/>
              <a:p>
                <a:pPr algn="just"/>
                <a:r>
                  <a:rPr lang="en-US" sz="2400" dirty="0">
                    <a:latin typeface="Times" pitchFamily="2" charset="0"/>
                  </a:rPr>
                  <a:t>Now with our expression for the work, we can apply the work-energy theorem:</a:t>
                </a:r>
                <a:endParaRPr lang="en-US" sz="2400" dirty="0">
                  <a:effectLst/>
                  <a:latin typeface="Times" pitchFamily="2" charset="0"/>
                </a:endParaRPr>
              </a:p>
            </p:txBody>
          </p:sp>
          <p:pic>
            <p:nvPicPr>
              <p:cNvPr id="40" name="Picture 39">
                <a:extLst>
                  <a:ext uri="{FF2B5EF4-FFF2-40B4-BE49-F238E27FC236}">
                    <a16:creationId xmlns:a16="http://schemas.microsoft.com/office/drawing/2014/main" id="{515FAFA8-1895-0233-72EC-4D609635424B}"/>
                  </a:ext>
                </a:extLst>
              </p:cNvPr>
              <p:cNvPicPr>
                <a:picLocks noChangeAspect="1"/>
              </p:cNvPicPr>
              <p:nvPr/>
            </p:nvPicPr>
            <p:blipFill>
              <a:blip r:embed="rId5"/>
              <a:stretch>
                <a:fillRect/>
              </a:stretch>
            </p:blipFill>
            <p:spPr>
              <a:xfrm>
                <a:off x="8918712" y="4357424"/>
                <a:ext cx="2600739" cy="671858"/>
              </a:xfrm>
              <a:prstGeom prst="rect">
                <a:avLst/>
              </a:prstGeom>
            </p:spPr>
          </p:pic>
        </p:grpSp>
        <p:sp>
          <p:nvSpPr>
            <p:cNvPr id="51" name="Rounded Rectangle 50">
              <a:extLst>
                <a:ext uri="{FF2B5EF4-FFF2-40B4-BE49-F238E27FC236}">
                  <a16:creationId xmlns:a16="http://schemas.microsoft.com/office/drawing/2014/main" id="{095C76F5-1BE6-C084-795C-8D12F343A116}"/>
                </a:ext>
              </a:extLst>
            </p:cNvPr>
            <p:cNvSpPr/>
            <p:nvPr/>
          </p:nvSpPr>
          <p:spPr>
            <a:xfrm>
              <a:off x="4750906" y="5254489"/>
              <a:ext cx="5625548" cy="9740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5B3527A3-4DB0-FAE9-0893-0BA0499541C1}"/>
              </a:ext>
            </a:extLst>
          </p:cNvPr>
          <p:cNvGrpSpPr/>
          <p:nvPr/>
        </p:nvGrpSpPr>
        <p:grpSpPr>
          <a:xfrm>
            <a:off x="4797289" y="5426765"/>
            <a:ext cx="5496335" cy="671858"/>
            <a:chOff x="3419064" y="5477233"/>
            <a:chExt cx="5496335" cy="671858"/>
          </a:xfrm>
        </p:grpSpPr>
        <p:sp>
          <p:nvSpPr>
            <p:cNvPr id="53" name="TextBox 52">
              <a:extLst>
                <a:ext uri="{FF2B5EF4-FFF2-40B4-BE49-F238E27FC236}">
                  <a16:creationId xmlns:a16="http://schemas.microsoft.com/office/drawing/2014/main" id="{BE648F55-DA4D-3123-6009-8A97D968C21E}"/>
                </a:ext>
              </a:extLst>
            </p:cNvPr>
            <p:cNvSpPr txBox="1"/>
            <p:nvPr/>
          </p:nvSpPr>
          <p:spPr>
            <a:xfrm>
              <a:off x="3419064" y="5585025"/>
              <a:ext cx="3816623" cy="461665"/>
            </a:xfrm>
            <a:prstGeom prst="rect">
              <a:avLst/>
            </a:prstGeom>
            <a:noFill/>
          </p:spPr>
          <p:txBody>
            <a:bodyPr wrap="square">
              <a:spAutoFit/>
            </a:bodyPr>
            <a:lstStyle/>
            <a:p>
              <a:pPr algn="just"/>
              <a:r>
                <a:rPr lang="en-US" sz="2400" i="1" dirty="0">
                  <a:latin typeface="Times" pitchFamily="2" charset="0"/>
                </a:rPr>
                <a:t>mg</a:t>
              </a:r>
              <a:r>
                <a:rPr lang="en-US" sz="2400" dirty="0">
                  <a:latin typeface="Times" pitchFamily="2" charset="0"/>
                </a:rPr>
                <a:t>(sin</a:t>
              </a:r>
              <a:r>
                <a:rPr lang="en-US" sz="2400" dirty="0">
                  <a:latin typeface="Symbol" pitchFamily="2" charset="2"/>
                </a:rPr>
                <a:t>25</a:t>
              </a:r>
              <a:r>
                <a:rPr lang="en-US" sz="2400" baseline="30000" dirty="0">
                  <a:latin typeface="Symbol" pitchFamily="2" charset="2"/>
                </a:rPr>
                <a:t>o</a:t>
              </a:r>
              <a:r>
                <a:rPr lang="en-US" sz="2400" dirty="0">
                  <a:latin typeface="Symbol" pitchFamily="2" charset="2"/>
                </a:rPr>
                <a:t> </a:t>
              </a:r>
              <a:r>
                <a:rPr lang="en-US" sz="2400" dirty="0">
                  <a:latin typeface="Times" pitchFamily="2" charset="0"/>
                </a:rPr>
                <a:t>– </a:t>
              </a:r>
              <a:r>
                <a:rPr lang="en-US" sz="2400" i="1" dirty="0">
                  <a:latin typeface="Symbol" pitchFamily="2" charset="2"/>
                </a:rPr>
                <a:t>m</a:t>
              </a:r>
              <a:r>
                <a:rPr lang="en-US" sz="2400" baseline="-25000" dirty="0">
                  <a:latin typeface="Times" pitchFamily="2" charset="0"/>
                </a:rPr>
                <a:t>k</a:t>
              </a:r>
              <a:r>
                <a:rPr lang="en-US" sz="2400" dirty="0">
                  <a:latin typeface="Times" pitchFamily="2" charset="0"/>
                </a:rPr>
                <a:t>cos</a:t>
              </a:r>
              <a:r>
                <a:rPr lang="en-US" sz="2400" dirty="0">
                  <a:latin typeface="Symbol" pitchFamily="2" charset="2"/>
                </a:rPr>
                <a:t>25</a:t>
              </a:r>
              <a:r>
                <a:rPr lang="en-US" sz="2400" baseline="30000" dirty="0">
                  <a:latin typeface="Symbol" pitchFamily="2" charset="2"/>
                </a:rPr>
                <a:t>o</a:t>
              </a:r>
              <a:r>
                <a:rPr lang="en-US" sz="2400" dirty="0">
                  <a:latin typeface="Times" pitchFamily="2" charset="0"/>
                </a:rPr>
                <a:t>)(</a:t>
              </a:r>
              <a:r>
                <a:rPr lang="en-US" sz="2400" i="1" dirty="0">
                  <a:latin typeface="Times" pitchFamily="2" charset="0"/>
                </a:rPr>
                <a:t>s</a:t>
              </a:r>
              <a:r>
                <a:rPr lang="en-US" sz="2400" dirty="0">
                  <a:latin typeface="Times" pitchFamily="2" charset="0"/>
                </a:rPr>
                <a:t>) =  </a:t>
              </a:r>
              <a:endParaRPr lang="en-US" sz="2400" dirty="0">
                <a:effectLst/>
                <a:latin typeface="Times" pitchFamily="2" charset="0"/>
              </a:endParaRPr>
            </a:p>
          </p:txBody>
        </p:sp>
        <p:pic>
          <p:nvPicPr>
            <p:cNvPr id="54" name="Picture 53">
              <a:extLst>
                <a:ext uri="{FF2B5EF4-FFF2-40B4-BE49-F238E27FC236}">
                  <a16:creationId xmlns:a16="http://schemas.microsoft.com/office/drawing/2014/main" id="{70DD762C-EEFE-FD19-D66E-4A441C3AD1A2}"/>
                </a:ext>
              </a:extLst>
            </p:cNvPr>
            <p:cNvPicPr>
              <a:picLocks noChangeAspect="1"/>
            </p:cNvPicPr>
            <p:nvPr/>
          </p:nvPicPr>
          <p:blipFill>
            <a:blip r:embed="rId5"/>
            <a:srcRect l="22166"/>
            <a:stretch/>
          </p:blipFill>
          <p:spPr>
            <a:xfrm>
              <a:off x="6891131" y="5477233"/>
              <a:ext cx="2024268" cy="671858"/>
            </a:xfrm>
            <a:prstGeom prst="rect">
              <a:avLst/>
            </a:prstGeom>
          </p:spPr>
        </p:pic>
      </p:grpSp>
    </p:spTree>
    <p:extLst>
      <p:ext uri="{BB962C8B-B14F-4D97-AF65-F5344CB8AC3E}">
        <p14:creationId xmlns:p14="http://schemas.microsoft.com/office/powerpoint/2010/main" val="17969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dissolv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dissolve">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dissolv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dissolve">
                                      <p:cBhvr>
                                        <p:cTn id="41" dur="500"/>
                                        <p:tgtEl>
                                          <p:spTgt spid="52"/>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dissolve">
                                      <p:cBhvr>
                                        <p:cTn id="4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0" grpId="0"/>
      <p:bldP spid="25"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577C-60A3-74D8-0795-8E5AED7D0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DA64D-FB53-2D25-BDCE-BB1082B4FA0D}"/>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E83154ED-C6E3-BA11-C79B-173948B0FD2F}"/>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0C965095-DD18-BDE1-5B5C-AC1443FE321C}"/>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94918038-704B-654C-2240-AFBF4E602768}"/>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8DF50161-F1EE-01C4-C2B0-92B1B4465038}"/>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946A460-2FDD-9E7E-3085-86464BD1D60C}"/>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91E1962-047F-2B86-6E0C-01D8BF6B1E6A}"/>
                </a:ext>
              </a:extLst>
            </p:cNvPr>
            <p:cNvSpPr txBox="1"/>
            <p:nvPr/>
          </p:nvSpPr>
          <p:spPr>
            <a:xfrm>
              <a:off x="5168348" y="4611756"/>
              <a:ext cx="781878" cy="400110"/>
            </a:xfrm>
            <a:prstGeom prst="rect">
              <a:avLst/>
            </a:prstGeom>
            <a:noFill/>
          </p:spPr>
          <p:txBody>
            <a:bodyPr wrap="square" rtlCol="0">
              <a:spAutoFit/>
            </a:bodyPr>
            <a:lstStyle/>
            <a:p>
              <a:r>
                <a:rPr lang="en-US" sz="2000" i="1" dirty="0">
                  <a:latin typeface="Times" pitchFamily="2" charset="0"/>
                </a:rPr>
                <a:t>+x</a:t>
              </a:r>
            </a:p>
          </p:txBody>
        </p:sp>
        <p:sp>
          <p:nvSpPr>
            <p:cNvPr id="18" name="TextBox 17">
              <a:extLst>
                <a:ext uri="{FF2B5EF4-FFF2-40B4-BE49-F238E27FC236}">
                  <a16:creationId xmlns:a16="http://schemas.microsoft.com/office/drawing/2014/main" id="{D18E5580-6365-BD60-EEDE-0B174357AABD}"/>
                </a:ext>
              </a:extLst>
            </p:cNvPr>
            <p:cNvSpPr txBox="1"/>
            <p:nvPr/>
          </p:nvSpPr>
          <p:spPr>
            <a:xfrm>
              <a:off x="4790662" y="3597965"/>
              <a:ext cx="781878" cy="400110"/>
            </a:xfrm>
            <a:prstGeom prst="rect">
              <a:avLst/>
            </a:prstGeom>
            <a:noFill/>
          </p:spPr>
          <p:txBody>
            <a:bodyPr wrap="square" rtlCol="0">
              <a:spAutoFit/>
            </a:bodyPr>
            <a:lstStyle/>
            <a:p>
              <a:r>
                <a:rPr lang="en-US" sz="2000" i="1" dirty="0">
                  <a:latin typeface="Times" pitchFamily="2" charset="0"/>
                </a:rPr>
                <a:t>+y</a:t>
              </a:r>
            </a:p>
          </p:txBody>
        </p:sp>
      </p:grpSp>
      <p:sp>
        <p:nvSpPr>
          <p:cNvPr id="6" name="TextBox 5">
            <a:extLst>
              <a:ext uri="{FF2B5EF4-FFF2-40B4-BE49-F238E27FC236}">
                <a16:creationId xmlns:a16="http://schemas.microsoft.com/office/drawing/2014/main" id="{E789609D-DCB0-3BE2-619F-2EE9BFE4D8C8}"/>
              </a:ext>
            </a:extLst>
          </p:cNvPr>
          <p:cNvSpPr txBox="1"/>
          <p:nvPr/>
        </p:nvSpPr>
        <p:spPr>
          <a:xfrm>
            <a:off x="897602" y="839960"/>
            <a:ext cx="8658610" cy="523220"/>
          </a:xfrm>
          <a:prstGeom prst="rect">
            <a:avLst/>
          </a:prstGeom>
          <a:noFill/>
        </p:spPr>
        <p:txBody>
          <a:bodyPr wrap="square" rtlCol="0">
            <a:spAutoFit/>
          </a:bodyPr>
          <a:lstStyle/>
          <a:p>
            <a:r>
              <a:rPr lang="en-US" sz="2800" dirty="0">
                <a:solidFill>
                  <a:srgbClr val="C00000"/>
                </a:solidFill>
                <a:latin typeface="Times" pitchFamily="2" charset="0"/>
              </a:rPr>
              <a:t>Example – Downhill Skiing</a:t>
            </a:r>
          </a:p>
        </p:txBody>
      </p:sp>
      <p:grpSp>
        <p:nvGrpSpPr>
          <p:cNvPr id="22" name="Group 21">
            <a:extLst>
              <a:ext uri="{FF2B5EF4-FFF2-40B4-BE49-F238E27FC236}">
                <a16:creationId xmlns:a16="http://schemas.microsoft.com/office/drawing/2014/main" id="{84961FEE-776A-B933-8FD8-0274229892F8}"/>
              </a:ext>
            </a:extLst>
          </p:cNvPr>
          <p:cNvGrpSpPr/>
          <p:nvPr/>
        </p:nvGrpSpPr>
        <p:grpSpPr>
          <a:xfrm>
            <a:off x="4154556" y="887130"/>
            <a:ext cx="10383078" cy="1471758"/>
            <a:chOff x="4154556" y="887130"/>
            <a:chExt cx="10383078" cy="1471758"/>
          </a:xfrm>
        </p:grpSpPr>
        <p:sp>
          <p:nvSpPr>
            <p:cNvPr id="44" name="Rounded Rectangle 43">
              <a:extLst>
                <a:ext uri="{FF2B5EF4-FFF2-40B4-BE49-F238E27FC236}">
                  <a16:creationId xmlns:a16="http://schemas.microsoft.com/office/drawing/2014/main" id="{9387CD5A-9511-CC51-C717-18D705CDADA8}"/>
                </a:ext>
              </a:extLst>
            </p:cNvPr>
            <p:cNvSpPr/>
            <p:nvPr/>
          </p:nvSpPr>
          <p:spPr>
            <a:xfrm>
              <a:off x="4154556" y="1451116"/>
              <a:ext cx="5519531"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77EC1A0-249B-8882-CC3B-317ED4FC2565}"/>
                </a:ext>
              </a:extLst>
            </p:cNvPr>
            <p:cNvSpPr txBox="1"/>
            <p:nvPr/>
          </p:nvSpPr>
          <p:spPr>
            <a:xfrm>
              <a:off x="5632174" y="887130"/>
              <a:ext cx="8905460" cy="461665"/>
            </a:xfrm>
            <a:prstGeom prst="rect">
              <a:avLst/>
            </a:prstGeom>
            <a:noFill/>
          </p:spPr>
          <p:txBody>
            <a:bodyPr wrap="square">
              <a:spAutoFit/>
            </a:bodyPr>
            <a:lstStyle/>
            <a:p>
              <a:pPr algn="just"/>
              <a:r>
                <a:rPr lang="en-US" sz="2400" dirty="0">
                  <a:latin typeface="Times" pitchFamily="2" charset="0"/>
                </a:rPr>
                <a:t>Work through the algebra to solve for</a:t>
              </a:r>
              <a:r>
                <a:rPr lang="en-US" sz="2400" i="1" dirty="0">
                  <a:latin typeface="Times" pitchFamily="2" charset="0"/>
                </a:rPr>
                <a:t> </a:t>
              </a:r>
              <a:r>
                <a:rPr lang="en-US" sz="2400" i="1" dirty="0" err="1">
                  <a:latin typeface="Times" pitchFamily="2" charset="0"/>
                </a:rPr>
                <a:t>v</a:t>
              </a:r>
              <a:r>
                <a:rPr lang="en-US" sz="2400" i="1" baseline="-25000" dirty="0" err="1">
                  <a:latin typeface="Times" pitchFamily="2" charset="0"/>
                </a:rPr>
                <a:t>f</a:t>
              </a:r>
              <a:r>
                <a:rPr lang="en-US" sz="2400" dirty="0">
                  <a:latin typeface="Times" pitchFamily="2" charset="0"/>
                </a:rPr>
                <a:t>:</a:t>
              </a:r>
              <a:endParaRPr lang="en-US" sz="2400" dirty="0">
                <a:effectLst/>
                <a:latin typeface="Times" pitchFamily="2" charset="0"/>
              </a:endParaRPr>
            </a:p>
          </p:txBody>
        </p:sp>
      </p:grpSp>
      <p:grpSp>
        <p:nvGrpSpPr>
          <p:cNvPr id="12" name="Group 11">
            <a:extLst>
              <a:ext uri="{FF2B5EF4-FFF2-40B4-BE49-F238E27FC236}">
                <a16:creationId xmlns:a16="http://schemas.microsoft.com/office/drawing/2014/main" id="{19991E3A-7736-28AB-3537-92FC78CB0FF5}"/>
              </a:ext>
            </a:extLst>
          </p:cNvPr>
          <p:cNvGrpSpPr/>
          <p:nvPr/>
        </p:nvGrpSpPr>
        <p:grpSpPr>
          <a:xfrm>
            <a:off x="4346713" y="1593153"/>
            <a:ext cx="6036364" cy="672970"/>
            <a:chOff x="4346713" y="1593153"/>
            <a:chExt cx="6036364" cy="672970"/>
          </a:xfrm>
        </p:grpSpPr>
        <p:pic>
          <p:nvPicPr>
            <p:cNvPr id="5" name="Picture 4">
              <a:extLst>
                <a:ext uri="{FF2B5EF4-FFF2-40B4-BE49-F238E27FC236}">
                  <a16:creationId xmlns:a16="http://schemas.microsoft.com/office/drawing/2014/main" id="{0EDB28C6-279E-5EB9-0E58-99309A635E27}"/>
                </a:ext>
              </a:extLst>
            </p:cNvPr>
            <p:cNvPicPr>
              <a:picLocks noChangeAspect="1"/>
            </p:cNvPicPr>
            <p:nvPr/>
          </p:nvPicPr>
          <p:blipFill>
            <a:blip r:embed="rId4"/>
            <a:stretch>
              <a:fillRect/>
            </a:stretch>
          </p:blipFill>
          <p:spPr>
            <a:xfrm>
              <a:off x="4346713" y="1593153"/>
              <a:ext cx="2245302" cy="672970"/>
            </a:xfrm>
            <a:prstGeom prst="rect">
              <a:avLst/>
            </a:prstGeom>
          </p:spPr>
        </p:pic>
        <p:sp>
          <p:nvSpPr>
            <p:cNvPr id="7" name="TextBox 6">
              <a:extLst>
                <a:ext uri="{FF2B5EF4-FFF2-40B4-BE49-F238E27FC236}">
                  <a16:creationId xmlns:a16="http://schemas.microsoft.com/office/drawing/2014/main" id="{F5C61D11-3129-3E67-3E5A-B72A04F399E7}"/>
                </a:ext>
              </a:extLst>
            </p:cNvPr>
            <p:cNvSpPr txBox="1"/>
            <p:nvPr/>
          </p:nvSpPr>
          <p:spPr>
            <a:xfrm>
              <a:off x="6566454" y="1698053"/>
              <a:ext cx="3816623" cy="461665"/>
            </a:xfrm>
            <a:prstGeom prst="rect">
              <a:avLst/>
            </a:prstGeom>
            <a:noFill/>
          </p:spPr>
          <p:txBody>
            <a:bodyPr wrap="square">
              <a:spAutoFit/>
            </a:bodyPr>
            <a:lstStyle/>
            <a:p>
              <a:pPr algn="just"/>
              <a:r>
                <a:rPr lang="en-US" sz="2400" i="1" dirty="0">
                  <a:latin typeface="Times" pitchFamily="2" charset="0"/>
                </a:rPr>
                <a:t>mgs</a:t>
              </a:r>
              <a:r>
                <a:rPr lang="en-US" sz="2400" dirty="0">
                  <a:latin typeface="Times" pitchFamily="2" charset="0"/>
                </a:rPr>
                <a:t>(sin</a:t>
              </a:r>
              <a:r>
                <a:rPr lang="en-US" sz="2400" dirty="0">
                  <a:latin typeface="Symbol" pitchFamily="2" charset="2"/>
                </a:rPr>
                <a:t>25</a:t>
              </a:r>
              <a:r>
                <a:rPr lang="en-US" sz="2400" baseline="30000" dirty="0">
                  <a:latin typeface="Symbol" pitchFamily="2" charset="2"/>
                </a:rPr>
                <a:t>o</a:t>
              </a:r>
              <a:r>
                <a:rPr lang="en-US" sz="2400" dirty="0">
                  <a:latin typeface="Symbol" pitchFamily="2" charset="2"/>
                </a:rPr>
                <a:t> </a:t>
              </a:r>
              <a:r>
                <a:rPr lang="en-US" sz="2400" dirty="0">
                  <a:latin typeface="Times" pitchFamily="2" charset="0"/>
                </a:rPr>
                <a:t>– </a:t>
              </a:r>
              <a:r>
                <a:rPr lang="en-US" sz="2400" i="1" dirty="0">
                  <a:latin typeface="Symbol" pitchFamily="2" charset="2"/>
                </a:rPr>
                <a:t>m</a:t>
              </a:r>
              <a:r>
                <a:rPr lang="en-US" sz="2400" baseline="-25000" dirty="0">
                  <a:latin typeface="Times" pitchFamily="2" charset="0"/>
                </a:rPr>
                <a:t>k</a:t>
              </a:r>
              <a:r>
                <a:rPr lang="en-US" sz="2400" dirty="0">
                  <a:latin typeface="Times" pitchFamily="2" charset="0"/>
                </a:rPr>
                <a:t>cos</a:t>
              </a:r>
              <a:r>
                <a:rPr lang="en-US" sz="2400" dirty="0">
                  <a:latin typeface="Symbol" pitchFamily="2" charset="2"/>
                </a:rPr>
                <a:t>25</a:t>
              </a:r>
              <a:r>
                <a:rPr lang="en-US" sz="2400" baseline="30000" dirty="0">
                  <a:latin typeface="Symbol" pitchFamily="2" charset="2"/>
                </a:rPr>
                <a:t>o</a:t>
              </a:r>
              <a:r>
                <a:rPr lang="en-US" sz="2400" dirty="0">
                  <a:latin typeface="Times" pitchFamily="2" charset="0"/>
                </a:rPr>
                <a:t>)  </a:t>
              </a:r>
              <a:endParaRPr lang="en-US" sz="2400" dirty="0">
                <a:effectLst/>
                <a:latin typeface="Times" pitchFamily="2" charset="0"/>
              </a:endParaRPr>
            </a:p>
          </p:txBody>
        </p:sp>
      </p:grpSp>
      <p:sp>
        <p:nvSpPr>
          <p:cNvPr id="14" name="TextBox 13">
            <a:extLst>
              <a:ext uri="{FF2B5EF4-FFF2-40B4-BE49-F238E27FC236}">
                <a16:creationId xmlns:a16="http://schemas.microsoft.com/office/drawing/2014/main" id="{42430C03-AEE6-B300-84E1-4DD2B52F7E5B}"/>
              </a:ext>
            </a:extLst>
          </p:cNvPr>
          <p:cNvSpPr txBox="1"/>
          <p:nvPr/>
        </p:nvSpPr>
        <p:spPr>
          <a:xfrm>
            <a:off x="4101548" y="2550277"/>
            <a:ext cx="5771322" cy="461665"/>
          </a:xfrm>
          <a:prstGeom prst="rect">
            <a:avLst/>
          </a:prstGeom>
          <a:noFill/>
        </p:spPr>
        <p:txBody>
          <a:bodyPr wrap="square">
            <a:spAutoFit/>
          </a:bodyPr>
          <a:lstStyle/>
          <a:p>
            <a:pPr algn="just"/>
            <a:r>
              <a:rPr lang="en-US" sz="2400" dirty="0">
                <a:effectLst/>
                <a:latin typeface="Times" pitchFamily="2" charset="0"/>
              </a:rPr>
              <a:t>*Note:  </a:t>
            </a:r>
            <a:r>
              <a:rPr lang="en-US" sz="2400" dirty="0">
                <a:latin typeface="Times" pitchFamily="2" charset="0"/>
              </a:rPr>
              <a:t>The mass (</a:t>
            </a:r>
            <a:r>
              <a:rPr lang="en-US" sz="2400" i="1" dirty="0">
                <a:latin typeface="Times" pitchFamily="2" charset="0"/>
              </a:rPr>
              <a:t>m</a:t>
            </a:r>
            <a:r>
              <a:rPr lang="en-US" sz="2400" dirty="0">
                <a:latin typeface="Times" pitchFamily="2" charset="0"/>
              </a:rPr>
              <a:t>) of the skier drops out.</a:t>
            </a:r>
            <a:endParaRPr lang="en-US" sz="2400" dirty="0">
              <a:effectLst/>
              <a:latin typeface="Times" pitchFamily="2" charset="0"/>
            </a:endParaRPr>
          </a:p>
        </p:txBody>
      </p:sp>
      <p:grpSp>
        <p:nvGrpSpPr>
          <p:cNvPr id="29" name="Group 28">
            <a:extLst>
              <a:ext uri="{FF2B5EF4-FFF2-40B4-BE49-F238E27FC236}">
                <a16:creationId xmlns:a16="http://schemas.microsoft.com/office/drawing/2014/main" id="{D051A3E2-82E3-A706-2350-AFFDBB9B2E4B}"/>
              </a:ext>
            </a:extLst>
          </p:cNvPr>
          <p:cNvGrpSpPr/>
          <p:nvPr/>
        </p:nvGrpSpPr>
        <p:grpSpPr>
          <a:xfrm>
            <a:off x="4585252" y="1789043"/>
            <a:ext cx="2259496" cy="351183"/>
            <a:chOff x="4585252" y="1789043"/>
            <a:chExt cx="2259496" cy="351183"/>
          </a:xfrm>
        </p:grpSpPr>
        <p:cxnSp>
          <p:nvCxnSpPr>
            <p:cNvPr id="16" name="Straight Connector 15">
              <a:extLst>
                <a:ext uri="{FF2B5EF4-FFF2-40B4-BE49-F238E27FC236}">
                  <a16:creationId xmlns:a16="http://schemas.microsoft.com/office/drawing/2014/main" id="{7BCC4FDC-78B2-170D-2542-E31AB7FADC39}"/>
                </a:ext>
              </a:extLst>
            </p:cNvPr>
            <p:cNvCxnSpPr/>
            <p:nvPr/>
          </p:nvCxnSpPr>
          <p:spPr>
            <a:xfrm flipV="1">
              <a:off x="4585252" y="1789043"/>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37DEC14-2427-3837-E66F-8A23DC7F11F9}"/>
                </a:ext>
              </a:extLst>
            </p:cNvPr>
            <p:cNvCxnSpPr/>
            <p:nvPr/>
          </p:nvCxnSpPr>
          <p:spPr>
            <a:xfrm flipV="1">
              <a:off x="5784574" y="1795669"/>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67C6B90-C165-BD65-E090-C434D22526A5}"/>
                </a:ext>
              </a:extLst>
            </p:cNvPr>
            <p:cNvCxnSpPr/>
            <p:nvPr/>
          </p:nvCxnSpPr>
          <p:spPr>
            <a:xfrm flipV="1">
              <a:off x="6645965" y="1808921"/>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0" name="Rounded Rectangle 29">
            <a:extLst>
              <a:ext uri="{FF2B5EF4-FFF2-40B4-BE49-F238E27FC236}">
                <a16:creationId xmlns:a16="http://schemas.microsoft.com/office/drawing/2014/main" id="{97CB6DFD-4DEF-0F9C-21AB-34BA7EF3E6DE}"/>
              </a:ext>
            </a:extLst>
          </p:cNvPr>
          <p:cNvSpPr/>
          <p:nvPr/>
        </p:nvSpPr>
        <p:spPr>
          <a:xfrm>
            <a:off x="4558748" y="3087760"/>
            <a:ext cx="4810540"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5E4C3F0-BE7D-AAD4-FA78-14EF8D00D14E}"/>
              </a:ext>
            </a:extLst>
          </p:cNvPr>
          <p:cNvSpPr txBox="1"/>
          <p:nvPr/>
        </p:nvSpPr>
        <p:spPr>
          <a:xfrm>
            <a:off x="4572002" y="3334696"/>
            <a:ext cx="5300868" cy="461665"/>
          </a:xfrm>
          <a:prstGeom prst="rect">
            <a:avLst/>
          </a:prstGeom>
          <a:noFill/>
        </p:spPr>
        <p:txBody>
          <a:bodyPr wrap="square">
            <a:spAutoFit/>
          </a:bodyPr>
          <a:lstStyle/>
          <a:p>
            <a:pPr algn="just"/>
            <a:r>
              <a:rPr lang="en-US" sz="2400" dirty="0">
                <a:latin typeface="Times" pitchFamily="2" charset="0"/>
              </a:rPr>
              <a:t>⇒</a:t>
            </a:r>
            <a:r>
              <a:rPr lang="en-US" sz="2400" i="1" dirty="0">
                <a:latin typeface="Times" pitchFamily="2" charset="0"/>
              </a:rPr>
              <a:t>  v</a:t>
            </a:r>
            <a:r>
              <a:rPr lang="en-US" sz="2400" i="1" baseline="-25000" dirty="0">
                <a:latin typeface="Times" pitchFamily="2" charset="0"/>
              </a:rPr>
              <a:t>f</a:t>
            </a:r>
            <a:r>
              <a:rPr lang="en-US" sz="2400" i="1" baseline="30000" dirty="0">
                <a:latin typeface="Times" pitchFamily="2" charset="0"/>
              </a:rPr>
              <a:t>2</a:t>
            </a:r>
            <a:r>
              <a:rPr lang="en-US" sz="2400" i="1" dirty="0">
                <a:latin typeface="Times" pitchFamily="2" charset="0"/>
              </a:rPr>
              <a:t> </a:t>
            </a:r>
            <a:r>
              <a:rPr lang="en-US" sz="2400" dirty="0">
                <a:latin typeface="Times" pitchFamily="2" charset="0"/>
              </a:rPr>
              <a:t>= </a:t>
            </a:r>
            <a:r>
              <a:rPr lang="en-US" sz="2400" i="1" dirty="0">
                <a:latin typeface="Times" pitchFamily="2" charset="0"/>
              </a:rPr>
              <a:t>v</a:t>
            </a:r>
            <a:r>
              <a:rPr lang="en-US" sz="2400" baseline="-25000" dirty="0">
                <a:latin typeface="Times" pitchFamily="2" charset="0"/>
              </a:rPr>
              <a:t>0</a:t>
            </a:r>
            <a:r>
              <a:rPr lang="en-US" sz="2400" i="1" baseline="30000" dirty="0">
                <a:latin typeface="Times" pitchFamily="2" charset="0"/>
              </a:rPr>
              <a:t>2 </a:t>
            </a:r>
            <a:r>
              <a:rPr lang="en-US" sz="2400" baseline="30000" dirty="0">
                <a:latin typeface="Times" pitchFamily="2" charset="0"/>
              </a:rPr>
              <a:t> </a:t>
            </a:r>
            <a:r>
              <a:rPr lang="en-US" sz="2400" dirty="0">
                <a:latin typeface="Times" pitchFamily="2" charset="0"/>
              </a:rPr>
              <a:t>+ 2</a:t>
            </a:r>
            <a:r>
              <a:rPr lang="en-US" sz="2400" i="1" dirty="0">
                <a:latin typeface="Times" pitchFamily="2" charset="0"/>
              </a:rPr>
              <a:t>gs</a:t>
            </a:r>
            <a:r>
              <a:rPr lang="en-US" sz="2400" dirty="0">
                <a:latin typeface="Times" pitchFamily="2" charset="0"/>
              </a:rPr>
              <a:t>(sin</a:t>
            </a:r>
            <a:r>
              <a:rPr lang="en-US" sz="2400" dirty="0">
                <a:latin typeface="Symbol" pitchFamily="2" charset="2"/>
              </a:rPr>
              <a:t>25</a:t>
            </a:r>
            <a:r>
              <a:rPr lang="en-US" sz="2400" baseline="30000" dirty="0">
                <a:latin typeface="Symbol" pitchFamily="2" charset="2"/>
              </a:rPr>
              <a:t>o</a:t>
            </a:r>
            <a:r>
              <a:rPr lang="en-US" sz="2400" dirty="0">
                <a:latin typeface="Symbol" pitchFamily="2" charset="2"/>
              </a:rPr>
              <a:t> </a:t>
            </a:r>
            <a:r>
              <a:rPr lang="en-US" sz="2400" dirty="0">
                <a:latin typeface="Times" pitchFamily="2" charset="0"/>
              </a:rPr>
              <a:t>– </a:t>
            </a:r>
            <a:r>
              <a:rPr lang="en-US" sz="2400" i="1" dirty="0">
                <a:latin typeface="Symbol" pitchFamily="2" charset="2"/>
              </a:rPr>
              <a:t>m</a:t>
            </a:r>
            <a:r>
              <a:rPr lang="en-US" sz="2400" baseline="-25000" dirty="0">
                <a:latin typeface="Times" pitchFamily="2" charset="0"/>
              </a:rPr>
              <a:t>k</a:t>
            </a:r>
            <a:r>
              <a:rPr lang="en-US" sz="2400" dirty="0">
                <a:latin typeface="Times" pitchFamily="2" charset="0"/>
              </a:rPr>
              <a:t>cos</a:t>
            </a:r>
            <a:r>
              <a:rPr lang="en-US" sz="2400" dirty="0">
                <a:latin typeface="Symbol" pitchFamily="2" charset="2"/>
              </a:rPr>
              <a:t>25</a:t>
            </a:r>
            <a:r>
              <a:rPr lang="en-US" sz="2400" baseline="30000" dirty="0">
                <a:latin typeface="Symbol" pitchFamily="2" charset="2"/>
              </a:rPr>
              <a:t>o</a:t>
            </a:r>
            <a:r>
              <a:rPr lang="en-US" sz="2400" dirty="0">
                <a:latin typeface="Times" pitchFamily="2" charset="0"/>
              </a:rPr>
              <a:t>)  </a:t>
            </a:r>
            <a:endParaRPr lang="en-US" sz="2400" dirty="0">
              <a:effectLst/>
              <a:latin typeface="Times" pitchFamily="2" charset="0"/>
            </a:endParaRPr>
          </a:p>
        </p:txBody>
      </p:sp>
      <p:sp>
        <p:nvSpPr>
          <p:cNvPr id="33" name="Rounded Rectangle 32">
            <a:extLst>
              <a:ext uri="{FF2B5EF4-FFF2-40B4-BE49-F238E27FC236}">
                <a16:creationId xmlns:a16="http://schemas.microsoft.com/office/drawing/2014/main" id="{A9BD555A-C77A-2E21-BE60-E326836D815B}"/>
              </a:ext>
            </a:extLst>
          </p:cNvPr>
          <p:cNvSpPr/>
          <p:nvPr/>
        </p:nvSpPr>
        <p:spPr>
          <a:xfrm>
            <a:off x="4220816" y="4220821"/>
            <a:ext cx="5400261"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6ACAC704-BA20-76B0-6CEC-B429FA0A81C8}"/>
              </a:ext>
            </a:extLst>
          </p:cNvPr>
          <p:cNvPicPr>
            <a:picLocks noChangeAspect="1"/>
          </p:cNvPicPr>
          <p:nvPr/>
        </p:nvPicPr>
        <p:blipFill>
          <a:blip r:embed="rId5"/>
          <a:stretch>
            <a:fillRect/>
          </a:stretch>
        </p:blipFill>
        <p:spPr>
          <a:xfrm>
            <a:off x="4306956" y="4407263"/>
            <a:ext cx="5052391" cy="584523"/>
          </a:xfrm>
          <a:prstGeom prst="rect">
            <a:avLst/>
          </a:prstGeom>
        </p:spPr>
      </p:pic>
      <p:sp>
        <p:nvSpPr>
          <p:cNvPr id="35" name="Rounded Rectangle 34">
            <a:extLst>
              <a:ext uri="{FF2B5EF4-FFF2-40B4-BE49-F238E27FC236}">
                <a16:creationId xmlns:a16="http://schemas.microsoft.com/office/drawing/2014/main" id="{1392BBA2-3773-5DCD-7FF9-7A4A8206398E}"/>
              </a:ext>
            </a:extLst>
          </p:cNvPr>
          <p:cNvSpPr/>
          <p:nvPr/>
        </p:nvSpPr>
        <p:spPr>
          <a:xfrm>
            <a:off x="3127512" y="5393638"/>
            <a:ext cx="8216350"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8C149021-C7BC-48F4-3FFE-99C3D64EFA5E}"/>
              </a:ext>
            </a:extLst>
          </p:cNvPr>
          <p:cNvPicPr>
            <a:picLocks noChangeAspect="1"/>
          </p:cNvPicPr>
          <p:nvPr/>
        </p:nvPicPr>
        <p:blipFill>
          <a:blip r:embed="rId6"/>
          <a:stretch>
            <a:fillRect/>
          </a:stretch>
        </p:blipFill>
        <p:spPr>
          <a:xfrm>
            <a:off x="3193773" y="5621620"/>
            <a:ext cx="6881191" cy="473349"/>
          </a:xfrm>
          <a:prstGeom prst="rect">
            <a:avLst/>
          </a:prstGeom>
        </p:spPr>
      </p:pic>
      <p:sp>
        <p:nvSpPr>
          <p:cNvPr id="41" name="TextBox 40">
            <a:extLst>
              <a:ext uri="{FF2B5EF4-FFF2-40B4-BE49-F238E27FC236}">
                <a16:creationId xmlns:a16="http://schemas.microsoft.com/office/drawing/2014/main" id="{B66490E5-5709-87A1-5011-B18B1317A7FF}"/>
              </a:ext>
            </a:extLst>
          </p:cNvPr>
          <p:cNvSpPr txBox="1"/>
          <p:nvPr/>
        </p:nvSpPr>
        <p:spPr>
          <a:xfrm>
            <a:off x="10144541" y="5673704"/>
            <a:ext cx="1610137" cy="400110"/>
          </a:xfrm>
          <a:prstGeom prst="rect">
            <a:avLst/>
          </a:prstGeom>
          <a:noFill/>
        </p:spPr>
        <p:txBody>
          <a:bodyPr wrap="square">
            <a:spAutoFit/>
          </a:bodyPr>
          <a:lstStyle/>
          <a:p>
            <a:pPr algn="just"/>
            <a:r>
              <a:rPr lang="en-US" sz="2000" dirty="0">
                <a:latin typeface="Times" pitchFamily="2" charset="0"/>
              </a:rPr>
              <a:t>= 19 m/s</a:t>
            </a:r>
            <a:endParaRPr lang="en-US" sz="2000" dirty="0">
              <a:effectLst/>
              <a:latin typeface="Times" pitchFamily="2" charset="0"/>
            </a:endParaRPr>
          </a:p>
        </p:txBody>
      </p:sp>
      <p:sp>
        <p:nvSpPr>
          <p:cNvPr id="43" name="Rectangle 42">
            <a:extLst>
              <a:ext uri="{FF2B5EF4-FFF2-40B4-BE49-F238E27FC236}">
                <a16:creationId xmlns:a16="http://schemas.microsoft.com/office/drawing/2014/main" id="{12E0731A-F9C5-1C67-995A-9D9B086B7279}"/>
              </a:ext>
            </a:extLst>
          </p:cNvPr>
          <p:cNvSpPr/>
          <p:nvPr/>
        </p:nvSpPr>
        <p:spPr>
          <a:xfrm>
            <a:off x="10416209" y="5671930"/>
            <a:ext cx="768626" cy="3710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766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dissolve">
                                      <p:cBhvr>
                                        <p:cTn id="16" dur="500"/>
                                        <p:tgtEl>
                                          <p:spTgt spid="29"/>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dissolv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dissolve">
                                      <p:cBhvr>
                                        <p:cTn id="25" dur="500"/>
                                        <p:tgtEl>
                                          <p:spTgt spid="31"/>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dissolve">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dissolve">
                                      <p:cBhvr>
                                        <p:cTn id="34" dur="500"/>
                                        <p:tgtEl>
                                          <p:spTgt spid="34"/>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dissolve">
                                      <p:cBhvr>
                                        <p:cTn id="38" dur="500"/>
                                        <p:tgtEl>
                                          <p:spTgt spid="35"/>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dissolve">
                                      <p:cBhvr>
                                        <p:cTn id="43" dur="5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dissolve">
                                      <p:cBhvr>
                                        <p:cTn id="48" dur="500"/>
                                        <p:tgtEl>
                                          <p:spTgt spid="41"/>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dissolve">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0" grpId="0" animBg="1"/>
      <p:bldP spid="31" grpId="0"/>
      <p:bldP spid="33" grpId="0" animBg="1"/>
      <p:bldP spid="35" grpId="0" animBg="1"/>
      <p:bldP spid="41" grpId="0"/>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451EF-89C3-F9A4-C827-37B38934B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0B899-1087-B232-0253-C07B138013E3}"/>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BBD621BB-1DB7-0DE7-BEAE-B2E2AD8B0948}"/>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741B1062-89D6-8C47-F76B-2A44F80DEC09}"/>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3FD0FF41-9C49-61EC-8BF6-C365E62D61A5}"/>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AF89DD68-94DF-DD54-6766-87B027988BD3}"/>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F38C286-B82D-C2DE-F1A0-EAB39940F923}"/>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1713AF5-584E-0EF3-418F-C249572404E2}"/>
                </a:ext>
              </a:extLst>
            </p:cNvPr>
            <p:cNvSpPr txBox="1"/>
            <p:nvPr/>
          </p:nvSpPr>
          <p:spPr>
            <a:xfrm>
              <a:off x="5168348" y="4611756"/>
              <a:ext cx="781878" cy="400110"/>
            </a:xfrm>
            <a:prstGeom prst="rect">
              <a:avLst/>
            </a:prstGeom>
            <a:noFill/>
          </p:spPr>
          <p:txBody>
            <a:bodyPr wrap="square" rtlCol="0">
              <a:spAutoFit/>
            </a:bodyPr>
            <a:lstStyle/>
            <a:p>
              <a:r>
                <a:rPr lang="en-US" sz="2000" i="1" dirty="0">
                  <a:latin typeface="Times" pitchFamily="2" charset="0"/>
                </a:rPr>
                <a:t>+x</a:t>
              </a:r>
            </a:p>
          </p:txBody>
        </p:sp>
        <p:sp>
          <p:nvSpPr>
            <p:cNvPr id="18" name="TextBox 17">
              <a:extLst>
                <a:ext uri="{FF2B5EF4-FFF2-40B4-BE49-F238E27FC236}">
                  <a16:creationId xmlns:a16="http://schemas.microsoft.com/office/drawing/2014/main" id="{7B713878-D0C2-C0B6-BC8C-8F64548B0E23}"/>
                </a:ext>
              </a:extLst>
            </p:cNvPr>
            <p:cNvSpPr txBox="1"/>
            <p:nvPr/>
          </p:nvSpPr>
          <p:spPr>
            <a:xfrm>
              <a:off x="4790662" y="3597965"/>
              <a:ext cx="781878" cy="400110"/>
            </a:xfrm>
            <a:prstGeom prst="rect">
              <a:avLst/>
            </a:prstGeom>
            <a:noFill/>
          </p:spPr>
          <p:txBody>
            <a:bodyPr wrap="square" rtlCol="0">
              <a:spAutoFit/>
            </a:bodyPr>
            <a:lstStyle/>
            <a:p>
              <a:r>
                <a:rPr lang="en-US" sz="2000" i="1" dirty="0">
                  <a:latin typeface="Times" pitchFamily="2" charset="0"/>
                </a:rPr>
                <a:t>+y</a:t>
              </a:r>
            </a:p>
          </p:txBody>
        </p:sp>
      </p:grpSp>
      <p:sp>
        <p:nvSpPr>
          <p:cNvPr id="6" name="TextBox 5">
            <a:extLst>
              <a:ext uri="{FF2B5EF4-FFF2-40B4-BE49-F238E27FC236}">
                <a16:creationId xmlns:a16="http://schemas.microsoft.com/office/drawing/2014/main" id="{B4F21518-A195-3082-B7F3-C616A94F0D1C}"/>
              </a:ext>
            </a:extLst>
          </p:cNvPr>
          <p:cNvSpPr txBox="1"/>
          <p:nvPr/>
        </p:nvSpPr>
        <p:spPr>
          <a:xfrm>
            <a:off x="897602" y="839960"/>
            <a:ext cx="8658610" cy="523220"/>
          </a:xfrm>
          <a:prstGeom prst="rect">
            <a:avLst/>
          </a:prstGeom>
          <a:noFill/>
        </p:spPr>
        <p:txBody>
          <a:bodyPr wrap="square" rtlCol="0">
            <a:spAutoFit/>
          </a:bodyPr>
          <a:lstStyle/>
          <a:p>
            <a:r>
              <a:rPr lang="en-US" sz="2800" dirty="0">
                <a:solidFill>
                  <a:srgbClr val="C00000"/>
                </a:solidFill>
                <a:latin typeface="Times" pitchFamily="2" charset="0"/>
              </a:rPr>
              <a:t>Example – Downhill Skiing</a:t>
            </a:r>
          </a:p>
        </p:txBody>
      </p:sp>
      <p:grpSp>
        <p:nvGrpSpPr>
          <p:cNvPr id="20" name="Group 19">
            <a:extLst>
              <a:ext uri="{FF2B5EF4-FFF2-40B4-BE49-F238E27FC236}">
                <a16:creationId xmlns:a16="http://schemas.microsoft.com/office/drawing/2014/main" id="{99E72C00-A924-D2AF-407A-BBAC866E97E0}"/>
              </a:ext>
            </a:extLst>
          </p:cNvPr>
          <p:cNvGrpSpPr/>
          <p:nvPr/>
        </p:nvGrpSpPr>
        <p:grpSpPr>
          <a:xfrm>
            <a:off x="3856381" y="1473152"/>
            <a:ext cx="8136835" cy="1569660"/>
            <a:chOff x="3856381" y="1473152"/>
            <a:chExt cx="8136835" cy="1569660"/>
          </a:xfrm>
        </p:grpSpPr>
        <p:sp>
          <p:nvSpPr>
            <p:cNvPr id="10" name="TextBox 9">
              <a:extLst>
                <a:ext uri="{FF2B5EF4-FFF2-40B4-BE49-F238E27FC236}">
                  <a16:creationId xmlns:a16="http://schemas.microsoft.com/office/drawing/2014/main" id="{8AC72A21-5A38-7BB2-7E07-58DDD7C5FBBF}"/>
                </a:ext>
              </a:extLst>
            </p:cNvPr>
            <p:cNvSpPr txBox="1"/>
            <p:nvPr/>
          </p:nvSpPr>
          <p:spPr>
            <a:xfrm>
              <a:off x="3856381" y="1473152"/>
              <a:ext cx="8136835" cy="1569660"/>
            </a:xfrm>
            <a:prstGeom prst="rect">
              <a:avLst/>
            </a:prstGeom>
            <a:noFill/>
          </p:spPr>
          <p:txBody>
            <a:bodyPr wrap="square">
              <a:spAutoFit/>
            </a:bodyPr>
            <a:lstStyle/>
            <a:p>
              <a:pPr algn="just"/>
              <a:r>
                <a:rPr lang="en-US" sz="2400" dirty="0">
                  <a:latin typeface="Times" pitchFamily="2" charset="0"/>
                </a:rPr>
                <a:t>The skier’s final speed is greater than her initial speed, because the skier </a:t>
              </a:r>
              <a:r>
                <a:rPr lang="en-US" sz="2400" u="sng" dirty="0">
                  <a:latin typeface="Times" pitchFamily="2" charset="0"/>
                </a:rPr>
                <a:t>gains</a:t>
              </a:r>
              <a:r>
                <a:rPr lang="en-US" sz="2400" dirty="0">
                  <a:latin typeface="Times" pitchFamily="2" charset="0"/>
                </a:rPr>
                <a:t> kinetic energy.  Remember that the work is done by the                , and here, the positive work done by gravity was larger than the negative work done by friction!</a:t>
              </a:r>
            </a:p>
          </p:txBody>
        </p:sp>
        <p:sp>
          <p:nvSpPr>
            <p:cNvPr id="11" name="Rounded Rectangle 10">
              <a:extLst>
                <a:ext uri="{FF2B5EF4-FFF2-40B4-BE49-F238E27FC236}">
                  <a16:creationId xmlns:a16="http://schemas.microsoft.com/office/drawing/2014/main" id="{F28E13A4-1BC4-945B-4E55-3048B09BF9D2}"/>
                </a:ext>
              </a:extLst>
            </p:cNvPr>
            <p:cNvSpPr/>
            <p:nvPr/>
          </p:nvSpPr>
          <p:spPr>
            <a:xfrm>
              <a:off x="4770783" y="2266121"/>
              <a:ext cx="1497496"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EBB4FBF2-7D6E-64A1-F1AF-F9E56A1F1E5A}"/>
              </a:ext>
            </a:extLst>
          </p:cNvPr>
          <p:cNvSpPr txBox="1"/>
          <p:nvPr/>
        </p:nvSpPr>
        <p:spPr>
          <a:xfrm>
            <a:off x="4770782" y="2252870"/>
            <a:ext cx="1538947" cy="400110"/>
          </a:xfrm>
          <a:prstGeom prst="rect">
            <a:avLst/>
          </a:prstGeom>
          <a:noFill/>
        </p:spPr>
        <p:txBody>
          <a:bodyPr wrap="none" rtlCol="0">
            <a:spAutoFit/>
          </a:bodyPr>
          <a:lstStyle/>
          <a:p>
            <a:r>
              <a:rPr lang="en-US" sz="2000" dirty="0">
                <a:solidFill>
                  <a:srgbClr val="007440"/>
                </a:solidFill>
                <a:latin typeface="Chalkduster" panose="03050602040202020205" pitchFamily="66" charset="77"/>
              </a:rPr>
              <a:t>net force</a:t>
            </a:r>
          </a:p>
        </p:txBody>
      </p:sp>
      <p:grpSp>
        <p:nvGrpSpPr>
          <p:cNvPr id="27" name="Group 26">
            <a:extLst>
              <a:ext uri="{FF2B5EF4-FFF2-40B4-BE49-F238E27FC236}">
                <a16:creationId xmlns:a16="http://schemas.microsoft.com/office/drawing/2014/main" id="{5CCAEB04-5CC7-F5AF-3C43-2CAE44C180E8}"/>
              </a:ext>
            </a:extLst>
          </p:cNvPr>
          <p:cNvGrpSpPr/>
          <p:nvPr/>
        </p:nvGrpSpPr>
        <p:grpSpPr>
          <a:xfrm>
            <a:off x="3313046" y="3207026"/>
            <a:ext cx="8666920" cy="3127513"/>
            <a:chOff x="3313046" y="3207026"/>
            <a:chExt cx="8666920" cy="3127513"/>
          </a:xfrm>
        </p:grpSpPr>
        <p:sp>
          <p:nvSpPr>
            <p:cNvPr id="23" name="TextBox 22">
              <a:extLst>
                <a:ext uri="{FF2B5EF4-FFF2-40B4-BE49-F238E27FC236}">
                  <a16:creationId xmlns:a16="http://schemas.microsoft.com/office/drawing/2014/main" id="{85BA5A0F-109A-3693-56EB-820812287BAC}"/>
                </a:ext>
              </a:extLst>
            </p:cNvPr>
            <p:cNvSpPr txBox="1"/>
            <p:nvPr/>
          </p:nvSpPr>
          <p:spPr>
            <a:xfrm>
              <a:off x="3462133" y="3621299"/>
              <a:ext cx="8464824" cy="830997"/>
            </a:xfrm>
            <a:prstGeom prst="rect">
              <a:avLst/>
            </a:prstGeom>
            <a:noFill/>
          </p:spPr>
          <p:txBody>
            <a:bodyPr wrap="square">
              <a:spAutoFit/>
            </a:bodyPr>
            <a:lstStyle/>
            <a:p>
              <a:pPr algn="just"/>
              <a:r>
                <a:rPr lang="en-US" sz="2400" b="1" dirty="0">
                  <a:latin typeface="Times" pitchFamily="2" charset="0"/>
                </a:rPr>
                <a:t>If the net work done on an object is positive (</a:t>
              </a:r>
              <a:r>
                <a:rPr lang="en-US" sz="2400" b="1" i="1" dirty="0">
                  <a:latin typeface="Times" pitchFamily="2" charset="0"/>
                </a:rPr>
                <a:t>W</a:t>
              </a:r>
              <a:r>
                <a:rPr lang="en-US" sz="2400" b="1" dirty="0">
                  <a:latin typeface="Times" pitchFamily="2" charset="0"/>
                </a:rPr>
                <a:t> &gt; 0), then the object speeds up.</a:t>
              </a:r>
            </a:p>
          </p:txBody>
        </p:sp>
        <p:sp>
          <p:nvSpPr>
            <p:cNvPr id="25" name="Rectangle 24">
              <a:extLst>
                <a:ext uri="{FF2B5EF4-FFF2-40B4-BE49-F238E27FC236}">
                  <a16:creationId xmlns:a16="http://schemas.microsoft.com/office/drawing/2014/main" id="{DCD8B6A2-C165-4E42-0B62-43C1902AABD3}"/>
                </a:ext>
              </a:extLst>
            </p:cNvPr>
            <p:cNvSpPr/>
            <p:nvPr/>
          </p:nvSpPr>
          <p:spPr>
            <a:xfrm>
              <a:off x="3313046" y="3207026"/>
              <a:ext cx="8666920" cy="3127513"/>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F6621EE-28CD-2E63-E437-D2CA57FE09F3}"/>
                </a:ext>
              </a:extLst>
            </p:cNvPr>
            <p:cNvSpPr txBox="1"/>
            <p:nvPr/>
          </p:nvSpPr>
          <p:spPr>
            <a:xfrm>
              <a:off x="3432317" y="3233530"/>
              <a:ext cx="3445564" cy="400110"/>
            </a:xfrm>
            <a:prstGeom prst="rect">
              <a:avLst/>
            </a:prstGeom>
            <a:noFill/>
          </p:spPr>
          <p:txBody>
            <a:bodyPr wrap="square" rtlCol="0">
              <a:spAutoFit/>
            </a:bodyPr>
            <a:lstStyle/>
            <a:p>
              <a:r>
                <a:rPr lang="en-US" sz="2000" dirty="0">
                  <a:solidFill>
                    <a:srgbClr val="C0694F"/>
                  </a:solidFill>
                  <a:latin typeface="Times" pitchFamily="2" charset="0"/>
                </a:rPr>
                <a:t>Problem-Solving Insight</a:t>
              </a:r>
            </a:p>
          </p:txBody>
        </p:sp>
      </p:grpSp>
      <p:sp>
        <p:nvSpPr>
          <p:cNvPr id="28" name="TextBox 27">
            <a:extLst>
              <a:ext uri="{FF2B5EF4-FFF2-40B4-BE49-F238E27FC236}">
                <a16:creationId xmlns:a16="http://schemas.microsoft.com/office/drawing/2014/main" id="{D55A808B-5738-8E70-6368-082A0ACE1B69}"/>
              </a:ext>
            </a:extLst>
          </p:cNvPr>
          <p:cNvSpPr txBox="1"/>
          <p:nvPr/>
        </p:nvSpPr>
        <p:spPr>
          <a:xfrm>
            <a:off x="3455508" y="4529074"/>
            <a:ext cx="8464824" cy="830997"/>
          </a:xfrm>
          <a:prstGeom prst="rect">
            <a:avLst/>
          </a:prstGeom>
          <a:noFill/>
        </p:spPr>
        <p:txBody>
          <a:bodyPr wrap="square">
            <a:spAutoFit/>
          </a:bodyPr>
          <a:lstStyle/>
          <a:p>
            <a:pPr algn="just"/>
            <a:r>
              <a:rPr lang="en-US" sz="2400" b="1" dirty="0">
                <a:latin typeface="Times" pitchFamily="2" charset="0"/>
              </a:rPr>
              <a:t>If the net work done on an object is negative (</a:t>
            </a:r>
            <a:r>
              <a:rPr lang="en-US" sz="2400" b="1" i="1" dirty="0">
                <a:latin typeface="Times" pitchFamily="2" charset="0"/>
              </a:rPr>
              <a:t>W</a:t>
            </a:r>
            <a:r>
              <a:rPr lang="en-US" sz="2400" b="1" dirty="0">
                <a:latin typeface="Times" pitchFamily="2" charset="0"/>
              </a:rPr>
              <a:t> &lt; 0), then the object slows down.</a:t>
            </a:r>
          </a:p>
        </p:txBody>
      </p:sp>
      <p:sp>
        <p:nvSpPr>
          <p:cNvPr id="32" name="TextBox 31">
            <a:extLst>
              <a:ext uri="{FF2B5EF4-FFF2-40B4-BE49-F238E27FC236}">
                <a16:creationId xmlns:a16="http://schemas.microsoft.com/office/drawing/2014/main" id="{766E82DB-0DCF-8606-3A22-42601858822C}"/>
              </a:ext>
            </a:extLst>
          </p:cNvPr>
          <p:cNvSpPr txBox="1"/>
          <p:nvPr/>
        </p:nvSpPr>
        <p:spPr>
          <a:xfrm>
            <a:off x="3475386" y="5450100"/>
            <a:ext cx="8464824" cy="830997"/>
          </a:xfrm>
          <a:prstGeom prst="rect">
            <a:avLst/>
          </a:prstGeom>
          <a:noFill/>
        </p:spPr>
        <p:txBody>
          <a:bodyPr wrap="square">
            <a:spAutoFit/>
          </a:bodyPr>
          <a:lstStyle/>
          <a:p>
            <a:pPr algn="just"/>
            <a:r>
              <a:rPr lang="en-US" sz="2400" b="1" dirty="0">
                <a:latin typeface="Times" pitchFamily="2" charset="0"/>
              </a:rPr>
              <a:t>If the net work done on an object is zero (</a:t>
            </a:r>
            <a:r>
              <a:rPr lang="en-US" sz="2400" b="1" i="1" dirty="0">
                <a:latin typeface="Times" pitchFamily="2" charset="0"/>
              </a:rPr>
              <a:t>W</a:t>
            </a:r>
            <a:r>
              <a:rPr lang="en-US" sz="2400" b="1" dirty="0">
                <a:latin typeface="Times" pitchFamily="2" charset="0"/>
              </a:rPr>
              <a:t> = 0), then the object’s speed remains unchanged.</a:t>
            </a:r>
          </a:p>
        </p:txBody>
      </p:sp>
    </p:spTree>
    <p:extLst>
      <p:ext uri="{BB962C8B-B14F-4D97-AF65-F5344CB8AC3E}">
        <p14:creationId xmlns:p14="http://schemas.microsoft.com/office/powerpoint/2010/main" val="36745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dissolv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dissolve">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8"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1A1D6-BF6B-765E-B5BC-D456C1A32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4B98D-219D-97BA-6B24-D852351DCA9A}"/>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6.2</a:t>
            </a:r>
            <a:r>
              <a:rPr lang="en-US" dirty="0">
                <a:ea typeface="Calibri" charset="0"/>
                <a:cs typeface="Calibri" charset="0"/>
              </a:rPr>
              <a:t> The Work–Energy Theorem and Kinetic Energy</a:t>
            </a:r>
            <a:endParaRPr lang="en-US" sz="3000" dirty="0"/>
          </a:p>
        </p:txBody>
      </p:sp>
      <p:sp>
        <p:nvSpPr>
          <p:cNvPr id="3" name="Rounded Rectangle 2">
            <a:extLst>
              <a:ext uri="{FF2B5EF4-FFF2-40B4-BE49-F238E27FC236}">
                <a16:creationId xmlns:a16="http://schemas.microsoft.com/office/drawing/2014/main" id="{B3014050-4E96-BD03-9D29-97E9E18AA974}"/>
              </a:ext>
            </a:extLst>
          </p:cNvPr>
          <p:cNvSpPr/>
          <p:nvPr/>
        </p:nvSpPr>
        <p:spPr>
          <a:xfrm>
            <a:off x="844164" y="3527729"/>
            <a:ext cx="10473193"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FBCB364-1621-85A5-1C5C-707BD715E5A5}"/>
              </a:ext>
            </a:extLst>
          </p:cNvPr>
          <p:cNvSpPr txBox="1"/>
          <p:nvPr/>
        </p:nvSpPr>
        <p:spPr>
          <a:xfrm>
            <a:off x="819648" y="913831"/>
            <a:ext cx="10548597" cy="3108543"/>
          </a:xfrm>
          <a:prstGeom prst="rect">
            <a:avLst/>
          </a:prstGeom>
          <a:noFill/>
        </p:spPr>
        <p:txBody>
          <a:bodyPr wrap="square" rtlCol="0">
            <a:spAutoFit/>
          </a:bodyPr>
          <a:lstStyle/>
          <a:p>
            <a:pPr algn="just"/>
            <a:r>
              <a:rPr lang="en-US" sz="2800" dirty="0">
                <a:solidFill>
                  <a:srgbClr val="3E5891"/>
                </a:solidFill>
                <a:latin typeface="Times" pitchFamily="2" charset="0"/>
              </a:rPr>
              <a:t>CYU/TPS – A net external force acts on a particle that is moving along a straight line. This net force is not zero. Which one of the following statements is correct?</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The velocity, but not the kinetic energy, of the particle is changing. (</a:t>
            </a:r>
            <a:r>
              <a:rPr lang="en-US" sz="2800" b="1" dirty="0">
                <a:solidFill>
                  <a:srgbClr val="3E5891"/>
                </a:solidFill>
                <a:latin typeface="Times" pitchFamily="2" charset="0"/>
              </a:rPr>
              <a:t>b</a:t>
            </a:r>
            <a:r>
              <a:rPr lang="en-US" sz="2800" dirty="0">
                <a:solidFill>
                  <a:srgbClr val="3E5891"/>
                </a:solidFill>
                <a:latin typeface="Times" pitchFamily="2" charset="0"/>
              </a:rPr>
              <a:t>) The kinetic energy, but not the velocity, of the particle is changing. (</a:t>
            </a:r>
            <a:r>
              <a:rPr lang="en-US" sz="2800" b="1" dirty="0">
                <a:solidFill>
                  <a:srgbClr val="3E5891"/>
                </a:solidFill>
                <a:latin typeface="Times" pitchFamily="2" charset="0"/>
              </a:rPr>
              <a:t>c</a:t>
            </a:r>
            <a:r>
              <a:rPr lang="en-US" sz="2800" dirty="0">
                <a:solidFill>
                  <a:srgbClr val="3E5891"/>
                </a:solidFill>
                <a:latin typeface="Times" pitchFamily="2" charset="0"/>
              </a:rPr>
              <a:t>) Both the velocity and the kinetic energy of the particle are changing.</a:t>
            </a:r>
            <a:endParaRPr lang="en-US" sz="2800" dirty="0">
              <a:solidFill>
                <a:srgbClr val="3E5891"/>
              </a:solidFill>
              <a:latin typeface="Times" pitchFamily="2" charset="0"/>
              <a:cs typeface="Times New Roman" panose="02020603050405020304" pitchFamily="18" charset="0"/>
            </a:endParaRPr>
          </a:p>
        </p:txBody>
      </p:sp>
      <p:sp>
        <p:nvSpPr>
          <p:cNvPr id="20" name="TextBox 19">
            <a:extLst>
              <a:ext uri="{FF2B5EF4-FFF2-40B4-BE49-F238E27FC236}">
                <a16:creationId xmlns:a16="http://schemas.microsoft.com/office/drawing/2014/main" id="{3A03DBBC-83F2-D9C5-552A-0DDF1BEEE0B5}"/>
              </a:ext>
            </a:extLst>
          </p:cNvPr>
          <p:cNvSpPr txBox="1"/>
          <p:nvPr/>
        </p:nvSpPr>
        <p:spPr>
          <a:xfrm rot="2431060">
            <a:off x="5238863" y="4623063"/>
            <a:ext cx="1988191"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162909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dissolv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85DFF-5DF9-D705-9EA8-88032D8CDC93}"/>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0C53B8C4-4110-F821-F5F7-38E4A36331E6}"/>
              </a:ext>
            </a:extLst>
          </p:cNvPr>
          <p:cNvPicPr>
            <a:picLocks noChangeAspect="1"/>
          </p:cNvPicPr>
          <p:nvPr/>
        </p:nvPicPr>
        <p:blipFill>
          <a:blip r:embed="rId3"/>
          <a:stretch>
            <a:fillRect/>
          </a:stretch>
        </p:blipFill>
        <p:spPr>
          <a:xfrm>
            <a:off x="1" y="2114265"/>
            <a:ext cx="3674188" cy="4193770"/>
          </a:xfrm>
          <a:prstGeom prst="rect">
            <a:avLst/>
          </a:prstGeom>
        </p:spPr>
      </p:pic>
      <p:sp>
        <p:nvSpPr>
          <p:cNvPr id="49" name="Rectangle 48">
            <a:extLst>
              <a:ext uri="{FF2B5EF4-FFF2-40B4-BE49-F238E27FC236}">
                <a16:creationId xmlns:a16="http://schemas.microsoft.com/office/drawing/2014/main" id="{84094890-18A6-92D0-75AE-5A8E1C9A810D}"/>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CC67F8-E5C9-163B-91D3-4919B39E81FB}"/>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6.3</a:t>
            </a:r>
            <a:r>
              <a:rPr lang="en-US" dirty="0">
                <a:ea typeface="Calibri" charset="0"/>
                <a:cs typeface="Calibri" charset="0"/>
              </a:rPr>
              <a:t> Gravitation Potential Energy</a:t>
            </a:r>
            <a:endParaRPr lang="en-US" sz="3000" dirty="0"/>
          </a:p>
        </p:txBody>
      </p:sp>
      <p:sp>
        <p:nvSpPr>
          <p:cNvPr id="5" name="Content Placeholder 2">
            <a:extLst>
              <a:ext uri="{FF2B5EF4-FFF2-40B4-BE49-F238E27FC236}">
                <a16:creationId xmlns:a16="http://schemas.microsoft.com/office/drawing/2014/main" id="{8703F238-4304-F7A4-0C94-457FC7874C12}"/>
              </a:ext>
            </a:extLst>
          </p:cNvPr>
          <p:cNvSpPr txBox="1">
            <a:spLocks/>
          </p:cNvSpPr>
          <p:nvPr/>
        </p:nvSpPr>
        <p:spPr>
          <a:xfrm>
            <a:off x="959715" y="87557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6.3 </a:t>
            </a:r>
            <a:r>
              <a:rPr lang="en-US" dirty="0"/>
              <a:t>– Use gravitational potential energy.</a:t>
            </a:r>
          </a:p>
        </p:txBody>
      </p:sp>
      <p:sp>
        <p:nvSpPr>
          <p:cNvPr id="6" name="TextBox 5">
            <a:extLst>
              <a:ext uri="{FF2B5EF4-FFF2-40B4-BE49-F238E27FC236}">
                <a16:creationId xmlns:a16="http://schemas.microsoft.com/office/drawing/2014/main" id="{BF6C04E2-9A42-578F-AC89-601798030EB0}"/>
              </a:ext>
            </a:extLst>
          </p:cNvPr>
          <p:cNvSpPr txBox="1"/>
          <p:nvPr/>
        </p:nvSpPr>
        <p:spPr>
          <a:xfrm>
            <a:off x="927652" y="1551369"/>
            <a:ext cx="6096000" cy="461665"/>
          </a:xfrm>
          <a:prstGeom prst="rect">
            <a:avLst/>
          </a:prstGeom>
          <a:noFill/>
        </p:spPr>
        <p:txBody>
          <a:bodyPr wrap="square">
            <a:spAutoFit/>
          </a:bodyPr>
          <a:lstStyle/>
          <a:p>
            <a:r>
              <a:rPr lang="en-US" sz="2400" dirty="0">
                <a:solidFill>
                  <a:srgbClr val="C00000"/>
                </a:solidFill>
                <a:latin typeface="Times" pitchFamily="2" charset="0"/>
              </a:rPr>
              <a:t>Work Done by the Force of Gravity</a:t>
            </a:r>
          </a:p>
        </p:txBody>
      </p:sp>
      <p:sp>
        <p:nvSpPr>
          <p:cNvPr id="7" name="TextBox 6">
            <a:extLst>
              <a:ext uri="{FF2B5EF4-FFF2-40B4-BE49-F238E27FC236}">
                <a16:creationId xmlns:a16="http://schemas.microsoft.com/office/drawing/2014/main" id="{32E539B1-863C-DA48-CEED-58F77DAE6467}"/>
              </a:ext>
            </a:extLst>
          </p:cNvPr>
          <p:cNvSpPr txBox="1"/>
          <p:nvPr/>
        </p:nvSpPr>
        <p:spPr>
          <a:xfrm>
            <a:off x="3511828" y="2080591"/>
            <a:ext cx="8428382" cy="830997"/>
          </a:xfrm>
          <a:prstGeom prst="rect">
            <a:avLst/>
          </a:prstGeom>
          <a:noFill/>
        </p:spPr>
        <p:txBody>
          <a:bodyPr wrap="square" rtlCol="0">
            <a:spAutoFit/>
          </a:bodyPr>
          <a:lstStyle/>
          <a:p>
            <a:r>
              <a:rPr lang="en-US" sz="2400" dirty="0">
                <a:latin typeface="Times" pitchFamily="2" charset="0"/>
              </a:rPr>
              <a:t>Take an object – say a basketball – and let’s drop it near the surface of the earth.</a:t>
            </a:r>
          </a:p>
        </p:txBody>
      </p:sp>
      <p:sp>
        <p:nvSpPr>
          <p:cNvPr id="20" name="TextBox 19">
            <a:extLst>
              <a:ext uri="{FF2B5EF4-FFF2-40B4-BE49-F238E27FC236}">
                <a16:creationId xmlns:a16="http://schemas.microsoft.com/office/drawing/2014/main" id="{6E4F7A1B-D75F-1367-B2C1-E8FBF125E927}"/>
              </a:ext>
            </a:extLst>
          </p:cNvPr>
          <p:cNvSpPr txBox="1"/>
          <p:nvPr/>
        </p:nvSpPr>
        <p:spPr>
          <a:xfrm>
            <a:off x="3531707" y="2922104"/>
            <a:ext cx="8428382" cy="830997"/>
          </a:xfrm>
          <a:prstGeom prst="rect">
            <a:avLst/>
          </a:prstGeom>
          <a:noFill/>
        </p:spPr>
        <p:txBody>
          <a:bodyPr wrap="square" rtlCol="0">
            <a:spAutoFit/>
          </a:bodyPr>
          <a:lstStyle/>
          <a:p>
            <a:r>
              <a:rPr lang="en-US" sz="2400" dirty="0">
                <a:latin typeface="Times" pitchFamily="2" charset="0"/>
              </a:rPr>
              <a:t>The force on the ball – its weight due to gravity – accelerates it downward toward the earth.  </a:t>
            </a:r>
          </a:p>
        </p:txBody>
      </p:sp>
      <p:sp>
        <p:nvSpPr>
          <p:cNvPr id="22" name="TextBox 21">
            <a:extLst>
              <a:ext uri="{FF2B5EF4-FFF2-40B4-BE49-F238E27FC236}">
                <a16:creationId xmlns:a16="http://schemas.microsoft.com/office/drawing/2014/main" id="{05CC458F-DDED-F7E1-333A-53B018085106}"/>
              </a:ext>
            </a:extLst>
          </p:cNvPr>
          <p:cNvSpPr txBox="1"/>
          <p:nvPr/>
        </p:nvSpPr>
        <p:spPr>
          <a:xfrm>
            <a:off x="3538333" y="3829878"/>
            <a:ext cx="8428382" cy="1200329"/>
          </a:xfrm>
          <a:prstGeom prst="rect">
            <a:avLst/>
          </a:prstGeom>
          <a:noFill/>
        </p:spPr>
        <p:txBody>
          <a:bodyPr wrap="square" rtlCol="0">
            <a:spAutoFit/>
          </a:bodyPr>
          <a:lstStyle/>
          <a:p>
            <a:r>
              <a:rPr lang="en-US" sz="2400" dirty="0">
                <a:latin typeface="Times" pitchFamily="2" charset="0"/>
              </a:rPr>
              <a:t>An interesting question to ask is the following:  </a:t>
            </a:r>
            <a:r>
              <a:rPr lang="en-US" sz="2400" i="1" dirty="0">
                <a:latin typeface="Times" pitchFamily="2" charset="0"/>
              </a:rPr>
              <a:t>How much work did gravity do in moving the ball from its initial position (height), h</a:t>
            </a:r>
            <a:r>
              <a:rPr lang="en-US" sz="2400" baseline="-25000" dirty="0">
                <a:latin typeface="Times" pitchFamily="2" charset="0"/>
              </a:rPr>
              <a:t>0</a:t>
            </a:r>
            <a:r>
              <a:rPr lang="en-US" sz="2400" i="1" dirty="0">
                <a:latin typeface="Times" pitchFamily="2" charset="0"/>
              </a:rPr>
              <a:t>, to its final position (height), h</a:t>
            </a:r>
            <a:r>
              <a:rPr lang="en-US" sz="2400" baseline="-25000" dirty="0">
                <a:latin typeface="Times" pitchFamily="2" charset="0"/>
              </a:rPr>
              <a:t>f</a:t>
            </a:r>
            <a:r>
              <a:rPr lang="en-US" sz="2400" dirty="0">
                <a:latin typeface="Times" pitchFamily="2" charset="0"/>
              </a:rPr>
              <a:t>?</a:t>
            </a:r>
          </a:p>
        </p:txBody>
      </p:sp>
      <p:sp>
        <p:nvSpPr>
          <p:cNvPr id="24" name="TextBox 23">
            <a:extLst>
              <a:ext uri="{FF2B5EF4-FFF2-40B4-BE49-F238E27FC236}">
                <a16:creationId xmlns:a16="http://schemas.microsoft.com/office/drawing/2014/main" id="{FBBE360B-AF33-2647-47D0-832ECD58D6D0}"/>
              </a:ext>
            </a:extLst>
          </p:cNvPr>
          <p:cNvSpPr txBox="1"/>
          <p:nvPr/>
        </p:nvSpPr>
        <p:spPr>
          <a:xfrm>
            <a:off x="3863011" y="5042452"/>
            <a:ext cx="8428382" cy="461665"/>
          </a:xfrm>
          <a:prstGeom prst="rect">
            <a:avLst/>
          </a:prstGeom>
          <a:noFill/>
        </p:spPr>
        <p:txBody>
          <a:bodyPr wrap="square" rtlCol="0">
            <a:spAutoFit/>
          </a:bodyPr>
          <a:lstStyle/>
          <a:p>
            <a:r>
              <a:rPr lang="en-US" sz="2400" dirty="0">
                <a:latin typeface="Times" pitchFamily="2" charset="0"/>
              </a:rPr>
              <a:t>We can use Equation 6.1 to calculate the work:  </a:t>
            </a:r>
          </a:p>
        </p:txBody>
      </p:sp>
      <p:sp>
        <p:nvSpPr>
          <p:cNvPr id="29" name="TextBox 28">
            <a:extLst>
              <a:ext uri="{FF2B5EF4-FFF2-40B4-BE49-F238E27FC236}">
                <a16:creationId xmlns:a16="http://schemas.microsoft.com/office/drawing/2014/main" id="{80D8DAF1-F3F7-67A8-DB2E-0D4ED520DBCB}"/>
              </a:ext>
            </a:extLst>
          </p:cNvPr>
          <p:cNvSpPr txBox="1"/>
          <p:nvPr/>
        </p:nvSpPr>
        <p:spPr>
          <a:xfrm>
            <a:off x="9713843" y="5062330"/>
            <a:ext cx="2239617" cy="461665"/>
          </a:xfrm>
          <a:prstGeom prst="rect">
            <a:avLst/>
          </a:prstGeom>
          <a:noFill/>
        </p:spPr>
        <p:txBody>
          <a:bodyPr wrap="square" rtlCol="0">
            <a:spAutoFit/>
          </a:bodyPr>
          <a:lstStyle/>
          <a:p>
            <a:r>
              <a:rPr lang="en-US" sz="2400" i="1" dirty="0">
                <a:latin typeface="Times" pitchFamily="2" charset="0"/>
              </a:rPr>
              <a:t>W</a:t>
            </a:r>
            <a:r>
              <a:rPr lang="en-US" sz="2400" dirty="0">
                <a:latin typeface="Times" pitchFamily="2" charset="0"/>
              </a:rPr>
              <a:t> = (</a:t>
            </a:r>
            <a:r>
              <a:rPr lang="en-US" sz="2400" i="1" dirty="0" err="1">
                <a:latin typeface="Times" pitchFamily="2" charset="0"/>
              </a:rPr>
              <a:t>F</a:t>
            </a:r>
            <a:r>
              <a:rPr lang="en-US" sz="2400" dirty="0" err="1">
                <a:latin typeface="Times" pitchFamily="2" charset="0"/>
              </a:rPr>
              <a:t>cos</a:t>
            </a:r>
            <a:r>
              <a:rPr lang="en-US" sz="2400" i="1" dirty="0" err="1">
                <a:latin typeface="Symbol" pitchFamily="2" charset="2"/>
              </a:rPr>
              <a:t>q</a:t>
            </a:r>
            <a:r>
              <a:rPr lang="en-US" sz="2400" dirty="0">
                <a:latin typeface="Times" pitchFamily="2" charset="0"/>
              </a:rPr>
              <a:t>)(</a:t>
            </a:r>
            <a:r>
              <a:rPr lang="en-US" sz="2400" i="1" dirty="0">
                <a:latin typeface="Times" pitchFamily="2" charset="0"/>
              </a:rPr>
              <a:t>s</a:t>
            </a:r>
            <a:r>
              <a:rPr lang="en-US" sz="2400" dirty="0">
                <a:latin typeface="Times" pitchFamily="2" charset="0"/>
              </a:rPr>
              <a:t>),</a:t>
            </a:r>
          </a:p>
        </p:txBody>
      </p:sp>
      <p:sp>
        <p:nvSpPr>
          <p:cNvPr id="32" name="TextBox 31">
            <a:extLst>
              <a:ext uri="{FF2B5EF4-FFF2-40B4-BE49-F238E27FC236}">
                <a16:creationId xmlns:a16="http://schemas.microsoft.com/office/drawing/2014/main" id="{0191C2D3-1242-C8CB-F29E-C9944A667833}"/>
              </a:ext>
            </a:extLst>
          </p:cNvPr>
          <p:cNvSpPr txBox="1"/>
          <p:nvPr/>
        </p:nvSpPr>
        <p:spPr>
          <a:xfrm>
            <a:off x="3909394" y="5618921"/>
            <a:ext cx="8428382" cy="830997"/>
          </a:xfrm>
          <a:prstGeom prst="rect">
            <a:avLst/>
          </a:prstGeom>
          <a:noFill/>
        </p:spPr>
        <p:txBody>
          <a:bodyPr wrap="square" rtlCol="0">
            <a:spAutoFit/>
          </a:bodyPr>
          <a:lstStyle/>
          <a:p>
            <a:r>
              <a:rPr lang="en-US" sz="2400" dirty="0">
                <a:latin typeface="Times" pitchFamily="2" charset="0"/>
              </a:rPr>
              <a:t>The force </a:t>
            </a:r>
            <a:r>
              <a:rPr lang="en-US" sz="2400" i="1" dirty="0">
                <a:latin typeface="Times" pitchFamily="2" charset="0"/>
              </a:rPr>
              <a:t>F</a:t>
            </a:r>
            <a:r>
              <a:rPr lang="en-US" sz="2400" dirty="0">
                <a:latin typeface="Times" pitchFamily="2" charset="0"/>
              </a:rPr>
              <a:t> is just the weight (</a:t>
            </a:r>
            <a:r>
              <a:rPr lang="en-US" sz="2400" i="1" dirty="0">
                <a:latin typeface="Times" pitchFamily="2" charset="0"/>
              </a:rPr>
              <a:t>mg</a:t>
            </a:r>
            <a:r>
              <a:rPr lang="en-US" sz="2400" dirty="0">
                <a:latin typeface="Times" pitchFamily="2" charset="0"/>
              </a:rPr>
              <a:t>), and since it is directed along the displacement [</a:t>
            </a:r>
            <a:r>
              <a:rPr lang="en-US" sz="2400" i="1" dirty="0">
                <a:latin typeface="Times" pitchFamily="2" charset="0"/>
              </a:rPr>
              <a:t>s</a:t>
            </a:r>
            <a:r>
              <a:rPr lang="en-US" sz="2400" dirty="0">
                <a:latin typeface="Times" pitchFamily="2" charset="0"/>
              </a:rPr>
              <a:t> = (</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 – </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 </a:t>
            </a:r>
            <a:r>
              <a:rPr lang="en-US" sz="2400" i="1" dirty="0">
                <a:latin typeface="Symbol" pitchFamily="2" charset="2"/>
              </a:rPr>
              <a:t>q</a:t>
            </a:r>
            <a:r>
              <a:rPr lang="en-US" sz="2400" dirty="0">
                <a:latin typeface="Times" pitchFamily="2" charset="0"/>
              </a:rPr>
              <a:t> = 0</a:t>
            </a:r>
            <a:r>
              <a:rPr lang="en-US" sz="2400" baseline="30000" dirty="0">
                <a:latin typeface="Times" pitchFamily="2" charset="0"/>
              </a:rPr>
              <a:t>o</a:t>
            </a:r>
            <a:r>
              <a:rPr lang="en-US" sz="2400" dirty="0">
                <a:latin typeface="Times" pitchFamily="2" charset="0"/>
              </a:rPr>
              <a:t>.</a:t>
            </a:r>
          </a:p>
        </p:txBody>
      </p:sp>
    </p:spTree>
    <p:extLst>
      <p:ext uri="{BB962C8B-B14F-4D97-AF65-F5344CB8AC3E}">
        <p14:creationId xmlns:p14="http://schemas.microsoft.com/office/powerpoint/2010/main" val="57365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dissolve">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dissolve">
                                      <p:cBhvr>
                                        <p:cTn id="3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p:bldP spid="22" grpId="0"/>
      <p:bldP spid="24" grpId="0"/>
      <p:bldP spid="29"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CE3A2-5005-25C7-0D21-D71A34891A6B}"/>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3B21CCF1-7688-2F94-37D4-5176C28C612B}"/>
              </a:ext>
            </a:extLst>
          </p:cNvPr>
          <p:cNvPicPr>
            <a:picLocks noChangeAspect="1"/>
          </p:cNvPicPr>
          <p:nvPr/>
        </p:nvPicPr>
        <p:blipFill>
          <a:blip r:embed="rId3"/>
          <a:stretch>
            <a:fillRect/>
          </a:stretch>
        </p:blipFill>
        <p:spPr>
          <a:xfrm>
            <a:off x="0" y="1213118"/>
            <a:ext cx="3674188" cy="4193770"/>
          </a:xfrm>
          <a:prstGeom prst="rect">
            <a:avLst/>
          </a:prstGeom>
        </p:spPr>
      </p:pic>
      <p:sp>
        <p:nvSpPr>
          <p:cNvPr id="2" name="Title 1">
            <a:extLst>
              <a:ext uri="{FF2B5EF4-FFF2-40B4-BE49-F238E27FC236}">
                <a16:creationId xmlns:a16="http://schemas.microsoft.com/office/drawing/2014/main" id="{926DF3D0-9C9C-ED2E-875A-6C17522F0EDC}"/>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6.3</a:t>
            </a:r>
            <a:r>
              <a:rPr lang="en-US" dirty="0">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8796E981-1A91-ADDB-E2E7-BD6FF52D0413}"/>
              </a:ext>
            </a:extLst>
          </p:cNvPr>
          <p:cNvSpPr txBox="1"/>
          <p:nvPr/>
        </p:nvSpPr>
        <p:spPr>
          <a:xfrm>
            <a:off x="940905" y="769491"/>
            <a:ext cx="6096000" cy="461665"/>
          </a:xfrm>
          <a:prstGeom prst="rect">
            <a:avLst/>
          </a:prstGeom>
          <a:noFill/>
        </p:spPr>
        <p:txBody>
          <a:bodyPr wrap="square">
            <a:spAutoFit/>
          </a:bodyPr>
          <a:lstStyle/>
          <a:p>
            <a:r>
              <a:rPr lang="en-US" sz="2400" dirty="0">
                <a:solidFill>
                  <a:srgbClr val="C00000"/>
                </a:solidFill>
                <a:latin typeface="Times" pitchFamily="2" charset="0"/>
              </a:rPr>
              <a:t>Work Done by the Force of Gravity</a:t>
            </a:r>
          </a:p>
        </p:txBody>
      </p:sp>
      <p:grpSp>
        <p:nvGrpSpPr>
          <p:cNvPr id="8" name="Group 7">
            <a:extLst>
              <a:ext uri="{FF2B5EF4-FFF2-40B4-BE49-F238E27FC236}">
                <a16:creationId xmlns:a16="http://schemas.microsoft.com/office/drawing/2014/main" id="{81120A8F-B98D-6F49-C67D-3DD0736258DA}"/>
              </a:ext>
            </a:extLst>
          </p:cNvPr>
          <p:cNvGrpSpPr/>
          <p:nvPr/>
        </p:nvGrpSpPr>
        <p:grpSpPr>
          <a:xfrm>
            <a:off x="5234611" y="1245704"/>
            <a:ext cx="8428382" cy="556592"/>
            <a:chOff x="5234611" y="1245704"/>
            <a:chExt cx="8428382" cy="556592"/>
          </a:xfrm>
        </p:grpSpPr>
        <p:sp>
          <p:nvSpPr>
            <p:cNvPr id="3" name="Rounded Rectangle 2">
              <a:extLst>
                <a:ext uri="{FF2B5EF4-FFF2-40B4-BE49-F238E27FC236}">
                  <a16:creationId xmlns:a16="http://schemas.microsoft.com/office/drawing/2014/main" id="{5CD21874-BCFD-EC8B-C76B-B5DC836B5725}"/>
                </a:ext>
              </a:extLst>
            </p:cNvPr>
            <p:cNvSpPr/>
            <p:nvPr/>
          </p:nvSpPr>
          <p:spPr>
            <a:xfrm>
              <a:off x="6056243" y="1245704"/>
              <a:ext cx="2646431" cy="5565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22CA48B-5D80-9F36-B7C1-5AF9017574C1}"/>
                </a:ext>
              </a:extLst>
            </p:cNvPr>
            <p:cNvSpPr txBox="1"/>
            <p:nvPr/>
          </p:nvSpPr>
          <p:spPr>
            <a:xfrm>
              <a:off x="5234611" y="1298712"/>
              <a:ext cx="8428382" cy="461665"/>
            </a:xfrm>
            <a:prstGeom prst="rect">
              <a:avLst/>
            </a:prstGeom>
            <a:noFill/>
          </p:spPr>
          <p:txBody>
            <a:bodyPr wrap="square" rtlCol="0">
              <a:spAutoFit/>
            </a:bodyPr>
            <a:lstStyle/>
            <a:p>
              <a:r>
                <a:rPr lang="en-US" sz="2400" dirty="0">
                  <a:latin typeface="Times" pitchFamily="2" charset="0"/>
                </a:rPr>
                <a:t>Thus,                                    .</a:t>
              </a:r>
            </a:p>
          </p:txBody>
        </p:sp>
      </p:grpSp>
      <p:sp>
        <p:nvSpPr>
          <p:cNvPr id="4" name="TextBox 3">
            <a:extLst>
              <a:ext uri="{FF2B5EF4-FFF2-40B4-BE49-F238E27FC236}">
                <a16:creationId xmlns:a16="http://schemas.microsoft.com/office/drawing/2014/main" id="{D8077E27-6B58-9F29-D3D3-FA30218D8FC8}"/>
              </a:ext>
            </a:extLst>
          </p:cNvPr>
          <p:cNvSpPr txBox="1"/>
          <p:nvPr/>
        </p:nvSpPr>
        <p:spPr>
          <a:xfrm>
            <a:off x="6008509" y="1296253"/>
            <a:ext cx="2931137" cy="461665"/>
          </a:xfrm>
          <a:prstGeom prst="rect">
            <a:avLst/>
          </a:prstGeom>
          <a:noFill/>
        </p:spPr>
        <p:txBody>
          <a:bodyPr wrap="square" rtlCol="0">
            <a:spAutoFit/>
          </a:bodyPr>
          <a:lstStyle/>
          <a:p>
            <a:r>
              <a:rPr lang="en-US" sz="2400" i="1" dirty="0" err="1">
                <a:latin typeface="Times" pitchFamily="2" charset="0"/>
              </a:rPr>
              <a:t>W</a:t>
            </a:r>
            <a:r>
              <a:rPr lang="en-US" sz="2400" baseline="-25000" dirty="0" err="1">
                <a:latin typeface="Times" pitchFamily="2" charset="0"/>
              </a:rPr>
              <a:t>Gravity</a:t>
            </a:r>
            <a:r>
              <a:rPr lang="en-US" sz="2400" dirty="0">
                <a:latin typeface="Times" pitchFamily="2" charset="0"/>
              </a:rPr>
              <a:t> = </a:t>
            </a:r>
            <a:r>
              <a:rPr lang="en-US" sz="2400" i="1" dirty="0">
                <a:latin typeface="Times" pitchFamily="2" charset="0"/>
              </a:rPr>
              <a:t>mg</a:t>
            </a:r>
            <a:r>
              <a:rPr lang="en-US" sz="2400" dirty="0">
                <a:latin typeface="Times" pitchFamily="2" charset="0"/>
              </a:rPr>
              <a:t>(</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 – </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a:t>
            </a:r>
          </a:p>
        </p:txBody>
      </p:sp>
      <p:sp>
        <p:nvSpPr>
          <p:cNvPr id="9" name="TextBox 8">
            <a:extLst>
              <a:ext uri="{FF2B5EF4-FFF2-40B4-BE49-F238E27FC236}">
                <a16:creationId xmlns:a16="http://schemas.microsoft.com/office/drawing/2014/main" id="{87F50D0B-44E7-83EC-C2C2-75D29DA7B366}"/>
              </a:ext>
            </a:extLst>
          </p:cNvPr>
          <p:cNvSpPr txBox="1"/>
          <p:nvPr/>
        </p:nvSpPr>
        <p:spPr>
          <a:xfrm>
            <a:off x="3939211" y="2022612"/>
            <a:ext cx="8428382" cy="830997"/>
          </a:xfrm>
          <a:prstGeom prst="rect">
            <a:avLst/>
          </a:prstGeom>
          <a:noFill/>
        </p:spPr>
        <p:txBody>
          <a:bodyPr wrap="square" rtlCol="0">
            <a:spAutoFit/>
          </a:bodyPr>
          <a:lstStyle/>
          <a:p>
            <a:r>
              <a:rPr lang="en-US" sz="2400" dirty="0">
                <a:latin typeface="Times" pitchFamily="2" charset="0"/>
              </a:rPr>
              <a:t>*Note:  If the ball is falling downward, then </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 &gt; </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 which means that </a:t>
            </a:r>
            <a:r>
              <a:rPr lang="en-US" sz="2400" i="1" dirty="0" err="1">
                <a:latin typeface="Times" pitchFamily="2" charset="0"/>
              </a:rPr>
              <a:t>W</a:t>
            </a:r>
            <a:r>
              <a:rPr lang="en-US" sz="2400" baseline="-25000" dirty="0" err="1">
                <a:latin typeface="Times" pitchFamily="2" charset="0"/>
              </a:rPr>
              <a:t>Gravity</a:t>
            </a:r>
            <a:r>
              <a:rPr lang="en-US" sz="2400" dirty="0">
                <a:latin typeface="Times" pitchFamily="2" charset="0"/>
              </a:rPr>
              <a:t> is positive, and the ball speeds up!</a:t>
            </a:r>
          </a:p>
        </p:txBody>
      </p:sp>
      <p:sp>
        <p:nvSpPr>
          <p:cNvPr id="10" name="TextBox 9">
            <a:extLst>
              <a:ext uri="{FF2B5EF4-FFF2-40B4-BE49-F238E27FC236}">
                <a16:creationId xmlns:a16="http://schemas.microsoft.com/office/drawing/2014/main" id="{4FCB3974-3BFE-68C4-FB12-39405ABB2778}"/>
              </a:ext>
            </a:extLst>
          </p:cNvPr>
          <p:cNvSpPr txBox="1"/>
          <p:nvPr/>
        </p:nvSpPr>
        <p:spPr>
          <a:xfrm>
            <a:off x="3926511" y="3114812"/>
            <a:ext cx="8428382" cy="830997"/>
          </a:xfrm>
          <a:prstGeom prst="rect">
            <a:avLst/>
          </a:prstGeom>
          <a:noFill/>
        </p:spPr>
        <p:txBody>
          <a:bodyPr wrap="square" rtlCol="0">
            <a:spAutoFit/>
          </a:bodyPr>
          <a:lstStyle/>
          <a:p>
            <a:r>
              <a:rPr lang="en-US" sz="2400" dirty="0">
                <a:latin typeface="Times" pitchFamily="2" charset="0"/>
              </a:rPr>
              <a:t>If the ball is rising upward, then </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 &lt; </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 which means that </a:t>
            </a:r>
            <a:r>
              <a:rPr lang="en-US" sz="2400" i="1" dirty="0" err="1">
                <a:latin typeface="Times" pitchFamily="2" charset="0"/>
              </a:rPr>
              <a:t>W</a:t>
            </a:r>
            <a:r>
              <a:rPr lang="en-US" sz="2400" baseline="-25000" dirty="0" err="1">
                <a:latin typeface="Times" pitchFamily="2" charset="0"/>
              </a:rPr>
              <a:t>Gravity</a:t>
            </a:r>
            <a:r>
              <a:rPr lang="en-US" sz="2400" dirty="0">
                <a:latin typeface="Times" pitchFamily="2" charset="0"/>
              </a:rPr>
              <a:t> is negative, and the ball slows down!</a:t>
            </a:r>
          </a:p>
        </p:txBody>
      </p:sp>
      <p:sp>
        <p:nvSpPr>
          <p:cNvPr id="11" name="TextBox 10">
            <a:extLst>
              <a:ext uri="{FF2B5EF4-FFF2-40B4-BE49-F238E27FC236}">
                <a16:creationId xmlns:a16="http://schemas.microsoft.com/office/drawing/2014/main" id="{4C49F551-32AC-918C-8A46-72418258C8A9}"/>
              </a:ext>
            </a:extLst>
          </p:cNvPr>
          <p:cNvSpPr txBox="1"/>
          <p:nvPr/>
        </p:nvSpPr>
        <p:spPr>
          <a:xfrm>
            <a:off x="5425111" y="4041912"/>
            <a:ext cx="4277689" cy="461665"/>
          </a:xfrm>
          <a:prstGeom prst="rect">
            <a:avLst/>
          </a:prstGeom>
          <a:noFill/>
        </p:spPr>
        <p:txBody>
          <a:bodyPr wrap="square" rtlCol="0">
            <a:spAutoFit/>
          </a:bodyPr>
          <a:lstStyle/>
          <a:p>
            <a:r>
              <a:rPr lang="en-US" sz="2400" dirty="0">
                <a:latin typeface="Times" pitchFamily="2" charset="0"/>
              </a:rPr>
              <a:t>We know this from experience!</a:t>
            </a:r>
          </a:p>
        </p:txBody>
      </p:sp>
      <p:sp>
        <p:nvSpPr>
          <p:cNvPr id="12" name="TextBox 11">
            <a:extLst>
              <a:ext uri="{FF2B5EF4-FFF2-40B4-BE49-F238E27FC236}">
                <a16:creationId xmlns:a16="http://schemas.microsoft.com/office/drawing/2014/main" id="{2DB0A248-459E-1B3B-1F7C-87401EA2C952}"/>
              </a:ext>
            </a:extLst>
          </p:cNvPr>
          <p:cNvSpPr txBox="1"/>
          <p:nvPr/>
        </p:nvSpPr>
        <p:spPr>
          <a:xfrm>
            <a:off x="9341129" y="1305338"/>
            <a:ext cx="1048576"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6.4</a:t>
            </a:r>
            <a:r>
              <a:rPr lang="en-US" sz="2400" dirty="0">
                <a:latin typeface="Times" pitchFamily="2" charset="0"/>
              </a:rPr>
              <a:t>)</a:t>
            </a:r>
          </a:p>
        </p:txBody>
      </p:sp>
      <p:sp>
        <p:nvSpPr>
          <p:cNvPr id="13" name="TextBox 12">
            <a:extLst>
              <a:ext uri="{FF2B5EF4-FFF2-40B4-BE49-F238E27FC236}">
                <a16:creationId xmlns:a16="http://schemas.microsoft.com/office/drawing/2014/main" id="{AA91E730-41EC-379E-91C9-4AF3559CA0C8}"/>
              </a:ext>
            </a:extLst>
          </p:cNvPr>
          <p:cNvSpPr txBox="1"/>
          <p:nvPr/>
        </p:nvSpPr>
        <p:spPr>
          <a:xfrm>
            <a:off x="3947493" y="4711146"/>
            <a:ext cx="8151742" cy="830997"/>
          </a:xfrm>
          <a:prstGeom prst="rect">
            <a:avLst/>
          </a:prstGeom>
          <a:noFill/>
        </p:spPr>
        <p:txBody>
          <a:bodyPr wrap="square" rtlCol="0">
            <a:spAutoFit/>
          </a:bodyPr>
          <a:lstStyle/>
          <a:p>
            <a:r>
              <a:rPr lang="en-US" sz="2400" dirty="0">
                <a:latin typeface="Times" pitchFamily="2" charset="0"/>
              </a:rPr>
              <a:t>But what if the ball doesn’t fall straight downward but instead takes an arbitrary path between its initial and final positions?</a:t>
            </a:r>
          </a:p>
        </p:txBody>
      </p:sp>
      <p:sp>
        <p:nvSpPr>
          <p:cNvPr id="14" name="TextBox 13">
            <a:extLst>
              <a:ext uri="{FF2B5EF4-FFF2-40B4-BE49-F238E27FC236}">
                <a16:creationId xmlns:a16="http://schemas.microsoft.com/office/drawing/2014/main" id="{B15DA9B3-9325-4BC1-B0D8-69078BEDE1B6}"/>
              </a:ext>
            </a:extLst>
          </p:cNvPr>
          <p:cNvSpPr txBox="1"/>
          <p:nvPr/>
        </p:nvSpPr>
        <p:spPr>
          <a:xfrm>
            <a:off x="3927615" y="5605668"/>
            <a:ext cx="8151742" cy="461665"/>
          </a:xfrm>
          <a:prstGeom prst="rect">
            <a:avLst/>
          </a:prstGeom>
          <a:noFill/>
        </p:spPr>
        <p:txBody>
          <a:bodyPr wrap="square" rtlCol="0">
            <a:spAutoFit/>
          </a:bodyPr>
          <a:lstStyle/>
          <a:p>
            <a:r>
              <a:rPr lang="en-US" sz="2400" dirty="0">
                <a:latin typeface="Times" pitchFamily="2" charset="0"/>
              </a:rPr>
              <a:t>How would we calculate the work done by gravity then?</a:t>
            </a:r>
          </a:p>
        </p:txBody>
      </p:sp>
    </p:spTree>
    <p:extLst>
      <p:ext uri="{BB962C8B-B14F-4D97-AF65-F5344CB8AC3E}">
        <p14:creationId xmlns:p14="http://schemas.microsoft.com/office/powerpoint/2010/main" val="255514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dissolv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C7C69-CCB1-6511-0358-5AFDFDEA0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DDA04-34CC-CD61-26A9-8F6BAEEBF949}"/>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6.3</a:t>
            </a:r>
            <a:r>
              <a:rPr lang="en-US" dirty="0">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60703E8D-CCB1-13A9-3BBA-465AA3999743}"/>
              </a:ext>
            </a:extLst>
          </p:cNvPr>
          <p:cNvSpPr txBox="1"/>
          <p:nvPr/>
        </p:nvSpPr>
        <p:spPr>
          <a:xfrm>
            <a:off x="940905" y="769491"/>
            <a:ext cx="6096000" cy="461665"/>
          </a:xfrm>
          <a:prstGeom prst="rect">
            <a:avLst/>
          </a:prstGeom>
          <a:noFill/>
        </p:spPr>
        <p:txBody>
          <a:bodyPr wrap="square">
            <a:spAutoFit/>
          </a:bodyPr>
          <a:lstStyle/>
          <a:p>
            <a:r>
              <a:rPr lang="en-US" sz="2400" dirty="0">
                <a:solidFill>
                  <a:srgbClr val="C00000"/>
                </a:solidFill>
                <a:latin typeface="Times" pitchFamily="2" charset="0"/>
              </a:rPr>
              <a:t>Work Done by the Force of Gravity</a:t>
            </a:r>
          </a:p>
        </p:txBody>
      </p:sp>
      <p:sp>
        <p:nvSpPr>
          <p:cNvPr id="9" name="TextBox 8">
            <a:extLst>
              <a:ext uri="{FF2B5EF4-FFF2-40B4-BE49-F238E27FC236}">
                <a16:creationId xmlns:a16="http://schemas.microsoft.com/office/drawing/2014/main" id="{3A1D4FA6-BBDB-400F-94ED-77A964E5BF9C}"/>
              </a:ext>
            </a:extLst>
          </p:cNvPr>
          <p:cNvSpPr txBox="1"/>
          <p:nvPr/>
        </p:nvSpPr>
        <p:spPr>
          <a:xfrm>
            <a:off x="3925959" y="1373256"/>
            <a:ext cx="8428382" cy="461665"/>
          </a:xfrm>
          <a:prstGeom prst="rect">
            <a:avLst/>
          </a:prstGeom>
          <a:noFill/>
        </p:spPr>
        <p:txBody>
          <a:bodyPr wrap="square" rtlCol="0">
            <a:spAutoFit/>
          </a:bodyPr>
          <a:lstStyle/>
          <a:p>
            <a:r>
              <a:rPr lang="en-US" sz="2400" dirty="0">
                <a:latin typeface="Times" pitchFamily="2" charset="0"/>
              </a:rPr>
              <a:t>The path on the right in the figure shows one such example.</a:t>
            </a:r>
          </a:p>
        </p:txBody>
      </p:sp>
      <p:pic>
        <p:nvPicPr>
          <p:cNvPr id="15" name="Picture 14">
            <a:extLst>
              <a:ext uri="{FF2B5EF4-FFF2-40B4-BE49-F238E27FC236}">
                <a16:creationId xmlns:a16="http://schemas.microsoft.com/office/drawing/2014/main" id="{A0FF1F23-F449-77B2-32D2-A2991D12C1BB}"/>
              </a:ext>
            </a:extLst>
          </p:cNvPr>
          <p:cNvPicPr>
            <a:picLocks noChangeAspect="1"/>
          </p:cNvPicPr>
          <p:nvPr/>
        </p:nvPicPr>
        <p:blipFill>
          <a:blip r:embed="rId3"/>
          <a:stretch>
            <a:fillRect/>
          </a:stretch>
        </p:blipFill>
        <p:spPr>
          <a:xfrm>
            <a:off x="122582" y="1374361"/>
            <a:ext cx="3173457" cy="3025362"/>
          </a:xfrm>
          <a:prstGeom prst="rect">
            <a:avLst/>
          </a:prstGeom>
        </p:spPr>
      </p:pic>
      <p:grpSp>
        <p:nvGrpSpPr>
          <p:cNvPr id="18" name="Group 17">
            <a:extLst>
              <a:ext uri="{FF2B5EF4-FFF2-40B4-BE49-F238E27FC236}">
                <a16:creationId xmlns:a16="http://schemas.microsoft.com/office/drawing/2014/main" id="{94E76E86-985F-5DA8-4430-51FF5BCED532}"/>
              </a:ext>
            </a:extLst>
          </p:cNvPr>
          <p:cNvGrpSpPr/>
          <p:nvPr/>
        </p:nvGrpSpPr>
        <p:grpSpPr>
          <a:xfrm>
            <a:off x="3038616" y="1882360"/>
            <a:ext cx="9484688" cy="461665"/>
            <a:chOff x="3038616" y="1882360"/>
            <a:chExt cx="9484688" cy="461665"/>
          </a:xfrm>
        </p:grpSpPr>
        <p:sp>
          <p:nvSpPr>
            <p:cNvPr id="16" name="Rounded Rectangle 15">
              <a:extLst>
                <a:ext uri="{FF2B5EF4-FFF2-40B4-BE49-F238E27FC236}">
                  <a16:creationId xmlns:a16="http://schemas.microsoft.com/office/drawing/2014/main" id="{2D7D28B7-30B4-A7AF-AA15-EB2F9B8A5897}"/>
                </a:ext>
              </a:extLst>
            </p:cNvPr>
            <p:cNvSpPr/>
            <p:nvPr/>
          </p:nvSpPr>
          <p:spPr>
            <a:xfrm>
              <a:off x="8878956" y="1908312"/>
              <a:ext cx="3127513"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61EF14D-82B8-9F01-D2D8-B5FE94E93639}"/>
                </a:ext>
              </a:extLst>
            </p:cNvPr>
            <p:cNvSpPr txBox="1"/>
            <p:nvPr/>
          </p:nvSpPr>
          <p:spPr>
            <a:xfrm>
              <a:off x="3038616" y="1882360"/>
              <a:ext cx="9484688" cy="461665"/>
            </a:xfrm>
            <a:prstGeom prst="rect">
              <a:avLst/>
            </a:prstGeom>
            <a:noFill/>
          </p:spPr>
          <p:txBody>
            <a:bodyPr wrap="square" rtlCol="0">
              <a:spAutoFit/>
            </a:bodyPr>
            <a:lstStyle/>
            <a:p>
              <a:r>
                <a:rPr lang="en-US" sz="2400" dirty="0">
                  <a:latin typeface="Times" pitchFamily="2" charset="0"/>
                </a:rPr>
                <a:t>But gravity (the </a:t>
              </a:r>
              <a:r>
                <a:rPr lang="en-US" sz="2400" dirty="0">
                  <a:solidFill>
                    <a:srgbClr val="2326C0"/>
                  </a:solidFill>
                  <a:latin typeface="Times" pitchFamily="2" charset="0"/>
                </a:rPr>
                <a:t>weight</a:t>
              </a:r>
              <a:r>
                <a:rPr lang="en-US" sz="2400" dirty="0">
                  <a:latin typeface="Times" pitchFamily="2" charset="0"/>
                </a:rPr>
                <a:t> of the ball) always acts                                          .</a:t>
              </a:r>
            </a:p>
          </p:txBody>
        </p:sp>
      </p:grpSp>
      <p:sp>
        <p:nvSpPr>
          <p:cNvPr id="17" name="TextBox 16">
            <a:extLst>
              <a:ext uri="{FF2B5EF4-FFF2-40B4-BE49-F238E27FC236}">
                <a16:creationId xmlns:a16="http://schemas.microsoft.com/office/drawing/2014/main" id="{3D99C700-E224-4688-F64A-13783B8E0EBC}"/>
              </a:ext>
            </a:extLst>
          </p:cNvPr>
          <p:cNvSpPr txBox="1"/>
          <p:nvPr/>
        </p:nvSpPr>
        <p:spPr>
          <a:xfrm>
            <a:off x="8865705" y="1921565"/>
            <a:ext cx="3246783"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vertically downward</a:t>
            </a:r>
          </a:p>
        </p:txBody>
      </p:sp>
      <p:grpSp>
        <p:nvGrpSpPr>
          <p:cNvPr id="37" name="Group 36">
            <a:extLst>
              <a:ext uri="{FF2B5EF4-FFF2-40B4-BE49-F238E27FC236}">
                <a16:creationId xmlns:a16="http://schemas.microsoft.com/office/drawing/2014/main" id="{615BE0F0-77D5-9767-A55B-BBEC284D2A5E}"/>
              </a:ext>
            </a:extLst>
          </p:cNvPr>
          <p:cNvGrpSpPr/>
          <p:nvPr/>
        </p:nvGrpSpPr>
        <p:grpSpPr>
          <a:xfrm>
            <a:off x="1814945" y="1350039"/>
            <a:ext cx="1413163" cy="2769257"/>
            <a:chOff x="1814945" y="1350039"/>
            <a:chExt cx="1413163" cy="2769257"/>
          </a:xfrm>
        </p:grpSpPr>
        <p:sp>
          <p:nvSpPr>
            <p:cNvPr id="20" name="Oval 19">
              <a:extLst>
                <a:ext uri="{FF2B5EF4-FFF2-40B4-BE49-F238E27FC236}">
                  <a16:creationId xmlns:a16="http://schemas.microsoft.com/office/drawing/2014/main" id="{C3EACE6A-8649-F00A-DE72-5B4FD6DE22E1}"/>
                </a:ext>
              </a:extLst>
            </p:cNvPr>
            <p:cNvSpPr/>
            <p:nvPr/>
          </p:nvSpPr>
          <p:spPr>
            <a:xfrm>
              <a:off x="2918298" y="3294293"/>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F71444F-F417-86EE-4559-A43848FAE52D}"/>
                </a:ext>
              </a:extLst>
            </p:cNvPr>
            <p:cNvSpPr/>
            <p:nvPr/>
          </p:nvSpPr>
          <p:spPr>
            <a:xfrm>
              <a:off x="2005442" y="1931930"/>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4849D23-E860-45E9-0BFF-121B760018D9}"/>
                </a:ext>
              </a:extLst>
            </p:cNvPr>
            <p:cNvSpPr/>
            <p:nvPr/>
          </p:nvSpPr>
          <p:spPr>
            <a:xfrm>
              <a:off x="2407223" y="1350039"/>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1E71FF0-ED03-3347-0CAB-8CBAE4572C40}"/>
                </a:ext>
              </a:extLst>
            </p:cNvPr>
            <p:cNvSpPr/>
            <p:nvPr/>
          </p:nvSpPr>
          <p:spPr>
            <a:xfrm>
              <a:off x="2744351" y="1867275"/>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421A29C1-EE0A-20DA-08C1-176446846A24}"/>
                </a:ext>
              </a:extLst>
            </p:cNvPr>
            <p:cNvGrpSpPr/>
            <p:nvPr/>
          </p:nvGrpSpPr>
          <p:grpSpPr>
            <a:xfrm>
              <a:off x="1814945" y="2013528"/>
              <a:ext cx="503382" cy="743404"/>
              <a:chOff x="1814945" y="2013528"/>
              <a:chExt cx="503382" cy="743404"/>
            </a:xfrm>
          </p:grpSpPr>
          <p:cxnSp>
            <p:nvCxnSpPr>
              <p:cNvPr id="25" name="Straight Arrow Connector 24">
                <a:extLst>
                  <a:ext uri="{FF2B5EF4-FFF2-40B4-BE49-F238E27FC236}">
                    <a16:creationId xmlns:a16="http://schemas.microsoft.com/office/drawing/2014/main" id="{4A9D193E-1762-3069-F6F1-8B08E197E165}"/>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1EA95C-FC17-C8B8-FB43-3ECCB4FAD947}"/>
                  </a:ext>
                </a:extLst>
              </p:cNvPr>
              <p:cNvSpPr txBox="1"/>
              <p:nvPr/>
            </p:nvSpPr>
            <p:spPr>
              <a:xfrm>
                <a:off x="1814945" y="2387600"/>
                <a:ext cx="503382" cy="369332"/>
              </a:xfrm>
              <a:prstGeom prst="rect">
                <a:avLst/>
              </a:prstGeom>
              <a:noFill/>
            </p:spPr>
            <p:txBody>
              <a:bodyPr wrap="square" rtlCol="0">
                <a:spAutoFit/>
              </a:bodyPr>
              <a:lstStyle/>
              <a:p>
                <a:r>
                  <a:rPr lang="en-US" i="1" dirty="0">
                    <a:latin typeface="Times" pitchFamily="2" charset="0"/>
                  </a:rPr>
                  <a:t>m</a:t>
                </a:r>
                <a:r>
                  <a:rPr lang="en-US" b="1" i="1" dirty="0">
                    <a:latin typeface="Times" pitchFamily="2" charset="0"/>
                  </a:rPr>
                  <a:t>g</a:t>
                </a:r>
              </a:p>
            </p:txBody>
          </p:sp>
        </p:grpSp>
        <p:grpSp>
          <p:nvGrpSpPr>
            <p:cNvPr id="28" name="Group 27">
              <a:extLst>
                <a:ext uri="{FF2B5EF4-FFF2-40B4-BE49-F238E27FC236}">
                  <a16:creationId xmlns:a16="http://schemas.microsoft.com/office/drawing/2014/main" id="{072C6C31-1F3F-F55B-A86D-46C18E01924A}"/>
                </a:ext>
              </a:extLst>
            </p:cNvPr>
            <p:cNvGrpSpPr/>
            <p:nvPr/>
          </p:nvGrpSpPr>
          <p:grpSpPr>
            <a:xfrm>
              <a:off x="2216727" y="1422400"/>
              <a:ext cx="503382" cy="743404"/>
              <a:chOff x="1814945" y="2013528"/>
              <a:chExt cx="503382" cy="743404"/>
            </a:xfrm>
          </p:grpSpPr>
          <p:cxnSp>
            <p:nvCxnSpPr>
              <p:cNvPr id="29" name="Straight Arrow Connector 28">
                <a:extLst>
                  <a:ext uri="{FF2B5EF4-FFF2-40B4-BE49-F238E27FC236}">
                    <a16:creationId xmlns:a16="http://schemas.microsoft.com/office/drawing/2014/main" id="{0E42BF13-24A3-CCF5-F2AF-102C706EBA13}"/>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E205232-3BCE-E160-AA0E-7EF87E7C298B}"/>
                  </a:ext>
                </a:extLst>
              </p:cNvPr>
              <p:cNvSpPr txBox="1"/>
              <p:nvPr/>
            </p:nvSpPr>
            <p:spPr>
              <a:xfrm>
                <a:off x="1814945" y="2387600"/>
                <a:ext cx="503382" cy="369332"/>
              </a:xfrm>
              <a:prstGeom prst="rect">
                <a:avLst/>
              </a:prstGeom>
              <a:noFill/>
            </p:spPr>
            <p:txBody>
              <a:bodyPr wrap="square" rtlCol="0">
                <a:spAutoFit/>
              </a:bodyPr>
              <a:lstStyle/>
              <a:p>
                <a:r>
                  <a:rPr lang="en-US" i="1" dirty="0">
                    <a:latin typeface="Times" pitchFamily="2" charset="0"/>
                  </a:rPr>
                  <a:t>m</a:t>
                </a:r>
                <a:r>
                  <a:rPr lang="en-US" b="1" i="1" dirty="0">
                    <a:latin typeface="Times" pitchFamily="2" charset="0"/>
                  </a:rPr>
                  <a:t>g</a:t>
                </a:r>
              </a:p>
            </p:txBody>
          </p:sp>
        </p:grpSp>
        <p:grpSp>
          <p:nvGrpSpPr>
            <p:cNvPr id="31" name="Group 30">
              <a:extLst>
                <a:ext uri="{FF2B5EF4-FFF2-40B4-BE49-F238E27FC236}">
                  <a16:creationId xmlns:a16="http://schemas.microsoft.com/office/drawing/2014/main" id="{B7E44E06-4AEE-ABF0-7604-35A411A7A168}"/>
                </a:ext>
              </a:extLst>
            </p:cNvPr>
            <p:cNvGrpSpPr/>
            <p:nvPr/>
          </p:nvGrpSpPr>
          <p:grpSpPr>
            <a:xfrm>
              <a:off x="2549236" y="1944255"/>
              <a:ext cx="503382" cy="743404"/>
              <a:chOff x="1814945" y="2013528"/>
              <a:chExt cx="503382" cy="743404"/>
            </a:xfrm>
          </p:grpSpPr>
          <p:cxnSp>
            <p:nvCxnSpPr>
              <p:cNvPr id="32" name="Straight Arrow Connector 31">
                <a:extLst>
                  <a:ext uri="{FF2B5EF4-FFF2-40B4-BE49-F238E27FC236}">
                    <a16:creationId xmlns:a16="http://schemas.microsoft.com/office/drawing/2014/main" id="{9688AE87-3954-7FB1-79BA-AEABD3196B6F}"/>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FBEC0B9-0DC6-14D3-6C50-45CEF85BD70B}"/>
                  </a:ext>
                </a:extLst>
              </p:cNvPr>
              <p:cNvSpPr txBox="1"/>
              <p:nvPr/>
            </p:nvSpPr>
            <p:spPr>
              <a:xfrm>
                <a:off x="1814945" y="2387600"/>
                <a:ext cx="503382" cy="369332"/>
              </a:xfrm>
              <a:prstGeom prst="rect">
                <a:avLst/>
              </a:prstGeom>
              <a:noFill/>
            </p:spPr>
            <p:txBody>
              <a:bodyPr wrap="square" rtlCol="0">
                <a:spAutoFit/>
              </a:bodyPr>
              <a:lstStyle/>
              <a:p>
                <a:r>
                  <a:rPr lang="en-US" i="1" dirty="0">
                    <a:latin typeface="Times" pitchFamily="2" charset="0"/>
                  </a:rPr>
                  <a:t>m</a:t>
                </a:r>
                <a:r>
                  <a:rPr lang="en-US" b="1" i="1" dirty="0">
                    <a:latin typeface="Times" pitchFamily="2" charset="0"/>
                  </a:rPr>
                  <a:t>g</a:t>
                </a:r>
              </a:p>
            </p:txBody>
          </p:sp>
        </p:grpSp>
        <p:grpSp>
          <p:nvGrpSpPr>
            <p:cNvPr id="34" name="Group 33">
              <a:extLst>
                <a:ext uri="{FF2B5EF4-FFF2-40B4-BE49-F238E27FC236}">
                  <a16:creationId xmlns:a16="http://schemas.microsoft.com/office/drawing/2014/main" id="{587F7380-9C51-4901-233C-A7DF5C0D2AC0}"/>
                </a:ext>
              </a:extLst>
            </p:cNvPr>
            <p:cNvGrpSpPr/>
            <p:nvPr/>
          </p:nvGrpSpPr>
          <p:grpSpPr>
            <a:xfrm>
              <a:off x="2724726" y="3375892"/>
              <a:ext cx="503382" cy="743404"/>
              <a:chOff x="1814945" y="2013528"/>
              <a:chExt cx="503382" cy="743404"/>
            </a:xfrm>
          </p:grpSpPr>
          <p:cxnSp>
            <p:nvCxnSpPr>
              <p:cNvPr id="35" name="Straight Arrow Connector 34">
                <a:extLst>
                  <a:ext uri="{FF2B5EF4-FFF2-40B4-BE49-F238E27FC236}">
                    <a16:creationId xmlns:a16="http://schemas.microsoft.com/office/drawing/2014/main" id="{E5303C65-D59F-2516-2B5C-862213B34890}"/>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0D7AE60-A707-F1EC-F304-E1FD53A32D96}"/>
                  </a:ext>
                </a:extLst>
              </p:cNvPr>
              <p:cNvSpPr txBox="1"/>
              <p:nvPr/>
            </p:nvSpPr>
            <p:spPr>
              <a:xfrm>
                <a:off x="1814945" y="2387600"/>
                <a:ext cx="503382" cy="369332"/>
              </a:xfrm>
              <a:prstGeom prst="rect">
                <a:avLst/>
              </a:prstGeom>
              <a:noFill/>
            </p:spPr>
            <p:txBody>
              <a:bodyPr wrap="square" rtlCol="0">
                <a:spAutoFit/>
              </a:bodyPr>
              <a:lstStyle/>
              <a:p>
                <a:r>
                  <a:rPr lang="en-US" i="1" dirty="0">
                    <a:latin typeface="Times" pitchFamily="2" charset="0"/>
                  </a:rPr>
                  <a:t>m</a:t>
                </a:r>
                <a:r>
                  <a:rPr lang="en-US" b="1" i="1" dirty="0">
                    <a:latin typeface="Times" pitchFamily="2" charset="0"/>
                  </a:rPr>
                  <a:t>g</a:t>
                </a:r>
              </a:p>
            </p:txBody>
          </p:sp>
        </p:grpSp>
      </p:grpSp>
      <p:sp>
        <p:nvSpPr>
          <p:cNvPr id="38" name="TextBox 37">
            <a:extLst>
              <a:ext uri="{FF2B5EF4-FFF2-40B4-BE49-F238E27FC236}">
                <a16:creationId xmlns:a16="http://schemas.microsoft.com/office/drawing/2014/main" id="{BCFA5C5A-1E82-6239-5338-09A23F24F878}"/>
              </a:ext>
            </a:extLst>
          </p:cNvPr>
          <p:cNvSpPr txBox="1"/>
          <p:nvPr/>
        </p:nvSpPr>
        <p:spPr>
          <a:xfrm>
            <a:off x="3124755" y="2525090"/>
            <a:ext cx="9484688" cy="830997"/>
          </a:xfrm>
          <a:prstGeom prst="rect">
            <a:avLst/>
          </a:prstGeom>
          <a:noFill/>
        </p:spPr>
        <p:txBody>
          <a:bodyPr wrap="square" rtlCol="0">
            <a:spAutoFit/>
          </a:bodyPr>
          <a:lstStyle/>
          <a:p>
            <a:r>
              <a:rPr lang="en-US" sz="2400" dirty="0">
                <a:latin typeface="Times" pitchFamily="2" charset="0"/>
              </a:rPr>
              <a:t>Thus, only the </a:t>
            </a:r>
            <a:r>
              <a:rPr lang="en-US" sz="2400" u="sng" dirty="0">
                <a:latin typeface="Times" pitchFamily="2" charset="0"/>
              </a:rPr>
              <a:t>vertical component </a:t>
            </a:r>
            <a:r>
              <a:rPr lang="en-US" sz="2400" dirty="0">
                <a:latin typeface="Times" pitchFamily="2" charset="0"/>
              </a:rPr>
              <a:t>of the displacement contributes to the work.</a:t>
            </a:r>
          </a:p>
        </p:txBody>
      </p:sp>
      <p:sp>
        <p:nvSpPr>
          <p:cNvPr id="39" name="TextBox 38">
            <a:extLst>
              <a:ext uri="{FF2B5EF4-FFF2-40B4-BE49-F238E27FC236}">
                <a16:creationId xmlns:a16="http://schemas.microsoft.com/office/drawing/2014/main" id="{96E839A8-5B3E-5F75-1A26-50F7BB21A733}"/>
              </a:ext>
            </a:extLst>
          </p:cNvPr>
          <p:cNvSpPr txBox="1"/>
          <p:nvPr/>
        </p:nvSpPr>
        <p:spPr>
          <a:xfrm>
            <a:off x="3422929" y="3432865"/>
            <a:ext cx="8769071" cy="830997"/>
          </a:xfrm>
          <a:prstGeom prst="rect">
            <a:avLst/>
          </a:prstGeom>
          <a:noFill/>
        </p:spPr>
        <p:txBody>
          <a:bodyPr wrap="square" rtlCol="0">
            <a:spAutoFit/>
          </a:bodyPr>
          <a:lstStyle/>
          <a:p>
            <a:r>
              <a:rPr lang="en-US" sz="2400" dirty="0">
                <a:latin typeface="Times" pitchFamily="2" charset="0"/>
              </a:rPr>
              <a:t>As such, the work only depends on the change in the vertical distance (</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 – </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 which is the same for the two paths shown. </a:t>
            </a:r>
          </a:p>
        </p:txBody>
      </p:sp>
      <p:grpSp>
        <p:nvGrpSpPr>
          <p:cNvPr id="48" name="Group 47">
            <a:extLst>
              <a:ext uri="{FF2B5EF4-FFF2-40B4-BE49-F238E27FC236}">
                <a16:creationId xmlns:a16="http://schemas.microsoft.com/office/drawing/2014/main" id="{8A3F756D-0AD5-FEC9-00D2-B31F6F5A6D8B}"/>
              </a:ext>
            </a:extLst>
          </p:cNvPr>
          <p:cNvGrpSpPr/>
          <p:nvPr/>
        </p:nvGrpSpPr>
        <p:grpSpPr>
          <a:xfrm>
            <a:off x="384315" y="4585252"/>
            <a:ext cx="11410119" cy="1627854"/>
            <a:chOff x="384315" y="4585252"/>
            <a:chExt cx="11410119" cy="1627854"/>
          </a:xfrm>
        </p:grpSpPr>
        <p:grpSp>
          <p:nvGrpSpPr>
            <p:cNvPr id="46" name="Group 45">
              <a:extLst>
                <a:ext uri="{FF2B5EF4-FFF2-40B4-BE49-F238E27FC236}">
                  <a16:creationId xmlns:a16="http://schemas.microsoft.com/office/drawing/2014/main" id="{3C6356E1-6E3D-87EB-7089-37536B266B11}"/>
                </a:ext>
              </a:extLst>
            </p:cNvPr>
            <p:cNvGrpSpPr/>
            <p:nvPr/>
          </p:nvGrpSpPr>
          <p:grpSpPr>
            <a:xfrm>
              <a:off x="410820" y="4625008"/>
              <a:ext cx="11198084" cy="1588098"/>
              <a:chOff x="410820" y="4625008"/>
              <a:chExt cx="11198084" cy="1588098"/>
            </a:xfrm>
          </p:grpSpPr>
          <p:sp>
            <p:nvSpPr>
              <p:cNvPr id="42" name="TextBox 41">
                <a:extLst>
                  <a:ext uri="{FF2B5EF4-FFF2-40B4-BE49-F238E27FC236}">
                    <a16:creationId xmlns:a16="http://schemas.microsoft.com/office/drawing/2014/main" id="{583960FF-B1B6-6E60-3067-F29A9A0F5270}"/>
                  </a:ext>
                </a:extLst>
              </p:cNvPr>
              <p:cNvSpPr txBox="1"/>
              <p:nvPr/>
            </p:nvSpPr>
            <p:spPr>
              <a:xfrm>
                <a:off x="440637" y="5012777"/>
                <a:ext cx="11168267" cy="1200329"/>
              </a:xfrm>
              <a:prstGeom prst="rect">
                <a:avLst/>
              </a:prstGeom>
              <a:noFill/>
            </p:spPr>
            <p:txBody>
              <a:bodyPr wrap="square">
                <a:spAutoFit/>
              </a:bodyPr>
              <a:lstStyle/>
              <a:p>
                <a:pPr algn="just"/>
                <a:r>
                  <a:rPr lang="en-US" sz="2400" dirty="0">
                    <a:latin typeface="Times" pitchFamily="2" charset="0"/>
                  </a:rPr>
                  <a:t>Only the                                                   needs be considered when calculating the work done by gravity. </a:t>
                </a:r>
              </a:p>
              <a:p>
                <a:pPr algn="just"/>
                <a:endParaRPr lang="en-US" sz="2400" dirty="0">
                  <a:latin typeface="Times" pitchFamily="2" charset="0"/>
                </a:endParaRPr>
              </a:p>
            </p:txBody>
          </p:sp>
          <p:sp>
            <p:nvSpPr>
              <p:cNvPr id="43" name="TextBox 42">
                <a:extLst>
                  <a:ext uri="{FF2B5EF4-FFF2-40B4-BE49-F238E27FC236}">
                    <a16:creationId xmlns:a16="http://schemas.microsoft.com/office/drawing/2014/main" id="{7B15BD4C-068C-9750-374D-9E8BD1BA4D4A}"/>
                  </a:ext>
                </a:extLst>
              </p:cNvPr>
              <p:cNvSpPr txBox="1"/>
              <p:nvPr/>
            </p:nvSpPr>
            <p:spPr>
              <a:xfrm>
                <a:off x="410820" y="4625008"/>
                <a:ext cx="4680843" cy="461665"/>
              </a:xfrm>
              <a:prstGeom prst="rect">
                <a:avLst/>
              </a:prstGeom>
              <a:noFill/>
            </p:spPr>
            <p:txBody>
              <a:bodyPr wrap="square" rtlCol="0">
                <a:spAutoFit/>
              </a:bodyPr>
              <a:lstStyle/>
              <a:p>
                <a:r>
                  <a:rPr lang="en-US" sz="2400" dirty="0">
                    <a:solidFill>
                      <a:srgbClr val="C0694F"/>
                    </a:solidFill>
                    <a:latin typeface="Times" pitchFamily="2" charset="0"/>
                  </a:rPr>
                  <a:t>Problem-Solving Insight</a:t>
                </a:r>
              </a:p>
            </p:txBody>
          </p:sp>
          <p:sp>
            <p:nvSpPr>
              <p:cNvPr id="45" name="Rounded Rectangle 44">
                <a:extLst>
                  <a:ext uri="{FF2B5EF4-FFF2-40B4-BE49-F238E27FC236}">
                    <a16:creationId xmlns:a16="http://schemas.microsoft.com/office/drawing/2014/main" id="{DC4E49D7-281C-9B42-977F-1091FE124933}"/>
                  </a:ext>
                </a:extLst>
              </p:cNvPr>
              <p:cNvSpPr/>
              <p:nvPr/>
            </p:nvSpPr>
            <p:spPr>
              <a:xfrm>
                <a:off x="1696278" y="5049078"/>
                <a:ext cx="3856383" cy="3975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B2A37577-D35F-DDB8-0D4C-1DA6DAB3AD7D}"/>
                </a:ext>
              </a:extLst>
            </p:cNvPr>
            <p:cNvSpPr/>
            <p:nvPr/>
          </p:nvSpPr>
          <p:spPr>
            <a:xfrm>
              <a:off x="384315" y="4585252"/>
              <a:ext cx="11410119" cy="1404731"/>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AB5EEEF5-356D-B37E-BBB2-758696398EE7}"/>
              </a:ext>
            </a:extLst>
          </p:cNvPr>
          <p:cNvSpPr txBox="1"/>
          <p:nvPr/>
        </p:nvSpPr>
        <p:spPr>
          <a:xfrm>
            <a:off x="1716159" y="5029199"/>
            <a:ext cx="4167807"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change in height (h</a:t>
            </a:r>
            <a:r>
              <a:rPr lang="en-US" sz="2000" baseline="-25000" dirty="0">
                <a:solidFill>
                  <a:srgbClr val="007440"/>
                </a:solidFill>
                <a:latin typeface="Chalkduster" panose="03050602040202020205" pitchFamily="66" charset="77"/>
              </a:rPr>
              <a:t>0</a:t>
            </a:r>
            <a:r>
              <a:rPr lang="en-US" sz="2000" dirty="0">
                <a:solidFill>
                  <a:srgbClr val="007440"/>
                </a:solidFill>
                <a:latin typeface="Chalkduster" panose="03050602040202020205" pitchFamily="66" charset="77"/>
              </a:rPr>
              <a:t> – h</a:t>
            </a:r>
            <a:r>
              <a:rPr lang="en-US" sz="2000" baseline="-25000" dirty="0">
                <a:solidFill>
                  <a:srgbClr val="007440"/>
                </a:solidFill>
                <a:latin typeface="Chalkduster" panose="03050602040202020205" pitchFamily="66" charset="77"/>
              </a:rPr>
              <a:t>f</a:t>
            </a:r>
            <a:r>
              <a:rPr lang="en-US" sz="2000" dirty="0">
                <a:solidFill>
                  <a:srgbClr val="007440"/>
                </a:solidFill>
                <a:latin typeface="Chalkduster" panose="03050602040202020205" pitchFamily="66" charset="77"/>
              </a:rPr>
              <a:t>)</a:t>
            </a:r>
          </a:p>
        </p:txBody>
      </p:sp>
    </p:spTree>
    <p:extLst>
      <p:ext uri="{BB962C8B-B14F-4D97-AF65-F5344CB8AC3E}">
        <p14:creationId xmlns:p14="http://schemas.microsoft.com/office/powerpoint/2010/main" val="172264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dissolv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dissolv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dissolve">
                                      <p:cBhvr>
                                        <p:cTn id="4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38" grpId="0"/>
      <p:bldP spid="39" grpId="0"/>
      <p:bldP spid="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26C52-E8D1-FB01-A990-0A7013377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968E2-BB33-C7D6-C363-688D0DB16737}"/>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6.3</a:t>
            </a:r>
            <a:r>
              <a:rPr lang="en-US" dirty="0">
                <a:ea typeface="Calibri" charset="0"/>
                <a:cs typeface="Calibri" charset="0"/>
              </a:rPr>
              <a:t> Gravitation Potential Energy</a:t>
            </a:r>
            <a:endParaRPr lang="en-US" sz="3000" dirty="0"/>
          </a:p>
        </p:txBody>
      </p:sp>
      <p:grpSp>
        <p:nvGrpSpPr>
          <p:cNvPr id="3" name="Group 2">
            <a:extLst>
              <a:ext uri="{FF2B5EF4-FFF2-40B4-BE49-F238E27FC236}">
                <a16:creationId xmlns:a16="http://schemas.microsoft.com/office/drawing/2014/main" id="{5A47BE4C-A430-DAB1-02DF-D0F95F7CEA54}"/>
              </a:ext>
            </a:extLst>
          </p:cNvPr>
          <p:cNvGrpSpPr/>
          <p:nvPr/>
        </p:nvGrpSpPr>
        <p:grpSpPr>
          <a:xfrm>
            <a:off x="781121" y="694189"/>
            <a:ext cx="10880791" cy="2330718"/>
            <a:chOff x="889929" y="1815738"/>
            <a:chExt cx="10880791" cy="2330718"/>
          </a:xfrm>
        </p:grpSpPr>
        <p:sp>
          <p:nvSpPr>
            <p:cNvPr id="4" name="TextBox 3">
              <a:extLst>
                <a:ext uri="{FF2B5EF4-FFF2-40B4-BE49-F238E27FC236}">
                  <a16:creationId xmlns:a16="http://schemas.microsoft.com/office/drawing/2014/main" id="{7101B65A-B61E-7E9B-2792-F2667D2340B4}"/>
                </a:ext>
              </a:extLst>
            </p:cNvPr>
            <p:cNvSpPr txBox="1"/>
            <p:nvPr/>
          </p:nvSpPr>
          <p:spPr>
            <a:xfrm>
              <a:off x="966653" y="1815738"/>
              <a:ext cx="8658610" cy="523220"/>
            </a:xfrm>
            <a:prstGeom prst="rect">
              <a:avLst/>
            </a:prstGeom>
            <a:noFill/>
          </p:spPr>
          <p:txBody>
            <a:bodyPr wrap="square" rtlCol="0">
              <a:spAutoFit/>
            </a:bodyPr>
            <a:lstStyle/>
            <a:p>
              <a:r>
                <a:rPr lang="en-US" sz="2800" dirty="0">
                  <a:solidFill>
                    <a:srgbClr val="C00000"/>
                  </a:solidFill>
                  <a:latin typeface="Times" pitchFamily="2" charset="0"/>
                </a:rPr>
                <a:t>Example – A Gymnast on a Trampoline</a:t>
              </a:r>
            </a:p>
          </p:txBody>
        </p:sp>
        <p:sp>
          <p:nvSpPr>
            <p:cNvPr id="5" name="TextBox 4">
              <a:extLst>
                <a:ext uri="{FF2B5EF4-FFF2-40B4-BE49-F238E27FC236}">
                  <a16:creationId xmlns:a16="http://schemas.microsoft.com/office/drawing/2014/main" id="{33503B1D-61DD-76DC-BB67-7D39CC11C0C2}"/>
                </a:ext>
              </a:extLst>
            </p:cNvPr>
            <p:cNvSpPr txBox="1"/>
            <p:nvPr/>
          </p:nvSpPr>
          <p:spPr>
            <a:xfrm>
              <a:off x="889929" y="2207464"/>
              <a:ext cx="10880791" cy="1938992"/>
            </a:xfrm>
            <a:prstGeom prst="rect">
              <a:avLst/>
            </a:prstGeom>
            <a:noFill/>
          </p:spPr>
          <p:txBody>
            <a:bodyPr wrap="square">
              <a:spAutoFit/>
            </a:bodyPr>
            <a:lstStyle/>
            <a:p>
              <a:pPr algn="just"/>
              <a:r>
                <a:rPr lang="en-US" sz="2400" dirty="0">
                  <a:effectLst/>
                  <a:latin typeface="Times" pitchFamily="2" charset="0"/>
                </a:rPr>
                <a:t> A gymnast springs vertically upward from a trampoline as shown in the figure. The gymnast leaves the trampoline at a height of </a:t>
              </a:r>
              <a:r>
                <a:rPr lang="en-US" sz="2400" i="1" dirty="0">
                  <a:effectLst/>
                  <a:latin typeface="Times" pitchFamily="2" charset="0"/>
                </a:rPr>
                <a:t>h</a:t>
              </a:r>
              <a:r>
                <a:rPr lang="en-US" sz="2400" baseline="-25000" dirty="0">
                  <a:effectLst/>
                  <a:latin typeface="Times" pitchFamily="2" charset="0"/>
                </a:rPr>
                <a:t>0</a:t>
              </a:r>
              <a:r>
                <a:rPr lang="en-US" sz="2400" dirty="0">
                  <a:effectLst/>
                  <a:latin typeface="Times" pitchFamily="2" charset="0"/>
                </a:rPr>
                <a:t> = 1.20 m and reaches a maximum height of </a:t>
              </a:r>
              <a:r>
                <a:rPr lang="en-US" sz="2400" i="1" dirty="0">
                  <a:effectLst/>
                  <a:latin typeface="Times" pitchFamily="2" charset="0"/>
                </a:rPr>
                <a:t>h</a:t>
              </a:r>
              <a:r>
                <a:rPr lang="en-US" sz="2400" baseline="-25000" dirty="0">
                  <a:effectLst/>
                  <a:latin typeface="Times" pitchFamily="2" charset="0"/>
                </a:rPr>
                <a:t>f</a:t>
              </a:r>
              <a:r>
                <a:rPr lang="en-US" sz="2400" dirty="0">
                  <a:effectLst/>
                  <a:latin typeface="Times" pitchFamily="2" charset="0"/>
                </a:rPr>
                <a:t> = 4.80 m before falling back down. All heights are measured with respect to the ground. Ignoring air resistance, determine the initial speed </a:t>
              </a:r>
              <a:r>
                <a:rPr lang="en-US" sz="2400" i="1" dirty="0">
                  <a:effectLst/>
                  <a:latin typeface="Times" pitchFamily="2" charset="0"/>
                </a:rPr>
                <a:t>v</a:t>
              </a:r>
              <a:r>
                <a:rPr lang="en-US" sz="2400" baseline="-25000" dirty="0">
                  <a:effectLst/>
                  <a:latin typeface="Times" pitchFamily="2" charset="0"/>
                </a:rPr>
                <a:t>0</a:t>
              </a:r>
              <a:r>
                <a:rPr lang="en-US" sz="2400" dirty="0">
                  <a:effectLst/>
                  <a:latin typeface="Times" pitchFamily="2" charset="0"/>
                </a:rPr>
                <a:t> with which the gymnast leaves the trampoline.</a:t>
              </a:r>
            </a:p>
          </p:txBody>
        </p:sp>
      </p:grpSp>
      <p:pic>
        <p:nvPicPr>
          <p:cNvPr id="8" name="Picture 7">
            <a:extLst>
              <a:ext uri="{FF2B5EF4-FFF2-40B4-BE49-F238E27FC236}">
                <a16:creationId xmlns:a16="http://schemas.microsoft.com/office/drawing/2014/main" id="{011594D8-2A92-E1DB-181E-4E4CC0B29D7C}"/>
              </a:ext>
            </a:extLst>
          </p:cNvPr>
          <p:cNvPicPr>
            <a:picLocks noChangeAspect="1"/>
          </p:cNvPicPr>
          <p:nvPr/>
        </p:nvPicPr>
        <p:blipFill>
          <a:blip r:embed="rId3"/>
          <a:srcRect l="39088" b="4343"/>
          <a:stretch/>
        </p:blipFill>
        <p:spPr>
          <a:xfrm>
            <a:off x="92764" y="3091305"/>
            <a:ext cx="3843131" cy="3296244"/>
          </a:xfrm>
          <a:prstGeom prst="rect">
            <a:avLst/>
          </a:prstGeom>
        </p:spPr>
      </p:pic>
      <p:grpSp>
        <p:nvGrpSpPr>
          <p:cNvPr id="14" name="Group 13">
            <a:extLst>
              <a:ext uri="{FF2B5EF4-FFF2-40B4-BE49-F238E27FC236}">
                <a16:creationId xmlns:a16="http://schemas.microsoft.com/office/drawing/2014/main" id="{580AF81B-7403-8E4A-87C7-BA10933B8214}"/>
              </a:ext>
            </a:extLst>
          </p:cNvPr>
          <p:cNvGrpSpPr/>
          <p:nvPr/>
        </p:nvGrpSpPr>
        <p:grpSpPr>
          <a:xfrm>
            <a:off x="2775574" y="2921342"/>
            <a:ext cx="8859836" cy="1902452"/>
            <a:chOff x="2775574" y="2921342"/>
            <a:chExt cx="8859836" cy="1902452"/>
          </a:xfrm>
        </p:grpSpPr>
        <p:sp>
          <p:nvSpPr>
            <p:cNvPr id="13" name="Rounded Rectangle 12">
              <a:extLst>
                <a:ext uri="{FF2B5EF4-FFF2-40B4-BE49-F238E27FC236}">
                  <a16:creationId xmlns:a16="http://schemas.microsoft.com/office/drawing/2014/main" id="{4569A429-A464-2C46-6F5F-8A36CDCB4CA6}"/>
                </a:ext>
              </a:extLst>
            </p:cNvPr>
            <p:cNvSpPr/>
            <p:nvPr/>
          </p:nvSpPr>
          <p:spPr>
            <a:xfrm>
              <a:off x="4757530" y="4081673"/>
              <a:ext cx="4903304"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E341F08-3224-1839-A7E5-8D234323C124}"/>
                </a:ext>
              </a:extLst>
            </p:cNvPr>
            <p:cNvSpPr txBox="1"/>
            <p:nvPr/>
          </p:nvSpPr>
          <p:spPr>
            <a:xfrm>
              <a:off x="2775574" y="2921342"/>
              <a:ext cx="8859836" cy="1200329"/>
            </a:xfrm>
            <a:prstGeom prst="rect">
              <a:avLst/>
            </a:prstGeom>
            <a:noFill/>
          </p:spPr>
          <p:txBody>
            <a:bodyPr wrap="square">
              <a:spAutoFit/>
            </a:bodyPr>
            <a:lstStyle/>
            <a:p>
              <a:pPr algn="just"/>
              <a:r>
                <a:rPr lang="en-US" sz="2400" dirty="0">
                  <a:effectLst/>
                  <a:latin typeface="Times" pitchFamily="2" charset="0"/>
                </a:rPr>
                <a:t>The initial speed of the gymnast is related to her initial kinetic energy.  We can use the </a:t>
              </a:r>
              <a:r>
                <a:rPr lang="en-US" sz="2400" dirty="0">
                  <a:solidFill>
                    <a:srgbClr val="007440"/>
                  </a:solidFill>
                  <a:effectLst/>
                  <a:latin typeface="Times" pitchFamily="2" charset="0"/>
                </a:rPr>
                <a:t>work-energy theorem </a:t>
              </a:r>
              <a:r>
                <a:rPr lang="en-US" sz="2400" dirty="0">
                  <a:effectLst/>
                  <a:latin typeface="Times" pitchFamily="2" charset="0"/>
                </a:rPr>
                <a:t>(6.3) to find this, assuming we can calculate the work down by the net external force:</a:t>
              </a:r>
            </a:p>
          </p:txBody>
        </p:sp>
      </p:grpSp>
      <p:pic>
        <p:nvPicPr>
          <p:cNvPr id="12" name="Picture 11">
            <a:extLst>
              <a:ext uri="{FF2B5EF4-FFF2-40B4-BE49-F238E27FC236}">
                <a16:creationId xmlns:a16="http://schemas.microsoft.com/office/drawing/2014/main" id="{CF37A4B4-89CE-A489-E5A3-7C893CE4C955}"/>
              </a:ext>
            </a:extLst>
          </p:cNvPr>
          <p:cNvPicPr>
            <a:picLocks noChangeAspect="1"/>
          </p:cNvPicPr>
          <p:nvPr/>
        </p:nvPicPr>
        <p:blipFill>
          <a:blip r:embed="rId4"/>
          <a:stretch>
            <a:fillRect/>
          </a:stretch>
        </p:blipFill>
        <p:spPr>
          <a:xfrm>
            <a:off x="4863550" y="4129587"/>
            <a:ext cx="4747592" cy="594133"/>
          </a:xfrm>
          <a:prstGeom prst="rect">
            <a:avLst/>
          </a:prstGeom>
        </p:spPr>
      </p:pic>
      <p:sp>
        <p:nvSpPr>
          <p:cNvPr id="19" name="TextBox 18">
            <a:extLst>
              <a:ext uri="{FF2B5EF4-FFF2-40B4-BE49-F238E27FC236}">
                <a16:creationId xmlns:a16="http://schemas.microsoft.com/office/drawing/2014/main" id="{876A2048-225A-E4CD-940C-11D1CB9A6CEE}"/>
              </a:ext>
            </a:extLst>
          </p:cNvPr>
          <p:cNvSpPr txBox="1"/>
          <p:nvPr/>
        </p:nvSpPr>
        <p:spPr>
          <a:xfrm>
            <a:off x="3617087" y="4889290"/>
            <a:ext cx="7965313" cy="830997"/>
          </a:xfrm>
          <a:prstGeom prst="rect">
            <a:avLst/>
          </a:prstGeom>
          <a:noFill/>
        </p:spPr>
        <p:txBody>
          <a:bodyPr wrap="square">
            <a:spAutoFit/>
          </a:bodyPr>
          <a:lstStyle/>
          <a:p>
            <a:pPr algn="just"/>
            <a:r>
              <a:rPr lang="en-US" sz="2400" dirty="0">
                <a:effectLst/>
                <a:latin typeface="Times" pitchFamily="2" charset="0"/>
              </a:rPr>
              <a:t>The final speed of the gymnast will be 0 m/s, since they instantaneously come to rest at max height.</a:t>
            </a:r>
          </a:p>
        </p:txBody>
      </p:sp>
      <p:grpSp>
        <p:nvGrpSpPr>
          <p:cNvPr id="49" name="Group 48">
            <a:extLst>
              <a:ext uri="{FF2B5EF4-FFF2-40B4-BE49-F238E27FC236}">
                <a16:creationId xmlns:a16="http://schemas.microsoft.com/office/drawing/2014/main" id="{ABCB250C-AA9C-43F5-49CF-6C3EB34D68DD}"/>
              </a:ext>
            </a:extLst>
          </p:cNvPr>
          <p:cNvGrpSpPr/>
          <p:nvPr/>
        </p:nvGrpSpPr>
        <p:grpSpPr>
          <a:xfrm>
            <a:off x="7885043" y="3843133"/>
            <a:ext cx="1537252" cy="1020418"/>
            <a:chOff x="7885043" y="4094921"/>
            <a:chExt cx="1537252" cy="1020418"/>
          </a:xfrm>
        </p:grpSpPr>
        <p:cxnSp>
          <p:nvCxnSpPr>
            <p:cNvPr id="40" name="Straight Connector 39">
              <a:extLst>
                <a:ext uri="{FF2B5EF4-FFF2-40B4-BE49-F238E27FC236}">
                  <a16:creationId xmlns:a16="http://schemas.microsoft.com/office/drawing/2014/main" id="{02E80857-0DB8-3B07-7922-9A109D199F96}"/>
                </a:ext>
              </a:extLst>
            </p:cNvPr>
            <p:cNvCxnSpPr/>
            <p:nvPr/>
          </p:nvCxnSpPr>
          <p:spPr>
            <a:xfrm flipV="1">
              <a:off x="7885043" y="4346713"/>
              <a:ext cx="556591" cy="768626"/>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7B6450C-767C-A510-3A3A-A6C3FEACDB3B}"/>
                </a:ext>
              </a:extLst>
            </p:cNvPr>
            <p:cNvSpPr txBox="1"/>
            <p:nvPr/>
          </p:nvSpPr>
          <p:spPr>
            <a:xfrm>
              <a:off x="8401878" y="4094921"/>
              <a:ext cx="1020417" cy="369332"/>
            </a:xfrm>
            <a:prstGeom prst="rect">
              <a:avLst/>
            </a:prstGeom>
            <a:noFill/>
          </p:spPr>
          <p:txBody>
            <a:bodyPr wrap="square" rtlCol="0">
              <a:spAutoFit/>
            </a:bodyPr>
            <a:lstStyle/>
            <a:p>
              <a:r>
                <a:rPr lang="en-US" dirty="0">
                  <a:solidFill>
                    <a:srgbClr val="FF0000"/>
                  </a:solidFill>
                  <a:latin typeface="Times" pitchFamily="2" charset="0"/>
                </a:rPr>
                <a:t>0</a:t>
              </a:r>
            </a:p>
          </p:txBody>
        </p:sp>
      </p:grpSp>
      <p:grpSp>
        <p:nvGrpSpPr>
          <p:cNvPr id="54" name="Group 53">
            <a:extLst>
              <a:ext uri="{FF2B5EF4-FFF2-40B4-BE49-F238E27FC236}">
                <a16:creationId xmlns:a16="http://schemas.microsoft.com/office/drawing/2014/main" id="{B4722F5F-C5B5-022D-834A-88F731A310DE}"/>
              </a:ext>
            </a:extLst>
          </p:cNvPr>
          <p:cNvGrpSpPr/>
          <p:nvPr/>
        </p:nvGrpSpPr>
        <p:grpSpPr>
          <a:xfrm>
            <a:off x="5638046" y="5652054"/>
            <a:ext cx="2763834" cy="742121"/>
            <a:chOff x="4604375" y="5652054"/>
            <a:chExt cx="2763834" cy="742121"/>
          </a:xfrm>
        </p:grpSpPr>
        <p:sp>
          <p:nvSpPr>
            <p:cNvPr id="52" name="TextBox 51">
              <a:extLst>
                <a:ext uri="{FF2B5EF4-FFF2-40B4-BE49-F238E27FC236}">
                  <a16:creationId xmlns:a16="http://schemas.microsoft.com/office/drawing/2014/main" id="{C7C77CE8-1315-B58B-22DA-DD6CAB5B1730}"/>
                </a:ext>
              </a:extLst>
            </p:cNvPr>
            <p:cNvSpPr txBox="1"/>
            <p:nvPr/>
          </p:nvSpPr>
          <p:spPr>
            <a:xfrm>
              <a:off x="4604375" y="5850070"/>
              <a:ext cx="1292844" cy="461665"/>
            </a:xfrm>
            <a:prstGeom prst="rect">
              <a:avLst/>
            </a:prstGeom>
            <a:noFill/>
          </p:spPr>
          <p:txBody>
            <a:bodyPr wrap="square">
              <a:spAutoFit/>
            </a:bodyPr>
            <a:lstStyle/>
            <a:p>
              <a:pPr algn="just"/>
              <a:r>
                <a:rPr lang="en-US" sz="2400" dirty="0">
                  <a:effectLst/>
                  <a:latin typeface="Times" pitchFamily="2" charset="0"/>
                </a:rPr>
                <a:t>Thus, </a:t>
              </a:r>
            </a:p>
          </p:txBody>
        </p:sp>
        <p:sp>
          <p:nvSpPr>
            <p:cNvPr id="53" name="Rounded Rectangle 52">
              <a:extLst>
                <a:ext uri="{FF2B5EF4-FFF2-40B4-BE49-F238E27FC236}">
                  <a16:creationId xmlns:a16="http://schemas.microsoft.com/office/drawing/2014/main" id="{13B201EC-2224-0048-5076-3522E12DE95E}"/>
                </a:ext>
              </a:extLst>
            </p:cNvPr>
            <p:cNvSpPr/>
            <p:nvPr/>
          </p:nvSpPr>
          <p:spPr>
            <a:xfrm>
              <a:off x="5519530" y="5652054"/>
              <a:ext cx="1848679"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C2316675-DFDD-100F-E3C1-0872E51097E3}"/>
              </a:ext>
            </a:extLst>
          </p:cNvPr>
          <p:cNvGrpSpPr/>
          <p:nvPr/>
        </p:nvGrpSpPr>
        <p:grpSpPr>
          <a:xfrm>
            <a:off x="6652595" y="5565914"/>
            <a:ext cx="1547190" cy="808383"/>
            <a:chOff x="5618924" y="5565914"/>
            <a:chExt cx="1547190" cy="808383"/>
          </a:xfrm>
        </p:grpSpPr>
        <p:pic>
          <p:nvPicPr>
            <p:cNvPr id="55" name="Picture 54">
              <a:extLst>
                <a:ext uri="{FF2B5EF4-FFF2-40B4-BE49-F238E27FC236}">
                  <a16:creationId xmlns:a16="http://schemas.microsoft.com/office/drawing/2014/main" id="{AE0F8D38-3FD6-4730-18C8-0CBA0CA20D74}"/>
                </a:ext>
              </a:extLst>
            </p:cNvPr>
            <p:cNvPicPr>
              <a:picLocks noChangeAspect="1"/>
            </p:cNvPicPr>
            <p:nvPr/>
          </p:nvPicPr>
          <p:blipFill>
            <a:blip r:embed="rId4"/>
            <a:srcRect l="79135" t="-29255" b="1"/>
            <a:stretch/>
          </p:blipFill>
          <p:spPr>
            <a:xfrm>
              <a:off x="6175511" y="5565914"/>
              <a:ext cx="990603" cy="767946"/>
            </a:xfrm>
            <a:prstGeom prst="rect">
              <a:avLst/>
            </a:prstGeom>
          </p:spPr>
        </p:pic>
        <p:pic>
          <p:nvPicPr>
            <p:cNvPr id="56" name="Picture 55">
              <a:extLst>
                <a:ext uri="{FF2B5EF4-FFF2-40B4-BE49-F238E27FC236}">
                  <a16:creationId xmlns:a16="http://schemas.microsoft.com/office/drawing/2014/main" id="{D28DFD24-E2AE-0113-36A7-9219704B1022}"/>
                </a:ext>
              </a:extLst>
            </p:cNvPr>
            <p:cNvPicPr>
              <a:picLocks noChangeAspect="1"/>
            </p:cNvPicPr>
            <p:nvPr/>
          </p:nvPicPr>
          <p:blipFill>
            <a:blip r:embed="rId4"/>
            <a:srcRect t="1" r="89114" b="1000"/>
            <a:stretch/>
          </p:blipFill>
          <p:spPr>
            <a:xfrm>
              <a:off x="5618924" y="5786109"/>
              <a:ext cx="516833" cy="588188"/>
            </a:xfrm>
            <a:prstGeom prst="rect">
              <a:avLst/>
            </a:prstGeom>
          </p:spPr>
        </p:pic>
      </p:grpSp>
    </p:spTree>
    <p:extLst>
      <p:ext uri="{BB962C8B-B14F-4D97-AF65-F5344CB8AC3E}">
        <p14:creationId xmlns:p14="http://schemas.microsoft.com/office/powerpoint/2010/main" val="163399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dissolve">
                                      <p:cBhvr>
                                        <p:cTn id="21" dur="500"/>
                                        <p:tgtEl>
                                          <p:spTgt spid="4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dissolve">
                                      <p:cBhvr>
                                        <p:cTn id="26" dur="5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dissolve">
                                      <p:cBhvr>
                                        <p:cTn id="3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A5EB4-85D5-F83E-04BE-D031838EB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AB9D7-355C-5E0B-3ABB-1E0CA4DCC127}"/>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6.3</a:t>
            </a:r>
            <a:r>
              <a:rPr lang="en-US" dirty="0">
                <a:ea typeface="Calibri" charset="0"/>
                <a:cs typeface="Calibri" charset="0"/>
              </a:rPr>
              <a:t> Gravitation Potential Energy</a:t>
            </a:r>
            <a:endParaRPr lang="en-US" sz="3000" dirty="0"/>
          </a:p>
        </p:txBody>
      </p:sp>
      <p:grpSp>
        <p:nvGrpSpPr>
          <p:cNvPr id="3" name="Group 2">
            <a:extLst>
              <a:ext uri="{FF2B5EF4-FFF2-40B4-BE49-F238E27FC236}">
                <a16:creationId xmlns:a16="http://schemas.microsoft.com/office/drawing/2014/main" id="{175EC850-FFF4-ABF2-8398-4CC71D8C353A}"/>
              </a:ext>
            </a:extLst>
          </p:cNvPr>
          <p:cNvGrpSpPr/>
          <p:nvPr/>
        </p:nvGrpSpPr>
        <p:grpSpPr>
          <a:xfrm>
            <a:off x="781121" y="694189"/>
            <a:ext cx="10880791" cy="932903"/>
            <a:chOff x="889929" y="1815738"/>
            <a:chExt cx="10880791" cy="932903"/>
          </a:xfrm>
        </p:grpSpPr>
        <p:sp>
          <p:nvSpPr>
            <p:cNvPr id="4" name="TextBox 3">
              <a:extLst>
                <a:ext uri="{FF2B5EF4-FFF2-40B4-BE49-F238E27FC236}">
                  <a16:creationId xmlns:a16="http://schemas.microsoft.com/office/drawing/2014/main" id="{96363DD2-5B04-2550-A136-CF0D5E05B8B0}"/>
                </a:ext>
              </a:extLst>
            </p:cNvPr>
            <p:cNvSpPr txBox="1"/>
            <p:nvPr/>
          </p:nvSpPr>
          <p:spPr>
            <a:xfrm>
              <a:off x="966653" y="1815738"/>
              <a:ext cx="8658610" cy="523220"/>
            </a:xfrm>
            <a:prstGeom prst="rect">
              <a:avLst/>
            </a:prstGeom>
            <a:noFill/>
          </p:spPr>
          <p:txBody>
            <a:bodyPr wrap="square" rtlCol="0">
              <a:spAutoFit/>
            </a:bodyPr>
            <a:lstStyle/>
            <a:p>
              <a:r>
                <a:rPr lang="en-US" sz="2800" dirty="0">
                  <a:solidFill>
                    <a:srgbClr val="C00000"/>
                  </a:solidFill>
                  <a:latin typeface="Times" pitchFamily="2" charset="0"/>
                </a:rPr>
                <a:t>Example – A Gymnast on a Trampoline</a:t>
              </a:r>
            </a:p>
          </p:txBody>
        </p:sp>
        <p:sp>
          <p:nvSpPr>
            <p:cNvPr id="5" name="TextBox 4">
              <a:extLst>
                <a:ext uri="{FF2B5EF4-FFF2-40B4-BE49-F238E27FC236}">
                  <a16:creationId xmlns:a16="http://schemas.microsoft.com/office/drawing/2014/main" id="{C3D0EE23-D809-5C80-B8D1-E0E3D6E9267D}"/>
                </a:ext>
              </a:extLst>
            </p:cNvPr>
            <p:cNvSpPr txBox="1"/>
            <p:nvPr/>
          </p:nvSpPr>
          <p:spPr>
            <a:xfrm>
              <a:off x="889929" y="2286976"/>
              <a:ext cx="10880791" cy="461665"/>
            </a:xfrm>
            <a:prstGeom prst="rect">
              <a:avLst/>
            </a:prstGeom>
            <a:noFill/>
          </p:spPr>
          <p:txBody>
            <a:bodyPr wrap="square">
              <a:spAutoFit/>
            </a:bodyPr>
            <a:lstStyle/>
            <a:p>
              <a:pPr algn="just"/>
              <a:r>
                <a:rPr lang="en-US" sz="2400" dirty="0">
                  <a:effectLst/>
                  <a:latin typeface="Times" pitchFamily="2" charset="0"/>
                </a:rPr>
                <a:t>Only the gravitational force acts on the gymnast.  Thus, it is the force doing work.</a:t>
              </a:r>
            </a:p>
          </p:txBody>
        </p:sp>
      </p:grpSp>
      <p:pic>
        <p:nvPicPr>
          <p:cNvPr id="8" name="Picture 7">
            <a:extLst>
              <a:ext uri="{FF2B5EF4-FFF2-40B4-BE49-F238E27FC236}">
                <a16:creationId xmlns:a16="http://schemas.microsoft.com/office/drawing/2014/main" id="{A5B08939-DD64-7239-8849-45DDB5387407}"/>
              </a:ext>
            </a:extLst>
          </p:cNvPr>
          <p:cNvPicPr>
            <a:picLocks noChangeAspect="1"/>
          </p:cNvPicPr>
          <p:nvPr/>
        </p:nvPicPr>
        <p:blipFill>
          <a:blip r:embed="rId3"/>
          <a:srcRect l="39088" b="4343"/>
          <a:stretch/>
        </p:blipFill>
        <p:spPr>
          <a:xfrm>
            <a:off x="92764" y="3091305"/>
            <a:ext cx="3843131" cy="3296244"/>
          </a:xfrm>
          <a:prstGeom prst="rect">
            <a:avLst/>
          </a:prstGeom>
        </p:spPr>
      </p:pic>
      <p:sp>
        <p:nvSpPr>
          <p:cNvPr id="19" name="TextBox 18">
            <a:extLst>
              <a:ext uri="{FF2B5EF4-FFF2-40B4-BE49-F238E27FC236}">
                <a16:creationId xmlns:a16="http://schemas.microsoft.com/office/drawing/2014/main" id="{5C7F62D6-1A7F-1497-1DDA-928DA9A7B89A}"/>
              </a:ext>
            </a:extLst>
          </p:cNvPr>
          <p:cNvSpPr txBox="1"/>
          <p:nvPr/>
        </p:nvSpPr>
        <p:spPr>
          <a:xfrm>
            <a:off x="3696600" y="2662925"/>
            <a:ext cx="6640095" cy="461665"/>
          </a:xfrm>
          <a:prstGeom prst="rect">
            <a:avLst/>
          </a:prstGeom>
          <a:noFill/>
        </p:spPr>
        <p:txBody>
          <a:bodyPr wrap="square">
            <a:spAutoFit/>
          </a:bodyPr>
          <a:lstStyle/>
          <a:p>
            <a:pPr algn="just"/>
            <a:r>
              <a:rPr lang="en-US" sz="2400" dirty="0">
                <a:latin typeface="Times" pitchFamily="2" charset="0"/>
              </a:rPr>
              <a:t>*Note that the mass of the gymnast drops out.</a:t>
            </a:r>
            <a:endParaRPr lang="en-US" sz="2400" dirty="0">
              <a:effectLst/>
              <a:latin typeface="Times" pitchFamily="2" charset="0"/>
            </a:endParaRPr>
          </a:p>
        </p:txBody>
      </p:sp>
      <p:grpSp>
        <p:nvGrpSpPr>
          <p:cNvPr id="20" name="Group 19">
            <a:extLst>
              <a:ext uri="{FF2B5EF4-FFF2-40B4-BE49-F238E27FC236}">
                <a16:creationId xmlns:a16="http://schemas.microsoft.com/office/drawing/2014/main" id="{DB8FB5F8-E71C-58D6-4735-26717400A784}"/>
              </a:ext>
            </a:extLst>
          </p:cNvPr>
          <p:cNvGrpSpPr/>
          <p:nvPr/>
        </p:nvGrpSpPr>
        <p:grpSpPr>
          <a:xfrm>
            <a:off x="801000" y="1689653"/>
            <a:ext cx="10927174" cy="742121"/>
            <a:chOff x="801000" y="1689653"/>
            <a:chExt cx="10927174" cy="742121"/>
          </a:xfrm>
        </p:grpSpPr>
        <p:sp>
          <p:nvSpPr>
            <p:cNvPr id="53" name="Rounded Rectangle 52">
              <a:extLst>
                <a:ext uri="{FF2B5EF4-FFF2-40B4-BE49-F238E27FC236}">
                  <a16:creationId xmlns:a16="http://schemas.microsoft.com/office/drawing/2014/main" id="{CEEC09C6-50D2-0249-ADC4-732BC913D5E5}"/>
                </a:ext>
              </a:extLst>
            </p:cNvPr>
            <p:cNvSpPr/>
            <p:nvPr/>
          </p:nvSpPr>
          <p:spPr>
            <a:xfrm>
              <a:off x="6917635" y="1689653"/>
              <a:ext cx="4810539"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B6BBA9-042C-8CF7-4E10-E8F9B68F07E4}"/>
                </a:ext>
              </a:extLst>
            </p:cNvPr>
            <p:cNvSpPr txBox="1"/>
            <p:nvPr/>
          </p:nvSpPr>
          <p:spPr>
            <a:xfrm>
              <a:off x="801000" y="1702140"/>
              <a:ext cx="10880791" cy="461665"/>
            </a:xfrm>
            <a:prstGeom prst="rect">
              <a:avLst/>
            </a:prstGeom>
            <a:noFill/>
          </p:spPr>
          <p:txBody>
            <a:bodyPr wrap="square">
              <a:spAutoFit/>
            </a:bodyPr>
            <a:lstStyle/>
            <a:p>
              <a:pPr algn="just"/>
              <a:r>
                <a:rPr lang="en-US" sz="2400" dirty="0">
                  <a:effectLst/>
                  <a:latin typeface="Times" pitchFamily="2" charset="0"/>
                </a:rPr>
                <a:t>We can use Equation 6.4 to calculate the work:</a:t>
              </a:r>
            </a:p>
          </p:txBody>
        </p:sp>
      </p:grpSp>
      <p:grpSp>
        <p:nvGrpSpPr>
          <p:cNvPr id="17" name="Group 16">
            <a:extLst>
              <a:ext uri="{FF2B5EF4-FFF2-40B4-BE49-F238E27FC236}">
                <a16:creationId xmlns:a16="http://schemas.microsoft.com/office/drawing/2014/main" id="{B8B2156C-14C5-42E6-789C-89C2C0B15A25}"/>
              </a:ext>
            </a:extLst>
          </p:cNvPr>
          <p:cNvGrpSpPr/>
          <p:nvPr/>
        </p:nvGrpSpPr>
        <p:grpSpPr>
          <a:xfrm>
            <a:off x="6983896" y="1563758"/>
            <a:ext cx="4528932" cy="828260"/>
            <a:chOff x="3074505" y="2226367"/>
            <a:chExt cx="4528932" cy="828260"/>
          </a:xfrm>
        </p:grpSpPr>
        <p:grpSp>
          <p:nvGrpSpPr>
            <p:cNvPr id="16" name="Group 15">
              <a:extLst>
                <a:ext uri="{FF2B5EF4-FFF2-40B4-BE49-F238E27FC236}">
                  <a16:creationId xmlns:a16="http://schemas.microsoft.com/office/drawing/2014/main" id="{006629B9-2D74-8051-DA35-28F02FFC7620}"/>
                </a:ext>
              </a:extLst>
            </p:cNvPr>
            <p:cNvGrpSpPr/>
            <p:nvPr/>
          </p:nvGrpSpPr>
          <p:grpSpPr>
            <a:xfrm>
              <a:off x="6308034" y="2226367"/>
              <a:ext cx="1295403" cy="781879"/>
              <a:chOff x="10230678" y="357811"/>
              <a:chExt cx="1295403" cy="781879"/>
            </a:xfrm>
          </p:grpSpPr>
          <p:pic>
            <p:nvPicPr>
              <p:cNvPr id="55" name="Picture 54">
                <a:extLst>
                  <a:ext uri="{FF2B5EF4-FFF2-40B4-BE49-F238E27FC236}">
                    <a16:creationId xmlns:a16="http://schemas.microsoft.com/office/drawing/2014/main" id="{0E7EF94F-3CE1-4B64-350D-4C73498F0F32}"/>
                  </a:ext>
                </a:extLst>
              </p:cNvPr>
              <p:cNvPicPr>
                <a:picLocks noChangeAspect="1"/>
              </p:cNvPicPr>
              <p:nvPr/>
            </p:nvPicPr>
            <p:blipFill>
              <a:blip r:embed="rId4"/>
              <a:srcRect l="79135" t="-29255" b="1"/>
              <a:stretch/>
            </p:blipFill>
            <p:spPr>
              <a:xfrm>
                <a:off x="10535478" y="357811"/>
                <a:ext cx="990603" cy="767946"/>
              </a:xfrm>
              <a:prstGeom prst="rect">
                <a:avLst/>
              </a:prstGeom>
            </p:spPr>
          </p:pic>
          <p:pic>
            <p:nvPicPr>
              <p:cNvPr id="56" name="Picture 55">
                <a:extLst>
                  <a:ext uri="{FF2B5EF4-FFF2-40B4-BE49-F238E27FC236}">
                    <a16:creationId xmlns:a16="http://schemas.microsoft.com/office/drawing/2014/main" id="{F5E2B446-3A0D-1CBB-1024-FA935ED23B01}"/>
                  </a:ext>
                </a:extLst>
              </p:cNvPr>
              <p:cNvPicPr>
                <a:picLocks noChangeAspect="1"/>
              </p:cNvPicPr>
              <p:nvPr/>
            </p:nvPicPr>
            <p:blipFill>
              <a:blip r:embed="rId4"/>
              <a:srcRect l="5582" t="5319" r="89114" b="1000"/>
              <a:stretch/>
            </p:blipFill>
            <p:spPr>
              <a:xfrm>
                <a:off x="10230678" y="583096"/>
                <a:ext cx="251794" cy="556594"/>
              </a:xfrm>
              <a:prstGeom prst="rect">
                <a:avLst/>
              </a:prstGeom>
            </p:spPr>
          </p:pic>
        </p:grpSp>
        <p:sp>
          <p:nvSpPr>
            <p:cNvPr id="7" name="TextBox 6">
              <a:extLst>
                <a:ext uri="{FF2B5EF4-FFF2-40B4-BE49-F238E27FC236}">
                  <a16:creationId xmlns:a16="http://schemas.microsoft.com/office/drawing/2014/main" id="{00692375-CC27-BBB8-50BB-F6AEC4D50776}"/>
                </a:ext>
              </a:extLst>
            </p:cNvPr>
            <p:cNvSpPr txBox="1"/>
            <p:nvPr/>
          </p:nvSpPr>
          <p:spPr>
            <a:xfrm>
              <a:off x="3602185" y="2488949"/>
              <a:ext cx="2931137" cy="461665"/>
            </a:xfrm>
            <a:prstGeom prst="rect">
              <a:avLst/>
            </a:prstGeom>
            <a:noFill/>
          </p:spPr>
          <p:txBody>
            <a:bodyPr wrap="square" rtlCol="0">
              <a:spAutoFit/>
            </a:bodyPr>
            <a:lstStyle/>
            <a:p>
              <a:r>
                <a:rPr lang="en-US" sz="2400" i="1" dirty="0" err="1">
                  <a:latin typeface="Times" pitchFamily="2" charset="0"/>
                </a:rPr>
                <a:t>W</a:t>
              </a:r>
              <a:r>
                <a:rPr lang="en-US" sz="2400" baseline="-25000" dirty="0" err="1">
                  <a:latin typeface="Times" pitchFamily="2" charset="0"/>
                </a:rPr>
                <a:t>Gravity</a:t>
              </a:r>
              <a:r>
                <a:rPr lang="en-US" sz="2400" dirty="0">
                  <a:latin typeface="Times" pitchFamily="2" charset="0"/>
                </a:rPr>
                <a:t> = </a:t>
              </a:r>
              <a:r>
                <a:rPr lang="en-US" sz="2400" i="1" dirty="0">
                  <a:latin typeface="Times" pitchFamily="2" charset="0"/>
                </a:rPr>
                <a:t>mg</a:t>
              </a:r>
              <a:r>
                <a:rPr lang="en-US" sz="2400" dirty="0">
                  <a:latin typeface="Times" pitchFamily="2" charset="0"/>
                </a:rPr>
                <a:t>(</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 – </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a:t>
              </a:r>
            </a:p>
          </p:txBody>
        </p:sp>
        <p:pic>
          <p:nvPicPr>
            <p:cNvPr id="15" name="Picture 14">
              <a:extLst>
                <a:ext uri="{FF2B5EF4-FFF2-40B4-BE49-F238E27FC236}">
                  <a16:creationId xmlns:a16="http://schemas.microsoft.com/office/drawing/2014/main" id="{855EDD8F-6902-725B-564B-ACEF49EEF0DA}"/>
                </a:ext>
              </a:extLst>
            </p:cNvPr>
            <p:cNvPicPr>
              <a:picLocks noChangeAspect="1"/>
            </p:cNvPicPr>
            <p:nvPr/>
          </p:nvPicPr>
          <p:blipFill>
            <a:blip r:embed="rId4"/>
            <a:srcRect t="1" r="89114" b="1000"/>
            <a:stretch/>
          </p:blipFill>
          <p:spPr>
            <a:xfrm>
              <a:off x="3074505" y="2385390"/>
              <a:ext cx="588050" cy="669237"/>
            </a:xfrm>
            <a:prstGeom prst="rect">
              <a:avLst/>
            </a:prstGeom>
          </p:spPr>
        </p:pic>
      </p:grpSp>
      <p:grpSp>
        <p:nvGrpSpPr>
          <p:cNvPr id="24" name="Group 23">
            <a:extLst>
              <a:ext uri="{FF2B5EF4-FFF2-40B4-BE49-F238E27FC236}">
                <a16:creationId xmlns:a16="http://schemas.microsoft.com/office/drawing/2014/main" id="{0296FBA6-9615-F309-04AD-2D1D701F9257}"/>
              </a:ext>
            </a:extLst>
          </p:cNvPr>
          <p:cNvGrpSpPr/>
          <p:nvPr/>
        </p:nvGrpSpPr>
        <p:grpSpPr>
          <a:xfrm>
            <a:off x="8825947" y="1839592"/>
            <a:ext cx="2370936" cy="446407"/>
            <a:chOff x="8825947" y="1839592"/>
            <a:chExt cx="2370936" cy="446407"/>
          </a:xfrm>
        </p:grpSpPr>
        <p:cxnSp>
          <p:nvCxnSpPr>
            <p:cNvPr id="22" name="Straight Connector 21">
              <a:extLst>
                <a:ext uri="{FF2B5EF4-FFF2-40B4-BE49-F238E27FC236}">
                  <a16:creationId xmlns:a16="http://schemas.microsoft.com/office/drawing/2014/main" id="{6761A739-9491-DFA4-7E5E-5A0B621EC557}"/>
                </a:ext>
              </a:extLst>
            </p:cNvPr>
            <p:cNvCxnSpPr>
              <a:cxnSpLocks/>
            </p:cNvCxnSpPr>
            <p:nvPr/>
          </p:nvCxnSpPr>
          <p:spPr>
            <a:xfrm flipV="1">
              <a:off x="8825947" y="1839592"/>
              <a:ext cx="190954" cy="40002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96C18B-54B2-5091-5F05-66636CE8B568}"/>
                </a:ext>
              </a:extLst>
            </p:cNvPr>
            <p:cNvCxnSpPr>
              <a:cxnSpLocks/>
            </p:cNvCxnSpPr>
            <p:nvPr/>
          </p:nvCxnSpPr>
          <p:spPr>
            <a:xfrm flipV="1">
              <a:off x="11005929" y="1885974"/>
              <a:ext cx="190954" cy="40002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B023748A-58F1-4D58-4054-4A1982D60D8C}"/>
              </a:ext>
            </a:extLst>
          </p:cNvPr>
          <p:cNvGrpSpPr/>
          <p:nvPr/>
        </p:nvGrpSpPr>
        <p:grpSpPr>
          <a:xfrm>
            <a:off x="3703226" y="3226143"/>
            <a:ext cx="8183973" cy="1624153"/>
            <a:chOff x="3703226" y="3226143"/>
            <a:chExt cx="8183973" cy="1624153"/>
          </a:xfrm>
        </p:grpSpPr>
        <p:sp>
          <p:nvSpPr>
            <p:cNvPr id="25" name="TextBox 24">
              <a:extLst>
                <a:ext uri="{FF2B5EF4-FFF2-40B4-BE49-F238E27FC236}">
                  <a16:creationId xmlns:a16="http://schemas.microsoft.com/office/drawing/2014/main" id="{67918BFC-EA2E-0C62-B93E-AE96D67302B3}"/>
                </a:ext>
              </a:extLst>
            </p:cNvPr>
            <p:cNvSpPr txBox="1"/>
            <p:nvPr/>
          </p:nvSpPr>
          <p:spPr>
            <a:xfrm>
              <a:off x="3703226" y="3226143"/>
              <a:ext cx="6640095" cy="461665"/>
            </a:xfrm>
            <a:prstGeom prst="rect">
              <a:avLst/>
            </a:prstGeom>
            <a:noFill/>
          </p:spPr>
          <p:txBody>
            <a:bodyPr wrap="square">
              <a:spAutoFit/>
            </a:bodyPr>
            <a:lstStyle/>
            <a:p>
              <a:pPr algn="just"/>
              <a:r>
                <a:rPr lang="en-US" sz="2400" dirty="0">
                  <a:latin typeface="Times" pitchFamily="2" charset="0"/>
                </a:rPr>
                <a:t>We can now solve for </a:t>
              </a:r>
              <a:r>
                <a:rPr lang="en-US" sz="2400" i="1" dirty="0">
                  <a:latin typeface="Times" pitchFamily="2" charset="0"/>
                </a:rPr>
                <a:t>v</a:t>
              </a:r>
              <a:r>
                <a:rPr lang="en-US" sz="2400" baseline="-25000" dirty="0">
                  <a:latin typeface="Times" pitchFamily="2" charset="0"/>
                </a:rPr>
                <a:t>0</a:t>
              </a:r>
              <a:r>
                <a:rPr lang="en-US" sz="2400" dirty="0">
                  <a:latin typeface="Times" pitchFamily="2" charset="0"/>
                </a:rPr>
                <a:t>:</a:t>
              </a:r>
              <a:endParaRPr lang="en-US" sz="2400" dirty="0">
                <a:effectLst/>
                <a:latin typeface="Times" pitchFamily="2" charset="0"/>
              </a:endParaRPr>
            </a:p>
          </p:txBody>
        </p:sp>
        <p:sp>
          <p:nvSpPr>
            <p:cNvPr id="27" name="Rounded Rectangle 26">
              <a:extLst>
                <a:ext uri="{FF2B5EF4-FFF2-40B4-BE49-F238E27FC236}">
                  <a16:creationId xmlns:a16="http://schemas.microsoft.com/office/drawing/2014/main" id="{0CD356DF-4B74-C74D-B27C-708E734FB175}"/>
                </a:ext>
              </a:extLst>
            </p:cNvPr>
            <p:cNvSpPr/>
            <p:nvPr/>
          </p:nvSpPr>
          <p:spPr>
            <a:xfrm>
              <a:off x="3843130" y="3975652"/>
              <a:ext cx="8044069" cy="8746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Picture 25">
            <a:extLst>
              <a:ext uri="{FF2B5EF4-FFF2-40B4-BE49-F238E27FC236}">
                <a16:creationId xmlns:a16="http://schemas.microsoft.com/office/drawing/2014/main" id="{CE0D583C-F250-CAE8-DED8-E3D96797C675}"/>
              </a:ext>
            </a:extLst>
          </p:cNvPr>
          <p:cNvPicPr>
            <a:picLocks noChangeAspect="1"/>
          </p:cNvPicPr>
          <p:nvPr/>
        </p:nvPicPr>
        <p:blipFill>
          <a:blip r:embed="rId5"/>
          <a:stretch>
            <a:fillRect/>
          </a:stretch>
        </p:blipFill>
        <p:spPr>
          <a:xfrm>
            <a:off x="3927929" y="4155637"/>
            <a:ext cx="2207827" cy="554908"/>
          </a:xfrm>
          <a:prstGeom prst="rect">
            <a:avLst/>
          </a:prstGeom>
        </p:spPr>
      </p:pic>
      <p:pic>
        <p:nvPicPr>
          <p:cNvPr id="29" name="Picture 28">
            <a:extLst>
              <a:ext uri="{FF2B5EF4-FFF2-40B4-BE49-F238E27FC236}">
                <a16:creationId xmlns:a16="http://schemas.microsoft.com/office/drawing/2014/main" id="{FF0C05C1-B8F9-4467-C0D7-F989AC177196}"/>
              </a:ext>
            </a:extLst>
          </p:cNvPr>
          <p:cNvPicPr>
            <a:picLocks noChangeAspect="1"/>
          </p:cNvPicPr>
          <p:nvPr/>
        </p:nvPicPr>
        <p:blipFill>
          <a:blip r:embed="rId6"/>
          <a:stretch>
            <a:fillRect/>
          </a:stretch>
        </p:blipFill>
        <p:spPr>
          <a:xfrm>
            <a:off x="6255025" y="4137970"/>
            <a:ext cx="4151243" cy="519250"/>
          </a:xfrm>
          <a:prstGeom prst="rect">
            <a:avLst/>
          </a:prstGeom>
        </p:spPr>
      </p:pic>
      <p:pic>
        <p:nvPicPr>
          <p:cNvPr id="30" name="Picture 29">
            <a:extLst>
              <a:ext uri="{FF2B5EF4-FFF2-40B4-BE49-F238E27FC236}">
                <a16:creationId xmlns:a16="http://schemas.microsoft.com/office/drawing/2014/main" id="{CCB02FBF-6C0E-645B-645E-70E37F69D7F0}"/>
              </a:ext>
            </a:extLst>
          </p:cNvPr>
          <p:cNvPicPr>
            <a:picLocks noChangeAspect="1"/>
          </p:cNvPicPr>
          <p:nvPr/>
        </p:nvPicPr>
        <p:blipFill>
          <a:blip r:embed="rId7"/>
          <a:stretch>
            <a:fillRect/>
          </a:stretch>
        </p:blipFill>
        <p:spPr>
          <a:xfrm>
            <a:off x="10513028" y="4280452"/>
            <a:ext cx="1240326" cy="200991"/>
          </a:xfrm>
          <a:prstGeom prst="rect">
            <a:avLst/>
          </a:prstGeom>
        </p:spPr>
      </p:pic>
      <p:sp>
        <p:nvSpPr>
          <p:cNvPr id="31" name="Rectangle 30">
            <a:extLst>
              <a:ext uri="{FF2B5EF4-FFF2-40B4-BE49-F238E27FC236}">
                <a16:creationId xmlns:a16="http://schemas.microsoft.com/office/drawing/2014/main" id="{03C60F5D-663C-43C1-E7C8-6BDBEC5DBC00}"/>
              </a:ext>
            </a:extLst>
          </p:cNvPr>
          <p:cNvSpPr/>
          <p:nvPr/>
        </p:nvSpPr>
        <p:spPr>
          <a:xfrm>
            <a:off x="10694504" y="4200939"/>
            <a:ext cx="1113183" cy="3843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B35A2B0-27C9-3E9C-EEB2-169C705CBD43}"/>
              </a:ext>
            </a:extLst>
          </p:cNvPr>
          <p:cNvSpPr txBox="1"/>
          <p:nvPr/>
        </p:nvSpPr>
        <p:spPr>
          <a:xfrm>
            <a:off x="3795991" y="5028438"/>
            <a:ext cx="7362339" cy="1200329"/>
          </a:xfrm>
          <a:prstGeom prst="rect">
            <a:avLst/>
          </a:prstGeom>
          <a:noFill/>
        </p:spPr>
        <p:txBody>
          <a:bodyPr wrap="square">
            <a:spAutoFit/>
          </a:bodyPr>
          <a:lstStyle/>
          <a:p>
            <a:pPr algn="just"/>
            <a:r>
              <a:rPr lang="en-US" sz="2400" dirty="0">
                <a:latin typeface="Times" pitchFamily="2" charset="0"/>
              </a:rPr>
              <a:t>*Here, the force and displacement are in opposite directions – negative work is being done by gravity (the weight).  </a:t>
            </a:r>
            <a:endParaRPr lang="en-US" sz="2400" dirty="0">
              <a:effectLst/>
              <a:latin typeface="Times" pitchFamily="2" charset="0"/>
            </a:endParaRPr>
          </a:p>
        </p:txBody>
      </p:sp>
      <p:sp>
        <p:nvSpPr>
          <p:cNvPr id="34" name="TextBox 33">
            <a:extLst>
              <a:ext uri="{FF2B5EF4-FFF2-40B4-BE49-F238E27FC236}">
                <a16:creationId xmlns:a16="http://schemas.microsoft.com/office/drawing/2014/main" id="{496CF1E7-4D60-C32E-0356-91051C7F1B25}"/>
              </a:ext>
            </a:extLst>
          </p:cNvPr>
          <p:cNvSpPr txBox="1"/>
          <p:nvPr/>
        </p:nvSpPr>
        <p:spPr>
          <a:xfrm>
            <a:off x="5392879" y="5896455"/>
            <a:ext cx="6361800" cy="461665"/>
          </a:xfrm>
          <a:prstGeom prst="rect">
            <a:avLst/>
          </a:prstGeom>
          <a:noFill/>
        </p:spPr>
        <p:txBody>
          <a:bodyPr wrap="square">
            <a:spAutoFit/>
          </a:bodyPr>
          <a:lstStyle/>
          <a:p>
            <a:pPr algn="just"/>
            <a:r>
              <a:rPr lang="en-US" sz="2400" dirty="0">
                <a:latin typeface="Times" pitchFamily="2" charset="0"/>
              </a:rPr>
              <a:t>Therefore, the gymnast must be slowing down.</a:t>
            </a:r>
            <a:endParaRPr lang="en-US" sz="2400" dirty="0">
              <a:effectLst/>
              <a:latin typeface="Times" pitchFamily="2" charset="0"/>
            </a:endParaRPr>
          </a:p>
        </p:txBody>
      </p:sp>
    </p:spTree>
    <p:extLst>
      <p:ext uri="{BB962C8B-B14F-4D97-AF65-F5344CB8AC3E}">
        <p14:creationId xmlns:p14="http://schemas.microsoft.com/office/powerpoint/2010/main" val="344230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dissolve">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dissolv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dissolve">
                                      <p:cBhvr>
                                        <p:cTn id="41" dur="500"/>
                                        <p:tgtEl>
                                          <p:spTgt spid="30"/>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dissolve">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dissolve">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dissolve">
                                      <p:cBhvr>
                                        <p:cTn id="5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animBg="1"/>
      <p:bldP spid="32" grpId="0"/>
      <p:bldP spid="3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A788D-9E59-0295-265F-A78141E1B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DBDC6-0C5A-878C-34F8-420F8A0E3C31}"/>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6.3</a:t>
            </a:r>
            <a:r>
              <a:rPr lang="en-US" dirty="0">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EAAC6056-814F-364E-C518-3DC6BD06E50E}"/>
              </a:ext>
            </a:extLst>
          </p:cNvPr>
          <p:cNvSpPr txBox="1"/>
          <p:nvPr/>
        </p:nvSpPr>
        <p:spPr>
          <a:xfrm>
            <a:off x="940905" y="769491"/>
            <a:ext cx="6096000" cy="461665"/>
          </a:xfrm>
          <a:prstGeom prst="rect">
            <a:avLst/>
          </a:prstGeom>
          <a:noFill/>
        </p:spPr>
        <p:txBody>
          <a:bodyPr wrap="square">
            <a:spAutoFit/>
          </a:bodyPr>
          <a:lstStyle/>
          <a:p>
            <a:r>
              <a:rPr lang="en-US" sz="2400" dirty="0">
                <a:solidFill>
                  <a:srgbClr val="C00000"/>
                </a:solidFill>
                <a:latin typeface="Times" pitchFamily="2" charset="0"/>
              </a:rPr>
              <a:t>Gravitational Potential Energy</a:t>
            </a:r>
          </a:p>
        </p:txBody>
      </p:sp>
      <p:sp>
        <p:nvSpPr>
          <p:cNvPr id="9" name="TextBox 8">
            <a:extLst>
              <a:ext uri="{FF2B5EF4-FFF2-40B4-BE49-F238E27FC236}">
                <a16:creationId xmlns:a16="http://schemas.microsoft.com/office/drawing/2014/main" id="{DFE8FF9C-5B69-3FE2-0605-6C6304976CAB}"/>
              </a:ext>
            </a:extLst>
          </p:cNvPr>
          <p:cNvSpPr txBox="1"/>
          <p:nvPr/>
        </p:nvSpPr>
        <p:spPr>
          <a:xfrm>
            <a:off x="957472" y="1293743"/>
            <a:ext cx="8428382" cy="461665"/>
          </a:xfrm>
          <a:prstGeom prst="rect">
            <a:avLst/>
          </a:prstGeom>
          <a:noFill/>
        </p:spPr>
        <p:txBody>
          <a:bodyPr wrap="square" rtlCol="0">
            <a:spAutoFit/>
          </a:bodyPr>
          <a:lstStyle/>
          <a:p>
            <a:r>
              <a:rPr lang="en-US" sz="2400" dirty="0">
                <a:latin typeface="Times" pitchFamily="2" charset="0"/>
              </a:rPr>
              <a:t>Let’s write out Equation 6.4 again:  </a:t>
            </a:r>
          </a:p>
        </p:txBody>
      </p:sp>
      <p:sp>
        <p:nvSpPr>
          <p:cNvPr id="3" name="TextBox 2">
            <a:extLst>
              <a:ext uri="{FF2B5EF4-FFF2-40B4-BE49-F238E27FC236}">
                <a16:creationId xmlns:a16="http://schemas.microsoft.com/office/drawing/2014/main" id="{706DEAE2-1BBC-1B0E-5395-13E386E51DF7}"/>
              </a:ext>
            </a:extLst>
          </p:cNvPr>
          <p:cNvSpPr txBox="1"/>
          <p:nvPr/>
        </p:nvSpPr>
        <p:spPr>
          <a:xfrm>
            <a:off x="5504926" y="1296253"/>
            <a:ext cx="3268013" cy="461665"/>
          </a:xfrm>
          <a:prstGeom prst="rect">
            <a:avLst/>
          </a:prstGeom>
          <a:noFill/>
        </p:spPr>
        <p:txBody>
          <a:bodyPr wrap="square" rtlCol="0">
            <a:spAutoFit/>
          </a:bodyPr>
          <a:lstStyle/>
          <a:p>
            <a:r>
              <a:rPr lang="en-US" sz="2400" i="1" dirty="0" err="1">
                <a:latin typeface="Times" pitchFamily="2" charset="0"/>
              </a:rPr>
              <a:t>W</a:t>
            </a:r>
            <a:r>
              <a:rPr lang="en-US" sz="2400" baseline="-25000" dirty="0" err="1">
                <a:latin typeface="Times" pitchFamily="2" charset="0"/>
              </a:rPr>
              <a:t>Gravity</a:t>
            </a:r>
            <a:r>
              <a:rPr lang="en-US" sz="2400" dirty="0">
                <a:latin typeface="Times" pitchFamily="2" charset="0"/>
              </a:rPr>
              <a:t> = </a:t>
            </a:r>
            <a:r>
              <a:rPr lang="en-US" sz="2400" i="1" dirty="0">
                <a:latin typeface="Times" pitchFamily="2" charset="0"/>
              </a:rPr>
              <a:t>mg</a:t>
            </a:r>
            <a:r>
              <a:rPr lang="en-US" sz="2400" dirty="0">
                <a:latin typeface="Times" pitchFamily="2" charset="0"/>
              </a:rPr>
              <a:t>(</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 – </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a:t>
            </a:r>
            <a:endParaRPr lang="en-US" sz="2400" baseline="-25000" dirty="0">
              <a:latin typeface="Times" pitchFamily="2" charset="0"/>
            </a:endParaRPr>
          </a:p>
        </p:txBody>
      </p:sp>
      <p:sp>
        <p:nvSpPr>
          <p:cNvPr id="4" name="TextBox 3">
            <a:extLst>
              <a:ext uri="{FF2B5EF4-FFF2-40B4-BE49-F238E27FC236}">
                <a16:creationId xmlns:a16="http://schemas.microsoft.com/office/drawing/2014/main" id="{9AC8259E-FF19-BA49-D728-8776A65057C9}"/>
              </a:ext>
            </a:extLst>
          </p:cNvPr>
          <p:cNvSpPr txBox="1"/>
          <p:nvPr/>
        </p:nvSpPr>
        <p:spPr>
          <a:xfrm>
            <a:off x="8189844" y="1285461"/>
            <a:ext cx="2504661" cy="461665"/>
          </a:xfrm>
          <a:prstGeom prst="rect">
            <a:avLst/>
          </a:prstGeom>
          <a:noFill/>
        </p:spPr>
        <p:txBody>
          <a:bodyPr wrap="square" rtlCol="0">
            <a:spAutoFit/>
          </a:bodyPr>
          <a:lstStyle/>
          <a:p>
            <a:r>
              <a:rPr lang="en-US" sz="2400" dirty="0">
                <a:latin typeface="Times" pitchFamily="2" charset="0"/>
              </a:rPr>
              <a:t>= </a:t>
            </a:r>
            <a:r>
              <a:rPr lang="en-US" sz="2400" i="1" dirty="0">
                <a:latin typeface="Times" pitchFamily="2" charset="0"/>
              </a:rPr>
              <a:t>mgh</a:t>
            </a:r>
            <a:r>
              <a:rPr lang="en-US" sz="2400" baseline="-25000" dirty="0">
                <a:latin typeface="Times" pitchFamily="2" charset="0"/>
              </a:rPr>
              <a:t>0</a:t>
            </a:r>
            <a:r>
              <a:rPr lang="en-US" sz="2400" dirty="0">
                <a:latin typeface="Times" pitchFamily="2" charset="0"/>
              </a:rPr>
              <a:t> – </a:t>
            </a:r>
            <a:r>
              <a:rPr lang="en-US" sz="2400" i="1" dirty="0" err="1">
                <a:latin typeface="Times" pitchFamily="2" charset="0"/>
              </a:rPr>
              <a:t>mgh</a:t>
            </a:r>
            <a:r>
              <a:rPr lang="en-US" sz="2400" baseline="-25000" dirty="0" err="1">
                <a:latin typeface="Times" pitchFamily="2" charset="0"/>
              </a:rPr>
              <a:t>f</a:t>
            </a:r>
            <a:endParaRPr lang="en-US" sz="2400" dirty="0"/>
          </a:p>
        </p:txBody>
      </p:sp>
      <p:sp>
        <p:nvSpPr>
          <p:cNvPr id="5" name="TextBox 4">
            <a:extLst>
              <a:ext uri="{FF2B5EF4-FFF2-40B4-BE49-F238E27FC236}">
                <a16:creationId xmlns:a16="http://schemas.microsoft.com/office/drawing/2014/main" id="{B0FF33EA-71B6-AEDC-55A2-A53EC266283E}"/>
              </a:ext>
            </a:extLst>
          </p:cNvPr>
          <p:cNvSpPr txBox="1"/>
          <p:nvPr/>
        </p:nvSpPr>
        <p:spPr>
          <a:xfrm>
            <a:off x="964098" y="2015986"/>
            <a:ext cx="10313502" cy="461665"/>
          </a:xfrm>
          <a:prstGeom prst="rect">
            <a:avLst/>
          </a:prstGeom>
          <a:noFill/>
        </p:spPr>
        <p:txBody>
          <a:bodyPr wrap="square" rtlCol="0">
            <a:spAutoFit/>
          </a:bodyPr>
          <a:lstStyle/>
          <a:p>
            <a:r>
              <a:rPr lang="en-US" sz="2400" dirty="0">
                <a:latin typeface="Times" pitchFamily="2" charset="0"/>
              </a:rPr>
              <a:t>Recall that work is energy transferred to an object by a force (here gravity).</a:t>
            </a:r>
          </a:p>
        </p:txBody>
      </p:sp>
      <p:sp>
        <p:nvSpPr>
          <p:cNvPr id="7" name="TextBox 6">
            <a:extLst>
              <a:ext uri="{FF2B5EF4-FFF2-40B4-BE49-F238E27FC236}">
                <a16:creationId xmlns:a16="http://schemas.microsoft.com/office/drawing/2014/main" id="{F8DE794D-95CF-7A15-DF11-BFD631145DF4}"/>
              </a:ext>
            </a:extLst>
          </p:cNvPr>
          <p:cNvSpPr txBox="1"/>
          <p:nvPr/>
        </p:nvSpPr>
        <p:spPr>
          <a:xfrm>
            <a:off x="983975" y="2618960"/>
            <a:ext cx="10982737" cy="1200329"/>
          </a:xfrm>
          <a:prstGeom prst="rect">
            <a:avLst/>
          </a:prstGeom>
          <a:noFill/>
        </p:spPr>
        <p:txBody>
          <a:bodyPr wrap="square" rtlCol="0">
            <a:spAutoFit/>
          </a:bodyPr>
          <a:lstStyle/>
          <a:p>
            <a:pPr algn="just"/>
            <a:r>
              <a:rPr lang="en-US" sz="2400" dirty="0">
                <a:latin typeface="Times" pitchFamily="2" charset="0"/>
              </a:rPr>
              <a:t>Thus, the two terms on the right side of the expression above represent the energy added to an object (if positive work by gravity is done) or lost by the object (if negative work by gravity is done).  </a:t>
            </a:r>
          </a:p>
        </p:txBody>
      </p:sp>
      <p:sp>
        <p:nvSpPr>
          <p:cNvPr id="8" name="TextBox 7">
            <a:extLst>
              <a:ext uri="{FF2B5EF4-FFF2-40B4-BE49-F238E27FC236}">
                <a16:creationId xmlns:a16="http://schemas.microsoft.com/office/drawing/2014/main" id="{5CD8090C-20E3-C78E-AC06-B0B8E4F51D53}"/>
              </a:ext>
            </a:extLst>
          </p:cNvPr>
          <p:cNvSpPr txBox="1"/>
          <p:nvPr/>
        </p:nvSpPr>
        <p:spPr>
          <a:xfrm>
            <a:off x="1003853" y="3884543"/>
            <a:ext cx="10982737" cy="830997"/>
          </a:xfrm>
          <a:prstGeom prst="rect">
            <a:avLst/>
          </a:prstGeom>
          <a:noFill/>
        </p:spPr>
        <p:txBody>
          <a:bodyPr wrap="square" rtlCol="0">
            <a:spAutoFit/>
          </a:bodyPr>
          <a:lstStyle/>
          <a:p>
            <a:pPr algn="just"/>
            <a:r>
              <a:rPr lang="en-US" sz="2400" dirty="0">
                <a:latin typeface="Times" pitchFamily="2" charset="0"/>
              </a:rPr>
              <a:t>Notice that each term is an “</a:t>
            </a:r>
            <a:r>
              <a:rPr lang="en-US" sz="2400" i="1" dirty="0" err="1">
                <a:latin typeface="Times" pitchFamily="2" charset="0"/>
              </a:rPr>
              <a:t>mgh</a:t>
            </a:r>
            <a:r>
              <a:rPr lang="en-US" sz="2400" dirty="0">
                <a:latin typeface="Times" pitchFamily="2" charset="0"/>
              </a:rPr>
              <a:t>”.  In other words, the value of the energy depends on the position of the object relative to some origin.</a:t>
            </a:r>
          </a:p>
        </p:txBody>
      </p:sp>
      <p:grpSp>
        <p:nvGrpSpPr>
          <p:cNvPr id="14" name="Group 13">
            <a:extLst>
              <a:ext uri="{FF2B5EF4-FFF2-40B4-BE49-F238E27FC236}">
                <a16:creationId xmlns:a16="http://schemas.microsoft.com/office/drawing/2014/main" id="{5EEABE64-C3FB-F82D-6221-9E655CF6774F}"/>
              </a:ext>
            </a:extLst>
          </p:cNvPr>
          <p:cNvGrpSpPr/>
          <p:nvPr/>
        </p:nvGrpSpPr>
        <p:grpSpPr>
          <a:xfrm>
            <a:off x="1010480" y="4765813"/>
            <a:ext cx="6980581" cy="468796"/>
            <a:chOff x="1010480" y="4765813"/>
            <a:chExt cx="6980581" cy="468796"/>
          </a:xfrm>
        </p:grpSpPr>
        <p:sp>
          <p:nvSpPr>
            <p:cNvPr id="11" name="TextBox 10">
              <a:extLst>
                <a:ext uri="{FF2B5EF4-FFF2-40B4-BE49-F238E27FC236}">
                  <a16:creationId xmlns:a16="http://schemas.microsoft.com/office/drawing/2014/main" id="{B4EF628A-2E53-5BD1-435C-EEC691FCF23E}"/>
                </a:ext>
              </a:extLst>
            </p:cNvPr>
            <p:cNvSpPr txBox="1"/>
            <p:nvPr/>
          </p:nvSpPr>
          <p:spPr>
            <a:xfrm>
              <a:off x="1010480" y="4765813"/>
              <a:ext cx="6980581" cy="461665"/>
            </a:xfrm>
            <a:prstGeom prst="rect">
              <a:avLst/>
            </a:prstGeom>
            <a:noFill/>
          </p:spPr>
          <p:txBody>
            <a:bodyPr wrap="square" rtlCol="0">
              <a:spAutoFit/>
            </a:bodyPr>
            <a:lstStyle/>
            <a:p>
              <a:pPr algn="just"/>
              <a:r>
                <a:rPr lang="en-US" sz="2400" dirty="0">
                  <a:latin typeface="Times" pitchFamily="2" charset="0"/>
                </a:rPr>
                <a:t>We call this                                                                .  </a:t>
              </a:r>
            </a:p>
          </p:txBody>
        </p:sp>
        <p:sp>
          <p:nvSpPr>
            <p:cNvPr id="12" name="Rounded Rectangle 11">
              <a:extLst>
                <a:ext uri="{FF2B5EF4-FFF2-40B4-BE49-F238E27FC236}">
                  <a16:creationId xmlns:a16="http://schemas.microsoft.com/office/drawing/2014/main" id="{B8F9C9A2-A098-3CD6-F049-3C8DF9BC0029}"/>
                </a:ext>
              </a:extLst>
            </p:cNvPr>
            <p:cNvSpPr/>
            <p:nvPr/>
          </p:nvSpPr>
          <p:spPr>
            <a:xfrm>
              <a:off x="2610678" y="4784035"/>
              <a:ext cx="4717774" cy="4505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55E75A3B-348E-9B33-DB14-34D45FE765CE}"/>
              </a:ext>
            </a:extLst>
          </p:cNvPr>
          <p:cNvSpPr txBox="1"/>
          <p:nvPr/>
        </p:nvSpPr>
        <p:spPr>
          <a:xfrm>
            <a:off x="2637182" y="4837042"/>
            <a:ext cx="5605670"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Gravitational Potential Energy</a:t>
            </a:r>
          </a:p>
        </p:txBody>
      </p:sp>
      <p:grpSp>
        <p:nvGrpSpPr>
          <p:cNvPr id="40" name="Group 39">
            <a:extLst>
              <a:ext uri="{FF2B5EF4-FFF2-40B4-BE49-F238E27FC236}">
                <a16:creationId xmlns:a16="http://schemas.microsoft.com/office/drawing/2014/main" id="{72F47011-F290-E669-57C0-73E82BBA15A0}"/>
              </a:ext>
            </a:extLst>
          </p:cNvPr>
          <p:cNvGrpSpPr/>
          <p:nvPr/>
        </p:nvGrpSpPr>
        <p:grpSpPr>
          <a:xfrm>
            <a:off x="8600661" y="4611757"/>
            <a:ext cx="2676941" cy="781878"/>
            <a:chOff x="8600661" y="4611757"/>
            <a:chExt cx="2676941" cy="781878"/>
          </a:xfrm>
        </p:grpSpPr>
        <p:sp>
          <p:nvSpPr>
            <p:cNvPr id="19" name="TextBox 18">
              <a:extLst>
                <a:ext uri="{FF2B5EF4-FFF2-40B4-BE49-F238E27FC236}">
                  <a16:creationId xmlns:a16="http://schemas.microsoft.com/office/drawing/2014/main" id="{D0283B0F-2E3C-9B5A-0146-5280A68E343D}"/>
                </a:ext>
              </a:extLst>
            </p:cNvPr>
            <p:cNvSpPr txBox="1"/>
            <p:nvPr/>
          </p:nvSpPr>
          <p:spPr>
            <a:xfrm>
              <a:off x="8693428" y="4638260"/>
              <a:ext cx="2584174" cy="707886"/>
            </a:xfrm>
            <a:prstGeom prst="rect">
              <a:avLst/>
            </a:prstGeom>
            <a:noFill/>
          </p:spPr>
          <p:txBody>
            <a:bodyPr wrap="square" rtlCol="0">
              <a:spAutoFit/>
            </a:bodyPr>
            <a:lstStyle/>
            <a:p>
              <a:r>
                <a:rPr lang="en-US" sz="2000" b="1" dirty="0">
                  <a:solidFill>
                    <a:srgbClr val="007440"/>
                  </a:solidFill>
                  <a:latin typeface="Times" pitchFamily="2" charset="0"/>
                </a:rPr>
                <a:t>Po</a:t>
              </a:r>
              <a:r>
                <a:rPr lang="en-US" sz="2000" dirty="0">
                  <a:latin typeface="Times" pitchFamily="2" charset="0"/>
                </a:rPr>
                <a:t>tential energy is energy of </a:t>
              </a:r>
              <a:r>
                <a:rPr lang="en-US" sz="2000" b="1" dirty="0">
                  <a:solidFill>
                    <a:srgbClr val="007440"/>
                  </a:solidFill>
                  <a:latin typeface="Times" pitchFamily="2" charset="0"/>
                </a:rPr>
                <a:t>po</a:t>
              </a:r>
              <a:r>
                <a:rPr lang="en-US" sz="2000" dirty="0">
                  <a:latin typeface="Times" pitchFamily="2" charset="0"/>
                </a:rPr>
                <a:t>sition!</a:t>
              </a:r>
            </a:p>
          </p:txBody>
        </p:sp>
        <p:sp>
          <p:nvSpPr>
            <p:cNvPr id="24" name="Rectangle 23">
              <a:extLst>
                <a:ext uri="{FF2B5EF4-FFF2-40B4-BE49-F238E27FC236}">
                  <a16:creationId xmlns:a16="http://schemas.microsoft.com/office/drawing/2014/main" id="{4EC1D05A-02F6-6D2A-6E28-1CB20E7C3DEC}"/>
                </a:ext>
              </a:extLst>
            </p:cNvPr>
            <p:cNvSpPr/>
            <p:nvPr/>
          </p:nvSpPr>
          <p:spPr>
            <a:xfrm>
              <a:off x="8600661" y="4611757"/>
              <a:ext cx="2252869" cy="781878"/>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E27E07F9-9A2F-5A04-E2B8-99723807F858}"/>
              </a:ext>
            </a:extLst>
          </p:cNvPr>
          <p:cNvGrpSpPr/>
          <p:nvPr/>
        </p:nvGrpSpPr>
        <p:grpSpPr>
          <a:xfrm>
            <a:off x="1030358" y="5713343"/>
            <a:ext cx="10962859" cy="462171"/>
            <a:chOff x="1030358" y="5713343"/>
            <a:chExt cx="10962859" cy="462171"/>
          </a:xfrm>
        </p:grpSpPr>
        <p:sp>
          <p:nvSpPr>
            <p:cNvPr id="41" name="TextBox 40">
              <a:extLst>
                <a:ext uri="{FF2B5EF4-FFF2-40B4-BE49-F238E27FC236}">
                  <a16:creationId xmlns:a16="http://schemas.microsoft.com/office/drawing/2014/main" id="{5AC23A83-3865-AB69-2A08-BEAE916BEC8C}"/>
                </a:ext>
              </a:extLst>
            </p:cNvPr>
            <p:cNvSpPr txBox="1"/>
            <p:nvPr/>
          </p:nvSpPr>
          <p:spPr>
            <a:xfrm>
              <a:off x="1030358" y="5713343"/>
              <a:ext cx="10962859" cy="461665"/>
            </a:xfrm>
            <a:prstGeom prst="rect">
              <a:avLst/>
            </a:prstGeom>
            <a:noFill/>
          </p:spPr>
          <p:txBody>
            <a:bodyPr wrap="square" rtlCol="0">
              <a:spAutoFit/>
            </a:bodyPr>
            <a:lstStyle/>
            <a:p>
              <a:pPr algn="just"/>
              <a:r>
                <a:rPr lang="en-US" sz="2400" dirty="0">
                  <a:latin typeface="Times" pitchFamily="2" charset="0"/>
                </a:rPr>
                <a:t>The                 an object is, the greater its </a:t>
              </a:r>
              <a:r>
                <a:rPr lang="en-US" sz="2400" dirty="0">
                  <a:solidFill>
                    <a:srgbClr val="007440"/>
                  </a:solidFill>
                  <a:latin typeface="Times" pitchFamily="2" charset="0"/>
                </a:rPr>
                <a:t>gravitational potential energy</a:t>
              </a:r>
              <a:r>
                <a:rPr lang="en-US" sz="2400" dirty="0">
                  <a:latin typeface="Times" pitchFamily="2" charset="0"/>
                </a:rPr>
                <a:t>.</a:t>
              </a:r>
            </a:p>
          </p:txBody>
        </p:sp>
        <p:sp>
          <p:nvSpPr>
            <p:cNvPr id="49" name="Rounded Rectangle 48">
              <a:extLst>
                <a:ext uri="{FF2B5EF4-FFF2-40B4-BE49-F238E27FC236}">
                  <a16:creationId xmlns:a16="http://schemas.microsoft.com/office/drawing/2014/main" id="{9AD5F646-CDE3-4105-D583-CB70E7AD00C6}"/>
                </a:ext>
              </a:extLst>
            </p:cNvPr>
            <p:cNvSpPr/>
            <p:nvPr/>
          </p:nvSpPr>
          <p:spPr>
            <a:xfrm>
              <a:off x="1696279" y="5764697"/>
              <a:ext cx="1060174" cy="4108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TextBox 49">
            <a:extLst>
              <a:ext uri="{FF2B5EF4-FFF2-40B4-BE49-F238E27FC236}">
                <a16:creationId xmlns:a16="http://schemas.microsoft.com/office/drawing/2014/main" id="{9755F145-6BD3-A5DE-B875-16F27A4B2E09}"/>
              </a:ext>
            </a:extLst>
          </p:cNvPr>
          <p:cNvSpPr txBox="1"/>
          <p:nvPr/>
        </p:nvSpPr>
        <p:spPr>
          <a:xfrm>
            <a:off x="3485322" y="-649357"/>
            <a:ext cx="1577008" cy="369332"/>
          </a:xfrm>
          <a:prstGeom prst="rect">
            <a:avLst/>
          </a:prstGeom>
          <a:noFill/>
        </p:spPr>
        <p:txBody>
          <a:bodyPr wrap="square" rtlCol="0">
            <a:spAutoFit/>
          </a:bodyPr>
          <a:lstStyle/>
          <a:p>
            <a:endParaRPr lang="en-US" dirty="0"/>
          </a:p>
        </p:txBody>
      </p:sp>
      <p:sp>
        <p:nvSpPr>
          <p:cNvPr id="51" name="TextBox 50">
            <a:extLst>
              <a:ext uri="{FF2B5EF4-FFF2-40B4-BE49-F238E27FC236}">
                <a16:creationId xmlns:a16="http://schemas.microsoft.com/office/drawing/2014/main" id="{F96F2F28-274D-C509-E1AC-74180F0A102C}"/>
              </a:ext>
            </a:extLst>
          </p:cNvPr>
          <p:cNvSpPr txBox="1"/>
          <p:nvPr/>
        </p:nvSpPr>
        <p:spPr>
          <a:xfrm>
            <a:off x="1702903" y="5784574"/>
            <a:ext cx="1570383"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higher</a:t>
            </a:r>
          </a:p>
        </p:txBody>
      </p:sp>
    </p:spTree>
    <p:extLst>
      <p:ext uri="{BB962C8B-B14F-4D97-AF65-F5344CB8AC3E}">
        <p14:creationId xmlns:p14="http://schemas.microsoft.com/office/powerpoint/2010/main" val="11848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ssolv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dissolve">
                                      <p:cBhvr>
                                        <p:cTn id="46" dur="5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dissolve">
                                      <p:cBhvr>
                                        <p:cTn id="51" dur="500"/>
                                        <p:tgtEl>
                                          <p:spTgt spid="5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dissolve">
                                      <p:cBhvr>
                                        <p:cTn id="5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4" grpId="0"/>
      <p:bldP spid="5" grpId="0"/>
      <p:bldP spid="7" grpId="0"/>
      <p:bldP spid="8" grpId="0"/>
      <p:bldP spid="13" grpId="0"/>
      <p:bldP spid="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42046-62E8-61FE-15F4-AB9E1434C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4970E-9CE5-2FB7-43A4-4E132BB86412}"/>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6.3</a:t>
            </a:r>
            <a:r>
              <a:rPr lang="en-US" dirty="0">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E9C90C78-4634-744F-3362-3D269C53C5CA}"/>
              </a:ext>
            </a:extLst>
          </p:cNvPr>
          <p:cNvSpPr txBox="1"/>
          <p:nvPr/>
        </p:nvSpPr>
        <p:spPr>
          <a:xfrm>
            <a:off x="940905" y="769491"/>
            <a:ext cx="6096000" cy="461665"/>
          </a:xfrm>
          <a:prstGeom prst="rect">
            <a:avLst/>
          </a:prstGeom>
          <a:noFill/>
        </p:spPr>
        <p:txBody>
          <a:bodyPr wrap="square">
            <a:spAutoFit/>
          </a:bodyPr>
          <a:lstStyle/>
          <a:p>
            <a:r>
              <a:rPr lang="en-US" sz="2400" dirty="0">
                <a:solidFill>
                  <a:srgbClr val="C00000"/>
                </a:solidFill>
                <a:latin typeface="Times" pitchFamily="2" charset="0"/>
              </a:rPr>
              <a:t>Gravitational Potential Energy</a:t>
            </a:r>
          </a:p>
        </p:txBody>
      </p:sp>
      <p:sp>
        <p:nvSpPr>
          <p:cNvPr id="15" name="TextBox 14">
            <a:extLst>
              <a:ext uri="{FF2B5EF4-FFF2-40B4-BE49-F238E27FC236}">
                <a16:creationId xmlns:a16="http://schemas.microsoft.com/office/drawing/2014/main" id="{81B697AD-3DD3-9D98-B90C-512CD3F10FFB}"/>
              </a:ext>
            </a:extLst>
          </p:cNvPr>
          <p:cNvSpPr txBox="1"/>
          <p:nvPr/>
        </p:nvSpPr>
        <p:spPr>
          <a:xfrm>
            <a:off x="768629" y="1276966"/>
            <a:ext cx="10827026" cy="3416320"/>
          </a:xfrm>
          <a:prstGeom prst="rect">
            <a:avLst/>
          </a:prstGeom>
          <a:noFill/>
        </p:spPr>
        <p:txBody>
          <a:bodyPr wrap="square">
            <a:spAutoFit/>
          </a:bodyPr>
          <a:lstStyle/>
          <a:p>
            <a:pPr algn="just"/>
            <a:r>
              <a:rPr lang="en-US" sz="2400" dirty="0">
                <a:solidFill>
                  <a:srgbClr val="C00000"/>
                </a:solidFill>
                <a:latin typeface="Times" pitchFamily="2" charset="0"/>
              </a:rPr>
              <a:t>DEFINITION OF GRAVITATIONAL POTENTIAL ENERGY</a:t>
            </a:r>
          </a:p>
          <a:p>
            <a:pPr algn="just"/>
            <a:endParaRPr lang="en-US" sz="2400" dirty="0">
              <a:latin typeface="Times" pitchFamily="2" charset="0"/>
            </a:endParaRPr>
          </a:p>
          <a:p>
            <a:pPr algn="just"/>
            <a:r>
              <a:rPr lang="en-US" sz="2400" dirty="0">
                <a:latin typeface="Times" pitchFamily="2" charset="0"/>
              </a:rPr>
              <a:t>The gravitational potential energy PE is the energy that an object of mass </a:t>
            </a:r>
            <a:r>
              <a:rPr lang="en-US" sz="2400" i="1" dirty="0">
                <a:latin typeface="Times" pitchFamily="2" charset="0"/>
              </a:rPr>
              <a:t>m</a:t>
            </a:r>
            <a:r>
              <a:rPr lang="en-US" sz="2400" dirty="0">
                <a:latin typeface="Times" pitchFamily="2" charset="0"/>
              </a:rPr>
              <a:t> has by virtue of its position relative to the surface of the earth. That position is measured by the height </a:t>
            </a:r>
            <a:r>
              <a:rPr lang="en-US" sz="2400" i="1" dirty="0">
                <a:latin typeface="Times" pitchFamily="2" charset="0"/>
              </a:rPr>
              <a:t>h</a:t>
            </a:r>
            <a:r>
              <a:rPr lang="en-US" sz="2400" dirty="0">
                <a:latin typeface="Times" pitchFamily="2" charset="0"/>
              </a:rPr>
              <a:t> of the object relative to an arbitrary zero level:</a:t>
            </a:r>
          </a:p>
          <a:p>
            <a:pPr algn="just"/>
            <a:r>
              <a:rPr lang="en-US" sz="2400" dirty="0">
                <a:latin typeface="Times" pitchFamily="2" charset="0"/>
              </a:rPr>
              <a:t>										</a:t>
            </a:r>
          </a:p>
          <a:p>
            <a:pPr algn="just"/>
            <a:r>
              <a:rPr lang="en-US" sz="2400" dirty="0">
                <a:latin typeface="Times" pitchFamily="2" charset="0"/>
              </a:rPr>
              <a:t>					PE = </a:t>
            </a:r>
            <a:r>
              <a:rPr lang="en-US" sz="2400" i="1" dirty="0" err="1">
                <a:latin typeface="Times" pitchFamily="2" charset="0"/>
              </a:rPr>
              <a:t>mgh</a:t>
            </a:r>
            <a:r>
              <a:rPr lang="en-US" sz="2400" dirty="0">
                <a:latin typeface="Times" pitchFamily="2" charset="0"/>
              </a:rPr>
              <a:t>				(</a:t>
            </a:r>
            <a:r>
              <a:rPr lang="en-US" sz="2400" b="1" dirty="0">
                <a:latin typeface="Times" pitchFamily="2" charset="0"/>
              </a:rPr>
              <a:t>6.5</a:t>
            </a:r>
            <a:r>
              <a:rPr lang="en-US" sz="2400" dirty="0">
                <a:latin typeface="Times" pitchFamily="2" charset="0"/>
              </a:rPr>
              <a:t>) </a:t>
            </a:r>
          </a:p>
          <a:p>
            <a:pPr algn="just"/>
            <a:endParaRPr lang="en-US" sz="2400" dirty="0">
              <a:latin typeface="Times" pitchFamily="2" charset="0"/>
            </a:endParaRPr>
          </a:p>
          <a:p>
            <a:pPr algn="just"/>
            <a:r>
              <a:rPr lang="en-US" sz="2400" b="1" dirty="0">
                <a:latin typeface="Times" pitchFamily="2" charset="0"/>
              </a:rPr>
              <a:t>SI Unit of Gravitational Potential Energy: joule (J)</a:t>
            </a:r>
          </a:p>
        </p:txBody>
      </p:sp>
      <p:sp>
        <p:nvSpPr>
          <p:cNvPr id="16" name="Rectangle 15">
            <a:extLst>
              <a:ext uri="{FF2B5EF4-FFF2-40B4-BE49-F238E27FC236}">
                <a16:creationId xmlns:a16="http://schemas.microsoft.com/office/drawing/2014/main" id="{872B974F-1672-3378-919A-A6C8CC269C0B}"/>
              </a:ext>
            </a:extLst>
          </p:cNvPr>
          <p:cNvSpPr/>
          <p:nvPr/>
        </p:nvSpPr>
        <p:spPr>
          <a:xfrm>
            <a:off x="530089" y="1285466"/>
            <a:ext cx="11184835" cy="345881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B5465B5-3966-DDD8-8766-D244DF85D010}"/>
              </a:ext>
            </a:extLst>
          </p:cNvPr>
          <p:cNvSpPr txBox="1"/>
          <p:nvPr/>
        </p:nvSpPr>
        <p:spPr>
          <a:xfrm>
            <a:off x="689113" y="4784037"/>
            <a:ext cx="11025809"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Note that the gravitational potential energy is intrinsic to the object, because it depends on its mass </a:t>
            </a:r>
            <a:r>
              <a:rPr lang="en-US" sz="2400" i="1" dirty="0">
                <a:latin typeface="Times New Roman" panose="02020603050405020304" pitchFamily="18" charset="0"/>
                <a:cs typeface="Times New Roman" panose="02020603050405020304" pitchFamily="18" charset="0"/>
              </a:rPr>
              <a:t>m</a:t>
            </a:r>
            <a:r>
              <a:rPr lang="en-US" sz="2400" dirty="0">
                <a:latin typeface="Times New Roman" panose="02020603050405020304" pitchFamily="18" charset="0"/>
                <a:cs typeface="Times New Roman" panose="02020603050405020304" pitchFamily="18" charset="0"/>
              </a:rPr>
              <a:t>.  </a:t>
            </a:r>
          </a:p>
        </p:txBody>
      </p:sp>
      <p:sp>
        <p:nvSpPr>
          <p:cNvPr id="20" name="TextBox 19">
            <a:extLst>
              <a:ext uri="{FF2B5EF4-FFF2-40B4-BE49-F238E27FC236}">
                <a16:creationId xmlns:a16="http://schemas.microsoft.com/office/drawing/2014/main" id="{6B21268E-2243-AF8C-F034-BD0CC7665157}"/>
              </a:ext>
            </a:extLst>
          </p:cNvPr>
          <p:cNvSpPr txBox="1"/>
          <p:nvPr/>
        </p:nvSpPr>
        <p:spPr>
          <a:xfrm>
            <a:off x="708991" y="5599047"/>
            <a:ext cx="11025809"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It also depends on </a:t>
            </a:r>
            <a:r>
              <a:rPr lang="en-US" sz="2400" i="1" dirty="0">
                <a:latin typeface="Times New Roman" panose="02020603050405020304" pitchFamily="18" charset="0"/>
                <a:cs typeface="Times New Roman" panose="02020603050405020304" pitchFamily="18" charset="0"/>
              </a:rPr>
              <a:t>g</a:t>
            </a:r>
            <a:r>
              <a:rPr lang="en-US" sz="2400" dirty="0">
                <a:latin typeface="Times New Roman" panose="02020603050405020304" pitchFamily="18" charset="0"/>
                <a:cs typeface="Times New Roman" panose="02020603050405020304" pitchFamily="18" charset="0"/>
              </a:rPr>
              <a:t>.  We can calculate gravitational potential energies on other planets, but of course, “</a:t>
            </a:r>
            <a:r>
              <a:rPr lang="en-US" sz="2400" i="1" dirty="0">
                <a:latin typeface="Times New Roman" panose="02020603050405020304" pitchFamily="18" charset="0"/>
                <a:cs typeface="Times New Roman" panose="02020603050405020304" pitchFamily="18" charset="0"/>
              </a:rPr>
              <a:t>g</a:t>
            </a:r>
            <a:r>
              <a:rPr lang="en-US" sz="2400" dirty="0">
                <a:latin typeface="Times New Roman" panose="02020603050405020304" pitchFamily="18" charset="0"/>
                <a:cs typeface="Times New Roman" panose="02020603050405020304" pitchFamily="18" charset="0"/>
              </a:rPr>
              <a:t>” would be different.  </a:t>
            </a:r>
          </a:p>
        </p:txBody>
      </p:sp>
    </p:spTree>
    <p:extLst>
      <p:ext uri="{BB962C8B-B14F-4D97-AF65-F5344CB8AC3E}">
        <p14:creationId xmlns:p14="http://schemas.microsoft.com/office/powerpoint/2010/main" val="408248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81BF-71F0-1C16-839D-1A19C653E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0EE17-D7CE-9C50-FBE3-F71C7096949D}"/>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6.3</a:t>
            </a:r>
            <a:r>
              <a:rPr lang="en-US" dirty="0">
                <a:ea typeface="Calibri" charset="0"/>
                <a:cs typeface="Calibri" charset="0"/>
              </a:rPr>
              <a:t> Gravitation Potential Energy</a:t>
            </a:r>
            <a:endParaRPr lang="en-US" sz="3000" dirty="0"/>
          </a:p>
        </p:txBody>
      </p:sp>
      <p:sp>
        <p:nvSpPr>
          <p:cNvPr id="3" name="Rounded Rectangle 2">
            <a:extLst>
              <a:ext uri="{FF2B5EF4-FFF2-40B4-BE49-F238E27FC236}">
                <a16:creationId xmlns:a16="http://schemas.microsoft.com/office/drawing/2014/main" id="{BC43AB86-03D8-4A5E-0E6F-291A2BB0D701}"/>
              </a:ext>
            </a:extLst>
          </p:cNvPr>
          <p:cNvSpPr/>
          <p:nvPr/>
        </p:nvSpPr>
        <p:spPr>
          <a:xfrm>
            <a:off x="844164" y="3527729"/>
            <a:ext cx="6908358"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7315834-D4EF-A7AC-8F6B-1A88BA8C6D9E}"/>
              </a:ext>
            </a:extLst>
          </p:cNvPr>
          <p:cNvSpPr txBox="1"/>
          <p:nvPr/>
        </p:nvSpPr>
        <p:spPr>
          <a:xfrm>
            <a:off x="806395" y="927082"/>
            <a:ext cx="10548597" cy="3970318"/>
          </a:xfrm>
          <a:prstGeom prst="rect">
            <a:avLst/>
          </a:prstGeom>
          <a:noFill/>
        </p:spPr>
        <p:txBody>
          <a:bodyPr wrap="square" rtlCol="0">
            <a:spAutoFit/>
          </a:bodyPr>
          <a:lstStyle/>
          <a:p>
            <a:pPr algn="just"/>
            <a:r>
              <a:rPr lang="en-US" sz="2800" dirty="0">
                <a:solidFill>
                  <a:srgbClr val="3E5891"/>
                </a:solidFill>
                <a:latin typeface="Times" pitchFamily="2" charset="0"/>
              </a:rPr>
              <a:t>CYU/TPS – In a simulation on earth, an astronaut in his space suit climbs up a vertical ladder. On the moon, the same astronaut makes the exact same climb. Which one of the following statements correctly describes how the gravitational potential energy of the astronaut changes during the climb?</a:t>
            </a:r>
          </a:p>
          <a:p>
            <a:pPr algn="just"/>
            <a:endParaRPr lang="en-US" sz="2800" dirty="0">
              <a:solidFill>
                <a:srgbClr val="3E5891"/>
              </a:solidFill>
              <a:latin typeface="Times" pitchFamily="2" charset="0"/>
            </a:endParaRPr>
          </a:p>
          <a:p>
            <a:pPr marL="514350" indent="-514350" algn="just">
              <a:buAutoNum type="alphaLcParenBoth"/>
            </a:pPr>
            <a:r>
              <a:rPr lang="en-US" sz="2800" dirty="0">
                <a:solidFill>
                  <a:srgbClr val="3E5891"/>
                </a:solidFill>
                <a:latin typeface="Times" pitchFamily="2" charset="0"/>
              </a:rPr>
              <a:t>It changes by a greater amount on the earth.</a:t>
            </a:r>
          </a:p>
          <a:p>
            <a:pPr marL="514350" indent="-514350" algn="just">
              <a:buAutoNum type="alphaLcParenBoth"/>
            </a:pPr>
            <a:r>
              <a:rPr lang="en-US" sz="2800" dirty="0">
                <a:solidFill>
                  <a:srgbClr val="3E5891"/>
                </a:solidFill>
                <a:latin typeface="Times" pitchFamily="2" charset="0"/>
              </a:rPr>
              <a:t>It changes by a greater amount on the moon.</a:t>
            </a:r>
          </a:p>
          <a:p>
            <a:pPr marL="514350" indent="-514350" algn="just">
              <a:buAutoNum type="alphaLcParenBoth"/>
            </a:pPr>
            <a:r>
              <a:rPr lang="en-US" sz="2800" dirty="0">
                <a:solidFill>
                  <a:srgbClr val="3E5891"/>
                </a:solidFill>
                <a:latin typeface="Times" pitchFamily="2" charset="0"/>
              </a:rPr>
              <a:t>The change is the same in both cases.</a:t>
            </a:r>
            <a:endParaRPr lang="en-US" sz="2800" dirty="0">
              <a:solidFill>
                <a:srgbClr val="3E5891"/>
              </a:solidFill>
              <a:latin typeface="Times" pitchFamily="2" charset="0"/>
              <a:cs typeface="Times New Roman" panose="02020603050405020304" pitchFamily="18" charset="0"/>
            </a:endParaRPr>
          </a:p>
        </p:txBody>
      </p:sp>
    </p:spTree>
    <p:extLst>
      <p:ext uri="{BB962C8B-B14F-4D97-AF65-F5344CB8AC3E}">
        <p14:creationId xmlns:p14="http://schemas.microsoft.com/office/powerpoint/2010/main" val="4774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6992-372D-3664-E35C-D0AA19A1C8D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8A144E09-992C-A337-60D4-9B553807073F}"/>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A07162-A5F9-82C3-67BA-19BC49CDFB4F}"/>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6.4</a:t>
            </a:r>
            <a:r>
              <a:rPr lang="en-US" dirty="0">
                <a:ea typeface="Calibri" charset="0"/>
                <a:cs typeface="Calibri" charset="0"/>
              </a:rPr>
              <a:t> Conservative Versus Nonconservative Forces</a:t>
            </a:r>
            <a:endParaRPr lang="en-US" sz="3000" dirty="0"/>
          </a:p>
        </p:txBody>
      </p:sp>
      <p:sp>
        <p:nvSpPr>
          <p:cNvPr id="5" name="Content Placeholder 2">
            <a:extLst>
              <a:ext uri="{FF2B5EF4-FFF2-40B4-BE49-F238E27FC236}">
                <a16:creationId xmlns:a16="http://schemas.microsoft.com/office/drawing/2014/main" id="{CDE9E4CA-A472-E1B4-5A72-4CBB41E43CF0}"/>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6.4 </a:t>
            </a:r>
            <a:r>
              <a:rPr lang="en-US" dirty="0"/>
              <a:t>– Identify conservative and nonconservative forces.</a:t>
            </a:r>
          </a:p>
        </p:txBody>
      </p:sp>
      <p:sp>
        <p:nvSpPr>
          <p:cNvPr id="4" name="TextBox 3">
            <a:extLst>
              <a:ext uri="{FF2B5EF4-FFF2-40B4-BE49-F238E27FC236}">
                <a16:creationId xmlns:a16="http://schemas.microsoft.com/office/drawing/2014/main" id="{1190CDBC-E525-1A67-5798-69CE89816467}"/>
              </a:ext>
            </a:extLst>
          </p:cNvPr>
          <p:cNvSpPr txBox="1"/>
          <p:nvPr/>
        </p:nvSpPr>
        <p:spPr>
          <a:xfrm>
            <a:off x="344557" y="1680508"/>
            <a:ext cx="11582399" cy="830997"/>
          </a:xfrm>
          <a:prstGeom prst="rect">
            <a:avLst/>
          </a:prstGeom>
          <a:noFill/>
        </p:spPr>
        <p:txBody>
          <a:bodyPr wrap="square">
            <a:spAutoFit/>
          </a:bodyPr>
          <a:lstStyle/>
          <a:p>
            <a:pPr algn="just"/>
            <a:r>
              <a:rPr lang="en-US" sz="2400" dirty="0">
                <a:latin typeface="Times" pitchFamily="2" charset="0"/>
              </a:rPr>
              <a:t>The work done by gravity being independent of the path taken is much more than a mathematical curiosity. </a:t>
            </a:r>
          </a:p>
        </p:txBody>
      </p:sp>
      <p:sp>
        <p:nvSpPr>
          <p:cNvPr id="9" name="TextBox 8">
            <a:extLst>
              <a:ext uri="{FF2B5EF4-FFF2-40B4-BE49-F238E27FC236}">
                <a16:creationId xmlns:a16="http://schemas.microsoft.com/office/drawing/2014/main" id="{65FC3AFF-C964-79DB-7064-E7C7D7162DEB}"/>
              </a:ext>
            </a:extLst>
          </p:cNvPr>
          <p:cNvSpPr txBox="1"/>
          <p:nvPr/>
        </p:nvSpPr>
        <p:spPr>
          <a:xfrm>
            <a:off x="318053" y="3800857"/>
            <a:ext cx="11449878" cy="830997"/>
          </a:xfrm>
          <a:prstGeom prst="rect">
            <a:avLst/>
          </a:prstGeom>
          <a:noFill/>
        </p:spPr>
        <p:txBody>
          <a:bodyPr wrap="square">
            <a:spAutoFit/>
          </a:bodyPr>
          <a:lstStyle/>
          <a:p>
            <a:pPr algn="just"/>
            <a:r>
              <a:rPr lang="en-US" sz="2400" dirty="0">
                <a:latin typeface="Times" pitchFamily="2" charset="0"/>
              </a:rPr>
              <a:t>In fact, it is this property that allowed us to define </a:t>
            </a:r>
            <a:r>
              <a:rPr lang="en-US" sz="2400" dirty="0">
                <a:solidFill>
                  <a:srgbClr val="007440"/>
                </a:solidFill>
                <a:latin typeface="Times" pitchFamily="2" charset="0"/>
              </a:rPr>
              <a:t>gravitational potential energy </a:t>
            </a:r>
            <a:r>
              <a:rPr lang="en-US" sz="2400" dirty="0">
                <a:latin typeface="Times" pitchFamily="2" charset="0"/>
              </a:rPr>
              <a:t>in the previous section. </a:t>
            </a:r>
          </a:p>
        </p:txBody>
      </p:sp>
      <p:grpSp>
        <p:nvGrpSpPr>
          <p:cNvPr id="12" name="Group 11">
            <a:extLst>
              <a:ext uri="{FF2B5EF4-FFF2-40B4-BE49-F238E27FC236}">
                <a16:creationId xmlns:a16="http://schemas.microsoft.com/office/drawing/2014/main" id="{BEF29F17-26F9-AF47-ED81-6F08DA1D9530}"/>
              </a:ext>
            </a:extLst>
          </p:cNvPr>
          <p:cNvGrpSpPr/>
          <p:nvPr/>
        </p:nvGrpSpPr>
        <p:grpSpPr>
          <a:xfrm>
            <a:off x="304801" y="2888978"/>
            <a:ext cx="11622155" cy="465771"/>
            <a:chOff x="304801" y="2478157"/>
            <a:chExt cx="11622155" cy="465771"/>
          </a:xfrm>
        </p:grpSpPr>
        <p:sp>
          <p:nvSpPr>
            <p:cNvPr id="8" name="TextBox 7">
              <a:extLst>
                <a:ext uri="{FF2B5EF4-FFF2-40B4-BE49-F238E27FC236}">
                  <a16:creationId xmlns:a16="http://schemas.microsoft.com/office/drawing/2014/main" id="{85C8484E-DE87-4BA3-733E-5C946B099FF4}"/>
                </a:ext>
              </a:extLst>
            </p:cNvPr>
            <p:cNvSpPr txBox="1"/>
            <p:nvPr/>
          </p:nvSpPr>
          <p:spPr>
            <a:xfrm>
              <a:off x="304801" y="2482263"/>
              <a:ext cx="6838121" cy="461665"/>
            </a:xfrm>
            <a:prstGeom prst="rect">
              <a:avLst/>
            </a:prstGeom>
            <a:noFill/>
          </p:spPr>
          <p:txBody>
            <a:bodyPr wrap="square">
              <a:spAutoFit/>
            </a:bodyPr>
            <a:lstStyle/>
            <a:p>
              <a:pPr algn="just"/>
              <a:r>
                <a:rPr lang="en-US" sz="2400" dirty="0">
                  <a:latin typeface="Times" pitchFamily="2" charset="0"/>
                </a:rPr>
                <a:t>It reveals a profound fundamental property of nature:</a:t>
              </a:r>
            </a:p>
          </p:txBody>
        </p:sp>
        <p:sp>
          <p:nvSpPr>
            <p:cNvPr id="11" name="Rounded Rectangle 10">
              <a:extLst>
                <a:ext uri="{FF2B5EF4-FFF2-40B4-BE49-F238E27FC236}">
                  <a16:creationId xmlns:a16="http://schemas.microsoft.com/office/drawing/2014/main" id="{2B78827E-604A-8D70-9B15-4761CCC9D803}"/>
                </a:ext>
              </a:extLst>
            </p:cNvPr>
            <p:cNvSpPr/>
            <p:nvPr/>
          </p:nvSpPr>
          <p:spPr>
            <a:xfrm>
              <a:off x="7050156" y="2478157"/>
              <a:ext cx="4876800" cy="4638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8D8A4529-87F2-8F0A-CC5A-FF9C90D87820}"/>
              </a:ext>
            </a:extLst>
          </p:cNvPr>
          <p:cNvSpPr txBox="1"/>
          <p:nvPr/>
        </p:nvSpPr>
        <p:spPr>
          <a:xfrm>
            <a:off x="7083288" y="2939466"/>
            <a:ext cx="5625547" cy="400110"/>
          </a:xfrm>
          <a:prstGeom prst="rect">
            <a:avLst/>
          </a:prstGeom>
          <a:noFill/>
        </p:spPr>
        <p:txBody>
          <a:bodyPr wrap="square">
            <a:spAutoFit/>
          </a:bodyPr>
          <a:lstStyle/>
          <a:p>
            <a:pPr algn="just"/>
            <a:r>
              <a:rPr lang="en-US" sz="2000" dirty="0">
                <a:solidFill>
                  <a:srgbClr val="007440"/>
                </a:solidFill>
                <a:latin typeface="Chalkduster" panose="03050602040202020205" pitchFamily="66" charset="77"/>
              </a:rPr>
              <a:t>Gravity is a </a:t>
            </a:r>
            <a:r>
              <a:rPr lang="en-US" sz="2000" u="sng" dirty="0">
                <a:solidFill>
                  <a:srgbClr val="007440"/>
                </a:solidFill>
                <a:latin typeface="Chalkduster" panose="03050602040202020205" pitchFamily="66" charset="77"/>
              </a:rPr>
              <a:t>conservative force</a:t>
            </a:r>
            <a:r>
              <a:rPr lang="en-US" sz="2000" dirty="0">
                <a:solidFill>
                  <a:srgbClr val="007440"/>
                </a:solidFill>
                <a:latin typeface="Chalkduster" panose="03050602040202020205" pitchFamily="66" charset="77"/>
              </a:rPr>
              <a:t>. </a:t>
            </a:r>
          </a:p>
        </p:txBody>
      </p:sp>
      <p:sp>
        <p:nvSpPr>
          <p:cNvPr id="13" name="TextBox 12">
            <a:extLst>
              <a:ext uri="{FF2B5EF4-FFF2-40B4-BE49-F238E27FC236}">
                <a16:creationId xmlns:a16="http://schemas.microsoft.com/office/drawing/2014/main" id="{176F90CB-1688-4BA7-4ED5-C9D10D007F89}"/>
              </a:ext>
            </a:extLst>
          </p:cNvPr>
          <p:cNvSpPr txBox="1"/>
          <p:nvPr/>
        </p:nvSpPr>
        <p:spPr>
          <a:xfrm>
            <a:off x="271668" y="5092942"/>
            <a:ext cx="11602280" cy="830997"/>
          </a:xfrm>
          <a:prstGeom prst="rect">
            <a:avLst/>
          </a:prstGeom>
          <a:noFill/>
        </p:spPr>
        <p:txBody>
          <a:bodyPr wrap="square">
            <a:spAutoFit/>
          </a:bodyPr>
          <a:lstStyle/>
          <a:p>
            <a:pPr algn="just"/>
            <a:r>
              <a:rPr lang="en-US" sz="2400" dirty="0">
                <a:latin typeface="Times" pitchFamily="2" charset="0"/>
              </a:rPr>
              <a:t>If the work done by gravity did depend on the path taken, then the </a:t>
            </a:r>
            <a:r>
              <a:rPr lang="en-US" sz="2400" dirty="0">
                <a:solidFill>
                  <a:srgbClr val="007440"/>
                </a:solidFill>
                <a:latin typeface="Times" pitchFamily="2" charset="0"/>
              </a:rPr>
              <a:t>gravitational potential energy </a:t>
            </a:r>
            <a:r>
              <a:rPr lang="en-US" sz="2400" dirty="0">
                <a:latin typeface="Times" pitchFamily="2" charset="0"/>
              </a:rPr>
              <a:t>of an object would </a:t>
            </a:r>
            <a:r>
              <a:rPr lang="en-US" sz="2400" u="sng" dirty="0">
                <a:latin typeface="Times" pitchFamily="2" charset="0"/>
              </a:rPr>
              <a:t>not</a:t>
            </a:r>
            <a:r>
              <a:rPr lang="en-US" sz="2400" dirty="0">
                <a:latin typeface="Times" pitchFamily="2" charset="0"/>
              </a:rPr>
              <a:t> be uniquely defined.</a:t>
            </a:r>
          </a:p>
        </p:txBody>
      </p:sp>
    </p:spTree>
    <p:extLst>
      <p:ext uri="{BB962C8B-B14F-4D97-AF65-F5344CB8AC3E}">
        <p14:creationId xmlns:p14="http://schemas.microsoft.com/office/powerpoint/2010/main" val="58595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18A24-5FC2-2160-BDF5-838789A92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8E287-43EE-E583-D211-AF87FE601A40}"/>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6.4</a:t>
            </a:r>
            <a:r>
              <a:rPr lang="en-US" dirty="0">
                <a:ea typeface="Calibri" charset="0"/>
                <a:cs typeface="Calibri" charset="0"/>
              </a:rPr>
              <a:t> Conservative Versus Nonconservative Forces</a:t>
            </a:r>
            <a:endParaRPr lang="en-US" sz="3000" dirty="0"/>
          </a:p>
        </p:txBody>
      </p:sp>
      <p:sp>
        <p:nvSpPr>
          <p:cNvPr id="3" name="TextBox 2">
            <a:extLst>
              <a:ext uri="{FF2B5EF4-FFF2-40B4-BE49-F238E27FC236}">
                <a16:creationId xmlns:a16="http://schemas.microsoft.com/office/drawing/2014/main" id="{0374EE91-B9CE-A0E3-4B3A-8BEE0A500B42}"/>
              </a:ext>
            </a:extLst>
          </p:cNvPr>
          <p:cNvSpPr txBox="1"/>
          <p:nvPr/>
        </p:nvSpPr>
        <p:spPr>
          <a:xfrm>
            <a:off x="901148" y="958911"/>
            <a:ext cx="11092070" cy="2677656"/>
          </a:xfrm>
          <a:prstGeom prst="rect">
            <a:avLst/>
          </a:prstGeom>
          <a:noFill/>
        </p:spPr>
        <p:txBody>
          <a:bodyPr wrap="square">
            <a:spAutoFit/>
          </a:bodyPr>
          <a:lstStyle/>
          <a:p>
            <a:r>
              <a:rPr lang="en-US" sz="2400" dirty="0">
                <a:solidFill>
                  <a:srgbClr val="C00000"/>
                </a:solidFill>
                <a:latin typeface="Times" pitchFamily="2" charset="0"/>
              </a:rPr>
              <a:t>DEFINITION OF A CONSERVATIVE FORCE</a:t>
            </a:r>
          </a:p>
          <a:p>
            <a:endParaRPr lang="en-US" sz="2400" dirty="0">
              <a:solidFill>
                <a:srgbClr val="C00000"/>
              </a:solidFill>
              <a:latin typeface="Times" pitchFamily="2" charset="0"/>
            </a:endParaRPr>
          </a:p>
          <a:p>
            <a:r>
              <a:rPr lang="en-US" sz="2400" b="1" dirty="0">
                <a:latin typeface="Times" pitchFamily="2" charset="0"/>
              </a:rPr>
              <a:t>Version 1 – </a:t>
            </a:r>
            <a:r>
              <a:rPr lang="en-US" sz="2400" dirty="0">
                <a:latin typeface="Times" pitchFamily="2" charset="0"/>
              </a:rPr>
              <a:t>A force is conservative when the work it does on a moving object is</a:t>
            </a:r>
          </a:p>
          <a:p>
            <a:pPr marL="2009775"/>
            <a:r>
              <a:rPr lang="en-US" sz="2400" dirty="0">
                <a:latin typeface="Times" pitchFamily="2" charset="0"/>
              </a:rPr>
              <a:t> of the path between the object’s initial and final positions.</a:t>
            </a:r>
          </a:p>
          <a:p>
            <a:endParaRPr lang="en-US" sz="2400" dirty="0">
              <a:latin typeface="Times" pitchFamily="2" charset="0"/>
            </a:endParaRPr>
          </a:p>
          <a:p>
            <a:r>
              <a:rPr lang="en-US" sz="2400" b="1" dirty="0">
                <a:latin typeface="Times" pitchFamily="2" charset="0"/>
              </a:rPr>
              <a:t>Version 2 – </a:t>
            </a:r>
            <a:r>
              <a:rPr lang="en-US" sz="2400" dirty="0">
                <a:latin typeface="Times" pitchFamily="2" charset="0"/>
              </a:rPr>
              <a:t>A force is conservative when it does no net work on an object moving around a                            , starting and finishing at the same point.</a:t>
            </a:r>
          </a:p>
        </p:txBody>
      </p:sp>
      <p:sp>
        <p:nvSpPr>
          <p:cNvPr id="6" name="Rectangle 5">
            <a:extLst>
              <a:ext uri="{FF2B5EF4-FFF2-40B4-BE49-F238E27FC236}">
                <a16:creationId xmlns:a16="http://schemas.microsoft.com/office/drawing/2014/main" id="{7366AC70-A6B1-3D3C-94A2-E224030AED95}"/>
              </a:ext>
            </a:extLst>
          </p:cNvPr>
          <p:cNvSpPr/>
          <p:nvPr/>
        </p:nvSpPr>
        <p:spPr>
          <a:xfrm>
            <a:off x="834887" y="927652"/>
            <a:ext cx="10442713" cy="278295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4439BAE-BBDE-FD8D-2BC8-891EDDED97CF}"/>
              </a:ext>
            </a:extLst>
          </p:cNvPr>
          <p:cNvSpPr txBox="1"/>
          <p:nvPr/>
        </p:nvSpPr>
        <p:spPr>
          <a:xfrm>
            <a:off x="728869" y="3856383"/>
            <a:ext cx="11913705" cy="830997"/>
          </a:xfrm>
          <a:prstGeom prst="rect">
            <a:avLst/>
          </a:prstGeom>
          <a:noFill/>
        </p:spPr>
        <p:txBody>
          <a:bodyPr wrap="square" rtlCol="0">
            <a:spAutoFit/>
          </a:bodyPr>
          <a:lstStyle/>
          <a:p>
            <a:r>
              <a:rPr lang="en-US" sz="2400" dirty="0">
                <a:latin typeface="Times" pitchFamily="2" charset="0"/>
              </a:rPr>
              <a:t>Version 1 of this definition centers around path independence, which we have already discussed.</a:t>
            </a:r>
          </a:p>
        </p:txBody>
      </p:sp>
      <p:sp>
        <p:nvSpPr>
          <p:cNvPr id="14" name="TextBox 13">
            <a:extLst>
              <a:ext uri="{FF2B5EF4-FFF2-40B4-BE49-F238E27FC236}">
                <a16:creationId xmlns:a16="http://schemas.microsoft.com/office/drawing/2014/main" id="{0341A526-EC5C-9FB3-4313-B87E568985EE}"/>
              </a:ext>
            </a:extLst>
          </p:cNvPr>
          <p:cNvSpPr txBox="1"/>
          <p:nvPr/>
        </p:nvSpPr>
        <p:spPr>
          <a:xfrm>
            <a:off x="722243" y="4684645"/>
            <a:ext cx="3584714" cy="461665"/>
          </a:xfrm>
          <a:prstGeom prst="rect">
            <a:avLst/>
          </a:prstGeom>
          <a:noFill/>
        </p:spPr>
        <p:txBody>
          <a:bodyPr wrap="square" rtlCol="0">
            <a:spAutoFit/>
          </a:bodyPr>
          <a:lstStyle/>
          <a:p>
            <a:r>
              <a:rPr lang="en-US" sz="2400" dirty="0">
                <a:latin typeface="Times" pitchFamily="2" charset="0"/>
              </a:rPr>
              <a:t>But what about Version 2?</a:t>
            </a:r>
          </a:p>
        </p:txBody>
      </p:sp>
      <p:sp>
        <p:nvSpPr>
          <p:cNvPr id="16" name="Rounded Rectangle 15">
            <a:extLst>
              <a:ext uri="{FF2B5EF4-FFF2-40B4-BE49-F238E27FC236}">
                <a16:creationId xmlns:a16="http://schemas.microsoft.com/office/drawing/2014/main" id="{B656A1FE-A834-6123-3BF6-850D329A92CA}"/>
              </a:ext>
            </a:extLst>
          </p:cNvPr>
          <p:cNvSpPr/>
          <p:nvPr/>
        </p:nvSpPr>
        <p:spPr>
          <a:xfrm>
            <a:off x="980660" y="2093844"/>
            <a:ext cx="1948070"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DCE0CD6-DFE0-C11D-464A-5A173DA9EF9F}"/>
              </a:ext>
            </a:extLst>
          </p:cNvPr>
          <p:cNvSpPr txBox="1"/>
          <p:nvPr/>
        </p:nvSpPr>
        <p:spPr>
          <a:xfrm>
            <a:off x="967410" y="2133602"/>
            <a:ext cx="2504661"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independent</a:t>
            </a:r>
          </a:p>
        </p:txBody>
      </p:sp>
      <p:sp>
        <p:nvSpPr>
          <p:cNvPr id="17" name="Rounded Rectangle 16">
            <a:extLst>
              <a:ext uri="{FF2B5EF4-FFF2-40B4-BE49-F238E27FC236}">
                <a16:creationId xmlns:a16="http://schemas.microsoft.com/office/drawing/2014/main" id="{2C1D45B7-5B45-C0A7-5779-1981470464E6}"/>
              </a:ext>
            </a:extLst>
          </p:cNvPr>
          <p:cNvSpPr/>
          <p:nvPr/>
        </p:nvSpPr>
        <p:spPr>
          <a:xfrm>
            <a:off x="2140225" y="3160644"/>
            <a:ext cx="1948070"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2AE2519-2EDC-CD62-4693-BD4795475470}"/>
              </a:ext>
            </a:extLst>
          </p:cNvPr>
          <p:cNvSpPr txBox="1"/>
          <p:nvPr/>
        </p:nvSpPr>
        <p:spPr>
          <a:xfrm>
            <a:off x="2193235" y="3200403"/>
            <a:ext cx="1981199"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closed path</a:t>
            </a:r>
          </a:p>
        </p:txBody>
      </p:sp>
      <p:sp>
        <p:nvSpPr>
          <p:cNvPr id="19" name="TextBox 18">
            <a:extLst>
              <a:ext uri="{FF2B5EF4-FFF2-40B4-BE49-F238E27FC236}">
                <a16:creationId xmlns:a16="http://schemas.microsoft.com/office/drawing/2014/main" id="{B157EC0E-1FA9-B6C4-EBEE-57CD49AB729A}"/>
              </a:ext>
            </a:extLst>
          </p:cNvPr>
          <p:cNvSpPr txBox="1"/>
          <p:nvPr/>
        </p:nvSpPr>
        <p:spPr>
          <a:xfrm>
            <a:off x="689113" y="5208104"/>
            <a:ext cx="10774017" cy="1200329"/>
          </a:xfrm>
          <a:prstGeom prst="rect">
            <a:avLst/>
          </a:prstGeom>
          <a:noFill/>
        </p:spPr>
        <p:txBody>
          <a:bodyPr wrap="square" rtlCol="0">
            <a:spAutoFit/>
          </a:bodyPr>
          <a:lstStyle/>
          <a:p>
            <a:r>
              <a:rPr lang="en-US" sz="2400" dirty="0">
                <a:latin typeface="Times" pitchFamily="2" charset="0"/>
              </a:rPr>
              <a:t>As an example of a </a:t>
            </a:r>
            <a:r>
              <a:rPr lang="en-US" sz="2400" dirty="0">
                <a:solidFill>
                  <a:srgbClr val="007440"/>
                </a:solidFill>
                <a:latin typeface="Times" pitchFamily="2" charset="0"/>
              </a:rPr>
              <a:t>closed path</a:t>
            </a:r>
            <a:r>
              <a:rPr lang="en-US" sz="2400" dirty="0">
                <a:latin typeface="Times" pitchFamily="2" charset="0"/>
              </a:rPr>
              <a:t>, consider a roller coaster car that travels along a track filled with hills and loops.  The car begins at some location, moves around the track, and then returns to its starting position.  </a:t>
            </a:r>
          </a:p>
        </p:txBody>
      </p:sp>
    </p:spTree>
    <p:extLst>
      <p:ext uri="{BB962C8B-B14F-4D97-AF65-F5344CB8AC3E}">
        <p14:creationId xmlns:p14="http://schemas.microsoft.com/office/powerpoint/2010/main" val="202337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dissolv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P spid="18" grpId="0"/>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523EF-196B-8B21-811D-209887947AE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D93BCB5-A109-3E79-7145-DC0D5089E8D5}"/>
              </a:ext>
            </a:extLst>
          </p:cNvPr>
          <p:cNvSpPr txBox="1"/>
          <p:nvPr/>
        </p:nvSpPr>
        <p:spPr>
          <a:xfrm>
            <a:off x="477078" y="848141"/>
            <a:ext cx="7010400" cy="1200329"/>
          </a:xfrm>
          <a:prstGeom prst="rect">
            <a:avLst/>
          </a:prstGeom>
          <a:noFill/>
        </p:spPr>
        <p:txBody>
          <a:bodyPr wrap="square" rtlCol="0">
            <a:spAutoFit/>
          </a:bodyPr>
          <a:lstStyle/>
          <a:p>
            <a:pPr algn="just"/>
            <a:r>
              <a:rPr lang="en-US" sz="2400" dirty="0">
                <a:latin typeface="Times" pitchFamily="2" charset="0"/>
              </a:rPr>
              <a:t>If we neglect all frictional effects with the track and air resistance, then the only forces that act on the car are its </a:t>
            </a:r>
            <a:r>
              <a:rPr lang="en-US" sz="2400" dirty="0">
                <a:solidFill>
                  <a:srgbClr val="007440"/>
                </a:solidFill>
                <a:latin typeface="Times" pitchFamily="2" charset="0"/>
              </a:rPr>
              <a:t>weight</a:t>
            </a:r>
            <a:r>
              <a:rPr lang="en-US" sz="2400" dirty="0">
                <a:latin typeface="Times" pitchFamily="2" charset="0"/>
              </a:rPr>
              <a:t> and the </a:t>
            </a:r>
            <a:r>
              <a:rPr lang="en-US" sz="2400" dirty="0">
                <a:solidFill>
                  <a:srgbClr val="007440"/>
                </a:solidFill>
                <a:latin typeface="Times" pitchFamily="2" charset="0"/>
              </a:rPr>
              <a:t>normal force </a:t>
            </a:r>
            <a:r>
              <a:rPr lang="en-US" sz="2400" dirty="0">
                <a:latin typeface="Times" pitchFamily="2" charset="0"/>
              </a:rPr>
              <a:t>from the track.</a:t>
            </a:r>
          </a:p>
        </p:txBody>
      </p:sp>
      <p:pic>
        <p:nvPicPr>
          <p:cNvPr id="5" name="Picture 4">
            <a:extLst>
              <a:ext uri="{FF2B5EF4-FFF2-40B4-BE49-F238E27FC236}">
                <a16:creationId xmlns:a16="http://schemas.microsoft.com/office/drawing/2014/main" id="{133932F8-056D-7BE8-BC18-4A01A1135A25}"/>
              </a:ext>
            </a:extLst>
          </p:cNvPr>
          <p:cNvPicPr>
            <a:picLocks noChangeAspect="1"/>
          </p:cNvPicPr>
          <p:nvPr/>
        </p:nvPicPr>
        <p:blipFill>
          <a:blip r:embed="rId3"/>
          <a:stretch>
            <a:fillRect/>
          </a:stretch>
        </p:blipFill>
        <p:spPr>
          <a:xfrm>
            <a:off x="7659756" y="788984"/>
            <a:ext cx="4399722" cy="2268708"/>
          </a:xfrm>
          <a:prstGeom prst="rect">
            <a:avLst/>
          </a:prstGeom>
        </p:spPr>
      </p:pic>
      <p:sp>
        <p:nvSpPr>
          <p:cNvPr id="9" name="TextBox 8">
            <a:extLst>
              <a:ext uri="{FF2B5EF4-FFF2-40B4-BE49-F238E27FC236}">
                <a16:creationId xmlns:a16="http://schemas.microsoft.com/office/drawing/2014/main" id="{78D955CD-E48E-7B4C-E0F4-CF03E7778FC7}"/>
              </a:ext>
            </a:extLst>
          </p:cNvPr>
          <p:cNvSpPr txBox="1"/>
          <p:nvPr/>
        </p:nvSpPr>
        <p:spPr>
          <a:xfrm>
            <a:off x="470449" y="2034209"/>
            <a:ext cx="7229063" cy="1200329"/>
          </a:xfrm>
          <a:prstGeom prst="rect">
            <a:avLst/>
          </a:prstGeom>
          <a:noFill/>
        </p:spPr>
        <p:txBody>
          <a:bodyPr wrap="square" rtlCol="0">
            <a:spAutoFit/>
          </a:bodyPr>
          <a:lstStyle/>
          <a:p>
            <a:pPr algn="just"/>
            <a:r>
              <a:rPr lang="en-US" sz="2400" dirty="0">
                <a:latin typeface="Times" pitchFamily="2" charset="0"/>
              </a:rPr>
              <a:t>However, the normal force is always perpendicular to the track, and thus perpendicular to the car’s displacement.  Therefore, the normal force does no work.</a:t>
            </a:r>
          </a:p>
        </p:txBody>
      </p:sp>
      <p:sp>
        <p:nvSpPr>
          <p:cNvPr id="2" name="Title 1">
            <a:extLst>
              <a:ext uri="{FF2B5EF4-FFF2-40B4-BE49-F238E27FC236}">
                <a16:creationId xmlns:a16="http://schemas.microsoft.com/office/drawing/2014/main" id="{F52D805A-7A2A-9080-3C4E-208A999AC652}"/>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6.4</a:t>
            </a:r>
            <a:r>
              <a:rPr lang="en-US" dirty="0">
                <a:ea typeface="Calibri" charset="0"/>
                <a:cs typeface="Calibri" charset="0"/>
              </a:rPr>
              <a:t> Conservative Versus Nonconservative Forces</a:t>
            </a:r>
            <a:endParaRPr lang="en-US" sz="3000" dirty="0"/>
          </a:p>
        </p:txBody>
      </p:sp>
      <p:sp>
        <p:nvSpPr>
          <p:cNvPr id="10" name="TextBox 9">
            <a:extLst>
              <a:ext uri="{FF2B5EF4-FFF2-40B4-BE49-F238E27FC236}">
                <a16:creationId xmlns:a16="http://schemas.microsoft.com/office/drawing/2014/main" id="{BE71AE50-DC87-285B-7777-D00E74237882}"/>
              </a:ext>
            </a:extLst>
          </p:cNvPr>
          <p:cNvSpPr txBox="1"/>
          <p:nvPr/>
        </p:nvSpPr>
        <p:spPr>
          <a:xfrm>
            <a:off x="503579" y="3352800"/>
            <a:ext cx="6202021" cy="461665"/>
          </a:xfrm>
          <a:prstGeom prst="rect">
            <a:avLst/>
          </a:prstGeom>
          <a:noFill/>
        </p:spPr>
        <p:txBody>
          <a:bodyPr wrap="square" rtlCol="0">
            <a:spAutoFit/>
          </a:bodyPr>
          <a:lstStyle/>
          <a:p>
            <a:pPr algn="just"/>
            <a:r>
              <a:rPr lang="en-US" sz="2400" dirty="0">
                <a:latin typeface="Times" pitchFamily="2" charset="0"/>
              </a:rPr>
              <a:t>Work is only done by the car’s weight (gravity).</a:t>
            </a:r>
          </a:p>
        </p:txBody>
      </p:sp>
      <p:grpSp>
        <p:nvGrpSpPr>
          <p:cNvPr id="20" name="Group 19">
            <a:extLst>
              <a:ext uri="{FF2B5EF4-FFF2-40B4-BE49-F238E27FC236}">
                <a16:creationId xmlns:a16="http://schemas.microsoft.com/office/drawing/2014/main" id="{AA06E8C0-0FB2-00D9-0192-B21816336487}"/>
              </a:ext>
            </a:extLst>
          </p:cNvPr>
          <p:cNvGrpSpPr/>
          <p:nvPr/>
        </p:nvGrpSpPr>
        <p:grpSpPr>
          <a:xfrm>
            <a:off x="523457" y="3929270"/>
            <a:ext cx="11416752" cy="461665"/>
            <a:chOff x="523457" y="3929270"/>
            <a:chExt cx="11416752" cy="461665"/>
          </a:xfrm>
        </p:grpSpPr>
        <p:sp>
          <p:nvSpPr>
            <p:cNvPr id="11" name="TextBox 10">
              <a:extLst>
                <a:ext uri="{FF2B5EF4-FFF2-40B4-BE49-F238E27FC236}">
                  <a16:creationId xmlns:a16="http://schemas.microsoft.com/office/drawing/2014/main" id="{0B9FC36A-A7E1-806F-F8D8-10B5F92E2406}"/>
                </a:ext>
              </a:extLst>
            </p:cNvPr>
            <p:cNvSpPr txBox="1"/>
            <p:nvPr/>
          </p:nvSpPr>
          <p:spPr>
            <a:xfrm>
              <a:off x="523457" y="3929270"/>
              <a:ext cx="11416752" cy="461665"/>
            </a:xfrm>
            <a:prstGeom prst="rect">
              <a:avLst/>
            </a:prstGeom>
            <a:noFill/>
          </p:spPr>
          <p:txBody>
            <a:bodyPr wrap="square" rtlCol="0">
              <a:spAutoFit/>
            </a:bodyPr>
            <a:lstStyle/>
            <a:p>
              <a:pPr algn="just"/>
              <a:r>
                <a:rPr lang="en-US" sz="2400" dirty="0">
                  <a:latin typeface="Times" pitchFamily="2" charset="0"/>
                </a:rPr>
                <a:t>Whenever the car goes </a:t>
              </a:r>
              <a:r>
                <a:rPr lang="en-US" sz="2400" dirty="0">
                  <a:solidFill>
                    <a:srgbClr val="2326C0"/>
                  </a:solidFill>
                  <a:latin typeface="Times" pitchFamily="2" charset="0"/>
                </a:rPr>
                <a:t>downhill</a:t>
              </a:r>
              <a:r>
                <a:rPr lang="en-US" sz="2400" dirty="0">
                  <a:latin typeface="Times" pitchFamily="2" charset="0"/>
                </a:rPr>
                <a:t>,                     work is done by gravity.</a:t>
              </a:r>
            </a:p>
          </p:txBody>
        </p:sp>
        <p:sp>
          <p:nvSpPr>
            <p:cNvPr id="12" name="Rounded Rectangle 11">
              <a:extLst>
                <a:ext uri="{FF2B5EF4-FFF2-40B4-BE49-F238E27FC236}">
                  <a16:creationId xmlns:a16="http://schemas.microsoft.com/office/drawing/2014/main" id="{A0189053-B76B-76D2-0EE7-761F753C530B}"/>
                </a:ext>
              </a:extLst>
            </p:cNvPr>
            <p:cNvSpPr/>
            <p:nvPr/>
          </p:nvSpPr>
          <p:spPr>
            <a:xfrm>
              <a:off x="4757531" y="3975652"/>
              <a:ext cx="1325217"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9A9429C8-D238-3BF2-83AC-59E22F075BB0}"/>
              </a:ext>
            </a:extLst>
          </p:cNvPr>
          <p:cNvSpPr txBox="1"/>
          <p:nvPr/>
        </p:nvSpPr>
        <p:spPr>
          <a:xfrm>
            <a:off x="4797282" y="3949148"/>
            <a:ext cx="148424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positive</a:t>
            </a:r>
          </a:p>
        </p:txBody>
      </p:sp>
      <p:grpSp>
        <p:nvGrpSpPr>
          <p:cNvPr id="24" name="Group 23">
            <a:extLst>
              <a:ext uri="{FF2B5EF4-FFF2-40B4-BE49-F238E27FC236}">
                <a16:creationId xmlns:a16="http://schemas.microsoft.com/office/drawing/2014/main" id="{180EE9CE-C633-A646-D20A-3E312F21EE91}"/>
              </a:ext>
            </a:extLst>
          </p:cNvPr>
          <p:cNvGrpSpPr/>
          <p:nvPr/>
        </p:nvGrpSpPr>
        <p:grpSpPr>
          <a:xfrm>
            <a:off x="7932234" y="1070517"/>
            <a:ext cx="4005575" cy="1681751"/>
            <a:chOff x="7932234" y="1070517"/>
            <a:chExt cx="4005575" cy="1681751"/>
          </a:xfrm>
        </p:grpSpPr>
        <p:sp>
          <p:nvSpPr>
            <p:cNvPr id="21" name="Freeform 20">
              <a:extLst>
                <a:ext uri="{FF2B5EF4-FFF2-40B4-BE49-F238E27FC236}">
                  <a16:creationId xmlns:a16="http://schemas.microsoft.com/office/drawing/2014/main" id="{C576521E-EC4C-2CC0-E279-BC1B98E5E948}"/>
                </a:ext>
              </a:extLst>
            </p:cNvPr>
            <p:cNvSpPr/>
            <p:nvPr/>
          </p:nvSpPr>
          <p:spPr>
            <a:xfrm>
              <a:off x="7932234" y="1196898"/>
              <a:ext cx="2475571" cy="1555370"/>
            </a:xfrm>
            <a:custGeom>
              <a:avLst/>
              <a:gdLst>
                <a:gd name="connsiteX0" fmla="*/ 0 w 2475571"/>
                <a:gd name="connsiteY0" fmla="*/ 0 h 1555370"/>
                <a:gd name="connsiteX1" fmla="*/ 1204332 w 2475571"/>
                <a:gd name="connsiteY1" fmla="*/ 1159726 h 1555370"/>
                <a:gd name="connsiteX2" fmla="*/ 1390186 w 2475571"/>
                <a:gd name="connsiteY2" fmla="*/ 1300975 h 1555370"/>
                <a:gd name="connsiteX3" fmla="*/ 1538868 w 2475571"/>
                <a:gd name="connsiteY3" fmla="*/ 1427356 h 1555370"/>
                <a:gd name="connsiteX4" fmla="*/ 1694986 w 2475571"/>
                <a:gd name="connsiteY4" fmla="*/ 1516565 h 1555370"/>
                <a:gd name="connsiteX5" fmla="*/ 1821366 w 2475571"/>
                <a:gd name="connsiteY5" fmla="*/ 1553736 h 1555370"/>
                <a:gd name="connsiteX6" fmla="*/ 1955181 w 2475571"/>
                <a:gd name="connsiteY6" fmla="*/ 1546302 h 1555370"/>
                <a:gd name="connsiteX7" fmla="*/ 2155903 w 2475571"/>
                <a:gd name="connsiteY7" fmla="*/ 1524000 h 1555370"/>
                <a:gd name="connsiteX8" fmla="*/ 2326888 w 2475571"/>
                <a:gd name="connsiteY8" fmla="*/ 1457092 h 1555370"/>
                <a:gd name="connsiteX9" fmla="*/ 2475571 w 2475571"/>
                <a:gd name="connsiteY9" fmla="*/ 1397619 h 155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5571" h="1555370">
                  <a:moveTo>
                    <a:pt x="0" y="0"/>
                  </a:moveTo>
                  <a:lnTo>
                    <a:pt x="1204332" y="1159726"/>
                  </a:lnTo>
                  <a:cubicBezTo>
                    <a:pt x="1436030" y="1376555"/>
                    <a:pt x="1334430" y="1256370"/>
                    <a:pt x="1390186" y="1300975"/>
                  </a:cubicBezTo>
                  <a:cubicBezTo>
                    <a:pt x="1445942" y="1345580"/>
                    <a:pt x="1488068" y="1391424"/>
                    <a:pt x="1538868" y="1427356"/>
                  </a:cubicBezTo>
                  <a:cubicBezTo>
                    <a:pt x="1589668" y="1463288"/>
                    <a:pt x="1647903" y="1495502"/>
                    <a:pt x="1694986" y="1516565"/>
                  </a:cubicBezTo>
                  <a:cubicBezTo>
                    <a:pt x="1742069" y="1537628"/>
                    <a:pt x="1778000" y="1548780"/>
                    <a:pt x="1821366" y="1553736"/>
                  </a:cubicBezTo>
                  <a:cubicBezTo>
                    <a:pt x="1864732" y="1558692"/>
                    <a:pt x="1899425" y="1551258"/>
                    <a:pt x="1955181" y="1546302"/>
                  </a:cubicBezTo>
                  <a:cubicBezTo>
                    <a:pt x="2010937" y="1541346"/>
                    <a:pt x="2093952" y="1538868"/>
                    <a:pt x="2155903" y="1524000"/>
                  </a:cubicBezTo>
                  <a:cubicBezTo>
                    <a:pt x="2217854" y="1509132"/>
                    <a:pt x="2326888" y="1457092"/>
                    <a:pt x="2326888" y="1457092"/>
                  </a:cubicBezTo>
                  <a:lnTo>
                    <a:pt x="2475571" y="1397619"/>
                  </a:ln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5D2DC87C-48AA-2A2F-5FE2-7C12C0A7FED4}"/>
                </a:ext>
              </a:extLst>
            </p:cNvPr>
            <p:cNvSpPr/>
            <p:nvPr/>
          </p:nvSpPr>
          <p:spPr>
            <a:xfrm>
              <a:off x="10980156" y="1315844"/>
              <a:ext cx="957653" cy="885676"/>
            </a:xfrm>
            <a:custGeom>
              <a:avLst/>
              <a:gdLst>
                <a:gd name="connsiteX0" fmla="*/ 215668 w 957653"/>
                <a:gd name="connsiteY0" fmla="*/ 0 h 885676"/>
                <a:gd name="connsiteX1" fmla="*/ 96722 w 957653"/>
                <a:gd name="connsiteY1" fmla="*/ 66907 h 885676"/>
                <a:gd name="connsiteX2" fmla="*/ 29815 w 957653"/>
                <a:gd name="connsiteY2" fmla="*/ 193288 h 885676"/>
                <a:gd name="connsiteX3" fmla="*/ 78 w 957653"/>
                <a:gd name="connsiteY3" fmla="*/ 364273 h 885676"/>
                <a:gd name="connsiteX4" fmla="*/ 22381 w 957653"/>
                <a:gd name="connsiteY4" fmla="*/ 505522 h 885676"/>
                <a:gd name="connsiteX5" fmla="*/ 59551 w 957653"/>
                <a:gd name="connsiteY5" fmla="*/ 594732 h 885676"/>
                <a:gd name="connsiteX6" fmla="*/ 133893 w 957653"/>
                <a:gd name="connsiteY6" fmla="*/ 706244 h 885676"/>
                <a:gd name="connsiteX7" fmla="*/ 230537 w 957653"/>
                <a:gd name="connsiteY7" fmla="*/ 788019 h 885676"/>
                <a:gd name="connsiteX8" fmla="*/ 371785 w 957653"/>
                <a:gd name="connsiteY8" fmla="*/ 854927 h 885676"/>
                <a:gd name="connsiteX9" fmla="*/ 535337 w 957653"/>
                <a:gd name="connsiteY9" fmla="*/ 884663 h 885676"/>
                <a:gd name="connsiteX10" fmla="*/ 706322 w 957653"/>
                <a:gd name="connsiteY10" fmla="*/ 877229 h 885676"/>
                <a:gd name="connsiteX11" fmla="*/ 892176 w 957653"/>
                <a:gd name="connsiteY11" fmla="*/ 862361 h 885676"/>
                <a:gd name="connsiteX12" fmla="*/ 944215 w 957653"/>
                <a:gd name="connsiteY12" fmla="*/ 810322 h 885676"/>
                <a:gd name="connsiteX13" fmla="*/ 936781 w 957653"/>
                <a:gd name="connsiteY13" fmla="*/ 750849 h 885676"/>
                <a:gd name="connsiteX14" fmla="*/ 721190 w 957653"/>
                <a:gd name="connsiteY14" fmla="*/ 669073 h 885676"/>
                <a:gd name="connsiteX15" fmla="*/ 535337 w 957653"/>
                <a:gd name="connsiteY15" fmla="*/ 609600 h 885676"/>
                <a:gd name="connsiteX16" fmla="*/ 379220 w 957653"/>
                <a:gd name="connsiteY16" fmla="*/ 557561 h 885676"/>
                <a:gd name="connsiteX17" fmla="*/ 245405 w 957653"/>
                <a:gd name="connsiteY17" fmla="*/ 512956 h 88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7653" h="885676">
                  <a:moveTo>
                    <a:pt x="215668" y="0"/>
                  </a:moveTo>
                  <a:cubicBezTo>
                    <a:pt x="171682" y="17346"/>
                    <a:pt x="127697" y="34692"/>
                    <a:pt x="96722" y="66907"/>
                  </a:cubicBezTo>
                  <a:cubicBezTo>
                    <a:pt x="65746" y="99122"/>
                    <a:pt x="45922" y="143727"/>
                    <a:pt x="29815" y="193288"/>
                  </a:cubicBezTo>
                  <a:cubicBezTo>
                    <a:pt x="13708" y="242849"/>
                    <a:pt x="1317" y="312234"/>
                    <a:pt x="78" y="364273"/>
                  </a:cubicBezTo>
                  <a:cubicBezTo>
                    <a:pt x="-1161" y="416312"/>
                    <a:pt x="12469" y="467112"/>
                    <a:pt x="22381" y="505522"/>
                  </a:cubicBezTo>
                  <a:cubicBezTo>
                    <a:pt x="32293" y="543932"/>
                    <a:pt x="40966" y="561278"/>
                    <a:pt x="59551" y="594732"/>
                  </a:cubicBezTo>
                  <a:cubicBezTo>
                    <a:pt x="78136" y="628186"/>
                    <a:pt x="105395" y="674030"/>
                    <a:pt x="133893" y="706244"/>
                  </a:cubicBezTo>
                  <a:cubicBezTo>
                    <a:pt x="162391" y="738458"/>
                    <a:pt x="190888" y="763239"/>
                    <a:pt x="230537" y="788019"/>
                  </a:cubicBezTo>
                  <a:cubicBezTo>
                    <a:pt x="270186" y="812799"/>
                    <a:pt x="320985" y="838820"/>
                    <a:pt x="371785" y="854927"/>
                  </a:cubicBezTo>
                  <a:cubicBezTo>
                    <a:pt x="422585" y="871034"/>
                    <a:pt x="479581" y="880946"/>
                    <a:pt x="535337" y="884663"/>
                  </a:cubicBezTo>
                  <a:cubicBezTo>
                    <a:pt x="591093" y="888380"/>
                    <a:pt x="646849" y="880946"/>
                    <a:pt x="706322" y="877229"/>
                  </a:cubicBezTo>
                  <a:cubicBezTo>
                    <a:pt x="765795" y="873512"/>
                    <a:pt x="852527" y="873512"/>
                    <a:pt x="892176" y="862361"/>
                  </a:cubicBezTo>
                  <a:cubicBezTo>
                    <a:pt x="931825" y="851210"/>
                    <a:pt x="936781" y="828907"/>
                    <a:pt x="944215" y="810322"/>
                  </a:cubicBezTo>
                  <a:cubicBezTo>
                    <a:pt x="951649" y="791737"/>
                    <a:pt x="973952" y="774391"/>
                    <a:pt x="936781" y="750849"/>
                  </a:cubicBezTo>
                  <a:cubicBezTo>
                    <a:pt x="899610" y="727308"/>
                    <a:pt x="788097" y="692614"/>
                    <a:pt x="721190" y="669073"/>
                  </a:cubicBezTo>
                  <a:cubicBezTo>
                    <a:pt x="654283" y="645532"/>
                    <a:pt x="535337" y="609600"/>
                    <a:pt x="535337" y="609600"/>
                  </a:cubicBezTo>
                  <a:lnTo>
                    <a:pt x="379220" y="557561"/>
                  </a:lnTo>
                  <a:lnTo>
                    <a:pt x="245405" y="512956"/>
                  </a:ln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a:extLst>
                <a:ext uri="{FF2B5EF4-FFF2-40B4-BE49-F238E27FC236}">
                  <a16:creationId xmlns:a16="http://schemas.microsoft.com/office/drawing/2014/main" id="{A6642A53-D99A-172D-36E4-7FABED27085A}"/>
                </a:ext>
              </a:extLst>
            </p:cNvPr>
            <p:cNvSpPr/>
            <p:nvPr/>
          </p:nvSpPr>
          <p:spPr>
            <a:xfrm>
              <a:off x="9641700" y="1070517"/>
              <a:ext cx="1102971" cy="1264223"/>
            </a:xfrm>
            <a:custGeom>
              <a:avLst/>
              <a:gdLst>
                <a:gd name="connsiteX0" fmla="*/ 245715 w 1102971"/>
                <a:gd name="connsiteY0" fmla="*/ 0 h 1264223"/>
                <a:gd name="connsiteX1" fmla="*/ 186241 w 1102971"/>
                <a:gd name="connsiteY1" fmla="*/ 59473 h 1264223"/>
                <a:gd name="connsiteX2" fmla="*/ 104466 w 1102971"/>
                <a:gd name="connsiteY2" fmla="*/ 170985 h 1264223"/>
                <a:gd name="connsiteX3" fmla="*/ 59861 w 1102971"/>
                <a:gd name="connsiteY3" fmla="*/ 267629 h 1264223"/>
                <a:gd name="connsiteX4" fmla="*/ 30124 w 1102971"/>
                <a:gd name="connsiteY4" fmla="*/ 386576 h 1264223"/>
                <a:gd name="connsiteX5" fmla="*/ 388 w 1102971"/>
                <a:gd name="connsiteY5" fmla="*/ 498088 h 1264223"/>
                <a:gd name="connsiteX6" fmla="*/ 15256 w 1102971"/>
                <a:gd name="connsiteY6" fmla="*/ 617034 h 1264223"/>
                <a:gd name="connsiteX7" fmla="*/ 44993 w 1102971"/>
                <a:gd name="connsiteY7" fmla="*/ 706244 h 1264223"/>
                <a:gd name="connsiteX8" fmla="*/ 74729 w 1102971"/>
                <a:gd name="connsiteY8" fmla="*/ 810322 h 1264223"/>
                <a:gd name="connsiteX9" fmla="*/ 119334 w 1102971"/>
                <a:gd name="connsiteY9" fmla="*/ 914400 h 1264223"/>
                <a:gd name="connsiteX10" fmla="*/ 208544 w 1102971"/>
                <a:gd name="connsiteY10" fmla="*/ 1018478 h 1264223"/>
                <a:gd name="connsiteX11" fmla="*/ 275451 w 1102971"/>
                <a:gd name="connsiteY11" fmla="*/ 1092820 h 1264223"/>
                <a:gd name="connsiteX12" fmla="*/ 342359 w 1102971"/>
                <a:gd name="connsiteY12" fmla="*/ 1152293 h 1264223"/>
                <a:gd name="connsiteX13" fmla="*/ 461305 w 1102971"/>
                <a:gd name="connsiteY13" fmla="*/ 1219200 h 1264223"/>
                <a:gd name="connsiteX14" fmla="*/ 565383 w 1102971"/>
                <a:gd name="connsiteY14" fmla="*/ 1248937 h 1264223"/>
                <a:gd name="connsiteX15" fmla="*/ 669461 w 1102971"/>
                <a:gd name="connsiteY15" fmla="*/ 1263805 h 1264223"/>
                <a:gd name="connsiteX16" fmla="*/ 825578 w 1102971"/>
                <a:gd name="connsiteY16" fmla="*/ 1256371 h 1264223"/>
                <a:gd name="connsiteX17" fmla="*/ 981695 w 1102971"/>
                <a:gd name="connsiteY17" fmla="*/ 1219200 h 1264223"/>
                <a:gd name="connsiteX18" fmla="*/ 1056037 w 1102971"/>
                <a:gd name="connsiteY18" fmla="*/ 1152293 h 1264223"/>
                <a:gd name="connsiteX19" fmla="*/ 1100641 w 1102971"/>
                <a:gd name="connsiteY19" fmla="*/ 1063083 h 1264223"/>
                <a:gd name="connsiteX20" fmla="*/ 1093207 w 1102971"/>
                <a:gd name="connsiteY20" fmla="*/ 973873 h 1264223"/>
                <a:gd name="connsiteX21" fmla="*/ 1063471 w 1102971"/>
                <a:gd name="connsiteY21" fmla="*/ 921834 h 1264223"/>
                <a:gd name="connsiteX22" fmla="*/ 981695 w 1102971"/>
                <a:gd name="connsiteY22" fmla="*/ 854927 h 1264223"/>
                <a:gd name="connsiteX23" fmla="*/ 870183 w 1102971"/>
                <a:gd name="connsiteY23" fmla="*/ 802888 h 1264223"/>
                <a:gd name="connsiteX24" fmla="*/ 728934 w 1102971"/>
                <a:gd name="connsiteY24" fmla="*/ 728546 h 1264223"/>
                <a:gd name="connsiteX25" fmla="*/ 595120 w 1102971"/>
                <a:gd name="connsiteY25" fmla="*/ 661639 h 1264223"/>
                <a:gd name="connsiteX26" fmla="*/ 409266 w 1102971"/>
                <a:gd name="connsiteY26" fmla="*/ 557561 h 126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2971" h="1264223">
                  <a:moveTo>
                    <a:pt x="245715" y="0"/>
                  </a:moveTo>
                  <a:cubicBezTo>
                    <a:pt x="227749" y="15487"/>
                    <a:pt x="209783" y="30975"/>
                    <a:pt x="186241" y="59473"/>
                  </a:cubicBezTo>
                  <a:cubicBezTo>
                    <a:pt x="162699" y="87971"/>
                    <a:pt x="125529" y="136292"/>
                    <a:pt x="104466" y="170985"/>
                  </a:cubicBezTo>
                  <a:cubicBezTo>
                    <a:pt x="83403" y="205678"/>
                    <a:pt x="72251" y="231697"/>
                    <a:pt x="59861" y="267629"/>
                  </a:cubicBezTo>
                  <a:cubicBezTo>
                    <a:pt x="47471" y="303561"/>
                    <a:pt x="40036" y="348166"/>
                    <a:pt x="30124" y="386576"/>
                  </a:cubicBezTo>
                  <a:cubicBezTo>
                    <a:pt x="20212" y="424986"/>
                    <a:pt x="2866" y="459678"/>
                    <a:pt x="388" y="498088"/>
                  </a:cubicBezTo>
                  <a:cubicBezTo>
                    <a:pt x="-2090" y="536498"/>
                    <a:pt x="7822" y="582341"/>
                    <a:pt x="15256" y="617034"/>
                  </a:cubicBezTo>
                  <a:cubicBezTo>
                    <a:pt x="22690" y="651727"/>
                    <a:pt x="35081" y="674029"/>
                    <a:pt x="44993" y="706244"/>
                  </a:cubicBezTo>
                  <a:cubicBezTo>
                    <a:pt x="54905" y="738459"/>
                    <a:pt x="62339" y="775629"/>
                    <a:pt x="74729" y="810322"/>
                  </a:cubicBezTo>
                  <a:cubicBezTo>
                    <a:pt x="87119" y="845015"/>
                    <a:pt x="97031" y="879707"/>
                    <a:pt x="119334" y="914400"/>
                  </a:cubicBezTo>
                  <a:cubicBezTo>
                    <a:pt x="141637" y="949093"/>
                    <a:pt x="182525" y="988741"/>
                    <a:pt x="208544" y="1018478"/>
                  </a:cubicBezTo>
                  <a:cubicBezTo>
                    <a:pt x="234563" y="1048215"/>
                    <a:pt x="253149" y="1070518"/>
                    <a:pt x="275451" y="1092820"/>
                  </a:cubicBezTo>
                  <a:cubicBezTo>
                    <a:pt x="297753" y="1115122"/>
                    <a:pt x="311383" y="1131230"/>
                    <a:pt x="342359" y="1152293"/>
                  </a:cubicBezTo>
                  <a:cubicBezTo>
                    <a:pt x="373335" y="1173356"/>
                    <a:pt x="424134" y="1203093"/>
                    <a:pt x="461305" y="1219200"/>
                  </a:cubicBezTo>
                  <a:cubicBezTo>
                    <a:pt x="498476" y="1235307"/>
                    <a:pt x="530690" y="1241503"/>
                    <a:pt x="565383" y="1248937"/>
                  </a:cubicBezTo>
                  <a:cubicBezTo>
                    <a:pt x="600076" y="1256371"/>
                    <a:pt x="626095" y="1262566"/>
                    <a:pt x="669461" y="1263805"/>
                  </a:cubicBezTo>
                  <a:cubicBezTo>
                    <a:pt x="712827" y="1265044"/>
                    <a:pt x="773539" y="1263805"/>
                    <a:pt x="825578" y="1256371"/>
                  </a:cubicBezTo>
                  <a:cubicBezTo>
                    <a:pt x="877617" y="1248937"/>
                    <a:pt x="943285" y="1236546"/>
                    <a:pt x="981695" y="1219200"/>
                  </a:cubicBezTo>
                  <a:cubicBezTo>
                    <a:pt x="1020105" y="1201854"/>
                    <a:pt x="1036213" y="1178312"/>
                    <a:pt x="1056037" y="1152293"/>
                  </a:cubicBezTo>
                  <a:cubicBezTo>
                    <a:pt x="1075861" y="1126274"/>
                    <a:pt x="1094446" y="1092820"/>
                    <a:pt x="1100641" y="1063083"/>
                  </a:cubicBezTo>
                  <a:cubicBezTo>
                    <a:pt x="1106836" y="1033346"/>
                    <a:pt x="1099402" y="997415"/>
                    <a:pt x="1093207" y="973873"/>
                  </a:cubicBezTo>
                  <a:cubicBezTo>
                    <a:pt x="1087012" y="950331"/>
                    <a:pt x="1082056" y="941658"/>
                    <a:pt x="1063471" y="921834"/>
                  </a:cubicBezTo>
                  <a:cubicBezTo>
                    <a:pt x="1044886" y="902010"/>
                    <a:pt x="1013910" y="874751"/>
                    <a:pt x="981695" y="854927"/>
                  </a:cubicBezTo>
                  <a:cubicBezTo>
                    <a:pt x="949480" y="835103"/>
                    <a:pt x="912310" y="823951"/>
                    <a:pt x="870183" y="802888"/>
                  </a:cubicBezTo>
                  <a:cubicBezTo>
                    <a:pt x="828056" y="781825"/>
                    <a:pt x="774778" y="752088"/>
                    <a:pt x="728934" y="728546"/>
                  </a:cubicBezTo>
                  <a:cubicBezTo>
                    <a:pt x="683090" y="705005"/>
                    <a:pt x="648398" y="690136"/>
                    <a:pt x="595120" y="661639"/>
                  </a:cubicBezTo>
                  <a:cubicBezTo>
                    <a:pt x="541842" y="633142"/>
                    <a:pt x="475554" y="595351"/>
                    <a:pt x="409266" y="557561"/>
                  </a:cubicBez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2030A0E7-F7FF-144E-9CCF-AFA6D9B484BF}"/>
              </a:ext>
            </a:extLst>
          </p:cNvPr>
          <p:cNvGrpSpPr/>
          <p:nvPr/>
        </p:nvGrpSpPr>
        <p:grpSpPr>
          <a:xfrm>
            <a:off x="528373" y="4671605"/>
            <a:ext cx="11416752" cy="461665"/>
            <a:chOff x="523457" y="3929270"/>
            <a:chExt cx="11416752" cy="461665"/>
          </a:xfrm>
        </p:grpSpPr>
        <p:sp>
          <p:nvSpPr>
            <p:cNvPr id="26" name="TextBox 25">
              <a:extLst>
                <a:ext uri="{FF2B5EF4-FFF2-40B4-BE49-F238E27FC236}">
                  <a16:creationId xmlns:a16="http://schemas.microsoft.com/office/drawing/2014/main" id="{45FF93A9-C133-27C8-67BC-5AA49A19C27F}"/>
                </a:ext>
              </a:extLst>
            </p:cNvPr>
            <p:cNvSpPr txBox="1"/>
            <p:nvPr/>
          </p:nvSpPr>
          <p:spPr>
            <a:xfrm>
              <a:off x="523457" y="3929270"/>
              <a:ext cx="11416752" cy="461665"/>
            </a:xfrm>
            <a:prstGeom prst="rect">
              <a:avLst/>
            </a:prstGeom>
            <a:noFill/>
          </p:spPr>
          <p:txBody>
            <a:bodyPr wrap="square" rtlCol="0">
              <a:spAutoFit/>
            </a:bodyPr>
            <a:lstStyle/>
            <a:p>
              <a:pPr algn="just"/>
              <a:r>
                <a:rPr lang="en-US" sz="2400" dirty="0">
                  <a:latin typeface="Times" pitchFamily="2" charset="0"/>
                </a:rPr>
                <a:t>Whenever the car goes </a:t>
              </a:r>
              <a:r>
                <a:rPr lang="en-US" sz="2400" dirty="0">
                  <a:solidFill>
                    <a:srgbClr val="FF0000"/>
                  </a:solidFill>
                  <a:latin typeface="Times" pitchFamily="2" charset="0"/>
                </a:rPr>
                <a:t>uphill</a:t>
              </a:r>
              <a:r>
                <a:rPr lang="en-US" sz="2400" dirty="0">
                  <a:latin typeface="Times" pitchFamily="2" charset="0"/>
                </a:rPr>
                <a:t>,                    work is done by gravity.</a:t>
              </a:r>
            </a:p>
          </p:txBody>
        </p:sp>
        <p:sp>
          <p:nvSpPr>
            <p:cNvPr id="27" name="Rounded Rectangle 26">
              <a:extLst>
                <a:ext uri="{FF2B5EF4-FFF2-40B4-BE49-F238E27FC236}">
                  <a16:creationId xmlns:a16="http://schemas.microsoft.com/office/drawing/2014/main" id="{60637DA2-5CC3-1DFE-FB5B-2B63BA87FDE8}"/>
                </a:ext>
              </a:extLst>
            </p:cNvPr>
            <p:cNvSpPr/>
            <p:nvPr/>
          </p:nvSpPr>
          <p:spPr>
            <a:xfrm>
              <a:off x="4358515" y="3964568"/>
              <a:ext cx="1325217"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E3A6FA86-8729-132B-9173-56816EEAF941}"/>
              </a:ext>
            </a:extLst>
          </p:cNvPr>
          <p:cNvSpPr txBox="1"/>
          <p:nvPr/>
        </p:nvSpPr>
        <p:spPr>
          <a:xfrm>
            <a:off x="4331143" y="4674857"/>
            <a:ext cx="148424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negative</a:t>
            </a:r>
          </a:p>
        </p:txBody>
      </p:sp>
      <p:grpSp>
        <p:nvGrpSpPr>
          <p:cNvPr id="32" name="Group 31">
            <a:extLst>
              <a:ext uri="{FF2B5EF4-FFF2-40B4-BE49-F238E27FC236}">
                <a16:creationId xmlns:a16="http://schemas.microsoft.com/office/drawing/2014/main" id="{7B8786E7-6C35-3046-D93E-5FAEF5053F15}"/>
              </a:ext>
            </a:extLst>
          </p:cNvPr>
          <p:cNvGrpSpPr/>
          <p:nvPr/>
        </p:nvGrpSpPr>
        <p:grpSpPr>
          <a:xfrm>
            <a:off x="7955339" y="1053664"/>
            <a:ext cx="3457629" cy="1534553"/>
            <a:chOff x="7955339" y="1053664"/>
            <a:chExt cx="3457629" cy="1534553"/>
          </a:xfrm>
        </p:grpSpPr>
        <p:sp>
          <p:nvSpPr>
            <p:cNvPr id="29" name="Freeform 28">
              <a:extLst>
                <a:ext uri="{FF2B5EF4-FFF2-40B4-BE49-F238E27FC236}">
                  <a16:creationId xmlns:a16="http://schemas.microsoft.com/office/drawing/2014/main" id="{FE0A80F8-0F47-4536-1E99-1C618301592B}"/>
                </a:ext>
              </a:extLst>
            </p:cNvPr>
            <p:cNvSpPr/>
            <p:nvPr/>
          </p:nvSpPr>
          <p:spPr>
            <a:xfrm>
              <a:off x="10414861" y="1322522"/>
              <a:ext cx="998107" cy="1265695"/>
            </a:xfrm>
            <a:custGeom>
              <a:avLst/>
              <a:gdLst>
                <a:gd name="connsiteX0" fmla="*/ 0 w 998107"/>
                <a:gd name="connsiteY0" fmla="*/ 1265695 h 1265695"/>
                <a:gd name="connsiteX1" fmla="*/ 180814 w 998107"/>
                <a:gd name="connsiteY1" fmla="*/ 1183037 h 1265695"/>
                <a:gd name="connsiteX2" fmla="*/ 366793 w 998107"/>
                <a:gd name="connsiteY2" fmla="*/ 1090047 h 1265695"/>
                <a:gd name="connsiteX3" fmla="*/ 526942 w 998107"/>
                <a:gd name="connsiteY3" fmla="*/ 986725 h 1265695"/>
                <a:gd name="connsiteX4" fmla="*/ 687092 w 998107"/>
                <a:gd name="connsiteY4" fmla="*/ 873071 h 1265695"/>
                <a:gd name="connsiteX5" fmla="*/ 805912 w 998107"/>
                <a:gd name="connsiteY5" fmla="*/ 774915 h 1265695"/>
                <a:gd name="connsiteX6" fmla="*/ 981559 w 998107"/>
                <a:gd name="connsiteY6" fmla="*/ 511444 h 1265695"/>
                <a:gd name="connsiteX7" fmla="*/ 991892 w 998107"/>
                <a:gd name="connsiteY7" fmla="*/ 366793 h 1265695"/>
                <a:gd name="connsiteX8" fmla="*/ 991892 w 998107"/>
                <a:gd name="connsiteY8" fmla="*/ 247973 h 1265695"/>
                <a:gd name="connsiteX9" fmla="*/ 966061 w 998107"/>
                <a:gd name="connsiteY9" fmla="*/ 180814 h 1265695"/>
                <a:gd name="connsiteX10" fmla="*/ 935064 w 998107"/>
                <a:gd name="connsiteY10" fmla="*/ 113654 h 1265695"/>
                <a:gd name="connsiteX11" fmla="*/ 898902 w 998107"/>
                <a:gd name="connsiteY11" fmla="*/ 61993 h 1265695"/>
                <a:gd name="connsiteX12" fmla="*/ 842075 w 998107"/>
                <a:gd name="connsiteY12" fmla="*/ 20664 h 1265695"/>
                <a:gd name="connsiteX13" fmla="*/ 790414 w 998107"/>
                <a:gd name="connsiteY13" fmla="*/ 0 h 126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8107" h="1265695">
                  <a:moveTo>
                    <a:pt x="0" y="1265695"/>
                  </a:moveTo>
                  <a:cubicBezTo>
                    <a:pt x="59841" y="1239003"/>
                    <a:pt x="119682" y="1212312"/>
                    <a:pt x="180814" y="1183037"/>
                  </a:cubicBezTo>
                  <a:cubicBezTo>
                    <a:pt x="241946" y="1153762"/>
                    <a:pt x="309105" y="1122766"/>
                    <a:pt x="366793" y="1090047"/>
                  </a:cubicBezTo>
                  <a:cubicBezTo>
                    <a:pt x="424481" y="1057328"/>
                    <a:pt x="473559" y="1022888"/>
                    <a:pt x="526942" y="986725"/>
                  </a:cubicBezTo>
                  <a:cubicBezTo>
                    <a:pt x="580325" y="950562"/>
                    <a:pt x="640597" y="908373"/>
                    <a:pt x="687092" y="873071"/>
                  </a:cubicBezTo>
                  <a:cubicBezTo>
                    <a:pt x="733587" y="837769"/>
                    <a:pt x="756834" y="835186"/>
                    <a:pt x="805912" y="774915"/>
                  </a:cubicBezTo>
                  <a:cubicBezTo>
                    <a:pt x="854990" y="714644"/>
                    <a:pt x="950562" y="579464"/>
                    <a:pt x="981559" y="511444"/>
                  </a:cubicBezTo>
                  <a:cubicBezTo>
                    <a:pt x="1012556" y="443424"/>
                    <a:pt x="990170" y="410705"/>
                    <a:pt x="991892" y="366793"/>
                  </a:cubicBezTo>
                  <a:cubicBezTo>
                    <a:pt x="993614" y="322881"/>
                    <a:pt x="996197" y="278969"/>
                    <a:pt x="991892" y="247973"/>
                  </a:cubicBezTo>
                  <a:cubicBezTo>
                    <a:pt x="987587" y="216977"/>
                    <a:pt x="975532" y="203200"/>
                    <a:pt x="966061" y="180814"/>
                  </a:cubicBezTo>
                  <a:cubicBezTo>
                    <a:pt x="956590" y="158428"/>
                    <a:pt x="946257" y="133457"/>
                    <a:pt x="935064" y="113654"/>
                  </a:cubicBezTo>
                  <a:cubicBezTo>
                    <a:pt x="923871" y="93851"/>
                    <a:pt x="914400" y="77491"/>
                    <a:pt x="898902" y="61993"/>
                  </a:cubicBezTo>
                  <a:cubicBezTo>
                    <a:pt x="883404" y="46495"/>
                    <a:pt x="860156" y="30996"/>
                    <a:pt x="842075" y="20664"/>
                  </a:cubicBezTo>
                  <a:cubicBezTo>
                    <a:pt x="823994" y="10332"/>
                    <a:pt x="807204" y="5166"/>
                    <a:pt x="790414" y="0"/>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EC1E1B0A-7DBC-E453-67D9-DAADBEB2B009}"/>
                </a:ext>
              </a:extLst>
            </p:cNvPr>
            <p:cNvSpPr/>
            <p:nvPr/>
          </p:nvSpPr>
          <p:spPr>
            <a:xfrm>
              <a:off x="9893085" y="1053664"/>
              <a:ext cx="1327688" cy="780302"/>
            </a:xfrm>
            <a:custGeom>
              <a:avLst/>
              <a:gdLst>
                <a:gd name="connsiteX0" fmla="*/ 1327688 w 1327688"/>
                <a:gd name="connsiteY0" fmla="*/ 780302 h 780302"/>
                <a:gd name="connsiteX1" fmla="*/ 1183037 w 1327688"/>
                <a:gd name="connsiteY1" fmla="*/ 744139 h 780302"/>
                <a:gd name="connsiteX2" fmla="*/ 1095213 w 1327688"/>
                <a:gd name="connsiteY2" fmla="*/ 697644 h 780302"/>
                <a:gd name="connsiteX3" fmla="*/ 919566 w 1327688"/>
                <a:gd name="connsiteY3" fmla="*/ 635651 h 780302"/>
                <a:gd name="connsiteX4" fmla="*/ 774915 w 1327688"/>
                <a:gd name="connsiteY4" fmla="*/ 578824 h 780302"/>
                <a:gd name="connsiteX5" fmla="*/ 619932 w 1327688"/>
                <a:gd name="connsiteY5" fmla="*/ 491000 h 780302"/>
                <a:gd name="connsiteX6" fmla="*/ 501112 w 1327688"/>
                <a:gd name="connsiteY6" fmla="*/ 403177 h 780302"/>
                <a:gd name="connsiteX7" fmla="*/ 402956 w 1327688"/>
                <a:gd name="connsiteY7" fmla="*/ 284356 h 780302"/>
                <a:gd name="connsiteX8" fmla="*/ 325464 w 1327688"/>
                <a:gd name="connsiteY8" fmla="*/ 181034 h 780302"/>
                <a:gd name="connsiteX9" fmla="*/ 258305 w 1327688"/>
                <a:gd name="connsiteY9" fmla="*/ 103543 h 780302"/>
                <a:gd name="connsiteX10" fmla="*/ 170481 w 1327688"/>
                <a:gd name="connsiteY10" fmla="*/ 26051 h 780302"/>
                <a:gd name="connsiteX11" fmla="*/ 87823 w 1327688"/>
                <a:gd name="connsiteY11" fmla="*/ 221 h 780302"/>
                <a:gd name="connsiteX12" fmla="*/ 0 w 1327688"/>
                <a:gd name="connsiteY12" fmla="*/ 15719 h 780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7688" h="780302">
                  <a:moveTo>
                    <a:pt x="1327688" y="780302"/>
                  </a:moveTo>
                  <a:cubicBezTo>
                    <a:pt x="1274735" y="769108"/>
                    <a:pt x="1221783" y="757915"/>
                    <a:pt x="1183037" y="744139"/>
                  </a:cubicBezTo>
                  <a:cubicBezTo>
                    <a:pt x="1144291" y="730363"/>
                    <a:pt x="1139125" y="715725"/>
                    <a:pt x="1095213" y="697644"/>
                  </a:cubicBezTo>
                  <a:cubicBezTo>
                    <a:pt x="1051301" y="679563"/>
                    <a:pt x="972949" y="655454"/>
                    <a:pt x="919566" y="635651"/>
                  </a:cubicBezTo>
                  <a:cubicBezTo>
                    <a:pt x="866183" y="615848"/>
                    <a:pt x="824854" y="602932"/>
                    <a:pt x="774915" y="578824"/>
                  </a:cubicBezTo>
                  <a:cubicBezTo>
                    <a:pt x="724976" y="554715"/>
                    <a:pt x="665566" y="520274"/>
                    <a:pt x="619932" y="491000"/>
                  </a:cubicBezTo>
                  <a:cubicBezTo>
                    <a:pt x="574298" y="461726"/>
                    <a:pt x="537275" y="437618"/>
                    <a:pt x="501112" y="403177"/>
                  </a:cubicBezTo>
                  <a:cubicBezTo>
                    <a:pt x="464949" y="368736"/>
                    <a:pt x="432231" y="321380"/>
                    <a:pt x="402956" y="284356"/>
                  </a:cubicBezTo>
                  <a:cubicBezTo>
                    <a:pt x="373681" y="247332"/>
                    <a:pt x="349573" y="211170"/>
                    <a:pt x="325464" y="181034"/>
                  </a:cubicBezTo>
                  <a:cubicBezTo>
                    <a:pt x="301355" y="150898"/>
                    <a:pt x="284135" y="129373"/>
                    <a:pt x="258305" y="103543"/>
                  </a:cubicBezTo>
                  <a:cubicBezTo>
                    <a:pt x="232475" y="77713"/>
                    <a:pt x="198895" y="43271"/>
                    <a:pt x="170481" y="26051"/>
                  </a:cubicBezTo>
                  <a:cubicBezTo>
                    <a:pt x="142067" y="8831"/>
                    <a:pt x="116236" y="1943"/>
                    <a:pt x="87823" y="221"/>
                  </a:cubicBezTo>
                  <a:cubicBezTo>
                    <a:pt x="59410" y="-1501"/>
                    <a:pt x="29705" y="7109"/>
                    <a:pt x="0" y="15719"/>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27C8089C-478E-24A5-F7CF-C96F63F21CA8}"/>
                </a:ext>
              </a:extLst>
            </p:cNvPr>
            <p:cNvSpPr/>
            <p:nvPr/>
          </p:nvSpPr>
          <p:spPr>
            <a:xfrm>
              <a:off x="7955339" y="1069341"/>
              <a:ext cx="2087563" cy="818032"/>
            </a:xfrm>
            <a:custGeom>
              <a:avLst/>
              <a:gdLst>
                <a:gd name="connsiteX0" fmla="*/ 2087563 w 2087563"/>
                <a:gd name="connsiteY0" fmla="*/ 563147 h 818032"/>
                <a:gd name="connsiteX1" fmla="*/ 1922247 w 2087563"/>
                <a:gd name="connsiteY1" fmla="*/ 480490 h 818032"/>
                <a:gd name="connsiteX2" fmla="*/ 1834424 w 2087563"/>
                <a:gd name="connsiteY2" fmla="*/ 433995 h 818032"/>
                <a:gd name="connsiteX3" fmla="*/ 1751766 w 2087563"/>
                <a:gd name="connsiteY3" fmla="*/ 413330 h 818032"/>
                <a:gd name="connsiteX4" fmla="*/ 1663942 w 2087563"/>
                <a:gd name="connsiteY4" fmla="*/ 397832 h 818032"/>
                <a:gd name="connsiteX5" fmla="*/ 1539956 w 2087563"/>
                <a:gd name="connsiteY5" fmla="*/ 444327 h 818032"/>
                <a:gd name="connsiteX6" fmla="*/ 1426302 w 2087563"/>
                <a:gd name="connsiteY6" fmla="*/ 526984 h 818032"/>
                <a:gd name="connsiteX7" fmla="*/ 1229990 w 2087563"/>
                <a:gd name="connsiteY7" fmla="*/ 671635 h 818032"/>
                <a:gd name="connsiteX8" fmla="*/ 1080173 w 2087563"/>
                <a:gd name="connsiteY8" fmla="*/ 785290 h 818032"/>
                <a:gd name="connsiteX9" fmla="*/ 992349 w 2087563"/>
                <a:gd name="connsiteY9" fmla="*/ 816286 h 818032"/>
                <a:gd name="connsiteX10" fmla="*/ 904525 w 2087563"/>
                <a:gd name="connsiteY10" fmla="*/ 790456 h 818032"/>
                <a:gd name="connsiteX11" fmla="*/ 672051 w 2087563"/>
                <a:gd name="connsiteY11" fmla="*/ 599310 h 818032"/>
                <a:gd name="connsiteX12" fmla="*/ 434410 w 2087563"/>
                <a:gd name="connsiteY12" fmla="*/ 341005 h 818032"/>
                <a:gd name="connsiteX13" fmla="*/ 238098 w 2087563"/>
                <a:gd name="connsiteY13" fmla="*/ 139527 h 818032"/>
                <a:gd name="connsiteX14" fmla="*/ 139942 w 2087563"/>
                <a:gd name="connsiteY14" fmla="*/ 36205 h 818032"/>
                <a:gd name="connsiteX15" fmla="*/ 93447 w 2087563"/>
                <a:gd name="connsiteY15" fmla="*/ 5208 h 818032"/>
                <a:gd name="connsiteX16" fmla="*/ 62451 w 2087563"/>
                <a:gd name="connsiteY16" fmla="*/ 42 h 818032"/>
                <a:gd name="connsiteX17" fmla="*/ 31454 w 2087563"/>
                <a:gd name="connsiteY17" fmla="*/ 5208 h 818032"/>
                <a:gd name="connsiteX18" fmla="*/ 15956 w 2087563"/>
                <a:gd name="connsiteY18" fmla="*/ 31039 h 818032"/>
                <a:gd name="connsiteX19" fmla="*/ 458 w 2087563"/>
                <a:gd name="connsiteY19" fmla="*/ 77534 h 818032"/>
                <a:gd name="connsiteX20" fmla="*/ 5624 w 2087563"/>
                <a:gd name="connsiteY20" fmla="*/ 129195 h 81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87563" h="818032">
                  <a:moveTo>
                    <a:pt x="2087563" y="563147"/>
                  </a:moveTo>
                  <a:lnTo>
                    <a:pt x="1922247" y="480490"/>
                  </a:lnTo>
                  <a:cubicBezTo>
                    <a:pt x="1880057" y="458965"/>
                    <a:pt x="1862837" y="445188"/>
                    <a:pt x="1834424" y="433995"/>
                  </a:cubicBezTo>
                  <a:cubicBezTo>
                    <a:pt x="1806010" y="422802"/>
                    <a:pt x="1780180" y="419357"/>
                    <a:pt x="1751766" y="413330"/>
                  </a:cubicBezTo>
                  <a:cubicBezTo>
                    <a:pt x="1723352" y="407303"/>
                    <a:pt x="1699244" y="392666"/>
                    <a:pt x="1663942" y="397832"/>
                  </a:cubicBezTo>
                  <a:cubicBezTo>
                    <a:pt x="1628640" y="402998"/>
                    <a:pt x="1579563" y="422802"/>
                    <a:pt x="1539956" y="444327"/>
                  </a:cubicBezTo>
                  <a:cubicBezTo>
                    <a:pt x="1500349" y="465852"/>
                    <a:pt x="1426302" y="526984"/>
                    <a:pt x="1426302" y="526984"/>
                  </a:cubicBezTo>
                  <a:lnTo>
                    <a:pt x="1229990" y="671635"/>
                  </a:lnTo>
                  <a:cubicBezTo>
                    <a:pt x="1172302" y="714686"/>
                    <a:pt x="1119780" y="761182"/>
                    <a:pt x="1080173" y="785290"/>
                  </a:cubicBezTo>
                  <a:cubicBezTo>
                    <a:pt x="1040566" y="809398"/>
                    <a:pt x="1021624" y="815425"/>
                    <a:pt x="992349" y="816286"/>
                  </a:cubicBezTo>
                  <a:cubicBezTo>
                    <a:pt x="963074" y="817147"/>
                    <a:pt x="957908" y="826619"/>
                    <a:pt x="904525" y="790456"/>
                  </a:cubicBezTo>
                  <a:cubicBezTo>
                    <a:pt x="851142" y="754293"/>
                    <a:pt x="750403" y="674219"/>
                    <a:pt x="672051" y="599310"/>
                  </a:cubicBezTo>
                  <a:cubicBezTo>
                    <a:pt x="593698" y="524401"/>
                    <a:pt x="506735" y="417635"/>
                    <a:pt x="434410" y="341005"/>
                  </a:cubicBezTo>
                  <a:cubicBezTo>
                    <a:pt x="362085" y="264375"/>
                    <a:pt x="287176" y="190327"/>
                    <a:pt x="238098" y="139527"/>
                  </a:cubicBezTo>
                  <a:cubicBezTo>
                    <a:pt x="189020" y="88727"/>
                    <a:pt x="164050" y="58591"/>
                    <a:pt x="139942" y="36205"/>
                  </a:cubicBezTo>
                  <a:cubicBezTo>
                    <a:pt x="115833" y="13818"/>
                    <a:pt x="106362" y="11235"/>
                    <a:pt x="93447" y="5208"/>
                  </a:cubicBezTo>
                  <a:cubicBezTo>
                    <a:pt x="80532" y="-819"/>
                    <a:pt x="72783" y="42"/>
                    <a:pt x="62451" y="42"/>
                  </a:cubicBezTo>
                  <a:cubicBezTo>
                    <a:pt x="52119" y="42"/>
                    <a:pt x="39203" y="42"/>
                    <a:pt x="31454" y="5208"/>
                  </a:cubicBezTo>
                  <a:cubicBezTo>
                    <a:pt x="23705" y="10374"/>
                    <a:pt x="21122" y="18985"/>
                    <a:pt x="15956" y="31039"/>
                  </a:cubicBezTo>
                  <a:cubicBezTo>
                    <a:pt x="10790" y="43093"/>
                    <a:pt x="2180" y="61175"/>
                    <a:pt x="458" y="77534"/>
                  </a:cubicBezTo>
                  <a:cubicBezTo>
                    <a:pt x="-1264" y="93893"/>
                    <a:pt x="2180" y="111544"/>
                    <a:pt x="5624" y="129195"/>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49931934-1E2B-1C0C-CBC5-5997B6427671}"/>
              </a:ext>
            </a:extLst>
          </p:cNvPr>
          <p:cNvSpPr txBox="1"/>
          <p:nvPr/>
        </p:nvSpPr>
        <p:spPr>
          <a:xfrm>
            <a:off x="9283145" y="3982278"/>
            <a:ext cx="2590803" cy="400110"/>
          </a:xfrm>
          <a:prstGeom prst="rect">
            <a:avLst/>
          </a:prstGeom>
          <a:noFill/>
        </p:spPr>
        <p:txBody>
          <a:bodyPr wrap="square" rtlCol="0">
            <a:spAutoFit/>
          </a:bodyPr>
          <a:lstStyle/>
          <a:p>
            <a:pPr algn="just"/>
            <a:r>
              <a:rPr lang="en-US" sz="2000" dirty="0">
                <a:latin typeface="Times" pitchFamily="2" charset="0"/>
              </a:rPr>
              <a:t>(The car speeds up.)</a:t>
            </a:r>
          </a:p>
        </p:txBody>
      </p:sp>
      <p:sp>
        <p:nvSpPr>
          <p:cNvPr id="34" name="TextBox 33">
            <a:extLst>
              <a:ext uri="{FF2B5EF4-FFF2-40B4-BE49-F238E27FC236}">
                <a16:creationId xmlns:a16="http://schemas.microsoft.com/office/drawing/2014/main" id="{84574AF5-2B95-88FC-0390-B9DBEDD89B34}"/>
              </a:ext>
            </a:extLst>
          </p:cNvPr>
          <p:cNvSpPr txBox="1"/>
          <p:nvPr/>
        </p:nvSpPr>
        <p:spPr>
          <a:xfrm>
            <a:off x="8852450" y="4704522"/>
            <a:ext cx="2590803" cy="400110"/>
          </a:xfrm>
          <a:prstGeom prst="rect">
            <a:avLst/>
          </a:prstGeom>
          <a:noFill/>
        </p:spPr>
        <p:txBody>
          <a:bodyPr wrap="square" rtlCol="0">
            <a:spAutoFit/>
          </a:bodyPr>
          <a:lstStyle/>
          <a:p>
            <a:pPr algn="just"/>
            <a:r>
              <a:rPr lang="en-US" sz="2000" dirty="0">
                <a:latin typeface="Times" pitchFamily="2" charset="0"/>
              </a:rPr>
              <a:t>(The car slows down.)</a:t>
            </a:r>
          </a:p>
        </p:txBody>
      </p:sp>
      <p:grpSp>
        <p:nvGrpSpPr>
          <p:cNvPr id="3" name="Group 2">
            <a:extLst>
              <a:ext uri="{FF2B5EF4-FFF2-40B4-BE49-F238E27FC236}">
                <a16:creationId xmlns:a16="http://schemas.microsoft.com/office/drawing/2014/main" id="{9C6D1DCA-7067-777D-6C70-5B3A93D999CC}"/>
              </a:ext>
            </a:extLst>
          </p:cNvPr>
          <p:cNvGrpSpPr/>
          <p:nvPr/>
        </p:nvGrpSpPr>
        <p:grpSpPr>
          <a:xfrm>
            <a:off x="549961" y="5280991"/>
            <a:ext cx="11178213" cy="830997"/>
            <a:chOff x="549961" y="5280991"/>
            <a:chExt cx="11178213" cy="830997"/>
          </a:xfrm>
        </p:grpSpPr>
        <p:sp>
          <p:nvSpPr>
            <p:cNvPr id="35" name="TextBox 34">
              <a:extLst>
                <a:ext uri="{FF2B5EF4-FFF2-40B4-BE49-F238E27FC236}">
                  <a16:creationId xmlns:a16="http://schemas.microsoft.com/office/drawing/2014/main" id="{9D5FC147-A524-93AE-8D9A-DFA8F610CBF9}"/>
                </a:ext>
              </a:extLst>
            </p:cNvPr>
            <p:cNvSpPr txBox="1"/>
            <p:nvPr/>
          </p:nvSpPr>
          <p:spPr>
            <a:xfrm>
              <a:off x="549961" y="5280991"/>
              <a:ext cx="11098700" cy="830997"/>
            </a:xfrm>
            <a:prstGeom prst="rect">
              <a:avLst/>
            </a:prstGeom>
            <a:noFill/>
          </p:spPr>
          <p:txBody>
            <a:bodyPr wrap="square" rtlCol="0">
              <a:spAutoFit/>
            </a:bodyPr>
            <a:lstStyle/>
            <a:p>
              <a:pPr algn="just"/>
              <a:r>
                <a:rPr lang="en-US" sz="2400" dirty="0">
                  <a:latin typeface="Times" pitchFamily="2" charset="0"/>
                </a:rPr>
                <a:t>We find that over the entire trip gravity does just as much </a:t>
              </a:r>
              <a:r>
                <a:rPr lang="en-US" sz="2400" dirty="0">
                  <a:solidFill>
                    <a:srgbClr val="2326C0"/>
                  </a:solidFill>
                  <a:latin typeface="Times" pitchFamily="2" charset="0"/>
                </a:rPr>
                <a:t>positive</a:t>
              </a:r>
              <a:r>
                <a:rPr lang="en-US" sz="2400" dirty="0">
                  <a:latin typeface="Times" pitchFamily="2" charset="0"/>
                </a:rPr>
                <a:t> work as it does </a:t>
              </a:r>
              <a:r>
                <a:rPr lang="en-US" sz="2400" dirty="0">
                  <a:solidFill>
                    <a:srgbClr val="FF0000"/>
                  </a:solidFill>
                  <a:latin typeface="Times" pitchFamily="2" charset="0"/>
                </a:rPr>
                <a:t>negative</a:t>
              </a:r>
              <a:r>
                <a:rPr lang="en-US" sz="2400" dirty="0">
                  <a:latin typeface="Times" pitchFamily="2" charset="0"/>
                </a:rPr>
                <a:t> work, so the</a:t>
              </a:r>
            </a:p>
          </p:txBody>
        </p:sp>
        <p:sp>
          <p:nvSpPr>
            <p:cNvPr id="36" name="Rounded Rectangle 35">
              <a:extLst>
                <a:ext uri="{FF2B5EF4-FFF2-40B4-BE49-F238E27FC236}">
                  <a16:creationId xmlns:a16="http://schemas.microsoft.com/office/drawing/2014/main" id="{526E95A1-3196-A9B6-6B2C-032D8C28F73D}"/>
                </a:ext>
              </a:extLst>
            </p:cNvPr>
            <p:cNvSpPr/>
            <p:nvPr/>
          </p:nvSpPr>
          <p:spPr>
            <a:xfrm>
              <a:off x="3339548" y="5711687"/>
              <a:ext cx="8388626"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2E98FC82-0D11-CBC2-01A7-7AD5CB48BFD5}"/>
              </a:ext>
            </a:extLst>
          </p:cNvPr>
          <p:cNvSpPr txBox="1"/>
          <p:nvPr/>
        </p:nvSpPr>
        <p:spPr>
          <a:xfrm>
            <a:off x="3389657" y="5702516"/>
            <a:ext cx="8945218" cy="400110"/>
          </a:xfrm>
          <a:prstGeom prst="rect">
            <a:avLst/>
          </a:prstGeom>
          <a:noFill/>
        </p:spPr>
        <p:txBody>
          <a:bodyPr wrap="square">
            <a:spAutoFit/>
          </a:bodyPr>
          <a:lstStyle/>
          <a:p>
            <a:r>
              <a:rPr lang="en-US" sz="2000" dirty="0">
                <a:solidFill>
                  <a:srgbClr val="007440"/>
                </a:solidFill>
                <a:latin typeface="Chalkduster" panose="03050602040202020205" pitchFamily="66" charset="77"/>
              </a:rPr>
              <a:t>total work done by gravity over the closed loop is 0 J!</a:t>
            </a:r>
          </a:p>
        </p:txBody>
      </p:sp>
    </p:spTree>
    <p:extLst>
      <p:ext uri="{BB962C8B-B14F-4D97-AF65-F5344CB8AC3E}">
        <p14:creationId xmlns:p14="http://schemas.microsoft.com/office/powerpoint/2010/main" val="22868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par>
                          <p:cTn id="32" fill="hold">
                            <p:stCondLst>
                              <p:cond delay="500"/>
                            </p:stCondLst>
                            <p:childTnLst>
                              <p:par>
                                <p:cTn id="33" presetID="9" presetClass="entr" presetSubtype="0" fill="hold" grpId="1"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dissolv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dissolve">
                                      <p:cBhvr>
                                        <p:cTn id="40" dur="500"/>
                                        <p:tgtEl>
                                          <p:spTgt spid="25"/>
                                        </p:tgtEl>
                                      </p:cBhvr>
                                    </p:animEffect>
                                  </p:childTnLst>
                                </p:cTn>
                              </p:par>
                            </p:childTnLst>
                          </p:cTn>
                        </p:par>
                        <p:par>
                          <p:cTn id="41" fill="hold">
                            <p:stCondLst>
                              <p:cond delay="500"/>
                            </p:stCondLst>
                            <p:childTnLst>
                              <p:par>
                                <p:cTn id="42" presetID="9" presetClass="entr" presetSubtype="0" fill="hold" nodeType="after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dissolve">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dissolve">
                                      <p:cBhvr>
                                        <p:cTn id="49" dur="500"/>
                                        <p:tgtEl>
                                          <p:spTgt spid="28"/>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dissolve">
                                      <p:cBhvr>
                                        <p:cTn id="53" dur="5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dissolve">
                                      <p:cBhvr>
                                        <p:cTn id="58" dur="500"/>
                                        <p:tgtEl>
                                          <p:spTgt spid="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dissolve">
                                      <p:cBhvr>
                                        <p:cTn id="6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3" grpId="0"/>
      <p:bldP spid="28" grpId="0"/>
      <p:bldP spid="33" grpId="1"/>
      <p:bldP spid="34" grpId="0"/>
      <p:bldP spid="3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A2712-242D-E941-57D8-316EEAE29EB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1DD91FE-799D-885C-06B5-72548829B0AC}"/>
              </a:ext>
            </a:extLst>
          </p:cNvPr>
          <p:cNvSpPr txBox="1"/>
          <p:nvPr/>
        </p:nvSpPr>
        <p:spPr>
          <a:xfrm>
            <a:off x="636105" y="649359"/>
            <a:ext cx="10946296" cy="830997"/>
          </a:xfrm>
          <a:prstGeom prst="rect">
            <a:avLst/>
          </a:prstGeom>
          <a:noFill/>
        </p:spPr>
        <p:txBody>
          <a:bodyPr wrap="square" rtlCol="0">
            <a:spAutoFit/>
          </a:bodyPr>
          <a:lstStyle/>
          <a:p>
            <a:pPr algn="just"/>
            <a:r>
              <a:rPr lang="en-US" sz="2400" dirty="0">
                <a:latin typeface="Times" pitchFamily="2" charset="0"/>
              </a:rPr>
              <a:t>In addition to gravity, we will encounter other </a:t>
            </a:r>
            <a:r>
              <a:rPr lang="en-US" sz="2400" dirty="0">
                <a:solidFill>
                  <a:srgbClr val="007440"/>
                </a:solidFill>
                <a:latin typeface="Times" pitchFamily="2" charset="0"/>
              </a:rPr>
              <a:t>conservative forces </a:t>
            </a:r>
            <a:r>
              <a:rPr lang="en-US" sz="2400" dirty="0">
                <a:latin typeface="Times" pitchFamily="2" charset="0"/>
              </a:rPr>
              <a:t>later, like the </a:t>
            </a:r>
            <a:r>
              <a:rPr lang="en-US" sz="2400" dirty="0">
                <a:solidFill>
                  <a:srgbClr val="2326C0"/>
                </a:solidFill>
                <a:latin typeface="Times" pitchFamily="2" charset="0"/>
              </a:rPr>
              <a:t>elastic restoring force</a:t>
            </a:r>
            <a:r>
              <a:rPr lang="en-US" sz="2400" dirty="0">
                <a:latin typeface="Times" pitchFamily="2" charset="0"/>
              </a:rPr>
              <a:t>, and the </a:t>
            </a:r>
            <a:r>
              <a:rPr lang="en-US" sz="2400" dirty="0">
                <a:solidFill>
                  <a:srgbClr val="2326C0"/>
                </a:solidFill>
                <a:latin typeface="Times" pitchFamily="2" charset="0"/>
              </a:rPr>
              <a:t>electrostatic force</a:t>
            </a:r>
            <a:r>
              <a:rPr lang="en-US" sz="2400" dirty="0">
                <a:latin typeface="Times" pitchFamily="2" charset="0"/>
              </a:rPr>
              <a:t>.  </a:t>
            </a:r>
          </a:p>
        </p:txBody>
      </p:sp>
      <p:sp>
        <p:nvSpPr>
          <p:cNvPr id="2" name="Title 1">
            <a:extLst>
              <a:ext uri="{FF2B5EF4-FFF2-40B4-BE49-F238E27FC236}">
                <a16:creationId xmlns:a16="http://schemas.microsoft.com/office/drawing/2014/main" id="{3E6D9FAE-BC46-D939-FCD5-0C36019CE891}"/>
              </a:ext>
            </a:extLst>
          </p:cNvPr>
          <p:cNvSpPr>
            <a:spLocks noGrp="1"/>
          </p:cNvSpPr>
          <p:nvPr>
            <p:ph type="title"/>
          </p:nvPr>
        </p:nvSpPr>
        <p:spPr>
          <a:xfrm>
            <a:off x="367753" y="115699"/>
            <a:ext cx="10820401" cy="849312"/>
          </a:xfrm>
        </p:spPr>
        <p:txBody>
          <a:bodyPr/>
          <a:lstStyle/>
          <a:p>
            <a:r>
              <a:rPr lang="en-US" b="1" dirty="0">
                <a:ea typeface="Calibri" charset="0"/>
                <a:cs typeface="Calibri" charset="0"/>
              </a:rPr>
              <a:t>6.4</a:t>
            </a:r>
            <a:r>
              <a:rPr lang="en-US" dirty="0">
                <a:ea typeface="Calibri" charset="0"/>
                <a:cs typeface="Calibri" charset="0"/>
              </a:rPr>
              <a:t> Conservative Versus Nonconservative Forces</a:t>
            </a:r>
            <a:endParaRPr lang="en-US" sz="3000" dirty="0"/>
          </a:p>
        </p:txBody>
      </p:sp>
      <p:sp>
        <p:nvSpPr>
          <p:cNvPr id="3" name="TextBox 2">
            <a:extLst>
              <a:ext uri="{FF2B5EF4-FFF2-40B4-BE49-F238E27FC236}">
                <a16:creationId xmlns:a16="http://schemas.microsoft.com/office/drawing/2014/main" id="{97793F2A-A61B-3F53-3204-52654747ADFD}"/>
              </a:ext>
            </a:extLst>
          </p:cNvPr>
          <p:cNvSpPr txBox="1"/>
          <p:nvPr/>
        </p:nvSpPr>
        <p:spPr>
          <a:xfrm>
            <a:off x="616226" y="1437863"/>
            <a:ext cx="10946296" cy="830997"/>
          </a:xfrm>
          <a:prstGeom prst="rect">
            <a:avLst/>
          </a:prstGeom>
          <a:noFill/>
        </p:spPr>
        <p:txBody>
          <a:bodyPr wrap="square" rtlCol="0">
            <a:spAutoFit/>
          </a:bodyPr>
          <a:lstStyle/>
          <a:p>
            <a:pPr algn="just"/>
            <a:r>
              <a:rPr lang="en-US" sz="2400" dirty="0">
                <a:latin typeface="Times" pitchFamily="2" charset="0"/>
              </a:rPr>
              <a:t>And for each conservative force, we will be able to define a </a:t>
            </a:r>
            <a:r>
              <a:rPr lang="en-US" sz="2400" dirty="0">
                <a:solidFill>
                  <a:srgbClr val="007440"/>
                </a:solidFill>
                <a:latin typeface="Times" pitchFamily="2" charset="0"/>
              </a:rPr>
              <a:t>potential energy</a:t>
            </a:r>
            <a:r>
              <a:rPr lang="en-US" sz="2400" dirty="0">
                <a:latin typeface="Times" pitchFamily="2" charset="0"/>
              </a:rPr>
              <a:t>, although it will look different than that from gravitational potential energy (Equation 6.5).</a:t>
            </a:r>
          </a:p>
        </p:txBody>
      </p:sp>
      <p:sp>
        <p:nvSpPr>
          <p:cNvPr id="4" name="TextBox 3">
            <a:extLst>
              <a:ext uri="{FF2B5EF4-FFF2-40B4-BE49-F238E27FC236}">
                <a16:creationId xmlns:a16="http://schemas.microsoft.com/office/drawing/2014/main" id="{58ADB9BC-C41C-EDD1-C397-99A60D27F651}"/>
              </a:ext>
            </a:extLst>
          </p:cNvPr>
          <p:cNvSpPr txBox="1"/>
          <p:nvPr/>
        </p:nvSpPr>
        <p:spPr>
          <a:xfrm>
            <a:off x="622852" y="2266124"/>
            <a:ext cx="7156174" cy="461665"/>
          </a:xfrm>
          <a:prstGeom prst="rect">
            <a:avLst/>
          </a:prstGeom>
          <a:noFill/>
        </p:spPr>
        <p:txBody>
          <a:bodyPr wrap="square" rtlCol="0">
            <a:spAutoFit/>
          </a:bodyPr>
          <a:lstStyle/>
          <a:p>
            <a:pPr algn="just"/>
            <a:r>
              <a:rPr lang="en-US" sz="2400" dirty="0">
                <a:latin typeface="Times" pitchFamily="2" charset="0"/>
              </a:rPr>
              <a:t>However, other forces are </a:t>
            </a:r>
            <a:r>
              <a:rPr lang="en-US" sz="2400" dirty="0">
                <a:solidFill>
                  <a:srgbClr val="007440"/>
                </a:solidFill>
                <a:latin typeface="Times" pitchFamily="2" charset="0"/>
              </a:rPr>
              <a:t>nonconservative</a:t>
            </a:r>
            <a:r>
              <a:rPr lang="en-US" sz="2400" dirty="0">
                <a:latin typeface="Times" pitchFamily="2" charset="0"/>
              </a:rPr>
              <a:t>.</a:t>
            </a:r>
          </a:p>
        </p:txBody>
      </p:sp>
      <p:grpSp>
        <p:nvGrpSpPr>
          <p:cNvPr id="15" name="Group 14">
            <a:extLst>
              <a:ext uri="{FF2B5EF4-FFF2-40B4-BE49-F238E27FC236}">
                <a16:creationId xmlns:a16="http://schemas.microsoft.com/office/drawing/2014/main" id="{9CB391A6-CED5-C6B3-A67A-C9AD07E691A7}"/>
              </a:ext>
            </a:extLst>
          </p:cNvPr>
          <p:cNvGrpSpPr/>
          <p:nvPr/>
        </p:nvGrpSpPr>
        <p:grpSpPr>
          <a:xfrm>
            <a:off x="602973" y="2776333"/>
            <a:ext cx="5877340" cy="907771"/>
            <a:chOff x="602973" y="2776333"/>
            <a:chExt cx="5877340" cy="907771"/>
          </a:xfrm>
        </p:grpSpPr>
        <p:sp>
          <p:nvSpPr>
            <p:cNvPr id="6" name="TextBox 5">
              <a:extLst>
                <a:ext uri="{FF2B5EF4-FFF2-40B4-BE49-F238E27FC236}">
                  <a16:creationId xmlns:a16="http://schemas.microsoft.com/office/drawing/2014/main" id="{068B930E-F8AB-3093-F087-C953F36B37FD}"/>
                </a:ext>
              </a:extLst>
            </p:cNvPr>
            <p:cNvSpPr txBox="1"/>
            <p:nvPr/>
          </p:nvSpPr>
          <p:spPr>
            <a:xfrm>
              <a:off x="602973" y="2776333"/>
              <a:ext cx="5877340" cy="461665"/>
            </a:xfrm>
            <a:prstGeom prst="rect">
              <a:avLst/>
            </a:prstGeom>
            <a:noFill/>
          </p:spPr>
          <p:txBody>
            <a:bodyPr wrap="square" rtlCol="0">
              <a:spAutoFit/>
            </a:bodyPr>
            <a:lstStyle/>
            <a:p>
              <a:pPr algn="just"/>
              <a:r>
                <a:rPr lang="en-US" sz="2400" dirty="0">
                  <a:latin typeface="Times" pitchFamily="2" charset="0"/>
                </a:rPr>
                <a:t>The work done by nonconservative forces </a:t>
              </a:r>
            </a:p>
          </p:txBody>
        </p:sp>
        <p:sp>
          <p:nvSpPr>
            <p:cNvPr id="8" name="Rounded Rectangle 7">
              <a:extLst>
                <a:ext uri="{FF2B5EF4-FFF2-40B4-BE49-F238E27FC236}">
                  <a16:creationId xmlns:a16="http://schemas.microsoft.com/office/drawing/2014/main" id="{046657FD-E1E3-63B2-3554-EEA697490399}"/>
                </a:ext>
              </a:extLst>
            </p:cNvPr>
            <p:cNvSpPr/>
            <p:nvPr/>
          </p:nvSpPr>
          <p:spPr>
            <a:xfrm>
              <a:off x="675861" y="3193774"/>
              <a:ext cx="4797287" cy="490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5E7C85E8-28F4-4036-C514-C834154D0704}"/>
              </a:ext>
            </a:extLst>
          </p:cNvPr>
          <p:cNvSpPr txBox="1"/>
          <p:nvPr/>
        </p:nvSpPr>
        <p:spPr>
          <a:xfrm>
            <a:off x="649357" y="3246782"/>
            <a:ext cx="4956313"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does depend on the path taken.</a:t>
            </a:r>
          </a:p>
        </p:txBody>
      </p:sp>
      <p:sp>
        <p:nvSpPr>
          <p:cNvPr id="16" name="TextBox 15">
            <a:extLst>
              <a:ext uri="{FF2B5EF4-FFF2-40B4-BE49-F238E27FC236}">
                <a16:creationId xmlns:a16="http://schemas.microsoft.com/office/drawing/2014/main" id="{89980650-A536-24CC-9CFD-E02BB8427BA7}"/>
              </a:ext>
            </a:extLst>
          </p:cNvPr>
          <p:cNvSpPr txBox="1"/>
          <p:nvPr/>
        </p:nvSpPr>
        <p:spPr>
          <a:xfrm>
            <a:off x="616226" y="3863012"/>
            <a:ext cx="5280991" cy="830997"/>
          </a:xfrm>
          <a:prstGeom prst="rect">
            <a:avLst/>
          </a:prstGeom>
          <a:noFill/>
        </p:spPr>
        <p:txBody>
          <a:bodyPr wrap="square" rtlCol="0">
            <a:spAutoFit/>
          </a:bodyPr>
          <a:lstStyle/>
          <a:p>
            <a:pPr algn="just"/>
            <a:r>
              <a:rPr lang="en-US" sz="2400" dirty="0">
                <a:latin typeface="Times" pitchFamily="2" charset="0"/>
              </a:rPr>
              <a:t>Kinetic friction is one example of a nonconservative force. </a:t>
            </a:r>
          </a:p>
        </p:txBody>
      </p:sp>
      <p:pic>
        <p:nvPicPr>
          <p:cNvPr id="18" name="Picture 17">
            <a:extLst>
              <a:ext uri="{FF2B5EF4-FFF2-40B4-BE49-F238E27FC236}">
                <a16:creationId xmlns:a16="http://schemas.microsoft.com/office/drawing/2014/main" id="{B4BAB663-3E40-9BB6-40FF-FBEA90014645}"/>
              </a:ext>
            </a:extLst>
          </p:cNvPr>
          <p:cNvPicPr>
            <a:picLocks noChangeAspect="1"/>
          </p:cNvPicPr>
          <p:nvPr/>
        </p:nvPicPr>
        <p:blipFill>
          <a:blip r:embed="rId3"/>
          <a:stretch>
            <a:fillRect/>
          </a:stretch>
        </p:blipFill>
        <p:spPr>
          <a:xfrm>
            <a:off x="6952077" y="2239618"/>
            <a:ext cx="5239923" cy="4193433"/>
          </a:xfrm>
          <a:prstGeom prst="rect">
            <a:avLst/>
          </a:prstGeom>
        </p:spPr>
      </p:pic>
      <p:sp>
        <p:nvSpPr>
          <p:cNvPr id="19" name="TextBox 18">
            <a:extLst>
              <a:ext uri="{FF2B5EF4-FFF2-40B4-BE49-F238E27FC236}">
                <a16:creationId xmlns:a16="http://schemas.microsoft.com/office/drawing/2014/main" id="{A7C2D445-A96E-5107-1152-3394EC912412}"/>
              </a:ext>
            </a:extLst>
          </p:cNvPr>
          <p:cNvSpPr txBox="1"/>
          <p:nvPr/>
        </p:nvSpPr>
        <p:spPr>
          <a:xfrm>
            <a:off x="622852" y="4876803"/>
            <a:ext cx="5234609" cy="1200329"/>
          </a:xfrm>
          <a:prstGeom prst="rect">
            <a:avLst/>
          </a:prstGeom>
          <a:noFill/>
        </p:spPr>
        <p:txBody>
          <a:bodyPr wrap="square" rtlCol="0">
            <a:spAutoFit/>
          </a:bodyPr>
          <a:lstStyle/>
          <a:p>
            <a:pPr algn="just"/>
            <a:r>
              <a:rPr lang="en-US" sz="2400" dirty="0">
                <a:latin typeface="Times" pitchFamily="2" charset="0"/>
              </a:rPr>
              <a:t>When sliding a block between points A and B, longer paths will result in greater work being done by kinetic friction!</a:t>
            </a:r>
          </a:p>
        </p:txBody>
      </p:sp>
    </p:spTree>
    <p:extLst>
      <p:ext uri="{BB962C8B-B14F-4D97-AF65-F5344CB8AC3E}">
        <p14:creationId xmlns:p14="http://schemas.microsoft.com/office/powerpoint/2010/main" val="22928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dissolv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dissolve">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P spid="14" grpId="0"/>
      <p:bldP spid="16"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E1E1D-96E5-83A8-DE71-A3BF584F9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30C4A-9321-0DC1-6D81-53E9F1FB2193}"/>
              </a:ext>
            </a:extLst>
          </p:cNvPr>
          <p:cNvSpPr>
            <a:spLocks noGrp="1"/>
          </p:cNvSpPr>
          <p:nvPr>
            <p:ph type="title"/>
          </p:nvPr>
        </p:nvSpPr>
        <p:spPr>
          <a:xfrm>
            <a:off x="367753" y="115699"/>
            <a:ext cx="10820401" cy="849312"/>
          </a:xfrm>
        </p:spPr>
        <p:txBody>
          <a:bodyPr/>
          <a:lstStyle/>
          <a:p>
            <a:r>
              <a:rPr lang="en-US" b="1" dirty="0">
                <a:ea typeface="Calibri" charset="0"/>
                <a:cs typeface="Calibri" charset="0"/>
              </a:rPr>
              <a:t>6.4</a:t>
            </a:r>
            <a:r>
              <a:rPr lang="en-US" dirty="0">
                <a:ea typeface="Calibri" charset="0"/>
                <a:cs typeface="Calibri" charset="0"/>
              </a:rPr>
              <a:t> Conservative Versus Nonconservative Forces</a:t>
            </a:r>
            <a:endParaRPr lang="en-US" sz="3000" dirty="0"/>
          </a:p>
        </p:txBody>
      </p:sp>
      <p:grpSp>
        <p:nvGrpSpPr>
          <p:cNvPr id="10" name="Group 9">
            <a:extLst>
              <a:ext uri="{FF2B5EF4-FFF2-40B4-BE49-F238E27FC236}">
                <a16:creationId xmlns:a16="http://schemas.microsoft.com/office/drawing/2014/main" id="{E4D30A02-6E86-CADB-6A67-90EED35F477D}"/>
              </a:ext>
            </a:extLst>
          </p:cNvPr>
          <p:cNvGrpSpPr/>
          <p:nvPr/>
        </p:nvGrpSpPr>
        <p:grpSpPr>
          <a:xfrm>
            <a:off x="702366" y="662611"/>
            <a:ext cx="11290851" cy="848137"/>
            <a:chOff x="675861" y="689115"/>
            <a:chExt cx="11290851" cy="848137"/>
          </a:xfrm>
        </p:grpSpPr>
        <p:sp>
          <p:nvSpPr>
            <p:cNvPr id="7" name="TextBox 6">
              <a:extLst>
                <a:ext uri="{FF2B5EF4-FFF2-40B4-BE49-F238E27FC236}">
                  <a16:creationId xmlns:a16="http://schemas.microsoft.com/office/drawing/2014/main" id="{D99E98EA-00B5-0E4D-417D-77DAB5DA0998}"/>
                </a:ext>
              </a:extLst>
            </p:cNvPr>
            <p:cNvSpPr txBox="1"/>
            <p:nvPr/>
          </p:nvSpPr>
          <p:spPr>
            <a:xfrm>
              <a:off x="675861" y="689115"/>
              <a:ext cx="10946296" cy="461665"/>
            </a:xfrm>
            <a:prstGeom prst="rect">
              <a:avLst/>
            </a:prstGeom>
            <a:noFill/>
          </p:spPr>
          <p:txBody>
            <a:bodyPr wrap="square" rtlCol="0">
              <a:spAutoFit/>
            </a:bodyPr>
            <a:lstStyle/>
            <a:p>
              <a:pPr algn="just"/>
              <a:r>
                <a:rPr lang="en-US" sz="2400" dirty="0">
                  <a:latin typeface="Times" pitchFamily="2" charset="0"/>
                </a:rPr>
                <a:t>Other </a:t>
              </a:r>
              <a:r>
                <a:rPr lang="en-US" sz="2400" dirty="0">
                  <a:solidFill>
                    <a:srgbClr val="007440"/>
                  </a:solidFill>
                  <a:latin typeface="Times" pitchFamily="2" charset="0"/>
                </a:rPr>
                <a:t>nonconservative forces </a:t>
              </a:r>
              <a:r>
                <a:rPr lang="en-US" sz="2400" dirty="0">
                  <a:latin typeface="Times" pitchFamily="2" charset="0"/>
                </a:rPr>
                <a:t>include:</a:t>
              </a:r>
            </a:p>
          </p:txBody>
        </p:sp>
        <p:sp>
          <p:nvSpPr>
            <p:cNvPr id="9" name="Rounded Rectangle 8">
              <a:extLst>
                <a:ext uri="{FF2B5EF4-FFF2-40B4-BE49-F238E27FC236}">
                  <a16:creationId xmlns:a16="http://schemas.microsoft.com/office/drawing/2014/main" id="{992CFE53-DD87-E2D5-B636-43B6F9875663}"/>
                </a:ext>
              </a:extLst>
            </p:cNvPr>
            <p:cNvSpPr/>
            <p:nvPr/>
          </p:nvSpPr>
          <p:spPr>
            <a:xfrm>
              <a:off x="2040834" y="1113183"/>
              <a:ext cx="9925878"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99C5889A-074D-91D5-79CA-3EC79FB2C913}"/>
              </a:ext>
            </a:extLst>
          </p:cNvPr>
          <p:cNvSpPr txBox="1"/>
          <p:nvPr/>
        </p:nvSpPr>
        <p:spPr>
          <a:xfrm>
            <a:off x="2054087" y="1126436"/>
            <a:ext cx="10137913"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static friction, air resistance, tension, normal force, rocket thrust.</a:t>
            </a:r>
          </a:p>
        </p:txBody>
      </p:sp>
      <p:grpSp>
        <p:nvGrpSpPr>
          <p:cNvPr id="20" name="Group 19">
            <a:extLst>
              <a:ext uri="{FF2B5EF4-FFF2-40B4-BE49-F238E27FC236}">
                <a16:creationId xmlns:a16="http://schemas.microsoft.com/office/drawing/2014/main" id="{27C7DE5D-D14A-5CA4-102B-477CCAB9392B}"/>
              </a:ext>
            </a:extLst>
          </p:cNvPr>
          <p:cNvGrpSpPr/>
          <p:nvPr/>
        </p:nvGrpSpPr>
        <p:grpSpPr>
          <a:xfrm>
            <a:off x="728870" y="2544424"/>
            <a:ext cx="10946296" cy="1073424"/>
            <a:chOff x="728870" y="2796212"/>
            <a:chExt cx="10946296" cy="1073424"/>
          </a:xfrm>
        </p:grpSpPr>
        <p:sp>
          <p:nvSpPr>
            <p:cNvPr id="12" name="TextBox 11">
              <a:extLst>
                <a:ext uri="{FF2B5EF4-FFF2-40B4-BE49-F238E27FC236}">
                  <a16:creationId xmlns:a16="http://schemas.microsoft.com/office/drawing/2014/main" id="{01A8D6AE-130F-3DD6-D7F5-B3060B0CBE85}"/>
                </a:ext>
              </a:extLst>
            </p:cNvPr>
            <p:cNvSpPr txBox="1"/>
            <p:nvPr/>
          </p:nvSpPr>
          <p:spPr>
            <a:xfrm>
              <a:off x="728870" y="2796212"/>
              <a:ext cx="10946296" cy="461665"/>
            </a:xfrm>
            <a:prstGeom prst="rect">
              <a:avLst/>
            </a:prstGeom>
            <a:noFill/>
          </p:spPr>
          <p:txBody>
            <a:bodyPr wrap="square" rtlCol="0">
              <a:spAutoFit/>
            </a:bodyPr>
            <a:lstStyle/>
            <a:p>
              <a:pPr algn="just"/>
              <a:r>
                <a:rPr lang="en-US" sz="2400" dirty="0">
                  <a:latin typeface="Times" pitchFamily="2" charset="0"/>
                </a:rPr>
                <a:t>Therefore, we write the work done by the net external forces acting on an object as:</a:t>
              </a:r>
            </a:p>
          </p:txBody>
        </p:sp>
        <p:sp>
          <p:nvSpPr>
            <p:cNvPr id="17" name="Rounded Rectangle 16">
              <a:extLst>
                <a:ext uri="{FF2B5EF4-FFF2-40B4-BE49-F238E27FC236}">
                  <a16:creationId xmlns:a16="http://schemas.microsoft.com/office/drawing/2014/main" id="{80A05397-A71C-C1B1-B347-302DE9DFC44A}"/>
                </a:ext>
              </a:extLst>
            </p:cNvPr>
            <p:cNvSpPr/>
            <p:nvPr/>
          </p:nvSpPr>
          <p:spPr>
            <a:xfrm>
              <a:off x="4757531" y="3379306"/>
              <a:ext cx="2054087" cy="490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784FEBD5-D8A1-8047-5DB1-BFC2BFAF72A3}"/>
              </a:ext>
            </a:extLst>
          </p:cNvPr>
          <p:cNvSpPr txBox="1"/>
          <p:nvPr/>
        </p:nvSpPr>
        <p:spPr>
          <a:xfrm>
            <a:off x="4777409" y="3147396"/>
            <a:ext cx="2325756" cy="461665"/>
          </a:xfrm>
          <a:prstGeom prst="rect">
            <a:avLst/>
          </a:prstGeom>
          <a:noFill/>
        </p:spPr>
        <p:txBody>
          <a:bodyPr wrap="square" rtlCol="0">
            <a:spAutoFit/>
          </a:bodyPr>
          <a:lstStyle/>
          <a:p>
            <a:pPr algn="just"/>
            <a:r>
              <a:rPr lang="en-US" sz="2400" i="1" dirty="0">
                <a:latin typeface="Times" pitchFamily="2" charset="0"/>
              </a:rPr>
              <a:t>W</a:t>
            </a:r>
            <a:r>
              <a:rPr lang="en-US" sz="2400" dirty="0">
                <a:latin typeface="Times" pitchFamily="2" charset="0"/>
              </a:rPr>
              <a:t> = </a:t>
            </a:r>
            <a:r>
              <a:rPr lang="en-US" sz="2400" i="1" dirty="0">
                <a:latin typeface="Times" pitchFamily="2" charset="0"/>
              </a:rPr>
              <a:t>W</a:t>
            </a:r>
            <a:r>
              <a:rPr lang="en-US" sz="2400" baseline="-25000" dirty="0">
                <a:latin typeface="Times" pitchFamily="2" charset="0"/>
              </a:rPr>
              <a:t>C</a:t>
            </a:r>
            <a:r>
              <a:rPr lang="en-US" sz="2400" dirty="0">
                <a:latin typeface="Times" pitchFamily="2" charset="0"/>
              </a:rPr>
              <a:t> + </a:t>
            </a:r>
            <a:r>
              <a:rPr lang="en-US" sz="2400" i="1" dirty="0">
                <a:latin typeface="Times" pitchFamily="2" charset="0"/>
              </a:rPr>
              <a:t>W</a:t>
            </a:r>
            <a:r>
              <a:rPr lang="en-US" sz="2400" baseline="-25000" dirty="0">
                <a:latin typeface="Times" pitchFamily="2" charset="0"/>
              </a:rPr>
              <a:t>NC</a:t>
            </a:r>
          </a:p>
        </p:txBody>
      </p:sp>
      <p:grpSp>
        <p:nvGrpSpPr>
          <p:cNvPr id="30" name="Group 29">
            <a:extLst>
              <a:ext uri="{FF2B5EF4-FFF2-40B4-BE49-F238E27FC236}">
                <a16:creationId xmlns:a16="http://schemas.microsoft.com/office/drawing/2014/main" id="{0631E3A9-4D2C-EFDE-60C7-54286CE03C4A}"/>
              </a:ext>
            </a:extLst>
          </p:cNvPr>
          <p:cNvGrpSpPr/>
          <p:nvPr/>
        </p:nvGrpSpPr>
        <p:grpSpPr>
          <a:xfrm>
            <a:off x="2610679" y="3459661"/>
            <a:ext cx="6420679" cy="980787"/>
            <a:chOff x="2610679" y="3724701"/>
            <a:chExt cx="6420679" cy="980787"/>
          </a:xfrm>
        </p:grpSpPr>
        <p:sp>
          <p:nvSpPr>
            <p:cNvPr id="21" name="TextBox 20">
              <a:extLst>
                <a:ext uri="{FF2B5EF4-FFF2-40B4-BE49-F238E27FC236}">
                  <a16:creationId xmlns:a16="http://schemas.microsoft.com/office/drawing/2014/main" id="{68E7439B-09F4-CD54-C364-ACBE8493C34B}"/>
                </a:ext>
              </a:extLst>
            </p:cNvPr>
            <p:cNvSpPr txBox="1"/>
            <p:nvPr/>
          </p:nvSpPr>
          <p:spPr>
            <a:xfrm>
              <a:off x="2610679" y="4028661"/>
              <a:ext cx="2319130" cy="584775"/>
            </a:xfrm>
            <a:prstGeom prst="rect">
              <a:avLst/>
            </a:prstGeom>
            <a:noFill/>
          </p:spPr>
          <p:txBody>
            <a:bodyPr wrap="square" rtlCol="0">
              <a:spAutoFit/>
            </a:bodyPr>
            <a:lstStyle/>
            <a:p>
              <a:r>
                <a:rPr lang="en-US" sz="1600" dirty="0">
                  <a:solidFill>
                    <a:srgbClr val="007440"/>
                  </a:solidFill>
                  <a:latin typeface="Times" pitchFamily="2" charset="0"/>
                </a:rPr>
                <a:t>Work done by net external force</a:t>
              </a:r>
            </a:p>
          </p:txBody>
        </p:sp>
        <p:cxnSp>
          <p:nvCxnSpPr>
            <p:cNvPr id="23" name="Straight Arrow Connector 22">
              <a:extLst>
                <a:ext uri="{FF2B5EF4-FFF2-40B4-BE49-F238E27FC236}">
                  <a16:creationId xmlns:a16="http://schemas.microsoft.com/office/drawing/2014/main" id="{CEAD31A4-13EE-D7F0-0FFF-D0CCA4CEBE59}"/>
                </a:ext>
              </a:extLst>
            </p:cNvPr>
            <p:cNvCxnSpPr>
              <a:cxnSpLocks/>
            </p:cNvCxnSpPr>
            <p:nvPr/>
          </p:nvCxnSpPr>
          <p:spPr>
            <a:xfrm flipV="1">
              <a:off x="4214192" y="3724701"/>
              <a:ext cx="662608" cy="489490"/>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36B2CA3-FE2D-C54D-9236-48137FB6BA1D}"/>
                </a:ext>
              </a:extLst>
            </p:cNvPr>
            <p:cNvSpPr txBox="1"/>
            <p:nvPr/>
          </p:nvSpPr>
          <p:spPr>
            <a:xfrm>
              <a:off x="4633267" y="4120713"/>
              <a:ext cx="2319130" cy="584775"/>
            </a:xfrm>
            <a:prstGeom prst="rect">
              <a:avLst/>
            </a:prstGeom>
            <a:noFill/>
          </p:spPr>
          <p:txBody>
            <a:bodyPr wrap="square" rtlCol="0">
              <a:spAutoFit/>
            </a:bodyPr>
            <a:lstStyle/>
            <a:p>
              <a:r>
                <a:rPr lang="en-US" sz="1600" dirty="0">
                  <a:solidFill>
                    <a:srgbClr val="007440"/>
                  </a:solidFill>
                  <a:latin typeface="Times" pitchFamily="2" charset="0"/>
                </a:rPr>
                <a:t>Work done by</a:t>
              </a:r>
            </a:p>
            <a:p>
              <a:r>
                <a:rPr lang="en-US" sz="1600" dirty="0">
                  <a:solidFill>
                    <a:srgbClr val="007440"/>
                  </a:solidFill>
                  <a:latin typeface="Times" pitchFamily="2" charset="0"/>
                </a:rPr>
                <a:t>conservative forces</a:t>
              </a:r>
            </a:p>
          </p:txBody>
        </p:sp>
        <p:cxnSp>
          <p:nvCxnSpPr>
            <p:cNvPr id="25" name="Straight Arrow Connector 24">
              <a:extLst>
                <a:ext uri="{FF2B5EF4-FFF2-40B4-BE49-F238E27FC236}">
                  <a16:creationId xmlns:a16="http://schemas.microsoft.com/office/drawing/2014/main" id="{478415E4-F786-AEF7-5782-F44802F4E711}"/>
                </a:ext>
              </a:extLst>
            </p:cNvPr>
            <p:cNvCxnSpPr>
              <a:cxnSpLocks/>
            </p:cNvCxnSpPr>
            <p:nvPr/>
          </p:nvCxnSpPr>
          <p:spPr>
            <a:xfrm flipV="1">
              <a:off x="5430129" y="3829878"/>
              <a:ext cx="162288" cy="338947"/>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4E90B02-EDA9-9312-98ED-C17FE8BBFF10}"/>
                </a:ext>
              </a:extLst>
            </p:cNvPr>
            <p:cNvSpPr txBox="1"/>
            <p:nvPr/>
          </p:nvSpPr>
          <p:spPr>
            <a:xfrm>
              <a:off x="6712228" y="4022036"/>
              <a:ext cx="2319130" cy="584775"/>
            </a:xfrm>
            <a:prstGeom prst="rect">
              <a:avLst/>
            </a:prstGeom>
            <a:noFill/>
          </p:spPr>
          <p:txBody>
            <a:bodyPr wrap="square" rtlCol="0">
              <a:spAutoFit/>
            </a:bodyPr>
            <a:lstStyle/>
            <a:p>
              <a:r>
                <a:rPr lang="en-US" sz="1600" dirty="0">
                  <a:solidFill>
                    <a:srgbClr val="007440"/>
                  </a:solidFill>
                  <a:latin typeface="Times" pitchFamily="2" charset="0"/>
                </a:rPr>
                <a:t>Work done by</a:t>
              </a:r>
            </a:p>
            <a:p>
              <a:r>
                <a:rPr lang="en-US" sz="1600" dirty="0">
                  <a:solidFill>
                    <a:srgbClr val="007440"/>
                  </a:solidFill>
                  <a:latin typeface="Times" pitchFamily="2" charset="0"/>
                </a:rPr>
                <a:t>nonconservative forces</a:t>
              </a:r>
            </a:p>
          </p:txBody>
        </p:sp>
        <p:cxnSp>
          <p:nvCxnSpPr>
            <p:cNvPr id="28" name="Straight Arrow Connector 27">
              <a:extLst>
                <a:ext uri="{FF2B5EF4-FFF2-40B4-BE49-F238E27FC236}">
                  <a16:creationId xmlns:a16="http://schemas.microsoft.com/office/drawing/2014/main" id="{431638D1-E1BA-EFBB-3B5A-A4216531323E}"/>
                </a:ext>
              </a:extLst>
            </p:cNvPr>
            <p:cNvCxnSpPr>
              <a:cxnSpLocks/>
            </p:cNvCxnSpPr>
            <p:nvPr/>
          </p:nvCxnSpPr>
          <p:spPr>
            <a:xfrm flipH="1" flipV="1">
              <a:off x="6606209" y="3824092"/>
              <a:ext cx="602974" cy="231073"/>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56200D5-6F44-8B74-CFFA-8A7AC3EA7E7B}"/>
              </a:ext>
            </a:extLst>
          </p:cNvPr>
          <p:cNvGrpSpPr/>
          <p:nvPr/>
        </p:nvGrpSpPr>
        <p:grpSpPr>
          <a:xfrm>
            <a:off x="748748" y="4280456"/>
            <a:ext cx="10946296" cy="827577"/>
            <a:chOff x="735496" y="4664765"/>
            <a:chExt cx="10946296" cy="827577"/>
          </a:xfrm>
        </p:grpSpPr>
        <p:sp>
          <p:nvSpPr>
            <p:cNvPr id="31" name="TextBox 30">
              <a:extLst>
                <a:ext uri="{FF2B5EF4-FFF2-40B4-BE49-F238E27FC236}">
                  <a16:creationId xmlns:a16="http://schemas.microsoft.com/office/drawing/2014/main" id="{64263141-23C2-F342-6F30-90B2DE7F4F95}"/>
                </a:ext>
              </a:extLst>
            </p:cNvPr>
            <p:cNvSpPr txBox="1"/>
            <p:nvPr/>
          </p:nvSpPr>
          <p:spPr>
            <a:xfrm>
              <a:off x="735496" y="4976194"/>
              <a:ext cx="10946296" cy="461665"/>
            </a:xfrm>
            <a:prstGeom prst="rect">
              <a:avLst/>
            </a:prstGeom>
            <a:noFill/>
          </p:spPr>
          <p:txBody>
            <a:bodyPr wrap="square" rtlCol="0">
              <a:spAutoFit/>
            </a:bodyPr>
            <a:lstStyle/>
            <a:p>
              <a:pPr algn="just"/>
              <a:r>
                <a:rPr lang="en-US" sz="2400" dirty="0">
                  <a:latin typeface="Times" pitchFamily="2" charset="0"/>
                </a:rPr>
                <a:t>However, the work-energy theorem (Equation 6.1) tells us that:  </a:t>
              </a:r>
              <a:r>
                <a:rPr lang="en-US" sz="2400" i="1" dirty="0">
                  <a:latin typeface="Times" pitchFamily="2" charset="0"/>
                </a:rPr>
                <a:t>W</a:t>
              </a:r>
              <a:r>
                <a:rPr lang="en-US" sz="2400" dirty="0">
                  <a:latin typeface="Times" pitchFamily="2" charset="0"/>
                </a:rPr>
                <a:t> =                        .</a:t>
              </a:r>
            </a:p>
          </p:txBody>
        </p:sp>
        <p:pic>
          <p:nvPicPr>
            <p:cNvPr id="32" name="Picture 31">
              <a:extLst>
                <a:ext uri="{FF2B5EF4-FFF2-40B4-BE49-F238E27FC236}">
                  <a16:creationId xmlns:a16="http://schemas.microsoft.com/office/drawing/2014/main" id="{E55AC4D4-D14D-20E4-4A6D-972E32FAB16D}"/>
                </a:ext>
              </a:extLst>
            </p:cNvPr>
            <p:cNvPicPr>
              <a:picLocks noChangeAspect="1"/>
            </p:cNvPicPr>
            <p:nvPr/>
          </p:nvPicPr>
          <p:blipFill>
            <a:blip r:embed="rId3"/>
            <a:srcRect l="62247" t="-39291"/>
            <a:stretch/>
          </p:blipFill>
          <p:spPr>
            <a:xfrm>
              <a:off x="9223511" y="4664765"/>
              <a:ext cx="1792356" cy="827577"/>
            </a:xfrm>
            <a:prstGeom prst="rect">
              <a:avLst/>
            </a:prstGeom>
          </p:spPr>
        </p:pic>
      </p:grpSp>
      <p:sp>
        <p:nvSpPr>
          <p:cNvPr id="34" name="TextBox 33">
            <a:extLst>
              <a:ext uri="{FF2B5EF4-FFF2-40B4-BE49-F238E27FC236}">
                <a16:creationId xmlns:a16="http://schemas.microsoft.com/office/drawing/2014/main" id="{DD448886-E2B3-0757-712B-9D4FF5627AF3}"/>
              </a:ext>
            </a:extLst>
          </p:cNvPr>
          <p:cNvSpPr txBox="1"/>
          <p:nvPr/>
        </p:nvSpPr>
        <p:spPr>
          <a:xfrm>
            <a:off x="768627" y="5141847"/>
            <a:ext cx="5128591" cy="830997"/>
          </a:xfrm>
          <a:prstGeom prst="rect">
            <a:avLst/>
          </a:prstGeom>
          <a:noFill/>
        </p:spPr>
        <p:txBody>
          <a:bodyPr wrap="square" rtlCol="0">
            <a:spAutoFit/>
          </a:bodyPr>
          <a:lstStyle/>
          <a:p>
            <a:pPr algn="just"/>
            <a:r>
              <a:rPr lang="en-US" sz="2400" dirty="0">
                <a:latin typeface="Times" pitchFamily="2" charset="0"/>
              </a:rPr>
              <a:t>And, to this point, we will assume that </a:t>
            </a:r>
            <a:r>
              <a:rPr lang="en-US" sz="2400" i="1" dirty="0">
                <a:latin typeface="Times" pitchFamily="2" charset="0"/>
              </a:rPr>
              <a:t>W</a:t>
            </a:r>
            <a:r>
              <a:rPr lang="en-US" sz="2400" baseline="-25000" dirty="0">
                <a:latin typeface="Times" pitchFamily="2" charset="0"/>
              </a:rPr>
              <a:t>C</a:t>
            </a:r>
            <a:r>
              <a:rPr lang="en-US" sz="2400" dirty="0">
                <a:latin typeface="Times" pitchFamily="2" charset="0"/>
              </a:rPr>
              <a:t> is solely due to gravity, such that:</a:t>
            </a:r>
          </a:p>
        </p:txBody>
      </p:sp>
      <p:sp>
        <p:nvSpPr>
          <p:cNvPr id="35" name="TextBox 34">
            <a:extLst>
              <a:ext uri="{FF2B5EF4-FFF2-40B4-BE49-F238E27FC236}">
                <a16:creationId xmlns:a16="http://schemas.microsoft.com/office/drawing/2014/main" id="{802A1011-B301-9F3C-8D78-FDDB77AC3592}"/>
              </a:ext>
            </a:extLst>
          </p:cNvPr>
          <p:cNvSpPr txBox="1"/>
          <p:nvPr/>
        </p:nvSpPr>
        <p:spPr>
          <a:xfrm>
            <a:off x="6260299" y="5364671"/>
            <a:ext cx="5560639"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C</a:t>
            </a:r>
            <a:r>
              <a:rPr lang="en-US" sz="2400" dirty="0">
                <a:latin typeface="Times" pitchFamily="2" charset="0"/>
              </a:rPr>
              <a:t> =</a:t>
            </a:r>
            <a:r>
              <a:rPr lang="en-US" sz="2400" i="1" dirty="0">
                <a:latin typeface="Times" pitchFamily="2" charset="0"/>
              </a:rPr>
              <a:t> </a:t>
            </a:r>
            <a:r>
              <a:rPr lang="en-US" sz="2400" i="1" dirty="0" err="1">
                <a:latin typeface="Times" pitchFamily="2" charset="0"/>
              </a:rPr>
              <a:t>W</a:t>
            </a:r>
            <a:r>
              <a:rPr lang="en-US" sz="2400" baseline="-25000" dirty="0" err="1">
                <a:latin typeface="Times" pitchFamily="2" charset="0"/>
              </a:rPr>
              <a:t>Gravity</a:t>
            </a:r>
            <a:r>
              <a:rPr lang="en-US" sz="2400" dirty="0">
                <a:latin typeface="Times" pitchFamily="2" charset="0"/>
              </a:rPr>
              <a:t> = </a:t>
            </a:r>
            <a:r>
              <a:rPr lang="en-US" sz="2400" i="1" dirty="0">
                <a:latin typeface="Times" pitchFamily="2" charset="0"/>
              </a:rPr>
              <a:t>mg</a:t>
            </a:r>
            <a:r>
              <a:rPr lang="en-US" sz="2400" dirty="0">
                <a:latin typeface="Times" pitchFamily="2" charset="0"/>
              </a:rPr>
              <a:t>(</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 – </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 = </a:t>
            </a:r>
            <a:r>
              <a:rPr lang="en-US" sz="2400" i="1" dirty="0">
                <a:latin typeface="Times" pitchFamily="2" charset="0"/>
              </a:rPr>
              <a:t>mgh</a:t>
            </a:r>
            <a:r>
              <a:rPr lang="en-US" sz="2400" baseline="-25000" dirty="0">
                <a:latin typeface="Times" pitchFamily="2" charset="0"/>
              </a:rPr>
              <a:t>0</a:t>
            </a:r>
            <a:r>
              <a:rPr lang="en-US" sz="2400" dirty="0">
                <a:latin typeface="Times" pitchFamily="2" charset="0"/>
              </a:rPr>
              <a:t> – </a:t>
            </a:r>
            <a:r>
              <a:rPr lang="en-US" sz="2400" i="1" dirty="0" err="1">
                <a:latin typeface="Times" pitchFamily="2" charset="0"/>
              </a:rPr>
              <a:t>mgh</a:t>
            </a:r>
            <a:r>
              <a:rPr lang="en-US" sz="2400" baseline="-25000" dirty="0" err="1">
                <a:latin typeface="Times" pitchFamily="2" charset="0"/>
              </a:rPr>
              <a:t>f</a:t>
            </a:r>
            <a:endParaRPr lang="en-US" sz="2400" baseline="-25000" dirty="0">
              <a:latin typeface="Times" pitchFamily="2" charset="0"/>
            </a:endParaRPr>
          </a:p>
        </p:txBody>
      </p:sp>
      <p:grpSp>
        <p:nvGrpSpPr>
          <p:cNvPr id="37" name="Group 36">
            <a:extLst>
              <a:ext uri="{FF2B5EF4-FFF2-40B4-BE49-F238E27FC236}">
                <a16:creationId xmlns:a16="http://schemas.microsoft.com/office/drawing/2014/main" id="{64191D56-6C99-333C-1F0E-72BB747A9660}"/>
              </a:ext>
            </a:extLst>
          </p:cNvPr>
          <p:cNvGrpSpPr/>
          <p:nvPr/>
        </p:nvGrpSpPr>
        <p:grpSpPr>
          <a:xfrm>
            <a:off x="662608" y="1663154"/>
            <a:ext cx="10986052" cy="830997"/>
            <a:chOff x="662608" y="1663154"/>
            <a:chExt cx="10986052" cy="830997"/>
          </a:xfrm>
        </p:grpSpPr>
        <p:sp>
          <p:nvSpPr>
            <p:cNvPr id="11" name="TextBox 10">
              <a:extLst>
                <a:ext uri="{FF2B5EF4-FFF2-40B4-BE49-F238E27FC236}">
                  <a16:creationId xmlns:a16="http://schemas.microsoft.com/office/drawing/2014/main" id="{0AA7531F-1AD5-BE80-197A-CB85F5A40EEE}"/>
                </a:ext>
              </a:extLst>
            </p:cNvPr>
            <p:cNvSpPr txBox="1"/>
            <p:nvPr/>
          </p:nvSpPr>
          <p:spPr>
            <a:xfrm>
              <a:off x="695740" y="1663154"/>
              <a:ext cx="10946296" cy="830997"/>
            </a:xfrm>
            <a:prstGeom prst="rect">
              <a:avLst/>
            </a:prstGeom>
            <a:noFill/>
          </p:spPr>
          <p:txBody>
            <a:bodyPr wrap="square" rtlCol="0">
              <a:spAutoFit/>
            </a:bodyPr>
            <a:lstStyle/>
            <a:p>
              <a:pPr algn="just"/>
              <a:r>
                <a:rPr lang="en-US" sz="2400" dirty="0">
                  <a:latin typeface="Times" pitchFamily="2" charset="0"/>
                </a:rPr>
                <a:t>In general, both conservative and nonconservative forces can do work on an object simultaneously.</a:t>
              </a:r>
            </a:p>
          </p:txBody>
        </p:sp>
        <p:sp>
          <p:nvSpPr>
            <p:cNvPr id="36" name="Rectangle 35">
              <a:extLst>
                <a:ext uri="{FF2B5EF4-FFF2-40B4-BE49-F238E27FC236}">
                  <a16:creationId xmlns:a16="http://schemas.microsoft.com/office/drawing/2014/main" id="{1BA6E439-0B38-5180-FF31-AE03037BF748}"/>
                </a:ext>
              </a:extLst>
            </p:cNvPr>
            <p:cNvSpPr/>
            <p:nvPr/>
          </p:nvSpPr>
          <p:spPr>
            <a:xfrm>
              <a:off x="662608" y="1696278"/>
              <a:ext cx="10986052" cy="76862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7E12AD84-8E59-F1FB-9DEA-1AB522C62E71}"/>
              </a:ext>
            </a:extLst>
          </p:cNvPr>
          <p:cNvSpPr txBox="1"/>
          <p:nvPr/>
        </p:nvSpPr>
        <p:spPr>
          <a:xfrm>
            <a:off x="5791200" y="6042998"/>
            <a:ext cx="4333460" cy="400110"/>
          </a:xfrm>
          <a:prstGeom prst="rect">
            <a:avLst/>
          </a:prstGeom>
          <a:noFill/>
        </p:spPr>
        <p:txBody>
          <a:bodyPr wrap="square" rtlCol="0">
            <a:spAutoFit/>
          </a:bodyPr>
          <a:lstStyle/>
          <a:p>
            <a:pPr algn="just"/>
            <a:r>
              <a:rPr lang="en-US" sz="2000" dirty="0">
                <a:latin typeface="Times" pitchFamily="2" charset="0"/>
              </a:rPr>
              <a:t>Let’s make these substitutions above...</a:t>
            </a:r>
          </a:p>
        </p:txBody>
      </p:sp>
      <p:grpSp>
        <p:nvGrpSpPr>
          <p:cNvPr id="52" name="Group 51">
            <a:extLst>
              <a:ext uri="{FF2B5EF4-FFF2-40B4-BE49-F238E27FC236}">
                <a16:creationId xmlns:a16="http://schemas.microsoft.com/office/drawing/2014/main" id="{D2703AD3-C70E-3B59-6E2E-BC2051BE28AF}"/>
              </a:ext>
            </a:extLst>
          </p:cNvPr>
          <p:cNvGrpSpPr/>
          <p:nvPr/>
        </p:nvGrpSpPr>
        <p:grpSpPr>
          <a:xfrm>
            <a:off x="4332849" y="3650566"/>
            <a:ext cx="7076049" cy="1784252"/>
            <a:chOff x="4332849" y="3650566"/>
            <a:chExt cx="7076049" cy="1784252"/>
          </a:xfrm>
        </p:grpSpPr>
        <p:sp>
          <p:nvSpPr>
            <p:cNvPr id="39" name="Left Brace 38">
              <a:extLst>
                <a:ext uri="{FF2B5EF4-FFF2-40B4-BE49-F238E27FC236}">
                  <a16:creationId xmlns:a16="http://schemas.microsoft.com/office/drawing/2014/main" id="{BF4B19E1-6480-9841-14D0-741A697BCEDD}"/>
                </a:ext>
              </a:extLst>
            </p:cNvPr>
            <p:cNvSpPr/>
            <p:nvPr/>
          </p:nvSpPr>
          <p:spPr>
            <a:xfrm rot="16200000">
              <a:off x="9952384" y="4386468"/>
              <a:ext cx="331304" cy="1736038"/>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1677395B-99FE-A8F1-4505-0F48F9E189F0}"/>
                </a:ext>
              </a:extLst>
            </p:cNvPr>
            <p:cNvCxnSpPr/>
            <p:nvPr/>
          </p:nvCxnSpPr>
          <p:spPr>
            <a:xfrm>
              <a:off x="10114671" y="5423095"/>
              <a:ext cx="129422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2994B84-BA35-7D5F-61F5-CAA2E77B6B35}"/>
                </a:ext>
              </a:extLst>
            </p:cNvPr>
            <p:cNvCxnSpPr>
              <a:cxnSpLocks/>
            </p:cNvCxnSpPr>
            <p:nvPr/>
          </p:nvCxnSpPr>
          <p:spPr>
            <a:xfrm>
              <a:off x="11392486" y="4389120"/>
              <a:ext cx="0" cy="104569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50D6F18-D01C-C478-9CF5-BFB256E20395}"/>
                </a:ext>
              </a:extLst>
            </p:cNvPr>
            <p:cNvCxnSpPr>
              <a:cxnSpLocks/>
            </p:cNvCxnSpPr>
            <p:nvPr/>
          </p:nvCxnSpPr>
          <p:spPr>
            <a:xfrm>
              <a:off x="4332849" y="4405532"/>
              <a:ext cx="705729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5B4D26D-126F-28A1-9C79-B7BB90F922FB}"/>
                </a:ext>
              </a:extLst>
            </p:cNvPr>
            <p:cNvCxnSpPr>
              <a:cxnSpLocks/>
            </p:cNvCxnSpPr>
            <p:nvPr/>
          </p:nvCxnSpPr>
          <p:spPr>
            <a:xfrm flipV="1">
              <a:off x="4332849" y="3650566"/>
              <a:ext cx="555674" cy="759656"/>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B908692F-C500-F406-879E-44DD16DE957B}"/>
              </a:ext>
            </a:extLst>
          </p:cNvPr>
          <p:cNvGrpSpPr/>
          <p:nvPr/>
        </p:nvGrpSpPr>
        <p:grpSpPr>
          <a:xfrm>
            <a:off x="5588000" y="2959100"/>
            <a:ext cx="6151489" cy="3155045"/>
            <a:chOff x="5588000" y="2959100"/>
            <a:chExt cx="6151489" cy="3155045"/>
          </a:xfrm>
        </p:grpSpPr>
        <p:sp>
          <p:nvSpPr>
            <p:cNvPr id="53" name="Left Brace 52">
              <a:extLst>
                <a:ext uri="{FF2B5EF4-FFF2-40B4-BE49-F238E27FC236}">
                  <a16:creationId xmlns:a16="http://schemas.microsoft.com/office/drawing/2014/main" id="{4133809A-B0A5-8048-AEFF-6D1B581D01E6}"/>
                </a:ext>
              </a:extLst>
            </p:cNvPr>
            <p:cNvSpPr/>
            <p:nvPr/>
          </p:nvSpPr>
          <p:spPr>
            <a:xfrm rot="16200000">
              <a:off x="10545978" y="5166818"/>
              <a:ext cx="331304" cy="156335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CB8B1B7A-24ED-7129-0F16-C084837F0B41}"/>
                </a:ext>
              </a:extLst>
            </p:cNvPr>
            <p:cNvCxnSpPr>
              <a:cxnSpLocks/>
            </p:cNvCxnSpPr>
            <p:nvPr/>
          </p:nvCxnSpPr>
          <p:spPr>
            <a:xfrm>
              <a:off x="10696136" y="6103033"/>
              <a:ext cx="104335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7E0CF61-484A-8040-58B4-7A5B7506678D}"/>
                </a:ext>
              </a:extLst>
            </p:cNvPr>
            <p:cNvCxnSpPr>
              <a:cxnSpLocks/>
            </p:cNvCxnSpPr>
            <p:nvPr/>
          </p:nvCxnSpPr>
          <p:spPr>
            <a:xfrm>
              <a:off x="11664950" y="2962275"/>
              <a:ext cx="62816" cy="31454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D2ED74E-E237-AD3A-5455-8173C6732BB9}"/>
                </a:ext>
              </a:extLst>
            </p:cNvPr>
            <p:cNvCxnSpPr>
              <a:cxnSpLocks/>
            </p:cNvCxnSpPr>
            <p:nvPr/>
          </p:nvCxnSpPr>
          <p:spPr>
            <a:xfrm>
              <a:off x="5588000" y="2968283"/>
              <a:ext cx="608818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5986848-4DD0-75CC-E5BF-7430A65115FB}"/>
                </a:ext>
              </a:extLst>
            </p:cNvPr>
            <p:cNvCxnSpPr>
              <a:cxnSpLocks/>
            </p:cNvCxnSpPr>
            <p:nvPr/>
          </p:nvCxnSpPr>
          <p:spPr>
            <a:xfrm>
              <a:off x="5597525" y="2959100"/>
              <a:ext cx="0" cy="16192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166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dissolv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dissolv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dissolve">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dissolv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dissolv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dissolve">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wipe(down)">
                                      <p:cBhvr>
                                        <p:cTn id="57" dur="10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67"/>
                                        </p:tgtEl>
                                        <p:attrNameLst>
                                          <p:attrName>style.visibility</p:attrName>
                                        </p:attrNameLst>
                                      </p:cBhvr>
                                      <p:to>
                                        <p:strVal val="visible"/>
                                      </p:to>
                                    </p:set>
                                    <p:animEffect transition="in" filter="wipe(down)">
                                      <p:cBhvr>
                                        <p:cTn id="62"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34" grpId="0"/>
      <p:bldP spid="35" grpId="0"/>
      <p:bldP spid="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27D25-E7F2-8FC0-0EB4-A76B89BD5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27E2D-1BE0-7991-B873-BC51A680265D}"/>
              </a:ext>
            </a:extLst>
          </p:cNvPr>
          <p:cNvSpPr>
            <a:spLocks noGrp="1"/>
          </p:cNvSpPr>
          <p:nvPr>
            <p:ph type="title"/>
          </p:nvPr>
        </p:nvSpPr>
        <p:spPr>
          <a:xfrm>
            <a:off x="367753" y="115699"/>
            <a:ext cx="10820401" cy="849312"/>
          </a:xfrm>
        </p:spPr>
        <p:txBody>
          <a:bodyPr/>
          <a:lstStyle/>
          <a:p>
            <a:r>
              <a:rPr lang="en-US" b="1" dirty="0">
                <a:ea typeface="Calibri" charset="0"/>
                <a:cs typeface="Calibri" charset="0"/>
              </a:rPr>
              <a:t>6.4</a:t>
            </a:r>
            <a:r>
              <a:rPr lang="en-US" dirty="0">
                <a:ea typeface="Calibri" charset="0"/>
                <a:cs typeface="Calibri" charset="0"/>
              </a:rPr>
              <a:t> Conservative Versus Nonconservative Forces</a:t>
            </a:r>
            <a:endParaRPr lang="en-US" sz="3000" dirty="0"/>
          </a:p>
        </p:txBody>
      </p:sp>
      <p:sp>
        <p:nvSpPr>
          <p:cNvPr id="31" name="TextBox 30">
            <a:extLst>
              <a:ext uri="{FF2B5EF4-FFF2-40B4-BE49-F238E27FC236}">
                <a16:creationId xmlns:a16="http://schemas.microsoft.com/office/drawing/2014/main" id="{7D8DDD4D-D39E-6F8E-C270-42E92DEC543B}"/>
              </a:ext>
            </a:extLst>
          </p:cNvPr>
          <p:cNvSpPr txBox="1"/>
          <p:nvPr/>
        </p:nvSpPr>
        <p:spPr>
          <a:xfrm>
            <a:off x="5580055" y="1043467"/>
            <a:ext cx="4232685" cy="461665"/>
          </a:xfrm>
          <a:prstGeom prst="rect">
            <a:avLst/>
          </a:prstGeom>
          <a:noFill/>
        </p:spPr>
        <p:txBody>
          <a:bodyPr wrap="square" rtlCol="0">
            <a:spAutoFit/>
          </a:bodyPr>
          <a:lstStyle/>
          <a:p>
            <a:pPr algn="just"/>
            <a:r>
              <a:rPr lang="en-US" sz="2400" dirty="0">
                <a:latin typeface="Times" pitchFamily="2" charset="0"/>
              </a:rPr>
              <a:t>Let’s do a little rearranging...</a:t>
            </a:r>
          </a:p>
        </p:txBody>
      </p:sp>
      <p:grpSp>
        <p:nvGrpSpPr>
          <p:cNvPr id="3" name="Group 2">
            <a:extLst>
              <a:ext uri="{FF2B5EF4-FFF2-40B4-BE49-F238E27FC236}">
                <a16:creationId xmlns:a16="http://schemas.microsoft.com/office/drawing/2014/main" id="{B9E55828-945D-08D4-71D0-CDA1269411FB}"/>
              </a:ext>
            </a:extLst>
          </p:cNvPr>
          <p:cNvGrpSpPr/>
          <p:nvPr/>
        </p:nvGrpSpPr>
        <p:grpSpPr>
          <a:xfrm>
            <a:off x="679617" y="691095"/>
            <a:ext cx="7429130" cy="827577"/>
            <a:chOff x="1307414" y="704743"/>
            <a:chExt cx="7429130" cy="827577"/>
          </a:xfrm>
        </p:grpSpPr>
        <p:pic>
          <p:nvPicPr>
            <p:cNvPr id="32" name="Picture 31">
              <a:extLst>
                <a:ext uri="{FF2B5EF4-FFF2-40B4-BE49-F238E27FC236}">
                  <a16:creationId xmlns:a16="http://schemas.microsoft.com/office/drawing/2014/main" id="{1E0B42D8-C17A-5538-CB6A-E68721E4B45F}"/>
                </a:ext>
              </a:extLst>
            </p:cNvPr>
            <p:cNvPicPr>
              <a:picLocks noChangeAspect="1"/>
            </p:cNvPicPr>
            <p:nvPr/>
          </p:nvPicPr>
          <p:blipFill>
            <a:blip r:embed="rId3"/>
            <a:srcRect l="62247" t="-39291"/>
            <a:stretch/>
          </p:blipFill>
          <p:spPr>
            <a:xfrm>
              <a:off x="1307414" y="704743"/>
              <a:ext cx="1792356" cy="827577"/>
            </a:xfrm>
            <a:prstGeom prst="rect">
              <a:avLst/>
            </a:prstGeom>
          </p:spPr>
        </p:pic>
        <p:sp>
          <p:nvSpPr>
            <p:cNvPr id="35" name="TextBox 34">
              <a:extLst>
                <a:ext uri="{FF2B5EF4-FFF2-40B4-BE49-F238E27FC236}">
                  <a16:creationId xmlns:a16="http://schemas.microsoft.com/office/drawing/2014/main" id="{CDC07FF4-CFE9-AE35-CA6D-0114188341DA}"/>
                </a:ext>
              </a:extLst>
            </p:cNvPr>
            <p:cNvSpPr txBox="1"/>
            <p:nvPr/>
          </p:nvSpPr>
          <p:spPr>
            <a:xfrm>
              <a:off x="3175905" y="1024682"/>
              <a:ext cx="5560639" cy="461665"/>
            </a:xfrm>
            <a:prstGeom prst="rect">
              <a:avLst/>
            </a:prstGeom>
            <a:noFill/>
          </p:spPr>
          <p:txBody>
            <a:bodyPr wrap="square" rtlCol="0">
              <a:spAutoFit/>
            </a:bodyPr>
            <a:lstStyle/>
            <a:p>
              <a:r>
                <a:rPr lang="en-US" sz="2400" dirty="0">
                  <a:latin typeface="Times" pitchFamily="2" charset="0"/>
                </a:rPr>
                <a:t>= </a:t>
              </a:r>
              <a:r>
                <a:rPr lang="en-US" sz="2400" i="1" dirty="0">
                  <a:latin typeface="Times" pitchFamily="2" charset="0"/>
                </a:rPr>
                <a:t>mgh</a:t>
              </a:r>
              <a:r>
                <a:rPr lang="en-US" sz="2400" baseline="-25000" dirty="0">
                  <a:latin typeface="Times" pitchFamily="2" charset="0"/>
                </a:rPr>
                <a:t>0</a:t>
              </a:r>
              <a:r>
                <a:rPr lang="en-US" sz="2400" dirty="0">
                  <a:latin typeface="Times" pitchFamily="2" charset="0"/>
                </a:rPr>
                <a:t> – </a:t>
              </a:r>
              <a:r>
                <a:rPr lang="en-US" sz="2400" i="1" dirty="0" err="1">
                  <a:latin typeface="Times" pitchFamily="2" charset="0"/>
                </a:rPr>
                <a:t>mgh</a:t>
              </a:r>
              <a:r>
                <a:rPr lang="en-US" sz="2400" baseline="-25000" dirty="0" err="1">
                  <a:latin typeface="Times" pitchFamily="2" charset="0"/>
                </a:rPr>
                <a:t>f</a:t>
              </a:r>
              <a:r>
                <a:rPr lang="en-US" sz="2400" dirty="0">
                  <a:latin typeface="Times" pitchFamily="2" charset="0"/>
                </a:rPr>
                <a:t> + </a:t>
              </a:r>
              <a:r>
                <a:rPr lang="en-US" sz="2400" i="1" dirty="0">
                  <a:latin typeface="Times" pitchFamily="2" charset="0"/>
                </a:rPr>
                <a:t>W</a:t>
              </a:r>
              <a:r>
                <a:rPr lang="en-US" sz="2400" baseline="-25000" dirty="0">
                  <a:latin typeface="Times" pitchFamily="2" charset="0"/>
                </a:rPr>
                <a:t>NC</a:t>
              </a:r>
            </a:p>
          </p:txBody>
        </p:sp>
      </p:grpSp>
      <p:grpSp>
        <p:nvGrpSpPr>
          <p:cNvPr id="14" name="Group 13">
            <a:extLst>
              <a:ext uri="{FF2B5EF4-FFF2-40B4-BE49-F238E27FC236}">
                <a16:creationId xmlns:a16="http://schemas.microsoft.com/office/drawing/2014/main" id="{03B05512-03E5-65B0-5D55-C734C7CAFB4F}"/>
              </a:ext>
            </a:extLst>
          </p:cNvPr>
          <p:cNvGrpSpPr/>
          <p:nvPr/>
        </p:nvGrpSpPr>
        <p:grpSpPr>
          <a:xfrm>
            <a:off x="887255" y="1512235"/>
            <a:ext cx="5560639" cy="827577"/>
            <a:chOff x="1403971" y="2644999"/>
            <a:chExt cx="5560639" cy="827577"/>
          </a:xfrm>
        </p:grpSpPr>
        <p:sp>
          <p:nvSpPr>
            <p:cNvPr id="6" name="TextBox 5">
              <a:extLst>
                <a:ext uri="{FF2B5EF4-FFF2-40B4-BE49-F238E27FC236}">
                  <a16:creationId xmlns:a16="http://schemas.microsoft.com/office/drawing/2014/main" id="{EC712A1F-7F77-30C0-ACB6-3002E9B9404A}"/>
                </a:ext>
              </a:extLst>
            </p:cNvPr>
            <p:cNvSpPr txBox="1"/>
            <p:nvPr/>
          </p:nvSpPr>
          <p:spPr>
            <a:xfrm>
              <a:off x="1403971" y="2937643"/>
              <a:ext cx="5560639"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 </a:t>
              </a:r>
              <a:r>
                <a:rPr lang="en-US" sz="2400" i="1" dirty="0" err="1">
                  <a:latin typeface="Times" pitchFamily="2" charset="0"/>
                </a:rPr>
                <a:t>mgh</a:t>
              </a:r>
              <a:r>
                <a:rPr lang="en-US" sz="2400" baseline="-25000" dirty="0" err="1">
                  <a:latin typeface="Times" pitchFamily="2" charset="0"/>
                </a:rPr>
                <a:t>f</a:t>
              </a:r>
              <a:r>
                <a:rPr lang="en-US" sz="2400" dirty="0">
                  <a:latin typeface="Times" pitchFamily="2" charset="0"/>
                </a:rPr>
                <a:t> – </a:t>
              </a:r>
              <a:r>
                <a:rPr lang="en-US" sz="2400" i="1" dirty="0">
                  <a:latin typeface="Times" pitchFamily="2" charset="0"/>
                </a:rPr>
                <a:t>mgh</a:t>
              </a:r>
              <a:r>
                <a:rPr lang="en-US" sz="2400" baseline="-25000" dirty="0">
                  <a:latin typeface="Times" pitchFamily="2" charset="0"/>
                </a:rPr>
                <a:t>0</a:t>
              </a:r>
              <a:r>
                <a:rPr lang="en-US" sz="2400" dirty="0">
                  <a:latin typeface="Times" pitchFamily="2" charset="0"/>
                </a:rPr>
                <a:t> </a:t>
              </a:r>
              <a:endParaRPr lang="en-US" sz="2400" baseline="-25000" dirty="0">
                <a:latin typeface="Times" pitchFamily="2" charset="0"/>
              </a:endParaRPr>
            </a:p>
          </p:txBody>
        </p:sp>
        <p:pic>
          <p:nvPicPr>
            <p:cNvPr id="8" name="Picture 7">
              <a:extLst>
                <a:ext uri="{FF2B5EF4-FFF2-40B4-BE49-F238E27FC236}">
                  <a16:creationId xmlns:a16="http://schemas.microsoft.com/office/drawing/2014/main" id="{F29140C3-9525-612A-3CC9-DEBCFF4B0EE1}"/>
                </a:ext>
              </a:extLst>
            </p:cNvPr>
            <p:cNvPicPr>
              <a:picLocks noChangeAspect="1"/>
            </p:cNvPicPr>
            <p:nvPr/>
          </p:nvPicPr>
          <p:blipFill>
            <a:blip r:embed="rId3"/>
            <a:srcRect l="62247" t="-39291"/>
            <a:stretch/>
          </p:blipFill>
          <p:spPr>
            <a:xfrm>
              <a:off x="2360566" y="2644999"/>
              <a:ext cx="1792356" cy="827577"/>
            </a:xfrm>
            <a:prstGeom prst="rect">
              <a:avLst/>
            </a:prstGeom>
          </p:spPr>
        </p:pic>
      </p:grpSp>
      <p:grpSp>
        <p:nvGrpSpPr>
          <p:cNvPr id="43" name="Group 42">
            <a:extLst>
              <a:ext uri="{FF2B5EF4-FFF2-40B4-BE49-F238E27FC236}">
                <a16:creationId xmlns:a16="http://schemas.microsoft.com/office/drawing/2014/main" id="{9C9C6DA7-9788-E89D-DB3A-0E068D4D581C}"/>
              </a:ext>
            </a:extLst>
          </p:cNvPr>
          <p:cNvGrpSpPr/>
          <p:nvPr/>
        </p:nvGrpSpPr>
        <p:grpSpPr>
          <a:xfrm>
            <a:off x="1917085" y="2399489"/>
            <a:ext cx="3748731" cy="515489"/>
            <a:chOff x="4289897" y="2399489"/>
            <a:chExt cx="3748731" cy="515489"/>
          </a:xfrm>
        </p:grpSpPr>
        <p:sp>
          <p:nvSpPr>
            <p:cNvPr id="15" name="TextBox 14">
              <a:extLst>
                <a:ext uri="{FF2B5EF4-FFF2-40B4-BE49-F238E27FC236}">
                  <a16:creationId xmlns:a16="http://schemas.microsoft.com/office/drawing/2014/main" id="{E7B1B18C-6118-5C1A-3462-0F1705218EA4}"/>
                </a:ext>
              </a:extLst>
            </p:cNvPr>
            <p:cNvSpPr txBox="1"/>
            <p:nvPr/>
          </p:nvSpPr>
          <p:spPr>
            <a:xfrm>
              <a:off x="4326341" y="2545646"/>
              <a:ext cx="709684" cy="369332"/>
            </a:xfrm>
            <a:prstGeom prst="rect">
              <a:avLst/>
            </a:prstGeom>
            <a:noFill/>
          </p:spPr>
          <p:txBody>
            <a:bodyPr wrap="square" rtlCol="0">
              <a:spAutoFit/>
            </a:bodyPr>
            <a:lstStyle/>
            <a:p>
              <a:r>
                <a:rPr lang="en-US" dirty="0" err="1">
                  <a:latin typeface="Times" pitchFamily="2" charset="0"/>
                </a:rPr>
                <a:t>KE</a:t>
              </a:r>
              <a:r>
                <a:rPr lang="en-US" baseline="-25000" dirty="0" err="1">
                  <a:latin typeface="Times" pitchFamily="2" charset="0"/>
                </a:rPr>
                <a:t>f</a:t>
              </a:r>
              <a:endParaRPr lang="en-US" dirty="0">
                <a:latin typeface="Times" pitchFamily="2" charset="0"/>
              </a:endParaRPr>
            </a:p>
          </p:txBody>
        </p:sp>
        <p:sp>
          <p:nvSpPr>
            <p:cNvPr id="16" name="TextBox 15">
              <a:extLst>
                <a:ext uri="{FF2B5EF4-FFF2-40B4-BE49-F238E27FC236}">
                  <a16:creationId xmlns:a16="http://schemas.microsoft.com/office/drawing/2014/main" id="{9FF152A7-388B-EB0B-5FED-685E84309836}"/>
                </a:ext>
              </a:extLst>
            </p:cNvPr>
            <p:cNvSpPr txBox="1"/>
            <p:nvPr/>
          </p:nvSpPr>
          <p:spPr>
            <a:xfrm>
              <a:off x="5347069" y="2545646"/>
              <a:ext cx="709684" cy="369332"/>
            </a:xfrm>
            <a:prstGeom prst="rect">
              <a:avLst/>
            </a:prstGeom>
            <a:noFill/>
          </p:spPr>
          <p:txBody>
            <a:bodyPr wrap="square" rtlCol="0">
              <a:spAutoFit/>
            </a:bodyPr>
            <a:lstStyle/>
            <a:p>
              <a:r>
                <a:rPr lang="en-US" dirty="0">
                  <a:latin typeface="Times" pitchFamily="2" charset="0"/>
                </a:rPr>
                <a:t>KE</a:t>
              </a:r>
              <a:r>
                <a:rPr lang="en-US" baseline="-25000" dirty="0">
                  <a:latin typeface="Times" pitchFamily="2" charset="0"/>
                </a:rPr>
                <a:t>0</a:t>
              </a:r>
              <a:endParaRPr lang="en-US" dirty="0">
                <a:latin typeface="Times" pitchFamily="2" charset="0"/>
              </a:endParaRPr>
            </a:p>
          </p:txBody>
        </p:sp>
        <p:sp>
          <p:nvSpPr>
            <p:cNvPr id="18" name="TextBox 17">
              <a:extLst>
                <a:ext uri="{FF2B5EF4-FFF2-40B4-BE49-F238E27FC236}">
                  <a16:creationId xmlns:a16="http://schemas.microsoft.com/office/drawing/2014/main" id="{09BB9301-AF04-7722-C675-FBFC49A8DD5B}"/>
                </a:ext>
              </a:extLst>
            </p:cNvPr>
            <p:cNvSpPr txBox="1"/>
            <p:nvPr/>
          </p:nvSpPr>
          <p:spPr>
            <a:xfrm>
              <a:off x="6443727" y="2545646"/>
              <a:ext cx="709684" cy="369332"/>
            </a:xfrm>
            <a:prstGeom prst="rect">
              <a:avLst/>
            </a:prstGeom>
            <a:noFill/>
          </p:spPr>
          <p:txBody>
            <a:bodyPr wrap="square" rtlCol="0">
              <a:spAutoFit/>
            </a:bodyPr>
            <a:lstStyle/>
            <a:p>
              <a:r>
                <a:rPr lang="en-US" dirty="0" err="1">
                  <a:latin typeface="Times" pitchFamily="2" charset="0"/>
                </a:rPr>
                <a:t>PE</a:t>
              </a:r>
              <a:r>
                <a:rPr lang="en-US" baseline="-25000" dirty="0" err="1">
                  <a:latin typeface="Times" pitchFamily="2" charset="0"/>
                </a:rPr>
                <a:t>f</a:t>
              </a:r>
              <a:endParaRPr lang="en-US" dirty="0">
                <a:latin typeface="Times" pitchFamily="2" charset="0"/>
              </a:endParaRPr>
            </a:p>
          </p:txBody>
        </p:sp>
        <p:sp>
          <p:nvSpPr>
            <p:cNvPr id="19" name="TextBox 18">
              <a:extLst>
                <a:ext uri="{FF2B5EF4-FFF2-40B4-BE49-F238E27FC236}">
                  <a16:creationId xmlns:a16="http://schemas.microsoft.com/office/drawing/2014/main" id="{7CBF03E1-C8E1-664D-D850-415FE8FCB790}"/>
                </a:ext>
              </a:extLst>
            </p:cNvPr>
            <p:cNvSpPr txBox="1"/>
            <p:nvPr/>
          </p:nvSpPr>
          <p:spPr>
            <a:xfrm>
              <a:off x="7328944" y="2545646"/>
              <a:ext cx="709684" cy="369332"/>
            </a:xfrm>
            <a:prstGeom prst="rect">
              <a:avLst/>
            </a:prstGeom>
            <a:noFill/>
          </p:spPr>
          <p:txBody>
            <a:bodyPr wrap="square" rtlCol="0">
              <a:spAutoFit/>
            </a:bodyPr>
            <a:lstStyle/>
            <a:p>
              <a:r>
                <a:rPr lang="en-US" dirty="0">
                  <a:latin typeface="Times" pitchFamily="2" charset="0"/>
                </a:rPr>
                <a:t>PE</a:t>
              </a:r>
              <a:r>
                <a:rPr lang="en-US" baseline="-25000" dirty="0">
                  <a:latin typeface="Times" pitchFamily="2" charset="0"/>
                </a:rPr>
                <a:t>0</a:t>
              </a:r>
              <a:endParaRPr lang="en-US" dirty="0">
                <a:latin typeface="Times" pitchFamily="2" charset="0"/>
              </a:endParaRPr>
            </a:p>
          </p:txBody>
        </p:sp>
        <p:sp>
          <p:nvSpPr>
            <p:cNvPr id="22" name="Left Brace 21">
              <a:extLst>
                <a:ext uri="{FF2B5EF4-FFF2-40B4-BE49-F238E27FC236}">
                  <a16:creationId xmlns:a16="http://schemas.microsoft.com/office/drawing/2014/main" id="{8F83C8D5-03E0-9B43-87FD-AF74FCE34B3E}"/>
                </a:ext>
              </a:extLst>
            </p:cNvPr>
            <p:cNvSpPr/>
            <p:nvPr/>
          </p:nvSpPr>
          <p:spPr>
            <a:xfrm rot="16200000">
              <a:off x="4477965"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Left Brace 25">
              <a:extLst>
                <a:ext uri="{FF2B5EF4-FFF2-40B4-BE49-F238E27FC236}">
                  <a16:creationId xmlns:a16="http://schemas.microsoft.com/office/drawing/2014/main" id="{9252B9EB-8C13-94A8-E57C-8EDDBDD66B91}"/>
                </a:ext>
              </a:extLst>
            </p:cNvPr>
            <p:cNvSpPr/>
            <p:nvPr/>
          </p:nvSpPr>
          <p:spPr>
            <a:xfrm rot="16200000">
              <a:off x="5505855"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Left Brace 28">
              <a:extLst>
                <a:ext uri="{FF2B5EF4-FFF2-40B4-BE49-F238E27FC236}">
                  <a16:creationId xmlns:a16="http://schemas.microsoft.com/office/drawing/2014/main" id="{DFFD51D0-8A00-9F34-8178-85CEEDAAD7C1}"/>
                </a:ext>
              </a:extLst>
            </p:cNvPr>
            <p:cNvSpPr/>
            <p:nvPr/>
          </p:nvSpPr>
          <p:spPr>
            <a:xfrm rot="16200000">
              <a:off x="6566171"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Left Brace 39">
              <a:extLst>
                <a:ext uri="{FF2B5EF4-FFF2-40B4-BE49-F238E27FC236}">
                  <a16:creationId xmlns:a16="http://schemas.microsoft.com/office/drawing/2014/main" id="{9970E5F6-C57C-CEFF-8FD0-6E2605220B75}"/>
                </a:ext>
              </a:extLst>
            </p:cNvPr>
            <p:cNvSpPr/>
            <p:nvPr/>
          </p:nvSpPr>
          <p:spPr>
            <a:xfrm rot="16200000">
              <a:off x="7470844"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7" name="TextBox 46">
            <a:extLst>
              <a:ext uri="{FF2B5EF4-FFF2-40B4-BE49-F238E27FC236}">
                <a16:creationId xmlns:a16="http://schemas.microsoft.com/office/drawing/2014/main" id="{C3305BB6-3F4A-4554-E144-0E9BA7E68E82}"/>
              </a:ext>
            </a:extLst>
          </p:cNvPr>
          <p:cNvSpPr txBox="1"/>
          <p:nvPr/>
        </p:nvSpPr>
        <p:spPr>
          <a:xfrm>
            <a:off x="7071204" y="1841532"/>
            <a:ext cx="4677105"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dirty="0" err="1">
                <a:latin typeface="Times" pitchFamily="2" charset="0"/>
              </a:rPr>
              <a:t>KE</a:t>
            </a:r>
            <a:r>
              <a:rPr lang="en-US" sz="2400" baseline="-25000" dirty="0" err="1">
                <a:latin typeface="Times" pitchFamily="2" charset="0"/>
              </a:rPr>
              <a:t>f</a:t>
            </a:r>
            <a:r>
              <a:rPr lang="en-US" sz="2400" dirty="0">
                <a:latin typeface="Times" pitchFamily="2" charset="0"/>
              </a:rPr>
              <a:t> – KE</a:t>
            </a:r>
            <a:r>
              <a:rPr lang="en-US" sz="2400" baseline="-25000" dirty="0">
                <a:latin typeface="Times" pitchFamily="2" charset="0"/>
              </a:rPr>
              <a:t>0</a:t>
            </a:r>
            <a:r>
              <a:rPr lang="en-US" sz="2400" dirty="0">
                <a:latin typeface="Times" pitchFamily="2" charset="0"/>
              </a:rPr>
              <a:t> + </a:t>
            </a:r>
            <a:r>
              <a:rPr lang="en-US" sz="2400" dirty="0" err="1">
                <a:latin typeface="Times" pitchFamily="2" charset="0"/>
              </a:rPr>
              <a:t>PE</a:t>
            </a:r>
            <a:r>
              <a:rPr lang="en-US" sz="2400" baseline="-25000" dirty="0" err="1">
                <a:latin typeface="Times" pitchFamily="2" charset="0"/>
              </a:rPr>
              <a:t>f</a:t>
            </a:r>
            <a:r>
              <a:rPr lang="en-US" sz="2400" dirty="0">
                <a:latin typeface="Times" pitchFamily="2" charset="0"/>
              </a:rPr>
              <a:t> – PE</a:t>
            </a:r>
            <a:r>
              <a:rPr lang="en-US" sz="2400" baseline="-25000" dirty="0">
                <a:latin typeface="Times" pitchFamily="2" charset="0"/>
              </a:rPr>
              <a:t>0</a:t>
            </a:r>
            <a:r>
              <a:rPr lang="en-US" sz="2400" dirty="0">
                <a:latin typeface="Times" pitchFamily="2" charset="0"/>
              </a:rPr>
              <a:t> </a:t>
            </a:r>
            <a:endParaRPr lang="en-US" sz="2400" baseline="-25000" dirty="0">
              <a:latin typeface="Times" pitchFamily="2" charset="0"/>
            </a:endParaRPr>
          </a:p>
        </p:txBody>
      </p:sp>
      <p:sp>
        <p:nvSpPr>
          <p:cNvPr id="45" name="TextBox 44">
            <a:extLst>
              <a:ext uri="{FF2B5EF4-FFF2-40B4-BE49-F238E27FC236}">
                <a16:creationId xmlns:a16="http://schemas.microsoft.com/office/drawing/2014/main" id="{9516C80E-63F3-888D-C6AB-096F86C9300D}"/>
              </a:ext>
            </a:extLst>
          </p:cNvPr>
          <p:cNvSpPr txBox="1"/>
          <p:nvPr/>
        </p:nvSpPr>
        <p:spPr>
          <a:xfrm>
            <a:off x="6250335" y="1840374"/>
            <a:ext cx="844952" cy="461665"/>
          </a:xfrm>
          <a:prstGeom prst="rect">
            <a:avLst/>
          </a:prstGeom>
          <a:noFill/>
        </p:spPr>
        <p:txBody>
          <a:bodyPr wrap="square" rtlCol="0">
            <a:spAutoFit/>
          </a:bodyPr>
          <a:lstStyle/>
          <a:p>
            <a:r>
              <a:rPr lang="en-US" sz="2400" dirty="0">
                <a:latin typeface="Times" pitchFamily="2" charset="0"/>
              </a:rPr>
              <a:t>⇒</a:t>
            </a:r>
          </a:p>
        </p:txBody>
      </p:sp>
      <p:grpSp>
        <p:nvGrpSpPr>
          <p:cNvPr id="64" name="Group 63">
            <a:extLst>
              <a:ext uri="{FF2B5EF4-FFF2-40B4-BE49-F238E27FC236}">
                <a16:creationId xmlns:a16="http://schemas.microsoft.com/office/drawing/2014/main" id="{97A9BB9A-B60A-F76E-0CFF-40140031085F}"/>
              </a:ext>
            </a:extLst>
          </p:cNvPr>
          <p:cNvGrpSpPr/>
          <p:nvPr/>
        </p:nvGrpSpPr>
        <p:grpSpPr>
          <a:xfrm>
            <a:off x="6124945" y="2382125"/>
            <a:ext cx="5669666" cy="1157083"/>
            <a:chOff x="6124945" y="2382125"/>
            <a:chExt cx="5669666" cy="1157083"/>
          </a:xfrm>
        </p:grpSpPr>
        <p:sp>
          <p:nvSpPr>
            <p:cNvPr id="51" name="Left Brace 50">
              <a:extLst>
                <a:ext uri="{FF2B5EF4-FFF2-40B4-BE49-F238E27FC236}">
                  <a16:creationId xmlns:a16="http://schemas.microsoft.com/office/drawing/2014/main" id="{144141FE-1661-81F3-0B98-5530A79A20A9}"/>
                </a:ext>
              </a:extLst>
            </p:cNvPr>
            <p:cNvSpPr/>
            <p:nvPr/>
          </p:nvSpPr>
          <p:spPr>
            <a:xfrm rot="16200000">
              <a:off x="7357034" y="2194057"/>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Left Brace 54">
              <a:extLst>
                <a:ext uri="{FF2B5EF4-FFF2-40B4-BE49-F238E27FC236}">
                  <a16:creationId xmlns:a16="http://schemas.microsoft.com/office/drawing/2014/main" id="{C947B617-ADD9-3407-F0F5-A52D5B613947}"/>
                </a:ext>
              </a:extLst>
            </p:cNvPr>
            <p:cNvSpPr/>
            <p:nvPr/>
          </p:nvSpPr>
          <p:spPr>
            <a:xfrm rot="16200000">
              <a:off x="8560475" y="1837498"/>
              <a:ext cx="200954" cy="1290209"/>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Left Brace 56">
              <a:extLst>
                <a:ext uri="{FF2B5EF4-FFF2-40B4-BE49-F238E27FC236}">
                  <a16:creationId xmlns:a16="http://schemas.microsoft.com/office/drawing/2014/main" id="{A6CAEE8C-516E-F463-0883-755D651F092B}"/>
                </a:ext>
              </a:extLst>
            </p:cNvPr>
            <p:cNvSpPr/>
            <p:nvPr/>
          </p:nvSpPr>
          <p:spPr>
            <a:xfrm rot="16200000">
              <a:off x="10124985" y="1872225"/>
              <a:ext cx="187455" cy="1207255"/>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a:extLst>
                <a:ext uri="{FF2B5EF4-FFF2-40B4-BE49-F238E27FC236}">
                  <a16:creationId xmlns:a16="http://schemas.microsoft.com/office/drawing/2014/main" id="{96266F9C-AED2-A0CE-7872-540B4BF37709}"/>
                </a:ext>
              </a:extLst>
            </p:cNvPr>
            <p:cNvSpPr txBox="1"/>
            <p:nvPr/>
          </p:nvSpPr>
          <p:spPr>
            <a:xfrm>
              <a:off x="8125436" y="2615878"/>
              <a:ext cx="1713053" cy="646331"/>
            </a:xfrm>
            <a:prstGeom prst="rect">
              <a:avLst/>
            </a:prstGeom>
            <a:noFill/>
          </p:spPr>
          <p:txBody>
            <a:bodyPr wrap="square" rtlCol="0">
              <a:spAutoFit/>
            </a:bodyPr>
            <a:lstStyle/>
            <a:p>
              <a:r>
                <a:rPr lang="en-US" dirty="0">
                  <a:latin typeface="Times" pitchFamily="2" charset="0"/>
                </a:rPr>
                <a:t>Change in</a:t>
              </a:r>
            </a:p>
            <a:p>
              <a:r>
                <a:rPr lang="en-US" dirty="0">
                  <a:latin typeface="Times" pitchFamily="2" charset="0"/>
                </a:rPr>
                <a:t>kinetic energy</a:t>
              </a:r>
            </a:p>
          </p:txBody>
        </p:sp>
        <p:sp>
          <p:nvSpPr>
            <p:cNvPr id="60" name="TextBox 59">
              <a:extLst>
                <a:ext uri="{FF2B5EF4-FFF2-40B4-BE49-F238E27FC236}">
                  <a16:creationId xmlns:a16="http://schemas.microsoft.com/office/drawing/2014/main" id="{86B46FBD-8128-E87D-0CDA-9A6669B284C6}"/>
                </a:ext>
              </a:extLst>
            </p:cNvPr>
            <p:cNvSpPr txBox="1"/>
            <p:nvPr/>
          </p:nvSpPr>
          <p:spPr>
            <a:xfrm>
              <a:off x="9713096" y="2615878"/>
              <a:ext cx="2081515" cy="923330"/>
            </a:xfrm>
            <a:prstGeom prst="rect">
              <a:avLst/>
            </a:prstGeom>
            <a:noFill/>
          </p:spPr>
          <p:txBody>
            <a:bodyPr wrap="square" rtlCol="0">
              <a:spAutoFit/>
            </a:bodyPr>
            <a:lstStyle/>
            <a:p>
              <a:r>
                <a:rPr lang="en-US" dirty="0">
                  <a:latin typeface="Times" pitchFamily="2" charset="0"/>
                </a:rPr>
                <a:t>Change in</a:t>
              </a:r>
            </a:p>
            <a:p>
              <a:r>
                <a:rPr lang="en-US" dirty="0">
                  <a:latin typeface="Times" pitchFamily="2" charset="0"/>
                </a:rPr>
                <a:t>gravitational</a:t>
              </a:r>
            </a:p>
            <a:p>
              <a:r>
                <a:rPr lang="en-US" dirty="0">
                  <a:latin typeface="Times" pitchFamily="2" charset="0"/>
                </a:rPr>
                <a:t>potential energy</a:t>
              </a:r>
            </a:p>
          </p:txBody>
        </p:sp>
        <p:sp>
          <p:nvSpPr>
            <p:cNvPr id="61" name="TextBox 60">
              <a:extLst>
                <a:ext uri="{FF2B5EF4-FFF2-40B4-BE49-F238E27FC236}">
                  <a16:creationId xmlns:a16="http://schemas.microsoft.com/office/drawing/2014/main" id="{5688F95C-A96E-C55F-7BDD-862CBFC873D9}"/>
                </a:ext>
              </a:extLst>
            </p:cNvPr>
            <p:cNvSpPr txBox="1"/>
            <p:nvPr/>
          </p:nvSpPr>
          <p:spPr>
            <a:xfrm>
              <a:off x="6124945" y="2615878"/>
              <a:ext cx="2313007" cy="923330"/>
            </a:xfrm>
            <a:prstGeom prst="rect">
              <a:avLst/>
            </a:prstGeom>
            <a:noFill/>
          </p:spPr>
          <p:txBody>
            <a:bodyPr wrap="square" rtlCol="0">
              <a:spAutoFit/>
            </a:bodyPr>
            <a:lstStyle/>
            <a:p>
              <a:r>
                <a:rPr lang="en-US" dirty="0">
                  <a:latin typeface="Times" pitchFamily="2" charset="0"/>
                </a:rPr>
                <a:t>Net work done</a:t>
              </a:r>
            </a:p>
            <a:p>
              <a:r>
                <a:rPr lang="en-US" dirty="0">
                  <a:latin typeface="Times" pitchFamily="2" charset="0"/>
                </a:rPr>
                <a:t>by nonconservative</a:t>
              </a:r>
            </a:p>
            <a:p>
              <a:r>
                <a:rPr lang="en-US" dirty="0">
                  <a:latin typeface="Times" pitchFamily="2" charset="0"/>
                </a:rPr>
                <a:t>forces</a:t>
              </a:r>
            </a:p>
          </p:txBody>
        </p:sp>
      </p:grpSp>
      <p:grpSp>
        <p:nvGrpSpPr>
          <p:cNvPr id="69" name="Group 68">
            <a:extLst>
              <a:ext uri="{FF2B5EF4-FFF2-40B4-BE49-F238E27FC236}">
                <a16:creationId xmlns:a16="http://schemas.microsoft.com/office/drawing/2014/main" id="{06E10584-884E-D951-6243-3078F5588CA4}"/>
              </a:ext>
            </a:extLst>
          </p:cNvPr>
          <p:cNvGrpSpPr/>
          <p:nvPr/>
        </p:nvGrpSpPr>
        <p:grpSpPr>
          <a:xfrm>
            <a:off x="3254420" y="3738623"/>
            <a:ext cx="3644091" cy="509892"/>
            <a:chOff x="3254420" y="3738623"/>
            <a:chExt cx="3644091" cy="509892"/>
          </a:xfrm>
        </p:grpSpPr>
        <p:sp>
          <p:nvSpPr>
            <p:cNvPr id="65" name="TextBox 64">
              <a:extLst>
                <a:ext uri="{FF2B5EF4-FFF2-40B4-BE49-F238E27FC236}">
                  <a16:creationId xmlns:a16="http://schemas.microsoft.com/office/drawing/2014/main" id="{5D100D1B-2B45-FB9A-7C33-D8030569DBCE}"/>
                </a:ext>
              </a:extLst>
            </p:cNvPr>
            <p:cNvSpPr txBox="1"/>
            <p:nvPr/>
          </p:nvSpPr>
          <p:spPr>
            <a:xfrm>
              <a:off x="3254420" y="3786850"/>
              <a:ext cx="844952" cy="461665"/>
            </a:xfrm>
            <a:prstGeom prst="rect">
              <a:avLst/>
            </a:prstGeom>
            <a:noFill/>
          </p:spPr>
          <p:txBody>
            <a:bodyPr wrap="square" rtlCol="0">
              <a:spAutoFit/>
            </a:bodyPr>
            <a:lstStyle/>
            <a:p>
              <a:r>
                <a:rPr lang="en-US" sz="2400" dirty="0">
                  <a:latin typeface="Times" pitchFamily="2" charset="0"/>
                </a:rPr>
                <a:t>Or...</a:t>
              </a:r>
            </a:p>
          </p:txBody>
        </p:sp>
        <p:sp>
          <p:nvSpPr>
            <p:cNvPr id="68" name="Rounded Rectangle 67">
              <a:extLst>
                <a:ext uri="{FF2B5EF4-FFF2-40B4-BE49-F238E27FC236}">
                  <a16:creationId xmlns:a16="http://schemas.microsoft.com/office/drawing/2014/main" id="{9A5B939D-324D-CD35-945F-9B311A36710A}"/>
                </a:ext>
              </a:extLst>
            </p:cNvPr>
            <p:cNvSpPr/>
            <p:nvPr/>
          </p:nvSpPr>
          <p:spPr>
            <a:xfrm>
              <a:off x="4236334" y="3738623"/>
              <a:ext cx="2662177" cy="5092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9BE55A15-FE85-0A06-8E4E-F1C70BACF20D}"/>
              </a:ext>
            </a:extLst>
          </p:cNvPr>
          <p:cNvSpPr txBox="1"/>
          <p:nvPr/>
        </p:nvSpPr>
        <p:spPr>
          <a:xfrm>
            <a:off x="4302484" y="3764363"/>
            <a:ext cx="2776923"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dirty="0">
                <a:latin typeface="Symbol" pitchFamily="2" charset="2"/>
              </a:rPr>
              <a:t>D</a:t>
            </a:r>
            <a:r>
              <a:rPr lang="en-US" sz="2400" dirty="0">
                <a:latin typeface="Times" pitchFamily="2" charset="0"/>
              </a:rPr>
              <a:t>KE + </a:t>
            </a:r>
            <a:r>
              <a:rPr lang="en-US" sz="2400" dirty="0">
                <a:latin typeface="Symbol" pitchFamily="2" charset="2"/>
              </a:rPr>
              <a:t>D</a:t>
            </a:r>
            <a:r>
              <a:rPr lang="en-US" sz="2400" dirty="0">
                <a:latin typeface="Times" pitchFamily="2" charset="0"/>
              </a:rPr>
              <a:t>PE</a:t>
            </a:r>
            <a:endParaRPr lang="en-US" sz="2400" baseline="-25000" dirty="0">
              <a:latin typeface="Times" pitchFamily="2" charset="0"/>
            </a:endParaRPr>
          </a:p>
        </p:txBody>
      </p:sp>
      <p:sp>
        <p:nvSpPr>
          <p:cNvPr id="70" name="TextBox 69">
            <a:extLst>
              <a:ext uri="{FF2B5EF4-FFF2-40B4-BE49-F238E27FC236}">
                <a16:creationId xmlns:a16="http://schemas.microsoft.com/office/drawing/2014/main" id="{DBE89736-B595-EC06-0453-2BB411A324E4}"/>
              </a:ext>
            </a:extLst>
          </p:cNvPr>
          <p:cNvSpPr txBox="1"/>
          <p:nvPr/>
        </p:nvSpPr>
        <p:spPr>
          <a:xfrm>
            <a:off x="7247299" y="3795558"/>
            <a:ext cx="1909763"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6.7b</a:t>
            </a:r>
            <a:r>
              <a:rPr lang="en-US" sz="2400" dirty="0">
                <a:latin typeface="Times" pitchFamily="2" charset="0"/>
              </a:rPr>
              <a:t>)</a:t>
            </a:r>
          </a:p>
        </p:txBody>
      </p:sp>
      <p:sp>
        <p:nvSpPr>
          <p:cNvPr id="71" name="TextBox 70">
            <a:extLst>
              <a:ext uri="{FF2B5EF4-FFF2-40B4-BE49-F238E27FC236}">
                <a16:creationId xmlns:a16="http://schemas.microsoft.com/office/drawing/2014/main" id="{9FCED848-FB0C-44BA-6C62-96C21B671EE8}"/>
              </a:ext>
            </a:extLst>
          </p:cNvPr>
          <p:cNvSpPr txBox="1"/>
          <p:nvPr/>
        </p:nvSpPr>
        <p:spPr>
          <a:xfrm>
            <a:off x="11237118" y="1857902"/>
            <a:ext cx="1303225"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6.7a</a:t>
            </a:r>
            <a:r>
              <a:rPr lang="en-US" sz="2400" dirty="0">
                <a:latin typeface="Times" pitchFamily="2" charset="0"/>
              </a:rPr>
              <a:t>)</a:t>
            </a:r>
          </a:p>
        </p:txBody>
      </p:sp>
      <p:grpSp>
        <p:nvGrpSpPr>
          <p:cNvPr id="74" name="Group 73">
            <a:extLst>
              <a:ext uri="{FF2B5EF4-FFF2-40B4-BE49-F238E27FC236}">
                <a16:creationId xmlns:a16="http://schemas.microsoft.com/office/drawing/2014/main" id="{C19C08EC-4DF2-D019-3A7D-971B387550E3}"/>
              </a:ext>
            </a:extLst>
          </p:cNvPr>
          <p:cNvGrpSpPr/>
          <p:nvPr/>
        </p:nvGrpSpPr>
        <p:grpSpPr>
          <a:xfrm>
            <a:off x="561703" y="4846320"/>
            <a:ext cx="11299371" cy="1254034"/>
            <a:chOff x="561703" y="4846320"/>
            <a:chExt cx="11299371" cy="1254034"/>
          </a:xfrm>
        </p:grpSpPr>
        <p:sp>
          <p:nvSpPr>
            <p:cNvPr id="72" name="TextBox 71">
              <a:extLst>
                <a:ext uri="{FF2B5EF4-FFF2-40B4-BE49-F238E27FC236}">
                  <a16:creationId xmlns:a16="http://schemas.microsoft.com/office/drawing/2014/main" id="{CCCE94E9-1CA5-699E-B067-857581D7B3A6}"/>
                </a:ext>
              </a:extLst>
            </p:cNvPr>
            <p:cNvSpPr txBox="1"/>
            <p:nvPr/>
          </p:nvSpPr>
          <p:spPr>
            <a:xfrm>
              <a:off x="572626" y="4866530"/>
              <a:ext cx="11236197" cy="1200329"/>
            </a:xfrm>
            <a:prstGeom prst="rect">
              <a:avLst/>
            </a:prstGeom>
            <a:noFill/>
          </p:spPr>
          <p:txBody>
            <a:bodyPr wrap="square" rtlCol="0">
              <a:spAutoFit/>
            </a:bodyPr>
            <a:lstStyle/>
            <a:p>
              <a:pPr algn="just"/>
              <a:r>
                <a:rPr lang="en-US" sz="2400" dirty="0">
                  <a:latin typeface="Times" pitchFamily="2" charset="0"/>
                </a:rPr>
                <a:t>Equations 6.7a and 6.7b are alternative forms of the </a:t>
              </a:r>
              <a:r>
                <a:rPr lang="en-US" sz="2400" dirty="0">
                  <a:solidFill>
                    <a:srgbClr val="007440"/>
                  </a:solidFill>
                  <a:latin typeface="Times" pitchFamily="2" charset="0"/>
                </a:rPr>
                <a:t>Work-Energy Theorem</a:t>
              </a:r>
              <a:r>
                <a:rPr lang="en-US" sz="2400" dirty="0">
                  <a:latin typeface="Times" pitchFamily="2" charset="0"/>
                </a:rPr>
                <a:t>, which can be useful, for example, in extracting information about the work done by the nonconservative forces acting on an object.</a:t>
              </a:r>
            </a:p>
          </p:txBody>
        </p:sp>
        <p:sp>
          <p:nvSpPr>
            <p:cNvPr id="73" name="Rectangle 72">
              <a:extLst>
                <a:ext uri="{FF2B5EF4-FFF2-40B4-BE49-F238E27FC236}">
                  <a16:creationId xmlns:a16="http://schemas.microsoft.com/office/drawing/2014/main" id="{8044AF6D-4CF9-2AA1-FC2F-CB39E041AF0F}"/>
                </a:ext>
              </a:extLst>
            </p:cNvPr>
            <p:cNvSpPr/>
            <p:nvPr/>
          </p:nvSpPr>
          <p:spPr>
            <a:xfrm>
              <a:off x="561703" y="4846320"/>
              <a:ext cx="11299371" cy="1254034"/>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5392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dissolve">
                                      <p:cBhvr>
                                        <p:cTn id="21" dur="500"/>
                                        <p:tgtEl>
                                          <p:spTgt spid="4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dissolve">
                                      <p:cBhvr>
                                        <p:cTn id="26" dur="500"/>
                                        <p:tgtEl>
                                          <p:spTgt spid="4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dissolve">
                                      <p:cBhvr>
                                        <p:cTn id="31" dur="500"/>
                                        <p:tgtEl>
                                          <p:spTgt spid="64"/>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dissolve">
                                      <p:cBhvr>
                                        <p:cTn id="35" dur="500"/>
                                        <p:tgtEl>
                                          <p:spTgt spid="71"/>
                                        </p:tgtEl>
                                      </p:cBhvr>
                                    </p:animEffect>
                                  </p:childTnLst>
                                </p:cTn>
                              </p:par>
                            </p:childTnLst>
                          </p:cTn>
                        </p:par>
                        <p:par>
                          <p:cTn id="36" fill="hold">
                            <p:stCondLst>
                              <p:cond delay="1000"/>
                            </p:stCondLst>
                            <p:childTnLst>
                              <p:par>
                                <p:cTn id="37" presetID="9" presetClass="entr" presetSubtype="0" fill="hold" nodeType="afterEffect">
                                  <p:stCondLst>
                                    <p:cond delay="0"/>
                                  </p:stCondLst>
                                  <p:childTnLst>
                                    <p:set>
                                      <p:cBhvr>
                                        <p:cTn id="38" dur="1" fill="hold">
                                          <p:stCondLst>
                                            <p:cond delay="0"/>
                                          </p:stCondLst>
                                        </p:cTn>
                                        <p:tgtEl>
                                          <p:spTgt spid="69"/>
                                        </p:tgtEl>
                                        <p:attrNameLst>
                                          <p:attrName>style.visibility</p:attrName>
                                        </p:attrNameLst>
                                      </p:cBhvr>
                                      <p:to>
                                        <p:strVal val="visible"/>
                                      </p:to>
                                    </p:set>
                                    <p:animEffect transition="in" filter="dissolve">
                                      <p:cBhvr>
                                        <p:cTn id="39" dur="500"/>
                                        <p:tgtEl>
                                          <p:spTgt spid="6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dissolve">
                                      <p:cBhvr>
                                        <p:cTn id="44" dur="500"/>
                                        <p:tgtEl>
                                          <p:spTgt spid="66"/>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dissolve">
                                      <p:cBhvr>
                                        <p:cTn id="48" dur="50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dissolve">
                                      <p:cBhvr>
                                        <p:cTn id="53"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7" grpId="0"/>
      <p:bldP spid="45" grpId="0"/>
      <p:bldP spid="66" grpId="0"/>
      <p:bldP spid="70" grpId="0"/>
      <p:bldP spid="7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F4D61-F8BB-B9F1-22C4-8C12798CC8C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2F980850-A53D-0843-F55F-F64CAA135F31}"/>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737BC7-CCE1-17D5-5603-8ADEDB8489EE}"/>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6.5</a:t>
            </a:r>
            <a:r>
              <a:rPr lang="en-US" dirty="0">
                <a:ea typeface="Calibri" charset="0"/>
                <a:cs typeface="Calibri" charset="0"/>
              </a:rPr>
              <a:t> The Conservation of Mechanical Energy</a:t>
            </a:r>
            <a:endParaRPr lang="en-US" sz="3000" dirty="0"/>
          </a:p>
        </p:txBody>
      </p:sp>
      <p:sp>
        <p:nvSpPr>
          <p:cNvPr id="5" name="Content Placeholder 2">
            <a:extLst>
              <a:ext uri="{FF2B5EF4-FFF2-40B4-BE49-F238E27FC236}">
                <a16:creationId xmlns:a16="http://schemas.microsoft.com/office/drawing/2014/main" id="{A7ED0D42-8E51-46A3-0075-16637AF114E1}"/>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6.5 </a:t>
            </a:r>
            <a:r>
              <a:rPr lang="en-US" dirty="0"/>
              <a:t>– Use the law of conservation of mechanical energy.</a:t>
            </a:r>
          </a:p>
        </p:txBody>
      </p:sp>
      <p:grpSp>
        <p:nvGrpSpPr>
          <p:cNvPr id="7" name="Group 6">
            <a:extLst>
              <a:ext uri="{FF2B5EF4-FFF2-40B4-BE49-F238E27FC236}">
                <a16:creationId xmlns:a16="http://schemas.microsoft.com/office/drawing/2014/main" id="{1007F123-1D1F-0493-9E1D-ACDB5855E801}"/>
              </a:ext>
            </a:extLst>
          </p:cNvPr>
          <p:cNvGrpSpPr/>
          <p:nvPr/>
        </p:nvGrpSpPr>
        <p:grpSpPr>
          <a:xfrm>
            <a:off x="161677" y="1615193"/>
            <a:ext cx="9217455" cy="830997"/>
            <a:chOff x="161677" y="1615193"/>
            <a:chExt cx="9217455" cy="830997"/>
          </a:xfrm>
        </p:grpSpPr>
        <p:sp>
          <p:nvSpPr>
            <p:cNvPr id="4" name="TextBox 3">
              <a:extLst>
                <a:ext uri="{FF2B5EF4-FFF2-40B4-BE49-F238E27FC236}">
                  <a16:creationId xmlns:a16="http://schemas.microsoft.com/office/drawing/2014/main" id="{1811D7BD-978C-B38D-F907-90551E2DE5C7}"/>
                </a:ext>
              </a:extLst>
            </p:cNvPr>
            <p:cNvSpPr txBox="1"/>
            <p:nvPr/>
          </p:nvSpPr>
          <p:spPr>
            <a:xfrm>
              <a:off x="161677" y="1615193"/>
              <a:ext cx="4749957" cy="830997"/>
            </a:xfrm>
            <a:prstGeom prst="rect">
              <a:avLst/>
            </a:prstGeom>
            <a:noFill/>
          </p:spPr>
          <p:txBody>
            <a:bodyPr wrap="square">
              <a:spAutoFit/>
            </a:bodyPr>
            <a:lstStyle/>
            <a:p>
              <a:pPr algn="just"/>
              <a:r>
                <a:rPr lang="en-US" sz="2400" dirty="0">
                  <a:latin typeface="Times" pitchFamily="2" charset="0"/>
                </a:rPr>
                <a:t>To this point, we accept that objects can possess two types of energy: </a:t>
              </a:r>
            </a:p>
          </p:txBody>
        </p:sp>
        <p:sp>
          <p:nvSpPr>
            <p:cNvPr id="3" name="Rounded Rectangle 2">
              <a:extLst>
                <a:ext uri="{FF2B5EF4-FFF2-40B4-BE49-F238E27FC236}">
                  <a16:creationId xmlns:a16="http://schemas.microsoft.com/office/drawing/2014/main" id="{C7F269F7-DEFB-2582-6876-9063FE8E2D2D}"/>
                </a:ext>
              </a:extLst>
            </p:cNvPr>
            <p:cNvSpPr/>
            <p:nvPr/>
          </p:nvSpPr>
          <p:spPr>
            <a:xfrm>
              <a:off x="5042264" y="1645919"/>
              <a:ext cx="4336868" cy="7968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525B9492-A6F6-DAA5-5E71-31646E799D95}"/>
              </a:ext>
            </a:extLst>
          </p:cNvPr>
          <p:cNvSpPr txBox="1"/>
          <p:nvPr/>
        </p:nvSpPr>
        <p:spPr>
          <a:xfrm>
            <a:off x="5107575" y="1724299"/>
            <a:ext cx="4376057" cy="707886"/>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Kinetic (KE)</a:t>
            </a:r>
          </a:p>
          <a:p>
            <a:r>
              <a:rPr lang="en-US" sz="2000" dirty="0">
                <a:solidFill>
                  <a:srgbClr val="007440"/>
                </a:solidFill>
                <a:latin typeface="Chalkduster" panose="03050602040202020205" pitchFamily="66" charset="77"/>
              </a:rPr>
              <a:t>Gravitational Potential (PE)</a:t>
            </a:r>
          </a:p>
        </p:txBody>
      </p:sp>
      <p:grpSp>
        <p:nvGrpSpPr>
          <p:cNvPr id="16" name="Group 15">
            <a:extLst>
              <a:ext uri="{FF2B5EF4-FFF2-40B4-BE49-F238E27FC236}">
                <a16:creationId xmlns:a16="http://schemas.microsoft.com/office/drawing/2014/main" id="{47BFBE79-7905-FE49-9F37-F051F8E8A977}"/>
              </a:ext>
            </a:extLst>
          </p:cNvPr>
          <p:cNvGrpSpPr/>
          <p:nvPr/>
        </p:nvGrpSpPr>
        <p:grpSpPr>
          <a:xfrm>
            <a:off x="144260" y="2786496"/>
            <a:ext cx="10593409" cy="830997"/>
            <a:chOff x="144260" y="2786496"/>
            <a:chExt cx="10593409" cy="830997"/>
          </a:xfrm>
        </p:grpSpPr>
        <p:sp>
          <p:nvSpPr>
            <p:cNvPr id="14" name="TextBox 13">
              <a:extLst>
                <a:ext uri="{FF2B5EF4-FFF2-40B4-BE49-F238E27FC236}">
                  <a16:creationId xmlns:a16="http://schemas.microsoft.com/office/drawing/2014/main" id="{4741BFB3-1DB6-B3CA-FDA9-D7FA903830F5}"/>
                </a:ext>
              </a:extLst>
            </p:cNvPr>
            <p:cNvSpPr txBox="1"/>
            <p:nvPr/>
          </p:nvSpPr>
          <p:spPr>
            <a:xfrm>
              <a:off x="144260" y="2786496"/>
              <a:ext cx="8137591" cy="830997"/>
            </a:xfrm>
            <a:prstGeom prst="rect">
              <a:avLst/>
            </a:prstGeom>
            <a:noFill/>
          </p:spPr>
          <p:txBody>
            <a:bodyPr wrap="square">
              <a:spAutoFit/>
            </a:bodyPr>
            <a:lstStyle/>
            <a:p>
              <a:pPr algn="just"/>
              <a:r>
                <a:rPr lang="en-US" sz="2400" dirty="0">
                  <a:latin typeface="Times" pitchFamily="2" charset="0"/>
                </a:rPr>
                <a:t>It then follows that the </a:t>
              </a:r>
              <a:r>
                <a:rPr lang="en-US" sz="2400" b="1" dirty="0">
                  <a:latin typeface="Times" pitchFamily="2" charset="0"/>
                </a:rPr>
                <a:t>total energy</a:t>
              </a:r>
              <a:r>
                <a:rPr lang="en-US" sz="2400" dirty="0">
                  <a:latin typeface="Times" pitchFamily="2" charset="0"/>
                </a:rPr>
                <a:t> of an object (referred to as the </a:t>
              </a:r>
              <a:r>
                <a:rPr lang="en-US" sz="2400" dirty="0">
                  <a:solidFill>
                    <a:srgbClr val="007440"/>
                  </a:solidFill>
                  <a:latin typeface="Times" pitchFamily="2" charset="0"/>
                </a:rPr>
                <a:t>Total Mechanical Energy</a:t>
              </a:r>
              <a:r>
                <a:rPr lang="en-US" sz="2400" dirty="0">
                  <a:latin typeface="Times" pitchFamily="2" charset="0"/>
                </a:rPr>
                <a:t>, or </a:t>
              </a:r>
              <a:r>
                <a:rPr lang="en-US" sz="2400" i="1" dirty="0">
                  <a:solidFill>
                    <a:srgbClr val="007440"/>
                  </a:solidFill>
                  <a:latin typeface="Times" pitchFamily="2" charset="0"/>
                </a:rPr>
                <a:t>E</a:t>
              </a:r>
              <a:r>
                <a:rPr lang="en-US" sz="2400" dirty="0">
                  <a:latin typeface="Times" pitchFamily="2" charset="0"/>
                </a:rPr>
                <a:t>) is just the sum of these two:</a:t>
              </a:r>
            </a:p>
          </p:txBody>
        </p:sp>
        <p:sp>
          <p:nvSpPr>
            <p:cNvPr id="15" name="Rounded Rectangle 14">
              <a:extLst>
                <a:ext uri="{FF2B5EF4-FFF2-40B4-BE49-F238E27FC236}">
                  <a16:creationId xmlns:a16="http://schemas.microsoft.com/office/drawing/2014/main" id="{E58318AD-CA84-4177-0B5D-76EA02D999D0}"/>
                </a:ext>
              </a:extLst>
            </p:cNvPr>
            <p:cNvSpPr/>
            <p:nvPr/>
          </p:nvSpPr>
          <p:spPr>
            <a:xfrm>
              <a:off x="8856618" y="2978331"/>
              <a:ext cx="1881051"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75D8EC3C-5614-216D-9969-27CA52E5C885}"/>
              </a:ext>
            </a:extLst>
          </p:cNvPr>
          <p:cNvSpPr txBox="1"/>
          <p:nvPr/>
        </p:nvSpPr>
        <p:spPr>
          <a:xfrm>
            <a:off x="8895806" y="3004456"/>
            <a:ext cx="2220686" cy="461665"/>
          </a:xfrm>
          <a:prstGeom prst="rect">
            <a:avLst/>
          </a:prstGeom>
          <a:noFill/>
        </p:spPr>
        <p:txBody>
          <a:bodyPr wrap="square" rtlCol="0">
            <a:spAutoFit/>
          </a:bodyPr>
          <a:lstStyle/>
          <a:p>
            <a:r>
              <a:rPr lang="en-US" sz="2400" i="1" dirty="0">
                <a:latin typeface="Times" pitchFamily="2" charset="0"/>
              </a:rPr>
              <a:t>E</a:t>
            </a:r>
            <a:r>
              <a:rPr lang="en-US" sz="2400" dirty="0">
                <a:latin typeface="Times" pitchFamily="2" charset="0"/>
              </a:rPr>
              <a:t> = KE + PE</a:t>
            </a:r>
          </a:p>
        </p:txBody>
      </p:sp>
      <p:sp>
        <p:nvSpPr>
          <p:cNvPr id="18" name="TextBox 17">
            <a:extLst>
              <a:ext uri="{FF2B5EF4-FFF2-40B4-BE49-F238E27FC236}">
                <a16:creationId xmlns:a16="http://schemas.microsoft.com/office/drawing/2014/main" id="{7B6810C7-0EB0-1A93-8C6F-30CA213490AA}"/>
              </a:ext>
            </a:extLst>
          </p:cNvPr>
          <p:cNvSpPr txBox="1"/>
          <p:nvPr/>
        </p:nvSpPr>
        <p:spPr>
          <a:xfrm>
            <a:off x="152969" y="3801044"/>
            <a:ext cx="10767580" cy="830997"/>
          </a:xfrm>
          <a:prstGeom prst="rect">
            <a:avLst/>
          </a:prstGeom>
          <a:noFill/>
        </p:spPr>
        <p:txBody>
          <a:bodyPr wrap="square">
            <a:spAutoFit/>
          </a:bodyPr>
          <a:lstStyle/>
          <a:p>
            <a:pPr algn="just"/>
            <a:r>
              <a:rPr lang="en-US" sz="2400" dirty="0">
                <a:latin typeface="Times" pitchFamily="2" charset="0"/>
              </a:rPr>
              <a:t>This allows us to rewrite the work-energy theorem in Equation 6.7b in terms of the </a:t>
            </a:r>
            <a:r>
              <a:rPr lang="en-US" sz="2400" dirty="0">
                <a:solidFill>
                  <a:srgbClr val="007440"/>
                </a:solidFill>
                <a:latin typeface="Times" pitchFamily="2" charset="0"/>
              </a:rPr>
              <a:t>Total Mechanical Energy</a:t>
            </a:r>
            <a:r>
              <a:rPr lang="en-US" sz="2400" dirty="0">
                <a:latin typeface="Times" pitchFamily="2" charset="0"/>
              </a:rPr>
              <a:t>:</a:t>
            </a:r>
          </a:p>
        </p:txBody>
      </p:sp>
      <p:sp>
        <p:nvSpPr>
          <p:cNvPr id="19" name="TextBox 18">
            <a:extLst>
              <a:ext uri="{FF2B5EF4-FFF2-40B4-BE49-F238E27FC236}">
                <a16:creationId xmlns:a16="http://schemas.microsoft.com/office/drawing/2014/main" id="{8883D0A9-DAE9-7901-150C-69D4B96E5EA9}"/>
              </a:ext>
            </a:extLst>
          </p:cNvPr>
          <p:cNvSpPr txBox="1"/>
          <p:nvPr/>
        </p:nvSpPr>
        <p:spPr>
          <a:xfrm>
            <a:off x="122370" y="4744077"/>
            <a:ext cx="2776923"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dirty="0">
                <a:latin typeface="Symbol" pitchFamily="2" charset="2"/>
              </a:rPr>
              <a:t>D</a:t>
            </a:r>
            <a:r>
              <a:rPr lang="en-US" sz="2400" dirty="0">
                <a:latin typeface="Times" pitchFamily="2" charset="0"/>
              </a:rPr>
              <a:t>KE + </a:t>
            </a:r>
            <a:r>
              <a:rPr lang="en-US" sz="2400" dirty="0">
                <a:latin typeface="Symbol" pitchFamily="2" charset="2"/>
              </a:rPr>
              <a:t>D</a:t>
            </a:r>
            <a:r>
              <a:rPr lang="en-US" sz="2400" dirty="0">
                <a:latin typeface="Times" pitchFamily="2" charset="0"/>
              </a:rPr>
              <a:t>PE</a:t>
            </a:r>
            <a:endParaRPr lang="en-US" sz="2400" baseline="-25000" dirty="0">
              <a:latin typeface="Times" pitchFamily="2" charset="0"/>
            </a:endParaRPr>
          </a:p>
        </p:txBody>
      </p:sp>
      <p:sp>
        <p:nvSpPr>
          <p:cNvPr id="20" name="TextBox 19">
            <a:extLst>
              <a:ext uri="{FF2B5EF4-FFF2-40B4-BE49-F238E27FC236}">
                <a16:creationId xmlns:a16="http://schemas.microsoft.com/office/drawing/2014/main" id="{EEA3B39D-3FB6-986D-0FB8-01D58D0169F0}"/>
              </a:ext>
            </a:extLst>
          </p:cNvPr>
          <p:cNvSpPr txBox="1"/>
          <p:nvPr/>
        </p:nvSpPr>
        <p:spPr>
          <a:xfrm>
            <a:off x="2586896" y="4744077"/>
            <a:ext cx="3957596" cy="461665"/>
          </a:xfrm>
          <a:prstGeom prst="rect">
            <a:avLst/>
          </a:prstGeom>
          <a:noFill/>
        </p:spPr>
        <p:txBody>
          <a:bodyPr wrap="square" rtlCol="0">
            <a:spAutoFit/>
          </a:bodyPr>
          <a:lstStyle/>
          <a:p>
            <a:r>
              <a:rPr lang="en-US" sz="2400" dirty="0">
                <a:latin typeface="Times" pitchFamily="2" charset="0"/>
              </a:rPr>
              <a:t>= </a:t>
            </a:r>
            <a:r>
              <a:rPr lang="en-US" sz="2400" dirty="0" err="1">
                <a:latin typeface="Times" pitchFamily="2" charset="0"/>
              </a:rPr>
              <a:t>KE</a:t>
            </a:r>
            <a:r>
              <a:rPr lang="en-US" sz="2400" baseline="-25000" dirty="0" err="1">
                <a:latin typeface="Times" pitchFamily="2" charset="0"/>
              </a:rPr>
              <a:t>f</a:t>
            </a:r>
            <a:r>
              <a:rPr lang="en-US" sz="2400" dirty="0">
                <a:latin typeface="Times" pitchFamily="2" charset="0"/>
              </a:rPr>
              <a:t> – KE</a:t>
            </a:r>
            <a:r>
              <a:rPr lang="en-US" sz="2400" baseline="-25000" dirty="0">
                <a:latin typeface="Times" pitchFamily="2" charset="0"/>
              </a:rPr>
              <a:t>0</a:t>
            </a:r>
            <a:r>
              <a:rPr lang="en-US" sz="2400" dirty="0">
                <a:latin typeface="Times" pitchFamily="2" charset="0"/>
              </a:rPr>
              <a:t> + </a:t>
            </a:r>
            <a:r>
              <a:rPr lang="en-US" sz="2400" dirty="0" err="1">
                <a:latin typeface="Times" pitchFamily="2" charset="0"/>
              </a:rPr>
              <a:t>PE</a:t>
            </a:r>
            <a:r>
              <a:rPr lang="en-US" sz="2400" baseline="-25000" dirty="0" err="1">
                <a:latin typeface="Times" pitchFamily="2" charset="0"/>
              </a:rPr>
              <a:t>f</a:t>
            </a:r>
            <a:r>
              <a:rPr lang="en-US" sz="2400" dirty="0">
                <a:latin typeface="Times" pitchFamily="2" charset="0"/>
              </a:rPr>
              <a:t> – PE</a:t>
            </a:r>
            <a:r>
              <a:rPr lang="en-US" sz="2400" baseline="-25000" dirty="0">
                <a:latin typeface="Times" pitchFamily="2" charset="0"/>
              </a:rPr>
              <a:t>0</a:t>
            </a:r>
          </a:p>
        </p:txBody>
      </p:sp>
      <p:sp>
        <p:nvSpPr>
          <p:cNvPr id="21" name="TextBox 20">
            <a:extLst>
              <a:ext uri="{FF2B5EF4-FFF2-40B4-BE49-F238E27FC236}">
                <a16:creationId xmlns:a16="http://schemas.microsoft.com/office/drawing/2014/main" id="{F6BCC790-7FC3-84E7-3DF9-22F191852F60}"/>
              </a:ext>
            </a:extLst>
          </p:cNvPr>
          <p:cNvSpPr txBox="1"/>
          <p:nvPr/>
        </p:nvSpPr>
        <p:spPr>
          <a:xfrm>
            <a:off x="6109632" y="4750278"/>
            <a:ext cx="6082368" cy="461665"/>
          </a:xfrm>
          <a:prstGeom prst="rect">
            <a:avLst/>
          </a:prstGeom>
          <a:noFill/>
        </p:spPr>
        <p:txBody>
          <a:bodyPr wrap="square">
            <a:spAutoFit/>
          </a:bodyPr>
          <a:lstStyle/>
          <a:p>
            <a:pPr algn="just"/>
            <a:r>
              <a:rPr lang="en-US" sz="2400" dirty="0">
                <a:latin typeface="Times" pitchFamily="2" charset="0"/>
              </a:rPr>
              <a:t>Now let’s group the initial and final terms:</a:t>
            </a:r>
          </a:p>
        </p:txBody>
      </p:sp>
      <p:sp>
        <p:nvSpPr>
          <p:cNvPr id="22" name="TextBox 21">
            <a:extLst>
              <a:ext uri="{FF2B5EF4-FFF2-40B4-BE49-F238E27FC236}">
                <a16:creationId xmlns:a16="http://schemas.microsoft.com/office/drawing/2014/main" id="{B4BF7224-3450-D0B9-911F-0378889B26E9}"/>
              </a:ext>
            </a:extLst>
          </p:cNvPr>
          <p:cNvSpPr txBox="1"/>
          <p:nvPr/>
        </p:nvSpPr>
        <p:spPr>
          <a:xfrm>
            <a:off x="126725" y="5327551"/>
            <a:ext cx="4588968"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dirty="0" err="1">
                <a:latin typeface="Times" pitchFamily="2" charset="0"/>
              </a:rPr>
              <a:t>KE</a:t>
            </a:r>
            <a:r>
              <a:rPr lang="en-US" sz="2400" baseline="-25000" dirty="0" err="1">
                <a:latin typeface="Times" pitchFamily="2" charset="0"/>
              </a:rPr>
              <a:t>f</a:t>
            </a:r>
            <a:r>
              <a:rPr lang="en-US" sz="2400" baseline="-25000" dirty="0">
                <a:latin typeface="Times" pitchFamily="2" charset="0"/>
              </a:rPr>
              <a:t> </a:t>
            </a:r>
            <a:r>
              <a:rPr lang="en-US" sz="2400" dirty="0">
                <a:latin typeface="Times" pitchFamily="2" charset="0"/>
              </a:rPr>
              <a:t> + </a:t>
            </a:r>
            <a:r>
              <a:rPr lang="en-US" sz="2400" dirty="0" err="1">
                <a:latin typeface="Times" pitchFamily="2" charset="0"/>
              </a:rPr>
              <a:t>PE</a:t>
            </a:r>
            <a:r>
              <a:rPr lang="en-US" sz="2400" baseline="-25000" dirty="0" err="1">
                <a:latin typeface="Times" pitchFamily="2" charset="0"/>
              </a:rPr>
              <a:t>f</a:t>
            </a:r>
            <a:r>
              <a:rPr lang="en-US" sz="2400" dirty="0">
                <a:latin typeface="Times" pitchFamily="2" charset="0"/>
              </a:rPr>
              <a:t> – (KE</a:t>
            </a:r>
            <a:r>
              <a:rPr lang="en-US" sz="2400" baseline="-25000" dirty="0">
                <a:latin typeface="Times" pitchFamily="2" charset="0"/>
              </a:rPr>
              <a:t>0</a:t>
            </a:r>
            <a:r>
              <a:rPr lang="en-US" sz="2400" dirty="0">
                <a:latin typeface="Times" pitchFamily="2" charset="0"/>
              </a:rPr>
              <a:t> + PE</a:t>
            </a:r>
            <a:r>
              <a:rPr lang="en-US" sz="2400" baseline="-25000" dirty="0">
                <a:latin typeface="Times" pitchFamily="2" charset="0"/>
              </a:rPr>
              <a:t>0</a:t>
            </a:r>
            <a:r>
              <a:rPr lang="en-US" sz="2400" dirty="0">
                <a:latin typeface="Times" pitchFamily="2" charset="0"/>
              </a:rPr>
              <a:t>)</a:t>
            </a:r>
            <a:endParaRPr lang="en-US" sz="2400" baseline="-25000" dirty="0">
              <a:latin typeface="Times" pitchFamily="2" charset="0"/>
            </a:endParaRPr>
          </a:p>
        </p:txBody>
      </p:sp>
      <p:sp>
        <p:nvSpPr>
          <p:cNvPr id="23" name="TextBox 22">
            <a:extLst>
              <a:ext uri="{FF2B5EF4-FFF2-40B4-BE49-F238E27FC236}">
                <a16:creationId xmlns:a16="http://schemas.microsoft.com/office/drawing/2014/main" id="{425DE00E-5E17-49A2-2CE5-9FE0F27844D2}"/>
              </a:ext>
            </a:extLst>
          </p:cNvPr>
          <p:cNvSpPr txBox="1"/>
          <p:nvPr/>
        </p:nvSpPr>
        <p:spPr>
          <a:xfrm>
            <a:off x="4623326" y="5521896"/>
            <a:ext cx="7323339" cy="769441"/>
          </a:xfrm>
          <a:prstGeom prst="rect">
            <a:avLst/>
          </a:prstGeom>
          <a:noFill/>
        </p:spPr>
        <p:txBody>
          <a:bodyPr wrap="square">
            <a:spAutoFit/>
          </a:bodyPr>
          <a:lstStyle/>
          <a:p>
            <a:pPr algn="just"/>
            <a:r>
              <a:rPr lang="en-US" sz="2200" dirty="0">
                <a:latin typeface="Times" pitchFamily="2" charset="0"/>
              </a:rPr>
              <a:t>The first two terms represent the total final mechanical energy, and the last two terms the total initial mechanical energy. </a:t>
            </a:r>
          </a:p>
        </p:txBody>
      </p:sp>
      <p:grpSp>
        <p:nvGrpSpPr>
          <p:cNvPr id="26" name="Group 25">
            <a:extLst>
              <a:ext uri="{FF2B5EF4-FFF2-40B4-BE49-F238E27FC236}">
                <a16:creationId xmlns:a16="http://schemas.microsoft.com/office/drawing/2014/main" id="{22934E5C-B8AB-BCCC-665D-A45E68A7EC19}"/>
              </a:ext>
            </a:extLst>
          </p:cNvPr>
          <p:cNvGrpSpPr/>
          <p:nvPr/>
        </p:nvGrpSpPr>
        <p:grpSpPr>
          <a:xfrm>
            <a:off x="339568" y="5865223"/>
            <a:ext cx="2712270" cy="481342"/>
            <a:chOff x="148496" y="5865223"/>
            <a:chExt cx="2712270" cy="481342"/>
          </a:xfrm>
        </p:grpSpPr>
        <p:sp>
          <p:nvSpPr>
            <p:cNvPr id="24" name="TextBox 23">
              <a:extLst>
                <a:ext uri="{FF2B5EF4-FFF2-40B4-BE49-F238E27FC236}">
                  <a16:creationId xmlns:a16="http://schemas.microsoft.com/office/drawing/2014/main" id="{71A3F63D-D840-9791-9622-7AA567D103FD}"/>
                </a:ext>
              </a:extLst>
            </p:cNvPr>
            <p:cNvSpPr txBox="1"/>
            <p:nvPr/>
          </p:nvSpPr>
          <p:spPr>
            <a:xfrm>
              <a:off x="148496" y="5884900"/>
              <a:ext cx="1053287" cy="461665"/>
            </a:xfrm>
            <a:prstGeom prst="rect">
              <a:avLst/>
            </a:prstGeom>
            <a:noFill/>
          </p:spPr>
          <p:txBody>
            <a:bodyPr wrap="square" rtlCol="0">
              <a:spAutoFit/>
            </a:bodyPr>
            <a:lstStyle/>
            <a:p>
              <a:r>
                <a:rPr lang="en-US" sz="2400" dirty="0">
                  <a:latin typeface="Times" pitchFamily="2" charset="0"/>
                </a:rPr>
                <a:t>Thus, </a:t>
              </a:r>
              <a:endParaRPr lang="en-US" sz="2400" baseline="-25000" dirty="0">
                <a:latin typeface="Times" pitchFamily="2" charset="0"/>
              </a:endParaRPr>
            </a:p>
          </p:txBody>
        </p:sp>
        <p:sp>
          <p:nvSpPr>
            <p:cNvPr id="25" name="Rounded Rectangle 24">
              <a:extLst>
                <a:ext uri="{FF2B5EF4-FFF2-40B4-BE49-F238E27FC236}">
                  <a16:creationId xmlns:a16="http://schemas.microsoft.com/office/drawing/2014/main" id="{08A35FFB-8D12-84AA-E199-FCC77C4B7720}"/>
                </a:ext>
              </a:extLst>
            </p:cNvPr>
            <p:cNvSpPr/>
            <p:nvPr/>
          </p:nvSpPr>
          <p:spPr>
            <a:xfrm>
              <a:off x="1018903" y="5865223"/>
              <a:ext cx="1841863"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D201AF33-6C35-F5D2-29F1-2E40AADDE3F3}"/>
              </a:ext>
            </a:extLst>
          </p:cNvPr>
          <p:cNvSpPr txBox="1"/>
          <p:nvPr/>
        </p:nvSpPr>
        <p:spPr>
          <a:xfrm>
            <a:off x="1154026" y="5880251"/>
            <a:ext cx="2006824"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f  </a:t>
            </a:r>
            <a:r>
              <a:rPr lang="en-US" sz="2400" dirty="0">
                <a:latin typeface="Times" pitchFamily="2" charset="0"/>
              </a:rPr>
              <a:t>– </a:t>
            </a:r>
            <a:r>
              <a:rPr lang="en-US" sz="2400" i="1" dirty="0">
                <a:latin typeface="Times" pitchFamily="2" charset="0"/>
              </a:rPr>
              <a:t>E</a:t>
            </a:r>
            <a:r>
              <a:rPr lang="en-US" sz="2400" baseline="-25000" dirty="0">
                <a:latin typeface="Times" pitchFamily="2" charset="0"/>
              </a:rPr>
              <a:t>0</a:t>
            </a:r>
            <a:endParaRPr lang="en-US" sz="2400" dirty="0"/>
          </a:p>
        </p:txBody>
      </p:sp>
      <p:sp>
        <p:nvSpPr>
          <p:cNvPr id="28" name="TextBox 27">
            <a:extLst>
              <a:ext uri="{FF2B5EF4-FFF2-40B4-BE49-F238E27FC236}">
                <a16:creationId xmlns:a16="http://schemas.microsoft.com/office/drawing/2014/main" id="{8B931DF8-98B9-136F-1E76-3480C52A974A}"/>
              </a:ext>
            </a:extLst>
          </p:cNvPr>
          <p:cNvSpPr txBox="1"/>
          <p:nvPr/>
        </p:nvSpPr>
        <p:spPr>
          <a:xfrm>
            <a:off x="3173868" y="5875212"/>
            <a:ext cx="1119865"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6.8</a:t>
            </a:r>
            <a:r>
              <a:rPr lang="en-US" sz="2400" dirty="0">
                <a:latin typeface="Times" pitchFamily="2" charset="0"/>
              </a:rPr>
              <a:t>)</a:t>
            </a:r>
          </a:p>
        </p:txBody>
      </p:sp>
    </p:spTree>
    <p:extLst>
      <p:ext uri="{BB962C8B-B14F-4D97-AF65-F5344CB8AC3E}">
        <p14:creationId xmlns:p14="http://schemas.microsoft.com/office/powerpoint/2010/main" val="261996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dissolv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dissolv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dissolve">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dissolve">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dissolve">
                                      <p:cBhvr>
                                        <p:cTn id="62" dur="500"/>
                                        <p:tgtEl>
                                          <p:spTgt spid="27"/>
                                        </p:tgtEl>
                                      </p:cBhvr>
                                    </p:animEffect>
                                  </p:childTnLst>
                                </p:cTn>
                              </p:par>
                            </p:childTnLst>
                          </p:cTn>
                        </p:par>
                        <p:par>
                          <p:cTn id="63" fill="hold">
                            <p:stCondLst>
                              <p:cond delay="500"/>
                            </p:stCondLst>
                            <p:childTnLst>
                              <p:par>
                                <p:cTn id="64" presetID="9" presetClass="entr" presetSubtype="0"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dissolve">
                                      <p:cBhvr>
                                        <p:cTn id="6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18" grpId="0"/>
      <p:bldP spid="19" grpId="0"/>
      <p:bldP spid="20" grpId="0"/>
      <p:bldP spid="21" grpId="0"/>
      <p:bldP spid="22" grpId="0"/>
      <p:bldP spid="23" grpId="0"/>
      <p:bldP spid="27" grpId="0"/>
      <p:bldP spid="2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5BA1-AA85-1237-B275-F43CDF018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12E3B-AD16-471D-9150-82F956777B29}"/>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6.5</a:t>
            </a:r>
            <a:r>
              <a:rPr lang="en-US" dirty="0">
                <a:ea typeface="Calibri" charset="0"/>
                <a:cs typeface="Calibri" charset="0"/>
              </a:rPr>
              <a:t> The Conservation of Mechanical Energy</a:t>
            </a:r>
            <a:endParaRPr lang="en-US" sz="3000" dirty="0"/>
          </a:p>
        </p:txBody>
      </p:sp>
      <p:sp>
        <p:nvSpPr>
          <p:cNvPr id="18" name="TextBox 17">
            <a:extLst>
              <a:ext uri="{FF2B5EF4-FFF2-40B4-BE49-F238E27FC236}">
                <a16:creationId xmlns:a16="http://schemas.microsoft.com/office/drawing/2014/main" id="{5B95D097-2D12-B9A6-D7EB-5F948D2FC502}"/>
              </a:ext>
            </a:extLst>
          </p:cNvPr>
          <p:cNvSpPr txBox="1"/>
          <p:nvPr/>
        </p:nvSpPr>
        <p:spPr>
          <a:xfrm>
            <a:off x="163773" y="784890"/>
            <a:ext cx="11873551" cy="461665"/>
          </a:xfrm>
          <a:prstGeom prst="rect">
            <a:avLst/>
          </a:prstGeom>
          <a:noFill/>
        </p:spPr>
        <p:txBody>
          <a:bodyPr wrap="square">
            <a:spAutoFit/>
          </a:bodyPr>
          <a:lstStyle/>
          <a:p>
            <a:pPr algn="just"/>
            <a:r>
              <a:rPr lang="en-US" sz="2400" dirty="0">
                <a:latin typeface="Times" pitchFamily="2" charset="0"/>
              </a:rPr>
              <a:t>We know it has taken a little bit of algebra to get to Equation 6.8, but the result is well worth it!</a:t>
            </a:r>
          </a:p>
        </p:txBody>
      </p:sp>
      <p:sp>
        <p:nvSpPr>
          <p:cNvPr id="27" name="TextBox 26">
            <a:extLst>
              <a:ext uri="{FF2B5EF4-FFF2-40B4-BE49-F238E27FC236}">
                <a16:creationId xmlns:a16="http://schemas.microsoft.com/office/drawing/2014/main" id="{C693B6D3-0E26-A496-6B38-DA7AEEF0E6D6}"/>
              </a:ext>
            </a:extLst>
          </p:cNvPr>
          <p:cNvSpPr txBox="1"/>
          <p:nvPr/>
        </p:nvSpPr>
        <p:spPr>
          <a:xfrm>
            <a:off x="4866216" y="1335547"/>
            <a:ext cx="2006824"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f  </a:t>
            </a:r>
            <a:r>
              <a:rPr lang="en-US" sz="2400" dirty="0">
                <a:latin typeface="Times" pitchFamily="2" charset="0"/>
              </a:rPr>
              <a:t>– </a:t>
            </a:r>
            <a:r>
              <a:rPr lang="en-US" sz="2400" i="1" dirty="0">
                <a:latin typeface="Times" pitchFamily="2" charset="0"/>
              </a:rPr>
              <a:t>E</a:t>
            </a:r>
            <a:r>
              <a:rPr lang="en-US" sz="2400" baseline="-25000" dirty="0">
                <a:latin typeface="Times" pitchFamily="2" charset="0"/>
              </a:rPr>
              <a:t>0</a:t>
            </a:r>
            <a:endParaRPr lang="en-US" sz="2400" dirty="0"/>
          </a:p>
        </p:txBody>
      </p:sp>
      <p:sp>
        <p:nvSpPr>
          <p:cNvPr id="8" name="Rectangle 7">
            <a:extLst>
              <a:ext uri="{FF2B5EF4-FFF2-40B4-BE49-F238E27FC236}">
                <a16:creationId xmlns:a16="http://schemas.microsoft.com/office/drawing/2014/main" id="{CE5C79CF-F111-A8B2-11D2-F8BF913A2342}"/>
              </a:ext>
            </a:extLst>
          </p:cNvPr>
          <p:cNvSpPr/>
          <p:nvPr/>
        </p:nvSpPr>
        <p:spPr>
          <a:xfrm>
            <a:off x="4872251" y="1337481"/>
            <a:ext cx="1924334" cy="45037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643DCCA-D8FC-B798-E049-0C75AF6FDC45}"/>
              </a:ext>
            </a:extLst>
          </p:cNvPr>
          <p:cNvSpPr txBox="1"/>
          <p:nvPr/>
        </p:nvSpPr>
        <p:spPr>
          <a:xfrm>
            <a:off x="206991" y="1906281"/>
            <a:ext cx="11873551" cy="830997"/>
          </a:xfrm>
          <a:prstGeom prst="rect">
            <a:avLst/>
          </a:prstGeom>
          <a:noFill/>
        </p:spPr>
        <p:txBody>
          <a:bodyPr wrap="square">
            <a:spAutoFit/>
          </a:bodyPr>
          <a:lstStyle/>
          <a:p>
            <a:pPr algn="just"/>
            <a:r>
              <a:rPr lang="en-US" sz="2400" dirty="0">
                <a:latin typeface="Times" pitchFamily="2" charset="0"/>
              </a:rPr>
              <a:t>Why?  Because in many of the problems we’ll encounter, only conservative forces will act on an object.  </a:t>
            </a:r>
          </a:p>
        </p:txBody>
      </p:sp>
      <p:sp>
        <p:nvSpPr>
          <p:cNvPr id="10" name="TextBox 9">
            <a:extLst>
              <a:ext uri="{FF2B5EF4-FFF2-40B4-BE49-F238E27FC236}">
                <a16:creationId xmlns:a16="http://schemas.microsoft.com/office/drawing/2014/main" id="{3F99E0DB-AD80-E7C0-4D0A-56B24A213B96}"/>
              </a:ext>
            </a:extLst>
          </p:cNvPr>
          <p:cNvSpPr txBox="1"/>
          <p:nvPr/>
        </p:nvSpPr>
        <p:spPr>
          <a:xfrm>
            <a:off x="195619" y="2795660"/>
            <a:ext cx="5768454" cy="461665"/>
          </a:xfrm>
          <a:prstGeom prst="rect">
            <a:avLst/>
          </a:prstGeom>
          <a:noFill/>
        </p:spPr>
        <p:txBody>
          <a:bodyPr wrap="square">
            <a:spAutoFit/>
          </a:bodyPr>
          <a:lstStyle/>
          <a:p>
            <a:pPr algn="just"/>
            <a:r>
              <a:rPr lang="en-US" sz="2400" dirty="0">
                <a:latin typeface="Times" pitchFamily="2" charset="0"/>
              </a:rPr>
              <a:t>That means that in many problems, </a:t>
            </a:r>
            <a:r>
              <a:rPr lang="en-US" sz="2400" i="1" dirty="0">
                <a:latin typeface="Times" pitchFamily="2" charset="0"/>
              </a:rPr>
              <a:t>W</a:t>
            </a:r>
            <a:r>
              <a:rPr lang="en-US" sz="2400" baseline="-25000" dirty="0">
                <a:latin typeface="Times" pitchFamily="2" charset="0"/>
              </a:rPr>
              <a:t>NC</a:t>
            </a:r>
            <a:r>
              <a:rPr lang="en-US" sz="2400" dirty="0">
                <a:latin typeface="Times" pitchFamily="2" charset="0"/>
              </a:rPr>
              <a:t> = 0.</a:t>
            </a:r>
          </a:p>
        </p:txBody>
      </p:sp>
      <p:sp>
        <p:nvSpPr>
          <p:cNvPr id="11" name="TextBox 10">
            <a:extLst>
              <a:ext uri="{FF2B5EF4-FFF2-40B4-BE49-F238E27FC236}">
                <a16:creationId xmlns:a16="http://schemas.microsoft.com/office/drawing/2014/main" id="{CF053569-7F5F-2FA7-3BB8-EABE7E08DE16}"/>
              </a:ext>
            </a:extLst>
          </p:cNvPr>
          <p:cNvSpPr txBox="1"/>
          <p:nvPr/>
        </p:nvSpPr>
        <p:spPr>
          <a:xfrm>
            <a:off x="7011164" y="1346430"/>
            <a:ext cx="1119865"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6.8</a:t>
            </a:r>
            <a:r>
              <a:rPr lang="en-US" sz="2400" dirty="0">
                <a:latin typeface="Times" pitchFamily="2" charset="0"/>
              </a:rPr>
              <a:t>)</a:t>
            </a:r>
          </a:p>
        </p:txBody>
      </p:sp>
      <p:sp>
        <p:nvSpPr>
          <p:cNvPr id="12" name="TextBox 11">
            <a:extLst>
              <a:ext uri="{FF2B5EF4-FFF2-40B4-BE49-F238E27FC236}">
                <a16:creationId xmlns:a16="http://schemas.microsoft.com/office/drawing/2014/main" id="{606F3DA4-587C-D44F-B4D3-A90B75E92E5B}"/>
              </a:ext>
            </a:extLst>
          </p:cNvPr>
          <p:cNvSpPr txBox="1"/>
          <p:nvPr/>
        </p:nvSpPr>
        <p:spPr>
          <a:xfrm>
            <a:off x="5984544" y="2797935"/>
            <a:ext cx="5768454" cy="461665"/>
          </a:xfrm>
          <a:prstGeom prst="rect">
            <a:avLst/>
          </a:prstGeom>
          <a:noFill/>
        </p:spPr>
        <p:txBody>
          <a:bodyPr wrap="square">
            <a:spAutoFit/>
          </a:bodyPr>
          <a:lstStyle/>
          <a:p>
            <a:pPr algn="just"/>
            <a:r>
              <a:rPr lang="en-US" sz="2400" dirty="0">
                <a:latin typeface="Times" pitchFamily="2" charset="0"/>
              </a:rPr>
              <a:t>According to Equation 6.8 then, 0 = </a:t>
            </a:r>
            <a:r>
              <a:rPr lang="en-US" sz="2400" i="1" dirty="0">
                <a:latin typeface="Times" pitchFamily="2" charset="0"/>
              </a:rPr>
              <a:t>E</a:t>
            </a:r>
            <a:r>
              <a:rPr lang="en-US" sz="2400" baseline="-25000" dirty="0">
                <a:latin typeface="Times" pitchFamily="2" charset="0"/>
              </a:rPr>
              <a:t>f</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0</a:t>
            </a:r>
            <a:r>
              <a:rPr lang="en-US" sz="2400" dirty="0">
                <a:latin typeface="Times" pitchFamily="2" charset="0"/>
              </a:rPr>
              <a:t>.</a:t>
            </a:r>
            <a:endParaRPr lang="en-US" sz="2400" baseline="-25000" dirty="0">
              <a:latin typeface="Times" pitchFamily="2" charset="0"/>
            </a:endParaRPr>
          </a:p>
        </p:txBody>
      </p:sp>
      <p:grpSp>
        <p:nvGrpSpPr>
          <p:cNvPr id="30" name="Group 29">
            <a:extLst>
              <a:ext uri="{FF2B5EF4-FFF2-40B4-BE49-F238E27FC236}">
                <a16:creationId xmlns:a16="http://schemas.microsoft.com/office/drawing/2014/main" id="{07887289-F6ED-4518-A402-DD0CC1E698A7}"/>
              </a:ext>
            </a:extLst>
          </p:cNvPr>
          <p:cNvGrpSpPr/>
          <p:nvPr/>
        </p:nvGrpSpPr>
        <p:grpSpPr>
          <a:xfrm>
            <a:off x="4308144" y="3490512"/>
            <a:ext cx="1969827" cy="508342"/>
            <a:chOff x="4308144" y="3490512"/>
            <a:chExt cx="1969827" cy="508342"/>
          </a:xfrm>
        </p:grpSpPr>
        <p:sp>
          <p:nvSpPr>
            <p:cNvPr id="25" name="Rounded Rectangle 24">
              <a:extLst>
                <a:ext uri="{FF2B5EF4-FFF2-40B4-BE49-F238E27FC236}">
                  <a16:creationId xmlns:a16="http://schemas.microsoft.com/office/drawing/2014/main" id="{7054F8CF-57A2-0DE6-669E-A102FA903E7B}"/>
                </a:ext>
              </a:extLst>
            </p:cNvPr>
            <p:cNvSpPr/>
            <p:nvPr/>
          </p:nvSpPr>
          <p:spPr>
            <a:xfrm>
              <a:off x="5181475" y="3490512"/>
              <a:ext cx="1096496"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F11E730-F086-53C7-46E4-46FDA14D7819}"/>
                </a:ext>
              </a:extLst>
            </p:cNvPr>
            <p:cNvSpPr txBox="1"/>
            <p:nvPr/>
          </p:nvSpPr>
          <p:spPr>
            <a:xfrm>
              <a:off x="4308144" y="3537189"/>
              <a:ext cx="973539" cy="461665"/>
            </a:xfrm>
            <a:prstGeom prst="rect">
              <a:avLst/>
            </a:prstGeom>
            <a:noFill/>
          </p:spPr>
          <p:txBody>
            <a:bodyPr wrap="square">
              <a:spAutoFit/>
            </a:bodyPr>
            <a:lstStyle/>
            <a:p>
              <a:pPr algn="just"/>
              <a:r>
                <a:rPr lang="en-US" sz="2400" dirty="0">
                  <a:latin typeface="Times" pitchFamily="2" charset="0"/>
                </a:rPr>
                <a:t>Or...</a:t>
              </a:r>
              <a:endParaRPr lang="en-US" sz="2400" baseline="-25000" dirty="0">
                <a:latin typeface="Times" pitchFamily="2" charset="0"/>
              </a:endParaRPr>
            </a:p>
          </p:txBody>
        </p:sp>
      </p:grpSp>
      <p:sp>
        <p:nvSpPr>
          <p:cNvPr id="29" name="TextBox 28">
            <a:extLst>
              <a:ext uri="{FF2B5EF4-FFF2-40B4-BE49-F238E27FC236}">
                <a16:creationId xmlns:a16="http://schemas.microsoft.com/office/drawing/2014/main" id="{A4A3657C-0877-7DE6-4E33-B1B5046AF2A8}"/>
              </a:ext>
            </a:extLst>
          </p:cNvPr>
          <p:cNvSpPr txBox="1"/>
          <p:nvPr/>
        </p:nvSpPr>
        <p:spPr>
          <a:xfrm>
            <a:off x="5195248" y="3509893"/>
            <a:ext cx="1464859" cy="461665"/>
          </a:xfrm>
          <a:prstGeom prst="rect">
            <a:avLst/>
          </a:prstGeom>
          <a:noFill/>
        </p:spPr>
        <p:txBody>
          <a:bodyPr wrap="square">
            <a:spAutoFit/>
          </a:bodyPr>
          <a:lstStyle/>
          <a:p>
            <a:pPr algn="just"/>
            <a:r>
              <a:rPr lang="en-US" sz="2400" i="1" dirty="0">
                <a:latin typeface="Times" pitchFamily="2" charset="0"/>
              </a:rPr>
              <a:t>E</a:t>
            </a:r>
            <a:r>
              <a:rPr lang="en-US" sz="2400" baseline="-25000" dirty="0">
                <a:latin typeface="Times" pitchFamily="2" charset="0"/>
              </a:rPr>
              <a:t>f</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0</a:t>
            </a:r>
          </a:p>
        </p:txBody>
      </p:sp>
      <p:sp>
        <p:nvSpPr>
          <p:cNvPr id="31" name="TextBox 30">
            <a:extLst>
              <a:ext uri="{FF2B5EF4-FFF2-40B4-BE49-F238E27FC236}">
                <a16:creationId xmlns:a16="http://schemas.microsoft.com/office/drawing/2014/main" id="{568384C2-9184-405E-8124-A6E417F666FD}"/>
              </a:ext>
            </a:extLst>
          </p:cNvPr>
          <p:cNvSpPr txBox="1"/>
          <p:nvPr/>
        </p:nvSpPr>
        <p:spPr>
          <a:xfrm>
            <a:off x="6358346" y="3505051"/>
            <a:ext cx="1119865"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6.9a</a:t>
            </a:r>
            <a:r>
              <a:rPr lang="en-US" sz="2400" dirty="0">
                <a:latin typeface="Times" pitchFamily="2" charset="0"/>
              </a:rPr>
              <a:t>)</a:t>
            </a:r>
          </a:p>
        </p:txBody>
      </p:sp>
      <p:sp>
        <p:nvSpPr>
          <p:cNvPr id="32" name="TextBox 31">
            <a:extLst>
              <a:ext uri="{FF2B5EF4-FFF2-40B4-BE49-F238E27FC236}">
                <a16:creationId xmlns:a16="http://schemas.microsoft.com/office/drawing/2014/main" id="{CD7A33F9-64F9-75BC-C9DC-C13A23921F31}"/>
              </a:ext>
            </a:extLst>
          </p:cNvPr>
          <p:cNvSpPr txBox="1"/>
          <p:nvPr/>
        </p:nvSpPr>
        <p:spPr>
          <a:xfrm>
            <a:off x="320724" y="4203653"/>
            <a:ext cx="11743897" cy="461665"/>
          </a:xfrm>
          <a:prstGeom prst="rect">
            <a:avLst/>
          </a:prstGeom>
          <a:noFill/>
        </p:spPr>
        <p:txBody>
          <a:bodyPr wrap="square">
            <a:spAutoFit/>
          </a:bodyPr>
          <a:lstStyle/>
          <a:p>
            <a:pPr algn="just"/>
            <a:r>
              <a:rPr lang="en-US" sz="2400" dirty="0">
                <a:latin typeface="Times" pitchFamily="2" charset="0"/>
              </a:rPr>
              <a:t>This is profound, and it highlights one of the most important principles of physics.  In words:</a:t>
            </a:r>
          </a:p>
        </p:txBody>
      </p:sp>
      <p:sp>
        <p:nvSpPr>
          <p:cNvPr id="33" name="TextBox 32">
            <a:extLst>
              <a:ext uri="{FF2B5EF4-FFF2-40B4-BE49-F238E27FC236}">
                <a16:creationId xmlns:a16="http://schemas.microsoft.com/office/drawing/2014/main" id="{93F5AF4B-B2AC-55F3-D6A1-4E66460EC3D9}"/>
              </a:ext>
            </a:extLst>
          </p:cNvPr>
          <p:cNvSpPr txBox="1"/>
          <p:nvPr/>
        </p:nvSpPr>
        <p:spPr>
          <a:xfrm>
            <a:off x="2465696" y="4669952"/>
            <a:ext cx="7278805" cy="830997"/>
          </a:xfrm>
          <a:prstGeom prst="rect">
            <a:avLst/>
          </a:prstGeom>
          <a:noFill/>
        </p:spPr>
        <p:txBody>
          <a:bodyPr wrap="square">
            <a:spAutoFit/>
          </a:bodyPr>
          <a:lstStyle/>
          <a:p>
            <a:pPr algn="just"/>
            <a:r>
              <a:rPr lang="en-US" sz="2400" b="1" i="1" dirty="0">
                <a:latin typeface="Times" pitchFamily="2" charset="0"/>
              </a:rPr>
              <a:t>In the absence of work done by nonconservative forces, the total mechanical energy is a constant of the motion.</a:t>
            </a:r>
          </a:p>
        </p:txBody>
      </p:sp>
      <p:grpSp>
        <p:nvGrpSpPr>
          <p:cNvPr id="37" name="Group 36">
            <a:extLst>
              <a:ext uri="{FF2B5EF4-FFF2-40B4-BE49-F238E27FC236}">
                <a16:creationId xmlns:a16="http://schemas.microsoft.com/office/drawing/2014/main" id="{72362A67-03C8-FAC4-B234-876727592BAA}"/>
              </a:ext>
            </a:extLst>
          </p:cNvPr>
          <p:cNvGrpSpPr/>
          <p:nvPr/>
        </p:nvGrpSpPr>
        <p:grpSpPr>
          <a:xfrm>
            <a:off x="805219" y="5729617"/>
            <a:ext cx="11122924" cy="461665"/>
            <a:chOff x="245661" y="5593139"/>
            <a:chExt cx="11122924" cy="461665"/>
          </a:xfrm>
        </p:grpSpPr>
        <p:sp>
          <p:nvSpPr>
            <p:cNvPr id="35" name="TextBox 34">
              <a:extLst>
                <a:ext uri="{FF2B5EF4-FFF2-40B4-BE49-F238E27FC236}">
                  <a16:creationId xmlns:a16="http://schemas.microsoft.com/office/drawing/2014/main" id="{BC5D62C5-79E8-EED9-BFCF-AF7E99224151}"/>
                </a:ext>
              </a:extLst>
            </p:cNvPr>
            <p:cNvSpPr txBox="1"/>
            <p:nvPr/>
          </p:nvSpPr>
          <p:spPr>
            <a:xfrm>
              <a:off x="245661" y="5593139"/>
              <a:ext cx="11122924" cy="461665"/>
            </a:xfrm>
            <a:prstGeom prst="rect">
              <a:avLst/>
            </a:prstGeom>
            <a:noFill/>
          </p:spPr>
          <p:txBody>
            <a:bodyPr wrap="square">
              <a:spAutoFit/>
            </a:bodyPr>
            <a:lstStyle/>
            <a:p>
              <a:r>
                <a:rPr lang="en-US" sz="2400" dirty="0">
                  <a:latin typeface="Times" pitchFamily="2" charset="0"/>
                </a:rPr>
                <a:t> A quantity that remains constant throughout the motion is said to be                       .</a:t>
              </a:r>
            </a:p>
          </p:txBody>
        </p:sp>
        <p:sp>
          <p:nvSpPr>
            <p:cNvPr id="36" name="Rounded Rectangle 35">
              <a:extLst>
                <a:ext uri="{FF2B5EF4-FFF2-40B4-BE49-F238E27FC236}">
                  <a16:creationId xmlns:a16="http://schemas.microsoft.com/office/drawing/2014/main" id="{99428353-234D-1CD9-9C9E-BFD7AFB80090}"/>
                </a:ext>
              </a:extLst>
            </p:cNvPr>
            <p:cNvSpPr/>
            <p:nvPr/>
          </p:nvSpPr>
          <p:spPr>
            <a:xfrm>
              <a:off x="8693623" y="5609231"/>
              <a:ext cx="1665027" cy="4367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0D4B4CA6-BE3A-8079-7D98-1688C54B9272}"/>
              </a:ext>
            </a:extLst>
          </p:cNvPr>
          <p:cNvSpPr txBox="1"/>
          <p:nvPr/>
        </p:nvSpPr>
        <p:spPr>
          <a:xfrm>
            <a:off x="9264556" y="5777696"/>
            <a:ext cx="1967552" cy="400110"/>
          </a:xfrm>
          <a:prstGeom prst="rect">
            <a:avLst/>
          </a:prstGeom>
          <a:noFill/>
        </p:spPr>
        <p:txBody>
          <a:bodyPr wrap="square">
            <a:spAutoFit/>
          </a:bodyPr>
          <a:lstStyle/>
          <a:p>
            <a:pPr algn="just"/>
            <a:r>
              <a:rPr lang="en-US" sz="2000" dirty="0">
                <a:solidFill>
                  <a:srgbClr val="007440"/>
                </a:solidFill>
                <a:latin typeface="Chalkduster" panose="03050602040202020205" pitchFamily="66" charset="77"/>
              </a:rPr>
              <a:t>conserved</a:t>
            </a:r>
            <a:endParaRPr lang="en-US" sz="2000" baseline="-25000" dirty="0">
              <a:solidFill>
                <a:srgbClr val="007440"/>
              </a:solidFill>
              <a:latin typeface="Chalkduster" panose="03050602040202020205" pitchFamily="66" charset="77"/>
            </a:endParaRPr>
          </a:p>
        </p:txBody>
      </p:sp>
      <p:sp>
        <p:nvSpPr>
          <p:cNvPr id="3" name="Rectangle 2">
            <a:extLst>
              <a:ext uri="{FF2B5EF4-FFF2-40B4-BE49-F238E27FC236}">
                <a16:creationId xmlns:a16="http://schemas.microsoft.com/office/drawing/2014/main" id="{E9FE9167-672C-3159-B27C-2A0E6C234FA0}"/>
              </a:ext>
            </a:extLst>
          </p:cNvPr>
          <p:cNvSpPr/>
          <p:nvPr/>
        </p:nvSpPr>
        <p:spPr>
          <a:xfrm>
            <a:off x="2471738" y="4686300"/>
            <a:ext cx="7243762" cy="80010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386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dissolve">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dissolve">
                                      <p:cBhvr>
                                        <p:cTn id="43" dur="500"/>
                                        <p:tgtEl>
                                          <p:spTgt spid="29"/>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dissolv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dissolve">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dissolve">
                                      <p:cBhvr>
                                        <p:cTn id="57" dur="500"/>
                                        <p:tgtEl>
                                          <p:spTgt spid="33"/>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dissolve">
                                      <p:cBhvr>
                                        <p:cTn id="66" dur="500"/>
                                        <p:tgtEl>
                                          <p:spTgt spid="37"/>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dissolve">
                                      <p:cBhvr>
                                        <p:cTn id="7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P spid="8" grpId="0" animBg="1"/>
      <p:bldP spid="9" grpId="0"/>
      <p:bldP spid="10" grpId="0"/>
      <p:bldP spid="11" grpId="0"/>
      <p:bldP spid="12" grpId="0"/>
      <p:bldP spid="29" grpId="0"/>
      <p:bldP spid="31" grpId="0"/>
      <p:bldP spid="32" grpId="0"/>
      <p:bldP spid="33" grpId="0"/>
      <p:bldP spid="38" grpId="0"/>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4B86D-D9A2-6668-5938-9DAAE933C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4B098-98E8-6851-3718-C1B97DD7695C}"/>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6.5</a:t>
            </a:r>
            <a:r>
              <a:rPr lang="en-US" dirty="0">
                <a:ea typeface="Calibri" charset="0"/>
                <a:cs typeface="Calibri" charset="0"/>
              </a:rPr>
              <a:t> The Conservation of Mechanical Energy</a:t>
            </a:r>
            <a:endParaRPr lang="en-US" sz="3000" dirty="0"/>
          </a:p>
        </p:txBody>
      </p:sp>
      <p:grpSp>
        <p:nvGrpSpPr>
          <p:cNvPr id="7" name="Group 6">
            <a:extLst>
              <a:ext uri="{FF2B5EF4-FFF2-40B4-BE49-F238E27FC236}">
                <a16:creationId xmlns:a16="http://schemas.microsoft.com/office/drawing/2014/main" id="{9A4AE6D9-7A1E-90FF-971C-9CCC4C19EF37}"/>
              </a:ext>
            </a:extLst>
          </p:cNvPr>
          <p:cNvGrpSpPr/>
          <p:nvPr/>
        </p:nvGrpSpPr>
        <p:grpSpPr>
          <a:xfrm>
            <a:off x="859809" y="928048"/>
            <a:ext cx="11969085" cy="1842448"/>
            <a:chOff x="859809" y="928048"/>
            <a:chExt cx="11969085" cy="1842448"/>
          </a:xfrm>
        </p:grpSpPr>
        <p:sp>
          <p:nvSpPr>
            <p:cNvPr id="18" name="TextBox 17">
              <a:extLst>
                <a:ext uri="{FF2B5EF4-FFF2-40B4-BE49-F238E27FC236}">
                  <a16:creationId xmlns:a16="http://schemas.microsoft.com/office/drawing/2014/main" id="{68A5D18E-5D91-58E3-2D96-8FAAEFF84F46}"/>
                </a:ext>
              </a:extLst>
            </p:cNvPr>
            <p:cNvSpPr txBox="1"/>
            <p:nvPr/>
          </p:nvSpPr>
          <p:spPr>
            <a:xfrm>
              <a:off x="955343" y="935015"/>
              <a:ext cx="11873551" cy="461665"/>
            </a:xfrm>
            <a:prstGeom prst="rect">
              <a:avLst/>
            </a:prstGeom>
            <a:noFill/>
          </p:spPr>
          <p:txBody>
            <a:bodyPr wrap="square">
              <a:spAutoFit/>
            </a:bodyPr>
            <a:lstStyle/>
            <a:p>
              <a:pPr algn="just"/>
              <a:r>
                <a:rPr lang="en-US" sz="2400" dirty="0">
                  <a:solidFill>
                    <a:srgbClr val="C00000"/>
                  </a:solidFill>
                  <a:latin typeface="Times" pitchFamily="2" charset="0"/>
                </a:rPr>
                <a:t>THE PRINCIPLE OF CONSERVATION OF MECHANICAL ENERGY</a:t>
              </a:r>
            </a:p>
          </p:txBody>
        </p:sp>
        <p:grpSp>
          <p:nvGrpSpPr>
            <p:cNvPr id="6" name="Group 5">
              <a:extLst>
                <a:ext uri="{FF2B5EF4-FFF2-40B4-BE49-F238E27FC236}">
                  <a16:creationId xmlns:a16="http://schemas.microsoft.com/office/drawing/2014/main" id="{187CB013-5CFC-3A88-98E7-79A28EED0D99}"/>
                </a:ext>
              </a:extLst>
            </p:cNvPr>
            <p:cNvGrpSpPr/>
            <p:nvPr/>
          </p:nvGrpSpPr>
          <p:grpSpPr>
            <a:xfrm>
              <a:off x="859809" y="928048"/>
              <a:ext cx="10563367" cy="1842448"/>
              <a:chOff x="859809" y="928048"/>
              <a:chExt cx="10563367" cy="1842448"/>
            </a:xfrm>
          </p:grpSpPr>
          <p:sp>
            <p:nvSpPr>
              <p:cNvPr id="4" name="TextBox 3">
                <a:extLst>
                  <a:ext uri="{FF2B5EF4-FFF2-40B4-BE49-F238E27FC236}">
                    <a16:creationId xmlns:a16="http://schemas.microsoft.com/office/drawing/2014/main" id="{84A678E0-3BFD-9D2B-936C-E6917D9FDFCE}"/>
                  </a:ext>
                </a:extLst>
              </p:cNvPr>
              <p:cNvSpPr txBox="1"/>
              <p:nvPr/>
            </p:nvSpPr>
            <p:spPr>
              <a:xfrm>
                <a:off x="982639" y="1469492"/>
                <a:ext cx="10399594" cy="1200329"/>
              </a:xfrm>
              <a:prstGeom prst="rect">
                <a:avLst/>
              </a:prstGeom>
              <a:noFill/>
            </p:spPr>
            <p:txBody>
              <a:bodyPr wrap="square">
                <a:spAutoFit/>
              </a:bodyPr>
              <a:lstStyle/>
              <a:p>
                <a:pPr algn="just"/>
                <a:r>
                  <a:rPr lang="en-US" sz="2400" dirty="0">
                    <a:latin typeface="Times" pitchFamily="2" charset="0"/>
                  </a:rPr>
                  <a:t>The total mechanical energy (</a:t>
                </a:r>
                <a:r>
                  <a:rPr lang="en-US" sz="2400" i="1" dirty="0">
                    <a:latin typeface="Times" pitchFamily="2" charset="0"/>
                  </a:rPr>
                  <a:t>E</a:t>
                </a:r>
                <a:r>
                  <a:rPr lang="en-US" sz="2400" dirty="0">
                    <a:latin typeface="Times" pitchFamily="2" charset="0"/>
                  </a:rPr>
                  <a:t> = KE + PE) of an object remains constant as the object moves, provided that the net work done by external nonconservative forces is zero, </a:t>
                </a:r>
                <a:r>
                  <a:rPr lang="en-US" sz="2400" i="1" dirty="0">
                    <a:latin typeface="Times" pitchFamily="2" charset="0"/>
                  </a:rPr>
                  <a:t>W</a:t>
                </a:r>
                <a:r>
                  <a:rPr lang="en-US" sz="2400" baseline="-25000" dirty="0">
                    <a:latin typeface="Times" pitchFamily="2" charset="0"/>
                  </a:rPr>
                  <a:t>NC</a:t>
                </a:r>
                <a:r>
                  <a:rPr lang="en-US" sz="2400" dirty="0">
                    <a:latin typeface="Times" pitchFamily="2" charset="0"/>
                  </a:rPr>
                  <a:t> = 0 J.</a:t>
                </a:r>
              </a:p>
            </p:txBody>
          </p:sp>
          <p:sp>
            <p:nvSpPr>
              <p:cNvPr id="5" name="Rectangle 4">
                <a:extLst>
                  <a:ext uri="{FF2B5EF4-FFF2-40B4-BE49-F238E27FC236}">
                    <a16:creationId xmlns:a16="http://schemas.microsoft.com/office/drawing/2014/main" id="{4CE702C4-404A-32C4-5AC6-BB4BFDADF57A}"/>
                  </a:ext>
                </a:extLst>
              </p:cNvPr>
              <p:cNvSpPr/>
              <p:nvPr/>
            </p:nvSpPr>
            <p:spPr>
              <a:xfrm>
                <a:off x="859809" y="928048"/>
                <a:ext cx="10563367" cy="184244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16" name="Picture 15">
            <a:extLst>
              <a:ext uri="{FF2B5EF4-FFF2-40B4-BE49-F238E27FC236}">
                <a16:creationId xmlns:a16="http://schemas.microsoft.com/office/drawing/2014/main" id="{14FE374F-F732-97DB-996F-FC2186949B62}"/>
              </a:ext>
            </a:extLst>
          </p:cNvPr>
          <p:cNvPicPr>
            <a:picLocks noChangeAspect="1"/>
          </p:cNvPicPr>
          <p:nvPr/>
        </p:nvPicPr>
        <p:blipFill>
          <a:blip r:embed="rId3"/>
          <a:srcRect l="47776" t="24949" r="23953" b="33221"/>
          <a:stretch/>
        </p:blipFill>
        <p:spPr>
          <a:xfrm>
            <a:off x="109181" y="2825086"/>
            <a:ext cx="4312591" cy="3589361"/>
          </a:xfrm>
          <a:prstGeom prst="rect">
            <a:avLst/>
          </a:prstGeom>
        </p:spPr>
      </p:pic>
      <p:sp>
        <p:nvSpPr>
          <p:cNvPr id="17" name="TextBox 16">
            <a:extLst>
              <a:ext uri="{FF2B5EF4-FFF2-40B4-BE49-F238E27FC236}">
                <a16:creationId xmlns:a16="http://schemas.microsoft.com/office/drawing/2014/main" id="{A4B9D410-8365-0B45-A7DF-4971969C6896}"/>
              </a:ext>
            </a:extLst>
          </p:cNvPr>
          <p:cNvSpPr txBox="1"/>
          <p:nvPr/>
        </p:nvSpPr>
        <p:spPr>
          <a:xfrm>
            <a:off x="4626590" y="2866030"/>
            <a:ext cx="7315200" cy="461665"/>
          </a:xfrm>
          <a:prstGeom prst="rect">
            <a:avLst/>
          </a:prstGeom>
          <a:noFill/>
        </p:spPr>
        <p:txBody>
          <a:bodyPr wrap="square" rtlCol="0">
            <a:spAutoFit/>
          </a:bodyPr>
          <a:lstStyle/>
          <a:p>
            <a:r>
              <a:rPr lang="en-US" sz="2400" dirty="0">
                <a:latin typeface="Times" pitchFamily="2" charset="0"/>
              </a:rPr>
              <a:t>Consider a bobsled on its run down a track.</a:t>
            </a:r>
          </a:p>
        </p:txBody>
      </p:sp>
      <p:grpSp>
        <p:nvGrpSpPr>
          <p:cNvPr id="22" name="Group 21">
            <a:extLst>
              <a:ext uri="{FF2B5EF4-FFF2-40B4-BE49-F238E27FC236}">
                <a16:creationId xmlns:a16="http://schemas.microsoft.com/office/drawing/2014/main" id="{BB2FEF44-DC28-A5DF-9AE0-ED786684509E}"/>
              </a:ext>
            </a:extLst>
          </p:cNvPr>
          <p:cNvGrpSpPr/>
          <p:nvPr/>
        </p:nvGrpSpPr>
        <p:grpSpPr>
          <a:xfrm>
            <a:off x="4628864" y="3359624"/>
            <a:ext cx="7315200" cy="1200329"/>
            <a:chOff x="4628864" y="3359624"/>
            <a:chExt cx="7315200" cy="1200329"/>
          </a:xfrm>
        </p:grpSpPr>
        <p:sp>
          <p:nvSpPr>
            <p:cNvPr id="19" name="TextBox 18">
              <a:extLst>
                <a:ext uri="{FF2B5EF4-FFF2-40B4-BE49-F238E27FC236}">
                  <a16:creationId xmlns:a16="http://schemas.microsoft.com/office/drawing/2014/main" id="{AE9E0D24-042E-1BC5-D562-A5812348C9BF}"/>
                </a:ext>
              </a:extLst>
            </p:cNvPr>
            <p:cNvSpPr txBox="1"/>
            <p:nvPr/>
          </p:nvSpPr>
          <p:spPr>
            <a:xfrm>
              <a:off x="4628864" y="3359624"/>
              <a:ext cx="7315200" cy="1200329"/>
            </a:xfrm>
            <a:prstGeom prst="rect">
              <a:avLst/>
            </a:prstGeom>
            <a:noFill/>
          </p:spPr>
          <p:txBody>
            <a:bodyPr wrap="square" rtlCol="0">
              <a:spAutoFit/>
            </a:bodyPr>
            <a:lstStyle/>
            <a:p>
              <a:r>
                <a:rPr lang="en-US" sz="2400" dirty="0">
                  <a:latin typeface="Times" pitchFamily="2" charset="0"/>
                </a:rPr>
                <a:t>If we neglect friction and air resistance, then the only force that does work on the bobsled is gravity, and gravity is a                                       .</a:t>
              </a:r>
            </a:p>
          </p:txBody>
        </p:sp>
        <p:sp>
          <p:nvSpPr>
            <p:cNvPr id="20" name="Rounded Rectangle 19">
              <a:extLst>
                <a:ext uri="{FF2B5EF4-FFF2-40B4-BE49-F238E27FC236}">
                  <a16:creationId xmlns:a16="http://schemas.microsoft.com/office/drawing/2014/main" id="{8A2AEFA4-3D7B-BE18-F8D1-C4EC51559B0E}"/>
                </a:ext>
              </a:extLst>
            </p:cNvPr>
            <p:cNvSpPr/>
            <p:nvPr/>
          </p:nvSpPr>
          <p:spPr>
            <a:xfrm>
              <a:off x="5199797" y="4135272"/>
              <a:ext cx="2852382" cy="4094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extBox 20">
            <a:extLst>
              <a:ext uri="{FF2B5EF4-FFF2-40B4-BE49-F238E27FC236}">
                <a16:creationId xmlns:a16="http://schemas.microsoft.com/office/drawing/2014/main" id="{429154EB-78A4-0189-D2F0-FBCD8A803813}"/>
              </a:ext>
            </a:extLst>
          </p:cNvPr>
          <p:cNvSpPr txBox="1"/>
          <p:nvPr/>
        </p:nvSpPr>
        <p:spPr>
          <a:xfrm>
            <a:off x="5215719" y="4151194"/>
            <a:ext cx="2918347"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conservative force</a:t>
            </a:r>
          </a:p>
        </p:txBody>
      </p:sp>
      <p:sp>
        <p:nvSpPr>
          <p:cNvPr id="23" name="TextBox 22">
            <a:extLst>
              <a:ext uri="{FF2B5EF4-FFF2-40B4-BE49-F238E27FC236}">
                <a16:creationId xmlns:a16="http://schemas.microsoft.com/office/drawing/2014/main" id="{8FC02A42-54E4-DEA7-ECA1-2EE4EA32F1B0}"/>
              </a:ext>
            </a:extLst>
          </p:cNvPr>
          <p:cNvSpPr txBox="1"/>
          <p:nvPr/>
        </p:nvSpPr>
        <p:spPr>
          <a:xfrm>
            <a:off x="8318309" y="4123900"/>
            <a:ext cx="3873691" cy="461665"/>
          </a:xfrm>
          <a:prstGeom prst="rect">
            <a:avLst/>
          </a:prstGeom>
          <a:noFill/>
        </p:spPr>
        <p:txBody>
          <a:bodyPr wrap="square" rtlCol="0">
            <a:spAutoFit/>
          </a:bodyPr>
          <a:lstStyle/>
          <a:p>
            <a:r>
              <a:rPr lang="en-US" sz="2400" dirty="0">
                <a:latin typeface="Times" pitchFamily="2" charset="0"/>
              </a:rPr>
              <a:t>Thus, </a:t>
            </a:r>
            <a:r>
              <a:rPr lang="en-US" sz="2400" i="1" dirty="0">
                <a:latin typeface="Times" pitchFamily="2" charset="0"/>
              </a:rPr>
              <a:t>W</a:t>
            </a:r>
            <a:r>
              <a:rPr lang="en-US" sz="2400" baseline="-25000" dirty="0">
                <a:latin typeface="Times" pitchFamily="2" charset="0"/>
              </a:rPr>
              <a:t>NC</a:t>
            </a:r>
            <a:r>
              <a:rPr lang="en-US" sz="2400" dirty="0">
                <a:latin typeface="Times" pitchFamily="2" charset="0"/>
              </a:rPr>
              <a:t> = 0 and </a:t>
            </a:r>
            <a:r>
              <a:rPr lang="en-US" sz="2400" i="1" dirty="0">
                <a:latin typeface="Times" pitchFamily="2" charset="0"/>
              </a:rPr>
              <a:t>E</a:t>
            </a:r>
            <a:r>
              <a:rPr lang="en-US" sz="2400" baseline="-25000" dirty="0">
                <a:latin typeface="Times" pitchFamily="2" charset="0"/>
              </a:rPr>
              <a:t>f</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0</a:t>
            </a:r>
            <a:r>
              <a:rPr lang="en-US" sz="2400" dirty="0">
                <a:latin typeface="Times" pitchFamily="2" charset="0"/>
              </a:rPr>
              <a:t>.</a:t>
            </a:r>
          </a:p>
        </p:txBody>
      </p:sp>
      <p:sp>
        <p:nvSpPr>
          <p:cNvPr id="24" name="TextBox 23">
            <a:extLst>
              <a:ext uri="{FF2B5EF4-FFF2-40B4-BE49-F238E27FC236}">
                <a16:creationId xmlns:a16="http://schemas.microsoft.com/office/drawing/2014/main" id="{5EC05A1B-F700-E196-0291-4672E0480F69}"/>
              </a:ext>
            </a:extLst>
          </p:cNvPr>
          <p:cNvSpPr txBox="1"/>
          <p:nvPr/>
        </p:nvSpPr>
        <p:spPr>
          <a:xfrm>
            <a:off x="4628865" y="4724400"/>
            <a:ext cx="7315200" cy="830997"/>
          </a:xfrm>
          <a:prstGeom prst="rect">
            <a:avLst/>
          </a:prstGeom>
          <a:noFill/>
        </p:spPr>
        <p:txBody>
          <a:bodyPr wrap="square" rtlCol="0">
            <a:spAutoFit/>
          </a:bodyPr>
          <a:lstStyle/>
          <a:p>
            <a:r>
              <a:rPr lang="en-US" sz="2400" dirty="0">
                <a:latin typeface="Times" pitchFamily="2" charset="0"/>
              </a:rPr>
              <a:t>Notice at the top of the track, the bobsled starts from rest.  All of its mechanical energy is potential energy.  </a:t>
            </a:r>
          </a:p>
        </p:txBody>
      </p:sp>
      <p:sp>
        <p:nvSpPr>
          <p:cNvPr id="26" name="TextBox 25">
            <a:extLst>
              <a:ext uri="{FF2B5EF4-FFF2-40B4-BE49-F238E27FC236}">
                <a16:creationId xmlns:a16="http://schemas.microsoft.com/office/drawing/2014/main" id="{48782FC7-1991-8D8F-CDE9-0B167FB18415}"/>
              </a:ext>
            </a:extLst>
          </p:cNvPr>
          <p:cNvSpPr txBox="1"/>
          <p:nvPr/>
        </p:nvSpPr>
        <p:spPr>
          <a:xfrm>
            <a:off x="4644787" y="5600131"/>
            <a:ext cx="7315200" cy="830997"/>
          </a:xfrm>
          <a:prstGeom prst="rect">
            <a:avLst/>
          </a:prstGeom>
          <a:noFill/>
        </p:spPr>
        <p:txBody>
          <a:bodyPr wrap="square" rtlCol="0">
            <a:spAutoFit/>
          </a:bodyPr>
          <a:lstStyle/>
          <a:p>
            <a:r>
              <a:rPr lang="en-US" sz="2400" dirty="0">
                <a:latin typeface="Times" pitchFamily="2" charset="0"/>
              </a:rPr>
              <a:t>As it moves farther down the track, it converts more of its initial gravitational PE into KE.  </a:t>
            </a:r>
          </a:p>
        </p:txBody>
      </p:sp>
    </p:spTree>
    <p:extLst>
      <p:ext uri="{BB962C8B-B14F-4D97-AF65-F5344CB8AC3E}">
        <p14:creationId xmlns:p14="http://schemas.microsoft.com/office/powerpoint/2010/main" val="150177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dissolv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dissolv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dissolv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dissolve">
                                      <p:cBhvr>
                                        <p:cTn id="4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3" grpId="0"/>
      <p:bldP spid="24" grpId="0"/>
      <p:bldP spid="2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D38E-FC38-DD41-784C-969AF07EF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581D4-6D0B-8B3E-5405-1A3530DCD1A6}"/>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6.5</a:t>
            </a:r>
            <a:r>
              <a:rPr lang="en-US" dirty="0">
                <a:ea typeface="Calibri" charset="0"/>
                <a:cs typeface="Calibri" charset="0"/>
              </a:rPr>
              <a:t> The Conservation of Mechanical Energy</a:t>
            </a:r>
            <a:endParaRPr lang="en-US" sz="3000" dirty="0"/>
          </a:p>
        </p:txBody>
      </p:sp>
      <p:pic>
        <p:nvPicPr>
          <p:cNvPr id="16" name="Picture 15">
            <a:extLst>
              <a:ext uri="{FF2B5EF4-FFF2-40B4-BE49-F238E27FC236}">
                <a16:creationId xmlns:a16="http://schemas.microsoft.com/office/drawing/2014/main" id="{BF90CB7C-597E-09F2-7292-EBA8861566A4}"/>
              </a:ext>
            </a:extLst>
          </p:cNvPr>
          <p:cNvPicPr>
            <a:picLocks noChangeAspect="1"/>
          </p:cNvPicPr>
          <p:nvPr/>
        </p:nvPicPr>
        <p:blipFill>
          <a:blip r:embed="rId3"/>
          <a:srcRect l="47776" t="24949" r="23953" b="33221"/>
          <a:stretch/>
        </p:blipFill>
        <p:spPr>
          <a:xfrm>
            <a:off x="109181" y="682388"/>
            <a:ext cx="4312591" cy="3589361"/>
          </a:xfrm>
          <a:prstGeom prst="rect">
            <a:avLst/>
          </a:prstGeom>
        </p:spPr>
      </p:pic>
      <p:sp>
        <p:nvSpPr>
          <p:cNvPr id="17" name="TextBox 16">
            <a:extLst>
              <a:ext uri="{FF2B5EF4-FFF2-40B4-BE49-F238E27FC236}">
                <a16:creationId xmlns:a16="http://schemas.microsoft.com/office/drawing/2014/main" id="{BCD069A1-4FE5-EEFD-CB73-20F0E10BBF47}"/>
              </a:ext>
            </a:extLst>
          </p:cNvPr>
          <p:cNvSpPr txBox="1"/>
          <p:nvPr/>
        </p:nvSpPr>
        <p:spPr>
          <a:xfrm>
            <a:off x="4532003" y="622679"/>
            <a:ext cx="7315200" cy="830997"/>
          </a:xfrm>
          <a:prstGeom prst="rect">
            <a:avLst/>
          </a:prstGeom>
          <a:noFill/>
        </p:spPr>
        <p:txBody>
          <a:bodyPr wrap="square" rtlCol="0">
            <a:spAutoFit/>
          </a:bodyPr>
          <a:lstStyle/>
          <a:p>
            <a:r>
              <a:rPr lang="en-US" sz="2400" dirty="0">
                <a:latin typeface="Times" pitchFamily="2" charset="0"/>
              </a:rPr>
              <a:t>But at every point along the track, the total mechanical energy (</a:t>
            </a:r>
            <a:r>
              <a:rPr lang="en-US" sz="2400" i="1" dirty="0">
                <a:latin typeface="Times" pitchFamily="2" charset="0"/>
              </a:rPr>
              <a:t>E</a:t>
            </a:r>
            <a:r>
              <a:rPr lang="en-US" sz="2400" dirty="0">
                <a:latin typeface="Times" pitchFamily="2" charset="0"/>
              </a:rPr>
              <a:t>) is a constant.</a:t>
            </a:r>
          </a:p>
        </p:txBody>
      </p:sp>
      <p:sp>
        <p:nvSpPr>
          <p:cNvPr id="23" name="TextBox 22">
            <a:extLst>
              <a:ext uri="{FF2B5EF4-FFF2-40B4-BE49-F238E27FC236}">
                <a16:creationId xmlns:a16="http://schemas.microsoft.com/office/drawing/2014/main" id="{80102DBF-EE8B-FB4A-1B51-0EAAD402208F}"/>
              </a:ext>
            </a:extLst>
          </p:cNvPr>
          <p:cNvSpPr txBox="1"/>
          <p:nvPr/>
        </p:nvSpPr>
        <p:spPr>
          <a:xfrm>
            <a:off x="4514373" y="1346960"/>
            <a:ext cx="7171901" cy="1200329"/>
          </a:xfrm>
          <a:prstGeom prst="rect">
            <a:avLst/>
          </a:prstGeom>
          <a:noFill/>
        </p:spPr>
        <p:txBody>
          <a:bodyPr wrap="square" rtlCol="0">
            <a:spAutoFit/>
          </a:bodyPr>
          <a:lstStyle/>
          <a:p>
            <a:r>
              <a:rPr lang="en-US" sz="2400" dirty="0">
                <a:latin typeface="Times" pitchFamily="2" charset="0"/>
              </a:rPr>
              <a:t>Once the sled has reached the bottom of the track, all of its initial gravitational PE has been converted into KE. The total mechanical energy is still the same.</a:t>
            </a:r>
          </a:p>
        </p:txBody>
      </p:sp>
      <p:grpSp>
        <p:nvGrpSpPr>
          <p:cNvPr id="27" name="Group 26">
            <a:extLst>
              <a:ext uri="{FF2B5EF4-FFF2-40B4-BE49-F238E27FC236}">
                <a16:creationId xmlns:a16="http://schemas.microsoft.com/office/drawing/2014/main" id="{70821B75-AFB5-4A6D-9E6A-999FEC2660DA}"/>
              </a:ext>
            </a:extLst>
          </p:cNvPr>
          <p:cNvGrpSpPr/>
          <p:nvPr/>
        </p:nvGrpSpPr>
        <p:grpSpPr>
          <a:xfrm>
            <a:off x="204716" y="4353215"/>
            <a:ext cx="11750723" cy="2022731"/>
            <a:chOff x="204716" y="4353215"/>
            <a:chExt cx="11750723" cy="2022731"/>
          </a:xfrm>
        </p:grpSpPr>
        <p:sp>
          <p:nvSpPr>
            <p:cNvPr id="24" name="TextBox 23">
              <a:extLst>
                <a:ext uri="{FF2B5EF4-FFF2-40B4-BE49-F238E27FC236}">
                  <a16:creationId xmlns:a16="http://schemas.microsoft.com/office/drawing/2014/main" id="{4B86648F-779A-A0B2-24F3-382CFA8FD8A0}"/>
                </a:ext>
              </a:extLst>
            </p:cNvPr>
            <p:cNvSpPr txBox="1"/>
            <p:nvPr/>
          </p:nvSpPr>
          <p:spPr>
            <a:xfrm>
              <a:off x="259308" y="4806286"/>
              <a:ext cx="11657462" cy="1569660"/>
            </a:xfrm>
            <a:prstGeom prst="rect">
              <a:avLst/>
            </a:prstGeom>
            <a:noFill/>
          </p:spPr>
          <p:txBody>
            <a:bodyPr wrap="square" rtlCol="0">
              <a:spAutoFit/>
            </a:bodyPr>
            <a:lstStyle/>
            <a:p>
              <a:pPr algn="just"/>
              <a:r>
                <a:rPr lang="en-US" sz="2400" dirty="0">
                  <a:latin typeface="Times" pitchFamily="2" charset="0"/>
                </a:rPr>
                <a:t>Energy is continuously exchanged between kinetic energy and potential energy without any loss or gain. Consequently, any decrease in gravitational potential energy is accompanied by an equal increase in kinetic energy, and vice versa, so that the total mechanical energy remains unchanged.</a:t>
              </a:r>
            </a:p>
          </p:txBody>
        </p:sp>
        <p:sp>
          <p:nvSpPr>
            <p:cNvPr id="8" name="TextBox 7">
              <a:extLst>
                <a:ext uri="{FF2B5EF4-FFF2-40B4-BE49-F238E27FC236}">
                  <a16:creationId xmlns:a16="http://schemas.microsoft.com/office/drawing/2014/main" id="{A5B0BAAC-E6E9-C438-E789-180710E7003E}"/>
                </a:ext>
              </a:extLst>
            </p:cNvPr>
            <p:cNvSpPr txBox="1"/>
            <p:nvPr/>
          </p:nvSpPr>
          <p:spPr>
            <a:xfrm>
              <a:off x="272956" y="4353215"/>
              <a:ext cx="3657600" cy="461665"/>
            </a:xfrm>
            <a:prstGeom prst="rect">
              <a:avLst/>
            </a:prstGeom>
            <a:noFill/>
          </p:spPr>
          <p:txBody>
            <a:bodyPr wrap="square">
              <a:spAutoFit/>
            </a:bodyPr>
            <a:lstStyle/>
            <a:p>
              <a:pPr algn="just"/>
              <a:r>
                <a:rPr lang="en-US" sz="2400" dirty="0">
                  <a:solidFill>
                    <a:srgbClr val="C0694F"/>
                  </a:solidFill>
                  <a:latin typeface="Times" pitchFamily="2" charset="0"/>
                </a:rPr>
                <a:t>Problem-Solving Insight</a:t>
              </a:r>
            </a:p>
          </p:txBody>
        </p:sp>
        <p:sp>
          <p:nvSpPr>
            <p:cNvPr id="9" name="Rectangle 8">
              <a:extLst>
                <a:ext uri="{FF2B5EF4-FFF2-40B4-BE49-F238E27FC236}">
                  <a16:creationId xmlns:a16="http://schemas.microsoft.com/office/drawing/2014/main" id="{33F44475-A7A9-7D62-749C-FCC92FDDA00D}"/>
                </a:ext>
              </a:extLst>
            </p:cNvPr>
            <p:cNvSpPr/>
            <p:nvPr/>
          </p:nvSpPr>
          <p:spPr>
            <a:xfrm>
              <a:off x="204716" y="4367284"/>
              <a:ext cx="11750723" cy="1978925"/>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29464AD2-7B1F-4D3E-97DC-4E0F7D2B921A}"/>
              </a:ext>
            </a:extLst>
          </p:cNvPr>
          <p:cNvGrpSpPr/>
          <p:nvPr/>
        </p:nvGrpSpPr>
        <p:grpSpPr>
          <a:xfrm>
            <a:off x="4509635" y="2467024"/>
            <a:ext cx="7171901" cy="977704"/>
            <a:chOff x="3912735" y="2911524"/>
            <a:chExt cx="7171901" cy="977704"/>
          </a:xfrm>
        </p:grpSpPr>
        <p:sp>
          <p:nvSpPr>
            <p:cNvPr id="10" name="TextBox 9">
              <a:extLst>
                <a:ext uri="{FF2B5EF4-FFF2-40B4-BE49-F238E27FC236}">
                  <a16:creationId xmlns:a16="http://schemas.microsoft.com/office/drawing/2014/main" id="{0E01EDE8-704E-6D5C-44AF-5902F865E91A}"/>
                </a:ext>
              </a:extLst>
            </p:cNvPr>
            <p:cNvSpPr txBox="1"/>
            <p:nvPr/>
          </p:nvSpPr>
          <p:spPr>
            <a:xfrm>
              <a:off x="3912735" y="2911524"/>
              <a:ext cx="7171901" cy="461665"/>
            </a:xfrm>
            <a:prstGeom prst="rect">
              <a:avLst/>
            </a:prstGeom>
            <a:noFill/>
          </p:spPr>
          <p:txBody>
            <a:bodyPr wrap="square" rtlCol="0">
              <a:spAutoFit/>
            </a:bodyPr>
            <a:lstStyle/>
            <a:p>
              <a:r>
                <a:rPr lang="en-US" sz="2400" dirty="0">
                  <a:latin typeface="Times" pitchFamily="2" charset="0"/>
                </a:rPr>
                <a:t>This conversion is shown formally from Equation 6.7b:</a:t>
              </a:r>
            </a:p>
          </p:txBody>
        </p:sp>
        <p:sp>
          <p:nvSpPr>
            <p:cNvPr id="13" name="Rounded Rectangle 12">
              <a:extLst>
                <a:ext uri="{FF2B5EF4-FFF2-40B4-BE49-F238E27FC236}">
                  <a16:creationId xmlns:a16="http://schemas.microsoft.com/office/drawing/2014/main" id="{8EC73110-B03D-B3BA-6DB0-B8A851831840}"/>
                </a:ext>
              </a:extLst>
            </p:cNvPr>
            <p:cNvSpPr/>
            <p:nvPr/>
          </p:nvSpPr>
          <p:spPr>
            <a:xfrm>
              <a:off x="4754950" y="3379942"/>
              <a:ext cx="5354250" cy="5092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7A53DBE1-F3EB-4932-220C-8B70EA6D4485}"/>
              </a:ext>
            </a:extLst>
          </p:cNvPr>
          <p:cNvSpPr txBox="1"/>
          <p:nvPr/>
        </p:nvSpPr>
        <p:spPr>
          <a:xfrm>
            <a:off x="5436765" y="2958007"/>
            <a:ext cx="2575988"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dirty="0">
                <a:latin typeface="Symbol" pitchFamily="2" charset="2"/>
              </a:rPr>
              <a:t>D</a:t>
            </a:r>
            <a:r>
              <a:rPr lang="en-US" sz="2400" dirty="0">
                <a:latin typeface="Times" pitchFamily="2" charset="0"/>
              </a:rPr>
              <a:t>KE + </a:t>
            </a:r>
            <a:r>
              <a:rPr lang="en-US" sz="2400" dirty="0">
                <a:latin typeface="Symbol" pitchFamily="2" charset="2"/>
              </a:rPr>
              <a:t>D</a:t>
            </a:r>
            <a:r>
              <a:rPr lang="en-US" sz="2400" dirty="0">
                <a:latin typeface="Times" pitchFamily="2" charset="0"/>
              </a:rPr>
              <a:t>PE</a:t>
            </a:r>
            <a:endParaRPr lang="en-US" sz="2400" baseline="-25000" dirty="0">
              <a:latin typeface="Times" pitchFamily="2" charset="0"/>
            </a:endParaRPr>
          </a:p>
        </p:txBody>
      </p:sp>
      <p:sp>
        <p:nvSpPr>
          <p:cNvPr id="28" name="TextBox 27">
            <a:extLst>
              <a:ext uri="{FF2B5EF4-FFF2-40B4-BE49-F238E27FC236}">
                <a16:creationId xmlns:a16="http://schemas.microsoft.com/office/drawing/2014/main" id="{6DE11A4D-9F74-573F-166C-FB2CEE229446}"/>
              </a:ext>
            </a:extLst>
          </p:cNvPr>
          <p:cNvSpPr txBox="1"/>
          <p:nvPr/>
        </p:nvSpPr>
        <p:spPr>
          <a:xfrm>
            <a:off x="7878552" y="2947847"/>
            <a:ext cx="845502" cy="461665"/>
          </a:xfrm>
          <a:prstGeom prst="rect">
            <a:avLst/>
          </a:prstGeom>
          <a:noFill/>
        </p:spPr>
        <p:txBody>
          <a:bodyPr wrap="square" rtlCol="0">
            <a:spAutoFit/>
          </a:bodyPr>
          <a:lstStyle/>
          <a:p>
            <a:r>
              <a:rPr lang="en-US" sz="2400" dirty="0">
                <a:latin typeface="Times" pitchFamily="2" charset="0"/>
              </a:rPr>
              <a:t>= 0</a:t>
            </a:r>
            <a:endParaRPr lang="en-US" sz="2400" baseline="-25000" dirty="0">
              <a:latin typeface="Times" pitchFamily="2" charset="0"/>
            </a:endParaRPr>
          </a:p>
        </p:txBody>
      </p:sp>
      <p:sp>
        <p:nvSpPr>
          <p:cNvPr id="29" name="TextBox 28">
            <a:extLst>
              <a:ext uri="{FF2B5EF4-FFF2-40B4-BE49-F238E27FC236}">
                <a16:creationId xmlns:a16="http://schemas.microsoft.com/office/drawing/2014/main" id="{ABA18C4E-4030-2E4E-2908-6B3E3C94420D}"/>
              </a:ext>
            </a:extLst>
          </p:cNvPr>
          <p:cNvSpPr txBox="1"/>
          <p:nvPr/>
        </p:nvSpPr>
        <p:spPr>
          <a:xfrm>
            <a:off x="8446665" y="2958007"/>
            <a:ext cx="2575988" cy="461665"/>
          </a:xfrm>
          <a:prstGeom prst="rect">
            <a:avLst/>
          </a:prstGeom>
          <a:noFill/>
        </p:spPr>
        <p:txBody>
          <a:bodyPr wrap="square" rtlCol="0">
            <a:spAutoFit/>
          </a:bodyPr>
          <a:lstStyle/>
          <a:p>
            <a:r>
              <a:rPr lang="en-US" sz="2400" dirty="0">
                <a:latin typeface="Times" pitchFamily="2" charset="0"/>
              </a:rPr>
              <a:t>⇒  </a:t>
            </a:r>
            <a:r>
              <a:rPr lang="en-US" sz="2400" dirty="0">
                <a:latin typeface="Symbol" pitchFamily="2" charset="2"/>
              </a:rPr>
              <a:t>D</a:t>
            </a:r>
            <a:r>
              <a:rPr lang="en-US" sz="2400" dirty="0">
                <a:latin typeface="Times" pitchFamily="2" charset="0"/>
              </a:rPr>
              <a:t>KE = – </a:t>
            </a:r>
            <a:r>
              <a:rPr lang="en-US" sz="2400" dirty="0">
                <a:latin typeface="Symbol" pitchFamily="2" charset="2"/>
              </a:rPr>
              <a:t>D</a:t>
            </a:r>
            <a:r>
              <a:rPr lang="en-US" sz="2400" dirty="0">
                <a:latin typeface="Times" pitchFamily="2" charset="0"/>
              </a:rPr>
              <a:t>PE</a:t>
            </a:r>
            <a:endParaRPr lang="en-US" sz="2400" baseline="-25000" dirty="0">
              <a:latin typeface="Times" pitchFamily="2" charset="0"/>
            </a:endParaRPr>
          </a:p>
        </p:txBody>
      </p:sp>
      <p:sp>
        <p:nvSpPr>
          <p:cNvPr id="30" name="Rectangle 29">
            <a:extLst>
              <a:ext uri="{FF2B5EF4-FFF2-40B4-BE49-F238E27FC236}">
                <a16:creationId xmlns:a16="http://schemas.microsoft.com/office/drawing/2014/main" id="{A80E3771-D1C2-3F22-3C52-64F7C9F14E51}"/>
              </a:ext>
            </a:extLst>
          </p:cNvPr>
          <p:cNvSpPr/>
          <p:nvPr/>
        </p:nvSpPr>
        <p:spPr>
          <a:xfrm>
            <a:off x="8915400" y="3009900"/>
            <a:ext cx="17526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71E6DD6-0620-869C-DECA-F778773F3A80}"/>
              </a:ext>
            </a:extLst>
          </p:cNvPr>
          <p:cNvSpPr txBox="1"/>
          <p:nvPr/>
        </p:nvSpPr>
        <p:spPr>
          <a:xfrm>
            <a:off x="5474835" y="3610024"/>
            <a:ext cx="5307465" cy="707886"/>
          </a:xfrm>
          <a:prstGeom prst="rect">
            <a:avLst/>
          </a:prstGeom>
          <a:noFill/>
        </p:spPr>
        <p:txBody>
          <a:bodyPr wrap="square" rtlCol="0">
            <a:spAutoFit/>
          </a:bodyPr>
          <a:lstStyle/>
          <a:p>
            <a:r>
              <a:rPr lang="en-US" sz="2000" dirty="0">
                <a:latin typeface="Times" pitchFamily="2" charset="0"/>
              </a:rPr>
              <a:t>*Any change (increase) in KE corresponds to an equal change (decrease) in PE and vice versa.</a:t>
            </a:r>
          </a:p>
        </p:txBody>
      </p:sp>
      <p:sp>
        <p:nvSpPr>
          <p:cNvPr id="32" name="Rectangle 31">
            <a:extLst>
              <a:ext uri="{FF2B5EF4-FFF2-40B4-BE49-F238E27FC236}">
                <a16:creationId xmlns:a16="http://schemas.microsoft.com/office/drawing/2014/main" id="{469A2B9D-21C8-C480-8090-D3007648D82C}"/>
              </a:ext>
            </a:extLst>
          </p:cNvPr>
          <p:cNvSpPr/>
          <p:nvPr/>
        </p:nvSpPr>
        <p:spPr>
          <a:xfrm>
            <a:off x="5511800" y="3606800"/>
            <a:ext cx="5067300" cy="685800"/>
          </a:xfrm>
          <a:prstGeom prst="rect">
            <a:avLst/>
          </a:prstGeom>
          <a:noFill/>
          <a:ln w="254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501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dissolv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dissolv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dissolve">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dissolv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dissolve">
                                      <p:cBhvr>
                                        <p:cTn id="45" dur="500"/>
                                        <p:tgtEl>
                                          <p:spTgt spid="31"/>
                                        </p:tgtEl>
                                      </p:cBhvr>
                                    </p:animEffect>
                                  </p:childTnLst>
                                </p:cTn>
                              </p:par>
                            </p:childTnLst>
                          </p:cTn>
                        </p:par>
                        <p:par>
                          <p:cTn id="46" fill="hold">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dissolve">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dissolve">
                                      <p:cBhvr>
                                        <p:cTn id="5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14" grpId="0"/>
      <p:bldP spid="28" grpId="0"/>
      <p:bldP spid="29" grpId="0"/>
      <p:bldP spid="30" grpId="0" animBg="1"/>
      <p:bldP spid="31" grpId="0"/>
      <p:bldP spid="3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AEC33-22EB-3161-1057-E87E300A4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02103-3E3E-E3E9-93DD-B7CB52709EDF}"/>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6.5</a:t>
            </a:r>
            <a:r>
              <a:rPr lang="en-US" dirty="0">
                <a:ea typeface="Calibri" charset="0"/>
                <a:cs typeface="Calibri" charset="0"/>
              </a:rPr>
              <a:t> The Conservation of Mechanical Energy</a:t>
            </a:r>
            <a:endParaRPr lang="en-US" sz="3000" dirty="0"/>
          </a:p>
        </p:txBody>
      </p:sp>
      <p:sp>
        <p:nvSpPr>
          <p:cNvPr id="3" name="TextBox 2">
            <a:extLst>
              <a:ext uri="{FF2B5EF4-FFF2-40B4-BE49-F238E27FC236}">
                <a16:creationId xmlns:a16="http://schemas.microsoft.com/office/drawing/2014/main" id="{8B41DB75-394D-E170-4529-9445AFE11FFC}"/>
              </a:ext>
            </a:extLst>
          </p:cNvPr>
          <p:cNvSpPr txBox="1"/>
          <p:nvPr/>
        </p:nvSpPr>
        <p:spPr>
          <a:xfrm>
            <a:off x="158598" y="667295"/>
            <a:ext cx="8658610" cy="523220"/>
          </a:xfrm>
          <a:prstGeom prst="rect">
            <a:avLst/>
          </a:prstGeom>
          <a:noFill/>
        </p:spPr>
        <p:txBody>
          <a:bodyPr wrap="square" rtlCol="0">
            <a:spAutoFit/>
          </a:bodyPr>
          <a:lstStyle/>
          <a:p>
            <a:r>
              <a:rPr lang="en-US" sz="2800" dirty="0">
                <a:solidFill>
                  <a:srgbClr val="C00000"/>
                </a:solidFill>
                <a:latin typeface="Times" pitchFamily="2" charset="0"/>
              </a:rPr>
              <a:t>Example – A Daredevil Motorcyclist</a:t>
            </a:r>
          </a:p>
        </p:txBody>
      </p:sp>
      <p:sp>
        <p:nvSpPr>
          <p:cNvPr id="5" name="TextBox 4">
            <a:extLst>
              <a:ext uri="{FF2B5EF4-FFF2-40B4-BE49-F238E27FC236}">
                <a16:creationId xmlns:a16="http://schemas.microsoft.com/office/drawing/2014/main" id="{14F2981C-AAD7-1DBB-F733-7D72FBC80D3D}"/>
              </a:ext>
            </a:extLst>
          </p:cNvPr>
          <p:cNvSpPr txBox="1"/>
          <p:nvPr/>
        </p:nvSpPr>
        <p:spPr>
          <a:xfrm>
            <a:off x="131110" y="1087442"/>
            <a:ext cx="6296584" cy="1938992"/>
          </a:xfrm>
          <a:prstGeom prst="rect">
            <a:avLst/>
          </a:prstGeom>
          <a:noFill/>
        </p:spPr>
        <p:txBody>
          <a:bodyPr wrap="square">
            <a:spAutoFit/>
          </a:bodyPr>
          <a:lstStyle/>
          <a:p>
            <a:pPr algn="just"/>
            <a:r>
              <a:rPr lang="en-US" sz="2400" dirty="0">
                <a:latin typeface="Times" pitchFamily="2" charset="0"/>
              </a:rPr>
              <a:t>A motorcyclist is trying to leap across the canyon shown in the figure by driving horizontally off the cliff at a speed of 38.0 m/s. Ignoring air resistance, find the speed with which the cycle strikes the ground on the other side.</a:t>
            </a:r>
          </a:p>
        </p:txBody>
      </p:sp>
      <p:pic>
        <p:nvPicPr>
          <p:cNvPr id="7" name="Picture 6">
            <a:extLst>
              <a:ext uri="{FF2B5EF4-FFF2-40B4-BE49-F238E27FC236}">
                <a16:creationId xmlns:a16="http://schemas.microsoft.com/office/drawing/2014/main" id="{C680D3AD-4A9D-659E-E412-59C45609B601}"/>
              </a:ext>
            </a:extLst>
          </p:cNvPr>
          <p:cNvPicPr>
            <a:picLocks noChangeAspect="1"/>
          </p:cNvPicPr>
          <p:nvPr/>
        </p:nvPicPr>
        <p:blipFill>
          <a:blip r:embed="rId3"/>
          <a:stretch>
            <a:fillRect/>
          </a:stretch>
        </p:blipFill>
        <p:spPr>
          <a:xfrm>
            <a:off x="6565367" y="833717"/>
            <a:ext cx="5384586" cy="2729754"/>
          </a:xfrm>
          <a:prstGeom prst="rect">
            <a:avLst/>
          </a:prstGeom>
        </p:spPr>
      </p:pic>
      <p:sp>
        <p:nvSpPr>
          <p:cNvPr id="11" name="TextBox 10">
            <a:extLst>
              <a:ext uri="{FF2B5EF4-FFF2-40B4-BE49-F238E27FC236}">
                <a16:creationId xmlns:a16="http://schemas.microsoft.com/office/drawing/2014/main" id="{432BCAF5-7103-582D-1E30-6652754C5418}"/>
              </a:ext>
            </a:extLst>
          </p:cNvPr>
          <p:cNvSpPr txBox="1"/>
          <p:nvPr/>
        </p:nvSpPr>
        <p:spPr>
          <a:xfrm>
            <a:off x="161710" y="3043148"/>
            <a:ext cx="5709003" cy="830997"/>
          </a:xfrm>
          <a:prstGeom prst="rect">
            <a:avLst/>
          </a:prstGeom>
          <a:noFill/>
        </p:spPr>
        <p:txBody>
          <a:bodyPr wrap="square" rtlCol="0">
            <a:spAutoFit/>
          </a:bodyPr>
          <a:lstStyle/>
          <a:p>
            <a:pPr algn="just"/>
            <a:r>
              <a:rPr lang="en-US" sz="2400" dirty="0">
                <a:latin typeface="Times" pitchFamily="2" charset="0"/>
              </a:rPr>
              <a:t>We solved problems like this in Chapter 03, using the equations of 2D projectile motion.</a:t>
            </a:r>
          </a:p>
        </p:txBody>
      </p:sp>
      <p:sp>
        <p:nvSpPr>
          <p:cNvPr id="15" name="TextBox 14">
            <a:extLst>
              <a:ext uri="{FF2B5EF4-FFF2-40B4-BE49-F238E27FC236}">
                <a16:creationId xmlns:a16="http://schemas.microsoft.com/office/drawing/2014/main" id="{4713D337-49FC-38DC-ECCA-B1497C39BC57}"/>
              </a:ext>
            </a:extLst>
          </p:cNvPr>
          <p:cNvSpPr txBox="1"/>
          <p:nvPr/>
        </p:nvSpPr>
        <p:spPr>
          <a:xfrm>
            <a:off x="193086" y="3894796"/>
            <a:ext cx="10604901" cy="461665"/>
          </a:xfrm>
          <a:prstGeom prst="rect">
            <a:avLst/>
          </a:prstGeom>
          <a:noFill/>
        </p:spPr>
        <p:txBody>
          <a:bodyPr wrap="square" rtlCol="0">
            <a:spAutoFit/>
          </a:bodyPr>
          <a:lstStyle/>
          <a:p>
            <a:pPr algn="just"/>
            <a:r>
              <a:rPr lang="en-US" sz="2400" dirty="0">
                <a:latin typeface="Times" pitchFamily="2" charset="0"/>
              </a:rPr>
              <a:t>But here, </a:t>
            </a:r>
            <a:r>
              <a:rPr lang="en-US" sz="2400" dirty="0">
                <a:solidFill>
                  <a:srgbClr val="007440"/>
                </a:solidFill>
                <a:latin typeface="Times" pitchFamily="2" charset="0"/>
              </a:rPr>
              <a:t>conservation of mechanical energy </a:t>
            </a:r>
            <a:r>
              <a:rPr lang="en-US" sz="2400" dirty="0">
                <a:latin typeface="Times" pitchFamily="2" charset="0"/>
              </a:rPr>
              <a:t>makes this problem relatively simple.</a:t>
            </a:r>
          </a:p>
        </p:txBody>
      </p:sp>
      <p:sp>
        <p:nvSpPr>
          <p:cNvPr id="18" name="TextBox 17">
            <a:extLst>
              <a:ext uri="{FF2B5EF4-FFF2-40B4-BE49-F238E27FC236}">
                <a16:creationId xmlns:a16="http://schemas.microsoft.com/office/drawing/2014/main" id="{29393BA0-778C-0F34-1513-2DB744EEEB56}"/>
              </a:ext>
            </a:extLst>
          </p:cNvPr>
          <p:cNvSpPr txBox="1"/>
          <p:nvPr/>
        </p:nvSpPr>
        <p:spPr>
          <a:xfrm>
            <a:off x="197568" y="4396819"/>
            <a:ext cx="11810656" cy="830997"/>
          </a:xfrm>
          <a:prstGeom prst="rect">
            <a:avLst/>
          </a:prstGeom>
          <a:noFill/>
        </p:spPr>
        <p:txBody>
          <a:bodyPr wrap="square" rtlCol="0">
            <a:spAutoFit/>
          </a:bodyPr>
          <a:lstStyle/>
          <a:p>
            <a:pPr algn="just"/>
            <a:r>
              <a:rPr lang="en-US" sz="2400" dirty="0">
                <a:latin typeface="Times" pitchFamily="2" charset="0"/>
              </a:rPr>
              <a:t>We are ignoring air resistance, so once the motorcyclist is in the air, the only force that does any work is gravity, and gravity is a </a:t>
            </a:r>
            <a:r>
              <a:rPr lang="en-US" sz="2400" dirty="0">
                <a:solidFill>
                  <a:srgbClr val="007440"/>
                </a:solidFill>
                <a:latin typeface="Times" pitchFamily="2" charset="0"/>
              </a:rPr>
              <a:t>conservative force</a:t>
            </a:r>
            <a:r>
              <a:rPr lang="en-US" sz="2400" dirty="0">
                <a:latin typeface="Times" pitchFamily="2" charset="0"/>
              </a:rPr>
              <a:t>.  </a:t>
            </a:r>
          </a:p>
        </p:txBody>
      </p:sp>
      <p:grpSp>
        <p:nvGrpSpPr>
          <p:cNvPr id="21" name="Group 20">
            <a:extLst>
              <a:ext uri="{FF2B5EF4-FFF2-40B4-BE49-F238E27FC236}">
                <a16:creationId xmlns:a16="http://schemas.microsoft.com/office/drawing/2014/main" id="{ED651AD0-4D04-58CB-FFFD-C665DCB2BA7E}"/>
              </a:ext>
            </a:extLst>
          </p:cNvPr>
          <p:cNvGrpSpPr/>
          <p:nvPr/>
        </p:nvGrpSpPr>
        <p:grpSpPr>
          <a:xfrm>
            <a:off x="179638" y="5288806"/>
            <a:ext cx="5541712" cy="560665"/>
            <a:chOff x="179638" y="5288806"/>
            <a:chExt cx="5541712" cy="560665"/>
          </a:xfrm>
        </p:grpSpPr>
        <p:sp>
          <p:nvSpPr>
            <p:cNvPr id="19" name="TextBox 18">
              <a:extLst>
                <a:ext uri="{FF2B5EF4-FFF2-40B4-BE49-F238E27FC236}">
                  <a16:creationId xmlns:a16="http://schemas.microsoft.com/office/drawing/2014/main" id="{6012A3E6-5D1A-79D4-4546-058F4C5B11C1}"/>
                </a:ext>
              </a:extLst>
            </p:cNvPr>
            <p:cNvSpPr txBox="1"/>
            <p:nvPr/>
          </p:nvSpPr>
          <p:spPr>
            <a:xfrm>
              <a:off x="179638" y="5288806"/>
              <a:ext cx="4647857" cy="461665"/>
            </a:xfrm>
            <a:prstGeom prst="rect">
              <a:avLst/>
            </a:prstGeom>
            <a:noFill/>
          </p:spPr>
          <p:txBody>
            <a:bodyPr wrap="square" rtlCol="0">
              <a:spAutoFit/>
            </a:bodyPr>
            <a:lstStyle/>
            <a:p>
              <a:pPr algn="just"/>
              <a:r>
                <a:rPr lang="en-US" sz="2400" dirty="0">
                  <a:latin typeface="Times" pitchFamily="2" charset="0"/>
                </a:rPr>
                <a:t>Thus, we can apply Equation 6.9a:</a:t>
              </a:r>
            </a:p>
          </p:txBody>
        </p:sp>
        <p:sp>
          <p:nvSpPr>
            <p:cNvPr id="20" name="Rounded Rectangle 19">
              <a:extLst>
                <a:ext uri="{FF2B5EF4-FFF2-40B4-BE49-F238E27FC236}">
                  <a16:creationId xmlns:a16="http://schemas.microsoft.com/office/drawing/2014/main" id="{9F426722-7214-1859-F2E2-B5AF1D3E20AE}"/>
                </a:ext>
              </a:extLst>
            </p:cNvPr>
            <p:cNvSpPr/>
            <p:nvPr/>
          </p:nvSpPr>
          <p:spPr>
            <a:xfrm>
              <a:off x="4666129" y="5311588"/>
              <a:ext cx="1055221" cy="53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7BE64B37-17A9-E443-0E93-CD883637B17B}"/>
              </a:ext>
            </a:extLst>
          </p:cNvPr>
          <p:cNvSpPr txBox="1"/>
          <p:nvPr/>
        </p:nvSpPr>
        <p:spPr>
          <a:xfrm>
            <a:off x="4630472" y="5352140"/>
            <a:ext cx="1286234" cy="461665"/>
          </a:xfrm>
          <a:prstGeom prst="rect">
            <a:avLst/>
          </a:prstGeom>
          <a:noFill/>
        </p:spPr>
        <p:txBody>
          <a:bodyPr wrap="square">
            <a:spAutoFit/>
          </a:bodyPr>
          <a:lstStyle/>
          <a:p>
            <a:pPr algn="just"/>
            <a:r>
              <a:rPr lang="en-US" sz="2400" i="1" dirty="0">
                <a:latin typeface="Times" pitchFamily="2" charset="0"/>
              </a:rPr>
              <a:t>E</a:t>
            </a:r>
            <a:r>
              <a:rPr lang="en-US" sz="2400" baseline="-25000" dirty="0">
                <a:latin typeface="Times" pitchFamily="2" charset="0"/>
              </a:rPr>
              <a:t>f</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0</a:t>
            </a:r>
          </a:p>
        </p:txBody>
      </p:sp>
      <p:grpSp>
        <p:nvGrpSpPr>
          <p:cNvPr id="34" name="Group 33">
            <a:extLst>
              <a:ext uri="{FF2B5EF4-FFF2-40B4-BE49-F238E27FC236}">
                <a16:creationId xmlns:a16="http://schemas.microsoft.com/office/drawing/2014/main" id="{D461BA0F-BF76-4C97-EEDD-79BB72C5F663}"/>
              </a:ext>
            </a:extLst>
          </p:cNvPr>
          <p:cNvGrpSpPr/>
          <p:nvPr/>
        </p:nvGrpSpPr>
        <p:grpSpPr>
          <a:xfrm>
            <a:off x="192889" y="5282180"/>
            <a:ext cx="11853337" cy="1104395"/>
            <a:chOff x="192889" y="5282180"/>
            <a:chExt cx="11853337" cy="1104395"/>
          </a:xfrm>
        </p:grpSpPr>
        <p:sp>
          <p:nvSpPr>
            <p:cNvPr id="26" name="TextBox 25">
              <a:extLst>
                <a:ext uri="{FF2B5EF4-FFF2-40B4-BE49-F238E27FC236}">
                  <a16:creationId xmlns:a16="http://schemas.microsoft.com/office/drawing/2014/main" id="{68AAAE2D-F433-F067-6705-B423F15690BA}"/>
                </a:ext>
              </a:extLst>
            </p:cNvPr>
            <p:cNvSpPr txBox="1"/>
            <p:nvPr/>
          </p:nvSpPr>
          <p:spPr>
            <a:xfrm>
              <a:off x="6030472" y="5282180"/>
              <a:ext cx="6015754" cy="461665"/>
            </a:xfrm>
            <a:prstGeom prst="rect">
              <a:avLst/>
            </a:prstGeom>
            <a:noFill/>
          </p:spPr>
          <p:txBody>
            <a:bodyPr wrap="square" rtlCol="0">
              <a:spAutoFit/>
            </a:bodyPr>
            <a:lstStyle/>
            <a:p>
              <a:pPr algn="just"/>
              <a:r>
                <a:rPr lang="en-US" sz="2400" dirty="0">
                  <a:latin typeface="Times" pitchFamily="2" charset="0"/>
                </a:rPr>
                <a:t>We choose our origin by placing </a:t>
              </a:r>
              <a:r>
                <a:rPr lang="en-US" sz="2400" i="1" dirty="0">
                  <a:latin typeface="Times" pitchFamily="2" charset="0"/>
                </a:rPr>
                <a:t>y</a:t>
              </a:r>
              <a:r>
                <a:rPr lang="en-US" sz="2400" dirty="0">
                  <a:latin typeface="Times" pitchFamily="2" charset="0"/>
                </a:rPr>
                <a:t> = 0 m at the</a:t>
              </a:r>
            </a:p>
          </p:txBody>
        </p:sp>
        <p:sp>
          <p:nvSpPr>
            <p:cNvPr id="33" name="TextBox 32">
              <a:extLst>
                <a:ext uri="{FF2B5EF4-FFF2-40B4-BE49-F238E27FC236}">
                  <a16:creationId xmlns:a16="http://schemas.microsoft.com/office/drawing/2014/main" id="{AC08B8A5-3FF6-E40E-B99F-84DEC8DF7628}"/>
                </a:ext>
              </a:extLst>
            </p:cNvPr>
            <p:cNvSpPr txBox="1"/>
            <p:nvPr/>
          </p:nvSpPr>
          <p:spPr>
            <a:xfrm>
              <a:off x="192889" y="5924910"/>
              <a:ext cx="8540294" cy="461665"/>
            </a:xfrm>
            <a:prstGeom prst="rect">
              <a:avLst/>
            </a:prstGeom>
            <a:noFill/>
          </p:spPr>
          <p:txBody>
            <a:bodyPr wrap="square" rtlCol="0">
              <a:spAutoFit/>
            </a:bodyPr>
            <a:lstStyle/>
            <a:p>
              <a:pPr algn="just"/>
              <a:r>
                <a:rPr lang="en-US" sz="2400" dirty="0">
                  <a:latin typeface="Times" pitchFamily="2" charset="0"/>
                </a:rPr>
                <a:t>ground, so that our heights are measured relative to that. </a:t>
              </a:r>
            </a:p>
          </p:txBody>
        </p:sp>
      </p:grpSp>
      <p:grpSp>
        <p:nvGrpSpPr>
          <p:cNvPr id="44" name="Group 43">
            <a:extLst>
              <a:ext uri="{FF2B5EF4-FFF2-40B4-BE49-F238E27FC236}">
                <a16:creationId xmlns:a16="http://schemas.microsoft.com/office/drawing/2014/main" id="{2EA513BB-14F9-62A0-0BCB-AA43769EAE25}"/>
              </a:ext>
            </a:extLst>
          </p:cNvPr>
          <p:cNvGrpSpPr/>
          <p:nvPr/>
        </p:nvGrpSpPr>
        <p:grpSpPr>
          <a:xfrm>
            <a:off x="5751443" y="2928731"/>
            <a:ext cx="1736035" cy="892793"/>
            <a:chOff x="5751443" y="2928731"/>
            <a:chExt cx="1736035" cy="892793"/>
          </a:xfrm>
        </p:grpSpPr>
        <p:sp>
          <p:nvSpPr>
            <p:cNvPr id="35" name="TextBox 34">
              <a:extLst>
                <a:ext uri="{FF2B5EF4-FFF2-40B4-BE49-F238E27FC236}">
                  <a16:creationId xmlns:a16="http://schemas.microsoft.com/office/drawing/2014/main" id="{97BA0ABB-DC27-D9EA-7A2F-07571DFAD4D1}"/>
                </a:ext>
              </a:extLst>
            </p:cNvPr>
            <p:cNvSpPr txBox="1"/>
            <p:nvPr/>
          </p:nvSpPr>
          <p:spPr>
            <a:xfrm>
              <a:off x="5751443" y="3352800"/>
              <a:ext cx="1258957" cy="369332"/>
            </a:xfrm>
            <a:prstGeom prst="rect">
              <a:avLst/>
            </a:prstGeom>
            <a:noFill/>
          </p:spPr>
          <p:txBody>
            <a:bodyPr wrap="square" rtlCol="0">
              <a:spAutoFit/>
            </a:bodyPr>
            <a:lstStyle/>
            <a:p>
              <a:r>
                <a:rPr lang="en-US" i="1" dirty="0">
                  <a:latin typeface="Times" pitchFamily="2" charset="0"/>
                  <a:cs typeface="Times New Roman" panose="02020603050405020304" pitchFamily="18" charset="0"/>
                </a:rPr>
                <a:t>y</a:t>
              </a:r>
              <a:r>
                <a:rPr lang="en-US" dirty="0">
                  <a:latin typeface="Times" pitchFamily="2" charset="0"/>
                </a:rPr>
                <a:t> = 0 m</a:t>
              </a:r>
            </a:p>
          </p:txBody>
        </p:sp>
        <p:grpSp>
          <p:nvGrpSpPr>
            <p:cNvPr id="43" name="Group 42">
              <a:extLst>
                <a:ext uri="{FF2B5EF4-FFF2-40B4-BE49-F238E27FC236}">
                  <a16:creationId xmlns:a16="http://schemas.microsoft.com/office/drawing/2014/main" id="{02AB6BC1-4FE1-7CFC-F091-3C6E372CFE07}"/>
                </a:ext>
              </a:extLst>
            </p:cNvPr>
            <p:cNvGrpSpPr/>
            <p:nvPr/>
          </p:nvGrpSpPr>
          <p:grpSpPr>
            <a:xfrm>
              <a:off x="6142382" y="2928731"/>
              <a:ext cx="1345096" cy="892793"/>
              <a:chOff x="10197547" y="0"/>
              <a:chExt cx="1345096" cy="892793"/>
            </a:xfrm>
          </p:grpSpPr>
          <p:cxnSp>
            <p:nvCxnSpPr>
              <p:cNvPr id="37" name="Straight Arrow Connector 36">
                <a:extLst>
                  <a:ext uri="{FF2B5EF4-FFF2-40B4-BE49-F238E27FC236}">
                    <a16:creationId xmlns:a16="http://schemas.microsoft.com/office/drawing/2014/main" id="{F2A7F86C-FD06-CEBC-97B0-70245AC92222}"/>
                  </a:ext>
                </a:extLst>
              </p:cNvPr>
              <p:cNvCxnSpPr/>
              <p:nvPr/>
            </p:nvCxnSpPr>
            <p:spPr>
              <a:xfrm flipV="1">
                <a:off x="10614991" y="185530"/>
                <a:ext cx="0" cy="4373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39ECD0D-F8FF-9265-4B79-F983F2BFC6FD}"/>
                  </a:ext>
                </a:extLst>
              </p:cNvPr>
              <p:cNvCxnSpPr>
                <a:cxnSpLocks/>
              </p:cNvCxnSpPr>
              <p:nvPr/>
            </p:nvCxnSpPr>
            <p:spPr>
              <a:xfrm>
                <a:off x="10602015" y="629478"/>
                <a:ext cx="53671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0DA8B74-C415-6912-FABB-80A9A3638B1D}"/>
                  </a:ext>
                </a:extLst>
              </p:cNvPr>
              <p:cNvSpPr txBox="1"/>
              <p:nvPr/>
            </p:nvSpPr>
            <p:spPr>
              <a:xfrm>
                <a:off x="10197547" y="0"/>
                <a:ext cx="1258957" cy="369332"/>
              </a:xfrm>
              <a:prstGeom prst="rect">
                <a:avLst/>
              </a:prstGeom>
              <a:noFill/>
            </p:spPr>
            <p:txBody>
              <a:bodyPr wrap="square" rtlCol="0">
                <a:spAutoFit/>
              </a:bodyPr>
              <a:lstStyle/>
              <a:p>
                <a:r>
                  <a:rPr lang="en-US" i="1" dirty="0">
                    <a:latin typeface="Times" pitchFamily="2" charset="0"/>
                    <a:cs typeface="Times New Roman" panose="02020603050405020304" pitchFamily="18" charset="0"/>
                  </a:rPr>
                  <a:t>+y</a:t>
                </a:r>
                <a:endParaRPr lang="en-US" dirty="0">
                  <a:latin typeface="Times" pitchFamily="2" charset="0"/>
                </a:endParaRPr>
              </a:p>
            </p:txBody>
          </p:sp>
          <p:sp>
            <p:nvSpPr>
              <p:cNvPr id="42" name="TextBox 41">
                <a:extLst>
                  <a:ext uri="{FF2B5EF4-FFF2-40B4-BE49-F238E27FC236}">
                    <a16:creationId xmlns:a16="http://schemas.microsoft.com/office/drawing/2014/main" id="{26AA3CBE-0E35-7FE0-E01F-33896D17B5AE}"/>
                  </a:ext>
                </a:extLst>
              </p:cNvPr>
              <p:cNvSpPr txBox="1"/>
              <p:nvPr/>
            </p:nvSpPr>
            <p:spPr>
              <a:xfrm>
                <a:off x="10906538" y="523461"/>
                <a:ext cx="636105" cy="369332"/>
              </a:xfrm>
              <a:prstGeom prst="rect">
                <a:avLst/>
              </a:prstGeom>
              <a:noFill/>
            </p:spPr>
            <p:txBody>
              <a:bodyPr wrap="square" rtlCol="0">
                <a:spAutoFit/>
              </a:bodyPr>
              <a:lstStyle/>
              <a:p>
                <a:r>
                  <a:rPr lang="en-US" i="1" dirty="0">
                    <a:latin typeface="Times" pitchFamily="2" charset="0"/>
                    <a:cs typeface="Times New Roman" panose="02020603050405020304" pitchFamily="18" charset="0"/>
                  </a:rPr>
                  <a:t>+x</a:t>
                </a:r>
                <a:endParaRPr lang="en-US" dirty="0">
                  <a:latin typeface="Times" pitchFamily="2" charset="0"/>
                </a:endParaRPr>
              </a:p>
            </p:txBody>
          </p:sp>
        </p:grpSp>
      </p:grpSp>
    </p:spTree>
    <p:extLst>
      <p:ext uri="{BB962C8B-B14F-4D97-AF65-F5344CB8AC3E}">
        <p14:creationId xmlns:p14="http://schemas.microsoft.com/office/powerpoint/2010/main" val="253809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dissolve">
                                      <p:cBhvr>
                                        <p:cTn id="32" dur="500"/>
                                        <p:tgtEl>
                                          <p:spTgt spid="34"/>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dissolve">
                                      <p:cBhvr>
                                        <p:cTn id="3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8" grpId="0"/>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B4D66-2841-7DE7-875B-A3C95C536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0F7E1-60F1-A097-B14E-89B1015A1827}"/>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6.5</a:t>
            </a:r>
            <a:r>
              <a:rPr lang="en-US" dirty="0">
                <a:ea typeface="Calibri" charset="0"/>
                <a:cs typeface="Calibri" charset="0"/>
              </a:rPr>
              <a:t> The Conservation of Mechanical Energy</a:t>
            </a:r>
            <a:endParaRPr lang="en-US" sz="3000" dirty="0"/>
          </a:p>
        </p:txBody>
      </p:sp>
      <p:sp>
        <p:nvSpPr>
          <p:cNvPr id="3" name="TextBox 2">
            <a:extLst>
              <a:ext uri="{FF2B5EF4-FFF2-40B4-BE49-F238E27FC236}">
                <a16:creationId xmlns:a16="http://schemas.microsoft.com/office/drawing/2014/main" id="{B2B951AF-6875-D3E5-DB6E-9510C7A872A5}"/>
              </a:ext>
            </a:extLst>
          </p:cNvPr>
          <p:cNvSpPr txBox="1"/>
          <p:nvPr/>
        </p:nvSpPr>
        <p:spPr>
          <a:xfrm>
            <a:off x="158598" y="667295"/>
            <a:ext cx="8658610" cy="523220"/>
          </a:xfrm>
          <a:prstGeom prst="rect">
            <a:avLst/>
          </a:prstGeom>
          <a:noFill/>
        </p:spPr>
        <p:txBody>
          <a:bodyPr wrap="square" rtlCol="0">
            <a:spAutoFit/>
          </a:bodyPr>
          <a:lstStyle/>
          <a:p>
            <a:r>
              <a:rPr lang="en-US" sz="2800" dirty="0">
                <a:solidFill>
                  <a:srgbClr val="C00000"/>
                </a:solidFill>
                <a:latin typeface="Times" pitchFamily="2" charset="0"/>
              </a:rPr>
              <a:t>Example – A Daredevil Motorcyclist</a:t>
            </a:r>
          </a:p>
        </p:txBody>
      </p:sp>
      <p:pic>
        <p:nvPicPr>
          <p:cNvPr id="7" name="Picture 6">
            <a:extLst>
              <a:ext uri="{FF2B5EF4-FFF2-40B4-BE49-F238E27FC236}">
                <a16:creationId xmlns:a16="http://schemas.microsoft.com/office/drawing/2014/main" id="{8BEA1ADD-B917-B2B5-1896-33C1FEB66BF6}"/>
              </a:ext>
            </a:extLst>
          </p:cNvPr>
          <p:cNvPicPr>
            <a:picLocks noChangeAspect="1"/>
          </p:cNvPicPr>
          <p:nvPr/>
        </p:nvPicPr>
        <p:blipFill>
          <a:blip r:embed="rId3"/>
          <a:stretch>
            <a:fillRect/>
          </a:stretch>
        </p:blipFill>
        <p:spPr>
          <a:xfrm>
            <a:off x="6565367" y="833717"/>
            <a:ext cx="5384586" cy="2729754"/>
          </a:xfrm>
          <a:prstGeom prst="rect">
            <a:avLst/>
          </a:prstGeom>
        </p:spPr>
      </p:pic>
      <p:grpSp>
        <p:nvGrpSpPr>
          <p:cNvPr id="8" name="Group 7">
            <a:extLst>
              <a:ext uri="{FF2B5EF4-FFF2-40B4-BE49-F238E27FC236}">
                <a16:creationId xmlns:a16="http://schemas.microsoft.com/office/drawing/2014/main" id="{3E6AD092-FF9A-12BF-4351-8D57E18F8F91}"/>
              </a:ext>
            </a:extLst>
          </p:cNvPr>
          <p:cNvGrpSpPr/>
          <p:nvPr/>
        </p:nvGrpSpPr>
        <p:grpSpPr>
          <a:xfrm>
            <a:off x="6142382" y="2928731"/>
            <a:ext cx="1345096" cy="892793"/>
            <a:chOff x="10197547" y="0"/>
            <a:chExt cx="1345096" cy="892793"/>
          </a:xfrm>
        </p:grpSpPr>
        <p:cxnSp>
          <p:nvCxnSpPr>
            <p:cNvPr id="9" name="Straight Arrow Connector 8">
              <a:extLst>
                <a:ext uri="{FF2B5EF4-FFF2-40B4-BE49-F238E27FC236}">
                  <a16:creationId xmlns:a16="http://schemas.microsoft.com/office/drawing/2014/main" id="{3A3C0887-940C-5520-FED4-8D38AE7CA2DF}"/>
                </a:ext>
              </a:extLst>
            </p:cNvPr>
            <p:cNvCxnSpPr/>
            <p:nvPr/>
          </p:nvCxnSpPr>
          <p:spPr>
            <a:xfrm flipV="1">
              <a:off x="10614991" y="185530"/>
              <a:ext cx="0" cy="4373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BB31BAD-1D62-E5C4-6E84-D38273EAB1A5}"/>
                </a:ext>
              </a:extLst>
            </p:cNvPr>
            <p:cNvCxnSpPr>
              <a:cxnSpLocks/>
            </p:cNvCxnSpPr>
            <p:nvPr/>
          </p:nvCxnSpPr>
          <p:spPr>
            <a:xfrm>
              <a:off x="10602015" y="629478"/>
              <a:ext cx="53671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D513E52-1A29-47A7-8CC9-5D2E6C8FE69C}"/>
                </a:ext>
              </a:extLst>
            </p:cNvPr>
            <p:cNvSpPr txBox="1"/>
            <p:nvPr/>
          </p:nvSpPr>
          <p:spPr>
            <a:xfrm>
              <a:off x="10197547" y="0"/>
              <a:ext cx="1258957" cy="369332"/>
            </a:xfrm>
            <a:prstGeom prst="rect">
              <a:avLst/>
            </a:prstGeom>
            <a:noFill/>
          </p:spPr>
          <p:txBody>
            <a:bodyPr wrap="square" rtlCol="0">
              <a:spAutoFit/>
            </a:bodyPr>
            <a:lstStyle/>
            <a:p>
              <a:r>
                <a:rPr lang="en-US" i="1" dirty="0">
                  <a:latin typeface="Times" pitchFamily="2" charset="0"/>
                  <a:cs typeface="Times New Roman" panose="02020603050405020304" pitchFamily="18" charset="0"/>
                </a:rPr>
                <a:t>+y</a:t>
              </a:r>
              <a:endParaRPr lang="en-US" dirty="0">
                <a:latin typeface="Times" pitchFamily="2" charset="0"/>
              </a:endParaRPr>
            </a:p>
          </p:txBody>
        </p:sp>
        <p:sp>
          <p:nvSpPr>
            <p:cNvPr id="13" name="TextBox 12">
              <a:extLst>
                <a:ext uri="{FF2B5EF4-FFF2-40B4-BE49-F238E27FC236}">
                  <a16:creationId xmlns:a16="http://schemas.microsoft.com/office/drawing/2014/main" id="{B9803B9E-BF8C-6FD7-8595-3643AA128630}"/>
                </a:ext>
              </a:extLst>
            </p:cNvPr>
            <p:cNvSpPr txBox="1"/>
            <p:nvPr/>
          </p:nvSpPr>
          <p:spPr>
            <a:xfrm>
              <a:off x="10906538" y="523461"/>
              <a:ext cx="636105" cy="369332"/>
            </a:xfrm>
            <a:prstGeom prst="rect">
              <a:avLst/>
            </a:prstGeom>
            <a:noFill/>
          </p:spPr>
          <p:txBody>
            <a:bodyPr wrap="square" rtlCol="0">
              <a:spAutoFit/>
            </a:bodyPr>
            <a:lstStyle/>
            <a:p>
              <a:r>
                <a:rPr lang="en-US" i="1" dirty="0">
                  <a:latin typeface="Times" pitchFamily="2" charset="0"/>
                  <a:cs typeface="Times New Roman" panose="02020603050405020304" pitchFamily="18" charset="0"/>
                </a:rPr>
                <a:t>+x</a:t>
              </a:r>
              <a:endParaRPr lang="en-US" dirty="0">
                <a:latin typeface="Times" pitchFamily="2" charset="0"/>
              </a:endParaRPr>
            </a:p>
          </p:txBody>
        </p:sp>
      </p:grpSp>
      <p:grpSp>
        <p:nvGrpSpPr>
          <p:cNvPr id="24" name="Group 23">
            <a:extLst>
              <a:ext uri="{FF2B5EF4-FFF2-40B4-BE49-F238E27FC236}">
                <a16:creationId xmlns:a16="http://schemas.microsoft.com/office/drawing/2014/main" id="{D26805D8-B9F7-24D9-E1DB-B43F6E5168F7}"/>
              </a:ext>
            </a:extLst>
          </p:cNvPr>
          <p:cNvGrpSpPr/>
          <p:nvPr/>
        </p:nvGrpSpPr>
        <p:grpSpPr>
          <a:xfrm>
            <a:off x="232012" y="1201003"/>
            <a:ext cx="5936776" cy="2074457"/>
            <a:chOff x="232012" y="1201003"/>
            <a:chExt cx="5936776" cy="2074457"/>
          </a:xfrm>
        </p:grpSpPr>
        <p:sp>
          <p:nvSpPr>
            <p:cNvPr id="14" name="TextBox 13">
              <a:extLst>
                <a:ext uri="{FF2B5EF4-FFF2-40B4-BE49-F238E27FC236}">
                  <a16:creationId xmlns:a16="http://schemas.microsoft.com/office/drawing/2014/main" id="{57DC8066-5E5D-FEB5-926E-288D29201199}"/>
                </a:ext>
              </a:extLst>
            </p:cNvPr>
            <p:cNvSpPr txBox="1"/>
            <p:nvPr/>
          </p:nvSpPr>
          <p:spPr>
            <a:xfrm>
              <a:off x="232012" y="1201003"/>
              <a:ext cx="5936776" cy="1569660"/>
            </a:xfrm>
            <a:prstGeom prst="rect">
              <a:avLst/>
            </a:prstGeom>
            <a:noFill/>
          </p:spPr>
          <p:txBody>
            <a:bodyPr wrap="square" rtlCol="0">
              <a:spAutoFit/>
            </a:bodyPr>
            <a:lstStyle/>
            <a:p>
              <a:pPr algn="just"/>
              <a:r>
                <a:rPr lang="en-US" sz="2400" dirty="0">
                  <a:latin typeface="Times" pitchFamily="2" charset="0"/>
                </a:rPr>
                <a:t>At the initial position, when the motorcyclist leaves the cliff, and at the final position, when the motorcyclist lands, he has both KE and PE at each location.  Thus:</a:t>
              </a:r>
            </a:p>
          </p:txBody>
        </p:sp>
        <p:sp>
          <p:nvSpPr>
            <p:cNvPr id="17" name="Rounded Rectangle 16">
              <a:extLst>
                <a:ext uri="{FF2B5EF4-FFF2-40B4-BE49-F238E27FC236}">
                  <a16:creationId xmlns:a16="http://schemas.microsoft.com/office/drawing/2014/main" id="{B919AF1C-C6A6-BBC4-22ED-D3E7EF3FD616}"/>
                </a:ext>
              </a:extLst>
            </p:cNvPr>
            <p:cNvSpPr/>
            <p:nvPr/>
          </p:nvSpPr>
          <p:spPr>
            <a:xfrm>
              <a:off x="327546" y="2756844"/>
              <a:ext cx="4408227" cy="5186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4561A791-CED5-0C6B-51D4-816A3FCE76CC}"/>
              </a:ext>
            </a:extLst>
          </p:cNvPr>
          <p:cNvSpPr txBox="1"/>
          <p:nvPr/>
        </p:nvSpPr>
        <p:spPr>
          <a:xfrm>
            <a:off x="304132" y="2772709"/>
            <a:ext cx="1286234" cy="461665"/>
          </a:xfrm>
          <a:prstGeom prst="rect">
            <a:avLst/>
          </a:prstGeom>
          <a:noFill/>
        </p:spPr>
        <p:txBody>
          <a:bodyPr wrap="square">
            <a:spAutoFit/>
          </a:bodyPr>
          <a:lstStyle/>
          <a:p>
            <a:pPr algn="just"/>
            <a:r>
              <a:rPr lang="en-US" sz="2400" i="1" dirty="0">
                <a:latin typeface="Times" pitchFamily="2" charset="0"/>
              </a:rPr>
              <a:t>E</a:t>
            </a:r>
            <a:r>
              <a:rPr lang="en-US" sz="2400" baseline="-25000" dirty="0">
                <a:latin typeface="Times" pitchFamily="2" charset="0"/>
              </a:rPr>
              <a:t>f</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0</a:t>
            </a:r>
          </a:p>
        </p:txBody>
      </p:sp>
      <p:sp>
        <p:nvSpPr>
          <p:cNvPr id="25" name="TextBox 24">
            <a:extLst>
              <a:ext uri="{FF2B5EF4-FFF2-40B4-BE49-F238E27FC236}">
                <a16:creationId xmlns:a16="http://schemas.microsoft.com/office/drawing/2014/main" id="{B3901F96-2BB0-E224-E682-004136C4375E}"/>
              </a:ext>
            </a:extLst>
          </p:cNvPr>
          <p:cNvSpPr txBox="1"/>
          <p:nvPr/>
        </p:nvSpPr>
        <p:spPr>
          <a:xfrm>
            <a:off x="1234455" y="2788632"/>
            <a:ext cx="3787921" cy="461665"/>
          </a:xfrm>
          <a:prstGeom prst="rect">
            <a:avLst/>
          </a:prstGeom>
          <a:noFill/>
        </p:spPr>
        <p:txBody>
          <a:bodyPr wrap="square">
            <a:spAutoFit/>
          </a:bodyPr>
          <a:lstStyle/>
          <a:p>
            <a:pPr algn="just"/>
            <a:r>
              <a:rPr lang="en-US" sz="2400" dirty="0">
                <a:latin typeface="Times" pitchFamily="2" charset="0"/>
              </a:rPr>
              <a:t>⇒</a:t>
            </a:r>
            <a:r>
              <a:rPr lang="en-US" sz="2400" i="1" dirty="0">
                <a:latin typeface="Times" pitchFamily="2" charset="0"/>
              </a:rPr>
              <a:t> </a:t>
            </a:r>
            <a:r>
              <a:rPr lang="en-US" sz="2400" dirty="0" err="1">
                <a:latin typeface="Times" pitchFamily="2" charset="0"/>
              </a:rPr>
              <a:t>KE</a:t>
            </a:r>
            <a:r>
              <a:rPr lang="en-US" sz="2400" baseline="-25000" dirty="0" err="1">
                <a:latin typeface="Times" pitchFamily="2" charset="0"/>
              </a:rPr>
              <a:t>f</a:t>
            </a:r>
            <a:r>
              <a:rPr lang="en-US" sz="2400" dirty="0">
                <a:latin typeface="Times" pitchFamily="2" charset="0"/>
              </a:rPr>
              <a:t> + </a:t>
            </a:r>
            <a:r>
              <a:rPr lang="en-US" sz="2400" dirty="0" err="1">
                <a:latin typeface="Times" pitchFamily="2" charset="0"/>
              </a:rPr>
              <a:t>PE</a:t>
            </a:r>
            <a:r>
              <a:rPr lang="en-US" sz="2400" baseline="-25000" dirty="0" err="1">
                <a:latin typeface="Times" pitchFamily="2" charset="0"/>
              </a:rPr>
              <a:t>f</a:t>
            </a:r>
            <a:r>
              <a:rPr lang="en-US" sz="2400" dirty="0">
                <a:latin typeface="Times" pitchFamily="2" charset="0"/>
              </a:rPr>
              <a:t> = KE</a:t>
            </a:r>
            <a:r>
              <a:rPr lang="en-US" sz="2400" baseline="-25000" dirty="0">
                <a:latin typeface="Times" pitchFamily="2" charset="0"/>
              </a:rPr>
              <a:t>0</a:t>
            </a:r>
            <a:r>
              <a:rPr lang="en-US" sz="2400" dirty="0">
                <a:latin typeface="Times" pitchFamily="2" charset="0"/>
              </a:rPr>
              <a:t> + PE</a:t>
            </a:r>
            <a:r>
              <a:rPr lang="en-US" sz="2400" baseline="-25000" dirty="0">
                <a:latin typeface="Times" pitchFamily="2" charset="0"/>
              </a:rPr>
              <a:t>0</a:t>
            </a:r>
            <a:r>
              <a:rPr lang="en-US" sz="2400" dirty="0">
                <a:latin typeface="Times" pitchFamily="2" charset="0"/>
              </a:rPr>
              <a:t> </a:t>
            </a:r>
            <a:endParaRPr lang="en-US" sz="2400" baseline="-25000" dirty="0">
              <a:latin typeface="Times" pitchFamily="2" charset="0"/>
            </a:endParaRPr>
          </a:p>
        </p:txBody>
      </p:sp>
      <p:grpSp>
        <p:nvGrpSpPr>
          <p:cNvPr id="30" name="Group 29">
            <a:extLst>
              <a:ext uri="{FF2B5EF4-FFF2-40B4-BE49-F238E27FC236}">
                <a16:creationId xmlns:a16="http://schemas.microsoft.com/office/drawing/2014/main" id="{66122FAE-DD76-432A-3E08-F5257006862E}"/>
              </a:ext>
            </a:extLst>
          </p:cNvPr>
          <p:cNvGrpSpPr/>
          <p:nvPr/>
        </p:nvGrpSpPr>
        <p:grpSpPr>
          <a:xfrm>
            <a:off x="504971" y="3305030"/>
            <a:ext cx="5063317" cy="1676399"/>
            <a:chOff x="504971" y="3305030"/>
            <a:chExt cx="5063317" cy="1676399"/>
          </a:xfrm>
        </p:grpSpPr>
        <p:sp>
          <p:nvSpPr>
            <p:cNvPr id="27" name="TextBox 26">
              <a:extLst>
                <a:ext uri="{FF2B5EF4-FFF2-40B4-BE49-F238E27FC236}">
                  <a16:creationId xmlns:a16="http://schemas.microsoft.com/office/drawing/2014/main" id="{80A12C89-58A5-EB8F-7C38-D9550969B589}"/>
                </a:ext>
              </a:extLst>
            </p:cNvPr>
            <p:cNvSpPr txBox="1"/>
            <p:nvPr/>
          </p:nvSpPr>
          <p:spPr>
            <a:xfrm>
              <a:off x="620974" y="3305030"/>
              <a:ext cx="4947314" cy="830997"/>
            </a:xfrm>
            <a:prstGeom prst="rect">
              <a:avLst/>
            </a:prstGeom>
            <a:noFill/>
          </p:spPr>
          <p:txBody>
            <a:bodyPr wrap="square" rtlCol="0">
              <a:spAutoFit/>
            </a:bodyPr>
            <a:lstStyle/>
            <a:p>
              <a:pPr algn="just"/>
              <a:r>
                <a:rPr lang="en-US" sz="2400" dirty="0">
                  <a:latin typeface="Times" pitchFamily="2" charset="0"/>
                </a:rPr>
                <a:t>Each KE is equal to a “½</a:t>
              </a:r>
              <a:r>
                <a:rPr lang="en-US" sz="2400" i="1" dirty="0">
                  <a:latin typeface="Times" pitchFamily="2" charset="0"/>
                </a:rPr>
                <a:t>mv</a:t>
              </a:r>
              <a:r>
                <a:rPr lang="en-US" sz="2400" baseline="30000" dirty="0">
                  <a:latin typeface="Times" pitchFamily="2" charset="0"/>
                </a:rPr>
                <a:t>2</a:t>
              </a:r>
              <a:r>
                <a:rPr lang="en-US" sz="2400" dirty="0">
                  <a:latin typeface="Times" pitchFamily="2" charset="0"/>
                </a:rPr>
                <a:t>”,</a:t>
              </a:r>
            </a:p>
            <a:p>
              <a:pPr algn="just"/>
              <a:r>
                <a:rPr lang="en-US" sz="2400" dirty="0">
                  <a:latin typeface="Times" pitchFamily="2" charset="0"/>
                </a:rPr>
                <a:t>and each PE is equal to an </a:t>
              </a:r>
              <a:r>
                <a:rPr lang="en-US" sz="2400" i="1" dirty="0" err="1">
                  <a:latin typeface="Times" pitchFamily="2" charset="0"/>
                </a:rPr>
                <a:t>mgh</a:t>
              </a:r>
              <a:r>
                <a:rPr lang="en-US" sz="2400" dirty="0">
                  <a:latin typeface="Times" pitchFamily="2" charset="0"/>
                </a:rPr>
                <a:t>. </a:t>
              </a:r>
            </a:p>
          </p:txBody>
        </p:sp>
        <p:sp>
          <p:nvSpPr>
            <p:cNvPr id="28" name="Rounded Rectangle 27">
              <a:extLst>
                <a:ext uri="{FF2B5EF4-FFF2-40B4-BE49-F238E27FC236}">
                  <a16:creationId xmlns:a16="http://schemas.microsoft.com/office/drawing/2014/main" id="{0424B316-A417-1F38-3923-5F1A842FEFFB}"/>
                </a:ext>
              </a:extLst>
            </p:cNvPr>
            <p:cNvSpPr/>
            <p:nvPr/>
          </p:nvSpPr>
          <p:spPr>
            <a:xfrm>
              <a:off x="504971" y="4107972"/>
              <a:ext cx="3998794" cy="8734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9" name="Picture 28">
            <a:extLst>
              <a:ext uri="{FF2B5EF4-FFF2-40B4-BE49-F238E27FC236}">
                <a16:creationId xmlns:a16="http://schemas.microsoft.com/office/drawing/2014/main" id="{B3C63692-78F8-C154-D05A-2B26FBA34B7A}"/>
              </a:ext>
            </a:extLst>
          </p:cNvPr>
          <p:cNvPicPr>
            <a:picLocks noChangeAspect="1"/>
          </p:cNvPicPr>
          <p:nvPr/>
        </p:nvPicPr>
        <p:blipFill>
          <a:blip r:embed="rId4"/>
          <a:stretch>
            <a:fillRect/>
          </a:stretch>
        </p:blipFill>
        <p:spPr>
          <a:xfrm>
            <a:off x="614153" y="4217154"/>
            <a:ext cx="3744875" cy="632895"/>
          </a:xfrm>
          <a:prstGeom prst="rect">
            <a:avLst/>
          </a:prstGeom>
        </p:spPr>
      </p:pic>
      <p:sp>
        <p:nvSpPr>
          <p:cNvPr id="31" name="TextBox 30">
            <a:extLst>
              <a:ext uri="{FF2B5EF4-FFF2-40B4-BE49-F238E27FC236}">
                <a16:creationId xmlns:a16="http://schemas.microsoft.com/office/drawing/2014/main" id="{F80BEF19-472E-874D-F58B-C78B33DCB629}"/>
              </a:ext>
            </a:extLst>
          </p:cNvPr>
          <p:cNvSpPr txBox="1"/>
          <p:nvPr/>
        </p:nvSpPr>
        <p:spPr>
          <a:xfrm>
            <a:off x="814317" y="5163399"/>
            <a:ext cx="3471080" cy="830997"/>
          </a:xfrm>
          <a:prstGeom prst="rect">
            <a:avLst/>
          </a:prstGeom>
          <a:noFill/>
        </p:spPr>
        <p:txBody>
          <a:bodyPr wrap="square" rtlCol="0">
            <a:spAutoFit/>
          </a:bodyPr>
          <a:lstStyle/>
          <a:p>
            <a:pPr algn="just"/>
            <a:r>
              <a:rPr lang="en-US" sz="2400" dirty="0">
                <a:latin typeface="Times" pitchFamily="2" charset="0"/>
              </a:rPr>
              <a:t>*Note that the mass of the motorcyclist drops out.</a:t>
            </a:r>
          </a:p>
        </p:txBody>
      </p:sp>
      <p:grpSp>
        <p:nvGrpSpPr>
          <p:cNvPr id="46" name="Group 45">
            <a:extLst>
              <a:ext uri="{FF2B5EF4-FFF2-40B4-BE49-F238E27FC236}">
                <a16:creationId xmlns:a16="http://schemas.microsoft.com/office/drawing/2014/main" id="{76A90277-6A00-58E1-DF01-125162044606}"/>
              </a:ext>
            </a:extLst>
          </p:cNvPr>
          <p:cNvGrpSpPr/>
          <p:nvPr/>
        </p:nvGrpSpPr>
        <p:grpSpPr>
          <a:xfrm>
            <a:off x="859812" y="4394574"/>
            <a:ext cx="3061647" cy="359392"/>
            <a:chOff x="682388" y="4653886"/>
            <a:chExt cx="3061647" cy="359392"/>
          </a:xfrm>
        </p:grpSpPr>
        <p:cxnSp>
          <p:nvCxnSpPr>
            <p:cNvPr id="36" name="Straight Connector 35">
              <a:extLst>
                <a:ext uri="{FF2B5EF4-FFF2-40B4-BE49-F238E27FC236}">
                  <a16:creationId xmlns:a16="http://schemas.microsoft.com/office/drawing/2014/main" id="{D92A997D-389B-0CD3-B966-59FAD10C7932}"/>
                </a:ext>
              </a:extLst>
            </p:cNvPr>
            <p:cNvCxnSpPr/>
            <p:nvPr/>
          </p:nvCxnSpPr>
          <p:spPr>
            <a:xfrm flipV="1">
              <a:off x="682388" y="4653886"/>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FE54788-D725-1A59-2DB7-1C50C534BAD1}"/>
                </a:ext>
              </a:extLst>
            </p:cNvPr>
            <p:cNvCxnSpPr/>
            <p:nvPr/>
          </p:nvCxnSpPr>
          <p:spPr>
            <a:xfrm flipV="1">
              <a:off x="1544472" y="4683456"/>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EBCAA8-89F9-96A4-5EBF-3EA7CB3A69D3}"/>
                </a:ext>
              </a:extLst>
            </p:cNvPr>
            <p:cNvCxnSpPr/>
            <p:nvPr/>
          </p:nvCxnSpPr>
          <p:spPr>
            <a:xfrm flipV="1">
              <a:off x="3593910" y="4685731"/>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DF6C43-1390-199E-00EC-4C04E6BFF5BC}"/>
                </a:ext>
              </a:extLst>
            </p:cNvPr>
            <p:cNvCxnSpPr/>
            <p:nvPr/>
          </p:nvCxnSpPr>
          <p:spPr>
            <a:xfrm flipV="1">
              <a:off x="2709081" y="4674357"/>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90BC9778-8694-E8ED-CB28-6E29BAEA091B}"/>
              </a:ext>
            </a:extLst>
          </p:cNvPr>
          <p:cNvSpPr txBox="1"/>
          <p:nvPr/>
        </p:nvSpPr>
        <p:spPr>
          <a:xfrm>
            <a:off x="202443" y="5984542"/>
            <a:ext cx="4738047" cy="461665"/>
          </a:xfrm>
          <a:prstGeom prst="rect">
            <a:avLst/>
          </a:prstGeom>
          <a:noFill/>
        </p:spPr>
        <p:txBody>
          <a:bodyPr wrap="square" rtlCol="0">
            <a:spAutoFit/>
          </a:bodyPr>
          <a:lstStyle/>
          <a:p>
            <a:pPr algn="just"/>
            <a:r>
              <a:rPr lang="en-US" sz="2400" dirty="0">
                <a:latin typeface="Times" pitchFamily="2" charset="0"/>
              </a:rPr>
              <a:t>We now solve for the final speed, </a:t>
            </a:r>
            <a:r>
              <a:rPr lang="en-US" sz="2400" i="1" dirty="0" err="1">
                <a:latin typeface="Times" pitchFamily="2" charset="0"/>
              </a:rPr>
              <a:t>v</a:t>
            </a:r>
            <a:r>
              <a:rPr lang="en-US" sz="2400" i="1" baseline="-25000" dirty="0" err="1">
                <a:latin typeface="Times" pitchFamily="2" charset="0"/>
              </a:rPr>
              <a:t>f</a:t>
            </a:r>
            <a:r>
              <a:rPr lang="en-US" sz="2400" dirty="0">
                <a:latin typeface="Times" pitchFamily="2" charset="0"/>
              </a:rPr>
              <a:t>:</a:t>
            </a:r>
          </a:p>
        </p:txBody>
      </p:sp>
      <p:sp>
        <p:nvSpPr>
          <p:cNvPr id="48" name="Rounded Rectangle 47">
            <a:extLst>
              <a:ext uri="{FF2B5EF4-FFF2-40B4-BE49-F238E27FC236}">
                <a16:creationId xmlns:a16="http://schemas.microsoft.com/office/drawing/2014/main" id="{BC2D191F-3B23-012A-89C9-265FB3231EE8}"/>
              </a:ext>
            </a:extLst>
          </p:cNvPr>
          <p:cNvSpPr/>
          <p:nvPr/>
        </p:nvSpPr>
        <p:spPr>
          <a:xfrm>
            <a:off x="7153702" y="3728114"/>
            <a:ext cx="3273188" cy="7756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62D55E8D-EA37-2F86-A8A5-F0E867D24DFE}"/>
              </a:ext>
            </a:extLst>
          </p:cNvPr>
          <p:cNvPicPr>
            <a:picLocks noChangeAspect="1"/>
          </p:cNvPicPr>
          <p:nvPr/>
        </p:nvPicPr>
        <p:blipFill>
          <a:blip r:embed="rId5"/>
          <a:stretch>
            <a:fillRect/>
          </a:stretch>
        </p:blipFill>
        <p:spPr>
          <a:xfrm>
            <a:off x="7328848" y="3901261"/>
            <a:ext cx="2926307" cy="565993"/>
          </a:xfrm>
          <a:prstGeom prst="rect">
            <a:avLst/>
          </a:prstGeom>
        </p:spPr>
      </p:pic>
      <p:sp>
        <p:nvSpPr>
          <p:cNvPr id="50" name="Rounded Rectangle 49">
            <a:extLst>
              <a:ext uri="{FF2B5EF4-FFF2-40B4-BE49-F238E27FC236}">
                <a16:creationId xmlns:a16="http://schemas.microsoft.com/office/drawing/2014/main" id="{BD2BFC76-7766-D8CC-43E4-ABB46DC3AE7A}"/>
              </a:ext>
            </a:extLst>
          </p:cNvPr>
          <p:cNvSpPr/>
          <p:nvPr/>
        </p:nvSpPr>
        <p:spPr>
          <a:xfrm>
            <a:off x="5272585" y="4726676"/>
            <a:ext cx="6764739" cy="7756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F07A23CA-BCF3-1A7C-C565-75FBC09E2CE5}"/>
              </a:ext>
            </a:extLst>
          </p:cNvPr>
          <p:cNvPicPr>
            <a:picLocks noChangeAspect="1"/>
          </p:cNvPicPr>
          <p:nvPr/>
        </p:nvPicPr>
        <p:blipFill>
          <a:blip r:embed="rId6"/>
          <a:stretch>
            <a:fillRect/>
          </a:stretch>
        </p:blipFill>
        <p:spPr>
          <a:xfrm>
            <a:off x="5404513" y="4858603"/>
            <a:ext cx="6314012" cy="541282"/>
          </a:xfrm>
          <a:prstGeom prst="rect">
            <a:avLst/>
          </a:prstGeom>
        </p:spPr>
      </p:pic>
      <p:sp>
        <p:nvSpPr>
          <p:cNvPr id="53" name="Rounded Rectangle 52">
            <a:extLst>
              <a:ext uri="{FF2B5EF4-FFF2-40B4-BE49-F238E27FC236}">
                <a16:creationId xmlns:a16="http://schemas.microsoft.com/office/drawing/2014/main" id="{33F43CA9-3D3E-21E5-D070-7B922DE048CD}"/>
              </a:ext>
            </a:extLst>
          </p:cNvPr>
          <p:cNvSpPr/>
          <p:nvPr/>
        </p:nvSpPr>
        <p:spPr>
          <a:xfrm>
            <a:off x="7786048" y="5616055"/>
            <a:ext cx="1890215" cy="5527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D0C7DF2E-0B6F-2D47-A592-AE6ED3E14E17}"/>
              </a:ext>
            </a:extLst>
          </p:cNvPr>
          <p:cNvSpPr txBox="1"/>
          <p:nvPr/>
        </p:nvSpPr>
        <p:spPr>
          <a:xfrm>
            <a:off x="7861111" y="5672919"/>
            <a:ext cx="2333767" cy="461665"/>
          </a:xfrm>
          <a:prstGeom prst="rect">
            <a:avLst/>
          </a:prstGeom>
          <a:noFill/>
        </p:spPr>
        <p:txBody>
          <a:bodyPr wrap="square" rtlCol="0">
            <a:spAutoFit/>
          </a:bodyPr>
          <a:lstStyle/>
          <a:p>
            <a:pPr algn="just"/>
            <a:r>
              <a:rPr lang="en-US" sz="2400" i="1" dirty="0" err="1">
                <a:latin typeface="Times" pitchFamily="2" charset="0"/>
              </a:rPr>
              <a:t>v</a:t>
            </a:r>
            <a:r>
              <a:rPr lang="en-US" sz="2400" i="1" baseline="-25000" dirty="0" err="1">
                <a:latin typeface="Times" pitchFamily="2" charset="0"/>
              </a:rPr>
              <a:t>f</a:t>
            </a:r>
            <a:r>
              <a:rPr lang="en-US" sz="2400" dirty="0">
                <a:latin typeface="Times" pitchFamily="2" charset="0"/>
              </a:rPr>
              <a:t> = 46.2 m/s</a:t>
            </a:r>
          </a:p>
        </p:txBody>
      </p:sp>
      <p:sp>
        <p:nvSpPr>
          <p:cNvPr id="56" name="Rectangle 55">
            <a:extLst>
              <a:ext uri="{FF2B5EF4-FFF2-40B4-BE49-F238E27FC236}">
                <a16:creationId xmlns:a16="http://schemas.microsoft.com/office/drawing/2014/main" id="{1C03D886-9A97-9C8E-69C0-98FF3169D49F}"/>
              </a:ext>
            </a:extLst>
          </p:cNvPr>
          <p:cNvSpPr/>
          <p:nvPr/>
        </p:nvSpPr>
        <p:spPr>
          <a:xfrm>
            <a:off x="8434316" y="5677469"/>
            <a:ext cx="1119116" cy="4230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841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dissolve">
                                      <p:cBhvr>
                                        <p:cTn id="32" dur="500"/>
                                        <p:tgtEl>
                                          <p:spTgt spid="31"/>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dissolve">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dissolve">
                                      <p:cBhvr>
                                        <p:cTn id="41" dur="500"/>
                                        <p:tgtEl>
                                          <p:spTgt spid="47"/>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dissolve">
                                      <p:cBhvr>
                                        <p:cTn id="45" dur="500"/>
                                        <p:tgtEl>
                                          <p:spTgt spid="4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dissolve">
                                      <p:cBhvr>
                                        <p:cTn id="50" dur="500"/>
                                        <p:tgtEl>
                                          <p:spTgt spid="49"/>
                                        </p:tgtEl>
                                      </p:cBhvr>
                                    </p:animEffect>
                                  </p:childTnLst>
                                </p:cTn>
                              </p:par>
                            </p:childTnLst>
                          </p:cTn>
                        </p:par>
                        <p:par>
                          <p:cTn id="51" fill="hold">
                            <p:stCondLst>
                              <p:cond delay="500"/>
                            </p:stCondLst>
                            <p:childTnLst>
                              <p:par>
                                <p:cTn id="52" presetID="9" presetClass="entr" presetSubtype="0" fill="hold" grpId="0" nodeType="after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dissolve">
                                      <p:cBhvr>
                                        <p:cTn id="54" dur="500"/>
                                        <p:tgtEl>
                                          <p:spTgt spid="50"/>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dissolve">
                                      <p:cBhvr>
                                        <p:cTn id="59" dur="500"/>
                                        <p:tgtEl>
                                          <p:spTgt spid="52"/>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dissolve">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dissolve">
                                      <p:cBhvr>
                                        <p:cTn id="68" dur="500"/>
                                        <p:tgtEl>
                                          <p:spTgt spid="55"/>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56"/>
                                        </p:tgtEl>
                                        <p:attrNameLst>
                                          <p:attrName>style.visibility</p:attrName>
                                        </p:attrNameLst>
                                      </p:cBhvr>
                                      <p:to>
                                        <p:strVal val="visible"/>
                                      </p:to>
                                    </p:set>
                                    <p:animEffect transition="in" filter="dissolve">
                                      <p:cBhvr>
                                        <p:cTn id="7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31" grpId="0"/>
      <p:bldP spid="47" grpId="0"/>
      <p:bldP spid="48" grpId="0" animBg="1"/>
      <p:bldP spid="50" grpId="0" animBg="1"/>
      <p:bldP spid="53" grpId="0" animBg="1"/>
      <p:bldP spid="55" grpId="0"/>
      <p:bldP spid="5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4E559-8B4F-8712-B758-2B1C4C1A2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A129B-7A54-E342-E4A8-443E938BDAB5}"/>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6.5</a:t>
            </a:r>
            <a:r>
              <a:rPr lang="en-US" dirty="0">
                <a:ea typeface="Calibri" charset="0"/>
                <a:cs typeface="Calibri" charset="0"/>
              </a:rPr>
              <a:t> The Conservation of Mechanical Energy</a:t>
            </a:r>
            <a:endParaRPr lang="en-US" sz="3000" dirty="0"/>
          </a:p>
        </p:txBody>
      </p:sp>
      <p:sp>
        <p:nvSpPr>
          <p:cNvPr id="5" name="TextBox 4">
            <a:extLst>
              <a:ext uri="{FF2B5EF4-FFF2-40B4-BE49-F238E27FC236}">
                <a16:creationId xmlns:a16="http://schemas.microsoft.com/office/drawing/2014/main" id="{49FFED08-4823-FA1A-C2C7-4B515AA9C7EE}"/>
              </a:ext>
            </a:extLst>
          </p:cNvPr>
          <p:cNvSpPr txBox="1"/>
          <p:nvPr/>
        </p:nvSpPr>
        <p:spPr>
          <a:xfrm>
            <a:off x="629321" y="786284"/>
            <a:ext cx="10913633" cy="5262979"/>
          </a:xfrm>
          <a:prstGeom prst="rect">
            <a:avLst/>
          </a:prstGeom>
          <a:noFill/>
        </p:spPr>
        <p:txBody>
          <a:bodyPr wrap="square">
            <a:spAutoFit/>
          </a:bodyPr>
          <a:lstStyle/>
          <a:p>
            <a:pPr algn="just"/>
            <a:r>
              <a:rPr lang="en-US" sz="2400" dirty="0">
                <a:solidFill>
                  <a:srgbClr val="C0694F"/>
                </a:solidFill>
                <a:latin typeface="Times" pitchFamily="2" charset="0"/>
              </a:rPr>
              <a:t>REASONING STRATEGY</a:t>
            </a:r>
          </a:p>
          <a:p>
            <a:pPr algn="just"/>
            <a:r>
              <a:rPr lang="en-US" sz="2400" b="1" dirty="0">
                <a:latin typeface="Times" pitchFamily="2" charset="0"/>
              </a:rPr>
              <a:t>Applying the Principle of Conservation of Mechanical Energy</a:t>
            </a:r>
          </a:p>
          <a:p>
            <a:pPr algn="just"/>
            <a:endParaRPr lang="en-US" sz="2400" dirty="0">
              <a:latin typeface="Times" pitchFamily="2" charset="0"/>
            </a:endParaRPr>
          </a:p>
          <a:p>
            <a:pPr algn="just"/>
            <a:r>
              <a:rPr lang="en-US" sz="2400" dirty="0">
                <a:latin typeface="Times" pitchFamily="2" charset="0"/>
              </a:rPr>
              <a:t>1. Identify the external conservative and nonconservative forces that act on the object. For this principle to apply, the total work done by nonconservative forces must be zero, </a:t>
            </a:r>
            <a:r>
              <a:rPr lang="en-US" sz="2400" i="1" dirty="0">
                <a:latin typeface="Times" pitchFamily="2" charset="0"/>
              </a:rPr>
              <a:t>W</a:t>
            </a:r>
            <a:r>
              <a:rPr lang="en-US" sz="2400" baseline="-25000" dirty="0">
                <a:latin typeface="Times" pitchFamily="2" charset="0"/>
              </a:rPr>
              <a:t>NC</a:t>
            </a:r>
            <a:r>
              <a:rPr lang="en-US" sz="2400" dirty="0">
                <a:latin typeface="Times" pitchFamily="2" charset="0"/>
              </a:rPr>
              <a:t> = 0. A nonconservative force that is perpendicular to the displacement of the object does no work, for example.</a:t>
            </a:r>
          </a:p>
          <a:p>
            <a:pPr algn="just"/>
            <a:endParaRPr lang="en-US" sz="2400" dirty="0">
              <a:latin typeface="Times" pitchFamily="2" charset="0"/>
            </a:endParaRPr>
          </a:p>
          <a:p>
            <a:pPr algn="just"/>
            <a:r>
              <a:rPr lang="en-US" sz="2400" dirty="0">
                <a:latin typeface="Times" pitchFamily="2" charset="0"/>
              </a:rPr>
              <a:t>2. Choose the location where the gravitational potential energy is taken to be zero. This location is arbitrary but must not be changed during the course of solving a problem.</a:t>
            </a:r>
          </a:p>
          <a:p>
            <a:pPr algn="just"/>
            <a:endParaRPr lang="en-US" sz="2400" dirty="0">
              <a:latin typeface="Times" pitchFamily="2" charset="0"/>
            </a:endParaRPr>
          </a:p>
          <a:p>
            <a:pPr algn="just"/>
            <a:r>
              <a:rPr lang="en-US" sz="2400" dirty="0">
                <a:latin typeface="Times" pitchFamily="2" charset="0"/>
              </a:rPr>
              <a:t>3. Set the final total mechanical energy of the object (</a:t>
            </a:r>
            <a:r>
              <a:rPr lang="en-US" sz="2400" i="1" dirty="0">
                <a:latin typeface="Times" pitchFamily="2" charset="0"/>
              </a:rPr>
              <a:t>E</a:t>
            </a:r>
            <a:r>
              <a:rPr lang="en-US" sz="2400" baseline="-25000" dirty="0">
                <a:latin typeface="Times" pitchFamily="2" charset="0"/>
              </a:rPr>
              <a:t>f</a:t>
            </a:r>
            <a:r>
              <a:rPr lang="en-US" sz="2400" dirty="0">
                <a:latin typeface="Times" pitchFamily="2" charset="0"/>
              </a:rPr>
              <a:t>) equal to the initial total mechanical energy (</a:t>
            </a:r>
            <a:r>
              <a:rPr lang="en-US" sz="2400" i="1" dirty="0">
                <a:latin typeface="Times" pitchFamily="2" charset="0"/>
              </a:rPr>
              <a:t>E</a:t>
            </a:r>
            <a:r>
              <a:rPr lang="en-US" sz="2400" baseline="-25000" dirty="0">
                <a:latin typeface="Times" pitchFamily="2" charset="0"/>
              </a:rPr>
              <a:t>0</a:t>
            </a:r>
            <a:r>
              <a:rPr lang="en-US" sz="2400" dirty="0">
                <a:latin typeface="Times" pitchFamily="2" charset="0"/>
              </a:rPr>
              <a:t>), as in Equations 6.9a and 6.9b. The total mechanical energy is the sum of the kinetic and potential energies.</a:t>
            </a:r>
          </a:p>
        </p:txBody>
      </p:sp>
      <p:sp>
        <p:nvSpPr>
          <p:cNvPr id="6" name="Rectangle 5">
            <a:extLst>
              <a:ext uri="{FF2B5EF4-FFF2-40B4-BE49-F238E27FC236}">
                <a16:creationId xmlns:a16="http://schemas.microsoft.com/office/drawing/2014/main" id="{4D114A6A-D6AF-74A1-FABF-D7FD1ED75955}"/>
              </a:ext>
            </a:extLst>
          </p:cNvPr>
          <p:cNvSpPr/>
          <p:nvPr/>
        </p:nvSpPr>
        <p:spPr>
          <a:xfrm>
            <a:off x="634701" y="806824"/>
            <a:ext cx="11026588" cy="5228216"/>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9291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28130-E8E3-9038-D225-5BEFAB2ED663}"/>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A5668490-6401-96F7-C033-ABD5427D68A6}"/>
              </a:ext>
            </a:extLst>
          </p:cNvPr>
          <p:cNvSpPr/>
          <p:nvPr/>
        </p:nvSpPr>
        <p:spPr>
          <a:xfrm>
            <a:off x="1000125" y="5300661"/>
            <a:ext cx="4386263"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D7132C-1EE7-33E5-434B-A70A1EC4BD4F}"/>
              </a:ext>
            </a:extLst>
          </p:cNvPr>
          <p:cNvSpPr>
            <a:spLocks noGrp="1"/>
          </p:cNvSpPr>
          <p:nvPr>
            <p:ph type="title"/>
          </p:nvPr>
        </p:nvSpPr>
        <p:spPr>
          <a:xfrm>
            <a:off x="685805" y="155455"/>
            <a:ext cx="10820401" cy="849312"/>
          </a:xfrm>
        </p:spPr>
        <p:txBody>
          <a:bodyPr/>
          <a:lstStyle/>
          <a:p>
            <a:r>
              <a:rPr lang="en-US" b="1" dirty="0">
                <a:ea typeface="Calibri" charset="0"/>
                <a:cs typeface="Calibri" charset="0"/>
              </a:rPr>
              <a:t>6.5</a:t>
            </a:r>
            <a:r>
              <a:rPr lang="en-US" dirty="0">
                <a:ea typeface="Calibri" charset="0"/>
                <a:cs typeface="Calibri" charset="0"/>
              </a:rPr>
              <a:t> The Conservation of Mechanical Energy</a:t>
            </a:r>
            <a:endParaRPr lang="en-US" sz="3000" dirty="0"/>
          </a:p>
        </p:txBody>
      </p:sp>
      <p:grpSp>
        <p:nvGrpSpPr>
          <p:cNvPr id="3" name="Group 2">
            <a:extLst>
              <a:ext uri="{FF2B5EF4-FFF2-40B4-BE49-F238E27FC236}">
                <a16:creationId xmlns:a16="http://schemas.microsoft.com/office/drawing/2014/main" id="{061C9058-6534-2384-0B6A-1F6D8E716504}"/>
              </a:ext>
            </a:extLst>
          </p:cNvPr>
          <p:cNvGrpSpPr/>
          <p:nvPr/>
        </p:nvGrpSpPr>
        <p:grpSpPr>
          <a:xfrm>
            <a:off x="600589" y="1205378"/>
            <a:ext cx="10701395" cy="5030340"/>
            <a:chOff x="1082968" y="4173070"/>
            <a:chExt cx="10701395" cy="5030340"/>
          </a:xfrm>
        </p:grpSpPr>
        <p:sp>
          <p:nvSpPr>
            <p:cNvPr id="4" name="TextBox 3">
              <a:extLst>
                <a:ext uri="{FF2B5EF4-FFF2-40B4-BE49-F238E27FC236}">
                  <a16:creationId xmlns:a16="http://schemas.microsoft.com/office/drawing/2014/main" id="{914B797B-F61C-F640-B2F7-32FE10AE1906}"/>
                </a:ext>
              </a:extLst>
            </p:cNvPr>
            <p:cNvSpPr txBox="1"/>
            <p:nvPr/>
          </p:nvSpPr>
          <p:spPr>
            <a:xfrm>
              <a:off x="1235766" y="4173070"/>
              <a:ext cx="10548597" cy="2677656"/>
            </a:xfrm>
            <a:prstGeom prst="rect">
              <a:avLst/>
            </a:prstGeom>
            <a:noFill/>
          </p:spPr>
          <p:txBody>
            <a:bodyPr wrap="square" rtlCol="0">
              <a:spAutoFit/>
            </a:bodyPr>
            <a:lstStyle/>
            <a:p>
              <a:pPr algn="just"/>
              <a:r>
                <a:rPr lang="en-US" sz="2800" dirty="0">
                  <a:solidFill>
                    <a:srgbClr val="3E5891"/>
                  </a:solidFill>
                  <a:latin typeface="Times" pitchFamily="2" charset="0"/>
                </a:rPr>
                <a:t>CYU/TPS – The figure shows an empty fuel tank about to be released by three different jet planes. At the moment of release, each plane has the same speed, and each tank is at the same height above the ground. However, the directions of the velocities of the planes are different. Which tank has the largest speed upon hitting the ground? Ignore friction and air resistance. </a:t>
              </a:r>
              <a:endParaRPr lang="en-US" sz="2800" dirty="0">
                <a:solidFill>
                  <a:srgbClr val="3E5891"/>
                </a:solidFill>
                <a:latin typeface="Times" pitchFamily="2" charset="0"/>
                <a:cs typeface="Times New Roman" panose="02020603050405020304" pitchFamily="18" charset="0"/>
              </a:endParaRPr>
            </a:p>
          </p:txBody>
        </p:sp>
        <p:sp>
          <p:nvSpPr>
            <p:cNvPr id="7" name="TextBox 6">
              <a:extLst>
                <a:ext uri="{FF2B5EF4-FFF2-40B4-BE49-F238E27FC236}">
                  <a16:creationId xmlns:a16="http://schemas.microsoft.com/office/drawing/2014/main" id="{40B0EE1D-E2DA-9506-0B83-3611E53489A0}"/>
                </a:ext>
              </a:extLst>
            </p:cNvPr>
            <p:cNvSpPr txBox="1"/>
            <p:nvPr/>
          </p:nvSpPr>
          <p:spPr>
            <a:xfrm>
              <a:off x="1082968" y="6956641"/>
              <a:ext cx="5071549" cy="2246769"/>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 A</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 B</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 C</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 Each tank hits the ground with the same speed.</a:t>
              </a:r>
            </a:p>
          </p:txBody>
        </p:sp>
      </p:grpSp>
      <p:sp>
        <p:nvSpPr>
          <p:cNvPr id="8" name="TextBox 7">
            <a:extLst>
              <a:ext uri="{FF2B5EF4-FFF2-40B4-BE49-F238E27FC236}">
                <a16:creationId xmlns:a16="http://schemas.microsoft.com/office/drawing/2014/main" id="{8F1AE192-CD08-C04D-B273-340897702FFF}"/>
              </a:ext>
            </a:extLst>
          </p:cNvPr>
          <p:cNvSpPr txBox="1"/>
          <p:nvPr/>
        </p:nvSpPr>
        <p:spPr>
          <a:xfrm rot="2431060">
            <a:off x="2793010" y="4441052"/>
            <a:ext cx="1988191"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Explain!</a:t>
            </a:r>
          </a:p>
        </p:txBody>
      </p:sp>
      <p:pic>
        <p:nvPicPr>
          <p:cNvPr id="11" name="Picture 10">
            <a:extLst>
              <a:ext uri="{FF2B5EF4-FFF2-40B4-BE49-F238E27FC236}">
                <a16:creationId xmlns:a16="http://schemas.microsoft.com/office/drawing/2014/main" id="{63D1C810-235F-CB45-4FAE-1B5A3CA10D32}"/>
              </a:ext>
            </a:extLst>
          </p:cNvPr>
          <p:cNvPicPr>
            <a:picLocks noChangeAspect="1"/>
          </p:cNvPicPr>
          <p:nvPr/>
        </p:nvPicPr>
        <p:blipFill>
          <a:blip r:embed="rId3"/>
          <a:stretch>
            <a:fillRect/>
          </a:stretch>
        </p:blipFill>
        <p:spPr>
          <a:xfrm>
            <a:off x="5757863" y="3868591"/>
            <a:ext cx="5522912" cy="1406671"/>
          </a:xfrm>
          <a:prstGeom prst="rect">
            <a:avLst/>
          </a:prstGeom>
        </p:spPr>
      </p:pic>
    </p:spTree>
    <p:extLst>
      <p:ext uri="{BB962C8B-B14F-4D97-AF65-F5344CB8AC3E}">
        <p14:creationId xmlns:p14="http://schemas.microsoft.com/office/powerpoint/2010/main" val="245177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2D5FA-921B-ED49-5FF7-E318ACABB6D0}"/>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9BEC1D15-C926-58BE-3A37-7F2CFA3CEB63}"/>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8FA0C-D8D4-913C-D014-8E10F40F5373}"/>
              </a:ext>
            </a:extLst>
          </p:cNvPr>
          <p:cNvSpPr>
            <a:spLocks noGrp="1"/>
          </p:cNvSpPr>
          <p:nvPr>
            <p:ph type="title"/>
          </p:nvPr>
        </p:nvSpPr>
        <p:spPr>
          <a:xfrm>
            <a:off x="685805" y="155455"/>
            <a:ext cx="11506195" cy="849312"/>
          </a:xfrm>
        </p:spPr>
        <p:txBody>
          <a:bodyPr>
            <a:normAutofit fontScale="90000"/>
          </a:bodyPr>
          <a:lstStyle/>
          <a:p>
            <a:r>
              <a:rPr lang="en-US" b="1" dirty="0">
                <a:ea typeface="Calibri" charset="0"/>
                <a:cs typeface="Calibri" charset="0"/>
              </a:rPr>
              <a:t>6.6 </a:t>
            </a:r>
            <a:r>
              <a:rPr lang="en-US" dirty="0">
                <a:ea typeface="Calibri" charset="0"/>
                <a:cs typeface="Calibri" charset="0"/>
              </a:rPr>
              <a:t>Nonconservative Forces and the Work–Energy Theorem</a:t>
            </a:r>
            <a:endParaRPr lang="en-US" sz="3000" dirty="0"/>
          </a:p>
        </p:txBody>
      </p:sp>
      <p:sp>
        <p:nvSpPr>
          <p:cNvPr id="5" name="Content Placeholder 2">
            <a:extLst>
              <a:ext uri="{FF2B5EF4-FFF2-40B4-BE49-F238E27FC236}">
                <a16:creationId xmlns:a16="http://schemas.microsoft.com/office/drawing/2014/main" id="{89884B2A-2CA5-3536-05B6-B6A667C736E7}"/>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6.6 </a:t>
            </a:r>
            <a:r>
              <a:rPr lang="en-US" dirty="0"/>
              <a:t>– Solve problems involving nonconservative forces.</a:t>
            </a:r>
          </a:p>
        </p:txBody>
      </p:sp>
      <p:sp>
        <p:nvSpPr>
          <p:cNvPr id="4" name="TextBox 3">
            <a:extLst>
              <a:ext uri="{FF2B5EF4-FFF2-40B4-BE49-F238E27FC236}">
                <a16:creationId xmlns:a16="http://schemas.microsoft.com/office/drawing/2014/main" id="{1932595C-A77C-37EC-1311-2634E74C2EF3}"/>
              </a:ext>
            </a:extLst>
          </p:cNvPr>
          <p:cNvSpPr txBox="1"/>
          <p:nvPr/>
        </p:nvSpPr>
        <p:spPr>
          <a:xfrm>
            <a:off x="961777" y="1672343"/>
            <a:ext cx="10496798" cy="830997"/>
          </a:xfrm>
          <a:prstGeom prst="rect">
            <a:avLst/>
          </a:prstGeom>
          <a:noFill/>
        </p:spPr>
        <p:txBody>
          <a:bodyPr wrap="square">
            <a:spAutoFit/>
          </a:bodyPr>
          <a:lstStyle/>
          <a:p>
            <a:pPr algn="just"/>
            <a:r>
              <a:rPr lang="en-US" sz="2400" dirty="0">
                <a:latin typeface="Times" pitchFamily="2" charset="0"/>
              </a:rPr>
              <a:t>It is not uncommon for objects to experience nonconservative forces, such as friction or air resistance. </a:t>
            </a:r>
          </a:p>
        </p:txBody>
      </p:sp>
      <p:grpSp>
        <p:nvGrpSpPr>
          <p:cNvPr id="29" name="Group 28">
            <a:extLst>
              <a:ext uri="{FF2B5EF4-FFF2-40B4-BE49-F238E27FC236}">
                <a16:creationId xmlns:a16="http://schemas.microsoft.com/office/drawing/2014/main" id="{0FD681DA-0FEE-F063-B647-873EE595D8E4}"/>
              </a:ext>
            </a:extLst>
          </p:cNvPr>
          <p:cNvGrpSpPr/>
          <p:nvPr/>
        </p:nvGrpSpPr>
        <p:grpSpPr>
          <a:xfrm>
            <a:off x="1028452" y="2910593"/>
            <a:ext cx="8724224" cy="830997"/>
            <a:chOff x="999877" y="2410531"/>
            <a:chExt cx="8724224" cy="830997"/>
          </a:xfrm>
        </p:grpSpPr>
        <p:sp>
          <p:nvSpPr>
            <p:cNvPr id="8" name="TextBox 7">
              <a:extLst>
                <a:ext uri="{FF2B5EF4-FFF2-40B4-BE49-F238E27FC236}">
                  <a16:creationId xmlns:a16="http://schemas.microsoft.com/office/drawing/2014/main" id="{84BE6762-4CFB-00E9-E18E-B85AAF6448E6}"/>
                </a:ext>
              </a:extLst>
            </p:cNvPr>
            <p:cNvSpPr txBox="1"/>
            <p:nvPr/>
          </p:nvSpPr>
          <p:spPr>
            <a:xfrm>
              <a:off x="999877" y="2410531"/>
              <a:ext cx="6601073" cy="830997"/>
            </a:xfrm>
            <a:prstGeom prst="rect">
              <a:avLst/>
            </a:prstGeom>
            <a:noFill/>
          </p:spPr>
          <p:txBody>
            <a:bodyPr wrap="square">
              <a:spAutoFit/>
            </a:bodyPr>
            <a:lstStyle/>
            <a:p>
              <a:pPr algn="just"/>
              <a:r>
                <a:rPr lang="en-US" sz="2400" dirty="0">
                  <a:latin typeface="Times" pitchFamily="2" charset="0"/>
                </a:rPr>
                <a:t>In these cases where </a:t>
              </a:r>
              <a:r>
                <a:rPr lang="en-US" sz="2400" i="1" dirty="0">
                  <a:latin typeface="Times" pitchFamily="2" charset="0"/>
                </a:rPr>
                <a:t>W</a:t>
              </a:r>
              <a:r>
                <a:rPr lang="en-US" sz="2400" baseline="-25000" dirty="0">
                  <a:latin typeface="Times" pitchFamily="2" charset="0"/>
                </a:rPr>
                <a:t>NC</a:t>
              </a:r>
              <a:r>
                <a:rPr lang="en-US" sz="2400" dirty="0">
                  <a:latin typeface="Times" pitchFamily="2" charset="0"/>
                </a:rPr>
                <a:t> ≠ 0, we can still use the Equation 6.8 form of the Work-Energy Theorem:   </a:t>
              </a:r>
            </a:p>
          </p:txBody>
        </p:sp>
        <p:sp>
          <p:nvSpPr>
            <p:cNvPr id="11" name="Rounded Rectangle 10">
              <a:extLst>
                <a:ext uri="{FF2B5EF4-FFF2-40B4-BE49-F238E27FC236}">
                  <a16:creationId xmlns:a16="http://schemas.microsoft.com/office/drawing/2014/main" id="{8B886FA2-5D0C-2B7F-F034-82F38B671417}"/>
                </a:ext>
              </a:extLst>
            </p:cNvPr>
            <p:cNvSpPr/>
            <p:nvPr/>
          </p:nvSpPr>
          <p:spPr>
            <a:xfrm>
              <a:off x="7882238" y="2721973"/>
              <a:ext cx="1841863"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0D4E6D58-71EC-A5A3-053F-0F74FAC4B067}"/>
              </a:ext>
            </a:extLst>
          </p:cNvPr>
          <p:cNvSpPr txBox="1"/>
          <p:nvPr/>
        </p:nvSpPr>
        <p:spPr>
          <a:xfrm>
            <a:off x="7897725" y="3237064"/>
            <a:ext cx="2006824"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f  </a:t>
            </a:r>
            <a:r>
              <a:rPr lang="en-US" sz="2400" dirty="0">
                <a:latin typeface="Times" pitchFamily="2" charset="0"/>
              </a:rPr>
              <a:t>– </a:t>
            </a:r>
            <a:r>
              <a:rPr lang="en-US" sz="2400" i="1" dirty="0">
                <a:latin typeface="Times" pitchFamily="2" charset="0"/>
              </a:rPr>
              <a:t>E</a:t>
            </a:r>
            <a:r>
              <a:rPr lang="en-US" sz="2400" baseline="-25000" dirty="0">
                <a:latin typeface="Times" pitchFamily="2" charset="0"/>
              </a:rPr>
              <a:t>0</a:t>
            </a:r>
            <a:endParaRPr lang="en-US" sz="2400" dirty="0"/>
          </a:p>
        </p:txBody>
      </p:sp>
      <p:sp>
        <p:nvSpPr>
          <p:cNvPr id="13" name="TextBox 12">
            <a:extLst>
              <a:ext uri="{FF2B5EF4-FFF2-40B4-BE49-F238E27FC236}">
                <a16:creationId xmlns:a16="http://schemas.microsoft.com/office/drawing/2014/main" id="{D174142F-528A-E130-2A68-96578BD68AF6}"/>
              </a:ext>
            </a:extLst>
          </p:cNvPr>
          <p:cNvSpPr txBox="1"/>
          <p:nvPr/>
        </p:nvSpPr>
        <p:spPr>
          <a:xfrm>
            <a:off x="9917568" y="3246311"/>
            <a:ext cx="1119865"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6.8</a:t>
            </a:r>
            <a:r>
              <a:rPr lang="en-US" sz="2400" dirty="0">
                <a:latin typeface="Times" pitchFamily="2" charset="0"/>
              </a:rPr>
              <a:t>)</a:t>
            </a:r>
          </a:p>
        </p:txBody>
      </p:sp>
      <p:grpSp>
        <p:nvGrpSpPr>
          <p:cNvPr id="32" name="Group 31">
            <a:extLst>
              <a:ext uri="{FF2B5EF4-FFF2-40B4-BE49-F238E27FC236}">
                <a16:creationId xmlns:a16="http://schemas.microsoft.com/office/drawing/2014/main" id="{F8E6426B-4184-F45F-BA5B-590666879D0B}"/>
              </a:ext>
            </a:extLst>
          </p:cNvPr>
          <p:cNvGrpSpPr/>
          <p:nvPr/>
        </p:nvGrpSpPr>
        <p:grpSpPr>
          <a:xfrm>
            <a:off x="1009402" y="4434594"/>
            <a:ext cx="10720636" cy="980370"/>
            <a:chOff x="995114" y="3420181"/>
            <a:chExt cx="10720636" cy="980370"/>
          </a:xfrm>
        </p:grpSpPr>
        <p:sp>
          <p:nvSpPr>
            <p:cNvPr id="30" name="TextBox 29">
              <a:extLst>
                <a:ext uri="{FF2B5EF4-FFF2-40B4-BE49-F238E27FC236}">
                  <a16:creationId xmlns:a16="http://schemas.microsoft.com/office/drawing/2014/main" id="{14134643-7D68-5303-957B-5A2440F02E5F}"/>
                </a:ext>
              </a:extLst>
            </p:cNvPr>
            <p:cNvSpPr txBox="1"/>
            <p:nvPr/>
          </p:nvSpPr>
          <p:spPr>
            <a:xfrm>
              <a:off x="995114" y="3420181"/>
              <a:ext cx="10720636" cy="461665"/>
            </a:xfrm>
            <a:prstGeom prst="rect">
              <a:avLst/>
            </a:prstGeom>
            <a:noFill/>
          </p:spPr>
          <p:txBody>
            <a:bodyPr wrap="square">
              <a:spAutoFit/>
            </a:bodyPr>
            <a:lstStyle/>
            <a:p>
              <a:pPr algn="just"/>
              <a:r>
                <a:rPr lang="en-US" sz="2400" dirty="0">
                  <a:latin typeface="Times" pitchFamily="2" charset="0"/>
                </a:rPr>
                <a:t>*Notice now that </a:t>
              </a:r>
              <a:r>
                <a:rPr lang="en-US" sz="2400" i="1" dirty="0">
                  <a:latin typeface="Times" pitchFamily="2" charset="0"/>
                </a:rPr>
                <a:t>E</a:t>
              </a:r>
              <a:r>
                <a:rPr lang="en-US" sz="2400" baseline="-25000" dirty="0">
                  <a:latin typeface="Times" pitchFamily="2" charset="0"/>
                </a:rPr>
                <a:t>f</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0</a:t>
              </a:r>
              <a:r>
                <a:rPr lang="en-US" sz="2400" dirty="0">
                  <a:latin typeface="Times" pitchFamily="2" charset="0"/>
                </a:rPr>
                <a:t>.  Therefore, when nonconservative forces act on an object</a:t>
              </a:r>
            </a:p>
          </p:txBody>
        </p:sp>
        <p:sp>
          <p:nvSpPr>
            <p:cNvPr id="31" name="Rounded Rectangle 30">
              <a:extLst>
                <a:ext uri="{FF2B5EF4-FFF2-40B4-BE49-F238E27FC236}">
                  <a16:creationId xmlns:a16="http://schemas.microsoft.com/office/drawing/2014/main" id="{D592FE6B-0BAC-BF78-3AE0-76AB2B5DB0DF}"/>
                </a:ext>
              </a:extLst>
            </p:cNvPr>
            <p:cNvSpPr/>
            <p:nvPr/>
          </p:nvSpPr>
          <p:spPr>
            <a:xfrm>
              <a:off x="2743200" y="3943351"/>
              <a:ext cx="635793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88A0D4E7-D1EC-D187-8193-CBBB4CB5DF81}"/>
              </a:ext>
            </a:extLst>
          </p:cNvPr>
          <p:cNvSpPr txBox="1"/>
          <p:nvPr/>
        </p:nvSpPr>
        <p:spPr>
          <a:xfrm>
            <a:off x="2743200" y="4986337"/>
            <a:ext cx="6729413"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total mechanical energy is </a:t>
            </a:r>
            <a:r>
              <a:rPr lang="en-US" sz="2000" u="sng" dirty="0">
                <a:solidFill>
                  <a:srgbClr val="007440"/>
                </a:solidFill>
                <a:latin typeface="Chalkduster" panose="03050602040202020205" pitchFamily="66" charset="77"/>
              </a:rPr>
              <a:t>not</a:t>
            </a:r>
            <a:r>
              <a:rPr lang="en-US" sz="2000" dirty="0">
                <a:solidFill>
                  <a:srgbClr val="007440"/>
                </a:solidFill>
                <a:latin typeface="Chalkduster" panose="03050602040202020205" pitchFamily="66" charset="77"/>
              </a:rPr>
              <a:t> conserved!</a:t>
            </a:r>
          </a:p>
        </p:txBody>
      </p:sp>
    </p:spTree>
    <p:extLst>
      <p:ext uri="{BB962C8B-B14F-4D97-AF65-F5344CB8AC3E}">
        <p14:creationId xmlns:p14="http://schemas.microsoft.com/office/powerpoint/2010/main" val="198373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dissolv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dissolve">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3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6669B-DBA5-6823-B3B9-135848F41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A5AAB-E73D-F462-3CE1-9516BC801E5E}"/>
              </a:ext>
            </a:extLst>
          </p:cNvPr>
          <p:cNvSpPr>
            <a:spLocks noGrp="1"/>
          </p:cNvSpPr>
          <p:nvPr>
            <p:ph type="title"/>
          </p:nvPr>
        </p:nvSpPr>
        <p:spPr>
          <a:xfrm>
            <a:off x="685805" y="155455"/>
            <a:ext cx="11506195" cy="849312"/>
          </a:xfrm>
        </p:spPr>
        <p:txBody>
          <a:bodyPr>
            <a:normAutofit fontScale="90000"/>
          </a:bodyPr>
          <a:lstStyle/>
          <a:p>
            <a:r>
              <a:rPr lang="en-US" b="1" dirty="0">
                <a:ea typeface="Calibri" charset="0"/>
                <a:cs typeface="Calibri" charset="0"/>
              </a:rPr>
              <a:t>6.6 </a:t>
            </a:r>
            <a:r>
              <a:rPr lang="en-US" dirty="0">
                <a:ea typeface="Calibri" charset="0"/>
                <a:cs typeface="Calibri" charset="0"/>
              </a:rPr>
              <a:t>Nonconservative Forces and the Work–Energy Theorem</a:t>
            </a:r>
            <a:endParaRPr lang="en-US" sz="3000" dirty="0"/>
          </a:p>
        </p:txBody>
      </p:sp>
      <p:sp>
        <p:nvSpPr>
          <p:cNvPr id="6" name="TextBox 5">
            <a:extLst>
              <a:ext uri="{FF2B5EF4-FFF2-40B4-BE49-F238E27FC236}">
                <a16:creationId xmlns:a16="http://schemas.microsoft.com/office/drawing/2014/main" id="{6F52CD82-58D4-A10A-4D3C-CAFDE8F218A0}"/>
              </a:ext>
            </a:extLst>
          </p:cNvPr>
          <p:cNvSpPr txBox="1"/>
          <p:nvPr/>
        </p:nvSpPr>
        <p:spPr>
          <a:xfrm>
            <a:off x="332185" y="1177469"/>
            <a:ext cx="7783115" cy="2677656"/>
          </a:xfrm>
          <a:prstGeom prst="rect">
            <a:avLst/>
          </a:prstGeom>
          <a:noFill/>
        </p:spPr>
        <p:txBody>
          <a:bodyPr wrap="square">
            <a:spAutoFit/>
          </a:bodyPr>
          <a:lstStyle/>
          <a:p>
            <a:pPr algn="just"/>
            <a:r>
              <a:rPr lang="en-US" sz="2400" dirty="0">
                <a:latin typeface="Times" pitchFamily="2" charset="0"/>
              </a:rPr>
              <a:t>A 0.20-kg rocket in a fireworks display is launched from rest and follows an erratic flight path to reach the point </a:t>
            </a:r>
            <a:r>
              <a:rPr lang="en-US" sz="2400" i="1" dirty="0">
                <a:latin typeface="Times" pitchFamily="2" charset="0"/>
              </a:rPr>
              <a:t>P</a:t>
            </a:r>
            <a:r>
              <a:rPr lang="en-US" sz="2400" dirty="0">
                <a:latin typeface="Times" pitchFamily="2" charset="0"/>
              </a:rPr>
              <a:t>, as the figure shows. Point </a:t>
            </a:r>
            <a:r>
              <a:rPr lang="en-US" sz="2400" i="1" dirty="0">
                <a:latin typeface="Times" pitchFamily="2" charset="0"/>
              </a:rPr>
              <a:t>P</a:t>
            </a:r>
            <a:r>
              <a:rPr lang="en-US" sz="2400" dirty="0">
                <a:latin typeface="Times" pitchFamily="2" charset="0"/>
              </a:rPr>
              <a:t> is 29 m above the starting point. In the process, 425 J of work is done on the rocket by the </a:t>
            </a:r>
            <a:r>
              <a:rPr lang="en-US" sz="2400" u="sng" dirty="0">
                <a:latin typeface="Times" pitchFamily="2" charset="0"/>
              </a:rPr>
              <a:t>nonconservative force</a:t>
            </a:r>
            <a:r>
              <a:rPr lang="en-US" sz="2400" dirty="0">
                <a:latin typeface="Times" pitchFamily="2" charset="0"/>
              </a:rPr>
              <a:t> generated by the burning propellant. Ignoring air resistance and the mass lost due to the burning propellant, find the speed  of the rocket at the point </a:t>
            </a:r>
            <a:r>
              <a:rPr lang="en-US" sz="2400" i="1" dirty="0">
                <a:latin typeface="Times" pitchFamily="2" charset="0"/>
              </a:rPr>
              <a:t>P</a:t>
            </a:r>
            <a:r>
              <a:rPr lang="en-US" sz="2400" dirty="0">
                <a:latin typeface="Times" pitchFamily="2" charset="0"/>
              </a:rPr>
              <a:t>.</a:t>
            </a:r>
          </a:p>
        </p:txBody>
      </p:sp>
      <p:pic>
        <p:nvPicPr>
          <p:cNvPr id="9" name="Picture 8">
            <a:extLst>
              <a:ext uri="{FF2B5EF4-FFF2-40B4-BE49-F238E27FC236}">
                <a16:creationId xmlns:a16="http://schemas.microsoft.com/office/drawing/2014/main" id="{109065F1-101C-E0DB-338E-904055BB22E0}"/>
              </a:ext>
            </a:extLst>
          </p:cNvPr>
          <p:cNvPicPr>
            <a:picLocks noChangeAspect="1"/>
          </p:cNvPicPr>
          <p:nvPr/>
        </p:nvPicPr>
        <p:blipFill>
          <a:blip r:embed="rId3"/>
          <a:stretch>
            <a:fillRect/>
          </a:stretch>
        </p:blipFill>
        <p:spPr>
          <a:xfrm>
            <a:off x="8248650" y="962025"/>
            <a:ext cx="3810000" cy="5448300"/>
          </a:xfrm>
          <a:prstGeom prst="rect">
            <a:avLst/>
          </a:prstGeom>
        </p:spPr>
      </p:pic>
      <p:sp>
        <p:nvSpPr>
          <p:cNvPr id="10" name="TextBox 9">
            <a:extLst>
              <a:ext uri="{FF2B5EF4-FFF2-40B4-BE49-F238E27FC236}">
                <a16:creationId xmlns:a16="http://schemas.microsoft.com/office/drawing/2014/main" id="{63108982-C93E-84C4-A4B4-CC24BF3B7E37}"/>
              </a:ext>
            </a:extLst>
          </p:cNvPr>
          <p:cNvSpPr txBox="1"/>
          <p:nvPr/>
        </p:nvSpPr>
        <p:spPr>
          <a:xfrm>
            <a:off x="358623" y="681582"/>
            <a:ext cx="8658610" cy="523220"/>
          </a:xfrm>
          <a:prstGeom prst="rect">
            <a:avLst/>
          </a:prstGeom>
          <a:noFill/>
        </p:spPr>
        <p:txBody>
          <a:bodyPr wrap="square" rtlCol="0">
            <a:spAutoFit/>
          </a:bodyPr>
          <a:lstStyle/>
          <a:p>
            <a:r>
              <a:rPr lang="en-US" sz="2800" dirty="0">
                <a:solidFill>
                  <a:srgbClr val="C00000"/>
                </a:solidFill>
                <a:latin typeface="Times" pitchFamily="2" charset="0"/>
              </a:rPr>
              <a:t>Example – Fireworks</a:t>
            </a:r>
          </a:p>
        </p:txBody>
      </p:sp>
      <p:sp>
        <p:nvSpPr>
          <p:cNvPr id="14" name="TextBox 13">
            <a:extLst>
              <a:ext uri="{FF2B5EF4-FFF2-40B4-BE49-F238E27FC236}">
                <a16:creationId xmlns:a16="http://schemas.microsoft.com/office/drawing/2014/main" id="{29FEAABF-EC8C-D3D4-E2EC-0F2DB68966A9}"/>
              </a:ext>
            </a:extLst>
          </p:cNvPr>
          <p:cNvSpPr txBox="1"/>
          <p:nvPr/>
        </p:nvSpPr>
        <p:spPr>
          <a:xfrm>
            <a:off x="327422" y="4001632"/>
            <a:ext cx="7783115" cy="830997"/>
          </a:xfrm>
          <a:prstGeom prst="rect">
            <a:avLst/>
          </a:prstGeom>
          <a:noFill/>
        </p:spPr>
        <p:txBody>
          <a:bodyPr wrap="square">
            <a:spAutoFit/>
          </a:bodyPr>
          <a:lstStyle/>
          <a:p>
            <a:pPr algn="just"/>
            <a:r>
              <a:rPr lang="en-US" sz="2400" dirty="0">
                <a:latin typeface="Times" pitchFamily="2" charset="0"/>
              </a:rPr>
              <a:t>The final speed of the rocket will be determined by its kinetic energy at point P.  </a:t>
            </a:r>
          </a:p>
        </p:txBody>
      </p:sp>
      <p:grpSp>
        <p:nvGrpSpPr>
          <p:cNvPr id="18" name="Group 17">
            <a:extLst>
              <a:ext uri="{FF2B5EF4-FFF2-40B4-BE49-F238E27FC236}">
                <a16:creationId xmlns:a16="http://schemas.microsoft.com/office/drawing/2014/main" id="{2AF8C3AA-5F9D-ED32-F29F-B52FBDA514E6}"/>
              </a:ext>
            </a:extLst>
          </p:cNvPr>
          <p:cNvGrpSpPr/>
          <p:nvPr/>
        </p:nvGrpSpPr>
        <p:grpSpPr>
          <a:xfrm>
            <a:off x="322659" y="4900612"/>
            <a:ext cx="7783115" cy="472322"/>
            <a:chOff x="322659" y="4900612"/>
            <a:chExt cx="7783115" cy="472322"/>
          </a:xfrm>
        </p:grpSpPr>
        <p:sp>
          <p:nvSpPr>
            <p:cNvPr id="17" name="Rounded Rectangle 16">
              <a:extLst>
                <a:ext uri="{FF2B5EF4-FFF2-40B4-BE49-F238E27FC236}">
                  <a16:creationId xmlns:a16="http://schemas.microsoft.com/office/drawing/2014/main" id="{302B1B61-580F-CBFF-FDD6-8F752F62D4EB}"/>
                </a:ext>
              </a:extLst>
            </p:cNvPr>
            <p:cNvSpPr/>
            <p:nvPr/>
          </p:nvSpPr>
          <p:spPr>
            <a:xfrm>
              <a:off x="5072063" y="4900612"/>
              <a:ext cx="184308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07FE382-4008-5FFC-B7FC-8E5A171CA4D2}"/>
                </a:ext>
              </a:extLst>
            </p:cNvPr>
            <p:cNvSpPr txBox="1"/>
            <p:nvPr/>
          </p:nvSpPr>
          <p:spPr>
            <a:xfrm>
              <a:off x="322659" y="4911269"/>
              <a:ext cx="7783115" cy="461665"/>
            </a:xfrm>
            <a:prstGeom prst="rect">
              <a:avLst/>
            </a:prstGeom>
            <a:noFill/>
          </p:spPr>
          <p:txBody>
            <a:bodyPr wrap="square">
              <a:spAutoFit/>
            </a:bodyPr>
            <a:lstStyle/>
            <a:p>
              <a:pPr algn="just"/>
              <a:r>
                <a:rPr lang="en-US" sz="2400" dirty="0">
                  <a:latin typeface="Times" pitchFamily="2" charset="0"/>
                </a:rPr>
                <a:t>We can directly apply Equation 6.8:  </a:t>
              </a:r>
            </a:p>
          </p:txBody>
        </p:sp>
      </p:grpSp>
      <p:grpSp>
        <p:nvGrpSpPr>
          <p:cNvPr id="21" name="Group 20">
            <a:extLst>
              <a:ext uri="{FF2B5EF4-FFF2-40B4-BE49-F238E27FC236}">
                <a16:creationId xmlns:a16="http://schemas.microsoft.com/office/drawing/2014/main" id="{2D76C593-244B-2A58-230A-48D8CE48BCDE}"/>
              </a:ext>
            </a:extLst>
          </p:cNvPr>
          <p:cNvGrpSpPr/>
          <p:nvPr/>
        </p:nvGrpSpPr>
        <p:grpSpPr>
          <a:xfrm>
            <a:off x="317896" y="5406566"/>
            <a:ext cx="9440467" cy="951372"/>
            <a:chOff x="317896" y="5406566"/>
            <a:chExt cx="9440467" cy="951372"/>
          </a:xfrm>
        </p:grpSpPr>
        <p:sp>
          <p:nvSpPr>
            <p:cNvPr id="19" name="TextBox 18">
              <a:extLst>
                <a:ext uri="{FF2B5EF4-FFF2-40B4-BE49-F238E27FC236}">
                  <a16:creationId xmlns:a16="http://schemas.microsoft.com/office/drawing/2014/main" id="{4FAEE8A1-6B04-62EF-1CF3-301A7F513674}"/>
                </a:ext>
              </a:extLst>
            </p:cNvPr>
            <p:cNvSpPr txBox="1"/>
            <p:nvPr/>
          </p:nvSpPr>
          <p:spPr>
            <a:xfrm>
              <a:off x="317896" y="5406566"/>
              <a:ext cx="9440467" cy="461665"/>
            </a:xfrm>
            <a:prstGeom prst="rect">
              <a:avLst/>
            </a:prstGeom>
            <a:noFill/>
          </p:spPr>
          <p:txBody>
            <a:bodyPr wrap="square">
              <a:spAutoFit/>
            </a:bodyPr>
            <a:lstStyle/>
            <a:p>
              <a:pPr algn="just"/>
              <a:r>
                <a:rPr lang="en-US" sz="2400" dirty="0">
                  <a:latin typeface="Times" pitchFamily="2" charset="0"/>
                </a:rPr>
                <a:t>Each energy term (</a:t>
              </a:r>
              <a:r>
                <a:rPr lang="en-US" sz="2400" i="1" dirty="0">
                  <a:latin typeface="Times" pitchFamily="2" charset="0"/>
                </a:rPr>
                <a:t>E</a:t>
              </a:r>
              <a:r>
                <a:rPr lang="en-US" sz="2400" dirty="0">
                  <a:latin typeface="Times" pitchFamily="2" charset="0"/>
                </a:rPr>
                <a:t>) can be written as the sum of a KE and PE:</a:t>
              </a:r>
            </a:p>
          </p:txBody>
        </p:sp>
        <p:sp>
          <p:nvSpPr>
            <p:cNvPr id="20" name="Rounded Rectangle 19">
              <a:extLst>
                <a:ext uri="{FF2B5EF4-FFF2-40B4-BE49-F238E27FC236}">
                  <a16:creationId xmlns:a16="http://schemas.microsoft.com/office/drawing/2014/main" id="{811234F2-3A8F-96AE-7F33-B41C50BE9D6C}"/>
                </a:ext>
              </a:extLst>
            </p:cNvPr>
            <p:cNvSpPr/>
            <p:nvPr/>
          </p:nvSpPr>
          <p:spPr>
            <a:xfrm>
              <a:off x="1747838" y="5872163"/>
              <a:ext cx="5122862" cy="485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extBox 15">
            <a:extLst>
              <a:ext uri="{FF2B5EF4-FFF2-40B4-BE49-F238E27FC236}">
                <a16:creationId xmlns:a16="http://schemas.microsoft.com/office/drawing/2014/main" id="{7567184B-6134-4E21-C181-583AA1B26F9E}"/>
              </a:ext>
            </a:extLst>
          </p:cNvPr>
          <p:cNvSpPr txBox="1"/>
          <p:nvPr/>
        </p:nvSpPr>
        <p:spPr>
          <a:xfrm>
            <a:off x="1752600" y="5880100"/>
            <a:ext cx="2241638"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f  </a:t>
            </a:r>
            <a:r>
              <a:rPr lang="en-US" sz="2400" dirty="0">
                <a:latin typeface="Times" pitchFamily="2" charset="0"/>
              </a:rPr>
              <a:t>– </a:t>
            </a:r>
            <a:r>
              <a:rPr lang="en-US" sz="2400" i="1" dirty="0">
                <a:latin typeface="Times" pitchFamily="2" charset="0"/>
              </a:rPr>
              <a:t>E</a:t>
            </a:r>
            <a:r>
              <a:rPr lang="en-US" sz="2400" baseline="-25000" dirty="0">
                <a:latin typeface="Times" pitchFamily="2" charset="0"/>
              </a:rPr>
              <a:t>0</a:t>
            </a:r>
            <a:endParaRPr lang="en-US" sz="2400" dirty="0"/>
          </a:p>
        </p:txBody>
      </p:sp>
      <p:sp>
        <p:nvSpPr>
          <p:cNvPr id="22" name="TextBox 21">
            <a:extLst>
              <a:ext uri="{FF2B5EF4-FFF2-40B4-BE49-F238E27FC236}">
                <a16:creationId xmlns:a16="http://schemas.microsoft.com/office/drawing/2014/main" id="{C12948F5-4F09-C023-D4E7-E1DC5D47CB70}"/>
              </a:ext>
            </a:extLst>
          </p:cNvPr>
          <p:cNvSpPr txBox="1"/>
          <p:nvPr/>
        </p:nvSpPr>
        <p:spPr>
          <a:xfrm>
            <a:off x="3562262" y="5867400"/>
            <a:ext cx="4591138" cy="461665"/>
          </a:xfrm>
          <a:prstGeom prst="rect">
            <a:avLst/>
          </a:prstGeom>
          <a:noFill/>
        </p:spPr>
        <p:txBody>
          <a:bodyPr wrap="square" rtlCol="0">
            <a:spAutoFit/>
          </a:bodyPr>
          <a:lstStyle/>
          <a:p>
            <a:r>
              <a:rPr lang="en-US" sz="2400" dirty="0">
                <a:latin typeface="Times" pitchFamily="2" charset="0"/>
              </a:rPr>
              <a:t>= </a:t>
            </a:r>
            <a:r>
              <a:rPr lang="en-US" sz="2400" dirty="0" err="1">
                <a:latin typeface="Times" pitchFamily="2" charset="0"/>
              </a:rPr>
              <a:t>KE</a:t>
            </a:r>
            <a:r>
              <a:rPr lang="en-US" sz="2400" baseline="-25000" dirty="0" err="1">
                <a:latin typeface="Times" pitchFamily="2" charset="0"/>
              </a:rPr>
              <a:t>f</a:t>
            </a:r>
            <a:r>
              <a:rPr lang="en-US" sz="2400" dirty="0">
                <a:latin typeface="Times" pitchFamily="2" charset="0"/>
              </a:rPr>
              <a:t> + </a:t>
            </a:r>
            <a:r>
              <a:rPr lang="en-US" sz="2400" dirty="0" err="1">
                <a:latin typeface="Times" pitchFamily="2" charset="0"/>
              </a:rPr>
              <a:t>PE</a:t>
            </a:r>
            <a:r>
              <a:rPr lang="en-US" sz="2400" baseline="-25000" dirty="0" err="1">
                <a:latin typeface="Times" pitchFamily="2" charset="0"/>
              </a:rPr>
              <a:t>f</a:t>
            </a:r>
            <a:r>
              <a:rPr lang="en-US" sz="2400" dirty="0">
                <a:latin typeface="Times" pitchFamily="2" charset="0"/>
              </a:rPr>
              <a:t> – KE</a:t>
            </a:r>
            <a:r>
              <a:rPr lang="en-US" sz="2400" baseline="-25000" dirty="0">
                <a:latin typeface="Times" pitchFamily="2" charset="0"/>
              </a:rPr>
              <a:t>0</a:t>
            </a:r>
            <a:r>
              <a:rPr lang="en-US" sz="2400" dirty="0">
                <a:latin typeface="Times" pitchFamily="2" charset="0"/>
              </a:rPr>
              <a:t> – PE</a:t>
            </a:r>
            <a:r>
              <a:rPr lang="en-US" sz="2400" baseline="-25000" dirty="0">
                <a:latin typeface="Times" pitchFamily="2" charset="0"/>
              </a:rPr>
              <a:t>0</a:t>
            </a:r>
            <a:endParaRPr lang="en-US" sz="2400" baseline="-25000" dirty="0"/>
          </a:p>
        </p:txBody>
      </p:sp>
      <p:sp>
        <p:nvSpPr>
          <p:cNvPr id="23" name="TextBox 22">
            <a:extLst>
              <a:ext uri="{FF2B5EF4-FFF2-40B4-BE49-F238E27FC236}">
                <a16:creationId xmlns:a16="http://schemas.microsoft.com/office/drawing/2014/main" id="{B975444F-679B-D1E2-AEFB-2063A7F279DB}"/>
              </a:ext>
            </a:extLst>
          </p:cNvPr>
          <p:cNvSpPr txBox="1"/>
          <p:nvPr/>
        </p:nvSpPr>
        <p:spPr>
          <a:xfrm>
            <a:off x="5029200" y="4889500"/>
            <a:ext cx="2241638" cy="461665"/>
          </a:xfrm>
          <a:prstGeom prst="rect">
            <a:avLst/>
          </a:prstGeom>
          <a:noFill/>
        </p:spPr>
        <p:txBody>
          <a:bodyPr wrap="square" rtlCol="0">
            <a:spAutoFit/>
          </a:bodyPr>
          <a:lstStyle/>
          <a:p>
            <a:r>
              <a:rPr lang="en-US" sz="2400" i="1" dirty="0">
                <a:latin typeface="Times" pitchFamily="2" charset="0"/>
              </a:rPr>
              <a:t>W</a:t>
            </a:r>
            <a:r>
              <a:rPr lang="en-US" sz="2400" baseline="-25000" dirty="0">
                <a:latin typeface="Times" pitchFamily="2" charset="0"/>
              </a:rPr>
              <a:t>NC</a:t>
            </a:r>
            <a:r>
              <a:rPr lang="en-US" sz="2400" dirty="0">
                <a:latin typeface="Times" pitchFamily="2" charset="0"/>
              </a:rPr>
              <a:t> = </a:t>
            </a:r>
            <a:r>
              <a:rPr lang="en-US" sz="2400" i="1" dirty="0">
                <a:latin typeface="Times" pitchFamily="2" charset="0"/>
              </a:rPr>
              <a:t>E</a:t>
            </a:r>
            <a:r>
              <a:rPr lang="en-US" sz="2400" baseline="-25000" dirty="0">
                <a:latin typeface="Times" pitchFamily="2" charset="0"/>
              </a:rPr>
              <a:t>f  </a:t>
            </a:r>
            <a:r>
              <a:rPr lang="en-US" sz="2400" dirty="0">
                <a:latin typeface="Times" pitchFamily="2" charset="0"/>
              </a:rPr>
              <a:t>– </a:t>
            </a:r>
            <a:r>
              <a:rPr lang="en-US" sz="2400" i="1" dirty="0">
                <a:latin typeface="Times" pitchFamily="2" charset="0"/>
              </a:rPr>
              <a:t>E</a:t>
            </a:r>
            <a:r>
              <a:rPr lang="en-US" sz="2400" baseline="-25000" dirty="0">
                <a:latin typeface="Times" pitchFamily="2" charset="0"/>
              </a:rPr>
              <a:t>0</a:t>
            </a:r>
            <a:endParaRPr lang="en-US" sz="2400" dirty="0"/>
          </a:p>
        </p:txBody>
      </p:sp>
    </p:spTree>
    <p:extLst>
      <p:ext uri="{BB962C8B-B14F-4D97-AF65-F5344CB8AC3E}">
        <p14:creationId xmlns:p14="http://schemas.microsoft.com/office/powerpoint/2010/main" val="140788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dissolv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2" grpId="0"/>
      <p:bldP spid="2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AF3DC-3C9E-96D9-A7A0-82A423E80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BA133-F89F-5099-22B9-B904DC7592A1}"/>
              </a:ext>
            </a:extLst>
          </p:cNvPr>
          <p:cNvSpPr>
            <a:spLocks noGrp="1"/>
          </p:cNvSpPr>
          <p:nvPr>
            <p:ph type="title"/>
          </p:nvPr>
        </p:nvSpPr>
        <p:spPr>
          <a:xfrm>
            <a:off x="685805" y="155455"/>
            <a:ext cx="11506195" cy="849312"/>
          </a:xfrm>
        </p:spPr>
        <p:txBody>
          <a:bodyPr>
            <a:normAutofit fontScale="90000"/>
          </a:bodyPr>
          <a:lstStyle/>
          <a:p>
            <a:r>
              <a:rPr lang="en-US" b="1" dirty="0">
                <a:ea typeface="Calibri" charset="0"/>
                <a:cs typeface="Calibri" charset="0"/>
              </a:rPr>
              <a:t>6.6 </a:t>
            </a:r>
            <a:r>
              <a:rPr lang="en-US" dirty="0">
                <a:ea typeface="Calibri" charset="0"/>
                <a:cs typeface="Calibri" charset="0"/>
              </a:rPr>
              <a:t>Nonconservative Forces and the Work–Energy Theorem</a:t>
            </a:r>
            <a:endParaRPr lang="en-US" sz="3000" dirty="0"/>
          </a:p>
        </p:txBody>
      </p:sp>
      <p:pic>
        <p:nvPicPr>
          <p:cNvPr id="9" name="Picture 8">
            <a:extLst>
              <a:ext uri="{FF2B5EF4-FFF2-40B4-BE49-F238E27FC236}">
                <a16:creationId xmlns:a16="http://schemas.microsoft.com/office/drawing/2014/main" id="{06315A9A-C682-97EA-87F7-55569A4F194C}"/>
              </a:ext>
            </a:extLst>
          </p:cNvPr>
          <p:cNvPicPr>
            <a:picLocks noChangeAspect="1"/>
          </p:cNvPicPr>
          <p:nvPr/>
        </p:nvPicPr>
        <p:blipFill>
          <a:blip r:embed="rId3"/>
          <a:stretch>
            <a:fillRect/>
          </a:stretch>
        </p:blipFill>
        <p:spPr>
          <a:xfrm>
            <a:off x="8248650" y="962025"/>
            <a:ext cx="3810000" cy="5448300"/>
          </a:xfrm>
          <a:prstGeom prst="rect">
            <a:avLst/>
          </a:prstGeom>
        </p:spPr>
      </p:pic>
      <p:sp>
        <p:nvSpPr>
          <p:cNvPr id="10" name="TextBox 9">
            <a:extLst>
              <a:ext uri="{FF2B5EF4-FFF2-40B4-BE49-F238E27FC236}">
                <a16:creationId xmlns:a16="http://schemas.microsoft.com/office/drawing/2014/main" id="{E8C9FD76-4293-9B48-9AF0-198DBC8EBB60}"/>
              </a:ext>
            </a:extLst>
          </p:cNvPr>
          <p:cNvSpPr txBox="1"/>
          <p:nvPr/>
        </p:nvSpPr>
        <p:spPr>
          <a:xfrm>
            <a:off x="358623" y="681582"/>
            <a:ext cx="8658610" cy="523220"/>
          </a:xfrm>
          <a:prstGeom prst="rect">
            <a:avLst/>
          </a:prstGeom>
          <a:noFill/>
        </p:spPr>
        <p:txBody>
          <a:bodyPr wrap="square" rtlCol="0">
            <a:spAutoFit/>
          </a:bodyPr>
          <a:lstStyle/>
          <a:p>
            <a:r>
              <a:rPr lang="en-US" sz="2800" dirty="0">
                <a:solidFill>
                  <a:srgbClr val="C00000"/>
                </a:solidFill>
                <a:latin typeface="Times" pitchFamily="2" charset="0"/>
              </a:rPr>
              <a:t>Example – Fireworks</a:t>
            </a:r>
          </a:p>
        </p:txBody>
      </p:sp>
      <p:sp>
        <p:nvSpPr>
          <p:cNvPr id="15" name="TextBox 14">
            <a:extLst>
              <a:ext uri="{FF2B5EF4-FFF2-40B4-BE49-F238E27FC236}">
                <a16:creationId xmlns:a16="http://schemas.microsoft.com/office/drawing/2014/main" id="{AE874197-0346-0F4F-0FC8-5CF390149EEF}"/>
              </a:ext>
            </a:extLst>
          </p:cNvPr>
          <p:cNvSpPr txBox="1"/>
          <p:nvPr/>
        </p:nvSpPr>
        <p:spPr>
          <a:xfrm>
            <a:off x="106759" y="4073069"/>
            <a:ext cx="452041" cy="461665"/>
          </a:xfrm>
          <a:prstGeom prst="rect">
            <a:avLst/>
          </a:prstGeom>
          <a:noFill/>
        </p:spPr>
        <p:txBody>
          <a:bodyPr wrap="square">
            <a:spAutoFit/>
          </a:bodyPr>
          <a:lstStyle/>
          <a:p>
            <a:pPr algn="just"/>
            <a:r>
              <a:rPr lang="en-US" sz="2400" dirty="0">
                <a:latin typeface="Times" pitchFamily="2" charset="0"/>
              </a:rPr>
              <a:t>⇒</a:t>
            </a:r>
          </a:p>
        </p:txBody>
      </p:sp>
      <p:grpSp>
        <p:nvGrpSpPr>
          <p:cNvPr id="4" name="Group 3">
            <a:extLst>
              <a:ext uri="{FF2B5EF4-FFF2-40B4-BE49-F238E27FC236}">
                <a16:creationId xmlns:a16="http://schemas.microsoft.com/office/drawing/2014/main" id="{62D348DE-6102-D48B-8523-79E8DCAC8880}"/>
              </a:ext>
            </a:extLst>
          </p:cNvPr>
          <p:cNvGrpSpPr/>
          <p:nvPr/>
        </p:nvGrpSpPr>
        <p:grpSpPr>
          <a:xfrm>
            <a:off x="162322" y="1156832"/>
            <a:ext cx="9781778" cy="1319668"/>
            <a:chOff x="352822" y="2668132"/>
            <a:chExt cx="9781778" cy="1319668"/>
          </a:xfrm>
        </p:grpSpPr>
        <p:sp>
          <p:nvSpPr>
            <p:cNvPr id="14" name="TextBox 13">
              <a:extLst>
                <a:ext uri="{FF2B5EF4-FFF2-40B4-BE49-F238E27FC236}">
                  <a16:creationId xmlns:a16="http://schemas.microsoft.com/office/drawing/2014/main" id="{39DC6102-A319-A1B6-5DD2-B776DCE1602A}"/>
                </a:ext>
              </a:extLst>
            </p:cNvPr>
            <p:cNvSpPr txBox="1"/>
            <p:nvPr/>
          </p:nvSpPr>
          <p:spPr>
            <a:xfrm>
              <a:off x="352822" y="2668132"/>
              <a:ext cx="9781778" cy="461665"/>
            </a:xfrm>
            <a:prstGeom prst="rect">
              <a:avLst/>
            </a:prstGeom>
            <a:noFill/>
          </p:spPr>
          <p:txBody>
            <a:bodyPr wrap="square">
              <a:spAutoFit/>
            </a:bodyPr>
            <a:lstStyle/>
            <a:p>
              <a:pPr algn="just"/>
              <a:r>
                <a:rPr lang="en-US" sz="2400" dirty="0">
                  <a:latin typeface="Times" pitchFamily="2" charset="0"/>
                </a:rPr>
                <a:t>Each KE term is equal to a “½</a:t>
              </a:r>
              <a:r>
                <a:rPr lang="en-US" sz="2400" i="1" dirty="0">
                  <a:latin typeface="Times" pitchFamily="2" charset="0"/>
                </a:rPr>
                <a:t>mv</a:t>
              </a:r>
              <a:r>
                <a:rPr lang="en-US" sz="2400" baseline="30000" dirty="0">
                  <a:latin typeface="Times" pitchFamily="2" charset="0"/>
                </a:rPr>
                <a:t>2</a:t>
              </a:r>
              <a:r>
                <a:rPr lang="en-US" sz="2400" dirty="0">
                  <a:latin typeface="Times" pitchFamily="2" charset="0"/>
                </a:rPr>
                <a:t>”, and each PE term is equal to an “</a:t>
              </a:r>
              <a:r>
                <a:rPr lang="en-US" sz="2400" i="1" dirty="0" err="1">
                  <a:latin typeface="Times" pitchFamily="2" charset="0"/>
                </a:rPr>
                <a:t>mgh</a:t>
              </a:r>
              <a:r>
                <a:rPr lang="en-US" sz="2400" dirty="0">
                  <a:latin typeface="Times" pitchFamily="2" charset="0"/>
                </a:rPr>
                <a:t>”. </a:t>
              </a:r>
            </a:p>
          </p:txBody>
        </p:sp>
        <p:sp>
          <p:nvSpPr>
            <p:cNvPr id="20" name="Rounded Rectangle 19">
              <a:extLst>
                <a:ext uri="{FF2B5EF4-FFF2-40B4-BE49-F238E27FC236}">
                  <a16:creationId xmlns:a16="http://schemas.microsoft.com/office/drawing/2014/main" id="{7CC048C0-3022-A622-CBF1-A63CC3AAFA43}"/>
                </a:ext>
              </a:extLst>
            </p:cNvPr>
            <p:cNvSpPr/>
            <p:nvPr/>
          </p:nvSpPr>
          <p:spPr>
            <a:xfrm>
              <a:off x="414338" y="3294063"/>
              <a:ext cx="4386262" cy="6937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73CB7699-6520-C28B-6D91-1533B0EBF8BB}"/>
              </a:ext>
            </a:extLst>
          </p:cNvPr>
          <p:cNvPicPr>
            <a:picLocks noChangeAspect="1"/>
          </p:cNvPicPr>
          <p:nvPr/>
        </p:nvPicPr>
        <p:blipFill>
          <a:blip r:embed="rId4"/>
          <a:stretch>
            <a:fillRect/>
          </a:stretch>
        </p:blipFill>
        <p:spPr>
          <a:xfrm>
            <a:off x="286543" y="1841500"/>
            <a:ext cx="4171157" cy="557696"/>
          </a:xfrm>
          <a:prstGeom prst="rect">
            <a:avLst/>
          </a:prstGeom>
        </p:spPr>
      </p:pic>
      <p:sp>
        <p:nvSpPr>
          <p:cNvPr id="7" name="TextBox 6">
            <a:extLst>
              <a:ext uri="{FF2B5EF4-FFF2-40B4-BE49-F238E27FC236}">
                <a16:creationId xmlns:a16="http://schemas.microsoft.com/office/drawing/2014/main" id="{EC148610-6AB5-CB95-7195-240855099C51}"/>
              </a:ext>
            </a:extLst>
          </p:cNvPr>
          <p:cNvSpPr txBox="1"/>
          <p:nvPr/>
        </p:nvSpPr>
        <p:spPr>
          <a:xfrm>
            <a:off x="4785122" y="1741032"/>
            <a:ext cx="4816078" cy="830997"/>
          </a:xfrm>
          <a:prstGeom prst="rect">
            <a:avLst/>
          </a:prstGeom>
          <a:noFill/>
        </p:spPr>
        <p:txBody>
          <a:bodyPr wrap="square">
            <a:spAutoFit/>
          </a:bodyPr>
          <a:lstStyle/>
          <a:p>
            <a:pPr algn="just"/>
            <a:r>
              <a:rPr lang="en-US" sz="2400" dirty="0">
                <a:latin typeface="Times" pitchFamily="2" charset="0"/>
              </a:rPr>
              <a:t>*Note:  Since the firework starts from rest, </a:t>
            </a:r>
            <a:r>
              <a:rPr lang="en-US" sz="2400" i="1" dirty="0">
                <a:latin typeface="Times" pitchFamily="2" charset="0"/>
              </a:rPr>
              <a:t>v</a:t>
            </a:r>
            <a:r>
              <a:rPr lang="en-US" sz="2400" baseline="-25000" dirty="0">
                <a:latin typeface="Times" pitchFamily="2" charset="0"/>
              </a:rPr>
              <a:t>0</a:t>
            </a:r>
            <a:r>
              <a:rPr lang="en-US" sz="2400" dirty="0">
                <a:latin typeface="Times" pitchFamily="2" charset="0"/>
              </a:rPr>
              <a:t> = 0 m/s.</a:t>
            </a:r>
          </a:p>
        </p:txBody>
      </p:sp>
      <p:grpSp>
        <p:nvGrpSpPr>
          <p:cNvPr id="13" name="Group 12">
            <a:extLst>
              <a:ext uri="{FF2B5EF4-FFF2-40B4-BE49-F238E27FC236}">
                <a16:creationId xmlns:a16="http://schemas.microsoft.com/office/drawing/2014/main" id="{DB232B36-6AEA-64D6-71F5-C86E8F32EB80}"/>
              </a:ext>
            </a:extLst>
          </p:cNvPr>
          <p:cNvGrpSpPr/>
          <p:nvPr/>
        </p:nvGrpSpPr>
        <p:grpSpPr>
          <a:xfrm>
            <a:off x="2997200" y="1460500"/>
            <a:ext cx="1181100" cy="1003300"/>
            <a:chOff x="2997200" y="1460500"/>
            <a:chExt cx="1181100" cy="1003300"/>
          </a:xfrm>
        </p:grpSpPr>
        <p:cxnSp>
          <p:nvCxnSpPr>
            <p:cNvPr id="11" name="Straight Connector 10">
              <a:extLst>
                <a:ext uri="{FF2B5EF4-FFF2-40B4-BE49-F238E27FC236}">
                  <a16:creationId xmlns:a16="http://schemas.microsoft.com/office/drawing/2014/main" id="{90EDBBE3-642C-E3BB-E313-01ADE619D56B}"/>
                </a:ext>
              </a:extLst>
            </p:cNvPr>
            <p:cNvCxnSpPr/>
            <p:nvPr/>
          </p:nvCxnSpPr>
          <p:spPr>
            <a:xfrm flipV="1">
              <a:off x="2997200" y="1778000"/>
              <a:ext cx="520700" cy="6858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51DBBE0-BDDA-795A-A612-8CDFEB839D09}"/>
                </a:ext>
              </a:extLst>
            </p:cNvPr>
            <p:cNvSpPr txBox="1"/>
            <p:nvPr/>
          </p:nvSpPr>
          <p:spPr>
            <a:xfrm>
              <a:off x="3416300" y="1460500"/>
              <a:ext cx="762000" cy="400110"/>
            </a:xfrm>
            <a:prstGeom prst="rect">
              <a:avLst/>
            </a:prstGeom>
            <a:noFill/>
          </p:spPr>
          <p:txBody>
            <a:bodyPr wrap="square" rtlCol="0">
              <a:spAutoFit/>
            </a:bodyPr>
            <a:lstStyle/>
            <a:p>
              <a:r>
                <a:rPr lang="en-US" sz="2000" dirty="0">
                  <a:solidFill>
                    <a:srgbClr val="FF0000"/>
                  </a:solidFill>
                  <a:latin typeface="Times" pitchFamily="2" charset="0"/>
                </a:rPr>
                <a:t>0</a:t>
              </a:r>
            </a:p>
          </p:txBody>
        </p:sp>
      </p:grpSp>
      <p:grpSp>
        <p:nvGrpSpPr>
          <p:cNvPr id="29" name="Group 28">
            <a:extLst>
              <a:ext uri="{FF2B5EF4-FFF2-40B4-BE49-F238E27FC236}">
                <a16:creationId xmlns:a16="http://schemas.microsoft.com/office/drawing/2014/main" id="{3192BEE0-6B39-FA64-6922-F77369148A87}"/>
              </a:ext>
            </a:extLst>
          </p:cNvPr>
          <p:cNvGrpSpPr/>
          <p:nvPr/>
        </p:nvGrpSpPr>
        <p:grpSpPr>
          <a:xfrm>
            <a:off x="187722" y="2722563"/>
            <a:ext cx="6809978" cy="693737"/>
            <a:chOff x="187722" y="2722563"/>
            <a:chExt cx="6809978" cy="693737"/>
          </a:xfrm>
        </p:grpSpPr>
        <p:sp>
          <p:nvSpPr>
            <p:cNvPr id="23" name="TextBox 22">
              <a:extLst>
                <a:ext uri="{FF2B5EF4-FFF2-40B4-BE49-F238E27FC236}">
                  <a16:creationId xmlns:a16="http://schemas.microsoft.com/office/drawing/2014/main" id="{05A4A460-8442-7642-7AE1-8A2189227E42}"/>
                </a:ext>
              </a:extLst>
            </p:cNvPr>
            <p:cNvSpPr txBox="1"/>
            <p:nvPr/>
          </p:nvSpPr>
          <p:spPr>
            <a:xfrm>
              <a:off x="187722" y="2807832"/>
              <a:ext cx="3647678" cy="461665"/>
            </a:xfrm>
            <a:prstGeom prst="rect">
              <a:avLst/>
            </a:prstGeom>
            <a:noFill/>
          </p:spPr>
          <p:txBody>
            <a:bodyPr wrap="square">
              <a:spAutoFit/>
            </a:bodyPr>
            <a:lstStyle/>
            <a:p>
              <a:pPr algn="just"/>
              <a:r>
                <a:rPr lang="en-US" sz="2400" dirty="0">
                  <a:latin typeface="Times" pitchFamily="2" charset="0"/>
                </a:rPr>
                <a:t>We can now solve for </a:t>
              </a:r>
              <a:r>
                <a:rPr lang="en-US" sz="2400" i="1" dirty="0" err="1">
                  <a:latin typeface="Times" pitchFamily="2" charset="0"/>
                </a:rPr>
                <a:t>v</a:t>
              </a:r>
              <a:r>
                <a:rPr lang="en-US" sz="2400" i="1" baseline="-25000" dirty="0" err="1">
                  <a:latin typeface="Times" pitchFamily="2" charset="0"/>
                </a:rPr>
                <a:t>f</a:t>
              </a:r>
              <a:r>
                <a:rPr lang="en-US" sz="2400" i="1" dirty="0">
                  <a:latin typeface="Times" pitchFamily="2" charset="0"/>
                </a:rPr>
                <a:t>:  </a:t>
              </a:r>
              <a:endParaRPr lang="en-US" sz="2400" i="1" baseline="-25000" dirty="0">
                <a:latin typeface="Times" pitchFamily="2" charset="0"/>
              </a:endParaRPr>
            </a:p>
          </p:txBody>
        </p:sp>
        <p:sp>
          <p:nvSpPr>
            <p:cNvPr id="24" name="Rounded Rectangle 23">
              <a:extLst>
                <a:ext uri="{FF2B5EF4-FFF2-40B4-BE49-F238E27FC236}">
                  <a16:creationId xmlns:a16="http://schemas.microsoft.com/office/drawing/2014/main" id="{DE4727DC-DD43-33FB-D2F5-07F0B665273E}"/>
                </a:ext>
              </a:extLst>
            </p:cNvPr>
            <p:cNvSpPr/>
            <p:nvPr/>
          </p:nvSpPr>
          <p:spPr>
            <a:xfrm>
              <a:off x="3386138" y="2722563"/>
              <a:ext cx="3611562" cy="6937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ounded Rectangle 27">
            <a:extLst>
              <a:ext uri="{FF2B5EF4-FFF2-40B4-BE49-F238E27FC236}">
                <a16:creationId xmlns:a16="http://schemas.microsoft.com/office/drawing/2014/main" id="{9C17090B-139B-D1CE-A46B-67550508513F}"/>
              </a:ext>
            </a:extLst>
          </p:cNvPr>
          <p:cNvSpPr/>
          <p:nvPr/>
        </p:nvSpPr>
        <p:spPr>
          <a:xfrm>
            <a:off x="495300" y="3632200"/>
            <a:ext cx="39878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BF84CA58-32B1-0B04-6730-A743BD0044AA}"/>
              </a:ext>
            </a:extLst>
          </p:cNvPr>
          <p:cNvPicPr>
            <a:picLocks noChangeAspect="1"/>
          </p:cNvPicPr>
          <p:nvPr/>
        </p:nvPicPr>
        <p:blipFill>
          <a:blip r:embed="rId5"/>
          <a:stretch>
            <a:fillRect/>
          </a:stretch>
        </p:blipFill>
        <p:spPr>
          <a:xfrm>
            <a:off x="3530600" y="2781434"/>
            <a:ext cx="3314700" cy="590065"/>
          </a:xfrm>
          <a:prstGeom prst="rect">
            <a:avLst/>
          </a:prstGeom>
        </p:spPr>
      </p:pic>
      <p:pic>
        <p:nvPicPr>
          <p:cNvPr id="27" name="Picture 26">
            <a:extLst>
              <a:ext uri="{FF2B5EF4-FFF2-40B4-BE49-F238E27FC236}">
                <a16:creationId xmlns:a16="http://schemas.microsoft.com/office/drawing/2014/main" id="{9185A12B-47F0-CB69-3B29-16227C755386}"/>
              </a:ext>
            </a:extLst>
          </p:cNvPr>
          <p:cNvPicPr>
            <a:picLocks noChangeAspect="1"/>
          </p:cNvPicPr>
          <p:nvPr/>
        </p:nvPicPr>
        <p:blipFill>
          <a:blip r:embed="rId6"/>
          <a:stretch>
            <a:fillRect/>
          </a:stretch>
        </p:blipFill>
        <p:spPr>
          <a:xfrm>
            <a:off x="596900" y="3720288"/>
            <a:ext cx="3721100" cy="1126650"/>
          </a:xfrm>
          <a:prstGeom prst="rect">
            <a:avLst/>
          </a:prstGeom>
        </p:spPr>
      </p:pic>
      <p:sp>
        <p:nvSpPr>
          <p:cNvPr id="30" name="TextBox 29">
            <a:extLst>
              <a:ext uri="{FF2B5EF4-FFF2-40B4-BE49-F238E27FC236}">
                <a16:creationId xmlns:a16="http://schemas.microsoft.com/office/drawing/2014/main" id="{B88C77FB-3F25-F2D7-62F5-DEF5B886AE84}"/>
              </a:ext>
            </a:extLst>
          </p:cNvPr>
          <p:cNvSpPr txBox="1"/>
          <p:nvPr/>
        </p:nvSpPr>
        <p:spPr>
          <a:xfrm>
            <a:off x="94059" y="5508169"/>
            <a:ext cx="452041" cy="461665"/>
          </a:xfrm>
          <a:prstGeom prst="rect">
            <a:avLst/>
          </a:prstGeom>
          <a:noFill/>
        </p:spPr>
        <p:txBody>
          <a:bodyPr wrap="square">
            <a:spAutoFit/>
          </a:bodyPr>
          <a:lstStyle/>
          <a:p>
            <a:pPr algn="just"/>
            <a:r>
              <a:rPr lang="en-US" sz="2400" dirty="0">
                <a:latin typeface="Times" pitchFamily="2" charset="0"/>
              </a:rPr>
              <a:t>⇒</a:t>
            </a:r>
          </a:p>
        </p:txBody>
      </p:sp>
      <p:sp>
        <p:nvSpPr>
          <p:cNvPr id="31" name="Rounded Rectangle 30">
            <a:extLst>
              <a:ext uri="{FF2B5EF4-FFF2-40B4-BE49-F238E27FC236}">
                <a16:creationId xmlns:a16="http://schemas.microsoft.com/office/drawing/2014/main" id="{951E5EDB-F0A8-C6FC-9283-AA2F1114E813}"/>
              </a:ext>
            </a:extLst>
          </p:cNvPr>
          <p:cNvSpPr/>
          <p:nvPr/>
        </p:nvSpPr>
        <p:spPr>
          <a:xfrm>
            <a:off x="482600" y="5067300"/>
            <a:ext cx="61341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A185447C-1908-4843-4DA5-8A0AE48A03F7}"/>
              </a:ext>
            </a:extLst>
          </p:cNvPr>
          <p:cNvPicPr>
            <a:picLocks noChangeAspect="1"/>
          </p:cNvPicPr>
          <p:nvPr/>
        </p:nvPicPr>
        <p:blipFill>
          <a:blip r:embed="rId7"/>
          <a:stretch>
            <a:fillRect/>
          </a:stretch>
        </p:blipFill>
        <p:spPr>
          <a:xfrm>
            <a:off x="558799" y="5308601"/>
            <a:ext cx="4644309" cy="855818"/>
          </a:xfrm>
          <a:prstGeom prst="rect">
            <a:avLst/>
          </a:prstGeom>
        </p:spPr>
      </p:pic>
      <p:sp>
        <p:nvSpPr>
          <p:cNvPr id="33" name="TextBox 32">
            <a:extLst>
              <a:ext uri="{FF2B5EF4-FFF2-40B4-BE49-F238E27FC236}">
                <a16:creationId xmlns:a16="http://schemas.microsoft.com/office/drawing/2014/main" id="{9BD56EF4-34EC-42A4-E431-E958B7AD8892}"/>
              </a:ext>
            </a:extLst>
          </p:cNvPr>
          <p:cNvSpPr txBox="1"/>
          <p:nvPr/>
        </p:nvSpPr>
        <p:spPr>
          <a:xfrm>
            <a:off x="5229622" y="5474832"/>
            <a:ext cx="1869678" cy="461665"/>
          </a:xfrm>
          <a:prstGeom prst="rect">
            <a:avLst/>
          </a:prstGeom>
          <a:noFill/>
        </p:spPr>
        <p:txBody>
          <a:bodyPr wrap="square">
            <a:spAutoFit/>
          </a:bodyPr>
          <a:lstStyle/>
          <a:p>
            <a:pPr algn="just"/>
            <a:r>
              <a:rPr lang="en-US" sz="2400" dirty="0">
                <a:latin typeface="Times" pitchFamily="2" charset="0"/>
              </a:rPr>
              <a:t>= 61 m/s</a:t>
            </a:r>
          </a:p>
        </p:txBody>
      </p:sp>
      <p:sp>
        <p:nvSpPr>
          <p:cNvPr id="34" name="Rectangle 33">
            <a:extLst>
              <a:ext uri="{FF2B5EF4-FFF2-40B4-BE49-F238E27FC236}">
                <a16:creationId xmlns:a16="http://schemas.microsoft.com/office/drawing/2014/main" id="{5E442036-16D3-AC92-0242-4C6CE632E549}"/>
              </a:ext>
            </a:extLst>
          </p:cNvPr>
          <p:cNvSpPr/>
          <p:nvPr/>
        </p:nvSpPr>
        <p:spPr>
          <a:xfrm>
            <a:off x="5511800" y="5486400"/>
            <a:ext cx="927100" cy="419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076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dissolv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dissolve">
                                      <p:cBhvr>
                                        <p:cTn id="35" dur="500"/>
                                        <p:tgtEl>
                                          <p:spTgt spid="15"/>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dissolv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dissolve">
                                      <p:cBhvr>
                                        <p:cTn id="43" dur="500"/>
                                        <p:tgtEl>
                                          <p:spTgt spid="27"/>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dissolve">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dissolve">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dissolve">
                                      <p:cBhvr>
                                        <p:cTn id="60" dur="500"/>
                                        <p:tgtEl>
                                          <p:spTgt spid="33"/>
                                        </p:tgtEl>
                                      </p:cBhvr>
                                    </p:animEffect>
                                  </p:childTnLst>
                                </p:cTn>
                              </p:par>
                            </p:childTnLst>
                          </p:cTn>
                        </p:par>
                        <p:par>
                          <p:cTn id="61" fill="hold">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dissolve">
                                      <p:cBhvr>
                                        <p:cTn id="6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p:bldP spid="28" grpId="0" animBg="1"/>
      <p:bldP spid="30" grpId="0"/>
      <p:bldP spid="31" grpId="0" animBg="1"/>
      <p:bldP spid="33" grpId="0"/>
      <p:bldP spid="3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7E4AC-D71B-A0F4-771E-65D1BDD05472}"/>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A09BBB0F-E874-FBE9-7EAF-A321DB7A1B5E}"/>
              </a:ext>
            </a:extLst>
          </p:cNvPr>
          <p:cNvSpPr/>
          <p:nvPr/>
        </p:nvSpPr>
        <p:spPr>
          <a:xfrm>
            <a:off x="805912" y="4138047"/>
            <a:ext cx="8462074" cy="4804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5F7533-A5D1-CB79-E03E-965B3DF74D17}"/>
              </a:ext>
            </a:extLst>
          </p:cNvPr>
          <p:cNvSpPr>
            <a:spLocks noGrp="1"/>
          </p:cNvSpPr>
          <p:nvPr>
            <p:ph type="title"/>
          </p:nvPr>
        </p:nvSpPr>
        <p:spPr>
          <a:xfrm>
            <a:off x="685805" y="155455"/>
            <a:ext cx="11506195" cy="849312"/>
          </a:xfrm>
        </p:spPr>
        <p:txBody>
          <a:bodyPr>
            <a:normAutofit fontScale="90000"/>
          </a:bodyPr>
          <a:lstStyle/>
          <a:p>
            <a:r>
              <a:rPr lang="en-US" b="1" dirty="0">
                <a:ea typeface="Calibri" charset="0"/>
                <a:cs typeface="Calibri" charset="0"/>
              </a:rPr>
              <a:t>6.6 </a:t>
            </a:r>
            <a:r>
              <a:rPr lang="en-US" dirty="0">
                <a:ea typeface="Calibri" charset="0"/>
                <a:cs typeface="Calibri" charset="0"/>
              </a:rPr>
              <a:t>Nonconservative Forces and the Work–Energy Theorem</a:t>
            </a:r>
            <a:endParaRPr lang="en-US" sz="3000" dirty="0"/>
          </a:p>
        </p:txBody>
      </p:sp>
      <p:sp>
        <p:nvSpPr>
          <p:cNvPr id="5" name="TextBox 4">
            <a:extLst>
              <a:ext uri="{FF2B5EF4-FFF2-40B4-BE49-F238E27FC236}">
                <a16:creationId xmlns:a16="http://schemas.microsoft.com/office/drawing/2014/main" id="{299CFCA4-91FE-259C-E029-8C78F13BD235}"/>
              </a:ext>
            </a:extLst>
          </p:cNvPr>
          <p:cNvSpPr txBox="1"/>
          <p:nvPr/>
        </p:nvSpPr>
        <p:spPr>
          <a:xfrm>
            <a:off x="399111" y="2408122"/>
            <a:ext cx="11302109" cy="2246769"/>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 The kinetic and potential energies of the particle both decrease.</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 The kinetic and potential energies of the particle both increase.</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 Neither the kinetic nor the potential energy of the particle changes.</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 The total mechanical energy of the particle decreases.</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e</a:t>
            </a:r>
            <a:r>
              <a:rPr lang="en-US" sz="2800" dirty="0">
                <a:solidFill>
                  <a:srgbClr val="3E5891"/>
                </a:solidFill>
                <a:latin typeface="Times" pitchFamily="2" charset="0"/>
                <a:cs typeface="Times New Roman" panose="02020603050405020304" pitchFamily="18" charset="0"/>
              </a:rPr>
              <a:t>)  The total mechanical energy of the particle increases .</a:t>
            </a:r>
          </a:p>
        </p:txBody>
      </p:sp>
      <p:sp>
        <p:nvSpPr>
          <p:cNvPr id="6" name="TextBox 5">
            <a:extLst>
              <a:ext uri="{FF2B5EF4-FFF2-40B4-BE49-F238E27FC236}">
                <a16:creationId xmlns:a16="http://schemas.microsoft.com/office/drawing/2014/main" id="{DCBCC959-838A-6FE3-88D4-6145F3DBD631}"/>
              </a:ext>
            </a:extLst>
          </p:cNvPr>
          <p:cNvSpPr txBox="1"/>
          <p:nvPr/>
        </p:nvSpPr>
        <p:spPr>
          <a:xfrm>
            <a:off x="830879" y="926409"/>
            <a:ext cx="10548597" cy="1384995"/>
          </a:xfrm>
          <a:prstGeom prst="rect">
            <a:avLst/>
          </a:prstGeom>
          <a:noFill/>
        </p:spPr>
        <p:txBody>
          <a:bodyPr wrap="square" rtlCol="0">
            <a:spAutoFit/>
          </a:bodyPr>
          <a:lstStyle/>
          <a:p>
            <a:pPr algn="just"/>
            <a:r>
              <a:rPr lang="en-US" sz="2800" dirty="0">
                <a:solidFill>
                  <a:srgbClr val="3E5891"/>
                </a:solidFill>
                <a:latin typeface="Times" pitchFamily="2" charset="0"/>
              </a:rPr>
              <a:t>CYU/TPS – A net external nonconservative force does positive work on a particle. Based solely on this information, you are justified in reaching only one of the following conclusions. Which one is it?</a:t>
            </a:r>
            <a:endParaRPr lang="en-US" sz="2800" dirty="0">
              <a:solidFill>
                <a:srgbClr val="3E5891"/>
              </a:solidFill>
              <a:latin typeface="Times" pitchFamily="2" charset="0"/>
              <a:cs typeface="Times New Roman" panose="02020603050405020304" pitchFamily="18" charset="0"/>
            </a:endParaRPr>
          </a:p>
        </p:txBody>
      </p:sp>
      <p:sp>
        <p:nvSpPr>
          <p:cNvPr id="16" name="TextBox 15">
            <a:extLst>
              <a:ext uri="{FF2B5EF4-FFF2-40B4-BE49-F238E27FC236}">
                <a16:creationId xmlns:a16="http://schemas.microsoft.com/office/drawing/2014/main" id="{30248F96-D6D2-EDBE-7E6C-37443C3DA033}"/>
              </a:ext>
            </a:extLst>
          </p:cNvPr>
          <p:cNvSpPr txBox="1"/>
          <p:nvPr/>
        </p:nvSpPr>
        <p:spPr>
          <a:xfrm rot="2431060">
            <a:off x="9426285" y="4332564"/>
            <a:ext cx="1988191"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272249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34322-C0C9-E378-39A7-CC4F0526446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61DC1944-BFAE-8560-1E7B-4D75700AAE98}"/>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3FCEFC-B7E0-01A7-0788-D34134ACE654}"/>
              </a:ext>
            </a:extLst>
          </p:cNvPr>
          <p:cNvSpPr>
            <a:spLocks noGrp="1"/>
          </p:cNvSpPr>
          <p:nvPr>
            <p:ph type="title"/>
          </p:nvPr>
        </p:nvSpPr>
        <p:spPr>
          <a:xfrm>
            <a:off x="685805" y="155455"/>
            <a:ext cx="11506195" cy="849312"/>
          </a:xfrm>
        </p:spPr>
        <p:txBody>
          <a:bodyPr>
            <a:normAutofit/>
          </a:bodyPr>
          <a:lstStyle/>
          <a:p>
            <a:r>
              <a:rPr lang="en-US" b="1" dirty="0">
                <a:ea typeface="Calibri" charset="0"/>
                <a:cs typeface="Calibri" charset="0"/>
              </a:rPr>
              <a:t>6.7 </a:t>
            </a:r>
            <a:r>
              <a:rPr lang="en-US" dirty="0">
                <a:ea typeface="Calibri" charset="0"/>
                <a:cs typeface="Calibri" charset="0"/>
              </a:rPr>
              <a:t>Power</a:t>
            </a:r>
            <a:endParaRPr lang="en-US" sz="3000" dirty="0"/>
          </a:p>
        </p:txBody>
      </p:sp>
      <p:sp>
        <p:nvSpPr>
          <p:cNvPr id="5" name="Content Placeholder 2">
            <a:extLst>
              <a:ext uri="{FF2B5EF4-FFF2-40B4-BE49-F238E27FC236}">
                <a16:creationId xmlns:a16="http://schemas.microsoft.com/office/drawing/2014/main" id="{03F5C35B-1BB2-8F2C-DEE5-8A6EFFDB01D1}"/>
              </a:ext>
            </a:extLst>
          </p:cNvPr>
          <p:cNvSpPr txBox="1">
            <a:spLocks/>
          </p:cNvSpPr>
          <p:nvPr/>
        </p:nvSpPr>
        <p:spPr>
          <a:xfrm>
            <a:off x="959715" y="94183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6.7 </a:t>
            </a:r>
            <a:r>
              <a:rPr lang="en-US" dirty="0"/>
              <a:t>– Solve problems involving power.</a:t>
            </a:r>
          </a:p>
        </p:txBody>
      </p:sp>
      <p:grpSp>
        <p:nvGrpSpPr>
          <p:cNvPr id="14" name="Group 13">
            <a:extLst>
              <a:ext uri="{FF2B5EF4-FFF2-40B4-BE49-F238E27FC236}">
                <a16:creationId xmlns:a16="http://schemas.microsoft.com/office/drawing/2014/main" id="{C980A8C8-748A-A449-EAB8-4298E96CB3EC}"/>
              </a:ext>
            </a:extLst>
          </p:cNvPr>
          <p:cNvGrpSpPr/>
          <p:nvPr/>
        </p:nvGrpSpPr>
        <p:grpSpPr>
          <a:xfrm>
            <a:off x="199293" y="1631950"/>
            <a:ext cx="3247490" cy="2154604"/>
            <a:chOff x="199293" y="1631950"/>
            <a:chExt cx="3247490" cy="2154604"/>
          </a:xfrm>
        </p:grpSpPr>
        <p:pic>
          <p:nvPicPr>
            <p:cNvPr id="6" name="Picture 5">
              <a:extLst>
                <a:ext uri="{FF2B5EF4-FFF2-40B4-BE49-F238E27FC236}">
                  <a16:creationId xmlns:a16="http://schemas.microsoft.com/office/drawing/2014/main" id="{A070F3B7-BABC-4FFC-DD24-FCE3D878ED11}"/>
                </a:ext>
              </a:extLst>
            </p:cNvPr>
            <p:cNvPicPr>
              <a:picLocks noChangeAspect="1"/>
            </p:cNvPicPr>
            <p:nvPr/>
          </p:nvPicPr>
          <p:blipFill>
            <a:blip r:embed="rId3"/>
            <a:srcRect l="50875" t="15399" b="35923"/>
            <a:stretch/>
          </p:blipFill>
          <p:spPr>
            <a:xfrm>
              <a:off x="199293" y="1641231"/>
              <a:ext cx="3247490" cy="2145323"/>
            </a:xfrm>
            <a:prstGeom prst="rect">
              <a:avLst/>
            </a:prstGeom>
          </p:spPr>
        </p:pic>
        <p:sp>
          <p:nvSpPr>
            <p:cNvPr id="9" name="Rectangle 8">
              <a:extLst>
                <a:ext uri="{FF2B5EF4-FFF2-40B4-BE49-F238E27FC236}">
                  <a16:creationId xmlns:a16="http://schemas.microsoft.com/office/drawing/2014/main" id="{AE1D2F64-DA13-B92B-73BC-086B2A7CE6DD}"/>
                </a:ext>
              </a:extLst>
            </p:cNvPr>
            <p:cNvSpPr/>
            <p:nvPr/>
          </p:nvSpPr>
          <p:spPr>
            <a:xfrm>
              <a:off x="971550" y="1695450"/>
              <a:ext cx="101600" cy="120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59EA484-5A05-FBD6-679F-3036DD0B01DE}"/>
                </a:ext>
              </a:extLst>
            </p:cNvPr>
            <p:cNvSpPr txBox="1"/>
            <p:nvPr/>
          </p:nvSpPr>
          <p:spPr>
            <a:xfrm>
              <a:off x="889000" y="1631950"/>
              <a:ext cx="304800" cy="261610"/>
            </a:xfrm>
            <a:prstGeom prst="rect">
              <a:avLst/>
            </a:prstGeom>
            <a:noFill/>
          </p:spPr>
          <p:txBody>
            <a:bodyPr wrap="square" rtlCol="0">
              <a:spAutoFit/>
            </a:bodyPr>
            <a:lstStyle/>
            <a:p>
              <a:r>
                <a:rPr lang="en-US" sz="1100" dirty="0">
                  <a:solidFill>
                    <a:srgbClr val="016F1F"/>
                  </a:solidFill>
                  <a:latin typeface="Times" pitchFamily="2" charset="0"/>
                </a:rPr>
                <a:t>A</a:t>
              </a:r>
            </a:p>
          </p:txBody>
        </p:sp>
      </p:grpSp>
      <p:grpSp>
        <p:nvGrpSpPr>
          <p:cNvPr id="17" name="Group 16">
            <a:extLst>
              <a:ext uri="{FF2B5EF4-FFF2-40B4-BE49-F238E27FC236}">
                <a16:creationId xmlns:a16="http://schemas.microsoft.com/office/drawing/2014/main" id="{9A5C6BE1-3062-E99C-3BA7-2D8B16395881}"/>
              </a:ext>
            </a:extLst>
          </p:cNvPr>
          <p:cNvGrpSpPr/>
          <p:nvPr/>
        </p:nvGrpSpPr>
        <p:grpSpPr>
          <a:xfrm>
            <a:off x="0" y="4162425"/>
            <a:ext cx="3222507" cy="2156314"/>
            <a:chOff x="0" y="4162425"/>
            <a:chExt cx="3222507" cy="2156314"/>
          </a:xfrm>
        </p:grpSpPr>
        <p:pic>
          <p:nvPicPr>
            <p:cNvPr id="7" name="Picture 6">
              <a:extLst>
                <a:ext uri="{FF2B5EF4-FFF2-40B4-BE49-F238E27FC236}">
                  <a16:creationId xmlns:a16="http://schemas.microsoft.com/office/drawing/2014/main" id="{57E66FC5-40D0-55FE-BFE5-8131B6A90D75}"/>
                </a:ext>
              </a:extLst>
            </p:cNvPr>
            <p:cNvPicPr>
              <a:picLocks noChangeAspect="1"/>
            </p:cNvPicPr>
            <p:nvPr/>
          </p:nvPicPr>
          <p:blipFill>
            <a:blip r:embed="rId3"/>
            <a:srcRect t="15399" r="51253" b="35923"/>
            <a:stretch/>
          </p:blipFill>
          <p:spPr>
            <a:xfrm>
              <a:off x="0" y="4173416"/>
              <a:ext cx="3222507" cy="2145323"/>
            </a:xfrm>
            <a:prstGeom prst="rect">
              <a:avLst/>
            </a:prstGeom>
          </p:spPr>
        </p:pic>
        <p:sp>
          <p:nvSpPr>
            <p:cNvPr id="15" name="Rectangle 14">
              <a:extLst>
                <a:ext uri="{FF2B5EF4-FFF2-40B4-BE49-F238E27FC236}">
                  <a16:creationId xmlns:a16="http://schemas.microsoft.com/office/drawing/2014/main" id="{1486F69C-8FDB-3152-91AA-4234658E6523}"/>
                </a:ext>
              </a:extLst>
            </p:cNvPr>
            <p:cNvSpPr/>
            <p:nvPr/>
          </p:nvSpPr>
          <p:spPr>
            <a:xfrm>
              <a:off x="1136650" y="4222750"/>
              <a:ext cx="127000" cy="127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C3633F6-083E-78F0-7365-CD5C943907FB}"/>
                </a:ext>
              </a:extLst>
            </p:cNvPr>
            <p:cNvSpPr txBox="1"/>
            <p:nvPr/>
          </p:nvSpPr>
          <p:spPr>
            <a:xfrm>
              <a:off x="1069975" y="4162425"/>
              <a:ext cx="200025" cy="261610"/>
            </a:xfrm>
            <a:prstGeom prst="rect">
              <a:avLst/>
            </a:prstGeom>
            <a:noFill/>
          </p:spPr>
          <p:txBody>
            <a:bodyPr wrap="square" rtlCol="0">
              <a:spAutoFit/>
            </a:bodyPr>
            <a:lstStyle/>
            <a:p>
              <a:r>
                <a:rPr lang="en-US" sz="1100" dirty="0">
                  <a:solidFill>
                    <a:srgbClr val="0F4FB1"/>
                  </a:solidFill>
                  <a:latin typeface="Times" pitchFamily="2" charset="0"/>
                </a:rPr>
                <a:t>B</a:t>
              </a:r>
            </a:p>
          </p:txBody>
        </p:sp>
      </p:grpSp>
      <p:sp>
        <p:nvSpPr>
          <p:cNvPr id="18" name="TextBox 17">
            <a:extLst>
              <a:ext uri="{FF2B5EF4-FFF2-40B4-BE49-F238E27FC236}">
                <a16:creationId xmlns:a16="http://schemas.microsoft.com/office/drawing/2014/main" id="{89EBE4FE-C1F9-D297-DCD5-409FE98E7154}"/>
              </a:ext>
            </a:extLst>
          </p:cNvPr>
          <p:cNvSpPr txBox="1"/>
          <p:nvPr/>
        </p:nvSpPr>
        <p:spPr>
          <a:xfrm>
            <a:off x="3218382" y="1538109"/>
            <a:ext cx="8973618" cy="830997"/>
          </a:xfrm>
          <a:prstGeom prst="rect">
            <a:avLst/>
          </a:prstGeom>
          <a:noFill/>
        </p:spPr>
        <p:txBody>
          <a:bodyPr wrap="square" rtlCol="0">
            <a:spAutoFit/>
          </a:bodyPr>
          <a:lstStyle/>
          <a:p>
            <a:r>
              <a:rPr lang="en-US" sz="2400" dirty="0">
                <a:solidFill>
                  <a:srgbClr val="016F1F"/>
                </a:solidFill>
                <a:latin typeface="Times" pitchFamily="2" charset="0"/>
              </a:rPr>
              <a:t>Person A</a:t>
            </a:r>
            <a:r>
              <a:rPr lang="en-US" sz="2400" dirty="0">
                <a:latin typeface="Times" pitchFamily="2" charset="0"/>
              </a:rPr>
              <a:t> lifts 10 identical boxes onto a table – lifting each of them a height of 1 m.  </a:t>
            </a:r>
          </a:p>
        </p:txBody>
      </p:sp>
      <p:sp>
        <p:nvSpPr>
          <p:cNvPr id="19" name="TextBox 18">
            <a:extLst>
              <a:ext uri="{FF2B5EF4-FFF2-40B4-BE49-F238E27FC236}">
                <a16:creationId xmlns:a16="http://schemas.microsoft.com/office/drawing/2014/main" id="{2F26BEA7-BA33-EE81-D5F6-BFC7FC38214E}"/>
              </a:ext>
            </a:extLst>
          </p:cNvPr>
          <p:cNvSpPr txBox="1"/>
          <p:nvPr/>
        </p:nvSpPr>
        <p:spPr>
          <a:xfrm>
            <a:off x="3218382" y="2604908"/>
            <a:ext cx="8973618" cy="461665"/>
          </a:xfrm>
          <a:prstGeom prst="rect">
            <a:avLst/>
          </a:prstGeom>
          <a:noFill/>
        </p:spPr>
        <p:txBody>
          <a:bodyPr wrap="square" rtlCol="0">
            <a:spAutoFit/>
          </a:bodyPr>
          <a:lstStyle/>
          <a:p>
            <a:r>
              <a:rPr lang="en-US" sz="2400" dirty="0">
                <a:latin typeface="Times" pitchFamily="2" charset="0"/>
              </a:rPr>
              <a:t>She completes this task in 2 minutes, or 120 s.</a:t>
            </a:r>
          </a:p>
        </p:txBody>
      </p:sp>
      <p:sp>
        <p:nvSpPr>
          <p:cNvPr id="20" name="TextBox 19">
            <a:extLst>
              <a:ext uri="{FF2B5EF4-FFF2-40B4-BE49-F238E27FC236}">
                <a16:creationId xmlns:a16="http://schemas.microsoft.com/office/drawing/2014/main" id="{420B494B-A605-9486-9452-BDF330EA688C}"/>
              </a:ext>
            </a:extLst>
          </p:cNvPr>
          <p:cNvSpPr txBox="1"/>
          <p:nvPr/>
        </p:nvSpPr>
        <p:spPr>
          <a:xfrm>
            <a:off x="3218382" y="3319283"/>
            <a:ext cx="8973618" cy="830997"/>
          </a:xfrm>
          <a:prstGeom prst="rect">
            <a:avLst/>
          </a:prstGeom>
          <a:noFill/>
        </p:spPr>
        <p:txBody>
          <a:bodyPr wrap="square" rtlCol="0">
            <a:spAutoFit/>
          </a:bodyPr>
          <a:lstStyle/>
          <a:p>
            <a:r>
              <a:rPr lang="en-US" sz="2400" dirty="0">
                <a:solidFill>
                  <a:srgbClr val="0F4FB1"/>
                </a:solidFill>
                <a:latin typeface="Times" pitchFamily="2" charset="0"/>
              </a:rPr>
              <a:t>Person B</a:t>
            </a:r>
            <a:r>
              <a:rPr lang="en-US" sz="2400" dirty="0">
                <a:latin typeface="Times" pitchFamily="2" charset="0"/>
              </a:rPr>
              <a:t> lifts the same 10 identical boxes onto the same table, but he completes the task in just 1 minute, or 60 s.  </a:t>
            </a:r>
          </a:p>
        </p:txBody>
      </p:sp>
      <p:sp>
        <p:nvSpPr>
          <p:cNvPr id="21" name="TextBox 20">
            <a:extLst>
              <a:ext uri="{FF2B5EF4-FFF2-40B4-BE49-F238E27FC236}">
                <a16:creationId xmlns:a16="http://schemas.microsoft.com/office/drawing/2014/main" id="{735656F8-5E5E-65BE-97BC-5493EA1FC93B}"/>
              </a:ext>
            </a:extLst>
          </p:cNvPr>
          <p:cNvSpPr txBox="1"/>
          <p:nvPr/>
        </p:nvSpPr>
        <p:spPr>
          <a:xfrm>
            <a:off x="3218382" y="4343221"/>
            <a:ext cx="8973618" cy="830997"/>
          </a:xfrm>
          <a:prstGeom prst="rect">
            <a:avLst/>
          </a:prstGeom>
          <a:noFill/>
        </p:spPr>
        <p:txBody>
          <a:bodyPr wrap="square" rtlCol="0">
            <a:spAutoFit/>
          </a:bodyPr>
          <a:lstStyle/>
          <a:p>
            <a:r>
              <a:rPr lang="en-US" sz="2400" dirty="0">
                <a:latin typeface="Times" pitchFamily="2" charset="0"/>
              </a:rPr>
              <a:t>Each person has done the same amount of work, but </a:t>
            </a:r>
            <a:r>
              <a:rPr lang="en-US" sz="2400" dirty="0">
                <a:solidFill>
                  <a:srgbClr val="0F4FB1"/>
                </a:solidFill>
                <a:latin typeface="Times" pitchFamily="2" charset="0"/>
              </a:rPr>
              <a:t>Person B</a:t>
            </a:r>
            <a:r>
              <a:rPr lang="en-US" sz="2400" dirty="0">
                <a:latin typeface="Times" pitchFamily="2" charset="0"/>
              </a:rPr>
              <a:t> has completed it in half the time.  There must be a way to quantify this...</a:t>
            </a:r>
          </a:p>
        </p:txBody>
      </p:sp>
      <p:grpSp>
        <p:nvGrpSpPr>
          <p:cNvPr id="25" name="Group 24">
            <a:extLst>
              <a:ext uri="{FF2B5EF4-FFF2-40B4-BE49-F238E27FC236}">
                <a16:creationId xmlns:a16="http://schemas.microsoft.com/office/drawing/2014/main" id="{C870A28B-8A2E-4201-EFC9-275D3CB55602}"/>
              </a:ext>
            </a:extLst>
          </p:cNvPr>
          <p:cNvGrpSpPr/>
          <p:nvPr/>
        </p:nvGrpSpPr>
        <p:grpSpPr>
          <a:xfrm>
            <a:off x="3218381" y="5552896"/>
            <a:ext cx="3153843" cy="461665"/>
            <a:chOff x="3218381" y="4781371"/>
            <a:chExt cx="3153843" cy="461665"/>
          </a:xfrm>
        </p:grpSpPr>
        <p:sp>
          <p:nvSpPr>
            <p:cNvPr id="22" name="TextBox 21">
              <a:extLst>
                <a:ext uri="{FF2B5EF4-FFF2-40B4-BE49-F238E27FC236}">
                  <a16:creationId xmlns:a16="http://schemas.microsoft.com/office/drawing/2014/main" id="{15BA88DC-6ABE-6092-CDF0-D3E495A34EA1}"/>
                </a:ext>
              </a:extLst>
            </p:cNvPr>
            <p:cNvSpPr txBox="1"/>
            <p:nvPr/>
          </p:nvSpPr>
          <p:spPr>
            <a:xfrm>
              <a:off x="3218381" y="4781371"/>
              <a:ext cx="3153843" cy="461665"/>
            </a:xfrm>
            <a:prstGeom prst="rect">
              <a:avLst/>
            </a:prstGeom>
            <a:noFill/>
          </p:spPr>
          <p:txBody>
            <a:bodyPr wrap="square" rtlCol="0">
              <a:spAutoFit/>
            </a:bodyPr>
            <a:lstStyle/>
            <a:p>
              <a:r>
                <a:rPr lang="en-US" sz="2400" dirty="0">
                  <a:latin typeface="Times" pitchFamily="2" charset="0"/>
                </a:rPr>
                <a:t>It’s called              . </a:t>
              </a:r>
            </a:p>
          </p:txBody>
        </p:sp>
        <p:sp>
          <p:nvSpPr>
            <p:cNvPr id="24" name="Rounded Rectangle 23">
              <a:extLst>
                <a:ext uri="{FF2B5EF4-FFF2-40B4-BE49-F238E27FC236}">
                  <a16:creationId xmlns:a16="http://schemas.microsoft.com/office/drawing/2014/main" id="{ECE867FD-6D89-C5B0-3A13-403D0962E758}"/>
                </a:ext>
              </a:extLst>
            </p:cNvPr>
            <p:cNvSpPr/>
            <p:nvPr/>
          </p:nvSpPr>
          <p:spPr>
            <a:xfrm>
              <a:off x="4543426" y="4814888"/>
              <a:ext cx="957262" cy="3571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15BDECAD-A12F-59A4-5577-5AA6E3B59753}"/>
              </a:ext>
            </a:extLst>
          </p:cNvPr>
          <p:cNvSpPr txBox="1"/>
          <p:nvPr/>
        </p:nvSpPr>
        <p:spPr>
          <a:xfrm>
            <a:off x="4529138" y="5586413"/>
            <a:ext cx="1228725"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Power</a:t>
            </a:r>
          </a:p>
        </p:txBody>
      </p:sp>
      <p:sp>
        <p:nvSpPr>
          <p:cNvPr id="26" name="Rounded Rectangle 25">
            <a:extLst>
              <a:ext uri="{FF2B5EF4-FFF2-40B4-BE49-F238E27FC236}">
                <a16:creationId xmlns:a16="http://schemas.microsoft.com/office/drawing/2014/main" id="{2C9AE11D-859B-9EBA-236B-7CA238C8BEE4}"/>
              </a:ext>
            </a:extLst>
          </p:cNvPr>
          <p:cNvSpPr/>
          <p:nvPr/>
        </p:nvSpPr>
        <p:spPr>
          <a:xfrm>
            <a:off x="5957888" y="5543550"/>
            <a:ext cx="6005512" cy="442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9880B22-EF8C-C1FE-0E15-950F2FAA5FED}"/>
              </a:ext>
            </a:extLst>
          </p:cNvPr>
          <p:cNvSpPr txBox="1"/>
          <p:nvPr/>
        </p:nvSpPr>
        <p:spPr>
          <a:xfrm>
            <a:off x="5924550" y="5581651"/>
            <a:ext cx="6448425"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Power is the </a:t>
            </a:r>
            <a:r>
              <a:rPr lang="en-US" sz="2000" u="sng" dirty="0">
                <a:solidFill>
                  <a:srgbClr val="007440"/>
                </a:solidFill>
                <a:latin typeface="Chalkduster" panose="03050602040202020205" pitchFamily="66" charset="77"/>
              </a:rPr>
              <a:t>rate</a:t>
            </a:r>
            <a:r>
              <a:rPr lang="en-US" sz="2000" dirty="0">
                <a:solidFill>
                  <a:srgbClr val="007440"/>
                </a:solidFill>
                <a:latin typeface="Chalkduster" panose="03050602040202020205" pitchFamily="66" charset="77"/>
              </a:rPr>
              <a:t> at which work is done.</a:t>
            </a:r>
          </a:p>
        </p:txBody>
      </p:sp>
    </p:spTree>
    <p:extLst>
      <p:ext uri="{BB962C8B-B14F-4D97-AF65-F5344CB8AC3E}">
        <p14:creationId xmlns:p14="http://schemas.microsoft.com/office/powerpoint/2010/main" val="349095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dissolve">
                                      <p:cBhvr>
                                        <p:cTn id="32" dur="500"/>
                                        <p:tgtEl>
                                          <p:spTgt spid="23"/>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dissolve">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dissolve">
                                      <p:cBhvr>
                                        <p:cTn id="4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6" grpId="0" animBg="1"/>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70C4A-8285-FD74-E64F-4147B5ADC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F00C0-066B-C62A-08B8-7C958589E250}"/>
              </a:ext>
            </a:extLst>
          </p:cNvPr>
          <p:cNvSpPr>
            <a:spLocks noGrp="1"/>
          </p:cNvSpPr>
          <p:nvPr>
            <p:ph type="title"/>
          </p:nvPr>
        </p:nvSpPr>
        <p:spPr>
          <a:xfrm>
            <a:off x="685805" y="155455"/>
            <a:ext cx="11506195" cy="849312"/>
          </a:xfrm>
        </p:spPr>
        <p:txBody>
          <a:bodyPr>
            <a:normAutofit/>
          </a:bodyPr>
          <a:lstStyle/>
          <a:p>
            <a:r>
              <a:rPr lang="en-US" b="1" dirty="0">
                <a:ea typeface="Calibri" charset="0"/>
                <a:cs typeface="Calibri" charset="0"/>
              </a:rPr>
              <a:t>6.7 </a:t>
            </a:r>
            <a:r>
              <a:rPr lang="en-US" dirty="0">
                <a:ea typeface="Calibri" charset="0"/>
                <a:cs typeface="Calibri" charset="0"/>
              </a:rPr>
              <a:t>Power</a:t>
            </a:r>
            <a:endParaRPr lang="en-US" sz="3000" dirty="0"/>
          </a:p>
        </p:txBody>
      </p:sp>
      <p:grpSp>
        <p:nvGrpSpPr>
          <p:cNvPr id="29" name="Group 28">
            <a:extLst>
              <a:ext uri="{FF2B5EF4-FFF2-40B4-BE49-F238E27FC236}">
                <a16:creationId xmlns:a16="http://schemas.microsoft.com/office/drawing/2014/main" id="{37BE7A5A-F390-2BB9-967D-8A3B0AE175AC}"/>
              </a:ext>
            </a:extLst>
          </p:cNvPr>
          <p:cNvGrpSpPr/>
          <p:nvPr/>
        </p:nvGrpSpPr>
        <p:grpSpPr>
          <a:xfrm>
            <a:off x="485776" y="1023761"/>
            <a:ext cx="5572124" cy="4005440"/>
            <a:chOff x="871538" y="1080910"/>
            <a:chExt cx="5572124" cy="4005440"/>
          </a:xfrm>
        </p:grpSpPr>
        <p:sp>
          <p:nvSpPr>
            <p:cNvPr id="18" name="TextBox 17">
              <a:extLst>
                <a:ext uri="{FF2B5EF4-FFF2-40B4-BE49-F238E27FC236}">
                  <a16:creationId xmlns:a16="http://schemas.microsoft.com/office/drawing/2014/main" id="{5888C548-A44C-D3D2-C5DE-F393DD4C8227}"/>
                </a:ext>
              </a:extLst>
            </p:cNvPr>
            <p:cNvSpPr txBox="1"/>
            <p:nvPr/>
          </p:nvSpPr>
          <p:spPr>
            <a:xfrm>
              <a:off x="918093" y="1080910"/>
              <a:ext cx="5525569" cy="461665"/>
            </a:xfrm>
            <a:prstGeom prst="rect">
              <a:avLst/>
            </a:prstGeom>
            <a:noFill/>
          </p:spPr>
          <p:txBody>
            <a:bodyPr wrap="square" rtlCol="0">
              <a:spAutoFit/>
            </a:bodyPr>
            <a:lstStyle/>
            <a:p>
              <a:r>
                <a:rPr lang="en-US" sz="2400" dirty="0">
                  <a:solidFill>
                    <a:srgbClr val="C00000"/>
                  </a:solidFill>
                  <a:latin typeface="Times" pitchFamily="2" charset="0"/>
                </a:rPr>
                <a:t>DEFINITION OF AVERAGE POWER</a:t>
              </a:r>
            </a:p>
          </p:txBody>
        </p:sp>
        <p:pic>
          <p:nvPicPr>
            <p:cNvPr id="8" name="Picture 7">
              <a:extLst>
                <a:ext uri="{FF2B5EF4-FFF2-40B4-BE49-F238E27FC236}">
                  <a16:creationId xmlns:a16="http://schemas.microsoft.com/office/drawing/2014/main" id="{1D687910-AE92-F573-B3DF-29BA1E1DD4B6}"/>
                </a:ext>
              </a:extLst>
            </p:cNvPr>
            <p:cNvPicPr>
              <a:picLocks noChangeAspect="1"/>
            </p:cNvPicPr>
            <p:nvPr/>
          </p:nvPicPr>
          <p:blipFill>
            <a:blip r:embed="rId3"/>
            <a:stretch>
              <a:fillRect/>
            </a:stretch>
          </p:blipFill>
          <p:spPr>
            <a:xfrm>
              <a:off x="1952625" y="3326818"/>
              <a:ext cx="2062163" cy="668321"/>
            </a:xfrm>
            <a:prstGeom prst="rect">
              <a:avLst/>
            </a:prstGeom>
          </p:spPr>
        </p:pic>
        <p:sp>
          <p:nvSpPr>
            <p:cNvPr id="11" name="TextBox 10">
              <a:extLst>
                <a:ext uri="{FF2B5EF4-FFF2-40B4-BE49-F238E27FC236}">
                  <a16:creationId xmlns:a16="http://schemas.microsoft.com/office/drawing/2014/main" id="{D3B18A97-62DF-6D70-4CEE-36ACF8D4EDAC}"/>
                </a:ext>
              </a:extLst>
            </p:cNvPr>
            <p:cNvSpPr txBox="1"/>
            <p:nvPr/>
          </p:nvSpPr>
          <p:spPr>
            <a:xfrm>
              <a:off x="4572000" y="3457575"/>
              <a:ext cx="1557338"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6.10a</a:t>
              </a:r>
              <a:r>
                <a:rPr lang="en-US" sz="2400" dirty="0">
                  <a:latin typeface="Times" pitchFamily="2" charset="0"/>
                </a:rPr>
                <a:t>)</a:t>
              </a:r>
            </a:p>
          </p:txBody>
        </p:sp>
        <p:grpSp>
          <p:nvGrpSpPr>
            <p:cNvPr id="28" name="Group 27">
              <a:extLst>
                <a:ext uri="{FF2B5EF4-FFF2-40B4-BE49-F238E27FC236}">
                  <a16:creationId xmlns:a16="http://schemas.microsoft.com/office/drawing/2014/main" id="{278D00AA-8154-A9E8-697D-236B367C333D}"/>
                </a:ext>
              </a:extLst>
            </p:cNvPr>
            <p:cNvGrpSpPr/>
            <p:nvPr/>
          </p:nvGrpSpPr>
          <p:grpSpPr>
            <a:xfrm>
              <a:off x="871538" y="1085850"/>
              <a:ext cx="5086350" cy="4000500"/>
              <a:chOff x="871538" y="1085850"/>
              <a:chExt cx="5086350" cy="4000500"/>
            </a:xfrm>
          </p:grpSpPr>
          <p:sp>
            <p:nvSpPr>
              <p:cNvPr id="4" name="TextBox 3">
                <a:extLst>
                  <a:ext uri="{FF2B5EF4-FFF2-40B4-BE49-F238E27FC236}">
                    <a16:creationId xmlns:a16="http://schemas.microsoft.com/office/drawing/2014/main" id="{688A20B6-3639-E476-F8D2-0CD46A0D182D}"/>
                  </a:ext>
                </a:extLst>
              </p:cNvPr>
              <p:cNvSpPr txBox="1"/>
              <p:nvPr/>
            </p:nvSpPr>
            <p:spPr>
              <a:xfrm>
                <a:off x="960833" y="1611629"/>
                <a:ext cx="4897042" cy="3416320"/>
              </a:xfrm>
              <a:prstGeom prst="rect">
                <a:avLst/>
              </a:prstGeom>
              <a:noFill/>
            </p:spPr>
            <p:txBody>
              <a:bodyPr wrap="square">
                <a:spAutoFit/>
              </a:bodyPr>
              <a:lstStyle/>
              <a:p>
                <a:pPr algn="just"/>
                <a:r>
                  <a:rPr lang="en-US" sz="2400" dirty="0">
                    <a:latin typeface="Times" pitchFamily="2" charset="0"/>
                  </a:rPr>
                  <a:t>Average power </a:t>
                </a:r>
                <a:r>
                  <a:rPr lang="en-US" sz="2400" i="1" dirty="0">
                    <a:latin typeface="Times" pitchFamily="2" charset="0"/>
                  </a:rPr>
                  <a:t>P</a:t>
                </a:r>
                <a:r>
                  <a:rPr lang="en-US" sz="2400" dirty="0">
                    <a:latin typeface="Times" pitchFamily="2" charset="0"/>
                  </a:rPr>
                  <a:t> is the average rate at which work </a:t>
                </a:r>
                <a:r>
                  <a:rPr lang="en-US" sz="2400" i="1" dirty="0">
                    <a:latin typeface="Times" pitchFamily="2" charset="0"/>
                  </a:rPr>
                  <a:t>W</a:t>
                </a:r>
                <a:r>
                  <a:rPr lang="en-US" sz="2400" dirty="0">
                    <a:latin typeface="Times" pitchFamily="2" charset="0"/>
                  </a:rPr>
                  <a:t> is done, and it is obtained by dividing </a:t>
                </a:r>
                <a:r>
                  <a:rPr lang="en-US" sz="2400" i="1" dirty="0">
                    <a:latin typeface="Times" pitchFamily="2" charset="0"/>
                  </a:rPr>
                  <a:t>W</a:t>
                </a:r>
                <a:r>
                  <a:rPr lang="en-US" sz="2400" dirty="0">
                    <a:latin typeface="Times" pitchFamily="2" charset="0"/>
                  </a:rPr>
                  <a:t> by the time </a:t>
                </a:r>
                <a:r>
                  <a:rPr lang="en-US" sz="2400" i="1" dirty="0">
                    <a:latin typeface="Times" pitchFamily="2" charset="0"/>
                  </a:rPr>
                  <a:t>t</a:t>
                </a:r>
                <a:r>
                  <a:rPr lang="en-US" sz="2400" dirty="0">
                    <a:latin typeface="Times" pitchFamily="2" charset="0"/>
                  </a:rPr>
                  <a:t> required to perform the work:</a:t>
                </a:r>
              </a:p>
              <a:p>
                <a:pPr algn="just"/>
                <a:endParaRPr lang="en-US" sz="2400" dirty="0">
                  <a:latin typeface="Times" pitchFamily="2" charset="0"/>
                </a:endParaRPr>
              </a:p>
              <a:p>
                <a:pPr algn="just"/>
                <a:endParaRPr lang="en-US" sz="2400" dirty="0">
                  <a:latin typeface="Times" pitchFamily="2" charset="0"/>
                </a:endParaRPr>
              </a:p>
              <a:p>
                <a:pPr algn="just"/>
                <a:endParaRPr lang="en-US" sz="2400" dirty="0">
                  <a:latin typeface="Times" pitchFamily="2" charset="0"/>
                </a:endParaRPr>
              </a:p>
              <a:p>
                <a:pPr algn="just"/>
                <a:endParaRPr lang="en-US" sz="2400" dirty="0">
                  <a:latin typeface="Times" pitchFamily="2" charset="0"/>
                </a:endParaRPr>
              </a:p>
              <a:p>
                <a:pPr algn="just"/>
                <a:r>
                  <a:rPr lang="en-US" sz="2400" dirty="0">
                    <a:latin typeface="Times" pitchFamily="2" charset="0"/>
                  </a:rPr>
                  <a:t>SI Unit of Power: joule/s = watt (W)</a:t>
                </a:r>
              </a:p>
            </p:txBody>
          </p:sp>
          <p:sp>
            <p:nvSpPr>
              <p:cNvPr id="12" name="Rectangle 11">
                <a:extLst>
                  <a:ext uri="{FF2B5EF4-FFF2-40B4-BE49-F238E27FC236}">
                    <a16:creationId xmlns:a16="http://schemas.microsoft.com/office/drawing/2014/main" id="{C91AEA7C-697B-935B-EADF-70BF973D2587}"/>
                  </a:ext>
                </a:extLst>
              </p:cNvPr>
              <p:cNvSpPr/>
              <p:nvPr/>
            </p:nvSpPr>
            <p:spPr>
              <a:xfrm>
                <a:off x="871538" y="1085850"/>
                <a:ext cx="5086350" cy="400050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A4CD119-EDF4-6865-FFF6-5256B69355F0}"/>
                  </a:ext>
                </a:extLst>
              </p:cNvPr>
              <p:cNvSpPr txBox="1"/>
              <p:nvPr/>
            </p:nvSpPr>
            <p:spPr>
              <a:xfrm>
                <a:off x="2943227" y="1414463"/>
                <a:ext cx="571500" cy="461665"/>
              </a:xfrm>
              <a:prstGeom prst="rect">
                <a:avLst/>
              </a:prstGeom>
              <a:noFill/>
            </p:spPr>
            <p:txBody>
              <a:bodyPr wrap="square" rtlCol="0">
                <a:spAutoFit/>
              </a:bodyPr>
              <a:lstStyle/>
              <a:p>
                <a:r>
                  <a:rPr lang="en-US" sz="2400" dirty="0">
                    <a:latin typeface="Times" pitchFamily="2" charset="0"/>
                  </a:rPr>
                  <a:t>– </a:t>
                </a:r>
              </a:p>
            </p:txBody>
          </p:sp>
        </p:grpSp>
      </p:grpSp>
      <p:pic>
        <p:nvPicPr>
          <p:cNvPr id="33" name="Picture 32">
            <a:extLst>
              <a:ext uri="{FF2B5EF4-FFF2-40B4-BE49-F238E27FC236}">
                <a16:creationId xmlns:a16="http://schemas.microsoft.com/office/drawing/2014/main" id="{7C93DFDA-914A-95AC-5F21-5B81E8100D9F}"/>
              </a:ext>
            </a:extLst>
          </p:cNvPr>
          <p:cNvPicPr>
            <a:picLocks noChangeAspect="1"/>
          </p:cNvPicPr>
          <p:nvPr/>
        </p:nvPicPr>
        <p:blipFill>
          <a:blip r:embed="rId4"/>
          <a:stretch>
            <a:fillRect/>
          </a:stretch>
        </p:blipFill>
        <p:spPr>
          <a:xfrm>
            <a:off x="6118082" y="242889"/>
            <a:ext cx="5373756" cy="4300538"/>
          </a:xfrm>
          <a:prstGeom prst="rect">
            <a:avLst/>
          </a:prstGeom>
        </p:spPr>
      </p:pic>
      <p:sp>
        <p:nvSpPr>
          <p:cNvPr id="34" name="TextBox 33">
            <a:extLst>
              <a:ext uri="{FF2B5EF4-FFF2-40B4-BE49-F238E27FC236}">
                <a16:creationId xmlns:a16="http://schemas.microsoft.com/office/drawing/2014/main" id="{952773F8-9B98-2A74-4453-0E16D5D33847}"/>
              </a:ext>
            </a:extLst>
          </p:cNvPr>
          <p:cNvSpPr txBox="1"/>
          <p:nvPr/>
        </p:nvSpPr>
        <p:spPr>
          <a:xfrm>
            <a:off x="5815013" y="4514851"/>
            <a:ext cx="6715125" cy="830997"/>
          </a:xfrm>
          <a:prstGeom prst="rect">
            <a:avLst/>
          </a:prstGeom>
          <a:noFill/>
        </p:spPr>
        <p:txBody>
          <a:bodyPr wrap="square" rtlCol="0">
            <a:spAutoFit/>
          </a:bodyPr>
          <a:lstStyle/>
          <a:p>
            <a:r>
              <a:rPr lang="en-US" sz="2400" dirty="0">
                <a:latin typeface="Times" pitchFamily="2" charset="0"/>
              </a:rPr>
              <a:t>One watt is a fairly small power, as the graphic above illustrates.</a:t>
            </a:r>
          </a:p>
        </p:txBody>
      </p:sp>
      <p:grpSp>
        <p:nvGrpSpPr>
          <p:cNvPr id="37" name="Group 36">
            <a:extLst>
              <a:ext uri="{FF2B5EF4-FFF2-40B4-BE49-F238E27FC236}">
                <a16:creationId xmlns:a16="http://schemas.microsoft.com/office/drawing/2014/main" id="{5B67AB3C-5D68-47CE-2D16-DE52299BA1EA}"/>
              </a:ext>
            </a:extLst>
          </p:cNvPr>
          <p:cNvGrpSpPr/>
          <p:nvPr/>
        </p:nvGrpSpPr>
        <p:grpSpPr>
          <a:xfrm>
            <a:off x="152401" y="5300663"/>
            <a:ext cx="11920537" cy="528340"/>
            <a:chOff x="152401" y="5300663"/>
            <a:chExt cx="11920537" cy="528340"/>
          </a:xfrm>
        </p:grpSpPr>
        <p:sp>
          <p:nvSpPr>
            <p:cNvPr id="35" name="TextBox 34">
              <a:extLst>
                <a:ext uri="{FF2B5EF4-FFF2-40B4-BE49-F238E27FC236}">
                  <a16:creationId xmlns:a16="http://schemas.microsoft.com/office/drawing/2014/main" id="{E66BC142-8D97-AF9C-DC78-02672EDADD9A}"/>
                </a:ext>
              </a:extLst>
            </p:cNvPr>
            <p:cNvSpPr txBox="1"/>
            <p:nvPr/>
          </p:nvSpPr>
          <p:spPr>
            <a:xfrm>
              <a:off x="152401" y="5367338"/>
              <a:ext cx="11920537" cy="461665"/>
            </a:xfrm>
            <a:prstGeom prst="rect">
              <a:avLst/>
            </a:prstGeom>
            <a:noFill/>
          </p:spPr>
          <p:txBody>
            <a:bodyPr wrap="square" rtlCol="0">
              <a:spAutoFit/>
            </a:bodyPr>
            <a:lstStyle/>
            <a:p>
              <a:r>
                <a:rPr lang="en-US" sz="2400" dirty="0">
                  <a:latin typeface="Times" pitchFamily="2" charset="0"/>
                </a:rPr>
                <a:t>Engines and motors commonly use a different unit of power known as:  </a:t>
              </a:r>
            </a:p>
          </p:txBody>
        </p:sp>
        <p:sp>
          <p:nvSpPr>
            <p:cNvPr id="36" name="Rounded Rectangle 35">
              <a:extLst>
                <a:ext uri="{FF2B5EF4-FFF2-40B4-BE49-F238E27FC236}">
                  <a16:creationId xmlns:a16="http://schemas.microsoft.com/office/drawing/2014/main" id="{AF605595-65B9-DB84-4D5A-7010E9C38E12}"/>
                </a:ext>
              </a:extLst>
            </p:cNvPr>
            <p:cNvSpPr/>
            <p:nvPr/>
          </p:nvSpPr>
          <p:spPr>
            <a:xfrm>
              <a:off x="8915400" y="5300663"/>
              <a:ext cx="2686050" cy="5143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01D9AD26-0A4B-F2C3-F7AD-098B21BC9BE8}"/>
              </a:ext>
            </a:extLst>
          </p:cNvPr>
          <p:cNvSpPr txBox="1"/>
          <p:nvPr/>
        </p:nvSpPr>
        <p:spPr>
          <a:xfrm>
            <a:off x="9034462" y="5357813"/>
            <a:ext cx="3157538" cy="400110"/>
          </a:xfrm>
          <a:prstGeom prst="rect">
            <a:avLst/>
          </a:prstGeom>
          <a:noFill/>
        </p:spPr>
        <p:txBody>
          <a:bodyPr wrap="square" rtlCol="0">
            <a:spAutoFit/>
          </a:bodyPr>
          <a:lstStyle/>
          <a:p>
            <a:r>
              <a:rPr lang="en-US" sz="2000" dirty="0">
                <a:solidFill>
                  <a:srgbClr val="016F1F"/>
                </a:solidFill>
                <a:latin typeface="Chalkduster" panose="03050602040202020205" pitchFamily="66" charset="77"/>
              </a:rPr>
              <a:t>horsepower (hp)</a:t>
            </a:r>
          </a:p>
        </p:txBody>
      </p:sp>
      <p:sp>
        <p:nvSpPr>
          <p:cNvPr id="39" name="TextBox 38">
            <a:extLst>
              <a:ext uri="{FF2B5EF4-FFF2-40B4-BE49-F238E27FC236}">
                <a16:creationId xmlns:a16="http://schemas.microsoft.com/office/drawing/2014/main" id="{26486569-AC37-0ACA-2FC3-1A0441F301E1}"/>
              </a:ext>
            </a:extLst>
          </p:cNvPr>
          <p:cNvSpPr txBox="1"/>
          <p:nvPr/>
        </p:nvSpPr>
        <p:spPr>
          <a:xfrm>
            <a:off x="4791084" y="5848350"/>
            <a:ext cx="2409824" cy="461665"/>
          </a:xfrm>
          <a:prstGeom prst="rect">
            <a:avLst/>
          </a:prstGeom>
          <a:noFill/>
        </p:spPr>
        <p:txBody>
          <a:bodyPr wrap="square" rtlCol="0">
            <a:spAutoFit/>
          </a:bodyPr>
          <a:lstStyle/>
          <a:p>
            <a:r>
              <a:rPr lang="en-US" sz="2400" dirty="0">
                <a:latin typeface="Times" pitchFamily="2" charset="0"/>
              </a:rPr>
              <a:t>1 hp = 745.7 W</a:t>
            </a:r>
          </a:p>
        </p:txBody>
      </p:sp>
      <p:sp>
        <p:nvSpPr>
          <p:cNvPr id="40" name="Rectangle 39">
            <a:extLst>
              <a:ext uri="{FF2B5EF4-FFF2-40B4-BE49-F238E27FC236}">
                <a16:creationId xmlns:a16="http://schemas.microsoft.com/office/drawing/2014/main" id="{4CA5AAA5-20D5-7317-F9AD-52805D683EAC}"/>
              </a:ext>
            </a:extLst>
          </p:cNvPr>
          <p:cNvSpPr/>
          <p:nvPr/>
        </p:nvSpPr>
        <p:spPr>
          <a:xfrm>
            <a:off x="4786320" y="5815013"/>
            <a:ext cx="2085975" cy="485775"/>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25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dissolv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dissolv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dissolv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P spid="39" grpId="0"/>
      <p:bldP spid="4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A14B9-44F7-9347-B074-30CAAD16FDF3}"/>
            </a:ext>
          </a:extLst>
        </p:cNvPr>
        <p:cNvGrpSpPr/>
        <p:nvPr/>
      </p:nvGrpSpPr>
      <p:grpSpPr>
        <a:xfrm>
          <a:off x="0" y="0"/>
          <a:ext cx="0" cy="0"/>
          <a:chOff x="0" y="0"/>
          <a:chExt cx="0" cy="0"/>
        </a:xfrm>
      </p:grpSpPr>
      <p:sp>
        <p:nvSpPr>
          <p:cNvPr id="9222" name="Rectangle 9221">
            <a:extLst>
              <a:ext uri="{FF2B5EF4-FFF2-40B4-BE49-F238E27FC236}">
                <a16:creationId xmlns:a16="http://schemas.microsoft.com/office/drawing/2014/main" id="{3120630A-F582-A621-E6C8-B03050D829C6}"/>
              </a:ext>
            </a:extLst>
          </p:cNvPr>
          <p:cNvSpPr/>
          <p:nvPr/>
        </p:nvSpPr>
        <p:spPr>
          <a:xfrm>
            <a:off x="10202779" y="5855368"/>
            <a:ext cx="1106905" cy="481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F4E6C4-AD6E-7A0B-050E-089B19245C74}"/>
              </a:ext>
            </a:extLst>
          </p:cNvPr>
          <p:cNvSpPr>
            <a:spLocks noGrp="1"/>
          </p:cNvSpPr>
          <p:nvPr>
            <p:ph type="title"/>
          </p:nvPr>
        </p:nvSpPr>
        <p:spPr>
          <a:xfrm>
            <a:off x="685805" y="155455"/>
            <a:ext cx="11506195" cy="849312"/>
          </a:xfrm>
        </p:spPr>
        <p:txBody>
          <a:bodyPr>
            <a:normAutofit/>
          </a:bodyPr>
          <a:lstStyle/>
          <a:p>
            <a:r>
              <a:rPr lang="en-US" b="1" dirty="0">
                <a:ea typeface="Calibri" charset="0"/>
                <a:cs typeface="Calibri" charset="0"/>
              </a:rPr>
              <a:t>6.7 </a:t>
            </a:r>
            <a:r>
              <a:rPr lang="en-US" dirty="0">
                <a:ea typeface="Calibri" charset="0"/>
                <a:cs typeface="Calibri" charset="0"/>
              </a:rPr>
              <a:t>Power</a:t>
            </a:r>
            <a:endParaRPr lang="en-US" sz="3000" dirty="0"/>
          </a:p>
        </p:txBody>
      </p:sp>
      <p:sp>
        <p:nvSpPr>
          <p:cNvPr id="5" name="TextBox 4">
            <a:extLst>
              <a:ext uri="{FF2B5EF4-FFF2-40B4-BE49-F238E27FC236}">
                <a16:creationId xmlns:a16="http://schemas.microsoft.com/office/drawing/2014/main" id="{FE618942-071C-79A6-B540-C989F7D3FB4D}"/>
              </a:ext>
            </a:extLst>
          </p:cNvPr>
          <p:cNvSpPr txBox="1"/>
          <p:nvPr/>
        </p:nvSpPr>
        <p:spPr>
          <a:xfrm>
            <a:off x="3400927" y="678562"/>
            <a:ext cx="8296257" cy="2308324"/>
          </a:xfrm>
          <a:prstGeom prst="rect">
            <a:avLst/>
          </a:prstGeom>
          <a:noFill/>
        </p:spPr>
        <p:txBody>
          <a:bodyPr wrap="square">
            <a:spAutoFit/>
          </a:bodyPr>
          <a:lstStyle/>
          <a:p>
            <a:pPr algn="just"/>
            <a:r>
              <a:rPr lang="en-US" sz="2400" dirty="0">
                <a:latin typeface="Times" pitchFamily="2" charset="0"/>
              </a:rPr>
              <a:t>A person is making homemade ice cream. She exerts a force of magnitude 22 N on the free end of the crank handle on the ice-cream maker, and this end moves on a circular path of radius 0.28 m. The force is always applied parallel to the motion of the handle. If the handle is turned once every 1.3 s, what is the average power being expended?</a:t>
            </a:r>
          </a:p>
        </p:txBody>
      </p:sp>
      <p:sp>
        <p:nvSpPr>
          <p:cNvPr id="6" name="TextBox 5">
            <a:extLst>
              <a:ext uri="{FF2B5EF4-FFF2-40B4-BE49-F238E27FC236}">
                <a16:creationId xmlns:a16="http://schemas.microsoft.com/office/drawing/2014/main" id="{0D5C53AA-C917-80FB-5E82-7205F67A0FB7}"/>
              </a:ext>
            </a:extLst>
          </p:cNvPr>
          <p:cNvSpPr txBox="1"/>
          <p:nvPr/>
        </p:nvSpPr>
        <p:spPr>
          <a:xfrm>
            <a:off x="3403462" y="185561"/>
            <a:ext cx="4944665" cy="523220"/>
          </a:xfrm>
          <a:prstGeom prst="rect">
            <a:avLst/>
          </a:prstGeom>
          <a:noFill/>
        </p:spPr>
        <p:txBody>
          <a:bodyPr wrap="square">
            <a:spAutoFit/>
          </a:bodyPr>
          <a:lstStyle/>
          <a:p>
            <a:pPr algn="just"/>
            <a:r>
              <a:rPr lang="en-US" sz="2800" dirty="0">
                <a:solidFill>
                  <a:srgbClr val="C00000"/>
                </a:solidFill>
                <a:latin typeface="Times" pitchFamily="2" charset="0"/>
              </a:rPr>
              <a:t>Example – Making Ice Cream </a:t>
            </a:r>
          </a:p>
        </p:txBody>
      </p:sp>
      <p:grpSp>
        <p:nvGrpSpPr>
          <p:cNvPr id="25" name="Group 24">
            <a:extLst>
              <a:ext uri="{FF2B5EF4-FFF2-40B4-BE49-F238E27FC236}">
                <a16:creationId xmlns:a16="http://schemas.microsoft.com/office/drawing/2014/main" id="{46AF92BF-96AE-2071-0893-CA1150726823}"/>
              </a:ext>
            </a:extLst>
          </p:cNvPr>
          <p:cNvGrpSpPr/>
          <p:nvPr/>
        </p:nvGrpSpPr>
        <p:grpSpPr>
          <a:xfrm>
            <a:off x="-155628" y="859435"/>
            <a:ext cx="3765698" cy="3030279"/>
            <a:chOff x="1848293" y="3317358"/>
            <a:chExt cx="3765698" cy="3030279"/>
          </a:xfrm>
        </p:grpSpPr>
        <p:pic>
          <p:nvPicPr>
            <p:cNvPr id="9220" name="Picture 4">
              <a:extLst>
                <a:ext uri="{FF2B5EF4-FFF2-40B4-BE49-F238E27FC236}">
                  <a16:creationId xmlns:a16="http://schemas.microsoft.com/office/drawing/2014/main" id="{E901435A-26C6-A463-9831-0CC0FA169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8293" y="3413051"/>
              <a:ext cx="2934586" cy="2934586"/>
            </a:xfrm>
            <a:prstGeom prst="rect">
              <a:avLst/>
            </a:prstGeom>
            <a:noFill/>
            <a:extLst>
              <a:ext uri="{909E8E84-426E-40DD-AFC4-6F175D3DCCD1}">
                <a14:hiddenFill xmlns:a14="http://schemas.microsoft.com/office/drawing/2010/main">
                  <a:solidFill>
                    <a:srgbClr val="FFFFFF"/>
                  </a:solidFill>
                </a14:hiddenFill>
              </a:ext>
            </a:extLst>
          </p:spPr>
        </p:pic>
        <p:sp>
          <p:nvSpPr>
            <p:cNvPr id="16" name="Oval 15">
              <a:extLst>
                <a:ext uri="{FF2B5EF4-FFF2-40B4-BE49-F238E27FC236}">
                  <a16:creationId xmlns:a16="http://schemas.microsoft.com/office/drawing/2014/main" id="{E95677A9-4AD9-E1BA-45F2-A51EA0EB070D}"/>
                </a:ext>
              </a:extLst>
            </p:cNvPr>
            <p:cNvSpPr/>
            <p:nvPr/>
          </p:nvSpPr>
          <p:spPr>
            <a:xfrm>
              <a:off x="3033591" y="4035425"/>
              <a:ext cx="214434" cy="175846"/>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32D9269-C305-AC5A-6E78-FDB2EE21DAE7}"/>
                </a:ext>
              </a:extLst>
            </p:cNvPr>
            <p:cNvSpPr/>
            <p:nvPr/>
          </p:nvSpPr>
          <p:spPr>
            <a:xfrm>
              <a:off x="4051005" y="3317358"/>
              <a:ext cx="861237" cy="1616149"/>
            </a:xfrm>
            <a:prstGeom prst="ellipse">
              <a:avLst/>
            </a:prstGeom>
            <a:noFill/>
            <a:ln w="254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9EBF0F6B-9D3C-BA51-2294-813E4E18DF43}"/>
                </a:ext>
              </a:extLst>
            </p:cNvPr>
            <p:cNvCxnSpPr/>
            <p:nvPr/>
          </p:nvCxnSpPr>
          <p:spPr>
            <a:xfrm>
              <a:off x="4444409" y="4072270"/>
              <a:ext cx="0" cy="8187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FCA351C-1306-1D52-7B4F-465CDC588C66}"/>
                </a:ext>
              </a:extLst>
            </p:cNvPr>
            <p:cNvSpPr txBox="1"/>
            <p:nvPr/>
          </p:nvSpPr>
          <p:spPr>
            <a:xfrm>
              <a:off x="4391246" y="4221126"/>
              <a:ext cx="606056" cy="400110"/>
            </a:xfrm>
            <a:prstGeom prst="rect">
              <a:avLst/>
            </a:prstGeom>
            <a:noFill/>
          </p:spPr>
          <p:txBody>
            <a:bodyPr wrap="square" rtlCol="0">
              <a:spAutoFit/>
            </a:bodyPr>
            <a:lstStyle/>
            <a:p>
              <a:r>
                <a:rPr lang="en-US" sz="2000" i="1" dirty="0">
                  <a:latin typeface="Times" pitchFamily="2" charset="0"/>
                </a:rPr>
                <a:t>r</a:t>
              </a:r>
            </a:p>
          </p:txBody>
        </p:sp>
        <p:cxnSp>
          <p:nvCxnSpPr>
            <p:cNvPr id="23" name="Straight Arrow Connector 22">
              <a:extLst>
                <a:ext uri="{FF2B5EF4-FFF2-40B4-BE49-F238E27FC236}">
                  <a16:creationId xmlns:a16="http://schemas.microsoft.com/office/drawing/2014/main" id="{985B94E3-2B4E-9A6D-48C9-232F049F5A1C}"/>
                </a:ext>
              </a:extLst>
            </p:cNvPr>
            <p:cNvCxnSpPr>
              <a:stCxn id="17" idx="4"/>
            </p:cNvCxnSpPr>
            <p:nvPr/>
          </p:nvCxnSpPr>
          <p:spPr>
            <a:xfrm>
              <a:off x="4481624" y="4933507"/>
              <a:ext cx="792125" cy="85060"/>
            </a:xfrm>
            <a:prstGeom prst="straightConnector1">
              <a:avLst/>
            </a:prstGeom>
            <a:ln w="31750">
              <a:solidFill>
                <a:srgbClr val="0F4FB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7D39524-CECB-EF25-0B31-507AC0F31871}"/>
                </a:ext>
              </a:extLst>
            </p:cNvPr>
            <p:cNvSpPr txBox="1"/>
            <p:nvPr/>
          </p:nvSpPr>
          <p:spPr>
            <a:xfrm>
              <a:off x="5061098" y="5018568"/>
              <a:ext cx="552893" cy="400110"/>
            </a:xfrm>
            <a:prstGeom prst="rect">
              <a:avLst/>
            </a:prstGeom>
            <a:noFill/>
          </p:spPr>
          <p:txBody>
            <a:bodyPr wrap="square" rtlCol="0">
              <a:spAutoFit/>
            </a:bodyPr>
            <a:lstStyle/>
            <a:p>
              <a:r>
                <a:rPr lang="en-US" sz="2000" i="1" dirty="0">
                  <a:solidFill>
                    <a:srgbClr val="2326C0"/>
                  </a:solidFill>
                  <a:latin typeface="Times" pitchFamily="2" charset="0"/>
                </a:rPr>
                <a:t>F</a:t>
              </a:r>
            </a:p>
          </p:txBody>
        </p:sp>
      </p:grpSp>
      <p:sp>
        <p:nvSpPr>
          <p:cNvPr id="26" name="TextBox 25">
            <a:extLst>
              <a:ext uri="{FF2B5EF4-FFF2-40B4-BE49-F238E27FC236}">
                <a16:creationId xmlns:a16="http://schemas.microsoft.com/office/drawing/2014/main" id="{557F6ED1-B134-0622-7A84-5FABE9DC2DE0}"/>
              </a:ext>
            </a:extLst>
          </p:cNvPr>
          <p:cNvSpPr txBox="1"/>
          <p:nvPr/>
        </p:nvSpPr>
        <p:spPr>
          <a:xfrm>
            <a:off x="3425193" y="2987241"/>
            <a:ext cx="8058190" cy="461665"/>
          </a:xfrm>
          <a:prstGeom prst="rect">
            <a:avLst/>
          </a:prstGeom>
          <a:noFill/>
        </p:spPr>
        <p:txBody>
          <a:bodyPr wrap="square">
            <a:spAutoFit/>
          </a:bodyPr>
          <a:lstStyle/>
          <a:p>
            <a:pPr algn="just"/>
            <a:r>
              <a:rPr lang="en-US" sz="2400" dirty="0">
                <a:latin typeface="Times" pitchFamily="2" charset="0"/>
              </a:rPr>
              <a:t>The average power can be determined from Equation 6.10a: </a:t>
            </a:r>
          </a:p>
        </p:txBody>
      </p:sp>
      <p:grpSp>
        <p:nvGrpSpPr>
          <p:cNvPr id="50" name="Group 49">
            <a:extLst>
              <a:ext uri="{FF2B5EF4-FFF2-40B4-BE49-F238E27FC236}">
                <a16:creationId xmlns:a16="http://schemas.microsoft.com/office/drawing/2014/main" id="{1B5F74C9-C16F-F4C7-EA2D-212310037A9C}"/>
              </a:ext>
            </a:extLst>
          </p:cNvPr>
          <p:cNvGrpSpPr/>
          <p:nvPr/>
        </p:nvGrpSpPr>
        <p:grpSpPr>
          <a:xfrm>
            <a:off x="294277" y="3625241"/>
            <a:ext cx="8302354" cy="819807"/>
            <a:chOff x="4310062" y="3452648"/>
            <a:chExt cx="8302354" cy="819807"/>
          </a:xfrm>
        </p:grpSpPr>
        <p:pic>
          <p:nvPicPr>
            <p:cNvPr id="32" name="Picture 31">
              <a:extLst>
                <a:ext uri="{FF2B5EF4-FFF2-40B4-BE49-F238E27FC236}">
                  <a16:creationId xmlns:a16="http://schemas.microsoft.com/office/drawing/2014/main" id="{DAA6CB63-0DAC-6A68-2223-4EA1C4B02C2C}"/>
                </a:ext>
              </a:extLst>
            </p:cNvPr>
            <p:cNvPicPr>
              <a:picLocks noChangeAspect="1"/>
            </p:cNvPicPr>
            <p:nvPr/>
          </p:nvPicPr>
          <p:blipFill>
            <a:blip r:embed="rId4"/>
            <a:srcRect r="73537" b="-9943"/>
            <a:stretch/>
          </p:blipFill>
          <p:spPr>
            <a:xfrm>
              <a:off x="4310062" y="3506152"/>
              <a:ext cx="545717" cy="734772"/>
            </a:xfrm>
            <a:prstGeom prst="rect">
              <a:avLst/>
            </a:prstGeom>
          </p:spPr>
        </p:pic>
        <p:sp>
          <p:nvSpPr>
            <p:cNvPr id="49" name="Rounded Rectangle 48">
              <a:extLst>
                <a:ext uri="{FF2B5EF4-FFF2-40B4-BE49-F238E27FC236}">
                  <a16:creationId xmlns:a16="http://schemas.microsoft.com/office/drawing/2014/main" id="{3D11E800-E4B0-E857-CB5B-DA0BAF4A1BCD}"/>
                </a:ext>
              </a:extLst>
            </p:cNvPr>
            <p:cNvSpPr/>
            <p:nvPr/>
          </p:nvSpPr>
          <p:spPr>
            <a:xfrm>
              <a:off x="4950371" y="3452648"/>
              <a:ext cx="7662045" cy="8198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1" name="Picture 50">
            <a:extLst>
              <a:ext uri="{FF2B5EF4-FFF2-40B4-BE49-F238E27FC236}">
                <a16:creationId xmlns:a16="http://schemas.microsoft.com/office/drawing/2014/main" id="{75482286-3158-BB9C-FB42-0AD5A307901D}"/>
              </a:ext>
            </a:extLst>
          </p:cNvPr>
          <p:cNvPicPr>
            <a:picLocks noChangeAspect="1"/>
          </p:cNvPicPr>
          <p:nvPr/>
        </p:nvPicPr>
        <p:blipFill>
          <a:blip r:embed="rId5"/>
          <a:stretch>
            <a:fillRect/>
          </a:stretch>
        </p:blipFill>
        <p:spPr>
          <a:xfrm>
            <a:off x="1035093" y="3721862"/>
            <a:ext cx="309398" cy="636476"/>
          </a:xfrm>
          <a:prstGeom prst="rect">
            <a:avLst/>
          </a:prstGeom>
        </p:spPr>
      </p:pic>
      <p:pic>
        <p:nvPicPr>
          <p:cNvPr id="52" name="Picture 51">
            <a:extLst>
              <a:ext uri="{FF2B5EF4-FFF2-40B4-BE49-F238E27FC236}">
                <a16:creationId xmlns:a16="http://schemas.microsoft.com/office/drawing/2014/main" id="{CAADB2E4-25E7-0DC4-ABBB-9C99FC8BB147}"/>
              </a:ext>
            </a:extLst>
          </p:cNvPr>
          <p:cNvPicPr>
            <a:picLocks noChangeAspect="1"/>
          </p:cNvPicPr>
          <p:nvPr/>
        </p:nvPicPr>
        <p:blipFill>
          <a:blip r:embed="rId6"/>
          <a:stretch>
            <a:fillRect/>
          </a:stretch>
        </p:blipFill>
        <p:spPr>
          <a:xfrm>
            <a:off x="1418496" y="3704068"/>
            <a:ext cx="1711439" cy="657553"/>
          </a:xfrm>
          <a:prstGeom prst="rect">
            <a:avLst/>
          </a:prstGeom>
        </p:spPr>
      </p:pic>
      <p:sp>
        <p:nvSpPr>
          <p:cNvPr id="53" name="TextBox 52">
            <a:extLst>
              <a:ext uri="{FF2B5EF4-FFF2-40B4-BE49-F238E27FC236}">
                <a16:creationId xmlns:a16="http://schemas.microsoft.com/office/drawing/2014/main" id="{37DD65D0-B7C5-4033-BAC0-A5D522D99DDB}"/>
              </a:ext>
            </a:extLst>
          </p:cNvPr>
          <p:cNvSpPr txBox="1"/>
          <p:nvPr/>
        </p:nvSpPr>
        <p:spPr>
          <a:xfrm>
            <a:off x="8818106" y="3441031"/>
            <a:ext cx="3277642" cy="1200329"/>
          </a:xfrm>
          <a:prstGeom prst="rect">
            <a:avLst/>
          </a:prstGeom>
          <a:noFill/>
        </p:spPr>
        <p:txBody>
          <a:bodyPr wrap="square">
            <a:spAutoFit/>
          </a:bodyPr>
          <a:lstStyle/>
          <a:p>
            <a:pPr algn="just"/>
            <a:r>
              <a:rPr lang="en-US" sz="2400" dirty="0">
                <a:latin typeface="Times" pitchFamily="2" charset="0"/>
              </a:rPr>
              <a:t>Since the force is always applied parallel to the motion, </a:t>
            </a:r>
            <a:r>
              <a:rPr lang="en-US" sz="2400" i="1" dirty="0">
                <a:latin typeface="Symbol" pitchFamily="2" charset="2"/>
              </a:rPr>
              <a:t>q</a:t>
            </a:r>
            <a:r>
              <a:rPr lang="en-US" sz="2400" dirty="0">
                <a:latin typeface="Times" pitchFamily="2" charset="0"/>
              </a:rPr>
              <a:t> = 0</a:t>
            </a:r>
            <a:r>
              <a:rPr lang="en-US" sz="2400" baseline="30000" dirty="0">
                <a:latin typeface="Times" pitchFamily="2" charset="0"/>
              </a:rPr>
              <a:t>o</a:t>
            </a:r>
            <a:r>
              <a:rPr lang="en-US" sz="2400" dirty="0">
                <a:latin typeface="Times" pitchFamily="2" charset="0"/>
              </a:rPr>
              <a:t>.</a:t>
            </a:r>
          </a:p>
        </p:txBody>
      </p:sp>
      <p:grpSp>
        <p:nvGrpSpPr>
          <p:cNvPr id="57" name="Group 56">
            <a:extLst>
              <a:ext uri="{FF2B5EF4-FFF2-40B4-BE49-F238E27FC236}">
                <a16:creationId xmlns:a16="http://schemas.microsoft.com/office/drawing/2014/main" id="{C70A300E-5C91-B91D-4826-10876E4F33EA}"/>
              </a:ext>
            </a:extLst>
          </p:cNvPr>
          <p:cNvGrpSpPr/>
          <p:nvPr/>
        </p:nvGrpSpPr>
        <p:grpSpPr>
          <a:xfrm>
            <a:off x="2117003" y="3147387"/>
            <a:ext cx="1166647" cy="919288"/>
            <a:chOff x="6180084" y="3195512"/>
            <a:chExt cx="1166647" cy="919288"/>
          </a:xfrm>
        </p:grpSpPr>
        <p:cxnSp>
          <p:nvCxnSpPr>
            <p:cNvPr id="55" name="Straight Arrow Connector 54">
              <a:extLst>
                <a:ext uri="{FF2B5EF4-FFF2-40B4-BE49-F238E27FC236}">
                  <a16:creationId xmlns:a16="http://schemas.microsoft.com/office/drawing/2014/main" id="{0C4064B8-F285-939F-49EE-52662BC98840}"/>
                </a:ext>
              </a:extLst>
            </p:cNvPr>
            <p:cNvCxnSpPr/>
            <p:nvPr/>
          </p:nvCxnSpPr>
          <p:spPr>
            <a:xfrm flipV="1">
              <a:off x="6180084" y="3531476"/>
              <a:ext cx="488731" cy="5833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506B763-A6D4-3547-C1CC-F2AE7859A6A6}"/>
                </a:ext>
              </a:extLst>
            </p:cNvPr>
            <p:cNvSpPr txBox="1"/>
            <p:nvPr/>
          </p:nvSpPr>
          <p:spPr>
            <a:xfrm>
              <a:off x="6603741" y="3195512"/>
              <a:ext cx="742990" cy="461665"/>
            </a:xfrm>
            <a:prstGeom prst="rect">
              <a:avLst/>
            </a:prstGeom>
            <a:noFill/>
          </p:spPr>
          <p:txBody>
            <a:bodyPr wrap="square">
              <a:spAutoFit/>
            </a:bodyPr>
            <a:lstStyle/>
            <a:p>
              <a:pPr algn="just"/>
              <a:r>
                <a:rPr lang="en-US" sz="2400" dirty="0">
                  <a:solidFill>
                    <a:srgbClr val="FF0000"/>
                  </a:solidFill>
                  <a:latin typeface="Times" pitchFamily="2" charset="0"/>
                </a:rPr>
                <a:t>1</a:t>
              </a:r>
            </a:p>
          </p:txBody>
        </p:sp>
      </p:grpSp>
      <p:sp>
        <p:nvSpPr>
          <p:cNvPr id="58" name="TextBox 57">
            <a:extLst>
              <a:ext uri="{FF2B5EF4-FFF2-40B4-BE49-F238E27FC236}">
                <a16:creationId xmlns:a16="http://schemas.microsoft.com/office/drawing/2014/main" id="{39C6B544-DBC6-37CA-214F-D07ABB5B61AD}"/>
              </a:ext>
            </a:extLst>
          </p:cNvPr>
          <p:cNvSpPr txBox="1"/>
          <p:nvPr/>
        </p:nvSpPr>
        <p:spPr>
          <a:xfrm>
            <a:off x="201835" y="4670003"/>
            <a:ext cx="11669323" cy="461665"/>
          </a:xfrm>
          <a:prstGeom prst="rect">
            <a:avLst/>
          </a:prstGeom>
          <a:noFill/>
        </p:spPr>
        <p:txBody>
          <a:bodyPr wrap="square">
            <a:spAutoFit/>
          </a:bodyPr>
          <a:lstStyle/>
          <a:p>
            <a:pPr algn="just"/>
            <a:r>
              <a:rPr lang="en-US" sz="2400" dirty="0">
                <a:latin typeface="Times" pitchFamily="2" charset="0"/>
              </a:rPr>
              <a:t>The distance </a:t>
            </a:r>
            <a:r>
              <a:rPr lang="en-US" sz="2400" i="1" dirty="0">
                <a:latin typeface="Times" pitchFamily="2" charset="0"/>
              </a:rPr>
              <a:t>s</a:t>
            </a:r>
            <a:r>
              <a:rPr lang="en-US" sz="2400" dirty="0">
                <a:latin typeface="Times" pitchFamily="2" charset="0"/>
              </a:rPr>
              <a:t>, for one revolution, is just the circumference.</a:t>
            </a:r>
          </a:p>
        </p:txBody>
      </p:sp>
      <p:pic>
        <p:nvPicPr>
          <p:cNvPr id="59" name="Picture 58">
            <a:extLst>
              <a:ext uri="{FF2B5EF4-FFF2-40B4-BE49-F238E27FC236}">
                <a16:creationId xmlns:a16="http://schemas.microsoft.com/office/drawing/2014/main" id="{85F0A3A5-5F29-7BC6-3013-8F42029CE885}"/>
              </a:ext>
            </a:extLst>
          </p:cNvPr>
          <p:cNvPicPr>
            <a:picLocks noChangeAspect="1"/>
          </p:cNvPicPr>
          <p:nvPr/>
        </p:nvPicPr>
        <p:blipFill>
          <a:blip r:embed="rId7"/>
          <a:stretch>
            <a:fillRect/>
          </a:stretch>
        </p:blipFill>
        <p:spPr>
          <a:xfrm>
            <a:off x="3221661" y="3719833"/>
            <a:ext cx="1167983" cy="651203"/>
          </a:xfrm>
          <a:prstGeom prst="rect">
            <a:avLst/>
          </a:prstGeom>
        </p:spPr>
      </p:pic>
      <p:pic>
        <p:nvPicPr>
          <p:cNvPr id="60" name="Picture 59">
            <a:extLst>
              <a:ext uri="{FF2B5EF4-FFF2-40B4-BE49-F238E27FC236}">
                <a16:creationId xmlns:a16="http://schemas.microsoft.com/office/drawing/2014/main" id="{ED43BCAB-4907-D601-79C0-165F2864E1F0}"/>
              </a:ext>
            </a:extLst>
          </p:cNvPr>
          <p:cNvPicPr>
            <a:picLocks noChangeAspect="1"/>
          </p:cNvPicPr>
          <p:nvPr/>
        </p:nvPicPr>
        <p:blipFill>
          <a:blip r:embed="rId8"/>
          <a:stretch>
            <a:fillRect/>
          </a:stretch>
        </p:blipFill>
        <p:spPr>
          <a:xfrm>
            <a:off x="4468692" y="3718964"/>
            <a:ext cx="2630214" cy="635469"/>
          </a:xfrm>
          <a:prstGeom prst="rect">
            <a:avLst/>
          </a:prstGeom>
        </p:spPr>
      </p:pic>
      <p:pic>
        <p:nvPicPr>
          <p:cNvPr id="61" name="Picture 60">
            <a:extLst>
              <a:ext uri="{FF2B5EF4-FFF2-40B4-BE49-F238E27FC236}">
                <a16:creationId xmlns:a16="http://schemas.microsoft.com/office/drawing/2014/main" id="{07893ECE-9534-2699-3AF5-07CEB5C3DFF4}"/>
              </a:ext>
            </a:extLst>
          </p:cNvPr>
          <p:cNvPicPr>
            <a:picLocks noChangeAspect="1"/>
          </p:cNvPicPr>
          <p:nvPr/>
        </p:nvPicPr>
        <p:blipFill>
          <a:blip r:embed="rId9"/>
          <a:stretch>
            <a:fillRect/>
          </a:stretch>
        </p:blipFill>
        <p:spPr>
          <a:xfrm>
            <a:off x="7241481" y="3913736"/>
            <a:ext cx="945933" cy="220817"/>
          </a:xfrm>
          <a:prstGeom prst="rect">
            <a:avLst/>
          </a:prstGeom>
        </p:spPr>
      </p:pic>
      <p:sp>
        <p:nvSpPr>
          <p:cNvPr id="62" name="Rectangle 61">
            <a:extLst>
              <a:ext uri="{FF2B5EF4-FFF2-40B4-BE49-F238E27FC236}">
                <a16:creationId xmlns:a16="http://schemas.microsoft.com/office/drawing/2014/main" id="{70F73E70-57B0-7766-1698-C8549657D60A}"/>
              </a:ext>
            </a:extLst>
          </p:cNvPr>
          <p:cNvSpPr/>
          <p:nvPr/>
        </p:nvSpPr>
        <p:spPr>
          <a:xfrm>
            <a:off x="7472482" y="3828136"/>
            <a:ext cx="775252" cy="3843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3AB01868-6D0F-B2D7-D3CF-6E66D8BEBFC4}"/>
              </a:ext>
            </a:extLst>
          </p:cNvPr>
          <p:cNvSpPr txBox="1"/>
          <p:nvPr/>
        </p:nvSpPr>
        <p:spPr>
          <a:xfrm>
            <a:off x="145688" y="5223455"/>
            <a:ext cx="11669323" cy="461665"/>
          </a:xfrm>
          <a:prstGeom prst="rect">
            <a:avLst/>
          </a:prstGeom>
          <a:noFill/>
        </p:spPr>
        <p:txBody>
          <a:bodyPr wrap="square">
            <a:spAutoFit/>
          </a:bodyPr>
          <a:lstStyle/>
          <a:p>
            <a:pPr algn="just"/>
            <a:r>
              <a:rPr lang="en-US" sz="2400" i="1" dirty="0">
                <a:latin typeface="Times" pitchFamily="2" charset="0"/>
              </a:rPr>
              <a:t>*</a:t>
            </a:r>
            <a:r>
              <a:rPr lang="en-US" sz="2400" dirty="0">
                <a:latin typeface="Times" pitchFamily="2" charset="0"/>
              </a:rPr>
              <a:t>Note:  We just showed the average power can be written as:</a:t>
            </a:r>
          </a:p>
        </p:txBody>
      </p:sp>
      <p:pic>
        <p:nvPicPr>
          <p:cNvPr id="9216" name="Picture 9215">
            <a:extLst>
              <a:ext uri="{FF2B5EF4-FFF2-40B4-BE49-F238E27FC236}">
                <a16:creationId xmlns:a16="http://schemas.microsoft.com/office/drawing/2014/main" id="{8F10D2EB-9E40-14CF-87B1-203E5C9D406F}"/>
              </a:ext>
            </a:extLst>
          </p:cNvPr>
          <p:cNvPicPr>
            <a:picLocks noChangeAspect="1"/>
          </p:cNvPicPr>
          <p:nvPr/>
        </p:nvPicPr>
        <p:blipFill>
          <a:blip r:embed="rId10"/>
          <a:stretch>
            <a:fillRect/>
          </a:stretch>
        </p:blipFill>
        <p:spPr>
          <a:xfrm>
            <a:off x="7821822" y="5069305"/>
            <a:ext cx="2294787" cy="792285"/>
          </a:xfrm>
          <a:prstGeom prst="rect">
            <a:avLst/>
          </a:prstGeom>
        </p:spPr>
      </p:pic>
      <p:pic>
        <p:nvPicPr>
          <p:cNvPr id="9217" name="Picture 9216">
            <a:extLst>
              <a:ext uri="{FF2B5EF4-FFF2-40B4-BE49-F238E27FC236}">
                <a16:creationId xmlns:a16="http://schemas.microsoft.com/office/drawing/2014/main" id="{B3E864D0-6EC0-0FB9-E15F-44BD1A9E7A2E}"/>
              </a:ext>
            </a:extLst>
          </p:cNvPr>
          <p:cNvPicPr>
            <a:picLocks noChangeAspect="1"/>
          </p:cNvPicPr>
          <p:nvPr/>
        </p:nvPicPr>
        <p:blipFill>
          <a:blip r:embed="rId11"/>
          <a:stretch>
            <a:fillRect/>
          </a:stretch>
        </p:blipFill>
        <p:spPr>
          <a:xfrm>
            <a:off x="10202778" y="5324123"/>
            <a:ext cx="657727" cy="222515"/>
          </a:xfrm>
          <a:prstGeom prst="rect">
            <a:avLst/>
          </a:prstGeom>
        </p:spPr>
      </p:pic>
      <p:sp>
        <p:nvSpPr>
          <p:cNvPr id="9219" name="TextBox 9218">
            <a:extLst>
              <a:ext uri="{FF2B5EF4-FFF2-40B4-BE49-F238E27FC236}">
                <a16:creationId xmlns:a16="http://schemas.microsoft.com/office/drawing/2014/main" id="{A90E3FA0-845E-0418-292F-6E02D0F0B685}"/>
              </a:ext>
            </a:extLst>
          </p:cNvPr>
          <p:cNvSpPr txBox="1"/>
          <p:nvPr/>
        </p:nvSpPr>
        <p:spPr>
          <a:xfrm>
            <a:off x="128337" y="5921287"/>
            <a:ext cx="11669323" cy="461665"/>
          </a:xfrm>
          <a:prstGeom prst="rect">
            <a:avLst/>
          </a:prstGeom>
          <a:noFill/>
        </p:spPr>
        <p:txBody>
          <a:bodyPr wrap="square">
            <a:spAutoFit/>
          </a:bodyPr>
          <a:lstStyle/>
          <a:p>
            <a:pPr algn="just"/>
            <a:r>
              <a:rPr lang="en-US" sz="2400" dirty="0">
                <a:latin typeface="Times" pitchFamily="2" charset="0"/>
              </a:rPr>
              <a:t>This provides another way to calculate the average power by a constant force:</a:t>
            </a:r>
          </a:p>
        </p:txBody>
      </p:sp>
      <p:pic>
        <p:nvPicPr>
          <p:cNvPr id="9221" name="Picture 9220">
            <a:extLst>
              <a:ext uri="{FF2B5EF4-FFF2-40B4-BE49-F238E27FC236}">
                <a16:creationId xmlns:a16="http://schemas.microsoft.com/office/drawing/2014/main" id="{C5713897-FA4C-C566-4FD0-3C5C85C3F23D}"/>
              </a:ext>
            </a:extLst>
          </p:cNvPr>
          <p:cNvPicPr>
            <a:picLocks noChangeAspect="1"/>
          </p:cNvPicPr>
          <p:nvPr/>
        </p:nvPicPr>
        <p:blipFill>
          <a:blip r:embed="rId12"/>
          <a:stretch>
            <a:fillRect/>
          </a:stretch>
        </p:blipFill>
        <p:spPr>
          <a:xfrm>
            <a:off x="10287190" y="5951621"/>
            <a:ext cx="960999" cy="272716"/>
          </a:xfrm>
          <a:prstGeom prst="rect">
            <a:avLst/>
          </a:prstGeom>
        </p:spPr>
      </p:pic>
    </p:spTree>
    <p:extLst>
      <p:ext uri="{BB962C8B-B14F-4D97-AF65-F5344CB8AC3E}">
        <p14:creationId xmlns:p14="http://schemas.microsoft.com/office/powerpoint/2010/main" val="420952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dissolv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dissolve">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dissolve">
                                      <p:cBhvr>
                                        <p:cTn id="27" dur="500"/>
                                        <p:tgtEl>
                                          <p:spTgt spid="53"/>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dissolve">
                                      <p:cBhvr>
                                        <p:cTn id="31" dur="500"/>
                                        <p:tgtEl>
                                          <p:spTgt spid="5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dissolve">
                                      <p:cBhvr>
                                        <p:cTn id="36" dur="500"/>
                                        <p:tgtEl>
                                          <p:spTgt spid="5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dissolve">
                                      <p:cBhvr>
                                        <p:cTn id="41" dur="500"/>
                                        <p:tgtEl>
                                          <p:spTgt spid="59"/>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dissolve">
                                      <p:cBhvr>
                                        <p:cTn id="46" dur="500"/>
                                        <p:tgtEl>
                                          <p:spTgt spid="6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61"/>
                                        </p:tgtEl>
                                        <p:attrNameLst>
                                          <p:attrName>style.visibility</p:attrName>
                                        </p:attrNameLst>
                                      </p:cBhvr>
                                      <p:to>
                                        <p:strVal val="visible"/>
                                      </p:to>
                                    </p:set>
                                    <p:animEffect transition="in" filter="dissolve">
                                      <p:cBhvr>
                                        <p:cTn id="51" dur="500"/>
                                        <p:tgtEl>
                                          <p:spTgt spid="61"/>
                                        </p:tgtEl>
                                      </p:cBhvr>
                                    </p:animEffect>
                                  </p:childTnLst>
                                </p:cTn>
                              </p:par>
                            </p:childTnLst>
                          </p:cTn>
                        </p:par>
                        <p:par>
                          <p:cTn id="52" fill="hold">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dissolve">
                                      <p:cBhvr>
                                        <p:cTn id="55" dur="500"/>
                                        <p:tgtEl>
                                          <p:spTgt spid="6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63"/>
                                        </p:tgtEl>
                                        <p:attrNameLst>
                                          <p:attrName>style.visibility</p:attrName>
                                        </p:attrNameLst>
                                      </p:cBhvr>
                                      <p:to>
                                        <p:strVal val="visible"/>
                                      </p:to>
                                    </p:set>
                                    <p:animEffect transition="in" filter="dissolve">
                                      <p:cBhvr>
                                        <p:cTn id="60" dur="500"/>
                                        <p:tgtEl>
                                          <p:spTgt spid="63"/>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9216"/>
                                        </p:tgtEl>
                                        <p:attrNameLst>
                                          <p:attrName>style.visibility</p:attrName>
                                        </p:attrNameLst>
                                      </p:cBhvr>
                                      <p:to>
                                        <p:strVal val="visible"/>
                                      </p:to>
                                    </p:set>
                                    <p:animEffect transition="in" filter="dissolve">
                                      <p:cBhvr>
                                        <p:cTn id="65" dur="500"/>
                                        <p:tgtEl>
                                          <p:spTgt spid="9216"/>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217"/>
                                        </p:tgtEl>
                                        <p:attrNameLst>
                                          <p:attrName>style.visibility</p:attrName>
                                        </p:attrNameLst>
                                      </p:cBhvr>
                                      <p:to>
                                        <p:strVal val="visible"/>
                                      </p:to>
                                    </p:set>
                                    <p:animEffect transition="in" filter="dissolve">
                                      <p:cBhvr>
                                        <p:cTn id="70" dur="500"/>
                                        <p:tgtEl>
                                          <p:spTgt spid="9217"/>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9219"/>
                                        </p:tgtEl>
                                        <p:attrNameLst>
                                          <p:attrName>style.visibility</p:attrName>
                                        </p:attrNameLst>
                                      </p:cBhvr>
                                      <p:to>
                                        <p:strVal val="visible"/>
                                      </p:to>
                                    </p:set>
                                    <p:animEffect transition="in" filter="dissolve">
                                      <p:cBhvr>
                                        <p:cTn id="75" dur="500"/>
                                        <p:tgtEl>
                                          <p:spTgt spid="9219"/>
                                        </p:tgtEl>
                                      </p:cBhvr>
                                    </p:animEffect>
                                  </p:childTnLst>
                                </p:cTn>
                              </p:par>
                            </p:childTnLst>
                          </p:cTn>
                        </p:par>
                        <p:par>
                          <p:cTn id="76" fill="hold">
                            <p:stCondLst>
                              <p:cond delay="500"/>
                            </p:stCondLst>
                            <p:childTnLst>
                              <p:par>
                                <p:cTn id="77" presetID="9" presetClass="entr" presetSubtype="0" fill="hold" nodeType="afterEffect">
                                  <p:stCondLst>
                                    <p:cond delay="0"/>
                                  </p:stCondLst>
                                  <p:childTnLst>
                                    <p:set>
                                      <p:cBhvr>
                                        <p:cTn id="78" dur="1" fill="hold">
                                          <p:stCondLst>
                                            <p:cond delay="0"/>
                                          </p:stCondLst>
                                        </p:cTn>
                                        <p:tgtEl>
                                          <p:spTgt spid="9221"/>
                                        </p:tgtEl>
                                        <p:attrNameLst>
                                          <p:attrName>style.visibility</p:attrName>
                                        </p:attrNameLst>
                                      </p:cBhvr>
                                      <p:to>
                                        <p:strVal val="visible"/>
                                      </p:to>
                                    </p:set>
                                    <p:animEffect transition="in" filter="dissolve">
                                      <p:cBhvr>
                                        <p:cTn id="79" dur="500"/>
                                        <p:tgtEl>
                                          <p:spTgt spid="9221"/>
                                        </p:tgtEl>
                                      </p:cBhvr>
                                    </p:animEffect>
                                  </p:childTnLst>
                                </p:cTn>
                              </p:par>
                            </p:childTnLst>
                          </p:cTn>
                        </p:par>
                        <p:par>
                          <p:cTn id="80" fill="hold">
                            <p:stCondLst>
                              <p:cond delay="1000"/>
                            </p:stCondLst>
                            <p:childTnLst>
                              <p:par>
                                <p:cTn id="81" presetID="9" presetClass="entr" presetSubtype="0" fill="hold" grpId="0" nodeType="afterEffect">
                                  <p:stCondLst>
                                    <p:cond delay="0"/>
                                  </p:stCondLst>
                                  <p:childTnLst>
                                    <p:set>
                                      <p:cBhvr>
                                        <p:cTn id="82" dur="1" fill="hold">
                                          <p:stCondLst>
                                            <p:cond delay="0"/>
                                          </p:stCondLst>
                                        </p:cTn>
                                        <p:tgtEl>
                                          <p:spTgt spid="9222"/>
                                        </p:tgtEl>
                                        <p:attrNameLst>
                                          <p:attrName>style.visibility</p:attrName>
                                        </p:attrNameLst>
                                      </p:cBhvr>
                                      <p:to>
                                        <p:strVal val="visible"/>
                                      </p:to>
                                    </p:set>
                                    <p:animEffect transition="in" filter="dissolve">
                                      <p:cBhvr>
                                        <p:cTn id="83"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nimBg="1"/>
      <p:bldP spid="26" grpId="0"/>
      <p:bldP spid="53" grpId="0"/>
      <p:bldP spid="58" grpId="0"/>
      <p:bldP spid="62" grpId="0" animBg="1"/>
      <p:bldP spid="63" grpId="0"/>
      <p:bldP spid="921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EB3E-D7C3-DA5B-D099-2427CC756A07}"/>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89749B89-6DD8-D2DD-4697-7F575857C943}"/>
              </a:ext>
            </a:extLst>
          </p:cNvPr>
          <p:cNvSpPr/>
          <p:nvPr/>
        </p:nvSpPr>
        <p:spPr>
          <a:xfrm>
            <a:off x="0" y="668888"/>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76DD3D-3365-6CED-4C4C-238F876ED240}"/>
              </a:ext>
            </a:extLst>
          </p:cNvPr>
          <p:cNvSpPr>
            <a:spLocks noGrp="1"/>
          </p:cNvSpPr>
          <p:nvPr>
            <p:ph type="title"/>
          </p:nvPr>
        </p:nvSpPr>
        <p:spPr>
          <a:xfrm>
            <a:off x="685805" y="123370"/>
            <a:ext cx="11506195" cy="849312"/>
          </a:xfrm>
        </p:spPr>
        <p:txBody>
          <a:bodyPr>
            <a:normAutofit fontScale="90000"/>
          </a:bodyPr>
          <a:lstStyle/>
          <a:p>
            <a:r>
              <a:rPr lang="en-US" b="1" dirty="0">
                <a:ea typeface="Calibri" charset="0"/>
                <a:cs typeface="Calibri" charset="0"/>
              </a:rPr>
              <a:t>6.8 </a:t>
            </a:r>
            <a:r>
              <a:rPr lang="en-US" dirty="0">
                <a:ea typeface="Calibri" charset="0"/>
                <a:cs typeface="Calibri" charset="0"/>
              </a:rPr>
              <a:t>Other Forms of Energy and the Conservation of Energy</a:t>
            </a:r>
            <a:endParaRPr lang="en-US" sz="3000" dirty="0"/>
          </a:p>
        </p:txBody>
      </p:sp>
      <p:sp>
        <p:nvSpPr>
          <p:cNvPr id="5" name="Content Placeholder 2">
            <a:extLst>
              <a:ext uri="{FF2B5EF4-FFF2-40B4-BE49-F238E27FC236}">
                <a16:creationId xmlns:a16="http://schemas.microsoft.com/office/drawing/2014/main" id="{B20E4B31-E300-52D2-B7FA-6795B1157334}"/>
              </a:ext>
            </a:extLst>
          </p:cNvPr>
          <p:cNvSpPr txBox="1">
            <a:spLocks/>
          </p:cNvSpPr>
          <p:nvPr/>
        </p:nvSpPr>
        <p:spPr>
          <a:xfrm>
            <a:off x="959715" y="749327"/>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6.8 </a:t>
            </a:r>
            <a:r>
              <a:rPr lang="en-US" dirty="0"/>
              <a:t>– Employ the law of conservation of energy.</a:t>
            </a:r>
          </a:p>
        </p:txBody>
      </p:sp>
      <p:sp>
        <p:nvSpPr>
          <p:cNvPr id="10" name="TextBox 9">
            <a:extLst>
              <a:ext uri="{FF2B5EF4-FFF2-40B4-BE49-F238E27FC236}">
                <a16:creationId xmlns:a16="http://schemas.microsoft.com/office/drawing/2014/main" id="{D0685E4D-D139-BEB6-360C-6819AAF1D63D}"/>
              </a:ext>
            </a:extLst>
          </p:cNvPr>
          <p:cNvSpPr txBox="1"/>
          <p:nvPr/>
        </p:nvSpPr>
        <p:spPr>
          <a:xfrm>
            <a:off x="320842" y="1205989"/>
            <a:ext cx="11678653" cy="1200329"/>
          </a:xfrm>
          <a:prstGeom prst="rect">
            <a:avLst/>
          </a:prstGeom>
          <a:noFill/>
        </p:spPr>
        <p:txBody>
          <a:bodyPr wrap="square" rtlCol="0">
            <a:spAutoFit/>
          </a:bodyPr>
          <a:lstStyle/>
          <a:p>
            <a:r>
              <a:rPr lang="en-US" sz="2400" dirty="0">
                <a:latin typeface="Times" pitchFamily="2" charset="0"/>
              </a:rPr>
              <a:t>So far, we have studied </a:t>
            </a:r>
            <a:r>
              <a:rPr lang="en-US" sz="2400" dirty="0">
                <a:solidFill>
                  <a:srgbClr val="007440"/>
                </a:solidFill>
                <a:latin typeface="Times" pitchFamily="2" charset="0"/>
              </a:rPr>
              <a:t>kinetic energy </a:t>
            </a:r>
            <a:r>
              <a:rPr lang="en-US" sz="2400" dirty="0">
                <a:latin typeface="Times" pitchFamily="2" charset="0"/>
              </a:rPr>
              <a:t>and </a:t>
            </a:r>
            <a:r>
              <a:rPr lang="en-US" sz="2400" dirty="0">
                <a:solidFill>
                  <a:srgbClr val="007440"/>
                </a:solidFill>
                <a:latin typeface="Times" pitchFamily="2" charset="0"/>
              </a:rPr>
              <a:t>gravitational potential energy</a:t>
            </a:r>
            <a:r>
              <a:rPr lang="en-US" sz="2400" dirty="0">
                <a:latin typeface="Times" pitchFamily="2" charset="0"/>
              </a:rPr>
              <a:t>, but many other forms of energy exist.</a:t>
            </a:r>
          </a:p>
          <a:p>
            <a:endParaRPr lang="en-US" sz="2400" dirty="0">
              <a:latin typeface="Times" pitchFamily="2" charset="0"/>
            </a:endParaRPr>
          </a:p>
        </p:txBody>
      </p:sp>
      <p:sp>
        <p:nvSpPr>
          <p:cNvPr id="14" name="TextBox 13">
            <a:extLst>
              <a:ext uri="{FF2B5EF4-FFF2-40B4-BE49-F238E27FC236}">
                <a16:creationId xmlns:a16="http://schemas.microsoft.com/office/drawing/2014/main" id="{290231FE-89FA-5CF6-0C1F-EA5E32FADE48}"/>
              </a:ext>
            </a:extLst>
          </p:cNvPr>
          <p:cNvSpPr txBox="1"/>
          <p:nvPr/>
        </p:nvSpPr>
        <p:spPr>
          <a:xfrm>
            <a:off x="304801" y="2062824"/>
            <a:ext cx="11919284" cy="830997"/>
          </a:xfrm>
          <a:prstGeom prst="rect">
            <a:avLst/>
          </a:prstGeom>
          <a:noFill/>
        </p:spPr>
        <p:txBody>
          <a:bodyPr wrap="square" rtlCol="0">
            <a:spAutoFit/>
          </a:bodyPr>
          <a:lstStyle/>
          <a:p>
            <a:r>
              <a:rPr lang="en-US" sz="2400" dirty="0">
                <a:solidFill>
                  <a:srgbClr val="007440"/>
                </a:solidFill>
                <a:latin typeface="Times" pitchFamily="2" charset="0"/>
              </a:rPr>
              <a:t>Thermal (heat) energy, chemical energy, electrical energy </a:t>
            </a:r>
            <a:r>
              <a:rPr lang="en-US" sz="2400" dirty="0">
                <a:latin typeface="Times" pitchFamily="2" charset="0"/>
              </a:rPr>
              <a:t>are other forms that we will study.</a:t>
            </a:r>
          </a:p>
          <a:p>
            <a:endParaRPr lang="en-US" sz="2400" dirty="0">
              <a:latin typeface="Times" pitchFamily="2" charset="0"/>
            </a:endParaRPr>
          </a:p>
        </p:txBody>
      </p:sp>
      <p:grpSp>
        <p:nvGrpSpPr>
          <p:cNvPr id="18" name="Group 17">
            <a:extLst>
              <a:ext uri="{FF2B5EF4-FFF2-40B4-BE49-F238E27FC236}">
                <a16:creationId xmlns:a16="http://schemas.microsoft.com/office/drawing/2014/main" id="{F9DEA069-7CFE-248F-E415-1F273CF02A52}"/>
              </a:ext>
            </a:extLst>
          </p:cNvPr>
          <p:cNvGrpSpPr/>
          <p:nvPr/>
        </p:nvGrpSpPr>
        <p:grpSpPr>
          <a:xfrm>
            <a:off x="449179" y="2518617"/>
            <a:ext cx="11774906" cy="1619201"/>
            <a:chOff x="577515" y="3529263"/>
            <a:chExt cx="11774906" cy="1619201"/>
          </a:xfrm>
        </p:grpSpPr>
        <p:sp>
          <p:nvSpPr>
            <p:cNvPr id="15" name="TextBox 14">
              <a:extLst>
                <a:ext uri="{FF2B5EF4-FFF2-40B4-BE49-F238E27FC236}">
                  <a16:creationId xmlns:a16="http://schemas.microsoft.com/office/drawing/2014/main" id="{F8305F28-D870-125C-253D-DC89278CAD1D}"/>
                </a:ext>
              </a:extLst>
            </p:cNvPr>
            <p:cNvSpPr txBox="1"/>
            <p:nvPr/>
          </p:nvSpPr>
          <p:spPr>
            <a:xfrm>
              <a:off x="577515" y="3578804"/>
              <a:ext cx="11774906" cy="1569660"/>
            </a:xfrm>
            <a:prstGeom prst="rect">
              <a:avLst/>
            </a:prstGeom>
            <a:noFill/>
          </p:spPr>
          <p:txBody>
            <a:bodyPr wrap="square" rtlCol="0">
              <a:spAutoFit/>
            </a:bodyPr>
            <a:lstStyle/>
            <a:p>
              <a:r>
                <a:rPr lang="en-US" sz="2400" dirty="0">
                  <a:solidFill>
                    <a:srgbClr val="007440"/>
                  </a:solidFill>
                  <a:latin typeface="Times" pitchFamily="2" charset="0"/>
                </a:rPr>
                <a:t>Mass</a:t>
              </a:r>
              <a:r>
                <a:rPr lang="en-US" sz="2400" dirty="0">
                  <a:latin typeface="Times" pitchFamily="2" charset="0"/>
                </a:rPr>
                <a:t> itself is also a form of energy, as described by Einstein’s famous equation,                . Here, </a:t>
              </a:r>
              <a:r>
                <a:rPr lang="en-US" sz="2400" i="1" dirty="0">
                  <a:latin typeface="Times" pitchFamily="2" charset="0"/>
                </a:rPr>
                <a:t>c</a:t>
              </a:r>
              <a:r>
                <a:rPr lang="en-US" sz="2400" dirty="0">
                  <a:latin typeface="Times" pitchFamily="2" charset="0"/>
                </a:rPr>
                <a:t> is the speed of light, and since it is such a large number (</a:t>
              </a:r>
              <a:r>
                <a:rPr lang="en-US" sz="2400" i="1" dirty="0">
                  <a:latin typeface="Times" pitchFamily="2" charset="0"/>
                </a:rPr>
                <a:t>c</a:t>
              </a:r>
              <a:r>
                <a:rPr lang="en-US" sz="2400" dirty="0">
                  <a:latin typeface="Times" pitchFamily="2" charset="0"/>
                </a:rPr>
                <a:t> = 3.00 × 10</a:t>
              </a:r>
              <a:r>
                <a:rPr lang="en-US" sz="2400" baseline="30000" dirty="0">
                  <a:latin typeface="Times" pitchFamily="2" charset="0"/>
                </a:rPr>
                <a:t>8</a:t>
              </a:r>
              <a:r>
                <a:rPr lang="en-US" sz="2400" dirty="0">
                  <a:latin typeface="Times" pitchFamily="2" charset="0"/>
                </a:rPr>
                <a:t> m/s), a small amount of mass is equivalent to a tremendous amount of energy.</a:t>
              </a:r>
            </a:p>
            <a:p>
              <a:endParaRPr lang="en-US" sz="2400" dirty="0">
                <a:latin typeface="Times" pitchFamily="2" charset="0"/>
              </a:endParaRPr>
            </a:p>
          </p:txBody>
        </p:sp>
        <p:sp>
          <p:nvSpPr>
            <p:cNvPr id="16" name="Rounded Rectangle 15">
              <a:extLst>
                <a:ext uri="{FF2B5EF4-FFF2-40B4-BE49-F238E27FC236}">
                  <a16:creationId xmlns:a16="http://schemas.microsoft.com/office/drawing/2014/main" id="{58F0180D-D532-97B1-C969-468ABABF729C}"/>
                </a:ext>
              </a:extLst>
            </p:cNvPr>
            <p:cNvSpPr/>
            <p:nvPr/>
          </p:nvSpPr>
          <p:spPr>
            <a:xfrm>
              <a:off x="10459454" y="3529263"/>
              <a:ext cx="1138989" cy="4812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A4D5775A-84EC-70E0-D94A-9F487984E45E}"/>
              </a:ext>
            </a:extLst>
          </p:cNvPr>
          <p:cNvSpPr txBox="1"/>
          <p:nvPr/>
        </p:nvSpPr>
        <p:spPr>
          <a:xfrm>
            <a:off x="10363201" y="2566742"/>
            <a:ext cx="1491916" cy="461665"/>
          </a:xfrm>
          <a:prstGeom prst="rect">
            <a:avLst/>
          </a:prstGeom>
          <a:noFill/>
        </p:spPr>
        <p:txBody>
          <a:bodyPr wrap="square" rtlCol="0">
            <a:spAutoFit/>
          </a:bodyPr>
          <a:lstStyle/>
          <a:p>
            <a:r>
              <a:rPr lang="en-US" sz="2400" i="1" dirty="0">
                <a:latin typeface="Times" pitchFamily="2" charset="0"/>
              </a:rPr>
              <a:t>E</a:t>
            </a:r>
            <a:r>
              <a:rPr lang="en-US" sz="2400" dirty="0">
                <a:latin typeface="Times" pitchFamily="2" charset="0"/>
              </a:rPr>
              <a:t> = </a:t>
            </a:r>
            <a:r>
              <a:rPr lang="en-US" sz="2400" i="1" dirty="0">
                <a:latin typeface="Times" pitchFamily="2" charset="0"/>
              </a:rPr>
              <a:t>mc</a:t>
            </a:r>
            <a:r>
              <a:rPr lang="en-US" sz="2400" baseline="30000" dirty="0">
                <a:latin typeface="Times" pitchFamily="2" charset="0"/>
              </a:rPr>
              <a:t>2</a:t>
            </a:r>
          </a:p>
        </p:txBody>
      </p:sp>
      <p:sp>
        <p:nvSpPr>
          <p:cNvPr id="20" name="TextBox 19">
            <a:extLst>
              <a:ext uri="{FF2B5EF4-FFF2-40B4-BE49-F238E27FC236}">
                <a16:creationId xmlns:a16="http://schemas.microsoft.com/office/drawing/2014/main" id="{B1D8C5B3-49D1-B887-C785-E71BB3C67E6C}"/>
              </a:ext>
            </a:extLst>
          </p:cNvPr>
          <p:cNvSpPr txBox="1"/>
          <p:nvPr/>
        </p:nvSpPr>
        <p:spPr>
          <a:xfrm>
            <a:off x="128337" y="3733345"/>
            <a:ext cx="11967411" cy="830997"/>
          </a:xfrm>
          <a:prstGeom prst="rect">
            <a:avLst/>
          </a:prstGeom>
          <a:noFill/>
        </p:spPr>
        <p:txBody>
          <a:bodyPr wrap="square">
            <a:spAutoFit/>
          </a:bodyPr>
          <a:lstStyle/>
          <a:p>
            <a:pPr algn="just"/>
            <a:r>
              <a:rPr lang="en-US" sz="2400" dirty="0">
                <a:latin typeface="Times" pitchFamily="2" charset="0"/>
              </a:rPr>
              <a:t>We have shown that </a:t>
            </a:r>
            <a:r>
              <a:rPr lang="en-US" sz="2400" dirty="0">
                <a:solidFill>
                  <a:srgbClr val="007440"/>
                </a:solidFill>
                <a:latin typeface="Times" pitchFamily="2" charset="0"/>
              </a:rPr>
              <a:t>kinetic energy </a:t>
            </a:r>
            <a:r>
              <a:rPr lang="en-US" sz="2400" dirty="0">
                <a:latin typeface="Times" pitchFamily="2" charset="0"/>
              </a:rPr>
              <a:t>can be converted into </a:t>
            </a:r>
            <a:r>
              <a:rPr lang="en-US" sz="2400" dirty="0">
                <a:solidFill>
                  <a:srgbClr val="007440"/>
                </a:solidFill>
                <a:latin typeface="Times" pitchFamily="2" charset="0"/>
              </a:rPr>
              <a:t>gravitational potential energy </a:t>
            </a:r>
            <a:r>
              <a:rPr lang="en-US" sz="2400" dirty="0">
                <a:latin typeface="Times" pitchFamily="2" charset="0"/>
              </a:rPr>
              <a:t>and vice versa. </a:t>
            </a:r>
            <a:r>
              <a:rPr lang="en-US" sz="2400" b="1" dirty="0">
                <a:latin typeface="Times" pitchFamily="2" charset="0"/>
              </a:rPr>
              <a:t>However, in general, energy of all types can be converted from one form to another.</a:t>
            </a:r>
          </a:p>
        </p:txBody>
      </p:sp>
      <p:sp>
        <p:nvSpPr>
          <p:cNvPr id="23" name="TextBox 22">
            <a:extLst>
              <a:ext uri="{FF2B5EF4-FFF2-40B4-BE49-F238E27FC236}">
                <a16:creationId xmlns:a16="http://schemas.microsoft.com/office/drawing/2014/main" id="{A60BD1CB-2331-1A15-04CD-BAED17F0AD68}"/>
              </a:ext>
            </a:extLst>
          </p:cNvPr>
          <p:cNvSpPr txBox="1"/>
          <p:nvPr/>
        </p:nvSpPr>
        <p:spPr>
          <a:xfrm>
            <a:off x="176465" y="4611381"/>
            <a:ext cx="11919283" cy="830997"/>
          </a:xfrm>
          <a:prstGeom prst="rect">
            <a:avLst/>
          </a:prstGeom>
          <a:noFill/>
        </p:spPr>
        <p:txBody>
          <a:bodyPr wrap="square">
            <a:spAutoFit/>
          </a:bodyPr>
          <a:lstStyle/>
          <a:p>
            <a:pPr algn="just"/>
            <a:r>
              <a:rPr lang="en-US" sz="2400" dirty="0">
                <a:latin typeface="Times" pitchFamily="2" charset="0"/>
              </a:rPr>
              <a:t>*Whenever energy is transformed from one form to another, it is found that no energy is gained or lost in the process. This observation leads to the following important principle:</a:t>
            </a:r>
          </a:p>
        </p:txBody>
      </p:sp>
      <p:sp>
        <p:nvSpPr>
          <p:cNvPr id="25" name="TextBox 24">
            <a:extLst>
              <a:ext uri="{FF2B5EF4-FFF2-40B4-BE49-F238E27FC236}">
                <a16:creationId xmlns:a16="http://schemas.microsoft.com/office/drawing/2014/main" id="{166E534C-D573-FA9B-44A0-3DD225D64615}"/>
              </a:ext>
            </a:extLst>
          </p:cNvPr>
          <p:cNvSpPr txBox="1"/>
          <p:nvPr/>
        </p:nvSpPr>
        <p:spPr>
          <a:xfrm>
            <a:off x="128338" y="5562144"/>
            <a:ext cx="12609094" cy="830997"/>
          </a:xfrm>
          <a:prstGeom prst="rect">
            <a:avLst/>
          </a:prstGeom>
          <a:noFill/>
        </p:spPr>
        <p:txBody>
          <a:bodyPr wrap="square">
            <a:spAutoFit/>
          </a:bodyPr>
          <a:lstStyle/>
          <a:p>
            <a:r>
              <a:rPr lang="en-US" sz="2400" dirty="0">
                <a:solidFill>
                  <a:srgbClr val="C00000"/>
                </a:solidFill>
                <a:latin typeface="Times" pitchFamily="2" charset="0"/>
              </a:rPr>
              <a:t>THE PRINCIPLE OF CONSERVATION OF ENERGY</a:t>
            </a:r>
          </a:p>
          <a:p>
            <a:r>
              <a:rPr lang="en-US" sz="2400" dirty="0">
                <a:latin typeface="Times" pitchFamily="2" charset="0"/>
              </a:rPr>
              <a:t>Energy can neither be created nor destroyed, but can only be converted from one form to another.</a:t>
            </a:r>
          </a:p>
        </p:txBody>
      </p:sp>
      <p:sp>
        <p:nvSpPr>
          <p:cNvPr id="26" name="Rectangle 25">
            <a:extLst>
              <a:ext uri="{FF2B5EF4-FFF2-40B4-BE49-F238E27FC236}">
                <a16:creationId xmlns:a16="http://schemas.microsoft.com/office/drawing/2014/main" id="{911E304F-DFF7-3654-E42C-D750DDB16E0B}"/>
              </a:ext>
            </a:extLst>
          </p:cNvPr>
          <p:cNvSpPr/>
          <p:nvPr/>
        </p:nvSpPr>
        <p:spPr>
          <a:xfrm>
            <a:off x="176463" y="5534526"/>
            <a:ext cx="11935326" cy="85023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212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dissolv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dissolve">
                                      <p:cBhvr>
                                        <p:cTn id="32" dur="500"/>
                                        <p:tgtEl>
                                          <p:spTgt spid="25"/>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dissolve">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0" grpId="0"/>
      <p:bldP spid="23" grpId="0"/>
      <p:bldP spid="25" grpId="0"/>
      <p:bldP spid="2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F82C1-44D2-46AC-10D5-D487EE8D9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CC23-6019-D4C3-6F17-B4F5B2A414D2}"/>
              </a:ext>
            </a:extLst>
          </p:cNvPr>
          <p:cNvSpPr>
            <a:spLocks noGrp="1"/>
          </p:cNvSpPr>
          <p:nvPr>
            <p:ph type="title"/>
          </p:nvPr>
        </p:nvSpPr>
        <p:spPr>
          <a:xfrm>
            <a:off x="685805" y="123370"/>
            <a:ext cx="11506195" cy="849312"/>
          </a:xfrm>
        </p:spPr>
        <p:txBody>
          <a:bodyPr>
            <a:normAutofit fontScale="90000"/>
          </a:bodyPr>
          <a:lstStyle/>
          <a:p>
            <a:r>
              <a:rPr lang="en-US" b="1" dirty="0">
                <a:ea typeface="Calibri" charset="0"/>
                <a:cs typeface="Calibri" charset="0"/>
              </a:rPr>
              <a:t>6.8 </a:t>
            </a:r>
            <a:r>
              <a:rPr lang="en-US" dirty="0">
                <a:ea typeface="Calibri" charset="0"/>
                <a:cs typeface="Calibri" charset="0"/>
              </a:rPr>
              <a:t>Other Forms of Energy and the Conservation of Energy</a:t>
            </a:r>
            <a:endParaRPr lang="en-US" sz="3000" dirty="0"/>
          </a:p>
        </p:txBody>
      </p:sp>
      <p:sp>
        <p:nvSpPr>
          <p:cNvPr id="4" name="TextBox 3">
            <a:extLst>
              <a:ext uri="{FF2B5EF4-FFF2-40B4-BE49-F238E27FC236}">
                <a16:creationId xmlns:a16="http://schemas.microsoft.com/office/drawing/2014/main" id="{8620C4AB-94EE-F38B-6989-17DD1FDDE172}"/>
              </a:ext>
            </a:extLst>
          </p:cNvPr>
          <p:cNvSpPr txBox="1"/>
          <p:nvPr/>
        </p:nvSpPr>
        <p:spPr>
          <a:xfrm>
            <a:off x="850232" y="1104036"/>
            <a:ext cx="10892589" cy="1938992"/>
          </a:xfrm>
          <a:prstGeom prst="rect">
            <a:avLst/>
          </a:prstGeom>
          <a:noFill/>
        </p:spPr>
        <p:txBody>
          <a:bodyPr wrap="square">
            <a:spAutoFit/>
          </a:bodyPr>
          <a:lstStyle/>
          <a:p>
            <a:pPr algn="just"/>
            <a:r>
              <a:rPr lang="en-US" sz="2400" dirty="0">
                <a:latin typeface="Times" pitchFamily="2" charset="0"/>
              </a:rPr>
              <a:t>Part of the chemical energy stored in food, for example, is transformed into gravitational potential energy when a hiker climbs a mountain. Suppose a 65-kg hiker eats a 250-Calorie snack (a typical candy bar, for example), which contains 1.0 × 10</a:t>
            </a:r>
            <a:r>
              <a:rPr lang="en-US" sz="2400" baseline="30000" dirty="0">
                <a:latin typeface="Times" pitchFamily="2" charset="0"/>
              </a:rPr>
              <a:t>6</a:t>
            </a:r>
            <a:r>
              <a:rPr lang="en-US" sz="2400" dirty="0">
                <a:latin typeface="Times" pitchFamily="2" charset="0"/>
              </a:rPr>
              <a:t> J of chemical energy. If this were 100% converted into potential energy </a:t>
            </a:r>
            <a:r>
              <a:rPr lang="en-US" sz="2400" i="1" dirty="0">
                <a:latin typeface="Times" pitchFamily="2" charset="0"/>
              </a:rPr>
              <a:t>mg</a:t>
            </a:r>
            <a:r>
              <a:rPr lang="en-US" sz="2400" dirty="0">
                <a:latin typeface="Times" pitchFamily="2" charset="0"/>
              </a:rPr>
              <a:t>(</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 – </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 what would be the change in the hiker’s height?</a:t>
            </a:r>
          </a:p>
        </p:txBody>
      </p:sp>
      <p:sp>
        <p:nvSpPr>
          <p:cNvPr id="6" name="TextBox 5">
            <a:extLst>
              <a:ext uri="{FF2B5EF4-FFF2-40B4-BE49-F238E27FC236}">
                <a16:creationId xmlns:a16="http://schemas.microsoft.com/office/drawing/2014/main" id="{6AE508D9-6C05-AC5E-0F8A-CE18CC239BE8}"/>
              </a:ext>
            </a:extLst>
          </p:cNvPr>
          <p:cNvSpPr txBox="1"/>
          <p:nvPr/>
        </p:nvSpPr>
        <p:spPr>
          <a:xfrm>
            <a:off x="852768" y="634740"/>
            <a:ext cx="11611948" cy="523220"/>
          </a:xfrm>
          <a:prstGeom prst="rect">
            <a:avLst/>
          </a:prstGeom>
          <a:noFill/>
        </p:spPr>
        <p:txBody>
          <a:bodyPr wrap="square">
            <a:spAutoFit/>
          </a:bodyPr>
          <a:lstStyle/>
          <a:p>
            <a:pPr algn="just"/>
            <a:r>
              <a:rPr lang="en-US" sz="2800" dirty="0">
                <a:solidFill>
                  <a:srgbClr val="C00000"/>
                </a:solidFill>
                <a:latin typeface="Times" pitchFamily="2" charset="0"/>
              </a:rPr>
              <a:t>Example – Transforming Chemical Energy In Food Into Mechanical Energy</a:t>
            </a:r>
          </a:p>
        </p:txBody>
      </p:sp>
      <p:sp>
        <p:nvSpPr>
          <p:cNvPr id="7" name="Rounded Rectangle 6">
            <a:extLst>
              <a:ext uri="{FF2B5EF4-FFF2-40B4-BE49-F238E27FC236}">
                <a16:creationId xmlns:a16="http://schemas.microsoft.com/office/drawing/2014/main" id="{8E324CE9-CAF2-BD06-7A21-07E54F58EAC8}"/>
              </a:ext>
            </a:extLst>
          </p:cNvPr>
          <p:cNvSpPr/>
          <p:nvPr/>
        </p:nvSpPr>
        <p:spPr>
          <a:xfrm>
            <a:off x="2310063" y="3048003"/>
            <a:ext cx="7636042" cy="5775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56B49FF-FD43-C400-1F54-918239236DB1}"/>
              </a:ext>
            </a:extLst>
          </p:cNvPr>
          <p:cNvSpPr txBox="1"/>
          <p:nvPr/>
        </p:nvSpPr>
        <p:spPr>
          <a:xfrm>
            <a:off x="2326106" y="3144256"/>
            <a:ext cx="7812505" cy="400110"/>
          </a:xfrm>
          <a:prstGeom prst="rect">
            <a:avLst/>
          </a:prstGeom>
          <a:noFill/>
        </p:spPr>
        <p:txBody>
          <a:bodyPr wrap="square" rtlCol="0">
            <a:spAutoFit/>
          </a:bodyPr>
          <a:lstStyle/>
          <a:p>
            <a:r>
              <a:rPr lang="en-US" sz="2000" dirty="0">
                <a:solidFill>
                  <a:srgbClr val="007440"/>
                </a:solidFill>
                <a:latin typeface="Chalkduster" panose="03050602040202020205" pitchFamily="66" charset="77"/>
              </a:rPr>
              <a:t>Chemical Energy = Gravitational Potential Energy</a:t>
            </a:r>
          </a:p>
        </p:txBody>
      </p:sp>
      <p:sp>
        <p:nvSpPr>
          <p:cNvPr id="9" name="Rounded Rectangle 8">
            <a:extLst>
              <a:ext uri="{FF2B5EF4-FFF2-40B4-BE49-F238E27FC236}">
                <a16:creationId xmlns:a16="http://schemas.microsoft.com/office/drawing/2014/main" id="{8BEAC0B4-4B06-E05C-9AAB-6758C31B9C47}"/>
              </a:ext>
            </a:extLst>
          </p:cNvPr>
          <p:cNvSpPr/>
          <p:nvPr/>
        </p:nvSpPr>
        <p:spPr>
          <a:xfrm>
            <a:off x="753979" y="3818022"/>
            <a:ext cx="11197389" cy="11229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73AF191-5053-06EE-F9F9-2E890FDC1E1D}"/>
              </a:ext>
            </a:extLst>
          </p:cNvPr>
          <p:cNvSpPr txBox="1"/>
          <p:nvPr/>
        </p:nvSpPr>
        <p:spPr>
          <a:xfrm>
            <a:off x="741948" y="4170766"/>
            <a:ext cx="3701715" cy="461665"/>
          </a:xfrm>
          <a:prstGeom prst="rect">
            <a:avLst/>
          </a:prstGeom>
          <a:noFill/>
        </p:spPr>
        <p:txBody>
          <a:bodyPr wrap="square">
            <a:spAutoFit/>
          </a:bodyPr>
          <a:lstStyle/>
          <a:p>
            <a:r>
              <a:rPr lang="en-US" sz="2400" dirty="0">
                <a:latin typeface="Times" pitchFamily="2" charset="0"/>
              </a:rPr>
              <a:t>1.0 × 10</a:t>
            </a:r>
            <a:r>
              <a:rPr lang="en-US" sz="2400" baseline="30000" dirty="0">
                <a:latin typeface="Times" pitchFamily="2" charset="0"/>
              </a:rPr>
              <a:t>6</a:t>
            </a:r>
            <a:r>
              <a:rPr lang="en-US" sz="2400" dirty="0">
                <a:latin typeface="Times" pitchFamily="2" charset="0"/>
              </a:rPr>
              <a:t> J = </a:t>
            </a:r>
            <a:r>
              <a:rPr lang="en-US" sz="2400" i="1" dirty="0">
                <a:latin typeface="Times" pitchFamily="2" charset="0"/>
              </a:rPr>
              <a:t>mg</a:t>
            </a:r>
            <a:r>
              <a:rPr lang="en-US" sz="2400" dirty="0">
                <a:latin typeface="Times" pitchFamily="2" charset="0"/>
              </a:rPr>
              <a:t>(</a:t>
            </a:r>
            <a:r>
              <a:rPr lang="en-US" sz="2400" i="1" dirty="0">
                <a:latin typeface="Times" pitchFamily="2" charset="0"/>
              </a:rPr>
              <a:t>h</a:t>
            </a:r>
            <a:r>
              <a:rPr lang="en-US" sz="2400" baseline="-25000" dirty="0">
                <a:latin typeface="Times" pitchFamily="2" charset="0"/>
              </a:rPr>
              <a:t>f</a:t>
            </a:r>
            <a:r>
              <a:rPr lang="en-US" sz="2400" dirty="0">
                <a:latin typeface="Times" pitchFamily="2" charset="0"/>
              </a:rPr>
              <a:t> – </a:t>
            </a:r>
            <a:r>
              <a:rPr lang="en-US" sz="2400" i="1" dirty="0">
                <a:latin typeface="Times" pitchFamily="2" charset="0"/>
              </a:rPr>
              <a:t>h</a:t>
            </a:r>
            <a:r>
              <a:rPr lang="en-US" sz="2400" baseline="-25000" dirty="0">
                <a:latin typeface="Times" pitchFamily="2" charset="0"/>
              </a:rPr>
              <a:t>0</a:t>
            </a:r>
            <a:r>
              <a:rPr lang="en-US" sz="2400" dirty="0">
                <a:latin typeface="Times" pitchFamily="2" charset="0"/>
              </a:rPr>
              <a:t>)</a:t>
            </a:r>
            <a:endParaRPr lang="en-US" sz="2400" dirty="0"/>
          </a:p>
        </p:txBody>
      </p:sp>
      <p:pic>
        <p:nvPicPr>
          <p:cNvPr id="13" name="Picture 12">
            <a:extLst>
              <a:ext uri="{FF2B5EF4-FFF2-40B4-BE49-F238E27FC236}">
                <a16:creationId xmlns:a16="http://schemas.microsoft.com/office/drawing/2014/main" id="{B8E1F3CB-1228-AC58-3B02-009307ABBDB4}"/>
              </a:ext>
            </a:extLst>
          </p:cNvPr>
          <p:cNvPicPr>
            <a:picLocks noChangeAspect="1"/>
          </p:cNvPicPr>
          <p:nvPr/>
        </p:nvPicPr>
        <p:blipFill>
          <a:blip r:embed="rId3"/>
          <a:stretch>
            <a:fillRect/>
          </a:stretch>
        </p:blipFill>
        <p:spPr>
          <a:xfrm>
            <a:off x="3974432" y="4034038"/>
            <a:ext cx="3212432" cy="743110"/>
          </a:xfrm>
          <a:prstGeom prst="rect">
            <a:avLst/>
          </a:prstGeom>
        </p:spPr>
      </p:pic>
      <p:pic>
        <p:nvPicPr>
          <p:cNvPr id="19" name="Picture 18">
            <a:extLst>
              <a:ext uri="{FF2B5EF4-FFF2-40B4-BE49-F238E27FC236}">
                <a16:creationId xmlns:a16="http://schemas.microsoft.com/office/drawing/2014/main" id="{AE91322B-817F-10C0-13D5-8C0363EC28CA}"/>
              </a:ext>
            </a:extLst>
          </p:cNvPr>
          <p:cNvPicPr>
            <a:picLocks noChangeAspect="1"/>
          </p:cNvPicPr>
          <p:nvPr/>
        </p:nvPicPr>
        <p:blipFill>
          <a:blip r:embed="rId4"/>
          <a:stretch>
            <a:fillRect/>
          </a:stretch>
        </p:blipFill>
        <p:spPr>
          <a:xfrm>
            <a:off x="7315898" y="4042611"/>
            <a:ext cx="2547729" cy="771023"/>
          </a:xfrm>
          <a:prstGeom prst="rect">
            <a:avLst/>
          </a:prstGeom>
        </p:spPr>
      </p:pic>
      <p:pic>
        <p:nvPicPr>
          <p:cNvPr id="21" name="Picture 20">
            <a:extLst>
              <a:ext uri="{FF2B5EF4-FFF2-40B4-BE49-F238E27FC236}">
                <a16:creationId xmlns:a16="http://schemas.microsoft.com/office/drawing/2014/main" id="{82834926-A681-5EC2-14BA-23D61628D675}"/>
              </a:ext>
            </a:extLst>
          </p:cNvPr>
          <p:cNvPicPr>
            <a:picLocks noChangeAspect="1"/>
          </p:cNvPicPr>
          <p:nvPr/>
        </p:nvPicPr>
        <p:blipFill>
          <a:blip r:embed="rId5"/>
          <a:stretch>
            <a:fillRect/>
          </a:stretch>
        </p:blipFill>
        <p:spPr>
          <a:xfrm>
            <a:off x="10058400" y="4254615"/>
            <a:ext cx="1342858" cy="234835"/>
          </a:xfrm>
          <a:prstGeom prst="rect">
            <a:avLst/>
          </a:prstGeom>
        </p:spPr>
      </p:pic>
      <p:sp>
        <p:nvSpPr>
          <p:cNvPr id="22" name="Rectangle 21">
            <a:extLst>
              <a:ext uri="{FF2B5EF4-FFF2-40B4-BE49-F238E27FC236}">
                <a16:creationId xmlns:a16="http://schemas.microsoft.com/office/drawing/2014/main" id="{20094B64-2261-8AC2-F79F-2E98153D0B76}"/>
              </a:ext>
            </a:extLst>
          </p:cNvPr>
          <p:cNvSpPr/>
          <p:nvPr/>
        </p:nvSpPr>
        <p:spPr>
          <a:xfrm>
            <a:off x="10331116" y="4138864"/>
            <a:ext cx="1187116" cy="4652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5335EDC-4458-F211-BD9E-D97E706B8927}"/>
              </a:ext>
            </a:extLst>
          </p:cNvPr>
          <p:cNvSpPr txBox="1"/>
          <p:nvPr/>
        </p:nvSpPr>
        <p:spPr>
          <a:xfrm>
            <a:off x="617622" y="5411341"/>
            <a:ext cx="11349789" cy="707886"/>
          </a:xfrm>
          <a:prstGeom prst="rect">
            <a:avLst/>
          </a:prstGeom>
          <a:noFill/>
        </p:spPr>
        <p:txBody>
          <a:bodyPr wrap="square">
            <a:spAutoFit/>
          </a:bodyPr>
          <a:lstStyle/>
          <a:p>
            <a:pPr algn="just"/>
            <a:r>
              <a:rPr lang="en-US" sz="2000" dirty="0">
                <a:latin typeface="Times" pitchFamily="2" charset="0"/>
              </a:rPr>
              <a:t>*Although actual metabolic efficiency (converting chemical energy into mechanical work) is around 25-30% (with the rest released as heat), there is a tremendous amount of stored energy in food.</a:t>
            </a:r>
          </a:p>
        </p:txBody>
      </p:sp>
    </p:spTree>
    <p:extLst>
      <p:ext uri="{BB962C8B-B14F-4D97-AF65-F5344CB8AC3E}">
        <p14:creationId xmlns:p14="http://schemas.microsoft.com/office/powerpoint/2010/main" val="396308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dissolv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par>
                          <p:cTn id="36" fill="hold">
                            <p:stCondLst>
                              <p:cond delay="1000"/>
                            </p:stCondLst>
                            <p:childTnLst>
                              <p:par>
                                <p:cTn id="37" presetID="9" presetClass="entr" presetSubtype="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dissolve">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2" grpId="0"/>
      <p:bldP spid="22" grpId="0" animBg="1"/>
      <p:bldP spid="2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1D866-19AF-C4F1-4115-A1CA9649E25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F8F0791-686A-5D96-6BE0-A280DB146F7F}"/>
              </a:ext>
            </a:extLst>
          </p:cNvPr>
          <p:cNvPicPr>
            <a:picLocks noChangeAspect="1"/>
          </p:cNvPicPr>
          <p:nvPr/>
        </p:nvPicPr>
        <p:blipFill>
          <a:blip r:embed="rId3"/>
          <a:srcRect l="55779" b="5842"/>
          <a:stretch/>
        </p:blipFill>
        <p:spPr>
          <a:xfrm>
            <a:off x="8021051" y="1389986"/>
            <a:ext cx="3753854" cy="4283182"/>
          </a:xfrm>
          <a:prstGeom prst="rect">
            <a:avLst/>
          </a:prstGeom>
        </p:spPr>
      </p:pic>
      <p:sp>
        <p:nvSpPr>
          <p:cNvPr id="49" name="Rectangle 48">
            <a:extLst>
              <a:ext uri="{FF2B5EF4-FFF2-40B4-BE49-F238E27FC236}">
                <a16:creationId xmlns:a16="http://schemas.microsoft.com/office/drawing/2014/main" id="{47BAFB51-AF64-7E0B-7012-FDB0AC1E3690}"/>
              </a:ext>
            </a:extLst>
          </p:cNvPr>
          <p:cNvSpPr/>
          <p:nvPr/>
        </p:nvSpPr>
        <p:spPr>
          <a:xfrm>
            <a:off x="0" y="797224"/>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FA013-5FBA-C58A-6025-EC64DFE1526C}"/>
              </a:ext>
            </a:extLst>
          </p:cNvPr>
          <p:cNvSpPr>
            <a:spLocks noGrp="1"/>
          </p:cNvSpPr>
          <p:nvPr>
            <p:ph type="title"/>
          </p:nvPr>
        </p:nvSpPr>
        <p:spPr>
          <a:xfrm>
            <a:off x="685805" y="123370"/>
            <a:ext cx="11506195" cy="849312"/>
          </a:xfrm>
        </p:spPr>
        <p:txBody>
          <a:bodyPr>
            <a:normAutofit/>
          </a:bodyPr>
          <a:lstStyle/>
          <a:p>
            <a:r>
              <a:rPr lang="en-US" b="1" dirty="0">
                <a:ea typeface="Calibri" charset="0"/>
                <a:cs typeface="Calibri" charset="0"/>
              </a:rPr>
              <a:t>6.9 </a:t>
            </a:r>
            <a:r>
              <a:rPr lang="en-US" dirty="0">
                <a:ea typeface="Calibri" charset="0"/>
                <a:cs typeface="Calibri" charset="0"/>
              </a:rPr>
              <a:t>Work Done by a Variable Force</a:t>
            </a:r>
            <a:endParaRPr lang="en-US" sz="3000" dirty="0"/>
          </a:p>
        </p:txBody>
      </p:sp>
      <p:sp>
        <p:nvSpPr>
          <p:cNvPr id="5" name="Content Placeholder 2">
            <a:extLst>
              <a:ext uri="{FF2B5EF4-FFF2-40B4-BE49-F238E27FC236}">
                <a16:creationId xmlns:a16="http://schemas.microsoft.com/office/drawing/2014/main" id="{EBF2F3B3-DCBD-A007-30A0-789075A3015F}"/>
              </a:ext>
            </a:extLst>
          </p:cNvPr>
          <p:cNvSpPr txBox="1">
            <a:spLocks/>
          </p:cNvSpPr>
          <p:nvPr/>
        </p:nvSpPr>
        <p:spPr>
          <a:xfrm>
            <a:off x="959715" y="877663"/>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6.9 </a:t>
            </a:r>
            <a:r>
              <a:rPr lang="en-US" dirty="0"/>
              <a:t>– Determine the work done by a variable force.</a:t>
            </a:r>
          </a:p>
        </p:txBody>
      </p:sp>
      <p:sp>
        <p:nvSpPr>
          <p:cNvPr id="3" name="TextBox 2">
            <a:extLst>
              <a:ext uri="{FF2B5EF4-FFF2-40B4-BE49-F238E27FC236}">
                <a16:creationId xmlns:a16="http://schemas.microsoft.com/office/drawing/2014/main" id="{CD20B87D-99B9-C7B7-50E7-D6A3091E6848}"/>
              </a:ext>
            </a:extLst>
          </p:cNvPr>
          <p:cNvSpPr txBox="1"/>
          <p:nvPr/>
        </p:nvSpPr>
        <p:spPr>
          <a:xfrm>
            <a:off x="0" y="1540043"/>
            <a:ext cx="10924674" cy="461665"/>
          </a:xfrm>
          <a:prstGeom prst="rect">
            <a:avLst/>
          </a:prstGeom>
          <a:noFill/>
        </p:spPr>
        <p:txBody>
          <a:bodyPr wrap="square" rtlCol="0">
            <a:spAutoFit/>
          </a:bodyPr>
          <a:lstStyle/>
          <a:p>
            <a:r>
              <a:rPr lang="en-US" sz="2400" dirty="0">
                <a:latin typeface="Times" pitchFamily="2" charset="0"/>
              </a:rPr>
              <a:t>Equation 6.1 gives us the work done by a constant force:  </a:t>
            </a:r>
          </a:p>
        </p:txBody>
      </p:sp>
      <p:sp>
        <p:nvSpPr>
          <p:cNvPr id="4" name="TextBox 3">
            <a:extLst>
              <a:ext uri="{FF2B5EF4-FFF2-40B4-BE49-F238E27FC236}">
                <a16:creationId xmlns:a16="http://schemas.microsoft.com/office/drawing/2014/main" id="{EF08D691-FD48-C4D9-55AC-922A40456045}"/>
              </a:ext>
            </a:extLst>
          </p:cNvPr>
          <p:cNvSpPr txBox="1"/>
          <p:nvPr/>
        </p:nvSpPr>
        <p:spPr>
          <a:xfrm>
            <a:off x="7050854" y="1563757"/>
            <a:ext cx="2438399" cy="461665"/>
          </a:xfrm>
          <a:prstGeom prst="rect">
            <a:avLst/>
          </a:prstGeom>
          <a:noFill/>
        </p:spPr>
        <p:txBody>
          <a:bodyPr wrap="square" rtlCol="0">
            <a:spAutoFit/>
          </a:bodyPr>
          <a:lstStyle/>
          <a:p>
            <a:r>
              <a:rPr lang="en-US" sz="2400" i="1" dirty="0">
                <a:latin typeface="Times" pitchFamily="2" charset="0"/>
              </a:rPr>
              <a:t>W</a:t>
            </a:r>
            <a:r>
              <a:rPr lang="en-US" sz="2400" dirty="0">
                <a:latin typeface="Times" pitchFamily="2" charset="0"/>
              </a:rPr>
              <a:t> = (</a:t>
            </a:r>
            <a:r>
              <a:rPr lang="en-US" sz="2400" i="1" dirty="0" err="1">
                <a:latin typeface="Times" pitchFamily="2" charset="0"/>
              </a:rPr>
              <a:t>F</a:t>
            </a:r>
            <a:r>
              <a:rPr lang="en-US" sz="2400" dirty="0" err="1">
                <a:latin typeface="Times" pitchFamily="2" charset="0"/>
              </a:rPr>
              <a:t>cos</a:t>
            </a:r>
            <a:r>
              <a:rPr lang="en-US" sz="2400" i="1" dirty="0" err="1">
                <a:latin typeface="Symbol" pitchFamily="2" charset="2"/>
              </a:rPr>
              <a:t>q</a:t>
            </a:r>
            <a:r>
              <a:rPr lang="en-US" sz="2400" dirty="0">
                <a:latin typeface="Times" pitchFamily="2" charset="0"/>
              </a:rPr>
              <a:t>)(</a:t>
            </a:r>
            <a:r>
              <a:rPr lang="en-US" sz="2400" i="1" dirty="0">
                <a:latin typeface="Times" pitchFamily="2" charset="0"/>
              </a:rPr>
              <a:t>s</a:t>
            </a:r>
            <a:r>
              <a:rPr lang="en-US" sz="2400" dirty="0">
                <a:latin typeface="Times" pitchFamily="2" charset="0"/>
              </a:rPr>
              <a:t>).</a:t>
            </a:r>
          </a:p>
        </p:txBody>
      </p:sp>
      <p:sp>
        <p:nvSpPr>
          <p:cNvPr id="6" name="TextBox 5">
            <a:extLst>
              <a:ext uri="{FF2B5EF4-FFF2-40B4-BE49-F238E27FC236}">
                <a16:creationId xmlns:a16="http://schemas.microsoft.com/office/drawing/2014/main" id="{A10758AD-A809-A332-7256-1952E02A5B18}"/>
              </a:ext>
            </a:extLst>
          </p:cNvPr>
          <p:cNvSpPr txBox="1"/>
          <p:nvPr/>
        </p:nvSpPr>
        <p:spPr>
          <a:xfrm>
            <a:off x="0" y="2125580"/>
            <a:ext cx="8518358" cy="830997"/>
          </a:xfrm>
          <a:prstGeom prst="rect">
            <a:avLst/>
          </a:prstGeom>
          <a:noFill/>
        </p:spPr>
        <p:txBody>
          <a:bodyPr wrap="square" rtlCol="0">
            <a:spAutoFit/>
          </a:bodyPr>
          <a:lstStyle/>
          <a:p>
            <a:r>
              <a:rPr lang="en-US" sz="2400" dirty="0">
                <a:latin typeface="Times" pitchFamily="2" charset="0"/>
              </a:rPr>
              <a:t>But what if the force is not constant, but rather it varies with displacement?</a:t>
            </a:r>
          </a:p>
        </p:txBody>
      </p:sp>
      <p:sp>
        <p:nvSpPr>
          <p:cNvPr id="7" name="TextBox 6">
            <a:extLst>
              <a:ext uri="{FF2B5EF4-FFF2-40B4-BE49-F238E27FC236}">
                <a16:creationId xmlns:a16="http://schemas.microsoft.com/office/drawing/2014/main" id="{1514CB13-24CC-3E3A-8BF2-EE5684A14E9E}"/>
              </a:ext>
            </a:extLst>
          </p:cNvPr>
          <p:cNvSpPr txBox="1"/>
          <p:nvPr/>
        </p:nvSpPr>
        <p:spPr>
          <a:xfrm>
            <a:off x="1941095" y="2502569"/>
            <a:ext cx="5470358" cy="461665"/>
          </a:xfrm>
          <a:prstGeom prst="rect">
            <a:avLst/>
          </a:prstGeom>
          <a:noFill/>
        </p:spPr>
        <p:txBody>
          <a:bodyPr wrap="square" rtlCol="0">
            <a:spAutoFit/>
          </a:bodyPr>
          <a:lstStyle/>
          <a:p>
            <a:r>
              <a:rPr lang="en-US" sz="2400" dirty="0">
                <a:latin typeface="Times" pitchFamily="2" charset="0"/>
              </a:rPr>
              <a:t>Consider a compound bow as an example:</a:t>
            </a:r>
          </a:p>
        </p:txBody>
      </p:sp>
      <p:pic>
        <p:nvPicPr>
          <p:cNvPr id="11" name="Picture 10">
            <a:extLst>
              <a:ext uri="{FF2B5EF4-FFF2-40B4-BE49-F238E27FC236}">
                <a16:creationId xmlns:a16="http://schemas.microsoft.com/office/drawing/2014/main" id="{79AC2837-876A-561E-1825-5A58B7BC9832}"/>
              </a:ext>
            </a:extLst>
          </p:cNvPr>
          <p:cNvPicPr>
            <a:picLocks noChangeAspect="1"/>
          </p:cNvPicPr>
          <p:nvPr/>
        </p:nvPicPr>
        <p:blipFill>
          <a:blip r:embed="rId3"/>
          <a:srcRect l="8441" r="55653" b="31409"/>
          <a:stretch/>
        </p:blipFill>
        <p:spPr>
          <a:xfrm>
            <a:off x="160420" y="2967789"/>
            <a:ext cx="1880550" cy="1925053"/>
          </a:xfrm>
          <a:prstGeom prst="rect">
            <a:avLst/>
          </a:prstGeom>
        </p:spPr>
      </p:pic>
      <p:sp>
        <p:nvSpPr>
          <p:cNvPr id="12" name="TextBox 11">
            <a:extLst>
              <a:ext uri="{FF2B5EF4-FFF2-40B4-BE49-F238E27FC236}">
                <a16:creationId xmlns:a16="http://schemas.microsoft.com/office/drawing/2014/main" id="{48AE1C27-6B6C-3931-D615-92561BEACBC4}"/>
              </a:ext>
            </a:extLst>
          </p:cNvPr>
          <p:cNvSpPr txBox="1"/>
          <p:nvPr/>
        </p:nvSpPr>
        <p:spPr>
          <a:xfrm>
            <a:off x="2315360" y="3318447"/>
            <a:ext cx="5470358" cy="830997"/>
          </a:xfrm>
          <a:prstGeom prst="rect">
            <a:avLst/>
          </a:prstGeom>
          <a:noFill/>
        </p:spPr>
        <p:txBody>
          <a:bodyPr wrap="square" rtlCol="0">
            <a:spAutoFit/>
          </a:bodyPr>
          <a:lstStyle/>
          <a:p>
            <a:pPr algn="just"/>
            <a:r>
              <a:rPr lang="en-US" sz="2400" dirty="0">
                <a:latin typeface="Times" pitchFamily="2" charset="0"/>
              </a:rPr>
              <a:t>The graph shows how the force to draw the string back varies with displacement.</a:t>
            </a:r>
          </a:p>
        </p:txBody>
      </p:sp>
      <p:grpSp>
        <p:nvGrpSpPr>
          <p:cNvPr id="22" name="Group 21">
            <a:extLst>
              <a:ext uri="{FF2B5EF4-FFF2-40B4-BE49-F238E27FC236}">
                <a16:creationId xmlns:a16="http://schemas.microsoft.com/office/drawing/2014/main" id="{0CF77B24-0D85-25D0-DF5C-60F924CF047D}"/>
              </a:ext>
            </a:extLst>
          </p:cNvPr>
          <p:cNvGrpSpPr/>
          <p:nvPr/>
        </p:nvGrpSpPr>
        <p:grpSpPr>
          <a:xfrm>
            <a:off x="2269201" y="4435493"/>
            <a:ext cx="5470358" cy="465220"/>
            <a:chOff x="2165684" y="3866149"/>
            <a:chExt cx="5470358" cy="465220"/>
          </a:xfrm>
        </p:grpSpPr>
        <p:sp>
          <p:nvSpPr>
            <p:cNvPr id="13" name="TextBox 12">
              <a:extLst>
                <a:ext uri="{FF2B5EF4-FFF2-40B4-BE49-F238E27FC236}">
                  <a16:creationId xmlns:a16="http://schemas.microsoft.com/office/drawing/2014/main" id="{7CBBF08D-2EB9-EA4A-9235-3DD2F5F3EA11}"/>
                </a:ext>
              </a:extLst>
            </p:cNvPr>
            <p:cNvSpPr txBox="1"/>
            <p:nvPr/>
          </p:nvSpPr>
          <p:spPr>
            <a:xfrm>
              <a:off x="2165684" y="3866149"/>
              <a:ext cx="5470358" cy="461665"/>
            </a:xfrm>
            <a:prstGeom prst="rect">
              <a:avLst/>
            </a:prstGeom>
            <a:noFill/>
          </p:spPr>
          <p:txBody>
            <a:bodyPr wrap="square" rtlCol="0">
              <a:spAutoFit/>
            </a:bodyPr>
            <a:lstStyle/>
            <a:p>
              <a:pPr algn="just"/>
              <a:r>
                <a:rPr lang="en-US" sz="2400" dirty="0">
                  <a:latin typeface="Times" pitchFamily="2" charset="0"/>
                </a:rPr>
                <a:t>Here, we can use a</a:t>
              </a:r>
            </a:p>
          </p:txBody>
        </p:sp>
        <p:sp>
          <p:nvSpPr>
            <p:cNvPr id="19" name="Rounded Rectangle 18">
              <a:extLst>
                <a:ext uri="{FF2B5EF4-FFF2-40B4-BE49-F238E27FC236}">
                  <a16:creationId xmlns:a16="http://schemas.microsoft.com/office/drawing/2014/main" id="{97FB2DE3-ED06-E935-9E04-5B04FF4D62BC}"/>
                </a:ext>
              </a:extLst>
            </p:cNvPr>
            <p:cNvSpPr/>
            <p:nvPr/>
          </p:nvSpPr>
          <p:spPr>
            <a:xfrm>
              <a:off x="4588042" y="3882190"/>
              <a:ext cx="2847807" cy="4491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TextBox 20">
            <a:extLst>
              <a:ext uri="{FF2B5EF4-FFF2-40B4-BE49-F238E27FC236}">
                <a16:creationId xmlns:a16="http://schemas.microsoft.com/office/drawing/2014/main" id="{A43D8AA0-EC20-0B44-5E2D-C323A9094113}"/>
              </a:ext>
            </a:extLst>
          </p:cNvPr>
          <p:cNvSpPr txBox="1"/>
          <p:nvPr/>
        </p:nvSpPr>
        <p:spPr>
          <a:xfrm>
            <a:off x="4747708" y="4459556"/>
            <a:ext cx="2911641"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graphical method,</a:t>
            </a:r>
          </a:p>
        </p:txBody>
      </p:sp>
      <p:sp>
        <p:nvSpPr>
          <p:cNvPr id="24" name="TextBox 23">
            <a:extLst>
              <a:ext uri="{FF2B5EF4-FFF2-40B4-BE49-F238E27FC236}">
                <a16:creationId xmlns:a16="http://schemas.microsoft.com/office/drawing/2014/main" id="{48CC28A3-FB6D-6105-D66F-197CEF464044}"/>
              </a:ext>
            </a:extLst>
          </p:cNvPr>
          <p:cNvSpPr txBox="1"/>
          <p:nvPr/>
        </p:nvSpPr>
        <p:spPr>
          <a:xfrm>
            <a:off x="2285243" y="4932798"/>
            <a:ext cx="5470358" cy="1200329"/>
          </a:xfrm>
          <a:prstGeom prst="rect">
            <a:avLst/>
          </a:prstGeom>
          <a:noFill/>
        </p:spPr>
        <p:txBody>
          <a:bodyPr wrap="square" rtlCol="0">
            <a:spAutoFit/>
          </a:bodyPr>
          <a:lstStyle/>
          <a:p>
            <a:pPr algn="just"/>
            <a:r>
              <a:rPr lang="en-US" sz="2400" dirty="0">
                <a:latin typeface="Times" pitchFamily="2" charset="0"/>
              </a:rPr>
              <a:t>where we divide the displacement into small segments and calculate the work using the </a:t>
            </a:r>
            <a:r>
              <a:rPr lang="en-US" sz="2400" i="1" dirty="0">
                <a:latin typeface="Times" pitchFamily="2" charset="0"/>
              </a:rPr>
              <a:t>average force </a:t>
            </a:r>
            <a:r>
              <a:rPr lang="en-US" sz="2400" dirty="0">
                <a:latin typeface="Times" pitchFamily="2" charset="0"/>
              </a:rPr>
              <a:t>for</a:t>
            </a:r>
            <a:r>
              <a:rPr lang="en-US" sz="2400" i="1" dirty="0">
                <a:latin typeface="Times" pitchFamily="2" charset="0"/>
              </a:rPr>
              <a:t> </a:t>
            </a:r>
            <a:r>
              <a:rPr lang="en-US" sz="2400" dirty="0">
                <a:latin typeface="Times" pitchFamily="2" charset="0"/>
              </a:rPr>
              <a:t>that segment.</a:t>
            </a:r>
          </a:p>
        </p:txBody>
      </p:sp>
    </p:spTree>
    <p:extLst>
      <p:ext uri="{BB962C8B-B14F-4D97-AF65-F5344CB8AC3E}">
        <p14:creationId xmlns:p14="http://schemas.microsoft.com/office/powerpoint/2010/main" val="177492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dissolv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grpId="1"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dissolv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dissolv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12" grpId="0"/>
      <p:bldP spid="21" grpId="0"/>
      <p:bldP spid="24"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D9677-DEAB-0214-B742-7C285A717E9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93FCC04-6DF6-34A5-958F-11BBA54782FA}"/>
              </a:ext>
            </a:extLst>
          </p:cNvPr>
          <p:cNvPicPr>
            <a:picLocks noChangeAspect="1"/>
          </p:cNvPicPr>
          <p:nvPr/>
        </p:nvPicPr>
        <p:blipFill>
          <a:blip r:embed="rId3"/>
          <a:srcRect l="55779" b="5842"/>
          <a:stretch/>
        </p:blipFill>
        <p:spPr>
          <a:xfrm>
            <a:off x="153761" y="0"/>
            <a:ext cx="3753854" cy="4283182"/>
          </a:xfrm>
          <a:prstGeom prst="rect">
            <a:avLst/>
          </a:prstGeom>
        </p:spPr>
      </p:pic>
      <p:sp>
        <p:nvSpPr>
          <p:cNvPr id="2" name="Title 1">
            <a:extLst>
              <a:ext uri="{FF2B5EF4-FFF2-40B4-BE49-F238E27FC236}">
                <a16:creationId xmlns:a16="http://schemas.microsoft.com/office/drawing/2014/main" id="{246045A5-F5CD-CCA7-5F41-BB1BE8723ACF}"/>
              </a:ext>
            </a:extLst>
          </p:cNvPr>
          <p:cNvSpPr>
            <a:spLocks noGrp="1"/>
          </p:cNvSpPr>
          <p:nvPr>
            <p:ph type="title"/>
          </p:nvPr>
        </p:nvSpPr>
        <p:spPr>
          <a:xfrm>
            <a:off x="4567693" y="0"/>
            <a:ext cx="8354678" cy="849312"/>
          </a:xfrm>
        </p:spPr>
        <p:txBody>
          <a:bodyPr>
            <a:normAutofit/>
          </a:bodyPr>
          <a:lstStyle/>
          <a:p>
            <a:r>
              <a:rPr lang="en-US" b="1" dirty="0">
                <a:ea typeface="Calibri" charset="0"/>
                <a:cs typeface="Calibri" charset="0"/>
              </a:rPr>
              <a:t>6.9 </a:t>
            </a:r>
            <a:r>
              <a:rPr lang="en-US" dirty="0">
                <a:ea typeface="Calibri" charset="0"/>
                <a:cs typeface="Calibri" charset="0"/>
              </a:rPr>
              <a:t>Work Done by a Variable Force</a:t>
            </a:r>
            <a:endParaRPr lang="en-US" sz="3000" dirty="0"/>
          </a:p>
        </p:txBody>
      </p:sp>
      <p:pic>
        <p:nvPicPr>
          <p:cNvPr id="10" name="Picture 9">
            <a:extLst>
              <a:ext uri="{FF2B5EF4-FFF2-40B4-BE49-F238E27FC236}">
                <a16:creationId xmlns:a16="http://schemas.microsoft.com/office/drawing/2014/main" id="{EDD7799C-0F2A-136F-9753-5DD8B8574A12}"/>
              </a:ext>
            </a:extLst>
          </p:cNvPr>
          <p:cNvPicPr>
            <a:picLocks noChangeAspect="1"/>
          </p:cNvPicPr>
          <p:nvPr/>
        </p:nvPicPr>
        <p:blipFill>
          <a:blip r:embed="rId4"/>
          <a:stretch>
            <a:fillRect/>
          </a:stretch>
        </p:blipFill>
        <p:spPr>
          <a:xfrm>
            <a:off x="4062203" y="696340"/>
            <a:ext cx="7759700" cy="2946400"/>
          </a:xfrm>
          <a:prstGeom prst="rect">
            <a:avLst/>
          </a:prstGeom>
        </p:spPr>
      </p:pic>
      <p:sp>
        <p:nvSpPr>
          <p:cNvPr id="14" name="TextBox 13">
            <a:extLst>
              <a:ext uri="{FF2B5EF4-FFF2-40B4-BE49-F238E27FC236}">
                <a16:creationId xmlns:a16="http://schemas.microsoft.com/office/drawing/2014/main" id="{66E0A97D-E205-2AD3-BB36-71A9178283D7}"/>
              </a:ext>
            </a:extLst>
          </p:cNvPr>
          <p:cNvSpPr txBox="1"/>
          <p:nvPr/>
        </p:nvSpPr>
        <p:spPr>
          <a:xfrm>
            <a:off x="4807069" y="3699118"/>
            <a:ext cx="7384931" cy="461665"/>
          </a:xfrm>
          <a:prstGeom prst="rect">
            <a:avLst/>
          </a:prstGeom>
          <a:noFill/>
        </p:spPr>
        <p:txBody>
          <a:bodyPr wrap="square" rtlCol="0">
            <a:spAutoFit/>
          </a:bodyPr>
          <a:lstStyle/>
          <a:p>
            <a:pPr algn="just"/>
            <a:r>
              <a:rPr lang="en-US" sz="2400" dirty="0">
                <a:latin typeface="Times" pitchFamily="2" charset="0"/>
              </a:rPr>
              <a:t>The total work done is just the sum of these segments:</a:t>
            </a:r>
          </a:p>
        </p:txBody>
      </p:sp>
      <p:pic>
        <p:nvPicPr>
          <p:cNvPr id="15" name="Picture 14">
            <a:extLst>
              <a:ext uri="{FF2B5EF4-FFF2-40B4-BE49-F238E27FC236}">
                <a16:creationId xmlns:a16="http://schemas.microsoft.com/office/drawing/2014/main" id="{5FA9E3A1-DEB5-D7C9-978F-26A2F335DE1F}"/>
              </a:ext>
            </a:extLst>
          </p:cNvPr>
          <p:cNvPicPr>
            <a:picLocks noChangeAspect="1"/>
          </p:cNvPicPr>
          <p:nvPr/>
        </p:nvPicPr>
        <p:blipFill>
          <a:blip r:embed="rId5"/>
          <a:srcRect l="55218" t="69408" r="26138" b="27047"/>
          <a:stretch/>
        </p:blipFill>
        <p:spPr>
          <a:xfrm>
            <a:off x="6021237" y="4083494"/>
            <a:ext cx="5025455" cy="537485"/>
          </a:xfrm>
          <a:prstGeom prst="rect">
            <a:avLst/>
          </a:prstGeom>
        </p:spPr>
      </p:pic>
      <p:sp>
        <p:nvSpPr>
          <p:cNvPr id="18" name="TextBox 17">
            <a:extLst>
              <a:ext uri="{FF2B5EF4-FFF2-40B4-BE49-F238E27FC236}">
                <a16:creationId xmlns:a16="http://schemas.microsoft.com/office/drawing/2014/main" id="{D52F7122-E8C9-8474-87A5-6EA55DD4E88D}"/>
              </a:ext>
            </a:extLst>
          </p:cNvPr>
          <p:cNvSpPr txBox="1"/>
          <p:nvPr/>
        </p:nvSpPr>
        <p:spPr>
          <a:xfrm>
            <a:off x="120770" y="4662401"/>
            <a:ext cx="11938958" cy="830997"/>
          </a:xfrm>
          <a:prstGeom prst="rect">
            <a:avLst/>
          </a:prstGeom>
          <a:noFill/>
        </p:spPr>
        <p:txBody>
          <a:bodyPr wrap="square" rtlCol="0">
            <a:spAutoFit/>
          </a:bodyPr>
          <a:lstStyle/>
          <a:p>
            <a:pPr algn="just"/>
            <a:r>
              <a:rPr lang="en-US" sz="2400" dirty="0">
                <a:latin typeface="Times" pitchFamily="2" charset="0"/>
              </a:rPr>
              <a:t>The sum of these areas is approximately equal to the total area under the force curve (right figure above).</a:t>
            </a:r>
          </a:p>
        </p:txBody>
      </p:sp>
      <p:sp>
        <p:nvSpPr>
          <p:cNvPr id="23" name="TextBox 22">
            <a:extLst>
              <a:ext uri="{FF2B5EF4-FFF2-40B4-BE49-F238E27FC236}">
                <a16:creationId xmlns:a16="http://schemas.microsoft.com/office/drawing/2014/main" id="{1C910FF0-BC3F-6729-F39D-5BAEB8076CE7}"/>
              </a:ext>
            </a:extLst>
          </p:cNvPr>
          <p:cNvSpPr txBox="1"/>
          <p:nvPr/>
        </p:nvSpPr>
        <p:spPr>
          <a:xfrm>
            <a:off x="2484408" y="5197264"/>
            <a:ext cx="9420045" cy="1200329"/>
          </a:xfrm>
          <a:prstGeom prst="rect">
            <a:avLst/>
          </a:prstGeom>
          <a:noFill/>
        </p:spPr>
        <p:txBody>
          <a:bodyPr wrap="square">
            <a:spAutoFit/>
          </a:bodyPr>
          <a:lstStyle/>
          <a:p>
            <a:r>
              <a:rPr lang="en-US" sz="2400" dirty="0">
                <a:solidFill>
                  <a:srgbClr val="C0694F"/>
                </a:solidFill>
                <a:latin typeface="Times" pitchFamily="2" charset="0"/>
              </a:rPr>
              <a:t>Problem-Solving Insight</a:t>
            </a:r>
          </a:p>
          <a:p>
            <a:r>
              <a:rPr lang="en-US" sz="2400" dirty="0">
                <a:latin typeface="Times" pitchFamily="2" charset="0"/>
              </a:rPr>
              <a:t>The work done by a variable force in moving an object is equal to the area under the graph of </a:t>
            </a:r>
            <a:r>
              <a:rPr lang="en-US" sz="2400" i="1" dirty="0" err="1">
                <a:latin typeface="Times" pitchFamily="2" charset="0"/>
              </a:rPr>
              <a:t>F</a:t>
            </a:r>
            <a:r>
              <a:rPr lang="en-US" sz="2400" dirty="0" err="1">
                <a:latin typeface="Times" pitchFamily="2" charset="0"/>
              </a:rPr>
              <a:t>cos</a:t>
            </a:r>
            <a:r>
              <a:rPr lang="en-US" sz="2400" dirty="0">
                <a:latin typeface="Times" pitchFamily="2" charset="0"/>
              </a:rPr>
              <a:t>𝛳 versus </a:t>
            </a:r>
            <a:r>
              <a:rPr lang="en-US" sz="2400" i="1" dirty="0">
                <a:latin typeface="Times" pitchFamily="2" charset="0"/>
              </a:rPr>
              <a:t>s</a:t>
            </a:r>
            <a:r>
              <a:rPr lang="en-US" sz="2400" dirty="0">
                <a:latin typeface="Times" pitchFamily="2" charset="0"/>
              </a:rPr>
              <a:t> .</a:t>
            </a:r>
          </a:p>
        </p:txBody>
      </p:sp>
      <p:sp>
        <p:nvSpPr>
          <p:cNvPr id="25" name="Rectangle 24">
            <a:extLst>
              <a:ext uri="{FF2B5EF4-FFF2-40B4-BE49-F238E27FC236}">
                <a16:creationId xmlns:a16="http://schemas.microsoft.com/office/drawing/2014/main" id="{7A06A76B-9934-798A-3055-7E9329B7B0B5}"/>
              </a:ext>
            </a:extLst>
          </p:cNvPr>
          <p:cNvSpPr/>
          <p:nvPr/>
        </p:nvSpPr>
        <p:spPr>
          <a:xfrm>
            <a:off x="2432649" y="5210355"/>
            <a:ext cx="9333781" cy="1190445"/>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205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dissolv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dissolve">
                                      <p:cBhvr>
                                        <p:cTn id="21" dur="500"/>
                                        <p:tgtEl>
                                          <p:spTgt spid="23"/>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dissolv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3" grpId="0"/>
      <p:bldP spid="25" grpId="0" animBg="1"/>
    </p:bldLst>
  </p:timing>
</p:sld>
</file>

<file path=ppt/theme/theme1.xml><?xml version="1.0" encoding="utf-8"?>
<a:theme xmlns:a="http://schemas.openxmlformats.org/drawingml/2006/main" name="Wiley Green">
  <a:themeElements>
    <a:clrScheme name="Wiley Green 2">
      <a:dk1>
        <a:srgbClr val="231F20"/>
      </a:dk1>
      <a:lt1>
        <a:srgbClr val="FFFFFF"/>
      </a:lt1>
      <a:dk2>
        <a:srgbClr val="194951"/>
      </a:dk2>
      <a:lt2>
        <a:srgbClr val="EFEFF0"/>
      </a:lt2>
      <a:accent1>
        <a:srgbClr val="A6C0B7"/>
      </a:accent1>
      <a:accent2>
        <a:srgbClr val="36D77E"/>
      </a:accent2>
      <a:accent3>
        <a:srgbClr val="007942"/>
      </a:accent3>
      <a:accent4>
        <a:srgbClr val="194951"/>
      </a:accent4>
      <a:accent5>
        <a:srgbClr val="A6C0B7"/>
      </a:accent5>
      <a:accent6>
        <a:srgbClr val="194951"/>
      </a:accent6>
      <a:hlink>
        <a:srgbClr val="36D77E"/>
      </a:hlink>
      <a:folHlink>
        <a:srgbClr val="19495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ley Green" id="{CB77757E-E413-4E45-832E-56086DCB3229}" vid="{54F1114B-D960-CD41-93B0-DE80B1735C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487DD02714334AA284610353C6D0A5" ma:contentTypeVersion="7" ma:contentTypeDescription="Create a new document." ma:contentTypeScope="" ma:versionID="afd8265e81daf7a6b239848e27b4a5d5">
  <xsd:schema xmlns:xsd="http://www.w3.org/2001/XMLSchema" xmlns:xs="http://www.w3.org/2001/XMLSchema" xmlns:p="http://schemas.microsoft.com/office/2006/metadata/properties" xmlns:ns2="d1ee5d69-9466-47e8-8dc9-197116f7f5be" targetNamespace="http://schemas.microsoft.com/office/2006/metadata/properties" ma:root="true" ma:fieldsID="a40e57e1c6ab732498fca28ffdcf1584" ns2:_="">
    <xsd:import namespace="d1ee5d69-9466-47e8-8dc9-197116f7f5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e5d69-9466-47e8-8dc9-197116f7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496FC2-84ED-4B9D-8E46-0692C845CBC2}">
  <ds:schemaRefs>
    <ds:schemaRef ds:uri="http://schemas.microsoft.com/sharepoint/v3/contenttype/forms"/>
  </ds:schemaRefs>
</ds:datastoreItem>
</file>

<file path=customXml/itemProps2.xml><?xml version="1.0" encoding="utf-8"?>
<ds:datastoreItem xmlns:ds="http://schemas.openxmlformats.org/officeDocument/2006/customXml" ds:itemID="{A093DEE6-2103-438A-87F6-751168FD4D8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039E535-4F22-46E0-ADF4-BB8EDC7969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ee5d69-9466-47e8-8dc9-197116f7f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Wiley Green</Template>
  <TotalTime>74827</TotalTime>
  <Words>6209</Words>
  <Application>Microsoft Office PowerPoint</Application>
  <PresentationFormat>Widescreen</PresentationFormat>
  <Paragraphs>565</Paragraphs>
  <Slides>50</Slides>
  <Notes>50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Chalkduster</vt:lpstr>
      <vt:lpstr>Symbol</vt:lpstr>
      <vt:lpstr>Times</vt:lpstr>
      <vt:lpstr>Times New Roman</vt:lpstr>
      <vt:lpstr>Wiley Green</vt:lpstr>
      <vt:lpstr>Cutnell &amp; Johnson  Physics</vt:lpstr>
      <vt:lpstr>6.1 Work Done by a Constant Force</vt:lpstr>
      <vt:lpstr>6.1 Work Done by a Constant Force</vt:lpstr>
      <vt:lpstr>6.1 Work Done by a Constant Force</vt:lpstr>
      <vt:lpstr>6.1 Work Done by a Constant Force</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6.4 Conservative Versus Nonconservative Forces</vt:lpstr>
      <vt:lpstr>6.4 Conservative Versus Nonconservative Forces</vt:lpstr>
      <vt:lpstr>6.4 Conservative Versus Nonconservative Forces</vt:lpstr>
      <vt:lpstr>6.4 Conservative Versus Nonconservative Forces</vt:lpstr>
      <vt:lpstr>6.4 Conservative Versus Nonconservative Forces</vt:lpstr>
      <vt:lpstr>6.4 Conservative Versus Nonconservative Forces</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6.6 Nonconservative Forces and the Work–Energy Theorem</vt:lpstr>
      <vt:lpstr>6.6 Nonconservative Forces and the Work–Energy Theorem</vt:lpstr>
      <vt:lpstr>6.6 Nonconservative Forces and the Work–Energy Theorem</vt:lpstr>
      <vt:lpstr>6.6 Nonconservative Forces and the Work–Energy Theorem</vt:lpstr>
      <vt:lpstr>6.7 Power</vt:lpstr>
      <vt:lpstr>6.7 Power</vt:lpstr>
      <vt:lpstr>6.7 Power</vt:lpstr>
      <vt:lpstr>6.8 Other Forms of Energy and the Conservation of Energy</vt:lpstr>
      <vt:lpstr>6.8 Other Forms of Energy and the Conservation of Energy</vt:lpstr>
      <vt:lpstr>6.9 Work Done by a Variable Force</vt:lpstr>
      <vt:lpstr>6.9 Work Done by a Variable Force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Lai, Wendy</dc:creator>
  <cp:lastModifiedBy>Vinitha S</cp:lastModifiedBy>
  <cp:revision>944</cp:revision>
  <cp:lastPrinted>2026-04-16T02:17:59Z</cp:lastPrinted>
  <dcterms:created xsi:type="dcterms:W3CDTF">2018-08-23T13:01:59Z</dcterms:created>
  <dcterms:modified xsi:type="dcterms:W3CDTF">2026-09-28T10:06:20Z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0x010100CF487DD02714334AA284610353C6D0A5</vt:lpwstr>
  </property>
</Properties>
</file>