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1.xml" ContentType="application/vnd.openxmlformats-officedocument.presentationml.slide+xml"/>
  <Override PartName="/ppt/presentation.xml" ContentType="application/vnd.openxmlformats-officedocument.presentationml.presentation.main+xml"/>
  <Override PartName="/ppt/notesSlides/notesSlide1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30.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0" r:id="rId1"/>
  </p:sldMasterIdLst>
  <p:notesMasterIdLst>
    <p:notesMasterId r:id="rId44"/>
  </p:notesMasterIdLst>
  <p:sldIdLst>
    <p:sldId id="399" r:id="rId2"/>
    <p:sldId id="400" r:id="rId3"/>
    <p:sldId id="444" r:id="rId4"/>
    <p:sldId id="445" r:id="rId5"/>
    <p:sldId id="446" r:id="rId6"/>
    <p:sldId id="448" r:id="rId7"/>
    <p:sldId id="447" r:id="rId8"/>
    <p:sldId id="450" r:id="rId9"/>
    <p:sldId id="451" r:id="rId10"/>
    <p:sldId id="452" r:id="rId11"/>
    <p:sldId id="449" r:id="rId12"/>
    <p:sldId id="453" r:id="rId13"/>
    <p:sldId id="454" r:id="rId14"/>
    <p:sldId id="455" r:id="rId15"/>
    <p:sldId id="456" r:id="rId16"/>
    <p:sldId id="457" r:id="rId17"/>
    <p:sldId id="458" r:id="rId18"/>
    <p:sldId id="459" r:id="rId19"/>
    <p:sldId id="460" r:id="rId20"/>
    <p:sldId id="461" r:id="rId21"/>
    <p:sldId id="462" r:id="rId22"/>
    <p:sldId id="463" r:id="rId23"/>
    <p:sldId id="464" r:id="rId24"/>
    <p:sldId id="465" r:id="rId25"/>
    <p:sldId id="466" r:id="rId26"/>
    <p:sldId id="467" r:id="rId27"/>
    <p:sldId id="468" r:id="rId28"/>
    <p:sldId id="469" r:id="rId29"/>
    <p:sldId id="470" r:id="rId30"/>
    <p:sldId id="471" r:id="rId31"/>
    <p:sldId id="472" r:id="rId32"/>
    <p:sldId id="473" r:id="rId33"/>
    <p:sldId id="474" r:id="rId34"/>
    <p:sldId id="475" r:id="rId35"/>
    <p:sldId id="476" r:id="rId36"/>
    <p:sldId id="477" r:id="rId37"/>
    <p:sldId id="478" r:id="rId38"/>
    <p:sldId id="479" r:id="rId39"/>
    <p:sldId id="480" r:id="rId40"/>
    <p:sldId id="481" r:id="rId41"/>
    <p:sldId id="482" r:id="rId42"/>
    <p:sldId id="48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i, Wendy" initials="LW" lastIdx="3" clrIdx="0">
    <p:extLst>
      <p:ext uri="{19B8F6BF-5375-455C-9EA6-DF929625EA0E}">
        <p15:presenceInfo xmlns:p15="http://schemas.microsoft.com/office/powerpoint/2012/main" userId="S::welai@wiley.com::a5371048-0c99-493d-8b6a-2e0d44ed8f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6C0B7"/>
    <a:srgbClr val="007440"/>
    <a:srgbClr val="002495"/>
    <a:srgbClr val="00AAE6"/>
    <a:srgbClr val="0046AD"/>
    <a:srgbClr val="955D47"/>
    <a:srgbClr val="77403C"/>
    <a:srgbClr val="3C32FF"/>
    <a:srgbClr val="B91F1F"/>
    <a:srgbClr val="3273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78"/>
    <p:restoredTop sz="96327"/>
  </p:normalViewPr>
  <p:slideViewPr>
    <p:cSldViewPr snapToGrid="0" snapToObjects="1">
      <p:cViewPr varScale="1">
        <p:scale>
          <a:sx n="119" d="100"/>
          <a:sy n="119" d="100"/>
        </p:scale>
        <p:origin x="928" y="184"/>
      </p:cViewPr>
      <p:guideLst/>
    </p:cSldViewPr>
  </p:slideViewPr>
  <p:notesTextViewPr>
    <p:cViewPr>
      <p:scale>
        <a:sx n="85" d="100"/>
        <a:sy n="8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pitchFamily="2" charset="0"/>
              </a:defRPr>
            </a:lvl1pPr>
          </a:lstStyle>
          <a:p>
            <a:fld id="{4EFE1D2D-E1D2-EB4D-B872-60B7945D79A5}" type="datetimeFigureOut">
              <a:rPr lang="en-US" smtClean="0"/>
              <a:pPr/>
              <a:t>8/5/26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pitchFamily="2" charset="0"/>
              </a:defRPr>
            </a:lvl1pPr>
          </a:lstStyle>
          <a:p>
            <a:fld id="{688C51AE-C483-2D4F-8F27-8D6A8821F4E1}" type="slidenum">
              <a:rPr lang="en-US" smtClean="0"/>
              <a:pPr/>
              <a:t>‹#›</a:t>
            </a:fld>
            <a:endParaRPr lang="en-US" dirty="0"/>
          </a:p>
        </p:txBody>
      </p:sp>
    </p:spTree>
    <p:extLst>
      <p:ext uri="{BB962C8B-B14F-4D97-AF65-F5344CB8AC3E}">
        <p14:creationId xmlns:p14="http://schemas.microsoft.com/office/powerpoint/2010/main" val="3514066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pitchFamily="2" charset="0"/>
        <a:ea typeface="+mn-ea"/>
        <a:cs typeface="+mn-cs"/>
      </a:defRPr>
    </a:lvl1pPr>
    <a:lvl2pPr marL="457200" algn="l" defTabSz="914400" rtl="0" eaLnBrk="1" latinLnBrk="0" hangingPunct="1">
      <a:defRPr sz="1200" b="0" i="0" kern="1200">
        <a:solidFill>
          <a:schemeClr val="tx1"/>
        </a:solidFill>
        <a:latin typeface="Times" pitchFamily="2" charset="0"/>
        <a:ea typeface="+mn-ea"/>
        <a:cs typeface="+mn-cs"/>
      </a:defRPr>
    </a:lvl2pPr>
    <a:lvl3pPr marL="914400" algn="l" defTabSz="914400" rtl="0" eaLnBrk="1" latinLnBrk="0" hangingPunct="1">
      <a:defRPr sz="1200" b="0" i="0" kern="1200">
        <a:solidFill>
          <a:schemeClr val="tx1"/>
        </a:solidFill>
        <a:latin typeface="Times" pitchFamily="2" charset="0"/>
        <a:ea typeface="+mn-ea"/>
        <a:cs typeface="+mn-cs"/>
      </a:defRPr>
    </a:lvl3pPr>
    <a:lvl4pPr marL="1371600" algn="l" defTabSz="914400" rtl="0" eaLnBrk="1" latinLnBrk="0" hangingPunct="1">
      <a:defRPr sz="1200" b="0" i="0" kern="1200">
        <a:solidFill>
          <a:schemeClr val="tx1"/>
        </a:solidFill>
        <a:latin typeface="Times" pitchFamily="2" charset="0"/>
        <a:ea typeface="+mn-ea"/>
        <a:cs typeface="+mn-cs"/>
      </a:defRPr>
    </a:lvl4pPr>
    <a:lvl5pPr marL="1828800" algn="l" defTabSz="914400" rtl="0" eaLnBrk="1" latinLnBrk="0" hangingPunct="1">
      <a:defRPr sz="1200" b="0" i="0" kern="1200">
        <a:solidFill>
          <a:schemeClr val="tx1"/>
        </a:solidFill>
        <a:latin typeface="Time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00E68-2FB7-95B5-B3FC-F6FAE1A12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75D39-9C9E-D9CD-03D0-792AF94037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7AD7FA-0F10-D90E-0399-32A34AF45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0C496-EDD1-CFD9-D22A-54F12F562B14}"/>
              </a:ext>
            </a:extLst>
          </p:cNvPr>
          <p:cNvSpPr>
            <a:spLocks noGrp="1"/>
          </p:cNvSpPr>
          <p:nvPr>
            <p:ph type="sldNum" sz="quarter" idx="5"/>
          </p:nvPr>
        </p:nvSpPr>
        <p:spPr/>
        <p:txBody>
          <a:bodyPr/>
          <a:lstStyle/>
          <a:p>
            <a:fld id="{688C51AE-C483-2D4F-8F27-8D6A8821F4E1}" type="slidenum">
              <a:rPr lang="en-US" smtClean="0"/>
              <a:t>1</a:t>
            </a:fld>
            <a:endParaRPr lang="en-US"/>
          </a:p>
        </p:txBody>
      </p:sp>
    </p:spTree>
    <p:extLst>
      <p:ext uri="{BB962C8B-B14F-4D97-AF65-F5344CB8AC3E}">
        <p14:creationId xmlns:p14="http://schemas.microsoft.com/office/powerpoint/2010/main" val="2443933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39F69-19E9-71AB-4339-F8676131C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5A315-98C0-EE49-3CC6-EE619E2F4E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796ABB2-D494-CE78-271B-F4EECC3F3C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8D170-2DDC-EF1D-0C15-21032C27EAF7}"/>
              </a:ext>
            </a:extLst>
          </p:cNvPr>
          <p:cNvSpPr>
            <a:spLocks noGrp="1"/>
          </p:cNvSpPr>
          <p:nvPr>
            <p:ph type="sldNum" sz="quarter" idx="5"/>
          </p:nvPr>
        </p:nvSpPr>
        <p:spPr/>
        <p:txBody>
          <a:bodyPr/>
          <a:lstStyle/>
          <a:p>
            <a:fld id="{688C51AE-C483-2D4F-8F27-8D6A8821F4E1}" type="slidenum">
              <a:rPr lang="en-US" smtClean="0"/>
              <a:t>2</a:t>
            </a:fld>
            <a:endParaRPr lang="en-US"/>
          </a:p>
        </p:txBody>
      </p:sp>
    </p:spTree>
    <p:extLst>
      <p:ext uri="{BB962C8B-B14F-4D97-AF65-F5344CB8AC3E}">
        <p14:creationId xmlns:p14="http://schemas.microsoft.com/office/powerpoint/2010/main" val="3649493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73E66-0B46-770F-8D32-50BACD4CB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76AA8-10EB-78A8-8DD0-56EE96A80D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3D43607-9BCB-B2EB-3828-F46F6E5D79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74943E-5189-A49D-F726-5555B1F4C653}"/>
              </a:ext>
            </a:extLst>
          </p:cNvPr>
          <p:cNvSpPr>
            <a:spLocks noGrp="1"/>
          </p:cNvSpPr>
          <p:nvPr>
            <p:ph type="sldNum" sz="quarter" idx="5"/>
          </p:nvPr>
        </p:nvSpPr>
        <p:spPr/>
        <p:txBody>
          <a:bodyPr/>
          <a:lstStyle/>
          <a:p>
            <a:fld id="{688C51AE-C483-2D4F-8F27-8D6A8821F4E1}" type="slidenum">
              <a:rPr lang="en-US" smtClean="0"/>
              <a:t>3</a:t>
            </a:fld>
            <a:endParaRPr lang="en-US"/>
          </a:p>
        </p:txBody>
      </p:sp>
    </p:spTree>
    <p:extLst>
      <p:ext uri="{BB962C8B-B14F-4D97-AF65-F5344CB8AC3E}">
        <p14:creationId xmlns:p14="http://schemas.microsoft.com/office/powerpoint/2010/main" val="2417636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74DB5-3D56-38BC-1BC4-E80F20512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5A7EA-0ADD-BDA3-9CAB-F06905ADF39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796F2F7-FB34-0E6B-D567-0875D5459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8317B1-EEBA-BDB4-B95D-17787948424E}"/>
              </a:ext>
            </a:extLst>
          </p:cNvPr>
          <p:cNvSpPr>
            <a:spLocks noGrp="1"/>
          </p:cNvSpPr>
          <p:nvPr>
            <p:ph type="sldNum" sz="quarter" idx="5"/>
          </p:nvPr>
        </p:nvSpPr>
        <p:spPr/>
        <p:txBody>
          <a:bodyPr/>
          <a:lstStyle/>
          <a:p>
            <a:fld id="{688C51AE-C483-2D4F-8F27-8D6A8821F4E1}" type="slidenum">
              <a:rPr lang="en-US" smtClean="0"/>
              <a:t>4</a:t>
            </a:fld>
            <a:endParaRPr lang="en-US"/>
          </a:p>
        </p:txBody>
      </p:sp>
    </p:spTree>
    <p:extLst>
      <p:ext uri="{BB962C8B-B14F-4D97-AF65-F5344CB8AC3E}">
        <p14:creationId xmlns:p14="http://schemas.microsoft.com/office/powerpoint/2010/main" val="1271315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77ABD-BF43-8B2D-AFF4-1B4020C27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A4FEC-E159-0424-EFF0-64E25328487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5E8E5CE-8B6B-B16E-1249-212D37EDA8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39A35A-8B85-D168-5936-C2AA460A49A3}"/>
              </a:ext>
            </a:extLst>
          </p:cNvPr>
          <p:cNvSpPr>
            <a:spLocks noGrp="1"/>
          </p:cNvSpPr>
          <p:nvPr>
            <p:ph type="sldNum" sz="quarter" idx="5"/>
          </p:nvPr>
        </p:nvSpPr>
        <p:spPr/>
        <p:txBody>
          <a:bodyPr/>
          <a:lstStyle/>
          <a:p>
            <a:fld id="{688C51AE-C483-2D4F-8F27-8D6A8821F4E1}" type="slidenum">
              <a:rPr lang="en-US" smtClean="0"/>
              <a:t>5</a:t>
            </a:fld>
            <a:endParaRPr lang="en-US"/>
          </a:p>
        </p:txBody>
      </p:sp>
    </p:spTree>
    <p:extLst>
      <p:ext uri="{BB962C8B-B14F-4D97-AF65-F5344CB8AC3E}">
        <p14:creationId xmlns:p14="http://schemas.microsoft.com/office/powerpoint/2010/main" val="1438582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100F5-BB9A-370D-83FA-0C693DB81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DF49C-BE84-3F97-C69B-2BF2AFF26EA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8EDA090-76DE-CE42-2DD7-4308C00447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1E1577-6BC7-080B-CDEE-1F2243822EE2}"/>
              </a:ext>
            </a:extLst>
          </p:cNvPr>
          <p:cNvSpPr>
            <a:spLocks noGrp="1"/>
          </p:cNvSpPr>
          <p:nvPr>
            <p:ph type="sldNum" sz="quarter" idx="5"/>
          </p:nvPr>
        </p:nvSpPr>
        <p:spPr/>
        <p:txBody>
          <a:bodyPr/>
          <a:lstStyle/>
          <a:p>
            <a:fld id="{688C51AE-C483-2D4F-8F27-8D6A8821F4E1}" type="slidenum">
              <a:rPr lang="en-US" smtClean="0"/>
              <a:t>6</a:t>
            </a:fld>
            <a:endParaRPr lang="en-US"/>
          </a:p>
        </p:txBody>
      </p:sp>
    </p:spTree>
    <p:extLst>
      <p:ext uri="{BB962C8B-B14F-4D97-AF65-F5344CB8AC3E}">
        <p14:creationId xmlns:p14="http://schemas.microsoft.com/office/powerpoint/2010/main" val="3646158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99F24-7BD1-1FB6-E017-E366989787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7FA88-BD79-381C-7557-A397E8EE5A4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BAFFDA-54CE-6881-72C3-A6E2DD28E3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2E9D24-2F0E-7629-1E9B-5DE777390022}"/>
              </a:ext>
            </a:extLst>
          </p:cNvPr>
          <p:cNvSpPr>
            <a:spLocks noGrp="1"/>
          </p:cNvSpPr>
          <p:nvPr>
            <p:ph type="sldNum" sz="quarter" idx="5"/>
          </p:nvPr>
        </p:nvSpPr>
        <p:spPr/>
        <p:txBody>
          <a:bodyPr/>
          <a:lstStyle/>
          <a:p>
            <a:fld id="{688C51AE-C483-2D4F-8F27-8D6A8821F4E1}" type="slidenum">
              <a:rPr lang="en-US" smtClean="0"/>
              <a:t>7</a:t>
            </a:fld>
            <a:endParaRPr lang="en-US"/>
          </a:p>
        </p:txBody>
      </p:sp>
    </p:spTree>
    <p:extLst>
      <p:ext uri="{BB962C8B-B14F-4D97-AF65-F5344CB8AC3E}">
        <p14:creationId xmlns:p14="http://schemas.microsoft.com/office/powerpoint/2010/main" val="3903621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6DEFF-EE3B-8B7B-5B0F-2B34AEE26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C259C-DB93-9359-4B86-22F99DFF23A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07D1AE9-2022-A80C-A5F9-6C618240B3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0B1C5F-4BDA-4A15-BAB2-3CF7F0D2B6C8}"/>
              </a:ext>
            </a:extLst>
          </p:cNvPr>
          <p:cNvSpPr>
            <a:spLocks noGrp="1"/>
          </p:cNvSpPr>
          <p:nvPr>
            <p:ph type="sldNum" sz="quarter" idx="5"/>
          </p:nvPr>
        </p:nvSpPr>
        <p:spPr/>
        <p:txBody>
          <a:bodyPr/>
          <a:lstStyle/>
          <a:p>
            <a:fld id="{688C51AE-C483-2D4F-8F27-8D6A8821F4E1}" type="slidenum">
              <a:rPr lang="en-US" smtClean="0"/>
              <a:t>8</a:t>
            </a:fld>
            <a:endParaRPr lang="en-US"/>
          </a:p>
        </p:txBody>
      </p:sp>
    </p:spTree>
    <p:extLst>
      <p:ext uri="{BB962C8B-B14F-4D97-AF65-F5344CB8AC3E}">
        <p14:creationId xmlns:p14="http://schemas.microsoft.com/office/powerpoint/2010/main" val="2757819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DE900-AB14-91AA-15C0-ABF78E42D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5BEE0-8595-09EC-7A2F-68E2CFC4136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12F4196-4172-0E64-EE41-AF83D019D3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413189-5716-16D0-6F4A-39F49A16D829}"/>
              </a:ext>
            </a:extLst>
          </p:cNvPr>
          <p:cNvSpPr>
            <a:spLocks noGrp="1"/>
          </p:cNvSpPr>
          <p:nvPr>
            <p:ph type="sldNum" sz="quarter" idx="5"/>
          </p:nvPr>
        </p:nvSpPr>
        <p:spPr/>
        <p:txBody>
          <a:bodyPr/>
          <a:lstStyle/>
          <a:p>
            <a:fld id="{688C51AE-C483-2D4F-8F27-8D6A8821F4E1}" type="slidenum">
              <a:rPr lang="en-US" smtClean="0"/>
              <a:t>9</a:t>
            </a:fld>
            <a:endParaRPr lang="en-US"/>
          </a:p>
        </p:txBody>
      </p:sp>
    </p:spTree>
    <p:extLst>
      <p:ext uri="{BB962C8B-B14F-4D97-AF65-F5344CB8AC3E}">
        <p14:creationId xmlns:p14="http://schemas.microsoft.com/office/powerpoint/2010/main" val="3912764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3461A-0CBE-6FC3-4635-830F374881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764F0-4375-E7C4-3DE2-51B1F05BC1F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4BF90F2-8B9E-DFA2-C8E1-1F75FC6FDA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6CA69-7255-52B3-596C-CFA649ABD367}"/>
              </a:ext>
            </a:extLst>
          </p:cNvPr>
          <p:cNvSpPr>
            <a:spLocks noGrp="1"/>
          </p:cNvSpPr>
          <p:nvPr>
            <p:ph type="sldNum" sz="quarter" idx="5"/>
          </p:nvPr>
        </p:nvSpPr>
        <p:spPr/>
        <p:txBody>
          <a:bodyPr/>
          <a:lstStyle/>
          <a:p>
            <a:fld id="{688C51AE-C483-2D4F-8F27-8D6A8821F4E1}" type="slidenum">
              <a:rPr lang="en-US" smtClean="0"/>
              <a:t>10</a:t>
            </a:fld>
            <a:endParaRPr lang="en-US"/>
          </a:p>
        </p:txBody>
      </p:sp>
    </p:spTree>
    <p:extLst>
      <p:ext uri="{BB962C8B-B14F-4D97-AF65-F5344CB8AC3E}">
        <p14:creationId xmlns:p14="http://schemas.microsoft.com/office/powerpoint/2010/main" val="4171200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B7E82-9A94-2189-1300-E7EBD6975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4B08C-8D22-AB3E-7D39-32715D117BA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8093A2-ACD2-839A-4538-13C1FFE97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8EDFD6-A282-389D-B6BF-E225BD906F05}"/>
              </a:ext>
            </a:extLst>
          </p:cNvPr>
          <p:cNvSpPr>
            <a:spLocks noGrp="1"/>
          </p:cNvSpPr>
          <p:nvPr>
            <p:ph type="sldNum" sz="quarter" idx="5"/>
          </p:nvPr>
        </p:nvSpPr>
        <p:spPr/>
        <p:txBody>
          <a:bodyPr/>
          <a:lstStyle/>
          <a:p>
            <a:fld id="{688C51AE-C483-2D4F-8F27-8D6A8821F4E1}" type="slidenum">
              <a:rPr lang="en-US" smtClean="0"/>
              <a:t>11</a:t>
            </a:fld>
            <a:endParaRPr lang="en-US"/>
          </a:p>
        </p:txBody>
      </p:sp>
    </p:spTree>
    <p:extLst>
      <p:ext uri="{BB962C8B-B14F-4D97-AF65-F5344CB8AC3E}">
        <p14:creationId xmlns:p14="http://schemas.microsoft.com/office/powerpoint/2010/main" val="848329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F7BB9-A4DB-4801-CB4A-B9014C06F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F3393-6512-E506-BC39-3D0E92AE1C6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3B5BF41-ED51-8EDA-5873-E82484CFFE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7545A-3021-96FC-CB62-E966814EB563}"/>
              </a:ext>
            </a:extLst>
          </p:cNvPr>
          <p:cNvSpPr>
            <a:spLocks noGrp="1"/>
          </p:cNvSpPr>
          <p:nvPr>
            <p:ph type="sldNum" sz="quarter" idx="5"/>
          </p:nvPr>
        </p:nvSpPr>
        <p:spPr/>
        <p:txBody>
          <a:bodyPr/>
          <a:lstStyle/>
          <a:p>
            <a:fld id="{688C51AE-C483-2D4F-8F27-8D6A8821F4E1}" type="slidenum">
              <a:rPr lang="en-US" smtClean="0"/>
              <a:t>12</a:t>
            </a:fld>
            <a:endParaRPr lang="en-US"/>
          </a:p>
        </p:txBody>
      </p:sp>
    </p:spTree>
    <p:extLst>
      <p:ext uri="{BB962C8B-B14F-4D97-AF65-F5344CB8AC3E}">
        <p14:creationId xmlns:p14="http://schemas.microsoft.com/office/powerpoint/2010/main" val="1295593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18C26-AC8E-669E-CC6A-9D751D1FC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AA950-A011-486B-A373-776CDAF3586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F0CC554-CB0E-EBB4-0F16-5A4132C690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C4AE23-E552-9608-B031-F8964774619C}"/>
              </a:ext>
            </a:extLst>
          </p:cNvPr>
          <p:cNvSpPr>
            <a:spLocks noGrp="1"/>
          </p:cNvSpPr>
          <p:nvPr>
            <p:ph type="sldNum" sz="quarter" idx="5"/>
          </p:nvPr>
        </p:nvSpPr>
        <p:spPr/>
        <p:txBody>
          <a:bodyPr/>
          <a:lstStyle/>
          <a:p>
            <a:fld id="{688C51AE-C483-2D4F-8F27-8D6A8821F4E1}" type="slidenum">
              <a:rPr lang="en-US" smtClean="0"/>
              <a:t>13</a:t>
            </a:fld>
            <a:endParaRPr lang="en-US"/>
          </a:p>
        </p:txBody>
      </p:sp>
    </p:spTree>
    <p:extLst>
      <p:ext uri="{BB962C8B-B14F-4D97-AF65-F5344CB8AC3E}">
        <p14:creationId xmlns:p14="http://schemas.microsoft.com/office/powerpoint/2010/main" val="2011348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3685-EE4A-5152-6C46-D812168C7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8E790-3941-82BD-ABE9-BCDC3E7D0EB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2C18435-58E2-9416-BC83-0C41CE3A71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E5C222-CC3F-D8E0-0BF5-F5A6DFD74C80}"/>
              </a:ext>
            </a:extLst>
          </p:cNvPr>
          <p:cNvSpPr>
            <a:spLocks noGrp="1"/>
          </p:cNvSpPr>
          <p:nvPr>
            <p:ph type="sldNum" sz="quarter" idx="5"/>
          </p:nvPr>
        </p:nvSpPr>
        <p:spPr/>
        <p:txBody>
          <a:bodyPr/>
          <a:lstStyle/>
          <a:p>
            <a:fld id="{688C51AE-C483-2D4F-8F27-8D6A8821F4E1}" type="slidenum">
              <a:rPr lang="en-US" smtClean="0"/>
              <a:t>14</a:t>
            </a:fld>
            <a:endParaRPr lang="en-US"/>
          </a:p>
        </p:txBody>
      </p:sp>
    </p:spTree>
    <p:extLst>
      <p:ext uri="{BB962C8B-B14F-4D97-AF65-F5344CB8AC3E}">
        <p14:creationId xmlns:p14="http://schemas.microsoft.com/office/powerpoint/2010/main" val="1101642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419D7-4311-8331-EB3C-2CDE8BB1E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384CD-9C1D-60A3-BF30-C67DE402547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3616DD7-0AD0-7DD3-5B2E-5E4EB797B4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13029A-44DF-8B79-239B-51FE0245BD4C}"/>
              </a:ext>
            </a:extLst>
          </p:cNvPr>
          <p:cNvSpPr>
            <a:spLocks noGrp="1"/>
          </p:cNvSpPr>
          <p:nvPr>
            <p:ph type="sldNum" sz="quarter" idx="5"/>
          </p:nvPr>
        </p:nvSpPr>
        <p:spPr/>
        <p:txBody>
          <a:bodyPr/>
          <a:lstStyle/>
          <a:p>
            <a:fld id="{688C51AE-C483-2D4F-8F27-8D6A8821F4E1}" type="slidenum">
              <a:rPr lang="en-US" smtClean="0"/>
              <a:t>15</a:t>
            </a:fld>
            <a:endParaRPr lang="en-US"/>
          </a:p>
        </p:txBody>
      </p:sp>
    </p:spTree>
    <p:extLst>
      <p:ext uri="{BB962C8B-B14F-4D97-AF65-F5344CB8AC3E}">
        <p14:creationId xmlns:p14="http://schemas.microsoft.com/office/powerpoint/2010/main" val="3809654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E48F1-48BA-8B6D-41AC-9B6E296C4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51966-9E17-1E17-C121-BBBBFB8546B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AA3D1B8-4379-7EE4-737D-DDF83F92D9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629D8A-21AC-3942-C006-3784A04405D6}"/>
              </a:ext>
            </a:extLst>
          </p:cNvPr>
          <p:cNvSpPr>
            <a:spLocks noGrp="1"/>
          </p:cNvSpPr>
          <p:nvPr>
            <p:ph type="sldNum" sz="quarter" idx="5"/>
          </p:nvPr>
        </p:nvSpPr>
        <p:spPr/>
        <p:txBody>
          <a:bodyPr/>
          <a:lstStyle/>
          <a:p>
            <a:fld id="{688C51AE-C483-2D4F-8F27-8D6A8821F4E1}" type="slidenum">
              <a:rPr lang="en-US" smtClean="0"/>
              <a:t>16</a:t>
            </a:fld>
            <a:endParaRPr lang="en-US"/>
          </a:p>
        </p:txBody>
      </p:sp>
    </p:spTree>
    <p:extLst>
      <p:ext uri="{BB962C8B-B14F-4D97-AF65-F5344CB8AC3E}">
        <p14:creationId xmlns:p14="http://schemas.microsoft.com/office/powerpoint/2010/main" val="2596160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0DB3-A74A-F81F-2CB7-F8BAB2212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F0774-2623-51E9-05A9-D1437E01A14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DE232D2-FB95-F6AE-37B8-511CED9C06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5C8431-7F6D-EE43-AFB8-16A52E4165BF}"/>
              </a:ext>
            </a:extLst>
          </p:cNvPr>
          <p:cNvSpPr>
            <a:spLocks noGrp="1"/>
          </p:cNvSpPr>
          <p:nvPr>
            <p:ph type="sldNum" sz="quarter" idx="5"/>
          </p:nvPr>
        </p:nvSpPr>
        <p:spPr/>
        <p:txBody>
          <a:bodyPr/>
          <a:lstStyle/>
          <a:p>
            <a:fld id="{688C51AE-C483-2D4F-8F27-8D6A8821F4E1}" type="slidenum">
              <a:rPr lang="en-US" smtClean="0"/>
              <a:t>17</a:t>
            </a:fld>
            <a:endParaRPr lang="en-US"/>
          </a:p>
        </p:txBody>
      </p:sp>
    </p:spTree>
    <p:extLst>
      <p:ext uri="{BB962C8B-B14F-4D97-AF65-F5344CB8AC3E}">
        <p14:creationId xmlns:p14="http://schemas.microsoft.com/office/powerpoint/2010/main" val="1286324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97099-43C2-37C6-267A-B603DCC09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FA978-3950-1F39-3049-88D8F7B0F2D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C264822-A716-D7B1-F80B-421780101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27BD77-2161-4F92-085D-DA8B4BA6C04C}"/>
              </a:ext>
            </a:extLst>
          </p:cNvPr>
          <p:cNvSpPr>
            <a:spLocks noGrp="1"/>
          </p:cNvSpPr>
          <p:nvPr>
            <p:ph type="sldNum" sz="quarter" idx="5"/>
          </p:nvPr>
        </p:nvSpPr>
        <p:spPr/>
        <p:txBody>
          <a:bodyPr/>
          <a:lstStyle/>
          <a:p>
            <a:fld id="{688C51AE-C483-2D4F-8F27-8D6A8821F4E1}" type="slidenum">
              <a:rPr lang="en-US" smtClean="0"/>
              <a:t>18</a:t>
            </a:fld>
            <a:endParaRPr lang="en-US"/>
          </a:p>
        </p:txBody>
      </p:sp>
    </p:spTree>
    <p:extLst>
      <p:ext uri="{BB962C8B-B14F-4D97-AF65-F5344CB8AC3E}">
        <p14:creationId xmlns:p14="http://schemas.microsoft.com/office/powerpoint/2010/main" val="49824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D0E80-2F53-E692-31CF-A9213B6CE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3C788-1445-B372-CB98-BD08C26AC95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97907BB-87A8-4F31-6EFE-270E3C76E9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B6BE9E-9135-336B-20AC-26A6F4750F30}"/>
              </a:ext>
            </a:extLst>
          </p:cNvPr>
          <p:cNvSpPr>
            <a:spLocks noGrp="1"/>
          </p:cNvSpPr>
          <p:nvPr>
            <p:ph type="sldNum" sz="quarter" idx="5"/>
          </p:nvPr>
        </p:nvSpPr>
        <p:spPr/>
        <p:txBody>
          <a:bodyPr/>
          <a:lstStyle/>
          <a:p>
            <a:fld id="{688C51AE-C483-2D4F-8F27-8D6A8821F4E1}" type="slidenum">
              <a:rPr lang="en-US" smtClean="0"/>
              <a:t>19</a:t>
            </a:fld>
            <a:endParaRPr lang="en-US"/>
          </a:p>
        </p:txBody>
      </p:sp>
    </p:spTree>
    <p:extLst>
      <p:ext uri="{BB962C8B-B14F-4D97-AF65-F5344CB8AC3E}">
        <p14:creationId xmlns:p14="http://schemas.microsoft.com/office/powerpoint/2010/main" val="3086741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DE789-C723-B6D2-4687-6C4FA2B4D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D0C67-F049-8B8C-DD8C-7B07C29EFEB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ACCFCFF-BC65-854A-62EF-949612D7F9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8BC8C-5BF5-76D1-AB37-3A853856C68D}"/>
              </a:ext>
            </a:extLst>
          </p:cNvPr>
          <p:cNvSpPr>
            <a:spLocks noGrp="1"/>
          </p:cNvSpPr>
          <p:nvPr>
            <p:ph type="sldNum" sz="quarter" idx="5"/>
          </p:nvPr>
        </p:nvSpPr>
        <p:spPr/>
        <p:txBody>
          <a:bodyPr/>
          <a:lstStyle/>
          <a:p>
            <a:fld id="{688C51AE-C483-2D4F-8F27-8D6A8821F4E1}" type="slidenum">
              <a:rPr lang="en-US" smtClean="0"/>
              <a:t>20</a:t>
            </a:fld>
            <a:endParaRPr lang="en-US"/>
          </a:p>
        </p:txBody>
      </p:sp>
    </p:spTree>
    <p:extLst>
      <p:ext uri="{BB962C8B-B14F-4D97-AF65-F5344CB8AC3E}">
        <p14:creationId xmlns:p14="http://schemas.microsoft.com/office/powerpoint/2010/main" val="772231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A3A14-CC83-CB59-C933-DB29F436E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DAB13-B01B-E4E1-3D7E-4821A13F090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121D84B-FC35-62CA-3348-DBA4135737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7B714E-A8C6-A381-3798-1D4915FD4DFE}"/>
              </a:ext>
            </a:extLst>
          </p:cNvPr>
          <p:cNvSpPr>
            <a:spLocks noGrp="1"/>
          </p:cNvSpPr>
          <p:nvPr>
            <p:ph type="sldNum" sz="quarter" idx="5"/>
          </p:nvPr>
        </p:nvSpPr>
        <p:spPr/>
        <p:txBody>
          <a:bodyPr/>
          <a:lstStyle/>
          <a:p>
            <a:fld id="{688C51AE-C483-2D4F-8F27-8D6A8821F4E1}" type="slidenum">
              <a:rPr lang="en-US" smtClean="0"/>
              <a:t>21</a:t>
            </a:fld>
            <a:endParaRPr lang="en-US"/>
          </a:p>
        </p:txBody>
      </p:sp>
    </p:spTree>
    <p:extLst>
      <p:ext uri="{BB962C8B-B14F-4D97-AF65-F5344CB8AC3E}">
        <p14:creationId xmlns:p14="http://schemas.microsoft.com/office/powerpoint/2010/main" val="203068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26C19-6084-1185-401A-1CADB68F5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32693-89DC-F5B8-6B24-14413E8B888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1518474-E1FE-4603-20A5-1CAE2362C6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B06B7F-B6EB-0806-E45E-42F9037ABDF9}"/>
              </a:ext>
            </a:extLst>
          </p:cNvPr>
          <p:cNvSpPr>
            <a:spLocks noGrp="1"/>
          </p:cNvSpPr>
          <p:nvPr>
            <p:ph type="sldNum" sz="quarter" idx="5"/>
          </p:nvPr>
        </p:nvSpPr>
        <p:spPr/>
        <p:txBody>
          <a:bodyPr/>
          <a:lstStyle/>
          <a:p>
            <a:fld id="{688C51AE-C483-2D4F-8F27-8D6A8821F4E1}" type="slidenum">
              <a:rPr lang="en-US" smtClean="0"/>
              <a:t>22</a:t>
            </a:fld>
            <a:endParaRPr lang="en-US"/>
          </a:p>
        </p:txBody>
      </p:sp>
    </p:spTree>
    <p:extLst>
      <p:ext uri="{BB962C8B-B14F-4D97-AF65-F5344CB8AC3E}">
        <p14:creationId xmlns:p14="http://schemas.microsoft.com/office/powerpoint/2010/main" val="23195703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C8867-B201-B255-33F7-3B1D12E9E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924BE-760D-E312-7E82-CC4E6CA89A3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9DCCF97-0749-470A-FB47-0DE6BE6F37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392A0A-9421-8577-277E-647F7B4EA219}"/>
              </a:ext>
            </a:extLst>
          </p:cNvPr>
          <p:cNvSpPr>
            <a:spLocks noGrp="1"/>
          </p:cNvSpPr>
          <p:nvPr>
            <p:ph type="sldNum" sz="quarter" idx="5"/>
          </p:nvPr>
        </p:nvSpPr>
        <p:spPr/>
        <p:txBody>
          <a:bodyPr/>
          <a:lstStyle/>
          <a:p>
            <a:fld id="{688C51AE-C483-2D4F-8F27-8D6A8821F4E1}" type="slidenum">
              <a:rPr lang="en-US" smtClean="0"/>
              <a:t>23</a:t>
            </a:fld>
            <a:endParaRPr lang="en-US"/>
          </a:p>
        </p:txBody>
      </p:sp>
    </p:spTree>
    <p:extLst>
      <p:ext uri="{BB962C8B-B14F-4D97-AF65-F5344CB8AC3E}">
        <p14:creationId xmlns:p14="http://schemas.microsoft.com/office/powerpoint/2010/main" val="29473367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B525C-92BB-E368-1B6C-737B2FC3A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83956-F475-59A1-8BC9-2A1C8DB2156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08DFF47-286B-E655-C46A-23C7D835E2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3DE7AB-0209-B6B6-1F2B-DCEA53E28ABC}"/>
              </a:ext>
            </a:extLst>
          </p:cNvPr>
          <p:cNvSpPr>
            <a:spLocks noGrp="1"/>
          </p:cNvSpPr>
          <p:nvPr>
            <p:ph type="sldNum" sz="quarter" idx="5"/>
          </p:nvPr>
        </p:nvSpPr>
        <p:spPr/>
        <p:txBody>
          <a:bodyPr/>
          <a:lstStyle/>
          <a:p>
            <a:fld id="{688C51AE-C483-2D4F-8F27-8D6A8821F4E1}" type="slidenum">
              <a:rPr lang="en-US" smtClean="0"/>
              <a:t>24</a:t>
            </a:fld>
            <a:endParaRPr lang="en-US"/>
          </a:p>
        </p:txBody>
      </p:sp>
    </p:spTree>
    <p:extLst>
      <p:ext uri="{BB962C8B-B14F-4D97-AF65-F5344CB8AC3E}">
        <p14:creationId xmlns:p14="http://schemas.microsoft.com/office/powerpoint/2010/main" val="904609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96B87-F051-4AB3-9589-EF41F6C03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47656-856E-58F5-EE08-484E87DB699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45B34F9-FB84-CF9F-2A45-D8D298EAB9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8CB8D-14AF-7A99-3DFE-7AFBCB325D61}"/>
              </a:ext>
            </a:extLst>
          </p:cNvPr>
          <p:cNvSpPr>
            <a:spLocks noGrp="1"/>
          </p:cNvSpPr>
          <p:nvPr>
            <p:ph type="sldNum" sz="quarter" idx="5"/>
          </p:nvPr>
        </p:nvSpPr>
        <p:spPr/>
        <p:txBody>
          <a:bodyPr/>
          <a:lstStyle/>
          <a:p>
            <a:fld id="{688C51AE-C483-2D4F-8F27-8D6A8821F4E1}" type="slidenum">
              <a:rPr lang="en-US" smtClean="0"/>
              <a:t>25</a:t>
            </a:fld>
            <a:endParaRPr lang="en-US"/>
          </a:p>
        </p:txBody>
      </p:sp>
    </p:spTree>
    <p:extLst>
      <p:ext uri="{BB962C8B-B14F-4D97-AF65-F5344CB8AC3E}">
        <p14:creationId xmlns:p14="http://schemas.microsoft.com/office/powerpoint/2010/main" val="2865801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9483-1F7A-EBDB-6380-7F7498C07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45CDC-456E-09CF-D457-1E02C5DC80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4D56C0-61BB-0971-86A6-11375A2697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F9A40E-8743-CC3C-5039-2F224A7DD0C7}"/>
              </a:ext>
            </a:extLst>
          </p:cNvPr>
          <p:cNvSpPr>
            <a:spLocks noGrp="1"/>
          </p:cNvSpPr>
          <p:nvPr>
            <p:ph type="sldNum" sz="quarter" idx="5"/>
          </p:nvPr>
        </p:nvSpPr>
        <p:spPr/>
        <p:txBody>
          <a:bodyPr/>
          <a:lstStyle/>
          <a:p>
            <a:fld id="{688C51AE-C483-2D4F-8F27-8D6A8821F4E1}" type="slidenum">
              <a:rPr lang="en-US" smtClean="0"/>
              <a:t>26</a:t>
            </a:fld>
            <a:endParaRPr lang="en-US"/>
          </a:p>
        </p:txBody>
      </p:sp>
    </p:spTree>
    <p:extLst>
      <p:ext uri="{BB962C8B-B14F-4D97-AF65-F5344CB8AC3E}">
        <p14:creationId xmlns:p14="http://schemas.microsoft.com/office/powerpoint/2010/main" val="17737429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6AE9-DB33-5F8E-A2DC-2C911953E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55AF1-295F-820D-A296-D32B2F79F3C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704E36C-5C12-5FDC-FEAF-E71AB0A93F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D934D4-64A1-B794-D178-52C5E5906AD6}"/>
              </a:ext>
            </a:extLst>
          </p:cNvPr>
          <p:cNvSpPr>
            <a:spLocks noGrp="1"/>
          </p:cNvSpPr>
          <p:nvPr>
            <p:ph type="sldNum" sz="quarter" idx="5"/>
          </p:nvPr>
        </p:nvSpPr>
        <p:spPr/>
        <p:txBody>
          <a:bodyPr/>
          <a:lstStyle/>
          <a:p>
            <a:fld id="{688C51AE-C483-2D4F-8F27-8D6A8821F4E1}" type="slidenum">
              <a:rPr lang="en-US" smtClean="0"/>
              <a:t>27</a:t>
            </a:fld>
            <a:endParaRPr lang="en-US"/>
          </a:p>
        </p:txBody>
      </p:sp>
    </p:spTree>
    <p:extLst>
      <p:ext uri="{BB962C8B-B14F-4D97-AF65-F5344CB8AC3E}">
        <p14:creationId xmlns:p14="http://schemas.microsoft.com/office/powerpoint/2010/main" val="262788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9FA28-31CF-FB51-0B1F-F7DD90ACD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7022D-BA65-F2AB-6507-200ECA08C42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941CED-3279-565A-8E81-548A308980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F229CD-2E65-FE90-379A-84BBF080FDD4}"/>
              </a:ext>
            </a:extLst>
          </p:cNvPr>
          <p:cNvSpPr>
            <a:spLocks noGrp="1"/>
          </p:cNvSpPr>
          <p:nvPr>
            <p:ph type="sldNum" sz="quarter" idx="5"/>
          </p:nvPr>
        </p:nvSpPr>
        <p:spPr/>
        <p:txBody>
          <a:bodyPr/>
          <a:lstStyle/>
          <a:p>
            <a:fld id="{688C51AE-C483-2D4F-8F27-8D6A8821F4E1}" type="slidenum">
              <a:rPr lang="en-US" smtClean="0"/>
              <a:t>28</a:t>
            </a:fld>
            <a:endParaRPr lang="en-US"/>
          </a:p>
        </p:txBody>
      </p:sp>
    </p:spTree>
    <p:extLst>
      <p:ext uri="{BB962C8B-B14F-4D97-AF65-F5344CB8AC3E}">
        <p14:creationId xmlns:p14="http://schemas.microsoft.com/office/powerpoint/2010/main" val="1392032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D4AC6-D5C0-4AC2-6932-668A05984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2356B-6A52-A3D6-9170-47BF583C735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F3A044-C979-CC52-5D83-CF0C2A2ED8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D4D67F-A8CA-A64C-6163-F0A157154C05}"/>
              </a:ext>
            </a:extLst>
          </p:cNvPr>
          <p:cNvSpPr>
            <a:spLocks noGrp="1"/>
          </p:cNvSpPr>
          <p:nvPr>
            <p:ph type="sldNum" sz="quarter" idx="5"/>
          </p:nvPr>
        </p:nvSpPr>
        <p:spPr/>
        <p:txBody>
          <a:bodyPr/>
          <a:lstStyle/>
          <a:p>
            <a:fld id="{688C51AE-C483-2D4F-8F27-8D6A8821F4E1}" type="slidenum">
              <a:rPr lang="en-US" smtClean="0"/>
              <a:t>29</a:t>
            </a:fld>
            <a:endParaRPr lang="en-US"/>
          </a:p>
        </p:txBody>
      </p:sp>
    </p:spTree>
    <p:extLst>
      <p:ext uri="{BB962C8B-B14F-4D97-AF65-F5344CB8AC3E}">
        <p14:creationId xmlns:p14="http://schemas.microsoft.com/office/powerpoint/2010/main" val="2792991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0AA8B-F29F-A9E7-405A-77DBA5F3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1334E-B242-3906-0CC1-5F06DA8C165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5D49F81-D1F2-F179-89D1-6B72CD12B5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F84043-0EB3-9133-2972-D2E1774F9DD0}"/>
              </a:ext>
            </a:extLst>
          </p:cNvPr>
          <p:cNvSpPr>
            <a:spLocks noGrp="1"/>
          </p:cNvSpPr>
          <p:nvPr>
            <p:ph type="sldNum" sz="quarter" idx="5"/>
          </p:nvPr>
        </p:nvSpPr>
        <p:spPr/>
        <p:txBody>
          <a:bodyPr/>
          <a:lstStyle/>
          <a:p>
            <a:fld id="{688C51AE-C483-2D4F-8F27-8D6A8821F4E1}" type="slidenum">
              <a:rPr lang="en-US" smtClean="0"/>
              <a:t>30</a:t>
            </a:fld>
            <a:endParaRPr lang="en-US"/>
          </a:p>
        </p:txBody>
      </p:sp>
    </p:spTree>
    <p:extLst>
      <p:ext uri="{BB962C8B-B14F-4D97-AF65-F5344CB8AC3E}">
        <p14:creationId xmlns:p14="http://schemas.microsoft.com/office/powerpoint/2010/main" val="15394504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7D44C-DC24-EE7D-5BEB-375810E96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A437F-8B06-8FDF-65B8-718A201816A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435010E-8EE2-D5BB-1EFC-FA362C34E9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591AE7-8566-CE08-FE5E-7756B119588E}"/>
              </a:ext>
            </a:extLst>
          </p:cNvPr>
          <p:cNvSpPr>
            <a:spLocks noGrp="1"/>
          </p:cNvSpPr>
          <p:nvPr>
            <p:ph type="sldNum" sz="quarter" idx="5"/>
          </p:nvPr>
        </p:nvSpPr>
        <p:spPr/>
        <p:txBody>
          <a:bodyPr/>
          <a:lstStyle/>
          <a:p>
            <a:fld id="{688C51AE-C483-2D4F-8F27-8D6A8821F4E1}" type="slidenum">
              <a:rPr lang="en-US" smtClean="0"/>
              <a:t>31</a:t>
            </a:fld>
            <a:endParaRPr lang="en-US"/>
          </a:p>
        </p:txBody>
      </p:sp>
    </p:spTree>
    <p:extLst>
      <p:ext uri="{BB962C8B-B14F-4D97-AF65-F5344CB8AC3E}">
        <p14:creationId xmlns:p14="http://schemas.microsoft.com/office/powerpoint/2010/main" val="7949319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B60AB-14EC-E8CF-C362-B0A2B88D0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75E50-90C2-E0AB-AA59-7BE3BBAD152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DB09B4F-E06A-BA4B-19DC-704F75F0A9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D66E31-AAC6-B0FA-9DD4-0736119FD019}"/>
              </a:ext>
            </a:extLst>
          </p:cNvPr>
          <p:cNvSpPr>
            <a:spLocks noGrp="1"/>
          </p:cNvSpPr>
          <p:nvPr>
            <p:ph type="sldNum" sz="quarter" idx="5"/>
          </p:nvPr>
        </p:nvSpPr>
        <p:spPr/>
        <p:txBody>
          <a:bodyPr/>
          <a:lstStyle/>
          <a:p>
            <a:fld id="{688C51AE-C483-2D4F-8F27-8D6A8821F4E1}" type="slidenum">
              <a:rPr lang="en-US" smtClean="0"/>
              <a:t>32</a:t>
            </a:fld>
            <a:endParaRPr lang="en-US"/>
          </a:p>
        </p:txBody>
      </p:sp>
    </p:spTree>
    <p:extLst>
      <p:ext uri="{BB962C8B-B14F-4D97-AF65-F5344CB8AC3E}">
        <p14:creationId xmlns:p14="http://schemas.microsoft.com/office/powerpoint/2010/main" val="12242938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B367D-CB99-0C31-B798-F8A22231B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2D735-0A24-1561-A619-3121214FD9D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4F77F73-04D1-8992-915F-6E647264D4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0117FF-E507-E88A-A81D-35C12F702490}"/>
              </a:ext>
            </a:extLst>
          </p:cNvPr>
          <p:cNvSpPr>
            <a:spLocks noGrp="1"/>
          </p:cNvSpPr>
          <p:nvPr>
            <p:ph type="sldNum" sz="quarter" idx="5"/>
          </p:nvPr>
        </p:nvSpPr>
        <p:spPr/>
        <p:txBody>
          <a:bodyPr/>
          <a:lstStyle/>
          <a:p>
            <a:fld id="{688C51AE-C483-2D4F-8F27-8D6A8821F4E1}" type="slidenum">
              <a:rPr lang="en-US" smtClean="0"/>
              <a:t>33</a:t>
            </a:fld>
            <a:endParaRPr lang="en-US"/>
          </a:p>
        </p:txBody>
      </p:sp>
    </p:spTree>
    <p:extLst>
      <p:ext uri="{BB962C8B-B14F-4D97-AF65-F5344CB8AC3E}">
        <p14:creationId xmlns:p14="http://schemas.microsoft.com/office/powerpoint/2010/main" val="39768386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6A14C-F996-81C3-3800-F2FF4EDF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817EE-0E47-001D-30A8-AEC806A16B4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7D1AB71-4AB0-1F07-24FF-F2FE0B70D3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425F82-413B-727E-6A68-A8CB6DD4BFE3}"/>
              </a:ext>
            </a:extLst>
          </p:cNvPr>
          <p:cNvSpPr>
            <a:spLocks noGrp="1"/>
          </p:cNvSpPr>
          <p:nvPr>
            <p:ph type="sldNum" sz="quarter" idx="5"/>
          </p:nvPr>
        </p:nvSpPr>
        <p:spPr/>
        <p:txBody>
          <a:bodyPr/>
          <a:lstStyle/>
          <a:p>
            <a:fld id="{688C51AE-C483-2D4F-8F27-8D6A8821F4E1}" type="slidenum">
              <a:rPr lang="en-US" smtClean="0"/>
              <a:t>34</a:t>
            </a:fld>
            <a:endParaRPr lang="en-US"/>
          </a:p>
        </p:txBody>
      </p:sp>
    </p:spTree>
    <p:extLst>
      <p:ext uri="{BB962C8B-B14F-4D97-AF65-F5344CB8AC3E}">
        <p14:creationId xmlns:p14="http://schemas.microsoft.com/office/powerpoint/2010/main" val="7882155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3CDF2-7A70-4FE0-F24B-B3295859F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F5186-4111-3378-E260-13DB9DA0F43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CD1163-D7EC-FCFA-8410-F3D9FCE79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494605-B2D8-5C57-3A2F-95D991D3170F}"/>
              </a:ext>
            </a:extLst>
          </p:cNvPr>
          <p:cNvSpPr>
            <a:spLocks noGrp="1"/>
          </p:cNvSpPr>
          <p:nvPr>
            <p:ph type="sldNum" sz="quarter" idx="5"/>
          </p:nvPr>
        </p:nvSpPr>
        <p:spPr/>
        <p:txBody>
          <a:bodyPr/>
          <a:lstStyle/>
          <a:p>
            <a:fld id="{688C51AE-C483-2D4F-8F27-8D6A8821F4E1}" type="slidenum">
              <a:rPr lang="en-US" smtClean="0"/>
              <a:t>35</a:t>
            </a:fld>
            <a:endParaRPr lang="en-US"/>
          </a:p>
        </p:txBody>
      </p:sp>
    </p:spTree>
    <p:extLst>
      <p:ext uri="{BB962C8B-B14F-4D97-AF65-F5344CB8AC3E}">
        <p14:creationId xmlns:p14="http://schemas.microsoft.com/office/powerpoint/2010/main" val="34216324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246E-4EC9-E6DC-4DA9-519803A0D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AE792-43E5-CDAA-46DB-E7669876903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0821EE9-816D-2DE2-8DF9-115E791FB2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6CBA1F-B18F-D9BD-B146-0F7417705954}"/>
              </a:ext>
            </a:extLst>
          </p:cNvPr>
          <p:cNvSpPr>
            <a:spLocks noGrp="1"/>
          </p:cNvSpPr>
          <p:nvPr>
            <p:ph type="sldNum" sz="quarter" idx="5"/>
          </p:nvPr>
        </p:nvSpPr>
        <p:spPr/>
        <p:txBody>
          <a:bodyPr/>
          <a:lstStyle/>
          <a:p>
            <a:fld id="{688C51AE-C483-2D4F-8F27-8D6A8821F4E1}" type="slidenum">
              <a:rPr lang="en-US" smtClean="0"/>
              <a:t>36</a:t>
            </a:fld>
            <a:endParaRPr lang="en-US"/>
          </a:p>
        </p:txBody>
      </p:sp>
    </p:spTree>
    <p:extLst>
      <p:ext uri="{BB962C8B-B14F-4D97-AF65-F5344CB8AC3E}">
        <p14:creationId xmlns:p14="http://schemas.microsoft.com/office/powerpoint/2010/main" val="39564638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7E65-F0C4-4D28-6C45-0CB5E4EE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26243-A0FE-B09D-FB40-D2ED1D1644F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B554BBD-28F7-A017-4A32-66BFDE3E65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17486-FC80-B146-0010-506E242DC592}"/>
              </a:ext>
            </a:extLst>
          </p:cNvPr>
          <p:cNvSpPr>
            <a:spLocks noGrp="1"/>
          </p:cNvSpPr>
          <p:nvPr>
            <p:ph type="sldNum" sz="quarter" idx="5"/>
          </p:nvPr>
        </p:nvSpPr>
        <p:spPr/>
        <p:txBody>
          <a:bodyPr/>
          <a:lstStyle/>
          <a:p>
            <a:fld id="{688C51AE-C483-2D4F-8F27-8D6A8821F4E1}" type="slidenum">
              <a:rPr lang="en-US" smtClean="0"/>
              <a:t>37</a:t>
            </a:fld>
            <a:endParaRPr lang="en-US"/>
          </a:p>
        </p:txBody>
      </p:sp>
    </p:spTree>
    <p:extLst>
      <p:ext uri="{BB962C8B-B14F-4D97-AF65-F5344CB8AC3E}">
        <p14:creationId xmlns:p14="http://schemas.microsoft.com/office/powerpoint/2010/main" val="14931146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3648A-02B8-A424-DC2F-26AECCBE1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3FEB-F915-AAFA-7EF6-B25942DC1A0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A8ADAA7-E29A-EA23-5E8E-77870E6ED0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4B7769-5500-48C2-2B45-811370D895C9}"/>
              </a:ext>
            </a:extLst>
          </p:cNvPr>
          <p:cNvSpPr>
            <a:spLocks noGrp="1"/>
          </p:cNvSpPr>
          <p:nvPr>
            <p:ph type="sldNum" sz="quarter" idx="5"/>
          </p:nvPr>
        </p:nvSpPr>
        <p:spPr/>
        <p:txBody>
          <a:bodyPr/>
          <a:lstStyle/>
          <a:p>
            <a:fld id="{688C51AE-C483-2D4F-8F27-8D6A8821F4E1}" type="slidenum">
              <a:rPr lang="en-US" smtClean="0"/>
              <a:t>38</a:t>
            </a:fld>
            <a:endParaRPr lang="en-US"/>
          </a:p>
        </p:txBody>
      </p:sp>
    </p:spTree>
    <p:extLst>
      <p:ext uri="{BB962C8B-B14F-4D97-AF65-F5344CB8AC3E}">
        <p14:creationId xmlns:p14="http://schemas.microsoft.com/office/powerpoint/2010/main" val="30214351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CCAB-41DC-0247-1BBC-697F15149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0F109-62F3-7B0B-7C71-B804D62BA4F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DBDD5E6-CE13-595A-423B-5A2C7A39F3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14C8D1-0C86-AA5C-27D9-383C2C5FEBF7}"/>
              </a:ext>
            </a:extLst>
          </p:cNvPr>
          <p:cNvSpPr>
            <a:spLocks noGrp="1"/>
          </p:cNvSpPr>
          <p:nvPr>
            <p:ph type="sldNum" sz="quarter" idx="5"/>
          </p:nvPr>
        </p:nvSpPr>
        <p:spPr/>
        <p:txBody>
          <a:bodyPr/>
          <a:lstStyle/>
          <a:p>
            <a:fld id="{688C51AE-C483-2D4F-8F27-8D6A8821F4E1}" type="slidenum">
              <a:rPr lang="en-US" smtClean="0"/>
              <a:t>39</a:t>
            </a:fld>
            <a:endParaRPr lang="en-US"/>
          </a:p>
        </p:txBody>
      </p:sp>
    </p:spTree>
    <p:extLst>
      <p:ext uri="{BB962C8B-B14F-4D97-AF65-F5344CB8AC3E}">
        <p14:creationId xmlns:p14="http://schemas.microsoft.com/office/powerpoint/2010/main" val="3503430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BE36-386D-ADB2-447E-DCF2EF2C7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1B550-7160-F687-82A4-B4A46DD23BE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7341E96-C0E1-828D-D309-98A47E8914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EE3598-FADC-E012-639C-0FBE31DD0326}"/>
              </a:ext>
            </a:extLst>
          </p:cNvPr>
          <p:cNvSpPr>
            <a:spLocks noGrp="1"/>
          </p:cNvSpPr>
          <p:nvPr>
            <p:ph type="sldNum" sz="quarter" idx="5"/>
          </p:nvPr>
        </p:nvSpPr>
        <p:spPr/>
        <p:txBody>
          <a:bodyPr/>
          <a:lstStyle/>
          <a:p>
            <a:fld id="{688C51AE-C483-2D4F-8F27-8D6A8821F4E1}" type="slidenum">
              <a:rPr lang="en-US" smtClean="0"/>
              <a:t>40</a:t>
            </a:fld>
            <a:endParaRPr lang="en-US"/>
          </a:p>
        </p:txBody>
      </p:sp>
    </p:spTree>
    <p:extLst>
      <p:ext uri="{BB962C8B-B14F-4D97-AF65-F5344CB8AC3E}">
        <p14:creationId xmlns:p14="http://schemas.microsoft.com/office/powerpoint/2010/main" val="151062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1E4EA-7395-E993-DABF-C98197E66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09461-4FCB-7E7C-7E76-8F7B957DDD1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332A04C-F574-70A8-8F42-5AFAB6FAC0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952FFC-80A9-E6B4-E2AD-A7D6B4A743B7}"/>
              </a:ext>
            </a:extLst>
          </p:cNvPr>
          <p:cNvSpPr>
            <a:spLocks noGrp="1"/>
          </p:cNvSpPr>
          <p:nvPr>
            <p:ph type="sldNum" sz="quarter" idx="5"/>
          </p:nvPr>
        </p:nvSpPr>
        <p:spPr/>
        <p:txBody>
          <a:bodyPr/>
          <a:lstStyle/>
          <a:p>
            <a:fld id="{688C51AE-C483-2D4F-8F27-8D6A8821F4E1}" type="slidenum">
              <a:rPr lang="en-US" smtClean="0"/>
              <a:t>41</a:t>
            </a:fld>
            <a:endParaRPr lang="en-US"/>
          </a:p>
        </p:txBody>
      </p:sp>
    </p:spTree>
    <p:extLst>
      <p:ext uri="{BB962C8B-B14F-4D97-AF65-F5344CB8AC3E}">
        <p14:creationId xmlns:p14="http://schemas.microsoft.com/office/powerpoint/2010/main" val="26438129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AC93B-9903-104A-31CA-F22DFEAFB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DB97E-20DA-B7CE-0C1F-94FC73138ED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28A4AD7-7D6E-11D4-42C9-AC3DCD069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59E503-DE29-455F-CA96-CE3BDC83EE68}"/>
              </a:ext>
            </a:extLst>
          </p:cNvPr>
          <p:cNvSpPr>
            <a:spLocks noGrp="1"/>
          </p:cNvSpPr>
          <p:nvPr>
            <p:ph type="sldNum" sz="quarter" idx="5"/>
          </p:nvPr>
        </p:nvSpPr>
        <p:spPr/>
        <p:txBody>
          <a:bodyPr/>
          <a:lstStyle/>
          <a:p>
            <a:fld id="{688C51AE-C483-2D4F-8F27-8D6A8821F4E1}" type="slidenum">
              <a:rPr lang="en-US" smtClean="0"/>
              <a:t>42</a:t>
            </a:fld>
            <a:endParaRPr lang="en-US"/>
          </a:p>
        </p:txBody>
      </p:sp>
    </p:spTree>
    <p:extLst>
      <p:ext uri="{BB962C8B-B14F-4D97-AF65-F5344CB8AC3E}">
        <p14:creationId xmlns:p14="http://schemas.microsoft.com/office/powerpoint/2010/main" val="6911213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hapter Opener: author at top">
    <p:spTree>
      <p:nvGrpSpPr>
        <p:cNvPr id="1" name=""/>
        <p:cNvGrpSpPr/>
        <p:nvPr/>
      </p:nvGrpSpPr>
      <p:grpSpPr>
        <a:xfrm>
          <a:off x="0" y="0"/>
          <a:ext cx="0" cy="0"/>
          <a:chOff x="0" y="0"/>
          <a:chExt cx="0" cy="0"/>
        </a:xfrm>
      </p:grpSpPr>
      <p:sp>
        <p:nvSpPr>
          <p:cNvPr id="2" name="Title "/>
          <p:cNvSpPr>
            <a:spLocks noGrp="1"/>
          </p:cNvSpPr>
          <p:nvPr>
            <p:ph type="ctrTitle" hasCustomPrompt="1"/>
          </p:nvPr>
        </p:nvSpPr>
        <p:spPr>
          <a:xfrm>
            <a:off x="443345" y="464185"/>
            <a:ext cx="11294227" cy="1066801"/>
          </a:xfrm>
          <a:prstGeom prst="rect">
            <a:avLst/>
          </a:prstGeom>
        </p:spPr>
        <p:txBody>
          <a:bodyPr anchor="t">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5" name="Edition">
            <a:extLst>
              <a:ext uri="{FF2B5EF4-FFF2-40B4-BE49-F238E27FC236}">
                <a16:creationId xmlns:a16="http://schemas.microsoft.com/office/drawing/2014/main" id="{B16BE010-E2AD-8943-AA26-A3BD45390A63}"/>
              </a:ext>
            </a:extLst>
          </p:cNvPr>
          <p:cNvSpPr>
            <a:spLocks noGrp="1"/>
          </p:cNvSpPr>
          <p:nvPr>
            <p:ph sz="quarter" idx="24" hasCustomPrompt="1"/>
          </p:nvPr>
        </p:nvSpPr>
        <p:spPr>
          <a:xfrm>
            <a:off x="442384" y="1414249"/>
            <a:ext cx="11294533" cy="603504"/>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stStyle>
          <a:p>
            <a:pPr lvl="0"/>
            <a:r>
              <a:rPr lang="en-US" dirty="0"/>
              <a:t>Third Edition</a:t>
            </a:r>
          </a:p>
        </p:txBody>
      </p:sp>
      <p:sp>
        <p:nvSpPr>
          <p:cNvPr id="7" name="Author">
            <a:extLst>
              <a:ext uri="{FF2B5EF4-FFF2-40B4-BE49-F238E27FC236}">
                <a16:creationId xmlns:a16="http://schemas.microsoft.com/office/drawing/2014/main" id="{D071BBAD-F08D-AA46-8DDD-B137F9C0B7FA}"/>
              </a:ext>
            </a:extLst>
          </p:cNvPr>
          <p:cNvSpPr>
            <a:spLocks noGrp="1"/>
          </p:cNvSpPr>
          <p:nvPr>
            <p:ph sz="quarter" idx="25" hasCustomPrompt="1"/>
          </p:nvPr>
        </p:nvSpPr>
        <p:spPr>
          <a:xfrm>
            <a:off x="442384" y="2234394"/>
            <a:ext cx="11294533" cy="668222"/>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4" name="CN">
            <a:extLst>
              <a:ext uri="{FF2B5EF4-FFF2-40B4-BE49-F238E27FC236}">
                <a16:creationId xmlns:a16="http://schemas.microsoft.com/office/drawing/2014/main" id="{7D7AAD37-2105-EA4E-810B-DEF0E8A3B04B}"/>
              </a:ext>
            </a:extLst>
          </p:cNvPr>
          <p:cNvSpPr>
            <a:spLocks noGrp="1"/>
          </p:cNvSpPr>
          <p:nvPr>
            <p:ph sz="quarter" idx="26" hasCustomPrompt="1"/>
          </p:nvPr>
        </p:nvSpPr>
        <p:spPr>
          <a:xfrm>
            <a:off x="442384" y="3909878"/>
            <a:ext cx="11294533" cy="533400"/>
          </a:xfrm>
          <a:prstGeom prst="rect">
            <a:avLst/>
          </a:prstGeom>
        </p:spPr>
        <p:txBody>
          <a:bodyPr>
            <a:noAutofit/>
          </a:bodyPr>
          <a:lstStyle>
            <a:lvl1pPr marL="0" indent="0" algn="ctr">
              <a:buNone/>
              <a:defRPr sz="2300" b="1" i="0" spc="450">
                <a:solidFill>
                  <a:schemeClr val="accent3"/>
                </a:solidFill>
                <a:latin typeface="Times" pitchFamily="2" charset="0"/>
                <a:cs typeface="Calibri" panose="020F0502020204030204" pitchFamily="34" charset="0"/>
              </a:defRPr>
            </a:lvl1pPr>
          </a:lstStyle>
          <a:p>
            <a:pPr lvl="0"/>
            <a:r>
              <a:rPr lang="en-US" dirty="0"/>
              <a:t>CHAPTER 1</a:t>
            </a:r>
          </a:p>
        </p:txBody>
      </p:sp>
      <p:sp>
        <p:nvSpPr>
          <p:cNvPr id="3" name="CT"/>
          <p:cNvSpPr>
            <a:spLocks noGrp="1"/>
          </p:cNvSpPr>
          <p:nvPr>
            <p:ph type="subTitle" idx="1" hasCustomPrompt="1"/>
          </p:nvPr>
        </p:nvSpPr>
        <p:spPr>
          <a:xfrm>
            <a:off x="443345" y="4226859"/>
            <a:ext cx="11294227" cy="2286000"/>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Chapter Title</a:t>
            </a:r>
          </a:p>
        </p:txBody>
      </p:sp>
      <p:pic>
        <p:nvPicPr>
          <p:cNvPr id="6" name="Logo">
            <a:extLst>
              <a:ext uri="{FF2B5EF4-FFF2-40B4-BE49-F238E27FC236}">
                <a16:creationId xmlns:a16="http://schemas.microsoft.com/office/drawing/2014/main" id="{076F5C57-EF05-B54E-BD97-6E0EACCBC874}"/>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701DEE96-975A-2A49-BF22-625374CB4B0A}"/>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0" name="Decorative">
            <a:extLst>
              <a:ext uri="{FF2B5EF4-FFF2-40B4-BE49-F238E27FC236}">
                <a16:creationId xmlns:a16="http://schemas.microsoft.com/office/drawing/2014/main" id="{03EE7FB3-778B-8D48-B422-96226F5FE35E}"/>
              </a:ext>
              <a:ext uri="{C183D7F6-B498-43B3-948B-1728B52AA6E4}">
                <adec:decorative xmlns:adec="http://schemas.microsoft.com/office/drawing/2017/decorative" val="1"/>
              </a:ext>
            </a:extLst>
          </p:cNvPr>
          <p:cNvGrpSpPr/>
          <p:nvPr/>
        </p:nvGrpSpPr>
        <p:grpSpPr>
          <a:xfrm>
            <a:off x="0" y="3081528"/>
            <a:ext cx="12192000" cy="347472"/>
            <a:chOff x="0" y="3089817"/>
            <a:chExt cx="12192000" cy="347472"/>
          </a:xfrm>
        </p:grpSpPr>
        <p:sp>
          <p:nvSpPr>
            <p:cNvPr id="12" name="Rectangle">
              <a:extLst>
                <a:ext uri="{FF2B5EF4-FFF2-40B4-BE49-F238E27FC236}">
                  <a16:creationId xmlns:a16="http://schemas.microsoft.com/office/drawing/2014/main" id="{2A78E3D0-E07D-7E4F-92F5-2C47C124D0A7}"/>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9" name="Rectangle">
              <a:extLst>
                <a:ext uri="{FF2B5EF4-FFF2-40B4-BE49-F238E27FC236}">
                  <a16:creationId xmlns:a16="http://schemas.microsoft.com/office/drawing/2014/main" id="{CA4B4EE4-0763-C24B-BE56-9BEDAE60F35A}"/>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8C5FBFDD-ED67-F54F-8ACE-25B8836B078A}"/>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4" name="Logo">
            <a:extLst>
              <a:ext uri="{FF2B5EF4-FFF2-40B4-BE49-F238E27FC236}">
                <a16:creationId xmlns:a16="http://schemas.microsoft.com/office/drawing/2014/main" id="{81428C14-2284-8418-0DEA-19D1F2947537}"/>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8" name="Decorative">
            <a:extLst>
              <a:ext uri="{FF2B5EF4-FFF2-40B4-BE49-F238E27FC236}">
                <a16:creationId xmlns:a16="http://schemas.microsoft.com/office/drawing/2014/main" id="{1A10813D-06D2-AF3A-4502-3B392F9F59B9}"/>
              </a:ext>
              <a:ext uri="{C183D7F6-B498-43B3-948B-1728B52AA6E4}">
                <adec:decorative xmlns:adec="http://schemas.microsoft.com/office/drawing/2017/decorative" val="1"/>
              </a:ext>
            </a:extLst>
          </p:cNvPr>
          <p:cNvGrpSpPr/>
          <p:nvPr userDrawn="1"/>
        </p:nvGrpSpPr>
        <p:grpSpPr>
          <a:xfrm>
            <a:off x="0" y="3081528"/>
            <a:ext cx="12192000" cy="347472"/>
            <a:chOff x="0" y="3089817"/>
            <a:chExt cx="12192000" cy="347472"/>
          </a:xfrm>
        </p:grpSpPr>
        <p:sp>
          <p:nvSpPr>
            <p:cNvPr id="11" name="Rectangle">
              <a:extLst>
                <a:ext uri="{FF2B5EF4-FFF2-40B4-BE49-F238E27FC236}">
                  <a16:creationId xmlns:a16="http://schemas.microsoft.com/office/drawing/2014/main" id="{FB63D611-AF3E-3C9D-444C-8546FC64825E}"/>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57A5103B-0112-2BF0-E916-B689CF7C5C4C}"/>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206B1838-BD64-855A-E858-2B426AFCB764}"/>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7850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4F7FD46-EC67-CB42-BDEB-4574D2915560}"/>
              </a:ext>
            </a:extLst>
          </p:cNvPr>
          <p:cNvSpPr>
            <a:spLocks noGrp="1"/>
          </p:cNvSpPr>
          <p:nvPr>
            <p:ph type="title" hasCustomPrompt="1"/>
          </p:nvPr>
        </p:nvSpPr>
        <p:spPr>
          <a:xfrm>
            <a:off x="442693" y="3239350"/>
            <a:ext cx="11294227" cy="1792150"/>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4" name="Edition">
            <a:extLst>
              <a:ext uri="{FF2B5EF4-FFF2-40B4-BE49-F238E27FC236}">
                <a16:creationId xmlns:a16="http://schemas.microsoft.com/office/drawing/2014/main" id="{B1132A1D-83C2-484F-8B2B-0AE9CDFA7CE4}"/>
              </a:ext>
            </a:extLst>
          </p:cNvPr>
          <p:cNvSpPr>
            <a:spLocks noGrp="1"/>
          </p:cNvSpPr>
          <p:nvPr>
            <p:ph sz="quarter" idx="26" hasCustomPrompt="1"/>
          </p:nvPr>
        </p:nvSpPr>
        <p:spPr>
          <a:xfrm>
            <a:off x="442384" y="4599979"/>
            <a:ext cx="11294533" cy="606829"/>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4" name="CN">
            <a:extLst>
              <a:ext uri="{FF2B5EF4-FFF2-40B4-BE49-F238E27FC236}">
                <a16:creationId xmlns:a16="http://schemas.microsoft.com/office/drawing/2014/main" id="{D25FCFE5-AC52-324F-B495-E1961647D016}"/>
              </a:ext>
            </a:extLst>
          </p:cNvPr>
          <p:cNvSpPr>
            <a:spLocks noGrp="1"/>
          </p:cNvSpPr>
          <p:nvPr>
            <p:ph sz="quarter" idx="24" hasCustomPrompt="1"/>
          </p:nvPr>
        </p:nvSpPr>
        <p:spPr>
          <a:xfrm>
            <a:off x="442384" y="469543"/>
            <a:ext cx="11294533" cy="492622"/>
          </a:xfrm>
          <a:prstGeom prst="rect">
            <a:avLst/>
          </a:prstGeom>
        </p:spPr>
        <p:txBody>
          <a:bodyPr>
            <a:noAutofit/>
          </a:bodyPr>
          <a:lstStyle>
            <a:lvl1pPr marL="0" indent="0" algn="ctr">
              <a:buNone/>
              <a:defRPr sz="2300" b="1" spc="450">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2" name="CT">
            <a:extLst>
              <a:ext uri="{FF2B5EF4-FFF2-40B4-BE49-F238E27FC236}">
                <a16:creationId xmlns:a16="http://schemas.microsoft.com/office/drawing/2014/main" id="{F735601A-B5EA-F54B-BA38-DCB45C4A1328}"/>
              </a:ext>
            </a:extLst>
          </p:cNvPr>
          <p:cNvSpPr>
            <a:spLocks noGrp="1"/>
          </p:cNvSpPr>
          <p:nvPr>
            <p:ph sz="quarter" idx="25" hasCustomPrompt="1"/>
          </p:nvPr>
        </p:nvSpPr>
        <p:spPr>
          <a:xfrm>
            <a:off x="442384" y="921829"/>
            <a:ext cx="11294533" cy="1748433"/>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16" name="Author">
            <a:extLst>
              <a:ext uri="{FF2B5EF4-FFF2-40B4-BE49-F238E27FC236}">
                <a16:creationId xmlns:a16="http://schemas.microsoft.com/office/drawing/2014/main" id="{B3E3A9B7-50B3-7146-9DE9-810F099F4CC8}"/>
              </a:ext>
            </a:extLst>
          </p:cNvPr>
          <p:cNvSpPr>
            <a:spLocks noGrp="1"/>
          </p:cNvSpPr>
          <p:nvPr>
            <p:ph sz="quarter" idx="27" hasCustomPrompt="1"/>
          </p:nvPr>
        </p:nvSpPr>
        <p:spPr>
          <a:xfrm>
            <a:off x="442384" y="5497561"/>
            <a:ext cx="11294533" cy="622213"/>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solidFill>
                  <a:schemeClr val="accent2"/>
                </a:solidFill>
              </a:defRPr>
            </a:lvl2pPr>
            <a:lvl3pPr marL="480060" indent="0" algn="ctr">
              <a:buNone/>
              <a:defRPr>
                <a:solidFill>
                  <a:schemeClr val="accent2"/>
                </a:solidFill>
              </a:defRPr>
            </a:lvl3pPr>
            <a:lvl4pPr marL="685800" indent="0" algn="ctr">
              <a:buNone/>
              <a:defRPr>
                <a:solidFill>
                  <a:schemeClr val="accent2"/>
                </a:solidFill>
              </a:defRPr>
            </a:lvl4pPr>
            <a:lvl5pPr marL="891540" indent="0" algn="ctr">
              <a:buNone/>
              <a:defRPr>
                <a:solidFill>
                  <a:schemeClr val="accent2"/>
                </a:solidFill>
              </a:defRPr>
            </a:lvl5pPr>
          </a:lstStyle>
          <a:p>
            <a:pPr lvl="0"/>
            <a:r>
              <a:rPr lang="en-US" dirty="0"/>
              <a:t>David Klein</a:t>
            </a:r>
          </a:p>
        </p:txBody>
      </p:sp>
      <p:pic>
        <p:nvPicPr>
          <p:cNvPr id="19" name="Logo">
            <a:extLst>
              <a:ext uri="{FF2B5EF4-FFF2-40B4-BE49-F238E27FC236}">
                <a16:creationId xmlns:a16="http://schemas.microsoft.com/office/drawing/2014/main" id="{CCE8835F-9AAF-DB47-9FE6-EB4956C44F93}"/>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EA806F02-AA3F-8D46-97DD-5954EEE9E3EF}"/>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9" name="Decorative">
            <a:extLst>
              <a:ext uri="{FF2B5EF4-FFF2-40B4-BE49-F238E27FC236}">
                <a16:creationId xmlns:a16="http://schemas.microsoft.com/office/drawing/2014/main" id="{EB8A6A9A-221C-6048-A34B-24FA446C5C9B}"/>
              </a:ext>
              <a:ext uri="{C183D7F6-B498-43B3-948B-1728B52AA6E4}">
                <adec:decorative xmlns:adec="http://schemas.microsoft.com/office/drawing/2017/decorative" val="1"/>
              </a:ext>
            </a:extLst>
          </p:cNvPr>
          <p:cNvGrpSpPr/>
          <p:nvPr/>
        </p:nvGrpSpPr>
        <p:grpSpPr>
          <a:xfrm>
            <a:off x="0" y="2891878"/>
            <a:ext cx="12192000" cy="347472"/>
            <a:chOff x="0" y="3089817"/>
            <a:chExt cx="12192000" cy="347472"/>
          </a:xfrm>
        </p:grpSpPr>
        <p:sp>
          <p:nvSpPr>
            <p:cNvPr id="11" name="Rectangle">
              <a:extLst>
                <a:ext uri="{FF2B5EF4-FFF2-40B4-BE49-F238E27FC236}">
                  <a16:creationId xmlns:a16="http://schemas.microsoft.com/office/drawing/2014/main" id="{8728953C-D98C-3E49-B412-3C134A34E34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CD12045F-A611-3641-8B5D-71236DD109E0}"/>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1D403840-98C9-B747-AE17-28C05EE6E322}"/>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059239F5-C55E-1EC2-F1EE-E80C5C7A831F}"/>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2A831F51-1B87-9B93-DF35-3279ABBC34A8}"/>
              </a:ext>
              <a:ext uri="{C183D7F6-B498-43B3-948B-1728B52AA6E4}">
                <adec:decorative xmlns:adec="http://schemas.microsoft.com/office/drawing/2017/decorative" val="1"/>
              </a:ext>
            </a:extLst>
          </p:cNvPr>
          <p:cNvGrpSpPr/>
          <p:nvPr userDrawn="1"/>
        </p:nvGrpSpPr>
        <p:grpSpPr>
          <a:xfrm>
            <a:off x="0" y="2891878"/>
            <a:ext cx="12192000" cy="347472"/>
            <a:chOff x="0" y="3089817"/>
            <a:chExt cx="12192000" cy="347472"/>
          </a:xfrm>
        </p:grpSpPr>
        <p:sp>
          <p:nvSpPr>
            <p:cNvPr id="6" name="Rectangle">
              <a:extLst>
                <a:ext uri="{FF2B5EF4-FFF2-40B4-BE49-F238E27FC236}">
                  <a16:creationId xmlns:a16="http://schemas.microsoft.com/office/drawing/2014/main" id="{36B9B088-3FA9-B09A-E6E9-98CFB3D78A44}"/>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AE67AD3F-1CE4-4390-3B77-487E19642788}"/>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4D67895E-F98D-2922-442A-7D3FA6769419}"/>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3892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with cover image">
    <p:spTree>
      <p:nvGrpSpPr>
        <p:cNvPr id="1" name=""/>
        <p:cNvGrpSpPr/>
        <p:nvPr/>
      </p:nvGrpSpPr>
      <p:grpSpPr>
        <a:xfrm>
          <a:off x="0" y="0"/>
          <a:ext cx="0" cy="0"/>
          <a:chOff x="0" y="0"/>
          <a:chExt cx="0" cy="0"/>
        </a:xfrm>
      </p:grpSpPr>
      <p:sp>
        <p:nvSpPr>
          <p:cNvPr id="4" name="CN">
            <a:extLst>
              <a:ext uri="{FF2B5EF4-FFF2-40B4-BE49-F238E27FC236}">
                <a16:creationId xmlns:a16="http://schemas.microsoft.com/office/drawing/2014/main" id="{0BAE0954-7993-BF44-B26B-B5E3A7B6D192}"/>
              </a:ext>
            </a:extLst>
          </p:cNvPr>
          <p:cNvSpPr>
            <a:spLocks noGrp="1"/>
          </p:cNvSpPr>
          <p:nvPr>
            <p:ph sz="quarter" idx="25" hasCustomPrompt="1"/>
          </p:nvPr>
        </p:nvSpPr>
        <p:spPr>
          <a:xfrm>
            <a:off x="3962400" y="228600"/>
            <a:ext cx="7774517" cy="532341"/>
          </a:xfrm>
          <a:prstGeom prst="rect">
            <a:avLst/>
          </a:prstGeom>
        </p:spPr>
        <p:txBody>
          <a:bodyPr>
            <a:noAutofit/>
          </a:bodyPr>
          <a:lstStyle>
            <a:lvl1pPr marL="0" indent="0" algn="ctr">
              <a:buNone/>
              <a:defRPr sz="2300" b="1" spc="225">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3" name="CT">
            <a:extLst>
              <a:ext uri="{FF2B5EF4-FFF2-40B4-BE49-F238E27FC236}">
                <a16:creationId xmlns:a16="http://schemas.microsoft.com/office/drawing/2014/main" id="{A0488DDF-7F81-C647-968D-1B7CBA6AB5FC}"/>
              </a:ext>
            </a:extLst>
          </p:cNvPr>
          <p:cNvSpPr>
            <a:spLocks noGrp="1"/>
          </p:cNvSpPr>
          <p:nvPr>
            <p:ph sz="quarter" idx="26" hasCustomPrompt="1"/>
          </p:nvPr>
        </p:nvSpPr>
        <p:spPr>
          <a:xfrm>
            <a:off x="3962400" y="760944"/>
            <a:ext cx="7774517" cy="2286001"/>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2" name="Title">
            <a:extLst>
              <a:ext uri="{FF2B5EF4-FFF2-40B4-BE49-F238E27FC236}">
                <a16:creationId xmlns:a16="http://schemas.microsoft.com/office/drawing/2014/main" id="{D4299543-EA93-204D-A71A-CDEF1C90B988}"/>
              </a:ext>
            </a:extLst>
          </p:cNvPr>
          <p:cNvSpPr>
            <a:spLocks noGrp="1"/>
          </p:cNvSpPr>
          <p:nvPr>
            <p:ph type="title" hasCustomPrompt="1"/>
          </p:nvPr>
        </p:nvSpPr>
        <p:spPr>
          <a:xfrm>
            <a:off x="443345" y="3506268"/>
            <a:ext cx="11294227" cy="1522941"/>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5" name="Edition">
            <a:extLst>
              <a:ext uri="{FF2B5EF4-FFF2-40B4-BE49-F238E27FC236}">
                <a16:creationId xmlns:a16="http://schemas.microsoft.com/office/drawing/2014/main" id="{357E9F03-19DB-C04A-9554-E5165B81BE98}"/>
              </a:ext>
            </a:extLst>
          </p:cNvPr>
          <p:cNvSpPr>
            <a:spLocks noGrp="1"/>
          </p:cNvSpPr>
          <p:nvPr>
            <p:ph sz="quarter" idx="27" hasCustomPrompt="1"/>
          </p:nvPr>
        </p:nvSpPr>
        <p:spPr>
          <a:xfrm>
            <a:off x="442384" y="4789320"/>
            <a:ext cx="11294533" cy="674306"/>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17" name="Author">
            <a:extLst>
              <a:ext uri="{FF2B5EF4-FFF2-40B4-BE49-F238E27FC236}">
                <a16:creationId xmlns:a16="http://schemas.microsoft.com/office/drawing/2014/main" id="{0C002D38-323C-0040-8548-6C0885CCDA25}"/>
              </a:ext>
            </a:extLst>
          </p:cNvPr>
          <p:cNvSpPr>
            <a:spLocks noGrp="1"/>
          </p:cNvSpPr>
          <p:nvPr>
            <p:ph sz="quarter" idx="28" hasCustomPrompt="1"/>
          </p:nvPr>
        </p:nvSpPr>
        <p:spPr>
          <a:xfrm>
            <a:off x="442384" y="5600878"/>
            <a:ext cx="11294533" cy="547398"/>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1" name="Cover image">
            <a:extLst>
              <a:ext uri="{FF2B5EF4-FFF2-40B4-BE49-F238E27FC236}">
                <a16:creationId xmlns:a16="http://schemas.microsoft.com/office/drawing/2014/main" id="{399A8AAF-2AC9-F644-96AD-94B478294DA4}"/>
              </a:ext>
            </a:extLst>
          </p:cNvPr>
          <p:cNvSpPr>
            <a:spLocks noGrp="1"/>
          </p:cNvSpPr>
          <p:nvPr>
            <p:ph type="pic" sz="quarter" idx="24" hasCustomPrompt="1"/>
          </p:nvPr>
        </p:nvSpPr>
        <p:spPr>
          <a:xfrm>
            <a:off x="508003" y="251264"/>
            <a:ext cx="3009676" cy="2647723"/>
          </a:xfrm>
          <a:prstGeom prst="rect">
            <a:avLst/>
          </a:prstGeom>
          <a:solidFill>
            <a:schemeClr val="bg2"/>
          </a:solidFill>
          <a:ln w="6350">
            <a:solidFill>
              <a:schemeClr val="bg1">
                <a:lumMod val="50000"/>
              </a:schemeClr>
            </a:solidFill>
          </a:ln>
        </p:spPr>
        <p:txBody>
          <a:bodyPr anchor="ctr"/>
          <a:lstStyle>
            <a:lvl1pPr marL="0" indent="0" algn="ctr">
              <a:buNone/>
              <a:defRPr sz="1500"/>
            </a:lvl1pPr>
          </a:lstStyle>
          <a:p>
            <a:r>
              <a:rPr lang="en-US" dirty="0"/>
              <a:t>Click to</a:t>
            </a:r>
            <a:br>
              <a:rPr lang="en-US" dirty="0"/>
            </a:br>
            <a:r>
              <a:rPr lang="en-US" dirty="0"/>
              <a:t>Add Cover Image</a:t>
            </a:r>
          </a:p>
        </p:txBody>
      </p:sp>
      <p:pic>
        <p:nvPicPr>
          <p:cNvPr id="19" name="Logo">
            <a:extLst>
              <a:ext uri="{FF2B5EF4-FFF2-40B4-BE49-F238E27FC236}">
                <a16:creationId xmlns:a16="http://schemas.microsoft.com/office/drawing/2014/main" id="{5C941B12-5A6D-2D43-A53E-1056F6FCB3F2}"/>
              </a:ext>
            </a:extLst>
          </p:cNvPr>
          <p:cNvPicPr>
            <a:picLocks noChangeAspect="1"/>
          </p:cNvPicPr>
          <p:nvPr/>
        </p:nvPicPr>
        <p:blipFill>
          <a:blip r:embed="rId2"/>
          <a:srcRect/>
          <a:stretch/>
        </p:blipFill>
        <p:spPr>
          <a:xfrm>
            <a:off x="454428" y="6501725"/>
            <a:ext cx="914401" cy="192617"/>
          </a:xfrm>
          <a:prstGeom prst="rect">
            <a:avLst/>
          </a:prstGeom>
        </p:spPr>
      </p:pic>
      <p:sp>
        <p:nvSpPr>
          <p:cNvPr id="21" name="Invisible animation alert">
            <a:extLst>
              <a:ext uri="{FF2B5EF4-FFF2-40B4-BE49-F238E27FC236}">
                <a16:creationId xmlns:a16="http://schemas.microsoft.com/office/drawing/2014/main" id="{995F79C4-4323-0345-9D75-F40C6CDED105}"/>
              </a:ext>
            </a:extLst>
          </p:cNvPr>
          <p:cNvSpPr>
            <a:spLocks noGrp="1"/>
          </p:cNvSpPr>
          <p:nvPr>
            <p:ph sz="quarter" idx="29"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2" name="Decorative">
            <a:extLst>
              <a:ext uri="{FF2B5EF4-FFF2-40B4-BE49-F238E27FC236}">
                <a16:creationId xmlns:a16="http://schemas.microsoft.com/office/drawing/2014/main" id="{9333E768-1E6A-5946-86E8-E384A09C91A6}"/>
              </a:ext>
              <a:ext uri="{C183D7F6-B498-43B3-948B-1728B52AA6E4}">
                <adec:decorative xmlns:adec="http://schemas.microsoft.com/office/drawing/2017/decorative" val="1"/>
              </a:ext>
            </a:extLst>
          </p:cNvPr>
          <p:cNvGrpSpPr/>
          <p:nvPr/>
        </p:nvGrpSpPr>
        <p:grpSpPr>
          <a:xfrm>
            <a:off x="0" y="3075637"/>
            <a:ext cx="12192000" cy="347472"/>
            <a:chOff x="0" y="3089817"/>
            <a:chExt cx="12192000" cy="347472"/>
          </a:xfrm>
        </p:grpSpPr>
        <p:sp>
          <p:nvSpPr>
            <p:cNvPr id="14" name="Rectangle">
              <a:extLst>
                <a:ext uri="{FF2B5EF4-FFF2-40B4-BE49-F238E27FC236}">
                  <a16:creationId xmlns:a16="http://schemas.microsoft.com/office/drawing/2014/main" id="{6A9D3241-01B8-CF4F-A8DE-ED3E0B403D8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6ED2EEB2-DB69-744E-9E6C-C6C37A29636E}"/>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8" name="Rectangle">
              <a:extLst>
                <a:ext uri="{FF2B5EF4-FFF2-40B4-BE49-F238E27FC236}">
                  <a16:creationId xmlns:a16="http://schemas.microsoft.com/office/drawing/2014/main" id="{306368B5-3288-AC43-8ED2-6589E5D1F9D1}"/>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23CB4E80-5493-CB14-580E-5C2B4838FFA6}"/>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75897CAD-5433-B79F-D414-4524FF8F6CC9}"/>
              </a:ext>
              <a:ext uri="{C183D7F6-B498-43B3-948B-1728B52AA6E4}">
                <adec:decorative xmlns:adec="http://schemas.microsoft.com/office/drawing/2017/decorative" val="1"/>
              </a:ext>
            </a:extLst>
          </p:cNvPr>
          <p:cNvGrpSpPr/>
          <p:nvPr userDrawn="1"/>
        </p:nvGrpSpPr>
        <p:grpSpPr>
          <a:xfrm>
            <a:off x="0" y="3075637"/>
            <a:ext cx="12192000" cy="347472"/>
            <a:chOff x="0" y="3089817"/>
            <a:chExt cx="12192000" cy="347472"/>
          </a:xfrm>
        </p:grpSpPr>
        <p:sp>
          <p:nvSpPr>
            <p:cNvPr id="6" name="Rectangle">
              <a:extLst>
                <a:ext uri="{FF2B5EF4-FFF2-40B4-BE49-F238E27FC236}">
                  <a16:creationId xmlns:a16="http://schemas.microsoft.com/office/drawing/2014/main" id="{0CCB7099-BA30-F7D9-64C8-7A0C35ABB793}"/>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8DFC5D56-8B09-35FD-5273-640F8DEF31C7}"/>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A69FBE72-E2C8-8472-736C-1B704EC05125}"/>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4231559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lus 1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E04750B-87C8-BA49-9BD3-C465B46973B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a:extLst>
              <a:ext uri="{FF2B5EF4-FFF2-40B4-BE49-F238E27FC236}">
                <a16:creationId xmlns:a16="http://schemas.microsoft.com/office/drawing/2014/main" id="{32AC4F3A-7D5E-944E-BEF6-CD50CC99DF69}"/>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Tree>
    <p:extLst>
      <p:ext uri="{BB962C8B-B14F-4D97-AF65-F5344CB8AC3E}">
        <p14:creationId xmlns:p14="http://schemas.microsoft.com/office/powerpoint/2010/main" val="3915044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lus 1 column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E3FF190-56AE-0B4D-86D2-C76B1C4C4811}"/>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D4BD2D34-5403-5E4F-8B40-56327BFEB86B}"/>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
        <p:nvSpPr>
          <p:cNvPr id="5" name="LON">
            <a:extLst>
              <a:ext uri="{FF2B5EF4-FFF2-40B4-BE49-F238E27FC236}">
                <a16:creationId xmlns:a16="http://schemas.microsoft.com/office/drawing/2014/main" id="{278C8BA6-10FC-B449-8802-38272DECEA2F}"/>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6895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lus 2 columns">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431E7A4-C9C8-F34D-B1BD-4D02B4DFAF0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1" name="Content Placeholder">
            <a:extLst>
              <a:ext uri="{FF2B5EF4-FFF2-40B4-BE49-F238E27FC236}">
                <a16:creationId xmlns:a16="http://schemas.microsoft.com/office/drawing/2014/main" id="{1939B3BB-CD8E-014F-8EFF-BD7A719BA5CF}"/>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Tree>
    <p:extLst>
      <p:ext uri="{BB962C8B-B14F-4D97-AF65-F5344CB8AC3E}">
        <p14:creationId xmlns:p14="http://schemas.microsoft.com/office/powerpoint/2010/main" val="2483109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lus 2 column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5FC24C-2D07-1245-BB5E-7A50D0AE115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40D17E47-229C-5E4C-A647-00CFE969C39A}"/>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
        <p:nvSpPr>
          <p:cNvPr id="5" name="LON">
            <a:extLst>
              <a:ext uri="{FF2B5EF4-FFF2-40B4-BE49-F238E27FC236}">
                <a16:creationId xmlns:a16="http://schemas.microsoft.com/office/drawing/2014/main" id="{24D4F3B7-367D-C343-B199-03EF10B1E7D4}"/>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931822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lus 2 columns in box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83B3636F-78D9-9148-B35D-52D7D42EA7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0" name="Content Placeholder 1">
            <a:extLst>
              <a:ext uri="{FF2B5EF4-FFF2-40B4-BE49-F238E27FC236}">
                <a16:creationId xmlns:a16="http://schemas.microsoft.com/office/drawing/2014/main" id="{4C9ADD40-E72D-754E-8872-0700492B3236}"/>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12" name="Content Placeholder 2">
            <a:extLst>
              <a:ext uri="{FF2B5EF4-FFF2-40B4-BE49-F238E27FC236}">
                <a16:creationId xmlns:a16="http://schemas.microsoft.com/office/drawing/2014/main" id="{1FE47AB5-328A-AF4D-81CF-19E66E998930}"/>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Tree>
    <p:extLst>
      <p:ext uri="{BB962C8B-B14F-4D97-AF65-F5344CB8AC3E}">
        <p14:creationId xmlns:p14="http://schemas.microsoft.com/office/powerpoint/2010/main" val="735064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plus 2 columns in boxe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AFB408D-6820-9042-9000-649FF974466C}"/>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602FBEB7-44EC-2D40-9945-803059A4C6EA}"/>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9F8BF1B7-F842-E74B-B834-BDC9C251578B}"/>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
        <p:nvSpPr>
          <p:cNvPr id="6" name="LON">
            <a:extLst>
              <a:ext uri="{FF2B5EF4-FFF2-40B4-BE49-F238E27FC236}">
                <a16:creationId xmlns:a16="http://schemas.microsoft.com/office/drawing/2014/main" id="{7DCFB52C-D625-D243-8958-45EDAF5BFF95}"/>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10238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plus 4 Content Holder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0BF27C0-B6AB-BD4B-AABA-D3C2A2B71E1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54E2AA6A-8EB2-6844-839C-FC05A2A7CF26}"/>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0" name="Content Placeholder 2">
            <a:extLst>
              <a:ext uri="{FF2B5EF4-FFF2-40B4-BE49-F238E27FC236}">
                <a16:creationId xmlns:a16="http://schemas.microsoft.com/office/drawing/2014/main" id="{970A9D46-13B8-A449-861A-D9A62A3EB8B4}"/>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8" name="Content Placeholder 3">
            <a:extLst>
              <a:ext uri="{FF2B5EF4-FFF2-40B4-BE49-F238E27FC236}">
                <a16:creationId xmlns:a16="http://schemas.microsoft.com/office/drawing/2014/main" id="{95D5F048-83BA-BD49-94A8-0FBCAFBFC889}"/>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2" name="Content Placeholder 4">
            <a:extLst>
              <a:ext uri="{FF2B5EF4-FFF2-40B4-BE49-F238E27FC236}">
                <a16:creationId xmlns:a16="http://schemas.microsoft.com/office/drawing/2014/main" id="{2AE4F9B1-309D-3D41-90C3-2C1290FCB673}"/>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Tree>
    <p:extLst>
      <p:ext uri="{BB962C8B-B14F-4D97-AF65-F5344CB8AC3E}">
        <p14:creationId xmlns:p14="http://schemas.microsoft.com/office/powerpoint/2010/main" val="381039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plus 4 Content Holder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4290BFF-2C6A-D547-A81E-0388CF5245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A61BB724-08A0-CA4B-86A7-9CD3F1CBDBBA}"/>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CC954E9B-6B7D-9943-93F9-F54702C2DB03}"/>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6" name="Content Placeholder 3">
            <a:extLst>
              <a:ext uri="{FF2B5EF4-FFF2-40B4-BE49-F238E27FC236}">
                <a16:creationId xmlns:a16="http://schemas.microsoft.com/office/drawing/2014/main" id="{F8777C0D-2E2E-C04D-9E08-C88A9C06FE34}"/>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7" name="Content Placeholder 4">
            <a:extLst>
              <a:ext uri="{FF2B5EF4-FFF2-40B4-BE49-F238E27FC236}">
                <a16:creationId xmlns:a16="http://schemas.microsoft.com/office/drawing/2014/main" id="{C50F43EC-4CB6-6B43-B882-87CAEAB1725D}"/>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
        <p:nvSpPr>
          <p:cNvPr id="8" name="LON">
            <a:extLst>
              <a:ext uri="{FF2B5EF4-FFF2-40B4-BE49-F238E27FC236}">
                <a16:creationId xmlns:a16="http://schemas.microsoft.com/office/drawing/2014/main" id="{69F1331E-9F95-5949-BE4C-14B3D76FECD3}"/>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768881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E1C3346-7CF8-9B4A-BD6A-35B50027FBA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97308A14-A585-5B40-9D6D-D56F7011C2ED}"/>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8" name="Content Placeholder 1">
            <a:extLst>
              <a:ext uri="{FF2B5EF4-FFF2-40B4-BE49-F238E27FC236}">
                <a16:creationId xmlns:a16="http://schemas.microsoft.com/office/drawing/2014/main" id="{0512377D-40A5-2A46-B3E4-9DC9B8BA6CFD}"/>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614C6823-B099-6346-9F11-9BBB713BD4E8}"/>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12" name="Content Placeholder 2">
            <a:extLst>
              <a:ext uri="{FF2B5EF4-FFF2-40B4-BE49-F238E27FC236}">
                <a16:creationId xmlns:a16="http://schemas.microsoft.com/office/drawing/2014/main" id="{A6C6AE8D-5CA0-2A41-A8AB-AE2009CA9559}"/>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292418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FDD509C-8B93-D544-88C0-7CD6884F24A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04A8AB45-DE11-9D47-9A87-DE01CC6C7A94}"/>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5" name="Content Placeholder 1">
            <a:extLst>
              <a:ext uri="{FF2B5EF4-FFF2-40B4-BE49-F238E27FC236}">
                <a16:creationId xmlns:a16="http://schemas.microsoft.com/office/drawing/2014/main" id="{3638B8CA-8FB4-124A-B747-BFC3A8F99C57}"/>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89A878F9-05D5-F440-A197-801316926493}"/>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7" name="Content Placeholder 2">
            <a:extLst>
              <a:ext uri="{FF2B5EF4-FFF2-40B4-BE49-F238E27FC236}">
                <a16:creationId xmlns:a16="http://schemas.microsoft.com/office/drawing/2014/main" id="{7A848487-A351-BA43-B5FD-CEE81DF8C694}"/>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LON">
            <a:extLst>
              <a:ext uri="{FF2B5EF4-FFF2-40B4-BE49-F238E27FC236}">
                <a16:creationId xmlns:a16="http://schemas.microsoft.com/office/drawing/2014/main" id="{34E5444F-F94C-9E41-8173-33D4D5358C79}"/>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15347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1076D4CD-F0B4-124B-8113-705D33B57F73}"/>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3D0BA947-0F36-8349-A4BA-26245B77CD19}"/>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8" name="Content Placeholder 1">
            <a:extLst>
              <a:ext uri="{FF2B5EF4-FFF2-40B4-BE49-F238E27FC236}">
                <a16:creationId xmlns:a16="http://schemas.microsoft.com/office/drawing/2014/main" id="{C173C378-6271-D743-A776-6409A7FA9342}"/>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37B3B6E1-C965-334A-BD53-424487E73D7D}"/>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3" name="Content Placeholder 2">
            <a:extLst>
              <a:ext uri="{FF2B5EF4-FFF2-40B4-BE49-F238E27FC236}">
                <a16:creationId xmlns:a16="http://schemas.microsoft.com/office/drawing/2014/main" id="{EDA96C3C-B9CF-8B41-81EB-3C25817BE3D9}"/>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5" name="Column head 3">
            <a:extLst>
              <a:ext uri="{FF2B5EF4-FFF2-40B4-BE49-F238E27FC236}">
                <a16:creationId xmlns:a16="http://schemas.microsoft.com/office/drawing/2014/main" id="{72104B81-5D72-D246-8705-46A764C52741}"/>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7" name="Content Placeholder 3">
            <a:extLst>
              <a:ext uri="{FF2B5EF4-FFF2-40B4-BE49-F238E27FC236}">
                <a16:creationId xmlns:a16="http://schemas.microsoft.com/office/drawing/2014/main" id="{20ADF7F0-1D6C-6C49-BD92-8365B898E53C}"/>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76719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2D902C-F7C9-9440-939D-D84A4F9609C9}"/>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4B0A01FF-A48B-6A48-BC18-7D841F6DB0DE}"/>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5" name="Content Placeholder 1">
            <a:extLst>
              <a:ext uri="{FF2B5EF4-FFF2-40B4-BE49-F238E27FC236}">
                <a16:creationId xmlns:a16="http://schemas.microsoft.com/office/drawing/2014/main" id="{31840C35-E932-D64D-BA71-52B92790B46D}"/>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5371FDD0-8EDD-5440-B66F-B0A5309AF881}"/>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7" name="Content Placeholder 2">
            <a:extLst>
              <a:ext uri="{FF2B5EF4-FFF2-40B4-BE49-F238E27FC236}">
                <a16:creationId xmlns:a16="http://schemas.microsoft.com/office/drawing/2014/main" id="{CA1520A6-1299-6A49-9EFD-A4F91B187A2C}"/>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Column head 3">
            <a:extLst>
              <a:ext uri="{FF2B5EF4-FFF2-40B4-BE49-F238E27FC236}">
                <a16:creationId xmlns:a16="http://schemas.microsoft.com/office/drawing/2014/main" id="{12B5E08D-BE68-7B40-A805-F20B8744BF3B}"/>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9" name="Content Placeholder 3">
            <a:extLst>
              <a:ext uri="{FF2B5EF4-FFF2-40B4-BE49-F238E27FC236}">
                <a16:creationId xmlns:a16="http://schemas.microsoft.com/office/drawing/2014/main" id="{B0F303C0-853B-7547-BA06-107EE6C8AD4F}"/>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LON">
            <a:extLst>
              <a:ext uri="{FF2B5EF4-FFF2-40B4-BE49-F238E27FC236}">
                <a16:creationId xmlns:a16="http://schemas.microsoft.com/office/drawing/2014/main" id="{F6284ABA-7D4B-8C45-8812-6CB27464D04D}"/>
              </a:ext>
            </a:extLst>
          </p:cNvPr>
          <p:cNvSpPr>
            <a:spLocks noGrp="1"/>
          </p:cNvSpPr>
          <p:nvPr>
            <p:ph sz="quarter" idx="18"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690741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plus Multiple Content ">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E690358-CC3E-564C-966E-C1C7CED8699F}"/>
              </a:ext>
            </a:extLst>
          </p:cNvPr>
          <p:cNvSpPr>
            <a:spLocks noGrp="1"/>
          </p:cNvSpPr>
          <p:nvPr>
            <p:ph type="title" hasCustomPrompt="1"/>
          </p:nvPr>
        </p:nvSpPr>
        <p:spPr>
          <a:xfrm>
            <a:off x="685147" y="460255"/>
            <a:ext cx="10821056" cy="849312"/>
          </a:xfrm>
        </p:spPr>
        <p:txBody>
          <a:bodyPr/>
          <a:lstStyle>
            <a:lvl1pPr>
              <a:defRPr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92DBC287-7A50-404F-B583-851D0F7791CC}"/>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2">
            <a:extLst>
              <a:ext uri="{FF2B5EF4-FFF2-40B4-BE49-F238E27FC236}">
                <a16:creationId xmlns:a16="http://schemas.microsoft.com/office/drawing/2014/main" id="{292F575A-DA58-CD47-B145-2EEC4D32E7E8}"/>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3">
            <a:extLst>
              <a:ext uri="{FF2B5EF4-FFF2-40B4-BE49-F238E27FC236}">
                <a16:creationId xmlns:a16="http://schemas.microsoft.com/office/drawing/2014/main" id="{9C05BB7B-AB59-DE4D-A944-5504896DE205}"/>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4">
            <a:extLst>
              <a:ext uri="{FF2B5EF4-FFF2-40B4-BE49-F238E27FC236}">
                <a16:creationId xmlns:a16="http://schemas.microsoft.com/office/drawing/2014/main" id="{7829821A-510E-FD4B-AD62-D4518384985E}"/>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4" name="Content Placeholder 5">
            <a:extLst>
              <a:ext uri="{FF2B5EF4-FFF2-40B4-BE49-F238E27FC236}">
                <a16:creationId xmlns:a16="http://schemas.microsoft.com/office/drawing/2014/main" id="{78767F66-B6AE-AE4C-B489-36009A75C90F}"/>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7" name="Content Placeholder 6">
            <a:extLst>
              <a:ext uri="{FF2B5EF4-FFF2-40B4-BE49-F238E27FC236}">
                <a16:creationId xmlns:a16="http://schemas.microsoft.com/office/drawing/2014/main" id="{37C2D694-2FFF-2543-8703-9D9C5F93E583}"/>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9" name="Content Placeholder 7">
            <a:extLst>
              <a:ext uri="{FF2B5EF4-FFF2-40B4-BE49-F238E27FC236}">
                <a16:creationId xmlns:a16="http://schemas.microsoft.com/office/drawing/2014/main" id="{57FDF21A-AF40-6547-AB06-C387DAE39182}"/>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1" name="Content Placeholder 8">
            <a:extLst>
              <a:ext uri="{FF2B5EF4-FFF2-40B4-BE49-F238E27FC236}">
                <a16:creationId xmlns:a16="http://schemas.microsoft.com/office/drawing/2014/main" id="{1058EE27-F947-8A41-AC83-223A6236295B}"/>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3" name="Content Placeholder 9">
            <a:extLst>
              <a:ext uri="{FF2B5EF4-FFF2-40B4-BE49-F238E27FC236}">
                <a16:creationId xmlns:a16="http://schemas.microsoft.com/office/drawing/2014/main" id="{59E26C59-6E0D-AB44-A5BE-2FF4A9BE7E10}"/>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25" name="Content Placeholder 10">
            <a:extLst>
              <a:ext uri="{FF2B5EF4-FFF2-40B4-BE49-F238E27FC236}">
                <a16:creationId xmlns:a16="http://schemas.microsoft.com/office/drawing/2014/main" id="{EF0222B6-9957-6D47-B5D6-C0B5F4719587}"/>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Tree>
    <p:extLst>
      <p:ext uri="{BB962C8B-B14F-4D97-AF65-F5344CB8AC3E}">
        <p14:creationId xmlns:p14="http://schemas.microsoft.com/office/powerpoint/2010/main" val="3459493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plus Multiple Content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6E398D-3129-0449-B2FB-A6A4CCA4C1A4}"/>
              </a:ext>
            </a:extLst>
          </p:cNvPr>
          <p:cNvSpPr>
            <a:spLocks noGrp="1"/>
          </p:cNvSpPr>
          <p:nvPr>
            <p:ph type="title" hasCustomPrompt="1"/>
          </p:nvPr>
        </p:nvSpPr>
        <p:spPr>
          <a:xfrm>
            <a:off x="685147" y="460255"/>
            <a:ext cx="10821056" cy="849312"/>
          </a:xfrm>
        </p:spPr>
        <p:txBody>
          <a:bodyPr/>
          <a:lstStyle>
            <a:lvl1pPr>
              <a:defRPr b="0" i="0"/>
            </a:lvl1pPr>
          </a:lstStyle>
          <a:p>
            <a:r>
              <a:rPr lang="en-US" dirty="0"/>
              <a:t>Click to Add Title</a:t>
            </a:r>
          </a:p>
        </p:txBody>
      </p:sp>
      <p:sp>
        <p:nvSpPr>
          <p:cNvPr id="4" name="Content Placeholder 1">
            <a:extLst>
              <a:ext uri="{FF2B5EF4-FFF2-40B4-BE49-F238E27FC236}">
                <a16:creationId xmlns:a16="http://schemas.microsoft.com/office/drawing/2014/main" id="{136D1C9A-76C2-9744-910E-29C1A9984DF8}"/>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5" name="Content Placeholder 2">
            <a:extLst>
              <a:ext uri="{FF2B5EF4-FFF2-40B4-BE49-F238E27FC236}">
                <a16:creationId xmlns:a16="http://schemas.microsoft.com/office/drawing/2014/main" id="{3EAAB49E-29C7-254B-959D-DD70B6EF767B}"/>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6" name="Content Placeholder 3">
            <a:extLst>
              <a:ext uri="{FF2B5EF4-FFF2-40B4-BE49-F238E27FC236}">
                <a16:creationId xmlns:a16="http://schemas.microsoft.com/office/drawing/2014/main" id="{82AB166E-28C2-7047-9713-7D034F50D03D}"/>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7" name="Content Placeholder 4">
            <a:extLst>
              <a:ext uri="{FF2B5EF4-FFF2-40B4-BE49-F238E27FC236}">
                <a16:creationId xmlns:a16="http://schemas.microsoft.com/office/drawing/2014/main" id="{98A4D256-B5AF-FF4C-AC0B-526E40A60193}"/>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5">
            <a:extLst>
              <a:ext uri="{FF2B5EF4-FFF2-40B4-BE49-F238E27FC236}">
                <a16:creationId xmlns:a16="http://schemas.microsoft.com/office/drawing/2014/main" id="{68AD2C22-047C-6249-858D-098EEC0D53E0}"/>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9" name="Content Placeholder 6">
            <a:extLst>
              <a:ext uri="{FF2B5EF4-FFF2-40B4-BE49-F238E27FC236}">
                <a16:creationId xmlns:a16="http://schemas.microsoft.com/office/drawing/2014/main" id="{A739E962-1130-9749-ABD5-213A7E47522A}"/>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7">
            <a:extLst>
              <a:ext uri="{FF2B5EF4-FFF2-40B4-BE49-F238E27FC236}">
                <a16:creationId xmlns:a16="http://schemas.microsoft.com/office/drawing/2014/main" id="{4A53092C-2D37-1D45-B69F-2202835431B6}"/>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1" name="Content Placeholder 8">
            <a:extLst>
              <a:ext uri="{FF2B5EF4-FFF2-40B4-BE49-F238E27FC236}">
                <a16:creationId xmlns:a16="http://schemas.microsoft.com/office/drawing/2014/main" id="{9C1DE770-7F00-0E48-988B-9BE952F2C70E}"/>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9">
            <a:extLst>
              <a:ext uri="{FF2B5EF4-FFF2-40B4-BE49-F238E27FC236}">
                <a16:creationId xmlns:a16="http://schemas.microsoft.com/office/drawing/2014/main" id="{90D86BCA-285A-FA45-A956-A1ADB4CFBBEA}"/>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13" name="Content Placeholder 10">
            <a:extLst>
              <a:ext uri="{FF2B5EF4-FFF2-40B4-BE49-F238E27FC236}">
                <a16:creationId xmlns:a16="http://schemas.microsoft.com/office/drawing/2014/main" id="{CADF4259-D095-6B45-B487-51FF116AB723}"/>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5" name="LON">
            <a:extLst>
              <a:ext uri="{FF2B5EF4-FFF2-40B4-BE49-F238E27FC236}">
                <a16:creationId xmlns:a16="http://schemas.microsoft.com/office/drawing/2014/main" id="{703C0522-40C1-E542-962A-16F7DBF88E78}"/>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26047531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plus question and answer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625A-A2BD-A14C-8E2D-2D92535588BD}"/>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6" name="Content Placeholder">
            <a:extLst>
              <a:ext uri="{FF2B5EF4-FFF2-40B4-BE49-F238E27FC236}">
                <a16:creationId xmlns:a16="http://schemas.microsoft.com/office/drawing/2014/main" id="{E73A7EA0-F98F-BE4E-87CA-6C917EC13001}"/>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Tree>
    <p:extLst>
      <p:ext uri="{BB962C8B-B14F-4D97-AF65-F5344CB8AC3E}">
        <p14:creationId xmlns:p14="http://schemas.microsoft.com/office/powerpoint/2010/main" val="624455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lus question and answer list with L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D2F9AD-A5DB-9949-B229-2FB3D8D60D1E}"/>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4" name="Content Placeholder">
            <a:extLst>
              <a:ext uri="{FF2B5EF4-FFF2-40B4-BE49-F238E27FC236}">
                <a16:creationId xmlns:a16="http://schemas.microsoft.com/office/drawing/2014/main" id="{448A82C7-035B-9448-8BF0-EEC3EDCE504D}"/>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
        <p:nvSpPr>
          <p:cNvPr id="5" name="LON">
            <a:extLst>
              <a:ext uri="{FF2B5EF4-FFF2-40B4-BE49-F238E27FC236}">
                <a16:creationId xmlns:a16="http://schemas.microsoft.com/office/drawing/2014/main" id="{F1660F36-E56F-4D4C-9087-F66CAA865B8A}"/>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1754771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p:spTree>
      <p:nvGrpSpPr>
        <p:cNvPr id="1" name=""/>
        <p:cNvGrpSpPr/>
        <p:nvPr/>
      </p:nvGrpSpPr>
      <p:grpSpPr>
        <a:xfrm>
          <a:off x="0" y="0"/>
          <a:ext cx="0" cy="0"/>
          <a:chOff x="0" y="0"/>
          <a:chExt cx="0" cy="0"/>
        </a:xfrm>
      </p:grpSpPr>
      <p:sp>
        <p:nvSpPr>
          <p:cNvPr id="6" name="Content Placeholder">
            <a:extLst>
              <a:ext uri="{FF2B5EF4-FFF2-40B4-BE49-F238E27FC236}">
                <a16:creationId xmlns:a16="http://schemas.microsoft.com/office/drawing/2014/main" id="{F16179AC-EC34-4C40-8E6B-BEB5702E9F50}"/>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title">
            <a:extLst>
              <a:ext uri="{FF2B5EF4-FFF2-40B4-BE49-F238E27FC236}">
                <a16:creationId xmlns:a16="http://schemas.microsoft.com/office/drawing/2014/main" id="{F51AA1B8-B311-6E4B-86C5-5C509DDE2BD4}"/>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10" name="Figure caption">
            <a:extLst>
              <a:ext uri="{FF2B5EF4-FFF2-40B4-BE49-F238E27FC236}">
                <a16:creationId xmlns:a16="http://schemas.microsoft.com/office/drawing/2014/main" id="{5F92F2A8-2231-CB4C-9E9E-BE9DD704492E}"/>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2" name="Figure source note">
            <a:extLst>
              <a:ext uri="{FF2B5EF4-FFF2-40B4-BE49-F238E27FC236}">
                <a16:creationId xmlns:a16="http://schemas.microsoft.com/office/drawing/2014/main" id="{7DD20C02-8EF0-F645-9932-84DCA794BBF2}"/>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2" name="Title 1">
            <a:extLst>
              <a:ext uri="{FF2B5EF4-FFF2-40B4-BE49-F238E27FC236}">
                <a16:creationId xmlns:a16="http://schemas.microsoft.com/office/drawing/2014/main" id="{F39E8F1D-6463-024C-A2F4-06E1DBEE69F3}"/>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Tree>
    <p:extLst>
      <p:ext uri="{BB962C8B-B14F-4D97-AF65-F5344CB8AC3E}">
        <p14:creationId xmlns:p14="http://schemas.microsoft.com/office/powerpoint/2010/main" val="36164839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with LO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DEB4B85-2048-3B45-8B14-CAE77DC08DB7}"/>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3" name="Content Placeholder">
            <a:extLst>
              <a:ext uri="{FF2B5EF4-FFF2-40B4-BE49-F238E27FC236}">
                <a16:creationId xmlns:a16="http://schemas.microsoft.com/office/drawing/2014/main" id="{16E541C9-040D-314F-8E50-4191C968D159}"/>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4" name="Figure title">
            <a:extLst>
              <a:ext uri="{FF2B5EF4-FFF2-40B4-BE49-F238E27FC236}">
                <a16:creationId xmlns:a16="http://schemas.microsoft.com/office/drawing/2014/main" id="{5D414B6C-FA21-5043-9ECF-2439DCF316C0}"/>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5" name="Figure caption">
            <a:extLst>
              <a:ext uri="{FF2B5EF4-FFF2-40B4-BE49-F238E27FC236}">
                <a16:creationId xmlns:a16="http://schemas.microsoft.com/office/drawing/2014/main" id="{B8D626BF-C27F-4C4A-AA75-D719F7E18C8D}"/>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76019B9-9FBC-7341-988E-16B1099AB57A}"/>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8" name="LON">
            <a:extLst>
              <a:ext uri="{FF2B5EF4-FFF2-40B4-BE49-F238E27FC236}">
                <a16:creationId xmlns:a16="http://schemas.microsoft.com/office/drawing/2014/main" id="{4A286827-D739-3A44-A6A8-39E27D636477}"/>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5532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mage plus figure title, caption, and sourc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49C45D5-05E5-F24D-A1D1-12F5C6D94923}"/>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6" name="Content Placeholder">
            <a:extLst>
              <a:ext uri="{FF2B5EF4-FFF2-40B4-BE49-F238E27FC236}">
                <a16:creationId xmlns:a16="http://schemas.microsoft.com/office/drawing/2014/main" id="{91CE61A6-80D4-1D46-9747-534997C0A7C7}"/>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caption">
            <a:extLst>
              <a:ext uri="{FF2B5EF4-FFF2-40B4-BE49-F238E27FC236}">
                <a16:creationId xmlns:a16="http://schemas.microsoft.com/office/drawing/2014/main" id="{30F4AE5B-9EC0-0F40-B06D-DF4AAD62565F}"/>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0" name="Figure source note">
            <a:extLst>
              <a:ext uri="{FF2B5EF4-FFF2-40B4-BE49-F238E27FC236}">
                <a16:creationId xmlns:a16="http://schemas.microsoft.com/office/drawing/2014/main" id="{70769691-F199-9444-B93E-6F622FAF852A}"/>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Tree>
    <p:extLst>
      <p:ext uri="{BB962C8B-B14F-4D97-AF65-F5344CB8AC3E}">
        <p14:creationId xmlns:p14="http://schemas.microsoft.com/office/powerpoint/2010/main" val="512882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age plus figure title, caption, and source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A8D3AC-0293-C94C-A7F5-941ADBAAC1BE}"/>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4" name="Content Placeholder">
            <a:extLst>
              <a:ext uri="{FF2B5EF4-FFF2-40B4-BE49-F238E27FC236}">
                <a16:creationId xmlns:a16="http://schemas.microsoft.com/office/drawing/2014/main" id="{0BC8778B-3655-0B4E-B132-287C2BA78698}"/>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Figure caption">
            <a:extLst>
              <a:ext uri="{FF2B5EF4-FFF2-40B4-BE49-F238E27FC236}">
                <a16:creationId xmlns:a16="http://schemas.microsoft.com/office/drawing/2014/main" id="{C6724138-0C2B-314B-9E27-32AC7A35CD3D}"/>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62E42E8-BA46-E94A-A4E2-2ADD1513927F}"/>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
        <p:nvSpPr>
          <p:cNvPr id="7" name="LON">
            <a:extLst>
              <a:ext uri="{FF2B5EF4-FFF2-40B4-BE49-F238E27FC236}">
                <a16:creationId xmlns:a16="http://schemas.microsoft.com/office/drawing/2014/main" id="{E52E7061-3BA2-2443-8969-408C5477EC90}"/>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9379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plus figure tit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25A19D2-E201-E04B-8213-AD2F82E02ACD}"/>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6" name="Content Placeholder">
            <a:extLst>
              <a:ext uri="{FF2B5EF4-FFF2-40B4-BE49-F238E27FC236}">
                <a16:creationId xmlns:a16="http://schemas.microsoft.com/office/drawing/2014/main" id="{F7C27705-8F57-3543-B8B6-8884A3445F31}"/>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Tree>
    <p:extLst>
      <p:ext uri="{BB962C8B-B14F-4D97-AF65-F5344CB8AC3E}">
        <p14:creationId xmlns:p14="http://schemas.microsoft.com/office/powerpoint/2010/main" val="32223492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plus figure title with LON">
    <p:spTree>
      <p:nvGrpSpPr>
        <p:cNvPr id="1" name=""/>
        <p:cNvGrpSpPr/>
        <p:nvPr/>
      </p:nvGrpSpPr>
      <p:grpSpPr>
        <a:xfrm>
          <a:off x="0" y="0"/>
          <a:ext cx="0" cy="0"/>
          <a:chOff x="0" y="0"/>
          <a:chExt cx="0" cy="0"/>
        </a:xfrm>
      </p:grpSpPr>
      <p:sp>
        <p:nvSpPr>
          <p:cNvPr id="3" name="Title ">
            <a:extLst>
              <a:ext uri="{FF2B5EF4-FFF2-40B4-BE49-F238E27FC236}">
                <a16:creationId xmlns:a16="http://schemas.microsoft.com/office/drawing/2014/main" id="{EE0C413A-E9D2-874E-B667-7D52A7C6D63E}"/>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4" name="Content Placeholder">
            <a:extLst>
              <a:ext uri="{FF2B5EF4-FFF2-40B4-BE49-F238E27FC236}">
                <a16:creationId xmlns:a16="http://schemas.microsoft.com/office/drawing/2014/main" id="{E0790748-4FDE-2740-9056-03023766B8FD}"/>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LON">
            <a:extLst>
              <a:ext uri="{FF2B5EF4-FFF2-40B4-BE49-F238E27FC236}">
                <a16:creationId xmlns:a16="http://schemas.microsoft.com/office/drawing/2014/main" id="{605772DC-A4D5-384D-9F48-D64BD7545E62}"/>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5224291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C038FED-6BF6-AB44-9A08-55D37B5C3CD2}"/>
              </a:ext>
            </a:extLst>
          </p:cNvPr>
          <p:cNvSpPr>
            <a:spLocks noGrp="1"/>
          </p:cNvSpPr>
          <p:nvPr>
            <p:ph type="title" hasCustomPrompt="1"/>
          </p:nvPr>
        </p:nvSpPr>
        <p:spPr>
          <a:xfrm>
            <a:off x="685150" y="460260"/>
            <a:ext cx="10821053" cy="448733"/>
          </a:xfrm>
          <a:prstGeom prst="rect">
            <a:avLst/>
          </a:prstGeom>
        </p:spPr>
        <p:txBody>
          <a:bodyPr anchor="ctr">
            <a:normAutofit/>
          </a:bodyPr>
          <a:lstStyle>
            <a:lvl1pPr>
              <a:defRPr sz="1875" b="0" i="0">
                <a:solidFill>
                  <a:schemeClr val="tx2"/>
                </a:solidFill>
              </a:defRPr>
            </a:lvl1pPr>
          </a:lstStyle>
          <a:p>
            <a:r>
              <a:rPr lang="en-US" dirty="0"/>
              <a:t>Click to Add Section Heading</a:t>
            </a:r>
          </a:p>
        </p:txBody>
      </p:sp>
      <p:sp>
        <p:nvSpPr>
          <p:cNvPr id="6" name="LOH">
            <a:extLst>
              <a:ext uri="{FF2B5EF4-FFF2-40B4-BE49-F238E27FC236}">
                <a16:creationId xmlns:a16="http://schemas.microsoft.com/office/drawing/2014/main" id="{49E9A051-991C-0F46-BAA2-7226FFD829BB}"/>
              </a:ext>
            </a:extLst>
          </p:cNvPr>
          <p:cNvSpPr>
            <a:spLocks noGrp="1"/>
          </p:cNvSpPr>
          <p:nvPr>
            <p:ph sz="quarter" idx="12" hasCustomPrompt="1"/>
          </p:nvPr>
        </p:nvSpPr>
        <p:spPr>
          <a:xfrm>
            <a:off x="0" y="908989"/>
            <a:ext cx="12192000" cy="576072"/>
          </a:xfrm>
          <a:prstGeom prst="rect">
            <a:avLst/>
          </a:prstGeom>
          <a:solidFill>
            <a:schemeClr val="accent5">
              <a:lumMod val="20000"/>
              <a:lumOff val="80000"/>
            </a:schemeClr>
          </a:solidFill>
        </p:spPr>
        <p:txBody>
          <a:bodyPr tIns="228600" anchor="t">
            <a:normAutofit/>
          </a:bodyPr>
          <a:lstStyle>
            <a:lvl1pPr marL="685800" indent="0">
              <a:buNone/>
              <a:defRPr sz="2400" b="1">
                <a:solidFill>
                  <a:schemeClr val="accent3"/>
                </a:solidFill>
              </a:defRPr>
            </a:lvl1pPr>
          </a:lstStyle>
          <a:p>
            <a:pPr lvl="0"/>
            <a:r>
              <a:rPr lang="en-US" dirty="0"/>
              <a:t>LEARNING OBJECTIVE</a:t>
            </a:r>
          </a:p>
        </p:txBody>
      </p:sp>
      <p:sp>
        <p:nvSpPr>
          <p:cNvPr id="7" name="LO">
            <a:extLst>
              <a:ext uri="{FF2B5EF4-FFF2-40B4-BE49-F238E27FC236}">
                <a16:creationId xmlns:a16="http://schemas.microsoft.com/office/drawing/2014/main" id="{6B2BBFD0-F1EC-4C47-B12D-5C12ED25E097}"/>
              </a:ext>
            </a:extLst>
          </p:cNvPr>
          <p:cNvSpPr>
            <a:spLocks noGrp="1"/>
          </p:cNvSpPr>
          <p:nvPr>
            <p:ph sz="quarter" idx="13" hasCustomPrompt="1"/>
          </p:nvPr>
        </p:nvSpPr>
        <p:spPr>
          <a:xfrm>
            <a:off x="0" y="1485062"/>
            <a:ext cx="12192000" cy="576072"/>
          </a:xfrm>
          <a:prstGeom prst="rect">
            <a:avLst/>
          </a:prstGeom>
          <a:solidFill>
            <a:schemeClr val="accent5">
              <a:lumMod val="20000"/>
              <a:lumOff val="80000"/>
            </a:schemeClr>
          </a:solidFill>
        </p:spPr>
        <p:txBody>
          <a:bodyPr bIns="137160" anchor="t">
            <a:normAutofit/>
          </a:bodyPr>
          <a:lstStyle>
            <a:lvl1pPr marL="685800" indent="0">
              <a:buNone/>
              <a:defRPr sz="2800" b="1"/>
            </a:lvl1pPr>
          </a:lstStyle>
          <a:p>
            <a:pPr lvl="0"/>
            <a:r>
              <a:rPr lang="en-US" b="1" dirty="0"/>
              <a:t>Click to add learning objective</a:t>
            </a:r>
            <a:endParaRPr lang="en-US" dirty="0"/>
          </a:p>
        </p:txBody>
      </p:sp>
      <p:sp>
        <p:nvSpPr>
          <p:cNvPr id="9" name="Content Placeholder ">
            <a:extLst>
              <a:ext uri="{FF2B5EF4-FFF2-40B4-BE49-F238E27FC236}">
                <a16:creationId xmlns:a16="http://schemas.microsoft.com/office/drawing/2014/main" id="{65D5B835-3B9C-E14E-A29A-0724ED8AF90D}"/>
              </a:ext>
            </a:extLst>
          </p:cNvPr>
          <p:cNvSpPr>
            <a:spLocks noGrp="1"/>
          </p:cNvSpPr>
          <p:nvPr>
            <p:ph sz="quarter" idx="14" hasCustomPrompt="1"/>
          </p:nvPr>
        </p:nvSpPr>
        <p:spPr>
          <a:xfrm>
            <a:off x="685150" y="2441984"/>
            <a:ext cx="10820401" cy="3795530"/>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8" name="LON">
            <a:extLst>
              <a:ext uri="{FF2B5EF4-FFF2-40B4-BE49-F238E27FC236}">
                <a16:creationId xmlns:a16="http://schemas.microsoft.com/office/drawing/2014/main" id="{0165F52E-6DB2-1947-9EBF-D8C707B6D127}"/>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30107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85149" y="460255"/>
            <a:ext cx="10820403" cy="84931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p:cNvSpPr>
            <a:spLocks noGrp="1"/>
          </p:cNvSpPr>
          <p:nvPr>
            <p:ph type="body" idx="1"/>
          </p:nvPr>
        </p:nvSpPr>
        <p:spPr>
          <a:xfrm>
            <a:off x="685149" y="1452563"/>
            <a:ext cx="10820401" cy="45825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3" name="Decorative">
            <a:extLst>
              <a:ext uri="{FF2B5EF4-FFF2-40B4-BE49-F238E27FC236}">
                <a16:creationId xmlns:a16="http://schemas.microsoft.com/office/drawing/2014/main" id="{CCA493B3-CA46-AE42-92E0-65E2C321C4EE}"/>
              </a:ext>
              <a:ext uri="{C183D7F6-B498-43B3-948B-1728B52AA6E4}">
                <adec:decorative xmlns:adec="http://schemas.microsoft.com/office/drawing/2017/decorative" val="1"/>
              </a:ext>
            </a:extLst>
          </p:cNvPr>
          <p:cNvGrpSpPr/>
          <p:nvPr/>
        </p:nvGrpSpPr>
        <p:grpSpPr>
          <a:xfrm>
            <a:off x="0" y="6446652"/>
            <a:ext cx="12192000" cy="457200"/>
            <a:chOff x="0" y="6437034"/>
            <a:chExt cx="12192000" cy="457200"/>
          </a:xfrm>
        </p:grpSpPr>
        <p:sp>
          <p:nvSpPr>
            <p:cNvPr id="9" name="Rectangle">
              <a:extLst>
                <a:ext uri="{FF2B5EF4-FFF2-40B4-BE49-F238E27FC236}">
                  <a16:creationId xmlns:a16="http://schemas.microsoft.com/office/drawing/2014/main" id="{1435C606-734A-6E44-8696-5C3FDC502060}"/>
                </a:ext>
              </a:extLst>
            </p:cNvPr>
            <p:cNvSpPr/>
            <p:nvPr/>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0" name="Rectangle">
              <a:extLst>
                <a:ext uri="{FF2B5EF4-FFF2-40B4-BE49-F238E27FC236}">
                  <a16:creationId xmlns:a16="http://schemas.microsoft.com/office/drawing/2014/main" id="{3F0CDFAC-CEDE-EC48-B4AF-B38FC99BC062}"/>
                </a:ext>
              </a:extLst>
            </p:cNvPr>
            <p:cNvSpPr/>
            <p:nvPr/>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1" name="Rectangle">
              <a:extLst>
                <a:ext uri="{FF2B5EF4-FFF2-40B4-BE49-F238E27FC236}">
                  <a16:creationId xmlns:a16="http://schemas.microsoft.com/office/drawing/2014/main" id="{8653603B-C5BF-254D-A851-223464C33766}"/>
                </a:ext>
              </a:extLst>
            </p:cNvPr>
            <p:cNvSpPr/>
            <p:nvPr/>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5" name="Logo">
            <a:extLst>
              <a:ext uri="{FF2B5EF4-FFF2-40B4-BE49-F238E27FC236}">
                <a16:creationId xmlns:a16="http://schemas.microsoft.com/office/drawing/2014/main" id="{7C7EE61F-0A99-B444-AF52-6D916C599FBA}"/>
              </a:ext>
            </a:extLst>
          </p:cNvPr>
          <p:cNvPicPr>
            <a:picLocks noChangeAspect="1"/>
          </p:cNvPicPr>
          <p:nvPr/>
        </p:nvPicPr>
        <p:blipFill>
          <a:blip r:embed="rId28"/>
          <a:srcRect/>
          <a:stretch/>
        </p:blipFill>
        <p:spPr>
          <a:xfrm>
            <a:off x="685149" y="6578943"/>
            <a:ext cx="914401" cy="192617"/>
          </a:xfrm>
          <a:prstGeom prst="rect">
            <a:avLst/>
          </a:prstGeom>
        </p:spPr>
      </p:pic>
      <p:grpSp>
        <p:nvGrpSpPr>
          <p:cNvPr id="4" name="Decorative">
            <a:extLst>
              <a:ext uri="{FF2B5EF4-FFF2-40B4-BE49-F238E27FC236}">
                <a16:creationId xmlns:a16="http://schemas.microsoft.com/office/drawing/2014/main" id="{68DBE87E-583D-5353-BE8B-E8D611752F42}"/>
              </a:ext>
              <a:ext uri="{C183D7F6-B498-43B3-948B-1728B52AA6E4}">
                <adec:decorative xmlns:adec="http://schemas.microsoft.com/office/drawing/2017/decorative" val="1"/>
              </a:ext>
            </a:extLst>
          </p:cNvPr>
          <p:cNvGrpSpPr/>
          <p:nvPr userDrawn="1"/>
        </p:nvGrpSpPr>
        <p:grpSpPr>
          <a:xfrm>
            <a:off x="0" y="6446652"/>
            <a:ext cx="12192000" cy="457200"/>
            <a:chOff x="0" y="6437034"/>
            <a:chExt cx="12192000" cy="457200"/>
          </a:xfrm>
        </p:grpSpPr>
        <p:sp>
          <p:nvSpPr>
            <p:cNvPr id="6" name="Rectangle">
              <a:extLst>
                <a:ext uri="{FF2B5EF4-FFF2-40B4-BE49-F238E27FC236}">
                  <a16:creationId xmlns:a16="http://schemas.microsoft.com/office/drawing/2014/main" id="{F7268FCC-A3A8-5103-50C9-2957FC1C632A}"/>
                </a:ext>
              </a:extLst>
            </p:cNvPr>
            <p:cNvSpPr/>
            <p:nvPr userDrawn="1"/>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48BB55D9-C184-2F0C-CD7F-AF79F10A9075}"/>
                </a:ext>
              </a:extLst>
            </p:cNvPr>
            <p:cNvSpPr/>
            <p:nvPr userDrawn="1"/>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81288B08-A0C0-EEB4-F92D-9375EDCCD2E4}"/>
                </a:ext>
              </a:extLst>
            </p:cNvPr>
            <p:cNvSpPr/>
            <p:nvPr userDrawn="1"/>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12" name="Logo">
            <a:extLst>
              <a:ext uri="{FF2B5EF4-FFF2-40B4-BE49-F238E27FC236}">
                <a16:creationId xmlns:a16="http://schemas.microsoft.com/office/drawing/2014/main" id="{36161B95-7B9C-08F8-A277-4D09C7E90CC9}"/>
              </a:ext>
            </a:extLst>
          </p:cNvPr>
          <p:cNvPicPr>
            <a:picLocks noChangeAspect="1"/>
          </p:cNvPicPr>
          <p:nvPr userDrawn="1"/>
        </p:nvPicPr>
        <p:blipFill>
          <a:blip r:embed="rId28"/>
          <a:srcRect/>
          <a:stretch/>
        </p:blipFill>
        <p:spPr>
          <a:xfrm>
            <a:off x="685149" y="6578943"/>
            <a:ext cx="914401" cy="192617"/>
          </a:xfrm>
          <a:prstGeom prst="rect">
            <a:avLst/>
          </a:prstGeom>
        </p:spPr>
      </p:pic>
    </p:spTree>
    <p:extLst>
      <p:ext uri="{BB962C8B-B14F-4D97-AF65-F5344CB8AC3E}">
        <p14:creationId xmlns:p14="http://schemas.microsoft.com/office/powerpoint/2010/main" val="9615988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Lst>
  <p:hf hdr="0" ftr="0" dt="0"/>
  <p:txStyles>
    <p:titleStyle>
      <a:lvl1pPr algn="l" defTabSz="685800" rtl="0" eaLnBrk="1" latinLnBrk="0" hangingPunct="1">
        <a:lnSpc>
          <a:spcPct val="90000"/>
        </a:lnSpc>
        <a:spcBef>
          <a:spcPct val="0"/>
        </a:spcBef>
        <a:buNone/>
        <a:defRPr sz="4000" b="0" i="0" kern="1200">
          <a:solidFill>
            <a:schemeClr val="accent3"/>
          </a:solidFill>
          <a:latin typeface="Times" pitchFamily="2" charset="0"/>
          <a:ea typeface="+mj-ea"/>
          <a:cs typeface="Calibri" panose="020F0502020204030204" pitchFamily="34" charset="0"/>
        </a:defRPr>
      </a:lvl1pPr>
    </p:titleStyle>
    <p:bodyStyle>
      <a:lvl1pPr marL="219456" indent="-219456" algn="l" defTabSz="685800" rtl="0" eaLnBrk="1" latinLnBrk="0" hangingPunct="1">
        <a:lnSpc>
          <a:spcPct val="90000"/>
        </a:lnSpc>
        <a:spcBef>
          <a:spcPts val="750"/>
        </a:spcBef>
        <a:buClr>
          <a:schemeClr val="accent3"/>
        </a:buClr>
        <a:buFont typeface="Arial" panose="020B0604020202020204" pitchFamily="34" charset="0"/>
        <a:buChar char="•"/>
        <a:defRPr sz="2800" b="0" i="0" kern="1200">
          <a:solidFill>
            <a:schemeClr val="tx1"/>
          </a:solidFill>
          <a:latin typeface="Times" pitchFamily="2" charset="0"/>
          <a:ea typeface="+mn-ea"/>
          <a:cs typeface="+mn-cs"/>
        </a:defRPr>
      </a:lvl1pPr>
      <a:lvl2pPr marL="617220" indent="-219456" algn="l" defTabSz="685800" rtl="0" eaLnBrk="1" latinLnBrk="0" hangingPunct="1">
        <a:lnSpc>
          <a:spcPct val="90000"/>
        </a:lnSpc>
        <a:spcBef>
          <a:spcPts val="375"/>
        </a:spcBef>
        <a:buClr>
          <a:schemeClr val="accent3"/>
        </a:buClr>
        <a:buFont typeface="Arial" panose="020B0604020202020204" pitchFamily="34" charset="0"/>
        <a:buChar char="•"/>
        <a:defRPr sz="2400" b="0" i="0" kern="1200">
          <a:solidFill>
            <a:schemeClr val="tx1"/>
          </a:solidFill>
          <a:latin typeface="Times" pitchFamily="2" charset="0"/>
          <a:ea typeface="+mn-ea"/>
          <a:cs typeface="+mn-cs"/>
        </a:defRPr>
      </a:lvl2pPr>
      <a:lvl3pPr marL="908685" indent="-192024" algn="l" defTabSz="685800" rtl="0" eaLnBrk="1" latinLnBrk="0" hangingPunct="1">
        <a:lnSpc>
          <a:spcPct val="90000"/>
        </a:lnSpc>
        <a:spcBef>
          <a:spcPts val="375"/>
        </a:spcBef>
        <a:buClr>
          <a:schemeClr val="accent3"/>
        </a:buClr>
        <a:buFont typeface="Arial" panose="020B0604020202020204" pitchFamily="34" charset="0"/>
        <a:buChar char="•"/>
        <a:defRPr sz="2200" b="0" i="0" kern="1200">
          <a:solidFill>
            <a:schemeClr val="tx1"/>
          </a:solidFill>
          <a:latin typeface="Times" pitchFamily="2" charset="0"/>
          <a:ea typeface="+mn-ea"/>
          <a:cs typeface="+mn-cs"/>
        </a:defRPr>
      </a:lvl3pPr>
      <a:lvl4pPr marL="1131570" indent="-171450" algn="l" defTabSz="685800" rtl="0" eaLnBrk="1" latinLnBrk="0" hangingPunct="1">
        <a:lnSpc>
          <a:spcPct val="90000"/>
        </a:lnSpc>
        <a:spcBef>
          <a:spcPts val="375"/>
        </a:spcBef>
        <a:buClr>
          <a:schemeClr val="accent3"/>
        </a:buClr>
        <a:buFont typeface="Arial" panose="020B0604020202020204" pitchFamily="34" charset="0"/>
        <a:buChar char="•"/>
        <a:defRPr sz="1800" b="0" i="0" kern="1200">
          <a:solidFill>
            <a:schemeClr val="tx1"/>
          </a:solidFill>
          <a:latin typeface="Times" pitchFamily="2" charset="0"/>
          <a:ea typeface="+mn-ea"/>
          <a:cs typeface="+mn-cs"/>
        </a:defRPr>
      </a:lvl4pPr>
      <a:lvl5pPr marL="1345883" indent="-150876" algn="l" defTabSz="685800" rtl="0" eaLnBrk="1" latinLnBrk="0" hangingPunct="1">
        <a:lnSpc>
          <a:spcPct val="90000"/>
        </a:lnSpc>
        <a:spcBef>
          <a:spcPts val="375"/>
        </a:spcBef>
        <a:buClr>
          <a:schemeClr val="accent3"/>
        </a:buClr>
        <a:buFont typeface="Arial" panose="020B0604020202020204" pitchFamily="34" charset="0"/>
        <a:buChar char="•"/>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8.emf"/><Relationship Id="rId7" Type="http://schemas.openxmlformats.org/officeDocument/2006/relationships/image" Target="../media/image22.emf"/><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 Id="rId9" Type="http://schemas.openxmlformats.org/officeDocument/2006/relationships/image" Target="../media/image24.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8.emf"/></Relationships>
</file>

<file path=ppt/slides/_rels/slide2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33.emf"/><Relationship Id="rId4" Type="http://schemas.openxmlformats.org/officeDocument/2006/relationships/image" Target="../media/image32.emf"/></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microsoft.com/office/2007/relationships/hdphoto" Target="../media/hdphoto2.wdp"/></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37.emf"/></Relationships>
</file>

<file path=ppt/slides/_rels/slide4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6C62-CCFF-1C02-E799-ECD9BFF15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B658A-67B4-C5BC-CB9C-31F02F7608AE}"/>
              </a:ext>
            </a:extLst>
          </p:cNvPr>
          <p:cNvSpPr>
            <a:spLocks noGrp="1"/>
          </p:cNvSpPr>
          <p:nvPr>
            <p:ph type="ctrTitle"/>
          </p:nvPr>
        </p:nvSpPr>
        <p:spPr/>
        <p:txBody>
          <a:bodyPr>
            <a:normAutofit fontScale="90000"/>
          </a:bodyPr>
          <a:lstStyle/>
          <a:p>
            <a:r>
              <a:rPr lang="en-US" sz="4800" dirty="0" err="1">
                <a:solidFill>
                  <a:schemeClr val="tx1"/>
                </a:solidFill>
              </a:rPr>
              <a:t>Cutnell</a:t>
            </a:r>
            <a:r>
              <a:rPr lang="en-US" sz="4800" dirty="0">
                <a:solidFill>
                  <a:schemeClr val="tx1"/>
                </a:solidFill>
              </a:rPr>
              <a:t> &amp; Johnson </a:t>
            </a:r>
            <a:br>
              <a:rPr lang="en-US" sz="4800" dirty="0">
                <a:solidFill>
                  <a:schemeClr val="tx1"/>
                </a:solidFill>
              </a:rPr>
            </a:br>
            <a:r>
              <a:rPr lang="en-US" dirty="0">
                <a:solidFill>
                  <a:schemeClr val="tx1"/>
                </a:solidFill>
              </a:rPr>
              <a:t>Physics</a:t>
            </a:r>
          </a:p>
        </p:txBody>
      </p:sp>
      <p:sp>
        <p:nvSpPr>
          <p:cNvPr id="3" name="Edition 2">
            <a:extLst>
              <a:ext uri="{FF2B5EF4-FFF2-40B4-BE49-F238E27FC236}">
                <a16:creationId xmlns:a16="http://schemas.microsoft.com/office/drawing/2014/main" id="{FE4A4E37-3C3B-52BE-75F5-3352E7A80047}"/>
              </a:ext>
            </a:extLst>
          </p:cNvPr>
          <p:cNvSpPr>
            <a:spLocks noGrp="1"/>
          </p:cNvSpPr>
          <p:nvPr>
            <p:ph sz="quarter" idx="24"/>
          </p:nvPr>
        </p:nvSpPr>
        <p:spPr>
          <a:xfrm>
            <a:off x="442384" y="1901135"/>
            <a:ext cx="11294533" cy="603504"/>
          </a:xfrm>
        </p:spPr>
        <p:txBody>
          <a:bodyPr/>
          <a:lstStyle/>
          <a:p>
            <a:r>
              <a:rPr lang="en-US" dirty="0"/>
              <a:t>Twelfth Edition</a:t>
            </a:r>
          </a:p>
        </p:txBody>
      </p:sp>
      <p:sp>
        <p:nvSpPr>
          <p:cNvPr id="4" name="Author 3">
            <a:extLst>
              <a:ext uri="{FF2B5EF4-FFF2-40B4-BE49-F238E27FC236}">
                <a16:creationId xmlns:a16="http://schemas.microsoft.com/office/drawing/2014/main" id="{1653E4EB-8C72-6F2A-0C74-00D79E54C15B}"/>
              </a:ext>
            </a:extLst>
          </p:cNvPr>
          <p:cNvSpPr>
            <a:spLocks noGrp="1"/>
          </p:cNvSpPr>
          <p:nvPr>
            <p:ph sz="quarter" idx="25"/>
          </p:nvPr>
        </p:nvSpPr>
        <p:spPr>
          <a:xfrm>
            <a:off x="442384" y="2353144"/>
            <a:ext cx="11294533" cy="668222"/>
          </a:xfrm>
        </p:spPr>
        <p:txBody>
          <a:bodyPr/>
          <a:lstStyle/>
          <a:p>
            <a:r>
              <a:rPr lang="en-US" dirty="0">
                <a:solidFill>
                  <a:schemeClr val="accent3"/>
                </a:solidFill>
              </a:rPr>
              <a:t>David Young and Shane Stadler</a:t>
            </a:r>
          </a:p>
        </p:txBody>
      </p:sp>
      <p:sp>
        <p:nvSpPr>
          <p:cNvPr id="5" name="CN 4">
            <a:extLst>
              <a:ext uri="{FF2B5EF4-FFF2-40B4-BE49-F238E27FC236}">
                <a16:creationId xmlns:a16="http://schemas.microsoft.com/office/drawing/2014/main" id="{478EC628-D124-7C5F-E556-56B66C56FC64}"/>
              </a:ext>
            </a:extLst>
          </p:cNvPr>
          <p:cNvSpPr>
            <a:spLocks noGrp="1"/>
          </p:cNvSpPr>
          <p:nvPr>
            <p:ph sz="quarter" idx="26"/>
          </p:nvPr>
        </p:nvSpPr>
        <p:spPr/>
        <p:txBody>
          <a:bodyPr/>
          <a:lstStyle/>
          <a:p>
            <a:r>
              <a:rPr lang="en-US" dirty="0"/>
              <a:t>CHAPTER 8</a:t>
            </a:r>
          </a:p>
        </p:txBody>
      </p:sp>
      <p:sp>
        <p:nvSpPr>
          <p:cNvPr id="6" name="CT 5">
            <a:extLst>
              <a:ext uri="{FF2B5EF4-FFF2-40B4-BE49-F238E27FC236}">
                <a16:creationId xmlns:a16="http://schemas.microsoft.com/office/drawing/2014/main" id="{31CFED87-BA07-F954-7BF4-19C4873CC49D}"/>
              </a:ext>
            </a:extLst>
          </p:cNvPr>
          <p:cNvSpPr>
            <a:spLocks noGrp="1"/>
          </p:cNvSpPr>
          <p:nvPr>
            <p:ph type="subTitle" idx="1"/>
          </p:nvPr>
        </p:nvSpPr>
        <p:spPr>
          <a:xfrm>
            <a:off x="455083" y="4396646"/>
            <a:ext cx="11294226" cy="1581408"/>
          </a:xfrm>
        </p:spPr>
        <p:txBody>
          <a:bodyPr>
            <a:noAutofit/>
          </a:bodyPr>
          <a:lstStyle/>
          <a:p>
            <a:pPr>
              <a:lnSpc>
                <a:spcPct val="100000"/>
              </a:lnSpc>
            </a:pPr>
            <a:r>
              <a:rPr lang="en-US" dirty="0"/>
              <a:t>Rotational Kinematics</a:t>
            </a:r>
          </a:p>
        </p:txBody>
      </p:sp>
    </p:spTree>
    <p:extLst>
      <p:ext uri="{BB962C8B-B14F-4D97-AF65-F5344CB8AC3E}">
        <p14:creationId xmlns:p14="http://schemas.microsoft.com/office/powerpoint/2010/main" val="135930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C14A-163B-91AC-19AB-AE4673EB8F7B}"/>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F4ADFB39-6AB2-4D8A-B257-AEEF0083F39C}"/>
              </a:ext>
            </a:extLst>
          </p:cNvPr>
          <p:cNvSpPr/>
          <p:nvPr/>
        </p:nvSpPr>
        <p:spPr>
          <a:xfrm>
            <a:off x="0" y="887898"/>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F6FD14-EC24-06F3-3981-E52F40B1F7E6}"/>
              </a:ext>
            </a:extLst>
          </p:cNvPr>
          <p:cNvSpPr>
            <a:spLocks noGrp="1"/>
          </p:cNvSpPr>
          <p:nvPr>
            <p:ph type="title"/>
          </p:nvPr>
        </p:nvSpPr>
        <p:spPr>
          <a:xfrm>
            <a:off x="672552" y="261472"/>
            <a:ext cx="10820401" cy="849312"/>
          </a:xfrm>
        </p:spPr>
        <p:txBody>
          <a:bodyPr/>
          <a:lstStyle/>
          <a:p>
            <a:r>
              <a:rPr lang="en-US" b="1" dirty="0">
                <a:ea typeface="Calibri" charset="0"/>
                <a:cs typeface="Calibri" charset="0"/>
              </a:rPr>
              <a:t>8.1</a:t>
            </a:r>
            <a:r>
              <a:rPr lang="en-US" dirty="0">
                <a:ea typeface="Calibri" charset="0"/>
                <a:cs typeface="Calibri" charset="0"/>
              </a:rPr>
              <a:t> Rotational Motion and Angular Displacement</a:t>
            </a:r>
            <a:endParaRPr lang="en-US" sz="3000" dirty="0"/>
          </a:p>
        </p:txBody>
      </p:sp>
      <p:sp>
        <p:nvSpPr>
          <p:cNvPr id="5" name="Content Placeholder 2">
            <a:extLst>
              <a:ext uri="{FF2B5EF4-FFF2-40B4-BE49-F238E27FC236}">
                <a16:creationId xmlns:a16="http://schemas.microsoft.com/office/drawing/2014/main" id="{8A94F337-0296-189A-A04A-41DD577C9D5A}"/>
              </a:ext>
            </a:extLst>
          </p:cNvPr>
          <p:cNvSpPr txBox="1">
            <a:spLocks/>
          </p:cNvSpPr>
          <p:nvPr/>
        </p:nvSpPr>
        <p:spPr>
          <a:xfrm>
            <a:off x="959715" y="955089"/>
            <a:ext cx="10820401"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8.1 </a:t>
            </a:r>
            <a:r>
              <a:rPr lang="en-US" dirty="0"/>
              <a:t>– Define angular displacement.</a:t>
            </a:r>
          </a:p>
        </p:txBody>
      </p:sp>
      <p:sp>
        <p:nvSpPr>
          <p:cNvPr id="17" name="TextBox 16">
            <a:extLst>
              <a:ext uri="{FF2B5EF4-FFF2-40B4-BE49-F238E27FC236}">
                <a16:creationId xmlns:a16="http://schemas.microsoft.com/office/drawing/2014/main" id="{27D182FF-6A6F-4D10-C97F-4C0333D6A307}"/>
              </a:ext>
            </a:extLst>
          </p:cNvPr>
          <p:cNvSpPr txBox="1"/>
          <p:nvPr/>
        </p:nvSpPr>
        <p:spPr>
          <a:xfrm>
            <a:off x="950026" y="1592159"/>
            <a:ext cx="10759043" cy="1200329"/>
          </a:xfrm>
          <a:prstGeom prst="rect">
            <a:avLst/>
          </a:prstGeom>
          <a:noFill/>
        </p:spPr>
        <p:txBody>
          <a:bodyPr wrap="square">
            <a:spAutoFit/>
          </a:bodyPr>
          <a:lstStyle/>
          <a:p>
            <a:pPr algn="just"/>
            <a:r>
              <a:rPr lang="en-US" sz="2400" dirty="0">
                <a:latin typeface="Times" pitchFamily="2" charset="0"/>
              </a:rPr>
              <a:t>So far, we've focused on the motion of objects as they move from one place to another—along a straight line (Chapter 02), through two dimensions (Chapter 03), or even around a circle at constant speed (Chapter 05). </a:t>
            </a:r>
          </a:p>
        </p:txBody>
      </p:sp>
      <p:sp>
        <p:nvSpPr>
          <p:cNvPr id="19" name="TextBox 18">
            <a:extLst>
              <a:ext uri="{FF2B5EF4-FFF2-40B4-BE49-F238E27FC236}">
                <a16:creationId xmlns:a16="http://schemas.microsoft.com/office/drawing/2014/main" id="{DF5C73E3-4508-C9BC-8E33-C8B6DF588D07}"/>
              </a:ext>
            </a:extLst>
          </p:cNvPr>
          <p:cNvSpPr txBox="1"/>
          <p:nvPr/>
        </p:nvSpPr>
        <p:spPr>
          <a:xfrm>
            <a:off x="982682" y="2957681"/>
            <a:ext cx="10655135" cy="830997"/>
          </a:xfrm>
          <a:prstGeom prst="rect">
            <a:avLst/>
          </a:prstGeom>
          <a:noFill/>
        </p:spPr>
        <p:txBody>
          <a:bodyPr wrap="square">
            <a:spAutoFit/>
          </a:bodyPr>
          <a:lstStyle/>
          <a:p>
            <a:pPr algn="just"/>
            <a:r>
              <a:rPr lang="en-US" sz="2400" dirty="0">
                <a:latin typeface="Times" pitchFamily="2" charset="0"/>
              </a:rPr>
              <a:t>Now we'll shift our attention from </a:t>
            </a:r>
            <a:r>
              <a:rPr lang="en-US" sz="2400" i="1" dirty="0">
                <a:latin typeface="Times" pitchFamily="2" charset="0"/>
              </a:rPr>
              <a:t>where an object moves </a:t>
            </a:r>
            <a:r>
              <a:rPr lang="en-US" sz="2400" dirty="0">
                <a:latin typeface="Times" pitchFamily="2" charset="0"/>
              </a:rPr>
              <a:t>to </a:t>
            </a:r>
            <a:r>
              <a:rPr lang="en-US" sz="2400" i="1" dirty="0">
                <a:latin typeface="Times" pitchFamily="2" charset="0"/>
              </a:rPr>
              <a:t>how an object itself </a:t>
            </a:r>
            <a:r>
              <a:rPr lang="en-US" sz="2400" b="1" i="1" dirty="0">
                <a:solidFill>
                  <a:srgbClr val="007440"/>
                </a:solidFill>
                <a:latin typeface="Times" pitchFamily="2" charset="0"/>
              </a:rPr>
              <a:t>rotates</a:t>
            </a:r>
            <a:r>
              <a:rPr lang="en-US" sz="2400" dirty="0">
                <a:latin typeface="Times" pitchFamily="2" charset="0"/>
              </a:rPr>
              <a:t>.</a:t>
            </a:r>
            <a:endParaRPr lang="en-US" sz="2400" dirty="0"/>
          </a:p>
        </p:txBody>
      </p:sp>
      <p:grpSp>
        <p:nvGrpSpPr>
          <p:cNvPr id="36" name="Group 35">
            <a:extLst>
              <a:ext uri="{FF2B5EF4-FFF2-40B4-BE49-F238E27FC236}">
                <a16:creationId xmlns:a16="http://schemas.microsoft.com/office/drawing/2014/main" id="{B1A9FD2F-CBF5-B69F-A602-5718A14E7F08}"/>
              </a:ext>
            </a:extLst>
          </p:cNvPr>
          <p:cNvGrpSpPr/>
          <p:nvPr/>
        </p:nvGrpSpPr>
        <p:grpSpPr>
          <a:xfrm>
            <a:off x="955962" y="4058078"/>
            <a:ext cx="11236038" cy="461665"/>
            <a:chOff x="955962" y="3694698"/>
            <a:chExt cx="11236038" cy="461665"/>
          </a:xfrm>
        </p:grpSpPr>
        <p:sp>
          <p:nvSpPr>
            <p:cNvPr id="22" name="TextBox 21">
              <a:extLst>
                <a:ext uri="{FF2B5EF4-FFF2-40B4-BE49-F238E27FC236}">
                  <a16:creationId xmlns:a16="http://schemas.microsoft.com/office/drawing/2014/main" id="{C6540B6F-EFBE-2676-1AD7-6185B6EF5476}"/>
                </a:ext>
              </a:extLst>
            </p:cNvPr>
            <p:cNvSpPr txBox="1"/>
            <p:nvPr/>
          </p:nvSpPr>
          <p:spPr>
            <a:xfrm>
              <a:off x="955962" y="3694698"/>
              <a:ext cx="11236038" cy="461665"/>
            </a:xfrm>
            <a:prstGeom prst="rect">
              <a:avLst/>
            </a:prstGeom>
            <a:noFill/>
          </p:spPr>
          <p:txBody>
            <a:bodyPr wrap="square">
              <a:spAutoFit/>
            </a:bodyPr>
            <a:lstStyle/>
            <a:p>
              <a:pPr algn="just"/>
              <a:r>
                <a:rPr lang="en-US" sz="2400" dirty="0">
                  <a:latin typeface="Times" pitchFamily="2" charset="0"/>
                </a:rPr>
                <a:t>We will begin by introducing a new set of variables that describe                                     .</a:t>
              </a:r>
              <a:endParaRPr lang="en-US" sz="2400" dirty="0"/>
            </a:p>
          </p:txBody>
        </p:sp>
        <p:sp>
          <p:nvSpPr>
            <p:cNvPr id="24" name="Rounded Rectangle 23">
              <a:extLst>
                <a:ext uri="{FF2B5EF4-FFF2-40B4-BE49-F238E27FC236}">
                  <a16:creationId xmlns:a16="http://schemas.microsoft.com/office/drawing/2014/main" id="{A438845E-6114-BECD-A7C3-52A7CFC86C1B}"/>
                </a:ext>
              </a:extLst>
            </p:cNvPr>
            <p:cNvSpPr/>
            <p:nvPr/>
          </p:nvSpPr>
          <p:spPr>
            <a:xfrm>
              <a:off x="8987248" y="3740726"/>
              <a:ext cx="2693323" cy="365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E42F141F-AFE8-5CA7-BE12-90C6AA6E0339}"/>
              </a:ext>
            </a:extLst>
          </p:cNvPr>
          <p:cNvGrpSpPr/>
          <p:nvPr/>
        </p:nvGrpSpPr>
        <p:grpSpPr>
          <a:xfrm>
            <a:off x="969027" y="5000232"/>
            <a:ext cx="10972800" cy="830997"/>
            <a:chOff x="969027" y="4584602"/>
            <a:chExt cx="10972800" cy="830997"/>
          </a:xfrm>
        </p:grpSpPr>
        <p:sp>
          <p:nvSpPr>
            <p:cNvPr id="38" name="TextBox 37">
              <a:extLst>
                <a:ext uri="{FF2B5EF4-FFF2-40B4-BE49-F238E27FC236}">
                  <a16:creationId xmlns:a16="http://schemas.microsoft.com/office/drawing/2014/main" id="{61A59AB5-9946-0407-099E-902F92B6918A}"/>
                </a:ext>
              </a:extLst>
            </p:cNvPr>
            <p:cNvSpPr txBox="1"/>
            <p:nvPr/>
          </p:nvSpPr>
          <p:spPr>
            <a:xfrm>
              <a:off x="969027" y="4584602"/>
              <a:ext cx="10972800" cy="830997"/>
            </a:xfrm>
            <a:prstGeom prst="rect">
              <a:avLst/>
            </a:prstGeom>
            <a:noFill/>
          </p:spPr>
          <p:txBody>
            <a:bodyPr wrap="square">
              <a:spAutoFit/>
            </a:bodyPr>
            <a:lstStyle/>
            <a:p>
              <a:r>
                <a:rPr lang="en-US" sz="2400" dirty="0">
                  <a:latin typeface="Times" pitchFamily="2" charset="0"/>
                </a:rPr>
                <a:t>By using </a:t>
              </a:r>
              <a:r>
                <a:rPr lang="en-US" sz="2400" b="1" dirty="0">
                  <a:solidFill>
                    <a:srgbClr val="007440"/>
                  </a:solidFill>
                  <a:latin typeface="Times" pitchFamily="2" charset="0"/>
                </a:rPr>
                <a:t>angular displacement</a:t>
              </a:r>
              <a:r>
                <a:rPr lang="en-US" sz="2400" dirty="0">
                  <a:latin typeface="Times" pitchFamily="2" charset="0"/>
                </a:rPr>
                <a:t>, </a:t>
              </a:r>
              <a:r>
                <a:rPr lang="en-US" sz="2400" b="1" dirty="0">
                  <a:solidFill>
                    <a:srgbClr val="007440"/>
                  </a:solidFill>
                  <a:latin typeface="Times" pitchFamily="2" charset="0"/>
                </a:rPr>
                <a:t>angular velocity</a:t>
              </a:r>
              <a:r>
                <a:rPr lang="en-US" sz="2400" dirty="0">
                  <a:latin typeface="Times" pitchFamily="2" charset="0"/>
                </a:rPr>
                <a:t>, and </a:t>
              </a:r>
              <a:r>
                <a:rPr lang="en-US" sz="2400" b="1" dirty="0">
                  <a:solidFill>
                    <a:srgbClr val="007440"/>
                  </a:solidFill>
                  <a:latin typeface="Times" pitchFamily="2" charset="0"/>
                </a:rPr>
                <a:t>angular acceleration</a:t>
              </a:r>
              <a:r>
                <a:rPr lang="en-US" sz="2400" dirty="0">
                  <a:latin typeface="Times" pitchFamily="2" charset="0"/>
                </a:rPr>
                <a:t>, we'll build a rotational version of                        that will look quite familiar to you.</a:t>
              </a:r>
            </a:p>
          </p:txBody>
        </p:sp>
        <p:sp>
          <p:nvSpPr>
            <p:cNvPr id="39" name="Rounded Rectangle 38">
              <a:extLst>
                <a:ext uri="{FF2B5EF4-FFF2-40B4-BE49-F238E27FC236}">
                  <a16:creationId xmlns:a16="http://schemas.microsoft.com/office/drawing/2014/main" id="{82755ACF-93E7-FB36-1464-E7C411421042}"/>
                </a:ext>
              </a:extLst>
            </p:cNvPr>
            <p:cNvSpPr/>
            <p:nvPr/>
          </p:nvSpPr>
          <p:spPr>
            <a:xfrm>
              <a:off x="4564873" y="5023264"/>
              <a:ext cx="1615045" cy="320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6402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dissolve">
                                      <p:cBhvr>
                                        <p:cTn id="2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E998E-6DE4-BB15-9C51-32D927353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4E087-1061-DA4D-1C5F-A96AD9E904AD}"/>
              </a:ext>
            </a:extLst>
          </p:cNvPr>
          <p:cNvSpPr>
            <a:spLocks noGrp="1"/>
          </p:cNvSpPr>
          <p:nvPr>
            <p:ph type="title"/>
          </p:nvPr>
        </p:nvSpPr>
        <p:spPr>
          <a:xfrm>
            <a:off x="672552" y="261472"/>
            <a:ext cx="10820401" cy="849312"/>
          </a:xfrm>
        </p:spPr>
        <p:txBody>
          <a:bodyPr/>
          <a:lstStyle/>
          <a:p>
            <a:r>
              <a:rPr lang="en-US" b="1" dirty="0">
                <a:ea typeface="Calibri" charset="0"/>
                <a:cs typeface="Calibri" charset="0"/>
              </a:rPr>
              <a:t>8.1</a:t>
            </a:r>
            <a:r>
              <a:rPr lang="en-US" dirty="0">
                <a:ea typeface="Calibri" charset="0"/>
                <a:cs typeface="Calibri" charset="0"/>
              </a:rPr>
              <a:t> Rotational Motion and Angular Displacement</a:t>
            </a:r>
            <a:endParaRPr lang="en-US" sz="3000" dirty="0"/>
          </a:p>
        </p:txBody>
      </p:sp>
      <p:sp>
        <p:nvSpPr>
          <p:cNvPr id="17" name="TextBox 16">
            <a:extLst>
              <a:ext uri="{FF2B5EF4-FFF2-40B4-BE49-F238E27FC236}">
                <a16:creationId xmlns:a16="http://schemas.microsoft.com/office/drawing/2014/main" id="{7A764D7E-9C8D-2B21-0863-201076D61629}"/>
              </a:ext>
            </a:extLst>
          </p:cNvPr>
          <p:cNvSpPr txBox="1"/>
          <p:nvPr/>
        </p:nvSpPr>
        <p:spPr>
          <a:xfrm>
            <a:off x="2978331" y="1076769"/>
            <a:ext cx="9341131" cy="461665"/>
          </a:xfrm>
          <a:prstGeom prst="rect">
            <a:avLst/>
          </a:prstGeom>
          <a:noFill/>
        </p:spPr>
        <p:txBody>
          <a:bodyPr wrap="square">
            <a:spAutoFit/>
          </a:bodyPr>
          <a:lstStyle/>
          <a:p>
            <a:pPr algn="just"/>
            <a:r>
              <a:rPr lang="en-US" sz="2400" dirty="0">
                <a:latin typeface="Times" pitchFamily="2" charset="0"/>
              </a:rPr>
              <a:t>Imagine a rotating object, such as a spinning figure skater, for example.</a:t>
            </a:r>
          </a:p>
        </p:txBody>
      </p:sp>
      <p:pic>
        <p:nvPicPr>
          <p:cNvPr id="6" name="Picture 5">
            <a:extLst>
              <a:ext uri="{FF2B5EF4-FFF2-40B4-BE49-F238E27FC236}">
                <a16:creationId xmlns:a16="http://schemas.microsoft.com/office/drawing/2014/main" id="{C4E1EA97-297E-5DF8-F247-1CAF6C3550F2}"/>
              </a:ext>
            </a:extLst>
          </p:cNvPr>
          <p:cNvPicPr>
            <a:picLocks noChangeAspect="1"/>
          </p:cNvPicPr>
          <p:nvPr/>
        </p:nvPicPr>
        <p:blipFill>
          <a:blip r:embed="rId3"/>
          <a:stretch>
            <a:fillRect/>
          </a:stretch>
        </p:blipFill>
        <p:spPr>
          <a:xfrm>
            <a:off x="0" y="1101782"/>
            <a:ext cx="2512637" cy="5044166"/>
          </a:xfrm>
          <a:prstGeom prst="rect">
            <a:avLst/>
          </a:prstGeom>
        </p:spPr>
      </p:pic>
      <p:grpSp>
        <p:nvGrpSpPr>
          <p:cNvPr id="10" name="Group 9">
            <a:extLst>
              <a:ext uri="{FF2B5EF4-FFF2-40B4-BE49-F238E27FC236}">
                <a16:creationId xmlns:a16="http://schemas.microsoft.com/office/drawing/2014/main" id="{4B97C935-BBD8-6EEE-9F2D-8AA3E97390BA}"/>
              </a:ext>
            </a:extLst>
          </p:cNvPr>
          <p:cNvGrpSpPr/>
          <p:nvPr/>
        </p:nvGrpSpPr>
        <p:grpSpPr>
          <a:xfrm>
            <a:off x="2981101" y="1860936"/>
            <a:ext cx="8706593" cy="849012"/>
            <a:chOff x="2681843" y="1378798"/>
            <a:chExt cx="8706593" cy="849012"/>
          </a:xfrm>
        </p:grpSpPr>
        <p:sp>
          <p:nvSpPr>
            <p:cNvPr id="7" name="TextBox 6">
              <a:extLst>
                <a:ext uri="{FF2B5EF4-FFF2-40B4-BE49-F238E27FC236}">
                  <a16:creationId xmlns:a16="http://schemas.microsoft.com/office/drawing/2014/main" id="{C175DEB9-6AE9-DF93-3D8C-E05E2D06D84D}"/>
                </a:ext>
              </a:extLst>
            </p:cNvPr>
            <p:cNvSpPr txBox="1"/>
            <p:nvPr/>
          </p:nvSpPr>
          <p:spPr>
            <a:xfrm>
              <a:off x="2681843" y="1378798"/>
              <a:ext cx="8706593" cy="830997"/>
            </a:xfrm>
            <a:prstGeom prst="rect">
              <a:avLst/>
            </a:prstGeom>
            <a:noFill/>
          </p:spPr>
          <p:txBody>
            <a:bodyPr wrap="square">
              <a:spAutoFit/>
            </a:bodyPr>
            <a:lstStyle/>
            <a:p>
              <a:pPr marL="2127250" indent="-2127250" algn="just"/>
              <a:r>
                <a:rPr lang="en-US" sz="2400" dirty="0">
                  <a:latin typeface="Times" pitchFamily="2" charset="0"/>
                </a:rPr>
                <a:t>Each point on the object (e.g. </a:t>
              </a:r>
              <a:r>
                <a:rPr lang="en-US" sz="2400" i="1" dirty="0">
                  <a:latin typeface="Times" pitchFamily="2" charset="0"/>
                </a:rPr>
                <a:t>A</a:t>
              </a:r>
              <a:r>
                <a:rPr lang="en-US" sz="2400" dirty="0">
                  <a:latin typeface="Times" pitchFamily="2" charset="0"/>
                </a:rPr>
                <a:t>, </a:t>
              </a:r>
              <a:r>
                <a:rPr lang="en-US" sz="2400" i="1" dirty="0">
                  <a:latin typeface="Times" pitchFamily="2" charset="0"/>
                </a:rPr>
                <a:t>B</a:t>
              </a:r>
              <a:r>
                <a:rPr lang="en-US" sz="2400" dirty="0">
                  <a:latin typeface="Times" pitchFamily="2" charset="0"/>
                </a:rPr>
                <a:t>, and </a:t>
              </a:r>
              <a:r>
                <a:rPr lang="en-US" sz="2400" i="1" dirty="0">
                  <a:latin typeface="Times" pitchFamily="2" charset="0"/>
                </a:rPr>
                <a:t>C</a:t>
              </a:r>
              <a:r>
                <a:rPr lang="en-US" sz="2400" dirty="0">
                  <a:latin typeface="Times" pitchFamily="2" charset="0"/>
                </a:rPr>
                <a:t>) will sweep out a               as the object rotates.  </a:t>
              </a:r>
            </a:p>
          </p:txBody>
        </p:sp>
        <p:sp>
          <p:nvSpPr>
            <p:cNvPr id="8" name="Rounded Rectangle 7">
              <a:extLst>
                <a:ext uri="{FF2B5EF4-FFF2-40B4-BE49-F238E27FC236}">
                  <a16:creationId xmlns:a16="http://schemas.microsoft.com/office/drawing/2014/main" id="{A355E063-9EFC-E824-C2A1-FFBFE74A9E7D}"/>
                </a:ext>
              </a:extLst>
            </p:cNvPr>
            <p:cNvSpPr/>
            <p:nvPr/>
          </p:nvSpPr>
          <p:spPr>
            <a:xfrm>
              <a:off x="2759824" y="1828799"/>
              <a:ext cx="1995055" cy="3990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85A0920B-8806-ACD1-CF3F-9ACFAEAE32FD}"/>
              </a:ext>
            </a:extLst>
          </p:cNvPr>
          <p:cNvGrpSpPr/>
          <p:nvPr/>
        </p:nvGrpSpPr>
        <p:grpSpPr>
          <a:xfrm>
            <a:off x="2917370" y="3193744"/>
            <a:ext cx="8870077" cy="830997"/>
            <a:chOff x="2684614" y="2395722"/>
            <a:chExt cx="8870077" cy="830997"/>
          </a:xfrm>
        </p:grpSpPr>
        <p:sp>
          <p:nvSpPr>
            <p:cNvPr id="11" name="TextBox 10">
              <a:extLst>
                <a:ext uri="{FF2B5EF4-FFF2-40B4-BE49-F238E27FC236}">
                  <a16:creationId xmlns:a16="http://schemas.microsoft.com/office/drawing/2014/main" id="{1B65712E-BD17-0230-18FF-F9DB2E332224}"/>
                </a:ext>
              </a:extLst>
            </p:cNvPr>
            <p:cNvSpPr txBox="1"/>
            <p:nvPr/>
          </p:nvSpPr>
          <p:spPr>
            <a:xfrm>
              <a:off x="2684614" y="2395722"/>
              <a:ext cx="8870077" cy="830997"/>
            </a:xfrm>
            <a:prstGeom prst="rect">
              <a:avLst/>
            </a:prstGeom>
            <a:noFill/>
          </p:spPr>
          <p:txBody>
            <a:bodyPr wrap="square">
              <a:spAutoFit/>
            </a:bodyPr>
            <a:lstStyle/>
            <a:p>
              <a:pPr marL="15875" indent="-15875" algn="just"/>
              <a:r>
                <a:rPr lang="en-US" sz="2400" dirty="0">
                  <a:latin typeface="Times" pitchFamily="2" charset="0"/>
                </a:rPr>
                <a:t>The centers of these circular paths will lie along a common line known as the                                 .</a:t>
              </a:r>
            </a:p>
          </p:txBody>
        </p:sp>
        <p:sp>
          <p:nvSpPr>
            <p:cNvPr id="12" name="Rounded Rectangle 11">
              <a:extLst>
                <a:ext uri="{FF2B5EF4-FFF2-40B4-BE49-F238E27FC236}">
                  <a16:creationId xmlns:a16="http://schemas.microsoft.com/office/drawing/2014/main" id="{B22D88E4-5C1B-00FF-4A2A-35D11C9957FC}"/>
                </a:ext>
              </a:extLst>
            </p:cNvPr>
            <p:cNvSpPr/>
            <p:nvPr/>
          </p:nvSpPr>
          <p:spPr>
            <a:xfrm>
              <a:off x="3560618" y="2812472"/>
              <a:ext cx="2374670" cy="3990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2FD5FB77-DE67-2C73-08BB-FE55604D1435}"/>
              </a:ext>
            </a:extLst>
          </p:cNvPr>
          <p:cNvSpPr txBox="1"/>
          <p:nvPr/>
        </p:nvSpPr>
        <p:spPr>
          <a:xfrm>
            <a:off x="2953393" y="4659554"/>
            <a:ext cx="8870077" cy="830997"/>
          </a:xfrm>
          <a:prstGeom prst="rect">
            <a:avLst/>
          </a:prstGeom>
          <a:noFill/>
        </p:spPr>
        <p:txBody>
          <a:bodyPr wrap="square">
            <a:spAutoFit/>
          </a:bodyPr>
          <a:lstStyle/>
          <a:p>
            <a:pPr marL="15875" indent="-15875" algn="just"/>
            <a:r>
              <a:rPr lang="en-US" sz="2400" dirty="0">
                <a:latin typeface="Times" pitchFamily="2" charset="0"/>
              </a:rPr>
              <a:t>We could ask the following question:  </a:t>
            </a:r>
            <a:r>
              <a:rPr lang="en-US" sz="2400" i="1" dirty="0">
                <a:latin typeface="Times" pitchFamily="2" charset="0"/>
              </a:rPr>
              <a:t>During a certain time, through what </a:t>
            </a:r>
            <a:r>
              <a:rPr lang="en-US" sz="2400" i="1" u="sng" dirty="0">
                <a:latin typeface="Times" pitchFamily="2" charset="0"/>
              </a:rPr>
              <a:t>angle</a:t>
            </a:r>
            <a:r>
              <a:rPr lang="en-US" sz="2400" i="1" dirty="0">
                <a:latin typeface="Times" pitchFamily="2" charset="0"/>
              </a:rPr>
              <a:t> does each point rotate?</a:t>
            </a:r>
          </a:p>
        </p:txBody>
      </p:sp>
    </p:spTree>
    <p:extLst>
      <p:ext uri="{BB962C8B-B14F-4D97-AF65-F5344CB8AC3E}">
        <p14:creationId xmlns:p14="http://schemas.microsoft.com/office/powerpoint/2010/main" val="301072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dissolve">
                                      <p:cBhvr>
                                        <p:cTn id="1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5BE03-307C-90C3-827B-1BFD9D567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EE2DA-A455-6C30-D677-B8EF1E9AC1AE}"/>
              </a:ext>
            </a:extLst>
          </p:cNvPr>
          <p:cNvSpPr>
            <a:spLocks noGrp="1"/>
          </p:cNvSpPr>
          <p:nvPr>
            <p:ph type="title"/>
          </p:nvPr>
        </p:nvSpPr>
        <p:spPr>
          <a:xfrm>
            <a:off x="672552" y="107574"/>
            <a:ext cx="10820401" cy="849312"/>
          </a:xfrm>
        </p:spPr>
        <p:txBody>
          <a:bodyPr/>
          <a:lstStyle/>
          <a:p>
            <a:r>
              <a:rPr lang="en-US" b="1" dirty="0">
                <a:ea typeface="Calibri" charset="0"/>
                <a:cs typeface="Calibri" charset="0"/>
              </a:rPr>
              <a:t>8.1</a:t>
            </a:r>
            <a:r>
              <a:rPr lang="en-US" dirty="0">
                <a:ea typeface="Calibri" charset="0"/>
                <a:cs typeface="Calibri" charset="0"/>
              </a:rPr>
              <a:t> Rotational Motion and Angular Displacement</a:t>
            </a:r>
            <a:endParaRPr lang="en-US" sz="3000" dirty="0"/>
          </a:p>
        </p:txBody>
      </p:sp>
      <p:sp>
        <p:nvSpPr>
          <p:cNvPr id="17" name="TextBox 16">
            <a:extLst>
              <a:ext uri="{FF2B5EF4-FFF2-40B4-BE49-F238E27FC236}">
                <a16:creationId xmlns:a16="http://schemas.microsoft.com/office/drawing/2014/main" id="{6C039CAD-C337-17B9-A0A2-0794F34E02E4}"/>
              </a:ext>
            </a:extLst>
          </p:cNvPr>
          <p:cNvSpPr txBox="1"/>
          <p:nvPr/>
        </p:nvSpPr>
        <p:spPr>
          <a:xfrm>
            <a:off x="3933483" y="950286"/>
            <a:ext cx="7977842" cy="830997"/>
          </a:xfrm>
          <a:prstGeom prst="rect">
            <a:avLst/>
          </a:prstGeom>
          <a:noFill/>
        </p:spPr>
        <p:txBody>
          <a:bodyPr wrap="square">
            <a:spAutoFit/>
          </a:bodyPr>
          <a:lstStyle/>
          <a:p>
            <a:pPr algn="just"/>
            <a:r>
              <a:rPr lang="en-US" sz="2400" dirty="0">
                <a:latin typeface="Times" pitchFamily="2" charset="0"/>
              </a:rPr>
              <a:t>To help us answer this question, let’s consider a solid disc rotating about an axis through its center, as shown in the figure.</a:t>
            </a:r>
          </a:p>
        </p:txBody>
      </p:sp>
      <p:sp>
        <p:nvSpPr>
          <p:cNvPr id="3" name="TextBox 2">
            <a:extLst>
              <a:ext uri="{FF2B5EF4-FFF2-40B4-BE49-F238E27FC236}">
                <a16:creationId xmlns:a16="http://schemas.microsoft.com/office/drawing/2014/main" id="{200D7B3F-C670-4672-1081-495A81688AD7}"/>
              </a:ext>
            </a:extLst>
          </p:cNvPr>
          <p:cNvSpPr txBox="1"/>
          <p:nvPr/>
        </p:nvSpPr>
        <p:spPr>
          <a:xfrm>
            <a:off x="3937558" y="2188886"/>
            <a:ext cx="7977842" cy="1200329"/>
          </a:xfrm>
          <a:prstGeom prst="rect">
            <a:avLst/>
          </a:prstGeom>
          <a:noFill/>
        </p:spPr>
        <p:txBody>
          <a:bodyPr wrap="square">
            <a:spAutoFit/>
          </a:bodyPr>
          <a:lstStyle/>
          <a:p>
            <a:pPr algn="just"/>
            <a:r>
              <a:rPr lang="en-US" sz="2400" dirty="0">
                <a:latin typeface="Times" pitchFamily="2" charset="0"/>
              </a:rPr>
              <a:t>Point P on the edge of the disc begins at some initial angle, </a:t>
            </a:r>
            <a:r>
              <a:rPr lang="en-US" sz="2400" i="1" dirty="0">
                <a:latin typeface="Symbol" pitchFamily="2" charset="2"/>
              </a:rPr>
              <a:t>q</a:t>
            </a:r>
            <a:r>
              <a:rPr lang="en-US" sz="2400" baseline="-25000" dirty="0">
                <a:latin typeface="Times" pitchFamily="2" charset="0"/>
              </a:rPr>
              <a:t>0</a:t>
            </a:r>
            <a:r>
              <a:rPr lang="en-US" sz="2400" dirty="0">
                <a:latin typeface="Times" pitchFamily="2" charset="0"/>
              </a:rPr>
              <a:t>, relative to a reference line, and maybe the reference line corresponds to 0 rad, for example.</a:t>
            </a:r>
          </a:p>
        </p:txBody>
      </p:sp>
      <p:grpSp>
        <p:nvGrpSpPr>
          <p:cNvPr id="25" name="Group 24">
            <a:extLst>
              <a:ext uri="{FF2B5EF4-FFF2-40B4-BE49-F238E27FC236}">
                <a16:creationId xmlns:a16="http://schemas.microsoft.com/office/drawing/2014/main" id="{34B9FA22-9EB8-7323-488E-4D6D9F2022F0}"/>
              </a:ext>
            </a:extLst>
          </p:cNvPr>
          <p:cNvGrpSpPr/>
          <p:nvPr/>
        </p:nvGrpSpPr>
        <p:grpSpPr>
          <a:xfrm>
            <a:off x="47554" y="756137"/>
            <a:ext cx="3892524" cy="2984269"/>
            <a:chOff x="119270" y="989214"/>
            <a:chExt cx="3892524" cy="2984269"/>
          </a:xfrm>
        </p:grpSpPr>
        <p:pic>
          <p:nvPicPr>
            <p:cNvPr id="18" name="Picture 17">
              <a:extLst>
                <a:ext uri="{FF2B5EF4-FFF2-40B4-BE49-F238E27FC236}">
                  <a16:creationId xmlns:a16="http://schemas.microsoft.com/office/drawing/2014/main" id="{0BBD1F51-29EA-0817-8BC5-6C982947AA00}"/>
                </a:ext>
              </a:extLst>
            </p:cNvPr>
            <p:cNvPicPr>
              <a:picLocks noChangeAspect="1"/>
            </p:cNvPicPr>
            <p:nvPr/>
          </p:nvPicPr>
          <p:blipFill>
            <a:blip r:embed="rId3"/>
            <a:stretch>
              <a:fillRect/>
            </a:stretch>
          </p:blipFill>
          <p:spPr>
            <a:xfrm>
              <a:off x="119270" y="989214"/>
              <a:ext cx="3892524" cy="2984269"/>
            </a:xfrm>
            <a:prstGeom prst="rect">
              <a:avLst/>
            </a:prstGeom>
          </p:spPr>
        </p:pic>
        <p:sp>
          <p:nvSpPr>
            <p:cNvPr id="4" name="Oval 3">
              <a:extLst>
                <a:ext uri="{FF2B5EF4-FFF2-40B4-BE49-F238E27FC236}">
                  <a16:creationId xmlns:a16="http://schemas.microsoft.com/office/drawing/2014/main" id="{5C1CC1BA-F829-55D7-380E-93328013917E}"/>
                </a:ext>
              </a:extLst>
            </p:cNvPr>
            <p:cNvSpPr/>
            <p:nvPr/>
          </p:nvSpPr>
          <p:spPr>
            <a:xfrm>
              <a:off x="2241550" y="1825625"/>
              <a:ext cx="85725" cy="825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586AC95-F79C-9A82-E616-B5814AD0F468}"/>
                </a:ext>
              </a:extLst>
            </p:cNvPr>
            <p:cNvSpPr/>
            <p:nvPr/>
          </p:nvSpPr>
          <p:spPr>
            <a:xfrm>
              <a:off x="2755900" y="2171700"/>
              <a:ext cx="85725" cy="82550"/>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89D4820-4832-2EF8-4CF5-8705A8F68885}"/>
                </a:ext>
              </a:extLst>
            </p:cNvPr>
            <p:cNvSpPr txBox="1"/>
            <p:nvPr/>
          </p:nvSpPr>
          <p:spPr>
            <a:xfrm>
              <a:off x="2095500" y="1504950"/>
              <a:ext cx="323850" cy="400110"/>
            </a:xfrm>
            <a:prstGeom prst="rect">
              <a:avLst/>
            </a:prstGeom>
            <a:noFill/>
          </p:spPr>
          <p:txBody>
            <a:bodyPr wrap="square" rtlCol="0">
              <a:spAutoFit/>
            </a:bodyPr>
            <a:lstStyle/>
            <a:p>
              <a:r>
                <a:rPr lang="en-US" sz="2000" dirty="0">
                  <a:latin typeface="Times" pitchFamily="2" charset="0"/>
                </a:rPr>
                <a:t>P</a:t>
              </a:r>
            </a:p>
          </p:txBody>
        </p:sp>
        <p:sp>
          <p:nvSpPr>
            <p:cNvPr id="19" name="TextBox 18">
              <a:extLst>
                <a:ext uri="{FF2B5EF4-FFF2-40B4-BE49-F238E27FC236}">
                  <a16:creationId xmlns:a16="http://schemas.microsoft.com/office/drawing/2014/main" id="{6E8A9BD6-86AB-4D3D-03DE-EDE5FD5BEE26}"/>
                </a:ext>
              </a:extLst>
            </p:cNvPr>
            <p:cNvSpPr txBox="1"/>
            <p:nvPr/>
          </p:nvSpPr>
          <p:spPr>
            <a:xfrm>
              <a:off x="2635250" y="1838325"/>
              <a:ext cx="323850" cy="400110"/>
            </a:xfrm>
            <a:prstGeom prst="rect">
              <a:avLst/>
            </a:prstGeom>
            <a:noFill/>
          </p:spPr>
          <p:txBody>
            <a:bodyPr wrap="square" rtlCol="0">
              <a:spAutoFit/>
            </a:bodyPr>
            <a:lstStyle/>
            <a:p>
              <a:r>
                <a:rPr lang="en-US" sz="2000" dirty="0">
                  <a:solidFill>
                    <a:schemeClr val="tx1">
                      <a:lumMod val="50000"/>
                      <a:lumOff val="50000"/>
                    </a:schemeClr>
                  </a:solidFill>
                  <a:latin typeface="Times" pitchFamily="2" charset="0"/>
                </a:rPr>
                <a:t>P</a:t>
              </a:r>
            </a:p>
          </p:txBody>
        </p:sp>
      </p:grpSp>
      <p:sp>
        <p:nvSpPr>
          <p:cNvPr id="20" name="TextBox 19">
            <a:extLst>
              <a:ext uri="{FF2B5EF4-FFF2-40B4-BE49-F238E27FC236}">
                <a16:creationId xmlns:a16="http://schemas.microsoft.com/office/drawing/2014/main" id="{E3E7D83E-A396-4DDC-7AC5-9A5B5882C884}"/>
              </a:ext>
            </a:extLst>
          </p:cNvPr>
          <p:cNvSpPr txBox="1"/>
          <p:nvPr/>
        </p:nvSpPr>
        <p:spPr>
          <a:xfrm>
            <a:off x="3919187" y="3638958"/>
            <a:ext cx="7977842" cy="1569660"/>
          </a:xfrm>
          <a:prstGeom prst="rect">
            <a:avLst/>
          </a:prstGeom>
          <a:noFill/>
        </p:spPr>
        <p:txBody>
          <a:bodyPr wrap="square">
            <a:spAutoFit/>
          </a:bodyPr>
          <a:lstStyle/>
          <a:p>
            <a:pPr algn="just"/>
            <a:r>
              <a:rPr lang="en-US" sz="2400" dirty="0">
                <a:latin typeface="Times" pitchFamily="2" charset="0"/>
              </a:rPr>
              <a:t>After some time interval, Point P rotates to its final angle, </a:t>
            </a:r>
            <a:r>
              <a:rPr lang="en-US" sz="2400" i="1" dirty="0">
                <a:latin typeface="Symbol" pitchFamily="2" charset="2"/>
              </a:rPr>
              <a:t>q</a:t>
            </a:r>
            <a:r>
              <a:rPr lang="en-US" sz="2400" dirty="0">
                <a:latin typeface="Times" pitchFamily="2" charset="0"/>
              </a:rPr>
              <a:t>, relative to the reference line, and during this time, Point P is </a:t>
            </a:r>
            <a:r>
              <a:rPr lang="en-US" sz="2400" dirty="0">
                <a:solidFill>
                  <a:srgbClr val="007440"/>
                </a:solidFill>
                <a:latin typeface="Times" pitchFamily="2" charset="0"/>
              </a:rPr>
              <a:t>displaced</a:t>
            </a:r>
            <a:r>
              <a:rPr lang="en-US" sz="2400" dirty="0">
                <a:latin typeface="Times" pitchFamily="2" charset="0"/>
              </a:rPr>
              <a:t> along the edge of the disc and </a:t>
            </a:r>
            <a:r>
              <a:rPr lang="en-US" sz="2400" dirty="0">
                <a:solidFill>
                  <a:srgbClr val="007440"/>
                </a:solidFill>
                <a:latin typeface="Times" pitchFamily="2" charset="0"/>
              </a:rPr>
              <a:t>sweeps out an angle</a:t>
            </a:r>
          </a:p>
          <a:p>
            <a:pPr algn="just"/>
            <a:r>
              <a:rPr lang="en-US" sz="2400" dirty="0" err="1">
                <a:latin typeface="Symbol" pitchFamily="2" charset="2"/>
              </a:rPr>
              <a:t>D</a:t>
            </a:r>
            <a:r>
              <a:rPr lang="en-US" sz="2400" i="1" dirty="0" err="1">
                <a:latin typeface="Symbol" pitchFamily="2" charset="2"/>
              </a:rPr>
              <a:t>q</a:t>
            </a:r>
            <a:r>
              <a:rPr lang="en-US" sz="2400" dirty="0">
                <a:latin typeface="Times" pitchFamily="2" charset="0"/>
              </a:rPr>
              <a:t> = </a:t>
            </a:r>
            <a:r>
              <a:rPr lang="en-US" sz="2400" i="1" dirty="0">
                <a:latin typeface="Symbol" pitchFamily="2" charset="2"/>
              </a:rPr>
              <a:t>q</a:t>
            </a:r>
            <a:r>
              <a:rPr lang="en-US" sz="2400" dirty="0">
                <a:latin typeface="Times" pitchFamily="2" charset="0"/>
              </a:rPr>
              <a:t> – </a:t>
            </a:r>
            <a:r>
              <a:rPr lang="en-US" sz="2400" i="1" dirty="0">
                <a:latin typeface="Symbol" pitchFamily="2" charset="2"/>
              </a:rPr>
              <a:t>q</a:t>
            </a:r>
            <a:r>
              <a:rPr lang="en-US" sz="2400" baseline="-25000" dirty="0">
                <a:latin typeface="Times" pitchFamily="2" charset="0"/>
              </a:rPr>
              <a:t>0</a:t>
            </a:r>
            <a:r>
              <a:rPr lang="en-US" sz="2400" dirty="0">
                <a:latin typeface="Times" pitchFamily="2" charset="0"/>
              </a:rPr>
              <a:t>.</a:t>
            </a:r>
          </a:p>
        </p:txBody>
      </p:sp>
      <p:grpSp>
        <p:nvGrpSpPr>
          <p:cNvPr id="24" name="Group 23">
            <a:extLst>
              <a:ext uri="{FF2B5EF4-FFF2-40B4-BE49-F238E27FC236}">
                <a16:creationId xmlns:a16="http://schemas.microsoft.com/office/drawing/2014/main" id="{EA5D6561-1915-86DD-7B1A-4BE78294994D}"/>
              </a:ext>
            </a:extLst>
          </p:cNvPr>
          <p:cNvGrpSpPr/>
          <p:nvPr/>
        </p:nvGrpSpPr>
        <p:grpSpPr>
          <a:xfrm>
            <a:off x="1935780" y="5665694"/>
            <a:ext cx="8570855" cy="490051"/>
            <a:chOff x="214557" y="4697506"/>
            <a:chExt cx="8570855" cy="490051"/>
          </a:xfrm>
        </p:grpSpPr>
        <p:sp>
          <p:nvSpPr>
            <p:cNvPr id="21" name="TextBox 20">
              <a:extLst>
                <a:ext uri="{FF2B5EF4-FFF2-40B4-BE49-F238E27FC236}">
                  <a16:creationId xmlns:a16="http://schemas.microsoft.com/office/drawing/2014/main" id="{1F6F0C51-1522-77F8-EF41-FEA8354A75E2}"/>
                </a:ext>
              </a:extLst>
            </p:cNvPr>
            <p:cNvSpPr txBox="1"/>
            <p:nvPr/>
          </p:nvSpPr>
          <p:spPr>
            <a:xfrm>
              <a:off x="214557" y="4725892"/>
              <a:ext cx="8570855" cy="461665"/>
            </a:xfrm>
            <a:prstGeom prst="rect">
              <a:avLst/>
            </a:prstGeom>
            <a:noFill/>
          </p:spPr>
          <p:txBody>
            <a:bodyPr wrap="square">
              <a:spAutoFit/>
            </a:bodyPr>
            <a:lstStyle/>
            <a:p>
              <a:pPr algn="just"/>
              <a:r>
                <a:rPr lang="en-US" sz="2400" dirty="0">
                  <a:latin typeface="Times" pitchFamily="2" charset="0"/>
                </a:rPr>
                <a:t>We refer to this motion of Point P as its                                             .</a:t>
              </a:r>
            </a:p>
          </p:txBody>
        </p:sp>
        <p:sp>
          <p:nvSpPr>
            <p:cNvPr id="22" name="Rounded Rectangle 21">
              <a:extLst>
                <a:ext uri="{FF2B5EF4-FFF2-40B4-BE49-F238E27FC236}">
                  <a16:creationId xmlns:a16="http://schemas.microsoft.com/office/drawing/2014/main" id="{D8AC49A5-4C8A-5C66-519F-3DDA09909DD0}"/>
                </a:ext>
              </a:extLst>
            </p:cNvPr>
            <p:cNvSpPr/>
            <p:nvPr/>
          </p:nvSpPr>
          <p:spPr>
            <a:xfrm>
              <a:off x="5163671" y="4697506"/>
              <a:ext cx="3263153" cy="4661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1749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dissolv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39F8B-F596-C380-5096-D3093D69B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7DBB1-9F18-84AB-4781-AD246F33C49F}"/>
              </a:ext>
            </a:extLst>
          </p:cNvPr>
          <p:cNvSpPr>
            <a:spLocks noGrp="1"/>
          </p:cNvSpPr>
          <p:nvPr>
            <p:ph type="title"/>
          </p:nvPr>
        </p:nvSpPr>
        <p:spPr>
          <a:xfrm>
            <a:off x="672552" y="107574"/>
            <a:ext cx="10820401" cy="849312"/>
          </a:xfrm>
        </p:spPr>
        <p:txBody>
          <a:bodyPr/>
          <a:lstStyle/>
          <a:p>
            <a:r>
              <a:rPr lang="en-US" b="1" dirty="0">
                <a:ea typeface="Calibri" charset="0"/>
                <a:cs typeface="Calibri" charset="0"/>
              </a:rPr>
              <a:t>8.1</a:t>
            </a:r>
            <a:r>
              <a:rPr lang="en-US" dirty="0">
                <a:ea typeface="Calibri" charset="0"/>
                <a:cs typeface="Calibri" charset="0"/>
              </a:rPr>
              <a:t> Rotational Motion and Angular Displacement</a:t>
            </a:r>
            <a:endParaRPr lang="en-US" sz="3000" dirty="0"/>
          </a:p>
        </p:txBody>
      </p:sp>
      <p:grpSp>
        <p:nvGrpSpPr>
          <p:cNvPr id="26" name="Group 25">
            <a:extLst>
              <a:ext uri="{FF2B5EF4-FFF2-40B4-BE49-F238E27FC236}">
                <a16:creationId xmlns:a16="http://schemas.microsoft.com/office/drawing/2014/main" id="{CA05C966-AEA1-4F93-98EA-FD58D8FDE7E6}"/>
              </a:ext>
            </a:extLst>
          </p:cNvPr>
          <p:cNvGrpSpPr/>
          <p:nvPr/>
        </p:nvGrpSpPr>
        <p:grpSpPr>
          <a:xfrm>
            <a:off x="475130" y="867784"/>
            <a:ext cx="11280717" cy="2771887"/>
            <a:chOff x="777240" y="792480"/>
            <a:chExt cx="11280717" cy="2771887"/>
          </a:xfrm>
        </p:grpSpPr>
        <p:sp>
          <p:nvSpPr>
            <p:cNvPr id="29" name="TextBox 28">
              <a:extLst>
                <a:ext uri="{FF2B5EF4-FFF2-40B4-BE49-F238E27FC236}">
                  <a16:creationId xmlns:a16="http://schemas.microsoft.com/office/drawing/2014/main" id="{1E262DC4-F1ED-8F46-4967-55435034107D}"/>
                </a:ext>
              </a:extLst>
            </p:cNvPr>
            <p:cNvSpPr txBox="1"/>
            <p:nvPr/>
          </p:nvSpPr>
          <p:spPr>
            <a:xfrm>
              <a:off x="813965" y="830133"/>
              <a:ext cx="11243992" cy="1200329"/>
            </a:xfrm>
            <a:prstGeom prst="rect">
              <a:avLst/>
            </a:prstGeom>
            <a:noFill/>
          </p:spPr>
          <p:txBody>
            <a:bodyPr wrap="square" rtlCol="0">
              <a:spAutoFit/>
            </a:bodyPr>
            <a:lstStyle/>
            <a:p>
              <a:r>
                <a:rPr lang="en-US" sz="2400" dirty="0">
                  <a:solidFill>
                    <a:srgbClr val="C00000"/>
                  </a:solidFill>
                  <a:latin typeface="Times" pitchFamily="2" charset="0"/>
                </a:rPr>
                <a:t>DEFINITION OF ANGULAR DISPLACEMENT</a:t>
              </a:r>
            </a:p>
            <a:p>
              <a:endParaRPr lang="en-US" sz="2400" dirty="0">
                <a:latin typeface="Times" pitchFamily="2" charset="0"/>
              </a:endParaRPr>
            </a:p>
            <a:p>
              <a:r>
                <a:rPr lang="en-US" sz="2400" dirty="0">
                  <a:latin typeface="Times" pitchFamily="2" charset="0"/>
                </a:rPr>
                <a:t>									</a:t>
              </a:r>
            </a:p>
          </p:txBody>
        </p:sp>
        <p:sp>
          <p:nvSpPr>
            <p:cNvPr id="28" name="Rectangle 27">
              <a:extLst>
                <a:ext uri="{FF2B5EF4-FFF2-40B4-BE49-F238E27FC236}">
                  <a16:creationId xmlns:a16="http://schemas.microsoft.com/office/drawing/2014/main" id="{C874AF3C-DEAA-E9FB-27E3-2B0C25899558}"/>
                </a:ext>
              </a:extLst>
            </p:cNvPr>
            <p:cNvSpPr/>
            <p:nvPr/>
          </p:nvSpPr>
          <p:spPr>
            <a:xfrm>
              <a:off x="777240" y="792480"/>
              <a:ext cx="11216640" cy="27718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1300B56F-1241-DB84-0D67-DAA55DB0D2EF}"/>
              </a:ext>
            </a:extLst>
          </p:cNvPr>
          <p:cNvSpPr txBox="1"/>
          <p:nvPr/>
        </p:nvSpPr>
        <p:spPr>
          <a:xfrm>
            <a:off x="519951" y="1403900"/>
            <a:ext cx="11044517" cy="1569660"/>
          </a:xfrm>
          <a:prstGeom prst="rect">
            <a:avLst/>
          </a:prstGeom>
          <a:noFill/>
        </p:spPr>
        <p:txBody>
          <a:bodyPr wrap="square">
            <a:spAutoFit/>
          </a:bodyPr>
          <a:lstStyle/>
          <a:p>
            <a:pPr algn="just"/>
            <a:r>
              <a:rPr lang="en-US" sz="2400" dirty="0">
                <a:latin typeface="Times" pitchFamily="2" charset="0"/>
              </a:rPr>
              <a:t>When a rigid body rotates about a fixed axis, the angular displacement is the angle </a:t>
            </a:r>
            <a:r>
              <a:rPr lang="en-US" sz="2400" dirty="0" err="1">
                <a:latin typeface="Symbol" pitchFamily="2" charset="2"/>
              </a:rPr>
              <a:t>D</a:t>
            </a:r>
            <a:r>
              <a:rPr lang="en-US" sz="2400" i="1" dirty="0" err="1">
                <a:latin typeface="Symbol" pitchFamily="2" charset="2"/>
              </a:rPr>
              <a:t>q</a:t>
            </a:r>
            <a:r>
              <a:rPr lang="en-US" sz="2400" dirty="0">
                <a:latin typeface="Times" pitchFamily="2" charset="0"/>
              </a:rPr>
              <a:t> swept out by a line passing through any point on the body and intersecting the axis of rotation perpendicularly. </a:t>
            </a:r>
            <a:r>
              <a:rPr lang="en-US" sz="2400" b="1" dirty="0">
                <a:latin typeface="Times" pitchFamily="2" charset="0"/>
              </a:rPr>
              <a:t>By convention, the angular displacement is positive if it is counterclockwise and negative if it is clockwise.</a:t>
            </a:r>
          </a:p>
        </p:txBody>
      </p:sp>
      <p:sp>
        <p:nvSpPr>
          <p:cNvPr id="11" name="TextBox 10">
            <a:extLst>
              <a:ext uri="{FF2B5EF4-FFF2-40B4-BE49-F238E27FC236}">
                <a16:creationId xmlns:a16="http://schemas.microsoft.com/office/drawing/2014/main" id="{0AF88292-5BFB-EDAB-FCCB-E5B333DF659C}"/>
              </a:ext>
            </a:extLst>
          </p:cNvPr>
          <p:cNvSpPr txBox="1"/>
          <p:nvPr/>
        </p:nvSpPr>
        <p:spPr>
          <a:xfrm>
            <a:off x="502023" y="3087451"/>
            <a:ext cx="7727576" cy="461665"/>
          </a:xfrm>
          <a:prstGeom prst="rect">
            <a:avLst/>
          </a:prstGeom>
          <a:noFill/>
        </p:spPr>
        <p:txBody>
          <a:bodyPr wrap="square">
            <a:spAutoFit/>
          </a:bodyPr>
          <a:lstStyle/>
          <a:p>
            <a:r>
              <a:rPr lang="en-US" sz="2400" b="1" dirty="0">
                <a:latin typeface="Times" pitchFamily="2" charset="0"/>
              </a:rPr>
              <a:t>SI Unit of Angular Displacement: radian (rad)</a:t>
            </a:r>
          </a:p>
        </p:txBody>
      </p:sp>
      <p:pic>
        <p:nvPicPr>
          <p:cNvPr id="27" name="Picture 26">
            <a:extLst>
              <a:ext uri="{FF2B5EF4-FFF2-40B4-BE49-F238E27FC236}">
                <a16:creationId xmlns:a16="http://schemas.microsoft.com/office/drawing/2014/main" id="{B04C4AAF-3844-C4E2-0A87-0001D1A57894}"/>
              </a:ext>
            </a:extLst>
          </p:cNvPr>
          <p:cNvPicPr>
            <a:picLocks noChangeAspect="1"/>
          </p:cNvPicPr>
          <p:nvPr/>
        </p:nvPicPr>
        <p:blipFill>
          <a:blip r:embed="rId3"/>
          <a:stretch>
            <a:fillRect/>
          </a:stretch>
        </p:blipFill>
        <p:spPr>
          <a:xfrm>
            <a:off x="201331" y="4643720"/>
            <a:ext cx="3778998" cy="1597831"/>
          </a:xfrm>
          <a:prstGeom prst="rect">
            <a:avLst/>
          </a:prstGeom>
        </p:spPr>
      </p:pic>
      <p:grpSp>
        <p:nvGrpSpPr>
          <p:cNvPr id="33" name="Group 32">
            <a:extLst>
              <a:ext uri="{FF2B5EF4-FFF2-40B4-BE49-F238E27FC236}">
                <a16:creationId xmlns:a16="http://schemas.microsoft.com/office/drawing/2014/main" id="{9D705377-AEC9-A8C9-351C-584E8E06AC17}"/>
              </a:ext>
            </a:extLst>
          </p:cNvPr>
          <p:cNvGrpSpPr/>
          <p:nvPr/>
        </p:nvGrpSpPr>
        <p:grpSpPr>
          <a:xfrm>
            <a:off x="430305" y="3729317"/>
            <a:ext cx="11367247" cy="830997"/>
            <a:chOff x="430305" y="3729317"/>
            <a:chExt cx="11367247" cy="830997"/>
          </a:xfrm>
        </p:grpSpPr>
        <p:sp>
          <p:nvSpPr>
            <p:cNvPr id="30" name="TextBox 29">
              <a:extLst>
                <a:ext uri="{FF2B5EF4-FFF2-40B4-BE49-F238E27FC236}">
                  <a16:creationId xmlns:a16="http://schemas.microsoft.com/office/drawing/2014/main" id="{4D855C07-0847-DF96-7660-0D26254E5388}"/>
                </a:ext>
              </a:extLst>
            </p:cNvPr>
            <p:cNvSpPr txBox="1"/>
            <p:nvPr/>
          </p:nvSpPr>
          <p:spPr>
            <a:xfrm>
              <a:off x="430305" y="3729317"/>
              <a:ext cx="11367247" cy="830997"/>
            </a:xfrm>
            <a:prstGeom prst="rect">
              <a:avLst/>
            </a:prstGeom>
            <a:noFill/>
          </p:spPr>
          <p:txBody>
            <a:bodyPr wrap="square" rtlCol="0">
              <a:spAutoFit/>
            </a:bodyPr>
            <a:lstStyle/>
            <a:p>
              <a:r>
                <a:rPr lang="en-US" sz="2400" dirty="0">
                  <a:latin typeface="Times" pitchFamily="2" charset="0"/>
                </a:rPr>
                <a:t>When </a:t>
              </a:r>
              <a:r>
                <a:rPr lang="en-US" sz="2400" i="1" dirty="0">
                  <a:latin typeface="Symbol" pitchFamily="2" charset="2"/>
                </a:rPr>
                <a:t>q</a:t>
              </a:r>
              <a:r>
                <a:rPr lang="en-US" sz="2400" dirty="0">
                  <a:latin typeface="Times" pitchFamily="2" charset="0"/>
                </a:rPr>
                <a:t> is measured in rad, the arc length distance, </a:t>
              </a:r>
              <a:r>
                <a:rPr lang="en-US" sz="2400" i="1" dirty="0">
                  <a:latin typeface="Times" pitchFamily="2" charset="0"/>
                </a:rPr>
                <a:t>s</a:t>
              </a:r>
              <a:r>
                <a:rPr lang="en-US" sz="2400" dirty="0">
                  <a:latin typeface="Times" pitchFamily="2" charset="0"/>
                </a:rPr>
                <a:t>, swept out along the edge of the disc is given by               .  </a:t>
              </a:r>
            </a:p>
          </p:txBody>
        </p:sp>
        <p:sp>
          <p:nvSpPr>
            <p:cNvPr id="31" name="Rounded Rectangle 30">
              <a:extLst>
                <a:ext uri="{FF2B5EF4-FFF2-40B4-BE49-F238E27FC236}">
                  <a16:creationId xmlns:a16="http://schemas.microsoft.com/office/drawing/2014/main" id="{F8D38C89-44C8-59D8-A832-0996D44B7A78}"/>
                </a:ext>
              </a:extLst>
            </p:cNvPr>
            <p:cNvSpPr/>
            <p:nvPr/>
          </p:nvSpPr>
          <p:spPr>
            <a:xfrm>
              <a:off x="1918445" y="4159623"/>
              <a:ext cx="1021977" cy="3406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Box 33">
            <a:extLst>
              <a:ext uri="{FF2B5EF4-FFF2-40B4-BE49-F238E27FC236}">
                <a16:creationId xmlns:a16="http://schemas.microsoft.com/office/drawing/2014/main" id="{8B33760D-561C-8FD8-2F84-B90D934B1A2E}"/>
              </a:ext>
            </a:extLst>
          </p:cNvPr>
          <p:cNvSpPr txBox="1"/>
          <p:nvPr/>
        </p:nvSpPr>
        <p:spPr>
          <a:xfrm>
            <a:off x="3218329" y="4132729"/>
            <a:ext cx="1120590"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8.1</a:t>
            </a:r>
            <a:r>
              <a:rPr lang="en-US" sz="2400" dirty="0">
                <a:latin typeface="Times" pitchFamily="2" charset="0"/>
              </a:rPr>
              <a:t>)</a:t>
            </a:r>
          </a:p>
        </p:txBody>
      </p:sp>
      <p:sp>
        <p:nvSpPr>
          <p:cNvPr id="35" name="TextBox 34">
            <a:extLst>
              <a:ext uri="{FF2B5EF4-FFF2-40B4-BE49-F238E27FC236}">
                <a16:creationId xmlns:a16="http://schemas.microsoft.com/office/drawing/2014/main" id="{DEA46C20-D8D7-F0FC-B7CC-530B82781EAC}"/>
              </a:ext>
            </a:extLst>
          </p:cNvPr>
          <p:cNvSpPr txBox="1"/>
          <p:nvPr/>
        </p:nvSpPr>
        <p:spPr>
          <a:xfrm>
            <a:off x="4634754" y="4168587"/>
            <a:ext cx="6606988" cy="461665"/>
          </a:xfrm>
          <a:prstGeom prst="rect">
            <a:avLst/>
          </a:prstGeom>
          <a:noFill/>
        </p:spPr>
        <p:txBody>
          <a:bodyPr wrap="square" rtlCol="0">
            <a:spAutoFit/>
          </a:bodyPr>
          <a:lstStyle/>
          <a:p>
            <a:r>
              <a:rPr lang="en-US" sz="2400" dirty="0">
                <a:latin typeface="Times" pitchFamily="2" charset="0"/>
              </a:rPr>
              <a:t>It is also common to see </a:t>
            </a:r>
            <a:r>
              <a:rPr lang="en-US" sz="2400" i="1" dirty="0">
                <a:latin typeface="Symbol" pitchFamily="2" charset="2"/>
              </a:rPr>
              <a:t>q</a:t>
            </a:r>
            <a:r>
              <a:rPr lang="en-US" sz="2400" dirty="0">
                <a:latin typeface="Times" pitchFamily="2" charset="0"/>
              </a:rPr>
              <a:t> measured in degrees.  </a:t>
            </a:r>
          </a:p>
        </p:txBody>
      </p:sp>
      <p:sp>
        <p:nvSpPr>
          <p:cNvPr id="36" name="TextBox 35">
            <a:extLst>
              <a:ext uri="{FF2B5EF4-FFF2-40B4-BE49-F238E27FC236}">
                <a16:creationId xmlns:a16="http://schemas.microsoft.com/office/drawing/2014/main" id="{0EA1C8EF-D0D7-1233-B369-75D388E34BB7}"/>
              </a:ext>
            </a:extLst>
          </p:cNvPr>
          <p:cNvSpPr txBox="1"/>
          <p:nvPr/>
        </p:nvSpPr>
        <p:spPr>
          <a:xfrm>
            <a:off x="4069977" y="4607858"/>
            <a:ext cx="7637929" cy="830997"/>
          </a:xfrm>
          <a:prstGeom prst="rect">
            <a:avLst/>
          </a:prstGeom>
          <a:noFill/>
        </p:spPr>
        <p:txBody>
          <a:bodyPr wrap="square" rtlCol="0">
            <a:spAutoFit/>
          </a:bodyPr>
          <a:lstStyle/>
          <a:p>
            <a:r>
              <a:rPr lang="en-US" sz="2400" dirty="0">
                <a:latin typeface="Times" pitchFamily="2" charset="0"/>
              </a:rPr>
              <a:t>Since one full revolution (rev) corresponds to both 2</a:t>
            </a:r>
            <a:r>
              <a:rPr lang="en-US" sz="2400" i="1" dirty="0">
                <a:latin typeface="Symbol" pitchFamily="2" charset="2"/>
              </a:rPr>
              <a:t>p</a:t>
            </a:r>
            <a:r>
              <a:rPr lang="en-US" sz="2400" dirty="0">
                <a:latin typeface="Times" pitchFamily="2" charset="0"/>
              </a:rPr>
              <a:t> rad and 360</a:t>
            </a:r>
            <a:r>
              <a:rPr lang="en-US" sz="2400" baseline="30000" dirty="0">
                <a:latin typeface="Times" pitchFamily="2" charset="0"/>
              </a:rPr>
              <a:t>o</a:t>
            </a:r>
            <a:r>
              <a:rPr lang="en-US" sz="2400" dirty="0">
                <a:latin typeface="Times" pitchFamily="2" charset="0"/>
              </a:rPr>
              <a:t>, the following must be true:</a:t>
            </a:r>
          </a:p>
        </p:txBody>
      </p:sp>
      <p:sp>
        <p:nvSpPr>
          <p:cNvPr id="38" name="Rounded Rectangle 37">
            <a:extLst>
              <a:ext uri="{FF2B5EF4-FFF2-40B4-BE49-F238E27FC236}">
                <a16:creationId xmlns:a16="http://schemas.microsoft.com/office/drawing/2014/main" id="{633C603F-A434-06FD-FAEA-FC788A4F0B73}"/>
              </a:ext>
            </a:extLst>
          </p:cNvPr>
          <p:cNvSpPr/>
          <p:nvPr/>
        </p:nvSpPr>
        <p:spPr>
          <a:xfrm>
            <a:off x="4787153" y="5719482"/>
            <a:ext cx="2779058" cy="4303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C10AADE0-0896-4EE0-F306-09388CF3BF6D}"/>
              </a:ext>
            </a:extLst>
          </p:cNvPr>
          <p:cNvGrpSpPr/>
          <p:nvPr/>
        </p:nvGrpSpPr>
        <p:grpSpPr>
          <a:xfrm>
            <a:off x="7763436" y="5468471"/>
            <a:ext cx="3550024" cy="824753"/>
            <a:chOff x="7637930" y="5450541"/>
            <a:chExt cx="3550024" cy="824753"/>
          </a:xfrm>
        </p:grpSpPr>
        <p:sp>
          <p:nvSpPr>
            <p:cNvPr id="39" name="TextBox 38">
              <a:extLst>
                <a:ext uri="{FF2B5EF4-FFF2-40B4-BE49-F238E27FC236}">
                  <a16:creationId xmlns:a16="http://schemas.microsoft.com/office/drawing/2014/main" id="{6C8B9A8E-0FAE-8E94-A5AE-E0CBE42035FE}"/>
                </a:ext>
              </a:extLst>
            </p:cNvPr>
            <p:cNvSpPr txBox="1"/>
            <p:nvPr/>
          </p:nvSpPr>
          <p:spPr>
            <a:xfrm>
              <a:off x="7637930" y="5719483"/>
              <a:ext cx="878541" cy="461665"/>
            </a:xfrm>
            <a:prstGeom prst="rect">
              <a:avLst/>
            </a:prstGeom>
            <a:noFill/>
          </p:spPr>
          <p:txBody>
            <a:bodyPr wrap="square" rtlCol="0">
              <a:spAutoFit/>
            </a:bodyPr>
            <a:lstStyle/>
            <a:p>
              <a:r>
                <a:rPr lang="en-US" sz="2400" dirty="0">
                  <a:latin typeface="Times" pitchFamily="2" charset="0"/>
                </a:rPr>
                <a:t>⇒</a:t>
              </a:r>
            </a:p>
          </p:txBody>
        </p:sp>
        <p:sp>
          <p:nvSpPr>
            <p:cNvPr id="40" name="Rounded Rectangle 39">
              <a:extLst>
                <a:ext uri="{FF2B5EF4-FFF2-40B4-BE49-F238E27FC236}">
                  <a16:creationId xmlns:a16="http://schemas.microsoft.com/office/drawing/2014/main" id="{C96EFAE8-BCDD-4919-C0DD-2E63A3F369BD}"/>
                </a:ext>
              </a:extLst>
            </p:cNvPr>
            <p:cNvSpPr/>
            <p:nvPr/>
          </p:nvSpPr>
          <p:spPr>
            <a:xfrm>
              <a:off x="8283388" y="5450541"/>
              <a:ext cx="2904566" cy="824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29BC2032-2706-C202-361F-19085FF150A6}"/>
              </a:ext>
            </a:extLst>
          </p:cNvPr>
          <p:cNvGrpSpPr/>
          <p:nvPr/>
        </p:nvGrpSpPr>
        <p:grpSpPr>
          <a:xfrm>
            <a:off x="7351059" y="2545977"/>
            <a:ext cx="4052047" cy="1015663"/>
            <a:chOff x="7351059" y="2545977"/>
            <a:chExt cx="4052047" cy="1015663"/>
          </a:xfrm>
        </p:grpSpPr>
        <p:sp>
          <p:nvSpPr>
            <p:cNvPr id="44" name="TextBox 43">
              <a:extLst>
                <a:ext uri="{FF2B5EF4-FFF2-40B4-BE49-F238E27FC236}">
                  <a16:creationId xmlns:a16="http://schemas.microsoft.com/office/drawing/2014/main" id="{38A34685-3DD6-45F1-CA34-A189C8A429B8}"/>
                </a:ext>
              </a:extLst>
            </p:cNvPr>
            <p:cNvSpPr txBox="1"/>
            <p:nvPr/>
          </p:nvSpPr>
          <p:spPr>
            <a:xfrm>
              <a:off x="7368989" y="2545977"/>
              <a:ext cx="4016188" cy="1015663"/>
            </a:xfrm>
            <a:prstGeom prst="rect">
              <a:avLst/>
            </a:prstGeom>
            <a:noFill/>
          </p:spPr>
          <p:txBody>
            <a:bodyPr wrap="square" rtlCol="0">
              <a:spAutoFit/>
            </a:bodyPr>
            <a:lstStyle/>
            <a:p>
              <a:pPr algn="just"/>
              <a:r>
                <a:rPr lang="en-US" sz="2000" dirty="0">
                  <a:latin typeface="Times" pitchFamily="2" charset="0"/>
                </a:rPr>
                <a:t>*Note:  </a:t>
              </a:r>
              <a:r>
                <a:rPr lang="en-US" sz="2000" u="sng" dirty="0">
                  <a:solidFill>
                    <a:srgbClr val="007440"/>
                  </a:solidFill>
                  <a:latin typeface="Times" pitchFamily="2" charset="0"/>
                </a:rPr>
                <a:t>Angular displacement </a:t>
              </a:r>
              <a:r>
                <a:rPr lang="en-US" sz="2000" u="sng" dirty="0">
                  <a:latin typeface="Times" pitchFamily="2" charset="0"/>
                </a:rPr>
                <a:t>is a vector quantity</a:t>
              </a:r>
              <a:r>
                <a:rPr lang="en-US" sz="2000" dirty="0">
                  <a:latin typeface="Times" pitchFamily="2" charset="0"/>
                </a:rPr>
                <a:t>.  We will see how to determine its direction in Section 8.7.</a:t>
              </a:r>
            </a:p>
          </p:txBody>
        </p:sp>
        <p:sp>
          <p:nvSpPr>
            <p:cNvPr id="45" name="Rectangle 44">
              <a:extLst>
                <a:ext uri="{FF2B5EF4-FFF2-40B4-BE49-F238E27FC236}">
                  <a16:creationId xmlns:a16="http://schemas.microsoft.com/office/drawing/2014/main" id="{2AA69C00-AD53-611C-483E-CEC1F82561B8}"/>
                </a:ext>
              </a:extLst>
            </p:cNvPr>
            <p:cNvSpPr/>
            <p:nvPr/>
          </p:nvSpPr>
          <p:spPr>
            <a:xfrm>
              <a:off x="7351059" y="2581835"/>
              <a:ext cx="4052047" cy="93233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9715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dissolve">
                                      <p:cBhvr>
                                        <p:cTn id="16" dur="500"/>
                                        <p:tgtEl>
                                          <p:spTgt spid="27"/>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dissolve">
                                      <p:cBhvr>
                                        <p:cTn id="20" dur="500"/>
                                        <p:tgtEl>
                                          <p:spTgt spid="3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dissolve">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dissolve">
                                      <p:cBhvr>
                                        <p:cTn id="30" dur="500"/>
                                        <p:tgtEl>
                                          <p:spTgt spid="36"/>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dissolve">
                                      <p:cBhvr>
                                        <p:cTn id="34" dur="500"/>
                                        <p:tgtEl>
                                          <p:spTgt spid="38"/>
                                        </p:tgtEl>
                                      </p:cBhvr>
                                    </p:animEffect>
                                  </p:childTnLst>
                                </p:cTn>
                              </p:par>
                            </p:childTnLst>
                          </p:cTn>
                        </p:par>
                        <p:par>
                          <p:cTn id="35" fill="hold">
                            <p:stCondLst>
                              <p:cond delay="1000"/>
                            </p:stCondLst>
                            <p:childTnLst>
                              <p:par>
                                <p:cTn id="36" presetID="9" presetClass="entr" presetSubtype="0" fill="hold" nodeType="after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dissolve">
                                      <p:cBhvr>
                                        <p:cTn id="3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5B0CD-4268-3ADD-06AE-9A94C86CD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750AB-2AE7-20A4-3D2D-3814A835E348}"/>
              </a:ext>
            </a:extLst>
          </p:cNvPr>
          <p:cNvSpPr>
            <a:spLocks noGrp="1"/>
          </p:cNvSpPr>
          <p:nvPr>
            <p:ph type="title"/>
          </p:nvPr>
        </p:nvSpPr>
        <p:spPr>
          <a:xfrm>
            <a:off x="672552" y="107574"/>
            <a:ext cx="10820401" cy="849312"/>
          </a:xfrm>
        </p:spPr>
        <p:txBody>
          <a:bodyPr/>
          <a:lstStyle/>
          <a:p>
            <a:r>
              <a:rPr lang="en-US" b="1" dirty="0">
                <a:ea typeface="Calibri" charset="0"/>
                <a:cs typeface="Calibri" charset="0"/>
              </a:rPr>
              <a:t>8.1</a:t>
            </a:r>
            <a:r>
              <a:rPr lang="en-US" dirty="0">
                <a:ea typeface="Calibri" charset="0"/>
                <a:cs typeface="Calibri" charset="0"/>
              </a:rPr>
              <a:t> Rotational Motion and Angular Displacement</a:t>
            </a:r>
            <a:endParaRPr lang="en-US" sz="3000" dirty="0"/>
          </a:p>
        </p:txBody>
      </p:sp>
      <p:sp>
        <p:nvSpPr>
          <p:cNvPr id="7" name="TextBox 6">
            <a:extLst>
              <a:ext uri="{FF2B5EF4-FFF2-40B4-BE49-F238E27FC236}">
                <a16:creationId xmlns:a16="http://schemas.microsoft.com/office/drawing/2014/main" id="{021C0261-85B8-DD1A-93FD-C7268DADDF47}"/>
              </a:ext>
            </a:extLst>
          </p:cNvPr>
          <p:cNvSpPr txBox="1"/>
          <p:nvPr/>
        </p:nvSpPr>
        <p:spPr>
          <a:xfrm>
            <a:off x="986117" y="1219720"/>
            <a:ext cx="10524566" cy="1569660"/>
          </a:xfrm>
          <a:prstGeom prst="rect">
            <a:avLst/>
          </a:prstGeom>
          <a:noFill/>
        </p:spPr>
        <p:txBody>
          <a:bodyPr wrap="square">
            <a:spAutoFit/>
          </a:bodyPr>
          <a:lstStyle/>
          <a:p>
            <a:pPr algn="just"/>
            <a:r>
              <a:rPr lang="en-US" sz="2400" dirty="0">
                <a:latin typeface="Times" pitchFamily="2" charset="0"/>
              </a:rPr>
              <a:t>A space station consists of two donut-shaped living chambers, A and B, that have the radii shown in the figure.  As the station rotates, an astronaut in chamber A is moved 2.40 × 10</a:t>
            </a:r>
            <a:r>
              <a:rPr lang="en-US" sz="2400" baseline="30000" dirty="0">
                <a:latin typeface="Times" pitchFamily="2" charset="0"/>
              </a:rPr>
              <a:t>2</a:t>
            </a:r>
            <a:r>
              <a:rPr lang="en-US" sz="2400" dirty="0">
                <a:latin typeface="Times" pitchFamily="2" charset="0"/>
              </a:rPr>
              <a:t> m along a circular arc.  How far along a circular arc is an astronaut in chamber B moved during the same time?</a:t>
            </a:r>
            <a:endParaRPr lang="en-US" sz="2400" b="1" dirty="0">
              <a:latin typeface="Times" pitchFamily="2" charset="0"/>
            </a:endParaRPr>
          </a:p>
        </p:txBody>
      </p:sp>
      <p:sp>
        <p:nvSpPr>
          <p:cNvPr id="3" name="TextBox 2">
            <a:extLst>
              <a:ext uri="{FF2B5EF4-FFF2-40B4-BE49-F238E27FC236}">
                <a16:creationId xmlns:a16="http://schemas.microsoft.com/office/drawing/2014/main" id="{11DF3D63-C9E7-7A57-C310-A4022A2BEB4B}"/>
              </a:ext>
            </a:extLst>
          </p:cNvPr>
          <p:cNvSpPr txBox="1"/>
          <p:nvPr/>
        </p:nvSpPr>
        <p:spPr>
          <a:xfrm>
            <a:off x="993652" y="760559"/>
            <a:ext cx="5945030" cy="523220"/>
          </a:xfrm>
          <a:prstGeom prst="rect">
            <a:avLst/>
          </a:prstGeom>
          <a:noFill/>
        </p:spPr>
        <p:txBody>
          <a:bodyPr wrap="square" rtlCol="0">
            <a:spAutoFit/>
          </a:bodyPr>
          <a:lstStyle/>
          <a:p>
            <a:r>
              <a:rPr lang="en-US" sz="2800" dirty="0">
                <a:solidFill>
                  <a:srgbClr val="C00000"/>
                </a:solidFill>
                <a:latin typeface="Times" pitchFamily="2" charset="0"/>
              </a:rPr>
              <a:t>Example – A Rotating Space Station</a:t>
            </a:r>
          </a:p>
        </p:txBody>
      </p:sp>
      <p:pic>
        <p:nvPicPr>
          <p:cNvPr id="4" name="Picture 3" descr="space station prob">
            <a:extLst>
              <a:ext uri="{FF2B5EF4-FFF2-40B4-BE49-F238E27FC236}">
                <a16:creationId xmlns:a16="http://schemas.microsoft.com/office/drawing/2014/main" id="{A347CD6A-1AB4-D176-58AA-C726236223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6798"/>
          <a:stretch/>
        </p:blipFill>
        <p:spPr bwMode="auto">
          <a:xfrm>
            <a:off x="322730" y="2995156"/>
            <a:ext cx="3281082" cy="322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C4C6E92B-D064-E43A-5754-2B31162CE5AD}"/>
              </a:ext>
            </a:extLst>
          </p:cNvPr>
          <p:cNvPicPr>
            <a:picLocks noChangeAspect="1"/>
          </p:cNvPicPr>
          <p:nvPr/>
        </p:nvPicPr>
        <p:blipFill>
          <a:blip r:embed="rId4"/>
          <a:stretch>
            <a:fillRect/>
          </a:stretch>
        </p:blipFill>
        <p:spPr>
          <a:xfrm>
            <a:off x="9067798" y="3088340"/>
            <a:ext cx="3124202" cy="3124202"/>
          </a:xfrm>
          <a:prstGeom prst="rect">
            <a:avLst/>
          </a:prstGeom>
        </p:spPr>
      </p:pic>
      <p:sp>
        <p:nvSpPr>
          <p:cNvPr id="8" name="TextBox 7">
            <a:extLst>
              <a:ext uri="{FF2B5EF4-FFF2-40B4-BE49-F238E27FC236}">
                <a16:creationId xmlns:a16="http://schemas.microsoft.com/office/drawing/2014/main" id="{50227512-C31F-F9B7-6C2C-B5B9EC9A3852}"/>
              </a:ext>
            </a:extLst>
          </p:cNvPr>
          <p:cNvSpPr txBox="1"/>
          <p:nvPr/>
        </p:nvSpPr>
        <p:spPr>
          <a:xfrm>
            <a:off x="3594847" y="2954794"/>
            <a:ext cx="5836024" cy="461665"/>
          </a:xfrm>
          <a:prstGeom prst="rect">
            <a:avLst/>
          </a:prstGeom>
          <a:noFill/>
        </p:spPr>
        <p:txBody>
          <a:bodyPr wrap="square">
            <a:spAutoFit/>
          </a:bodyPr>
          <a:lstStyle/>
          <a:p>
            <a:pPr algn="just"/>
            <a:r>
              <a:rPr lang="en-US" sz="2400" dirty="0">
                <a:latin typeface="Times" pitchFamily="2" charset="0"/>
              </a:rPr>
              <a:t>Let’s view the station from directly above.</a:t>
            </a:r>
            <a:endParaRPr lang="en-US" sz="2400" b="1" dirty="0">
              <a:latin typeface="Times" pitchFamily="2" charset="0"/>
            </a:endParaRPr>
          </a:p>
        </p:txBody>
      </p:sp>
      <p:sp>
        <p:nvSpPr>
          <p:cNvPr id="9" name="TextBox 8">
            <a:extLst>
              <a:ext uri="{FF2B5EF4-FFF2-40B4-BE49-F238E27FC236}">
                <a16:creationId xmlns:a16="http://schemas.microsoft.com/office/drawing/2014/main" id="{3EBEAA7A-31C7-E713-81B5-F4A6DEF95651}"/>
              </a:ext>
            </a:extLst>
          </p:cNvPr>
          <p:cNvSpPr txBox="1"/>
          <p:nvPr/>
        </p:nvSpPr>
        <p:spPr>
          <a:xfrm>
            <a:off x="3633964" y="3669525"/>
            <a:ext cx="5396753" cy="830997"/>
          </a:xfrm>
          <a:prstGeom prst="rect">
            <a:avLst/>
          </a:prstGeom>
          <a:noFill/>
        </p:spPr>
        <p:txBody>
          <a:bodyPr wrap="square">
            <a:spAutoFit/>
          </a:bodyPr>
          <a:lstStyle/>
          <a:p>
            <a:pPr algn="just"/>
            <a:r>
              <a:rPr lang="en-US" sz="2400" dirty="0">
                <a:latin typeface="Times" pitchFamily="2" charset="0"/>
              </a:rPr>
              <a:t>Since the station is rigid, the chambers rotate together.</a:t>
            </a:r>
            <a:endParaRPr lang="en-US" sz="2400" b="1" dirty="0">
              <a:latin typeface="Times" pitchFamily="2" charset="0"/>
            </a:endParaRPr>
          </a:p>
        </p:txBody>
      </p:sp>
      <p:grpSp>
        <p:nvGrpSpPr>
          <p:cNvPr id="24" name="Group 23">
            <a:extLst>
              <a:ext uri="{FF2B5EF4-FFF2-40B4-BE49-F238E27FC236}">
                <a16:creationId xmlns:a16="http://schemas.microsoft.com/office/drawing/2014/main" id="{5B701AB0-72F6-F922-40A9-37B2282FA9E3}"/>
              </a:ext>
            </a:extLst>
          </p:cNvPr>
          <p:cNvGrpSpPr/>
          <p:nvPr/>
        </p:nvGrpSpPr>
        <p:grpSpPr>
          <a:xfrm>
            <a:off x="8972396" y="4597400"/>
            <a:ext cx="1667029" cy="1187174"/>
            <a:chOff x="8972396" y="4597400"/>
            <a:chExt cx="1667029" cy="1187174"/>
          </a:xfrm>
        </p:grpSpPr>
        <p:cxnSp>
          <p:nvCxnSpPr>
            <p:cNvPr id="12" name="Straight Connector 11">
              <a:extLst>
                <a:ext uri="{FF2B5EF4-FFF2-40B4-BE49-F238E27FC236}">
                  <a16:creationId xmlns:a16="http://schemas.microsoft.com/office/drawing/2014/main" id="{C2BC2F99-99B7-6D9C-7895-682298F5F71C}"/>
                </a:ext>
              </a:extLst>
            </p:cNvPr>
            <p:cNvCxnSpPr>
              <a:cxnSpLocks/>
            </p:cNvCxnSpPr>
            <p:nvPr/>
          </p:nvCxnSpPr>
          <p:spPr>
            <a:xfrm flipH="1">
              <a:off x="9253330" y="4601817"/>
              <a:ext cx="1386095" cy="0"/>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1B7DF8B-64C7-6C01-86D9-C1DF58B0CF4E}"/>
                </a:ext>
              </a:extLst>
            </p:cNvPr>
            <p:cNvCxnSpPr>
              <a:cxnSpLocks/>
            </p:cNvCxnSpPr>
            <p:nvPr/>
          </p:nvCxnSpPr>
          <p:spPr>
            <a:xfrm flipH="1">
              <a:off x="9919252" y="4605131"/>
              <a:ext cx="718930" cy="1179443"/>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Freeform 17">
              <a:extLst>
                <a:ext uri="{FF2B5EF4-FFF2-40B4-BE49-F238E27FC236}">
                  <a16:creationId xmlns:a16="http://schemas.microsoft.com/office/drawing/2014/main" id="{7BA2A7C8-A295-66F2-136B-11797E833D3A}"/>
                </a:ext>
              </a:extLst>
            </p:cNvPr>
            <p:cNvSpPr/>
            <p:nvPr/>
          </p:nvSpPr>
          <p:spPr>
            <a:xfrm>
              <a:off x="9258300" y="4597400"/>
              <a:ext cx="669925" cy="1162050"/>
            </a:xfrm>
            <a:custGeom>
              <a:avLst/>
              <a:gdLst>
                <a:gd name="connsiteX0" fmla="*/ 0 w 669925"/>
                <a:gd name="connsiteY0" fmla="*/ 0 h 1162050"/>
                <a:gd name="connsiteX1" fmla="*/ 3175 w 669925"/>
                <a:gd name="connsiteY1" fmla="*/ 95250 h 1162050"/>
                <a:gd name="connsiteX2" fmla="*/ 12700 w 669925"/>
                <a:gd name="connsiteY2" fmla="*/ 127000 h 1162050"/>
                <a:gd name="connsiteX3" fmla="*/ 15875 w 669925"/>
                <a:gd name="connsiteY3" fmla="*/ 165100 h 1162050"/>
                <a:gd name="connsiteX4" fmla="*/ 22225 w 669925"/>
                <a:gd name="connsiteY4" fmla="*/ 203200 h 1162050"/>
                <a:gd name="connsiteX5" fmla="*/ 31750 w 669925"/>
                <a:gd name="connsiteY5" fmla="*/ 247650 h 1162050"/>
                <a:gd name="connsiteX6" fmla="*/ 44450 w 669925"/>
                <a:gd name="connsiteY6" fmla="*/ 304800 h 1162050"/>
                <a:gd name="connsiteX7" fmla="*/ 57150 w 669925"/>
                <a:gd name="connsiteY7" fmla="*/ 349250 h 1162050"/>
                <a:gd name="connsiteX8" fmla="*/ 76200 w 669925"/>
                <a:gd name="connsiteY8" fmla="*/ 409575 h 1162050"/>
                <a:gd name="connsiteX9" fmla="*/ 95250 w 669925"/>
                <a:gd name="connsiteY9" fmla="*/ 463550 h 1162050"/>
                <a:gd name="connsiteX10" fmla="*/ 120650 w 669925"/>
                <a:gd name="connsiteY10" fmla="*/ 517525 h 1162050"/>
                <a:gd name="connsiteX11" fmla="*/ 152400 w 669925"/>
                <a:gd name="connsiteY11" fmla="*/ 593725 h 1162050"/>
                <a:gd name="connsiteX12" fmla="*/ 190500 w 669925"/>
                <a:gd name="connsiteY12" fmla="*/ 660400 h 1162050"/>
                <a:gd name="connsiteX13" fmla="*/ 241300 w 669925"/>
                <a:gd name="connsiteY13" fmla="*/ 742950 h 1162050"/>
                <a:gd name="connsiteX14" fmla="*/ 269875 w 669925"/>
                <a:gd name="connsiteY14" fmla="*/ 787400 h 1162050"/>
                <a:gd name="connsiteX15" fmla="*/ 311150 w 669925"/>
                <a:gd name="connsiteY15" fmla="*/ 841375 h 1162050"/>
                <a:gd name="connsiteX16" fmla="*/ 358775 w 669925"/>
                <a:gd name="connsiteY16" fmla="*/ 895350 h 1162050"/>
                <a:gd name="connsiteX17" fmla="*/ 400050 w 669925"/>
                <a:gd name="connsiteY17" fmla="*/ 939800 h 1162050"/>
                <a:gd name="connsiteX18" fmla="*/ 444500 w 669925"/>
                <a:gd name="connsiteY18" fmla="*/ 981075 h 1162050"/>
                <a:gd name="connsiteX19" fmla="*/ 495300 w 669925"/>
                <a:gd name="connsiteY19" fmla="*/ 1031875 h 1162050"/>
                <a:gd name="connsiteX20" fmla="*/ 539750 w 669925"/>
                <a:gd name="connsiteY20" fmla="*/ 1066800 h 1162050"/>
                <a:gd name="connsiteX21" fmla="*/ 587375 w 669925"/>
                <a:gd name="connsiteY21" fmla="*/ 1104900 h 1162050"/>
                <a:gd name="connsiteX22" fmla="*/ 628650 w 669925"/>
                <a:gd name="connsiteY22" fmla="*/ 1136650 h 1162050"/>
                <a:gd name="connsiteX23" fmla="*/ 669925 w 669925"/>
                <a:gd name="connsiteY23" fmla="*/ 1162050 h 116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9925" h="1162050">
                  <a:moveTo>
                    <a:pt x="0" y="0"/>
                  </a:moveTo>
                  <a:cubicBezTo>
                    <a:pt x="529" y="37041"/>
                    <a:pt x="1058" y="74083"/>
                    <a:pt x="3175" y="95250"/>
                  </a:cubicBezTo>
                  <a:cubicBezTo>
                    <a:pt x="5292" y="116417"/>
                    <a:pt x="10583" y="115358"/>
                    <a:pt x="12700" y="127000"/>
                  </a:cubicBezTo>
                  <a:cubicBezTo>
                    <a:pt x="14817" y="138642"/>
                    <a:pt x="14288" y="152400"/>
                    <a:pt x="15875" y="165100"/>
                  </a:cubicBezTo>
                  <a:cubicBezTo>
                    <a:pt x="17462" y="177800"/>
                    <a:pt x="19579" y="189442"/>
                    <a:pt x="22225" y="203200"/>
                  </a:cubicBezTo>
                  <a:cubicBezTo>
                    <a:pt x="24871" y="216958"/>
                    <a:pt x="28046" y="230717"/>
                    <a:pt x="31750" y="247650"/>
                  </a:cubicBezTo>
                  <a:cubicBezTo>
                    <a:pt x="35454" y="264583"/>
                    <a:pt x="40217" y="287867"/>
                    <a:pt x="44450" y="304800"/>
                  </a:cubicBezTo>
                  <a:cubicBezTo>
                    <a:pt x="48683" y="321733"/>
                    <a:pt x="51858" y="331788"/>
                    <a:pt x="57150" y="349250"/>
                  </a:cubicBezTo>
                  <a:cubicBezTo>
                    <a:pt x="62442" y="366712"/>
                    <a:pt x="69850" y="390525"/>
                    <a:pt x="76200" y="409575"/>
                  </a:cubicBezTo>
                  <a:cubicBezTo>
                    <a:pt x="82550" y="428625"/>
                    <a:pt x="87842" y="445558"/>
                    <a:pt x="95250" y="463550"/>
                  </a:cubicBezTo>
                  <a:cubicBezTo>
                    <a:pt x="102658" y="481542"/>
                    <a:pt x="111125" y="495829"/>
                    <a:pt x="120650" y="517525"/>
                  </a:cubicBezTo>
                  <a:cubicBezTo>
                    <a:pt x="130175" y="539221"/>
                    <a:pt x="140758" y="569912"/>
                    <a:pt x="152400" y="593725"/>
                  </a:cubicBezTo>
                  <a:cubicBezTo>
                    <a:pt x="164042" y="617538"/>
                    <a:pt x="175683" y="635529"/>
                    <a:pt x="190500" y="660400"/>
                  </a:cubicBezTo>
                  <a:cubicBezTo>
                    <a:pt x="205317" y="685271"/>
                    <a:pt x="228071" y="721783"/>
                    <a:pt x="241300" y="742950"/>
                  </a:cubicBezTo>
                  <a:cubicBezTo>
                    <a:pt x="254529" y="764117"/>
                    <a:pt x="258233" y="770996"/>
                    <a:pt x="269875" y="787400"/>
                  </a:cubicBezTo>
                  <a:cubicBezTo>
                    <a:pt x="281517" y="803804"/>
                    <a:pt x="296333" y="823383"/>
                    <a:pt x="311150" y="841375"/>
                  </a:cubicBezTo>
                  <a:cubicBezTo>
                    <a:pt x="325967" y="859367"/>
                    <a:pt x="343958" y="878946"/>
                    <a:pt x="358775" y="895350"/>
                  </a:cubicBezTo>
                  <a:cubicBezTo>
                    <a:pt x="373592" y="911754"/>
                    <a:pt x="385763" y="925513"/>
                    <a:pt x="400050" y="939800"/>
                  </a:cubicBezTo>
                  <a:cubicBezTo>
                    <a:pt x="414337" y="954087"/>
                    <a:pt x="428625" y="965729"/>
                    <a:pt x="444500" y="981075"/>
                  </a:cubicBezTo>
                  <a:cubicBezTo>
                    <a:pt x="460375" y="996421"/>
                    <a:pt x="479425" y="1017588"/>
                    <a:pt x="495300" y="1031875"/>
                  </a:cubicBezTo>
                  <a:cubicBezTo>
                    <a:pt x="511175" y="1046163"/>
                    <a:pt x="539750" y="1066800"/>
                    <a:pt x="539750" y="1066800"/>
                  </a:cubicBezTo>
                  <a:lnTo>
                    <a:pt x="587375" y="1104900"/>
                  </a:lnTo>
                  <a:cubicBezTo>
                    <a:pt x="602191" y="1116542"/>
                    <a:pt x="614892" y="1127125"/>
                    <a:pt x="628650" y="1136650"/>
                  </a:cubicBezTo>
                  <a:cubicBezTo>
                    <a:pt x="642408" y="1146175"/>
                    <a:pt x="656166" y="1154112"/>
                    <a:pt x="669925" y="1162050"/>
                  </a:cubicBezTo>
                </a:path>
              </a:pathLst>
            </a:custGeom>
            <a:noFill/>
            <a:ln w="38100">
              <a:solidFill>
                <a:srgbClr val="0074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a:extLst>
                <a:ext uri="{FF2B5EF4-FFF2-40B4-BE49-F238E27FC236}">
                  <a16:creationId xmlns:a16="http://schemas.microsoft.com/office/drawing/2014/main" id="{8CFB8EA2-A26F-AFB6-1D75-3FC7784451A8}"/>
                </a:ext>
              </a:extLst>
            </p:cNvPr>
            <p:cNvSpPr/>
            <p:nvPr/>
          </p:nvSpPr>
          <p:spPr>
            <a:xfrm>
              <a:off x="9959975" y="4613275"/>
              <a:ext cx="314325" cy="549275"/>
            </a:xfrm>
            <a:custGeom>
              <a:avLst/>
              <a:gdLst>
                <a:gd name="connsiteX0" fmla="*/ 0 w 314325"/>
                <a:gd name="connsiteY0" fmla="*/ 0 h 549275"/>
                <a:gd name="connsiteX1" fmla="*/ 6350 w 314325"/>
                <a:gd name="connsiteY1" fmla="*/ 76200 h 549275"/>
                <a:gd name="connsiteX2" fmla="*/ 12700 w 314325"/>
                <a:gd name="connsiteY2" fmla="*/ 117475 h 549275"/>
                <a:gd name="connsiteX3" fmla="*/ 25400 w 314325"/>
                <a:gd name="connsiteY3" fmla="*/ 158750 h 549275"/>
                <a:gd name="connsiteX4" fmla="*/ 41275 w 314325"/>
                <a:gd name="connsiteY4" fmla="*/ 209550 h 549275"/>
                <a:gd name="connsiteX5" fmla="*/ 66675 w 314325"/>
                <a:gd name="connsiteY5" fmla="*/ 266700 h 549275"/>
                <a:gd name="connsiteX6" fmla="*/ 95250 w 314325"/>
                <a:gd name="connsiteY6" fmla="*/ 327025 h 549275"/>
                <a:gd name="connsiteX7" fmla="*/ 142875 w 314325"/>
                <a:gd name="connsiteY7" fmla="*/ 387350 h 549275"/>
                <a:gd name="connsiteX8" fmla="*/ 177800 w 314325"/>
                <a:gd name="connsiteY8" fmla="*/ 431800 h 549275"/>
                <a:gd name="connsiteX9" fmla="*/ 209550 w 314325"/>
                <a:gd name="connsiteY9" fmla="*/ 466725 h 549275"/>
                <a:gd name="connsiteX10" fmla="*/ 254000 w 314325"/>
                <a:gd name="connsiteY10" fmla="*/ 504825 h 549275"/>
                <a:gd name="connsiteX11" fmla="*/ 292100 w 314325"/>
                <a:gd name="connsiteY11" fmla="*/ 533400 h 549275"/>
                <a:gd name="connsiteX12" fmla="*/ 314325 w 314325"/>
                <a:gd name="connsiteY12" fmla="*/ 549275 h 54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325" h="549275">
                  <a:moveTo>
                    <a:pt x="0" y="0"/>
                  </a:moveTo>
                  <a:cubicBezTo>
                    <a:pt x="2116" y="28310"/>
                    <a:pt x="4233" y="56621"/>
                    <a:pt x="6350" y="76200"/>
                  </a:cubicBezTo>
                  <a:cubicBezTo>
                    <a:pt x="8467" y="95779"/>
                    <a:pt x="9525" y="103717"/>
                    <a:pt x="12700" y="117475"/>
                  </a:cubicBezTo>
                  <a:cubicBezTo>
                    <a:pt x="15875" y="131233"/>
                    <a:pt x="20637" y="143404"/>
                    <a:pt x="25400" y="158750"/>
                  </a:cubicBezTo>
                  <a:cubicBezTo>
                    <a:pt x="30163" y="174096"/>
                    <a:pt x="34396" y="191558"/>
                    <a:pt x="41275" y="209550"/>
                  </a:cubicBezTo>
                  <a:cubicBezTo>
                    <a:pt x="48154" y="227542"/>
                    <a:pt x="57679" y="247121"/>
                    <a:pt x="66675" y="266700"/>
                  </a:cubicBezTo>
                  <a:cubicBezTo>
                    <a:pt x="75671" y="286279"/>
                    <a:pt x="82550" y="306917"/>
                    <a:pt x="95250" y="327025"/>
                  </a:cubicBezTo>
                  <a:cubicBezTo>
                    <a:pt x="107950" y="347133"/>
                    <a:pt x="142875" y="387350"/>
                    <a:pt x="142875" y="387350"/>
                  </a:cubicBezTo>
                  <a:cubicBezTo>
                    <a:pt x="156633" y="404812"/>
                    <a:pt x="166688" y="418571"/>
                    <a:pt x="177800" y="431800"/>
                  </a:cubicBezTo>
                  <a:cubicBezTo>
                    <a:pt x="188912" y="445029"/>
                    <a:pt x="196850" y="454554"/>
                    <a:pt x="209550" y="466725"/>
                  </a:cubicBezTo>
                  <a:cubicBezTo>
                    <a:pt x="222250" y="478896"/>
                    <a:pt x="240242" y="493712"/>
                    <a:pt x="254000" y="504825"/>
                  </a:cubicBezTo>
                  <a:cubicBezTo>
                    <a:pt x="267758" y="515938"/>
                    <a:pt x="282046" y="525992"/>
                    <a:pt x="292100" y="533400"/>
                  </a:cubicBezTo>
                  <a:cubicBezTo>
                    <a:pt x="302154" y="540808"/>
                    <a:pt x="308239" y="545041"/>
                    <a:pt x="314325" y="549275"/>
                  </a:cubicBezTo>
                </a:path>
              </a:pathLst>
            </a:custGeom>
            <a:noFill/>
            <a:ln w="38100">
              <a:solidFill>
                <a:srgbClr val="3C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398AE0A-1D08-B49B-589C-7C89DC12D72B}"/>
                </a:ext>
              </a:extLst>
            </p:cNvPr>
            <p:cNvSpPr txBox="1"/>
            <p:nvPr/>
          </p:nvSpPr>
          <p:spPr>
            <a:xfrm>
              <a:off x="10087739" y="4623043"/>
              <a:ext cx="483280" cy="461665"/>
            </a:xfrm>
            <a:prstGeom prst="rect">
              <a:avLst/>
            </a:prstGeom>
            <a:noFill/>
          </p:spPr>
          <p:txBody>
            <a:bodyPr wrap="square">
              <a:spAutoFit/>
            </a:bodyPr>
            <a:lstStyle/>
            <a:p>
              <a:pPr algn="just"/>
              <a:r>
                <a:rPr lang="en-US" sz="2400" i="1" dirty="0">
                  <a:solidFill>
                    <a:srgbClr val="FFC000"/>
                  </a:solidFill>
                  <a:latin typeface="Symbol" pitchFamily="2" charset="2"/>
                </a:rPr>
                <a:t>q</a:t>
              </a:r>
              <a:endParaRPr lang="en-US" sz="2400" b="1" dirty="0">
                <a:solidFill>
                  <a:srgbClr val="FFC000"/>
                </a:solidFill>
                <a:latin typeface="Times" pitchFamily="2" charset="0"/>
              </a:endParaRPr>
            </a:p>
          </p:txBody>
        </p:sp>
        <p:sp>
          <p:nvSpPr>
            <p:cNvPr id="22" name="TextBox 21">
              <a:extLst>
                <a:ext uri="{FF2B5EF4-FFF2-40B4-BE49-F238E27FC236}">
                  <a16:creationId xmlns:a16="http://schemas.microsoft.com/office/drawing/2014/main" id="{AB632BD2-2BBC-4FA5-411C-CD546F67F723}"/>
                </a:ext>
              </a:extLst>
            </p:cNvPr>
            <p:cNvSpPr txBox="1"/>
            <p:nvPr/>
          </p:nvSpPr>
          <p:spPr>
            <a:xfrm>
              <a:off x="9655939" y="4626218"/>
              <a:ext cx="483280" cy="400110"/>
            </a:xfrm>
            <a:prstGeom prst="rect">
              <a:avLst/>
            </a:prstGeom>
            <a:noFill/>
          </p:spPr>
          <p:txBody>
            <a:bodyPr wrap="square">
              <a:spAutoFit/>
            </a:bodyPr>
            <a:lstStyle/>
            <a:p>
              <a:pPr algn="just"/>
              <a:r>
                <a:rPr lang="en-US" sz="2000" i="1" dirty="0" err="1">
                  <a:solidFill>
                    <a:srgbClr val="3C32FF"/>
                  </a:solidFill>
                  <a:latin typeface="Times" pitchFamily="2" charset="0"/>
                </a:rPr>
                <a:t>s</a:t>
              </a:r>
              <a:r>
                <a:rPr lang="en-US" sz="2000" baseline="-25000" dirty="0" err="1">
                  <a:solidFill>
                    <a:srgbClr val="3C32FF"/>
                  </a:solidFill>
                  <a:latin typeface="Times" pitchFamily="2" charset="0"/>
                </a:rPr>
                <a:t>A</a:t>
              </a:r>
              <a:endParaRPr lang="en-US" sz="2000" b="1" dirty="0">
                <a:solidFill>
                  <a:srgbClr val="3C32FF"/>
                </a:solidFill>
                <a:latin typeface="Times" pitchFamily="2" charset="0"/>
              </a:endParaRPr>
            </a:p>
          </p:txBody>
        </p:sp>
        <p:sp>
          <p:nvSpPr>
            <p:cNvPr id="23" name="TextBox 22">
              <a:extLst>
                <a:ext uri="{FF2B5EF4-FFF2-40B4-BE49-F238E27FC236}">
                  <a16:creationId xmlns:a16="http://schemas.microsoft.com/office/drawing/2014/main" id="{D86E354B-2906-4F63-1D55-CFF20A01889D}"/>
                </a:ext>
              </a:extLst>
            </p:cNvPr>
            <p:cNvSpPr txBox="1"/>
            <p:nvPr/>
          </p:nvSpPr>
          <p:spPr>
            <a:xfrm>
              <a:off x="8972396" y="4847549"/>
              <a:ext cx="483280" cy="400110"/>
            </a:xfrm>
            <a:prstGeom prst="rect">
              <a:avLst/>
            </a:prstGeom>
            <a:noFill/>
          </p:spPr>
          <p:txBody>
            <a:bodyPr wrap="square">
              <a:spAutoFit/>
            </a:bodyPr>
            <a:lstStyle/>
            <a:p>
              <a:pPr algn="just"/>
              <a:r>
                <a:rPr lang="en-US" sz="2000" i="1" dirty="0" err="1">
                  <a:solidFill>
                    <a:srgbClr val="007440"/>
                  </a:solidFill>
                  <a:latin typeface="Times" pitchFamily="2" charset="0"/>
                </a:rPr>
                <a:t>s</a:t>
              </a:r>
              <a:r>
                <a:rPr lang="en-US" sz="2000" baseline="-25000" dirty="0" err="1">
                  <a:solidFill>
                    <a:srgbClr val="007440"/>
                  </a:solidFill>
                  <a:latin typeface="Times" pitchFamily="2" charset="0"/>
                </a:rPr>
                <a:t>B</a:t>
              </a:r>
              <a:endParaRPr lang="en-US" sz="2000" b="1" dirty="0">
                <a:solidFill>
                  <a:srgbClr val="007440"/>
                </a:solidFill>
                <a:latin typeface="Times" pitchFamily="2" charset="0"/>
              </a:endParaRPr>
            </a:p>
          </p:txBody>
        </p:sp>
      </p:grpSp>
      <p:sp>
        <p:nvSpPr>
          <p:cNvPr id="25" name="TextBox 24">
            <a:extLst>
              <a:ext uri="{FF2B5EF4-FFF2-40B4-BE49-F238E27FC236}">
                <a16:creationId xmlns:a16="http://schemas.microsoft.com/office/drawing/2014/main" id="{12759255-F4A8-3489-925E-75FC058433A2}"/>
              </a:ext>
            </a:extLst>
          </p:cNvPr>
          <p:cNvSpPr txBox="1"/>
          <p:nvPr/>
        </p:nvSpPr>
        <p:spPr>
          <a:xfrm>
            <a:off x="3633965" y="4680908"/>
            <a:ext cx="5396753" cy="1569660"/>
          </a:xfrm>
          <a:prstGeom prst="rect">
            <a:avLst/>
          </a:prstGeom>
          <a:noFill/>
        </p:spPr>
        <p:txBody>
          <a:bodyPr wrap="square">
            <a:spAutoFit/>
          </a:bodyPr>
          <a:lstStyle/>
          <a:p>
            <a:pPr algn="just"/>
            <a:r>
              <a:rPr lang="en-US" sz="2400" dirty="0">
                <a:latin typeface="Times" pitchFamily="2" charset="0"/>
              </a:rPr>
              <a:t>When rotated through some angle </a:t>
            </a:r>
            <a:r>
              <a:rPr lang="en-US" sz="2400" i="1" dirty="0">
                <a:latin typeface="Symbol" pitchFamily="2" charset="2"/>
              </a:rPr>
              <a:t>q</a:t>
            </a:r>
            <a:r>
              <a:rPr lang="en-US" sz="2400" dirty="0">
                <a:latin typeface="Times" pitchFamily="2" charset="0"/>
              </a:rPr>
              <a:t>, an astronaut in chamber A moves an arc length </a:t>
            </a:r>
            <a:r>
              <a:rPr lang="en-US" sz="2400" i="1" dirty="0" err="1">
                <a:solidFill>
                  <a:srgbClr val="3C32FF"/>
                </a:solidFill>
                <a:latin typeface="Times" pitchFamily="2" charset="0"/>
              </a:rPr>
              <a:t>s</a:t>
            </a:r>
            <a:r>
              <a:rPr lang="en-US" sz="2400" baseline="-25000" dirty="0" err="1">
                <a:solidFill>
                  <a:srgbClr val="3C32FF"/>
                </a:solidFill>
                <a:latin typeface="Times" pitchFamily="2" charset="0"/>
              </a:rPr>
              <a:t>A</a:t>
            </a:r>
            <a:r>
              <a:rPr lang="en-US" sz="2400" dirty="0">
                <a:latin typeface="Times" pitchFamily="2" charset="0"/>
              </a:rPr>
              <a:t>, and an astronaut in chamber B moves an arc length </a:t>
            </a:r>
            <a:r>
              <a:rPr lang="en-US" sz="2400" i="1" dirty="0" err="1">
                <a:solidFill>
                  <a:srgbClr val="007440"/>
                </a:solidFill>
                <a:latin typeface="Times" pitchFamily="2" charset="0"/>
              </a:rPr>
              <a:t>s</a:t>
            </a:r>
            <a:r>
              <a:rPr lang="en-US" sz="2400" baseline="-25000" dirty="0" err="1">
                <a:solidFill>
                  <a:srgbClr val="007440"/>
                </a:solidFill>
                <a:latin typeface="Times" pitchFamily="2" charset="0"/>
              </a:rPr>
              <a:t>B</a:t>
            </a:r>
            <a:r>
              <a:rPr lang="en-US" sz="2400" dirty="0" err="1">
                <a:latin typeface="Times" pitchFamily="2" charset="0"/>
              </a:rPr>
              <a:t>.</a:t>
            </a:r>
            <a:endParaRPr lang="en-US" sz="2400" b="1" dirty="0">
              <a:latin typeface="Times" pitchFamily="2" charset="0"/>
            </a:endParaRPr>
          </a:p>
        </p:txBody>
      </p:sp>
    </p:spTree>
    <p:extLst>
      <p:ext uri="{BB962C8B-B14F-4D97-AF65-F5344CB8AC3E}">
        <p14:creationId xmlns:p14="http://schemas.microsoft.com/office/powerpoint/2010/main" val="309132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36D02-856C-7281-EC5D-8D12F7648E56}"/>
            </a:ext>
          </a:extLst>
        </p:cNvPr>
        <p:cNvGrpSpPr/>
        <p:nvPr/>
      </p:nvGrpSpPr>
      <p:grpSpPr>
        <a:xfrm>
          <a:off x="0" y="0"/>
          <a:ext cx="0" cy="0"/>
          <a:chOff x="0" y="0"/>
          <a:chExt cx="0" cy="0"/>
        </a:xfrm>
      </p:grpSpPr>
      <p:pic>
        <p:nvPicPr>
          <p:cNvPr id="4" name="Picture 3" descr="space station prob">
            <a:extLst>
              <a:ext uri="{FF2B5EF4-FFF2-40B4-BE49-F238E27FC236}">
                <a16:creationId xmlns:a16="http://schemas.microsoft.com/office/drawing/2014/main" id="{FBAC9849-63AF-8686-9060-3CFD5C15C5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6798"/>
          <a:stretch/>
        </p:blipFill>
        <p:spPr bwMode="auto">
          <a:xfrm>
            <a:off x="101058" y="681447"/>
            <a:ext cx="2836106" cy="2788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76D7AD19-095F-4449-01EC-15BB48139615}"/>
              </a:ext>
            </a:extLst>
          </p:cNvPr>
          <p:cNvSpPr>
            <a:spLocks noGrp="1"/>
          </p:cNvSpPr>
          <p:nvPr>
            <p:ph type="title"/>
          </p:nvPr>
        </p:nvSpPr>
        <p:spPr>
          <a:xfrm>
            <a:off x="672552" y="107574"/>
            <a:ext cx="10820401" cy="849312"/>
          </a:xfrm>
        </p:spPr>
        <p:txBody>
          <a:bodyPr/>
          <a:lstStyle/>
          <a:p>
            <a:r>
              <a:rPr lang="en-US" b="1" dirty="0">
                <a:ea typeface="Calibri" charset="0"/>
                <a:cs typeface="Calibri" charset="0"/>
              </a:rPr>
              <a:t>8.1</a:t>
            </a:r>
            <a:r>
              <a:rPr lang="en-US" dirty="0">
                <a:ea typeface="Calibri" charset="0"/>
                <a:cs typeface="Calibri" charset="0"/>
              </a:rPr>
              <a:t> Rotational Motion and Angular Displacement</a:t>
            </a:r>
            <a:endParaRPr lang="en-US" sz="3000" dirty="0"/>
          </a:p>
        </p:txBody>
      </p:sp>
      <p:sp>
        <p:nvSpPr>
          <p:cNvPr id="3" name="TextBox 2">
            <a:extLst>
              <a:ext uri="{FF2B5EF4-FFF2-40B4-BE49-F238E27FC236}">
                <a16:creationId xmlns:a16="http://schemas.microsoft.com/office/drawing/2014/main" id="{025E1A1E-E882-3765-B946-1C972C4C15D8}"/>
              </a:ext>
            </a:extLst>
          </p:cNvPr>
          <p:cNvSpPr txBox="1"/>
          <p:nvPr/>
        </p:nvSpPr>
        <p:spPr>
          <a:xfrm>
            <a:off x="2060452" y="622014"/>
            <a:ext cx="5945030" cy="523220"/>
          </a:xfrm>
          <a:prstGeom prst="rect">
            <a:avLst/>
          </a:prstGeom>
          <a:noFill/>
        </p:spPr>
        <p:txBody>
          <a:bodyPr wrap="square" rtlCol="0">
            <a:spAutoFit/>
          </a:bodyPr>
          <a:lstStyle/>
          <a:p>
            <a:r>
              <a:rPr lang="en-US" sz="2800" dirty="0">
                <a:solidFill>
                  <a:srgbClr val="C00000"/>
                </a:solidFill>
                <a:latin typeface="Times" pitchFamily="2" charset="0"/>
              </a:rPr>
              <a:t>Example – A Rotating Space Station</a:t>
            </a:r>
          </a:p>
        </p:txBody>
      </p:sp>
      <p:sp>
        <p:nvSpPr>
          <p:cNvPr id="8" name="TextBox 7">
            <a:extLst>
              <a:ext uri="{FF2B5EF4-FFF2-40B4-BE49-F238E27FC236}">
                <a16:creationId xmlns:a16="http://schemas.microsoft.com/office/drawing/2014/main" id="{7EC7FCFF-2475-EDF3-2D1D-798E3BD42E1A}"/>
              </a:ext>
            </a:extLst>
          </p:cNvPr>
          <p:cNvSpPr txBox="1"/>
          <p:nvPr/>
        </p:nvSpPr>
        <p:spPr>
          <a:xfrm>
            <a:off x="3040664" y="1139849"/>
            <a:ext cx="8948136" cy="461665"/>
          </a:xfrm>
          <a:prstGeom prst="rect">
            <a:avLst/>
          </a:prstGeom>
          <a:noFill/>
        </p:spPr>
        <p:txBody>
          <a:bodyPr wrap="square">
            <a:spAutoFit/>
          </a:bodyPr>
          <a:lstStyle/>
          <a:p>
            <a:pPr algn="just"/>
            <a:r>
              <a:rPr lang="en-US" sz="2400" dirty="0">
                <a:latin typeface="Times" pitchFamily="2" charset="0"/>
              </a:rPr>
              <a:t>Here, we can apply Equation 8.1:</a:t>
            </a:r>
            <a:endParaRPr lang="en-US" sz="2400" b="1" dirty="0">
              <a:latin typeface="Times" pitchFamily="2" charset="0"/>
            </a:endParaRPr>
          </a:p>
        </p:txBody>
      </p:sp>
      <p:grpSp>
        <p:nvGrpSpPr>
          <p:cNvPr id="47" name="Group 46">
            <a:extLst>
              <a:ext uri="{FF2B5EF4-FFF2-40B4-BE49-F238E27FC236}">
                <a16:creationId xmlns:a16="http://schemas.microsoft.com/office/drawing/2014/main" id="{5E240798-7089-9EB4-056A-E13DDEE20F1E}"/>
              </a:ext>
            </a:extLst>
          </p:cNvPr>
          <p:cNvGrpSpPr/>
          <p:nvPr/>
        </p:nvGrpSpPr>
        <p:grpSpPr>
          <a:xfrm>
            <a:off x="133197" y="3573248"/>
            <a:ext cx="2928658" cy="2799842"/>
            <a:chOff x="8972396" y="3088340"/>
            <a:chExt cx="3219604" cy="3124202"/>
          </a:xfrm>
        </p:grpSpPr>
        <p:pic>
          <p:nvPicPr>
            <p:cNvPr id="6" name="Picture 5">
              <a:extLst>
                <a:ext uri="{FF2B5EF4-FFF2-40B4-BE49-F238E27FC236}">
                  <a16:creationId xmlns:a16="http://schemas.microsoft.com/office/drawing/2014/main" id="{2C42633D-4769-99B1-FD41-456F5ED0B90F}"/>
                </a:ext>
              </a:extLst>
            </p:cNvPr>
            <p:cNvPicPr>
              <a:picLocks noChangeAspect="1"/>
            </p:cNvPicPr>
            <p:nvPr/>
          </p:nvPicPr>
          <p:blipFill>
            <a:blip r:embed="rId4"/>
            <a:stretch>
              <a:fillRect/>
            </a:stretch>
          </p:blipFill>
          <p:spPr>
            <a:xfrm>
              <a:off x="9067798" y="3088340"/>
              <a:ext cx="3124202" cy="3124202"/>
            </a:xfrm>
            <a:prstGeom prst="rect">
              <a:avLst/>
            </a:prstGeom>
          </p:spPr>
        </p:pic>
        <p:grpSp>
          <p:nvGrpSpPr>
            <p:cNvPr id="24" name="Group 23">
              <a:extLst>
                <a:ext uri="{FF2B5EF4-FFF2-40B4-BE49-F238E27FC236}">
                  <a16:creationId xmlns:a16="http://schemas.microsoft.com/office/drawing/2014/main" id="{AFD0C323-6FB8-AF4C-F70A-2BB398A3352A}"/>
                </a:ext>
              </a:extLst>
            </p:cNvPr>
            <p:cNvGrpSpPr/>
            <p:nvPr/>
          </p:nvGrpSpPr>
          <p:grpSpPr>
            <a:xfrm>
              <a:off x="8972396" y="4597400"/>
              <a:ext cx="1667029" cy="1187174"/>
              <a:chOff x="8972396" y="4597400"/>
              <a:chExt cx="1667029" cy="1187174"/>
            </a:xfrm>
          </p:grpSpPr>
          <p:cxnSp>
            <p:nvCxnSpPr>
              <p:cNvPr id="12" name="Straight Connector 11">
                <a:extLst>
                  <a:ext uri="{FF2B5EF4-FFF2-40B4-BE49-F238E27FC236}">
                    <a16:creationId xmlns:a16="http://schemas.microsoft.com/office/drawing/2014/main" id="{12894EC0-BADF-D580-7F3C-FCB13A69C074}"/>
                  </a:ext>
                </a:extLst>
              </p:cNvPr>
              <p:cNvCxnSpPr>
                <a:cxnSpLocks/>
              </p:cNvCxnSpPr>
              <p:nvPr/>
            </p:nvCxnSpPr>
            <p:spPr>
              <a:xfrm flipH="1">
                <a:off x="9253330" y="4601817"/>
                <a:ext cx="1386095" cy="0"/>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A52515C-1D97-7D1C-C5B6-B569A4CBE7D1}"/>
                  </a:ext>
                </a:extLst>
              </p:cNvPr>
              <p:cNvCxnSpPr>
                <a:cxnSpLocks/>
              </p:cNvCxnSpPr>
              <p:nvPr/>
            </p:nvCxnSpPr>
            <p:spPr>
              <a:xfrm flipH="1">
                <a:off x="9919252" y="4605131"/>
                <a:ext cx="718930" cy="1179443"/>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Freeform 17">
                <a:extLst>
                  <a:ext uri="{FF2B5EF4-FFF2-40B4-BE49-F238E27FC236}">
                    <a16:creationId xmlns:a16="http://schemas.microsoft.com/office/drawing/2014/main" id="{DE66E1CE-2429-AAA0-A5A5-C17506379F92}"/>
                  </a:ext>
                </a:extLst>
              </p:cNvPr>
              <p:cNvSpPr/>
              <p:nvPr/>
            </p:nvSpPr>
            <p:spPr>
              <a:xfrm>
                <a:off x="9258300" y="4597400"/>
                <a:ext cx="669925" cy="1162050"/>
              </a:xfrm>
              <a:custGeom>
                <a:avLst/>
                <a:gdLst>
                  <a:gd name="connsiteX0" fmla="*/ 0 w 669925"/>
                  <a:gd name="connsiteY0" fmla="*/ 0 h 1162050"/>
                  <a:gd name="connsiteX1" fmla="*/ 3175 w 669925"/>
                  <a:gd name="connsiteY1" fmla="*/ 95250 h 1162050"/>
                  <a:gd name="connsiteX2" fmla="*/ 12700 w 669925"/>
                  <a:gd name="connsiteY2" fmla="*/ 127000 h 1162050"/>
                  <a:gd name="connsiteX3" fmla="*/ 15875 w 669925"/>
                  <a:gd name="connsiteY3" fmla="*/ 165100 h 1162050"/>
                  <a:gd name="connsiteX4" fmla="*/ 22225 w 669925"/>
                  <a:gd name="connsiteY4" fmla="*/ 203200 h 1162050"/>
                  <a:gd name="connsiteX5" fmla="*/ 31750 w 669925"/>
                  <a:gd name="connsiteY5" fmla="*/ 247650 h 1162050"/>
                  <a:gd name="connsiteX6" fmla="*/ 44450 w 669925"/>
                  <a:gd name="connsiteY6" fmla="*/ 304800 h 1162050"/>
                  <a:gd name="connsiteX7" fmla="*/ 57150 w 669925"/>
                  <a:gd name="connsiteY7" fmla="*/ 349250 h 1162050"/>
                  <a:gd name="connsiteX8" fmla="*/ 76200 w 669925"/>
                  <a:gd name="connsiteY8" fmla="*/ 409575 h 1162050"/>
                  <a:gd name="connsiteX9" fmla="*/ 95250 w 669925"/>
                  <a:gd name="connsiteY9" fmla="*/ 463550 h 1162050"/>
                  <a:gd name="connsiteX10" fmla="*/ 120650 w 669925"/>
                  <a:gd name="connsiteY10" fmla="*/ 517525 h 1162050"/>
                  <a:gd name="connsiteX11" fmla="*/ 152400 w 669925"/>
                  <a:gd name="connsiteY11" fmla="*/ 593725 h 1162050"/>
                  <a:gd name="connsiteX12" fmla="*/ 190500 w 669925"/>
                  <a:gd name="connsiteY12" fmla="*/ 660400 h 1162050"/>
                  <a:gd name="connsiteX13" fmla="*/ 241300 w 669925"/>
                  <a:gd name="connsiteY13" fmla="*/ 742950 h 1162050"/>
                  <a:gd name="connsiteX14" fmla="*/ 269875 w 669925"/>
                  <a:gd name="connsiteY14" fmla="*/ 787400 h 1162050"/>
                  <a:gd name="connsiteX15" fmla="*/ 311150 w 669925"/>
                  <a:gd name="connsiteY15" fmla="*/ 841375 h 1162050"/>
                  <a:gd name="connsiteX16" fmla="*/ 358775 w 669925"/>
                  <a:gd name="connsiteY16" fmla="*/ 895350 h 1162050"/>
                  <a:gd name="connsiteX17" fmla="*/ 400050 w 669925"/>
                  <a:gd name="connsiteY17" fmla="*/ 939800 h 1162050"/>
                  <a:gd name="connsiteX18" fmla="*/ 444500 w 669925"/>
                  <a:gd name="connsiteY18" fmla="*/ 981075 h 1162050"/>
                  <a:gd name="connsiteX19" fmla="*/ 495300 w 669925"/>
                  <a:gd name="connsiteY19" fmla="*/ 1031875 h 1162050"/>
                  <a:gd name="connsiteX20" fmla="*/ 539750 w 669925"/>
                  <a:gd name="connsiteY20" fmla="*/ 1066800 h 1162050"/>
                  <a:gd name="connsiteX21" fmla="*/ 587375 w 669925"/>
                  <a:gd name="connsiteY21" fmla="*/ 1104900 h 1162050"/>
                  <a:gd name="connsiteX22" fmla="*/ 628650 w 669925"/>
                  <a:gd name="connsiteY22" fmla="*/ 1136650 h 1162050"/>
                  <a:gd name="connsiteX23" fmla="*/ 669925 w 669925"/>
                  <a:gd name="connsiteY23" fmla="*/ 1162050 h 116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9925" h="1162050">
                    <a:moveTo>
                      <a:pt x="0" y="0"/>
                    </a:moveTo>
                    <a:cubicBezTo>
                      <a:pt x="529" y="37041"/>
                      <a:pt x="1058" y="74083"/>
                      <a:pt x="3175" y="95250"/>
                    </a:cubicBezTo>
                    <a:cubicBezTo>
                      <a:pt x="5292" y="116417"/>
                      <a:pt x="10583" y="115358"/>
                      <a:pt x="12700" y="127000"/>
                    </a:cubicBezTo>
                    <a:cubicBezTo>
                      <a:pt x="14817" y="138642"/>
                      <a:pt x="14288" y="152400"/>
                      <a:pt x="15875" y="165100"/>
                    </a:cubicBezTo>
                    <a:cubicBezTo>
                      <a:pt x="17462" y="177800"/>
                      <a:pt x="19579" y="189442"/>
                      <a:pt x="22225" y="203200"/>
                    </a:cubicBezTo>
                    <a:cubicBezTo>
                      <a:pt x="24871" y="216958"/>
                      <a:pt x="28046" y="230717"/>
                      <a:pt x="31750" y="247650"/>
                    </a:cubicBezTo>
                    <a:cubicBezTo>
                      <a:pt x="35454" y="264583"/>
                      <a:pt x="40217" y="287867"/>
                      <a:pt x="44450" y="304800"/>
                    </a:cubicBezTo>
                    <a:cubicBezTo>
                      <a:pt x="48683" y="321733"/>
                      <a:pt x="51858" y="331788"/>
                      <a:pt x="57150" y="349250"/>
                    </a:cubicBezTo>
                    <a:cubicBezTo>
                      <a:pt x="62442" y="366712"/>
                      <a:pt x="69850" y="390525"/>
                      <a:pt x="76200" y="409575"/>
                    </a:cubicBezTo>
                    <a:cubicBezTo>
                      <a:pt x="82550" y="428625"/>
                      <a:pt x="87842" y="445558"/>
                      <a:pt x="95250" y="463550"/>
                    </a:cubicBezTo>
                    <a:cubicBezTo>
                      <a:pt x="102658" y="481542"/>
                      <a:pt x="111125" y="495829"/>
                      <a:pt x="120650" y="517525"/>
                    </a:cubicBezTo>
                    <a:cubicBezTo>
                      <a:pt x="130175" y="539221"/>
                      <a:pt x="140758" y="569912"/>
                      <a:pt x="152400" y="593725"/>
                    </a:cubicBezTo>
                    <a:cubicBezTo>
                      <a:pt x="164042" y="617538"/>
                      <a:pt x="175683" y="635529"/>
                      <a:pt x="190500" y="660400"/>
                    </a:cubicBezTo>
                    <a:cubicBezTo>
                      <a:pt x="205317" y="685271"/>
                      <a:pt x="228071" y="721783"/>
                      <a:pt x="241300" y="742950"/>
                    </a:cubicBezTo>
                    <a:cubicBezTo>
                      <a:pt x="254529" y="764117"/>
                      <a:pt x="258233" y="770996"/>
                      <a:pt x="269875" y="787400"/>
                    </a:cubicBezTo>
                    <a:cubicBezTo>
                      <a:pt x="281517" y="803804"/>
                      <a:pt x="296333" y="823383"/>
                      <a:pt x="311150" y="841375"/>
                    </a:cubicBezTo>
                    <a:cubicBezTo>
                      <a:pt x="325967" y="859367"/>
                      <a:pt x="343958" y="878946"/>
                      <a:pt x="358775" y="895350"/>
                    </a:cubicBezTo>
                    <a:cubicBezTo>
                      <a:pt x="373592" y="911754"/>
                      <a:pt x="385763" y="925513"/>
                      <a:pt x="400050" y="939800"/>
                    </a:cubicBezTo>
                    <a:cubicBezTo>
                      <a:pt x="414337" y="954087"/>
                      <a:pt x="428625" y="965729"/>
                      <a:pt x="444500" y="981075"/>
                    </a:cubicBezTo>
                    <a:cubicBezTo>
                      <a:pt x="460375" y="996421"/>
                      <a:pt x="479425" y="1017588"/>
                      <a:pt x="495300" y="1031875"/>
                    </a:cubicBezTo>
                    <a:cubicBezTo>
                      <a:pt x="511175" y="1046163"/>
                      <a:pt x="539750" y="1066800"/>
                      <a:pt x="539750" y="1066800"/>
                    </a:cubicBezTo>
                    <a:lnTo>
                      <a:pt x="587375" y="1104900"/>
                    </a:lnTo>
                    <a:cubicBezTo>
                      <a:pt x="602191" y="1116542"/>
                      <a:pt x="614892" y="1127125"/>
                      <a:pt x="628650" y="1136650"/>
                    </a:cubicBezTo>
                    <a:cubicBezTo>
                      <a:pt x="642408" y="1146175"/>
                      <a:pt x="656166" y="1154112"/>
                      <a:pt x="669925" y="1162050"/>
                    </a:cubicBezTo>
                  </a:path>
                </a:pathLst>
              </a:custGeom>
              <a:noFill/>
              <a:ln w="38100">
                <a:solidFill>
                  <a:srgbClr val="0074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a:extLst>
                  <a:ext uri="{FF2B5EF4-FFF2-40B4-BE49-F238E27FC236}">
                    <a16:creationId xmlns:a16="http://schemas.microsoft.com/office/drawing/2014/main" id="{B59DC147-C169-29EA-0B4A-3583E43A235E}"/>
                  </a:ext>
                </a:extLst>
              </p:cNvPr>
              <p:cNvSpPr/>
              <p:nvPr/>
            </p:nvSpPr>
            <p:spPr>
              <a:xfrm>
                <a:off x="9959975" y="4613275"/>
                <a:ext cx="314325" cy="549275"/>
              </a:xfrm>
              <a:custGeom>
                <a:avLst/>
                <a:gdLst>
                  <a:gd name="connsiteX0" fmla="*/ 0 w 314325"/>
                  <a:gd name="connsiteY0" fmla="*/ 0 h 549275"/>
                  <a:gd name="connsiteX1" fmla="*/ 6350 w 314325"/>
                  <a:gd name="connsiteY1" fmla="*/ 76200 h 549275"/>
                  <a:gd name="connsiteX2" fmla="*/ 12700 w 314325"/>
                  <a:gd name="connsiteY2" fmla="*/ 117475 h 549275"/>
                  <a:gd name="connsiteX3" fmla="*/ 25400 w 314325"/>
                  <a:gd name="connsiteY3" fmla="*/ 158750 h 549275"/>
                  <a:gd name="connsiteX4" fmla="*/ 41275 w 314325"/>
                  <a:gd name="connsiteY4" fmla="*/ 209550 h 549275"/>
                  <a:gd name="connsiteX5" fmla="*/ 66675 w 314325"/>
                  <a:gd name="connsiteY5" fmla="*/ 266700 h 549275"/>
                  <a:gd name="connsiteX6" fmla="*/ 95250 w 314325"/>
                  <a:gd name="connsiteY6" fmla="*/ 327025 h 549275"/>
                  <a:gd name="connsiteX7" fmla="*/ 142875 w 314325"/>
                  <a:gd name="connsiteY7" fmla="*/ 387350 h 549275"/>
                  <a:gd name="connsiteX8" fmla="*/ 177800 w 314325"/>
                  <a:gd name="connsiteY8" fmla="*/ 431800 h 549275"/>
                  <a:gd name="connsiteX9" fmla="*/ 209550 w 314325"/>
                  <a:gd name="connsiteY9" fmla="*/ 466725 h 549275"/>
                  <a:gd name="connsiteX10" fmla="*/ 254000 w 314325"/>
                  <a:gd name="connsiteY10" fmla="*/ 504825 h 549275"/>
                  <a:gd name="connsiteX11" fmla="*/ 292100 w 314325"/>
                  <a:gd name="connsiteY11" fmla="*/ 533400 h 549275"/>
                  <a:gd name="connsiteX12" fmla="*/ 314325 w 314325"/>
                  <a:gd name="connsiteY12" fmla="*/ 549275 h 54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325" h="549275">
                    <a:moveTo>
                      <a:pt x="0" y="0"/>
                    </a:moveTo>
                    <a:cubicBezTo>
                      <a:pt x="2116" y="28310"/>
                      <a:pt x="4233" y="56621"/>
                      <a:pt x="6350" y="76200"/>
                    </a:cubicBezTo>
                    <a:cubicBezTo>
                      <a:pt x="8467" y="95779"/>
                      <a:pt x="9525" y="103717"/>
                      <a:pt x="12700" y="117475"/>
                    </a:cubicBezTo>
                    <a:cubicBezTo>
                      <a:pt x="15875" y="131233"/>
                      <a:pt x="20637" y="143404"/>
                      <a:pt x="25400" y="158750"/>
                    </a:cubicBezTo>
                    <a:cubicBezTo>
                      <a:pt x="30163" y="174096"/>
                      <a:pt x="34396" y="191558"/>
                      <a:pt x="41275" y="209550"/>
                    </a:cubicBezTo>
                    <a:cubicBezTo>
                      <a:pt x="48154" y="227542"/>
                      <a:pt x="57679" y="247121"/>
                      <a:pt x="66675" y="266700"/>
                    </a:cubicBezTo>
                    <a:cubicBezTo>
                      <a:pt x="75671" y="286279"/>
                      <a:pt x="82550" y="306917"/>
                      <a:pt x="95250" y="327025"/>
                    </a:cubicBezTo>
                    <a:cubicBezTo>
                      <a:pt x="107950" y="347133"/>
                      <a:pt x="142875" y="387350"/>
                      <a:pt x="142875" y="387350"/>
                    </a:cubicBezTo>
                    <a:cubicBezTo>
                      <a:pt x="156633" y="404812"/>
                      <a:pt x="166688" y="418571"/>
                      <a:pt x="177800" y="431800"/>
                    </a:cubicBezTo>
                    <a:cubicBezTo>
                      <a:pt x="188912" y="445029"/>
                      <a:pt x="196850" y="454554"/>
                      <a:pt x="209550" y="466725"/>
                    </a:cubicBezTo>
                    <a:cubicBezTo>
                      <a:pt x="222250" y="478896"/>
                      <a:pt x="240242" y="493712"/>
                      <a:pt x="254000" y="504825"/>
                    </a:cubicBezTo>
                    <a:cubicBezTo>
                      <a:pt x="267758" y="515938"/>
                      <a:pt x="282046" y="525992"/>
                      <a:pt x="292100" y="533400"/>
                    </a:cubicBezTo>
                    <a:cubicBezTo>
                      <a:pt x="302154" y="540808"/>
                      <a:pt x="308239" y="545041"/>
                      <a:pt x="314325" y="549275"/>
                    </a:cubicBezTo>
                  </a:path>
                </a:pathLst>
              </a:custGeom>
              <a:noFill/>
              <a:ln w="38100">
                <a:solidFill>
                  <a:srgbClr val="3C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528EAA9-7885-CE97-527B-7A0228933F5E}"/>
                  </a:ext>
                </a:extLst>
              </p:cNvPr>
              <p:cNvSpPr txBox="1"/>
              <p:nvPr/>
            </p:nvSpPr>
            <p:spPr>
              <a:xfrm>
                <a:off x="10087739" y="4623043"/>
                <a:ext cx="483280" cy="461665"/>
              </a:xfrm>
              <a:prstGeom prst="rect">
                <a:avLst/>
              </a:prstGeom>
              <a:noFill/>
            </p:spPr>
            <p:txBody>
              <a:bodyPr wrap="square">
                <a:spAutoFit/>
              </a:bodyPr>
              <a:lstStyle/>
              <a:p>
                <a:pPr algn="just"/>
                <a:r>
                  <a:rPr lang="en-US" sz="2400" i="1" dirty="0">
                    <a:solidFill>
                      <a:srgbClr val="FFC000"/>
                    </a:solidFill>
                    <a:latin typeface="Symbol" pitchFamily="2" charset="2"/>
                  </a:rPr>
                  <a:t>q</a:t>
                </a:r>
                <a:endParaRPr lang="en-US" sz="2400" b="1" dirty="0">
                  <a:solidFill>
                    <a:srgbClr val="FFC000"/>
                  </a:solidFill>
                  <a:latin typeface="Times" pitchFamily="2" charset="0"/>
                </a:endParaRPr>
              </a:p>
            </p:txBody>
          </p:sp>
          <p:sp>
            <p:nvSpPr>
              <p:cNvPr id="22" name="TextBox 21">
                <a:extLst>
                  <a:ext uri="{FF2B5EF4-FFF2-40B4-BE49-F238E27FC236}">
                    <a16:creationId xmlns:a16="http://schemas.microsoft.com/office/drawing/2014/main" id="{42377385-276A-F624-9699-6FAA1262BD9C}"/>
                  </a:ext>
                </a:extLst>
              </p:cNvPr>
              <p:cNvSpPr txBox="1"/>
              <p:nvPr/>
            </p:nvSpPr>
            <p:spPr>
              <a:xfrm>
                <a:off x="9655939" y="4626218"/>
                <a:ext cx="483280" cy="400110"/>
              </a:xfrm>
              <a:prstGeom prst="rect">
                <a:avLst/>
              </a:prstGeom>
              <a:noFill/>
            </p:spPr>
            <p:txBody>
              <a:bodyPr wrap="square">
                <a:spAutoFit/>
              </a:bodyPr>
              <a:lstStyle/>
              <a:p>
                <a:pPr algn="just"/>
                <a:r>
                  <a:rPr lang="en-US" sz="2000" i="1" dirty="0" err="1">
                    <a:solidFill>
                      <a:srgbClr val="3C32FF"/>
                    </a:solidFill>
                    <a:latin typeface="Times" pitchFamily="2" charset="0"/>
                  </a:rPr>
                  <a:t>s</a:t>
                </a:r>
                <a:r>
                  <a:rPr lang="en-US" sz="2000" baseline="-25000" dirty="0" err="1">
                    <a:solidFill>
                      <a:srgbClr val="3C32FF"/>
                    </a:solidFill>
                    <a:latin typeface="Times" pitchFamily="2" charset="0"/>
                  </a:rPr>
                  <a:t>A</a:t>
                </a:r>
                <a:endParaRPr lang="en-US" sz="2000" b="1" dirty="0">
                  <a:solidFill>
                    <a:srgbClr val="3C32FF"/>
                  </a:solidFill>
                  <a:latin typeface="Times" pitchFamily="2" charset="0"/>
                </a:endParaRPr>
              </a:p>
            </p:txBody>
          </p:sp>
          <p:sp>
            <p:nvSpPr>
              <p:cNvPr id="23" name="TextBox 22">
                <a:extLst>
                  <a:ext uri="{FF2B5EF4-FFF2-40B4-BE49-F238E27FC236}">
                    <a16:creationId xmlns:a16="http://schemas.microsoft.com/office/drawing/2014/main" id="{D428A1F0-B36C-8F57-89EC-FC0206CB85DE}"/>
                  </a:ext>
                </a:extLst>
              </p:cNvPr>
              <p:cNvSpPr txBox="1"/>
              <p:nvPr/>
            </p:nvSpPr>
            <p:spPr>
              <a:xfrm>
                <a:off x="8972396" y="4847549"/>
                <a:ext cx="483280" cy="400110"/>
              </a:xfrm>
              <a:prstGeom prst="rect">
                <a:avLst/>
              </a:prstGeom>
              <a:noFill/>
            </p:spPr>
            <p:txBody>
              <a:bodyPr wrap="square">
                <a:spAutoFit/>
              </a:bodyPr>
              <a:lstStyle/>
              <a:p>
                <a:pPr algn="just"/>
                <a:r>
                  <a:rPr lang="en-US" sz="2000" i="1" dirty="0" err="1">
                    <a:solidFill>
                      <a:srgbClr val="007440"/>
                    </a:solidFill>
                    <a:latin typeface="Times" pitchFamily="2" charset="0"/>
                  </a:rPr>
                  <a:t>s</a:t>
                </a:r>
                <a:r>
                  <a:rPr lang="en-US" sz="2000" baseline="-25000" dirty="0" err="1">
                    <a:solidFill>
                      <a:srgbClr val="007440"/>
                    </a:solidFill>
                    <a:latin typeface="Times" pitchFamily="2" charset="0"/>
                  </a:rPr>
                  <a:t>B</a:t>
                </a:r>
                <a:endParaRPr lang="en-US" sz="2000" b="1" dirty="0">
                  <a:solidFill>
                    <a:srgbClr val="007440"/>
                  </a:solidFill>
                  <a:latin typeface="Times" pitchFamily="2" charset="0"/>
                </a:endParaRPr>
              </a:p>
            </p:txBody>
          </p:sp>
        </p:grpSp>
      </p:grpSp>
      <p:sp>
        <p:nvSpPr>
          <p:cNvPr id="48" name="Rounded Rectangle 47">
            <a:extLst>
              <a:ext uri="{FF2B5EF4-FFF2-40B4-BE49-F238E27FC236}">
                <a16:creationId xmlns:a16="http://schemas.microsoft.com/office/drawing/2014/main" id="{31E01E7C-85C0-28D2-ECCB-A8D0EF4B9795}"/>
              </a:ext>
            </a:extLst>
          </p:cNvPr>
          <p:cNvSpPr/>
          <p:nvPr/>
        </p:nvSpPr>
        <p:spPr>
          <a:xfrm>
            <a:off x="7636934" y="863600"/>
            <a:ext cx="1422399" cy="8297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E9739C50-5174-A1B9-6E78-10B08B30D436}"/>
              </a:ext>
            </a:extLst>
          </p:cNvPr>
          <p:cNvSpPr txBox="1"/>
          <p:nvPr/>
        </p:nvSpPr>
        <p:spPr>
          <a:xfrm>
            <a:off x="3043434" y="1757759"/>
            <a:ext cx="8948136" cy="830997"/>
          </a:xfrm>
          <a:prstGeom prst="rect">
            <a:avLst/>
          </a:prstGeom>
          <a:noFill/>
        </p:spPr>
        <p:txBody>
          <a:bodyPr wrap="square">
            <a:spAutoFit/>
          </a:bodyPr>
          <a:lstStyle/>
          <a:p>
            <a:pPr algn="just"/>
            <a:r>
              <a:rPr lang="en-US" sz="2400" dirty="0">
                <a:latin typeface="Times" pitchFamily="2" charset="0"/>
              </a:rPr>
              <a:t>We stress again that the </a:t>
            </a:r>
            <a:r>
              <a:rPr lang="en-US" sz="2400" u="sng" dirty="0">
                <a:latin typeface="Times" pitchFamily="2" charset="0"/>
              </a:rPr>
              <a:t>angular displacement (</a:t>
            </a:r>
            <a:r>
              <a:rPr lang="en-US" sz="2400" i="1" u="sng" dirty="0">
                <a:latin typeface="Symbol" pitchFamily="2" charset="2"/>
              </a:rPr>
              <a:t>q</a:t>
            </a:r>
            <a:r>
              <a:rPr lang="en-US" sz="2400" u="sng" dirty="0">
                <a:latin typeface="Times" pitchFamily="2" charset="0"/>
              </a:rPr>
              <a:t>) </a:t>
            </a:r>
            <a:r>
              <a:rPr lang="en-US" sz="2400" dirty="0">
                <a:latin typeface="Times" pitchFamily="2" charset="0"/>
              </a:rPr>
              <a:t>of each astronaut is the same.  Thus, from above: </a:t>
            </a:r>
            <a:endParaRPr lang="en-US" sz="2400" b="1" dirty="0">
              <a:latin typeface="Times" pitchFamily="2" charset="0"/>
            </a:endParaRPr>
          </a:p>
        </p:txBody>
      </p:sp>
      <p:grpSp>
        <p:nvGrpSpPr>
          <p:cNvPr id="59" name="Group 58">
            <a:extLst>
              <a:ext uri="{FF2B5EF4-FFF2-40B4-BE49-F238E27FC236}">
                <a16:creationId xmlns:a16="http://schemas.microsoft.com/office/drawing/2014/main" id="{93310D9C-0FAB-8374-2044-77F1A5B4BDCA}"/>
              </a:ext>
            </a:extLst>
          </p:cNvPr>
          <p:cNvGrpSpPr/>
          <p:nvPr/>
        </p:nvGrpSpPr>
        <p:grpSpPr>
          <a:xfrm>
            <a:off x="6866311" y="2197331"/>
            <a:ext cx="3211485" cy="897775"/>
            <a:chOff x="6866311" y="2197331"/>
            <a:chExt cx="3211485" cy="897775"/>
          </a:xfrm>
        </p:grpSpPr>
        <p:sp>
          <p:nvSpPr>
            <p:cNvPr id="56" name="Rounded Rectangle 55">
              <a:extLst>
                <a:ext uri="{FF2B5EF4-FFF2-40B4-BE49-F238E27FC236}">
                  <a16:creationId xmlns:a16="http://schemas.microsoft.com/office/drawing/2014/main" id="{63B947F2-328E-47AB-8A4C-FF6CE98B1129}"/>
                </a:ext>
              </a:extLst>
            </p:cNvPr>
            <p:cNvSpPr/>
            <p:nvPr/>
          </p:nvSpPr>
          <p:spPr>
            <a:xfrm>
              <a:off x="6866311" y="2197331"/>
              <a:ext cx="1230285" cy="897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B438BDDF-A70E-35E9-734C-8850A465B8B8}"/>
                </a:ext>
              </a:extLst>
            </p:cNvPr>
            <p:cNvSpPr txBox="1"/>
            <p:nvPr/>
          </p:nvSpPr>
          <p:spPr>
            <a:xfrm>
              <a:off x="8164998" y="2408923"/>
              <a:ext cx="929125" cy="461665"/>
            </a:xfrm>
            <a:prstGeom prst="rect">
              <a:avLst/>
            </a:prstGeom>
            <a:noFill/>
          </p:spPr>
          <p:txBody>
            <a:bodyPr wrap="square">
              <a:spAutoFit/>
            </a:bodyPr>
            <a:lstStyle/>
            <a:p>
              <a:pPr algn="just"/>
              <a:r>
                <a:rPr lang="en-US" sz="2400" dirty="0">
                  <a:latin typeface="Times" pitchFamily="2" charset="0"/>
                </a:rPr>
                <a:t>and</a:t>
              </a:r>
              <a:endParaRPr lang="en-US" sz="2400" b="1" dirty="0">
                <a:latin typeface="Times" pitchFamily="2" charset="0"/>
              </a:endParaRPr>
            </a:p>
          </p:txBody>
        </p:sp>
        <p:sp>
          <p:nvSpPr>
            <p:cNvPr id="58" name="Rounded Rectangle 57">
              <a:extLst>
                <a:ext uri="{FF2B5EF4-FFF2-40B4-BE49-F238E27FC236}">
                  <a16:creationId xmlns:a16="http://schemas.microsoft.com/office/drawing/2014/main" id="{6D41FA8A-9D3B-0FDC-BA3D-106B83863C93}"/>
                </a:ext>
              </a:extLst>
            </p:cNvPr>
            <p:cNvSpPr/>
            <p:nvPr/>
          </p:nvSpPr>
          <p:spPr>
            <a:xfrm>
              <a:off x="8847511" y="2197331"/>
              <a:ext cx="1230285" cy="897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TextBox 59">
            <a:extLst>
              <a:ext uri="{FF2B5EF4-FFF2-40B4-BE49-F238E27FC236}">
                <a16:creationId xmlns:a16="http://schemas.microsoft.com/office/drawing/2014/main" id="{6982EF24-17E7-DFCF-34A2-D8C867003C98}"/>
              </a:ext>
            </a:extLst>
          </p:cNvPr>
          <p:cNvSpPr txBox="1"/>
          <p:nvPr/>
        </p:nvSpPr>
        <p:spPr>
          <a:xfrm>
            <a:off x="3043434" y="3323323"/>
            <a:ext cx="8145497" cy="461665"/>
          </a:xfrm>
          <a:prstGeom prst="rect">
            <a:avLst/>
          </a:prstGeom>
          <a:noFill/>
        </p:spPr>
        <p:txBody>
          <a:bodyPr wrap="square">
            <a:spAutoFit/>
          </a:bodyPr>
          <a:lstStyle/>
          <a:p>
            <a:pPr algn="just"/>
            <a:r>
              <a:rPr lang="en-US" sz="2400" dirty="0">
                <a:latin typeface="Times" pitchFamily="2" charset="0"/>
              </a:rPr>
              <a:t>We can now set these two equal to each other and solve for </a:t>
            </a:r>
            <a:r>
              <a:rPr lang="en-US" sz="2400" i="1" dirty="0" err="1">
                <a:solidFill>
                  <a:srgbClr val="007440"/>
                </a:solidFill>
                <a:latin typeface="Times" pitchFamily="2" charset="0"/>
              </a:rPr>
              <a:t>s</a:t>
            </a:r>
            <a:r>
              <a:rPr lang="en-US" sz="2400" baseline="-25000" dirty="0" err="1">
                <a:solidFill>
                  <a:srgbClr val="007440"/>
                </a:solidFill>
                <a:latin typeface="Times" pitchFamily="2" charset="0"/>
              </a:rPr>
              <a:t>B</a:t>
            </a:r>
            <a:r>
              <a:rPr lang="en-US" sz="2400" dirty="0">
                <a:latin typeface="Times" pitchFamily="2" charset="0"/>
              </a:rPr>
              <a:t>:</a:t>
            </a:r>
            <a:endParaRPr lang="en-US" sz="2400" b="1" dirty="0">
              <a:latin typeface="Times" pitchFamily="2" charset="0"/>
            </a:endParaRPr>
          </a:p>
        </p:txBody>
      </p:sp>
      <p:sp>
        <p:nvSpPr>
          <p:cNvPr id="64" name="Rounded Rectangle 63">
            <a:extLst>
              <a:ext uri="{FF2B5EF4-FFF2-40B4-BE49-F238E27FC236}">
                <a16:creationId xmlns:a16="http://schemas.microsoft.com/office/drawing/2014/main" id="{438097D9-C6C3-50A2-B2BA-1D3B522D4619}"/>
              </a:ext>
            </a:extLst>
          </p:cNvPr>
          <p:cNvSpPr/>
          <p:nvPr/>
        </p:nvSpPr>
        <p:spPr>
          <a:xfrm>
            <a:off x="3175463" y="3923608"/>
            <a:ext cx="8562108" cy="10972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4E7D8EAA-F3B6-CEEF-8D3C-6317939C0930}"/>
              </a:ext>
            </a:extLst>
          </p:cNvPr>
          <p:cNvSpPr txBox="1"/>
          <p:nvPr/>
        </p:nvSpPr>
        <p:spPr>
          <a:xfrm>
            <a:off x="3129332" y="5204770"/>
            <a:ext cx="8840995" cy="1200329"/>
          </a:xfrm>
          <a:prstGeom prst="rect">
            <a:avLst/>
          </a:prstGeom>
          <a:noFill/>
        </p:spPr>
        <p:txBody>
          <a:bodyPr wrap="square">
            <a:spAutoFit/>
          </a:bodyPr>
          <a:lstStyle/>
          <a:p>
            <a:pPr algn="just"/>
            <a:r>
              <a:rPr lang="en-US" sz="2400" dirty="0">
                <a:latin typeface="Times" pitchFamily="2" charset="0"/>
              </a:rPr>
              <a:t>While the astronaut’s angular displacements are equal, their linear displacements (arc lengths) are not.  Astronaut B moves a greater distance because of the larger radius of chamber B.</a:t>
            </a:r>
            <a:endParaRPr lang="en-US" sz="2400" b="1" dirty="0">
              <a:latin typeface="Times" pitchFamily="2" charset="0"/>
            </a:endParaRPr>
          </a:p>
        </p:txBody>
      </p:sp>
      <p:sp>
        <p:nvSpPr>
          <p:cNvPr id="70" name="Rectangle 69">
            <a:extLst>
              <a:ext uri="{FF2B5EF4-FFF2-40B4-BE49-F238E27FC236}">
                <a16:creationId xmlns:a16="http://schemas.microsoft.com/office/drawing/2014/main" id="{99F943F6-AF3D-1DBD-A4B0-6D028B8A8279}"/>
              </a:ext>
            </a:extLst>
          </p:cNvPr>
          <p:cNvSpPr/>
          <p:nvPr/>
        </p:nvSpPr>
        <p:spPr>
          <a:xfrm>
            <a:off x="3125585" y="5237018"/>
            <a:ext cx="8894619" cy="111390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717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dissolve">
                                      <p:cBhvr>
                                        <p:cTn id="11" dur="500"/>
                                        <p:tgtEl>
                                          <p:spTgt spid="4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dissolve">
                                      <p:cBhvr>
                                        <p:cTn id="16" dur="500"/>
                                        <p:tgtEl>
                                          <p:spTgt spid="51"/>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dissolve">
                                      <p:cBhvr>
                                        <p:cTn id="20" dur="5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dissolve">
                                      <p:cBhvr>
                                        <p:cTn id="25" dur="500"/>
                                        <p:tgtEl>
                                          <p:spTgt spid="60"/>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dissolve">
                                      <p:cBhvr>
                                        <p:cTn id="29" dur="500"/>
                                        <p:tgtEl>
                                          <p:spTgt spid="6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69"/>
                                        </p:tgtEl>
                                        <p:attrNameLst>
                                          <p:attrName>style.visibility</p:attrName>
                                        </p:attrNameLst>
                                      </p:cBhvr>
                                      <p:to>
                                        <p:strVal val="visible"/>
                                      </p:to>
                                    </p:set>
                                    <p:animEffect transition="in" filter="dissolve">
                                      <p:cBhvr>
                                        <p:cTn id="34" dur="500"/>
                                        <p:tgtEl>
                                          <p:spTgt spid="69"/>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dissolve">
                                      <p:cBhvr>
                                        <p:cTn id="38"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8" grpId="0" animBg="1"/>
      <p:bldP spid="51" grpId="0"/>
      <p:bldP spid="60" grpId="0"/>
      <p:bldP spid="64" grpId="0" animBg="1"/>
      <p:bldP spid="69" grpId="0"/>
      <p:bldP spid="7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45AED-0E27-2429-1656-0FF481666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44C89-C4D3-27C6-1BCC-BCAF6EFF386C}"/>
              </a:ext>
            </a:extLst>
          </p:cNvPr>
          <p:cNvSpPr>
            <a:spLocks noGrp="1"/>
          </p:cNvSpPr>
          <p:nvPr>
            <p:ph type="title"/>
          </p:nvPr>
        </p:nvSpPr>
        <p:spPr>
          <a:xfrm>
            <a:off x="672552" y="107574"/>
            <a:ext cx="10820401" cy="849312"/>
          </a:xfrm>
        </p:spPr>
        <p:txBody>
          <a:bodyPr/>
          <a:lstStyle/>
          <a:p>
            <a:r>
              <a:rPr lang="en-US" b="1" dirty="0">
                <a:ea typeface="Calibri" charset="0"/>
                <a:cs typeface="Calibri" charset="0"/>
              </a:rPr>
              <a:t>8.1</a:t>
            </a:r>
            <a:r>
              <a:rPr lang="en-US" dirty="0">
                <a:ea typeface="Calibri" charset="0"/>
                <a:cs typeface="Calibri" charset="0"/>
              </a:rPr>
              <a:t> Rotational Motion and Angular Displacement</a:t>
            </a:r>
            <a:endParaRPr lang="en-US" sz="3000" dirty="0"/>
          </a:p>
        </p:txBody>
      </p:sp>
      <p:sp>
        <p:nvSpPr>
          <p:cNvPr id="7" name="TextBox 6">
            <a:extLst>
              <a:ext uri="{FF2B5EF4-FFF2-40B4-BE49-F238E27FC236}">
                <a16:creationId xmlns:a16="http://schemas.microsoft.com/office/drawing/2014/main" id="{D9B15C17-DFF6-3FEE-5E22-2A4E1DCDFCCD}"/>
              </a:ext>
            </a:extLst>
          </p:cNvPr>
          <p:cNvSpPr txBox="1"/>
          <p:nvPr/>
        </p:nvSpPr>
        <p:spPr>
          <a:xfrm>
            <a:off x="767863" y="897206"/>
            <a:ext cx="10939455" cy="2246769"/>
          </a:xfrm>
          <a:prstGeom prst="rect">
            <a:avLst/>
          </a:prstGeom>
          <a:noFill/>
        </p:spPr>
        <p:txBody>
          <a:bodyPr wrap="square" rtlCol="0">
            <a:spAutoFit/>
          </a:bodyPr>
          <a:lstStyle/>
          <a:p>
            <a:pPr algn="just"/>
            <a:r>
              <a:rPr lang="en-US" sz="2800" dirty="0">
                <a:solidFill>
                  <a:srgbClr val="3E5891"/>
                </a:solidFill>
                <a:latin typeface="Times" pitchFamily="2" charset="0"/>
              </a:rPr>
              <a:t>CYU/TPS – In the figure, the flat triangular sheet </a:t>
            </a:r>
            <a:r>
              <a:rPr lang="en-US" sz="2800" i="1" dirty="0">
                <a:solidFill>
                  <a:srgbClr val="3E5891"/>
                </a:solidFill>
                <a:latin typeface="Times" pitchFamily="2" charset="0"/>
              </a:rPr>
              <a:t>ABC</a:t>
            </a:r>
            <a:r>
              <a:rPr lang="en-US" sz="2800" dirty="0">
                <a:solidFill>
                  <a:srgbClr val="3E5891"/>
                </a:solidFill>
                <a:latin typeface="Times" pitchFamily="2" charset="0"/>
              </a:rPr>
              <a:t> is lying in the plane of the paper. This sheet is going to rotate about first one axis and then another axis. Both of these axes </a:t>
            </a:r>
            <a:r>
              <a:rPr lang="en-US" sz="2800" u="sng" dirty="0">
                <a:solidFill>
                  <a:srgbClr val="3E5891"/>
                </a:solidFill>
                <a:latin typeface="Times" pitchFamily="2" charset="0"/>
              </a:rPr>
              <a:t>lie in the plane of the paper and pass through point </a:t>
            </a:r>
            <a:r>
              <a:rPr lang="en-US" sz="2800" i="1" u="sng" dirty="0">
                <a:solidFill>
                  <a:srgbClr val="3E5891"/>
                </a:solidFill>
                <a:latin typeface="Times" pitchFamily="2" charset="0"/>
              </a:rPr>
              <a:t>A</a:t>
            </a:r>
            <a:r>
              <a:rPr lang="en-US" sz="2800" dirty="0">
                <a:solidFill>
                  <a:srgbClr val="3E5891"/>
                </a:solidFill>
                <a:latin typeface="Times" pitchFamily="2" charset="0"/>
              </a:rPr>
              <a:t>. For each of the axes the points </a:t>
            </a:r>
            <a:r>
              <a:rPr lang="en-US" sz="2800" i="1" dirty="0">
                <a:solidFill>
                  <a:srgbClr val="3E5891"/>
                </a:solidFill>
                <a:latin typeface="Times" pitchFamily="2" charset="0"/>
              </a:rPr>
              <a:t>B</a:t>
            </a:r>
            <a:r>
              <a:rPr lang="en-US" sz="2800" dirty="0">
                <a:solidFill>
                  <a:srgbClr val="3E5891"/>
                </a:solidFill>
                <a:latin typeface="Times" pitchFamily="2" charset="0"/>
              </a:rPr>
              <a:t> and </a:t>
            </a:r>
            <a:r>
              <a:rPr lang="en-US" sz="2800" i="1" dirty="0">
                <a:solidFill>
                  <a:srgbClr val="3E5891"/>
                </a:solidFill>
                <a:latin typeface="Times" pitchFamily="2" charset="0"/>
              </a:rPr>
              <a:t>C</a:t>
            </a:r>
            <a:r>
              <a:rPr lang="en-US" sz="2800" dirty="0">
                <a:solidFill>
                  <a:srgbClr val="3E5891"/>
                </a:solidFill>
                <a:latin typeface="Times" pitchFamily="2" charset="0"/>
              </a:rPr>
              <a:t> will move on separate circular paths that have the same radii. Identify these two axes.</a:t>
            </a:r>
            <a:endParaRPr lang="en-US" sz="2800" dirty="0">
              <a:solidFill>
                <a:srgbClr val="3E5891"/>
              </a:solidFill>
              <a:latin typeface="Times" pitchFamily="2" charset="0"/>
              <a:cs typeface="Times New Roman" panose="02020603050405020304" pitchFamily="18" charset="0"/>
            </a:endParaRPr>
          </a:p>
        </p:txBody>
      </p:sp>
      <p:sp>
        <p:nvSpPr>
          <p:cNvPr id="62" name="Rounded Rectangle 61">
            <a:extLst>
              <a:ext uri="{FF2B5EF4-FFF2-40B4-BE49-F238E27FC236}">
                <a16:creationId xmlns:a16="http://schemas.microsoft.com/office/drawing/2014/main" id="{431EEE76-8CDE-E756-A862-6521C3F70D51}"/>
              </a:ext>
            </a:extLst>
          </p:cNvPr>
          <p:cNvSpPr/>
          <p:nvPr/>
        </p:nvSpPr>
        <p:spPr>
          <a:xfrm>
            <a:off x="1584899" y="5069798"/>
            <a:ext cx="8930702" cy="1197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BF9CA3BB-E513-64DF-BBB2-A8B528AD1EF1}"/>
              </a:ext>
            </a:extLst>
          </p:cNvPr>
          <p:cNvPicPr>
            <a:picLocks noChangeAspect="1"/>
          </p:cNvPicPr>
          <p:nvPr/>
        </p:nvPicPr>
        <p:blipFill>
          <a:blip r:embed="rId3"/>
          <a:stretch>
            <a:fillRect/>
          </a:stretch>
        </p:blipFill>
        <p:spPr>
          <a:xfrm>
            <a:off x="4286250" y="3067050"/>
            <a:ext cx="3101340" cy="1676400"/>
          </a:xfrm>
          <a:prstGeom prst="rect">
            <a:avLst/>
          </a:prstGeom>
        </p:spPr>
      </p:pic>
    </p:spTree>
    <p:extLst>
      <p:ext uri="{BB962C8B-B14F-4D97-AF65-F5344CB8AC3E}">
        <p14:creationId xmlns:p14="http://schemas.microsoft.com/office/powerpoint/2010/main" val="1229893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DFB58-1DED-213B-7C1C-B1302A4B9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464DB-1636-D1AD-E1B4-79506A88D850}"/>
              </a:ext>
            </a:extLst>
          </p:cNvPr>
          <p:cNvSpPr>
            <a:spLocks noGrp="1"/>
          </p:cNvSpPr>
          <p:nvPr>
            <p:ph type="title"/>
          </p:nvPr>
        </p:nvSpPr>
        <p:spPr>
          <a:xfrm>
            <a:off x="672552" y="107574"/>
            <a:ext cx="10820401" cy="849312"/>
          </a:xfrm>
        </p:spPr>
        <p:txBody>
          <a:bodyPr/>
          <a:lstStyle/>
          <a:p>
            <a:r>
              <a:rPr lang="en-US" b="1" dirty="0">
                <a:ea typeface="Calibri" charset="0"/>
                <a:cs typeface="Calibri" charset="0"/>
              </a:rPr>
              <a:t>8.1</a:t>
            </a:r>
            <a:r>
              <a:rPr lang="en-US" dirty="0">
                <a:ea typeface="Calibri" charset="0"/>
                <a:cs typeface="Calibri" charset="0"/>
              </a:rPr>
              <a:t> Rotational Motion and Angular Displacement</a:t>
            </a:r>
            <a:endParaRPr lang="en-US" sz="3000" dirty="0"/>
          </a:p>
        </p:txBody>
      </p:sp>
      <p:pic>
        <p:nvPicPr>
          <p:cNvPr id="11" name="Picture 10">
            <a:extLst>
              <a:ext uri="{FF2B5EF4-FFF2-40B4-BE49-F238E27FC236}">
                <a16:creationId xmlns:a16="http://schemas.microsoft.com/office/drawing/2014/main" id="{7D98DA55-1DB6-19ED-112B-4B01A3200B9E}"/>
              </a:ext>
            </a:extLst>
          </p:cNvPr>
          <p:cNvPicPr>
            <a:picLocks noChangeAspect="1"/>
          </p:cNvPicPr>
          <p:nvPr/>
        </p:nvPicPr>
        <p:blipFill>
          <a:blip r:embed="rId3"/>
          <a:stretch>
            <a:fillRect/>
          </a:stretch>
        </p:blipFill>
        <p:spPr>
          <a:xfrm>
            <a:off x="3587335" y="1693652"/>
            <a:ext cx="5147726" cy="2782554"/>
          </a:xfrm>
          <a:prstGeom prst="rect">
            <a:avLst/>
          </a:prstGeom>
        </p:spPr>
      </p:pic>
      <p:sp>
        <p:nvSpPr>
          <p:cNvPr id="3" name="TextBox 2">
            <a:extLst>
              <a:ext uri="{FF2B5EF4-FFF2-40B4-BE49-F238E27FC236}">
                <a16:creationId xmlns:a16="http://schemas.microsoft.com/office/drawing/2014/main" id="{99DECB80-DC89-4069-32A7-C72CBBFB4237}"/>
              </a:ext>
            </a:extLst>
          </p:cNvPr>
          <p:cNvSpPr txBox="1"/>
          <p:nvPr/>
        </p:nvSpPr>
        <p:spPr>
          <a:xfrm>
            <a:off x="939313" y="782906"/>
            <a:ext cx="2242037" cy="523220"/>
          </a:xfrm>
          <a:prstGeom prst="rect">
            <a:avLst/>
          </a:prstGeom>
          <a:noFill/>
        </p:spPr>
        <p:txBody>
          <a:bodyPr wrap="square" rtlCol="0">
            <a:spAutoFit/>
          </a:bodyPr>
          <a:lstStyle/>
          <a:p>
            <a:pPr algn="just"/>
            <a:r>
              <a:rPr lang="en-US" sz="2800" dirty="0">
                <a:solidFill>
                  <a:srgbClr val="3E5891"/>
                </a:solidFill>
                <a:latin typeface="Times" pitchFamily="2" charset="0"/>
              </a:rPr>
              <a:t>CYU/TPS</a:t>
            </a:r>
            <a:endParaRPr lang="en-US" sz="2800" dirty="0">
              <a:solidFill>
                <a:srgbClr val="3E5891"/>
              </a:solidFill>
              <a:latin typeface="Times" pitchFamily="2" charset="0"/>
              <a:cs typeface="Times New Roman" panose="02020603050405020304" pitchFamily="18" charset="0"/>
            </a:endParaRPr>
          </a:p>
        </p:txBody>
      </p:sp>
    </p:spTree>
    <p:extLst>
      <p:ext uri="{BB962C8B-B14F-4D97-AF65-F5344CB8AC3E}">
        <p14:creationId xmlns:p14="http://schemas.microsoft.com/office/powerpoint/2010/main" val="3984323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DF57E-D672-F9A7-5375-59E646F4E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D3FE8-8584-D5FB-7C63-BDC30C9842AE}"/>
              </a:ext>
            </a:extLst>
          </p:cNvPr>
          <p:cNvSpPr>
            <a:spLocks noGrp="1"/>
          </p:cNvSpPr>
          <p:nvPr>
            <p:ph type="title"/>
          </p:nvPr>
        </p:nvSpPr>
        <p:spPr>
          <a:xfrm>
            <a:off x="672552" y="107574"/>
            <a:ext cx="10820401" cy="849312"/>
          </a:xfrm>
        </p:spPr>
        <p:txBody>
          <a:bodyPr/>
          <a:lstStyle/>
          <a:p>
            <a:r>
              <a:rPr lang="en-US" b="1" dirty="0">
                <a:ea typeface="Calibri" charset="0"/>
                <a:cs typeface="Calibri" charset="0"/>
              </a:rPr>
              <a:t>8.1</a:t>
            </a:r>
            <a:r>
              <a:rPr lang="en-US" dirty="0">
                <a:ea typeface="Calibri" charset="0"/>
                <a:cs typeface="Calibri" charset="0"/>
              </a:rPr>
              <a:t> Rotational Motion and Angular Displacement</a:t>
            </a:r>
            <a:endParaRPr lang="en-US" sz="3000" dirty="0"/>
          </a:p>
        </p:txBody>
      </p:sp>
      <p:sp>
        <p:nvSpPr>
          <p:cNvPr id="3" name="TextBox 2">
            <a:extLst>
              <a:ext uri="{FF2B5EF4-FFF2-40B4-BE49-F238E27FC236}">
                <a16:creationId xmlns:a16="http://schemas.microsoft.com/office/drawing/2014/main" id="{B08A1EB0-9CE7-E928-09E7-0AABCEA8F958}"/>
              </a:ext>
            </a:extLst>
          </p:cNvPr>
          <p:cNvSpPr txBox="1"/>
          <p:nvPr/>
        </p:nvSpPr>
        <p:spPr>
          <a:xfrm>
            <a:off x="939313" y="782906"/>
            <a:ext cx="2242037" cy="523220"/>
          </a:xfrm>
          <a:prstGeom prst="rect">
            <a:avLst/>
          </a:prstGeom>
          <a:noFill/>
        </p:spPr>
        <p:txBody>
          <a:bodyPr wrap="square" rtlCol="0">
            <a:spAutoFit/>
          </a:bodyPr>
          <a:lstStyle/>
          <a:p>
            <a:pPr algn="just"/>
            <a:r>
              <a:rPr lang="en-US" sz="2800" dirty="0">
                <a:solidFill>
                  <a:srgbClr val="3E5891"/>
                </a:solidFill>
                <a:latin typeface="Times" pitchFamily="2" charset="0"/>
              </a:rPr>
              <a:t>CYU/TPS</a:t>
            </a:r>
            <a:endParaRPr lang="en-US" sz="2800" dirty="0">
              <a:solidFill>
                <a:srgbClr val="3E5891"/>
              </a:solidFill>
              <a:latin typeface="Times" pitchFamily="2" charset="0"/>
              <a:cs typeface="Times New Roman" panose="02020603050405020304" pitchFamily="18" charset="0"/>
            </a:endParaRPr>
          </a:p>
        </p:txBody>
      </p:sp>
      <p:pic>
        <p:nvPicPr>
          <p:cNvPr id="6" name="Picture 5">
            <a:extLst>
              <a:ext uri="{FF2B5EF4-FFF2-40B4-BE49-F238E27FC236}">
                <a16:creationId xmlns:a16="http://schemas.microsoft.com/office/drawing/2014/main" id="{A8AC02E2-673D-B636-910E-40EF710CEE91}"/>
              </a:ext>
            </a:extLst>
          </p:cNvPr>
          <p:cNvPicPr>
            <a:picLocks noChangeAspect="1"/>
          </p:cNvPicPr>
          <p:nvPr/>
        </p:nvPicPr>
        <p:blipFill>
          <a:blip r:embed="rId3"/>
          <a:stretch>
            <a:fillRect/>
          </a:stretch>
        </p:blipFill>
        <p:spPr>
          <a:xfrm>
            <a:off x="3587335" y="1693652"/>
            <a:ext cx="5147726" cy="2782554"/>
          </a:xfrm>
          <a:prstGeom prst="rect">
            <a:avLst/>
          </a:prstGeom>
        </p:spPr>
      </p:pic>
    </p:spTree>
    <p:extLst>
      <p:ext uri="{BB962C8B-B14F-4D97-AF65-F5344CB8AC3E}">
        <p14:creationId xmlns:p14="http://schemas.microsoft.com/office/powerpoint/2010/main" val="83640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98F5-B56D-37D2-1B93-F8FB2BE7B2A2}"/>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D520EB95-5E4E-47FC-A2BD-52979758B2C6}"/>
              </a:ext>
            </a:extLst>
          </p:cNvPr>
          <p:cNvSpPr/>
          <p:nvPr/>
        </p:nvSpPr>
        <p:spPr>
          <a:xfrm>
            <a:off x="5091953" y="2697387"/>
            <a:ext cx="1165412" cy="8606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9712BFF-30F0-D7F3-683F-35769A21D9EA}"/>
              </a:ext>
            </a:extLst>
          </p:cNvPr>
          <p:cNvSpPr/>
          <p:nvPr/>
        </p:nvSpPr>
        <p:spPr>
          <a:xfrm>
            <a:off x="0" y="583101"/>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642C34-DE73-3E86-50EE-FCCD76E00A2E}"/>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8.2</a:t>
            </a:r>
            <a:r>
              <a:rPr lang="en-US" dirty="0">
                <a:ea typeface="Calibri" charset="0"/>
                <a:cs typeface="Calibri" charset="0"/>
              </a:rPr>
              <a:t> Angular Velocity and Angular Acceleration</a:t>
            </a:r>
            <a:endParaRPr lang="en-US" sz="3000" dirty="0"/>
          </a:p>
        </p:txBody>
      </p:sp>
      <p:sp>
        <p:nvSpPr>
          <p:cNvPr id="5" name="Content Placeholder 2">
            <a:extLst>
              <a:ext uri="{FF2B5EF4-FFF2-40B4-BE49-F238E27FC236}">
                <a16:creationId xmlns:a16="http://schemas.microsoft.com/office/drawing/2014/main" id="{AFD4973D-C936-C78B-86F9-78A22F3AC16B}"/>
              </a:ext>
            </a:extLst>
          </p:cNvPr>
          <p:cNvSpPr txBox="1">
            <a:spLocks/>
          </p:cNvSpPr>
          <p:nvPr/>
        </p:nvSpPr>
        <p:spPr>
          <a:xfrm>
            <a:off x="959715" y="650292"/>
            <a:ext cx="11609129"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8.2 </a:t>
            </a:r>
            <a:r>
              <a:rPr lang="en-US" dirty="0"/>
              <a:t>– Define angular velocity and angular acceleration.</a:t>
            </a:r>
          </a:p>
        </p:txBody>
      </p:sp>
      <p:sp>
        <p:nvSpPr>
          <p:cNvPr id="17" name="TextBox 16">
            <a:extLst>
              <a:ext uri="{FF2B5EF4-FFF2-40B4-BE49-F238E27FC236}">
                <a16:creationId xmlns:a16="http://schemas.microsoft.com/office/drawing/2014/main" id="{F495D8E0-11CD-F86A-5BF3-E63A861805A2}"/>
              </a:ext>
            </a:extLst>
          </p:cNvPr>
          <p:cNvSpPr txBox="1"/>
          <p:nvPr/>
        </p:nvSpPr>
        <p:spPr>
          <a:xfrm>
            <a:off x="982133" y="1516467"/>
            <a:ext cx="10803467" cy="830997"/>
          </a:xfrm>
          <a:prstGeom prst="rect">
            <a:avLst/>
          </a:prstGeom>
          <a:noFill/>
        </p:spPr>
        <p:txBody>
          <a:bodyPr wrap="square">
            <a:spAutoFit/>
          </a:bodyPr>
          <a:lstStyle/>
          <a:p>
            <a:pPr algn="just"/>
            <a:r>
              <a:rPr lang="en-US" sz="2400" dirty="0">
                <a:latin typeface="Times" pitchFamily="2" charset="0"/>
              </a:rPr>
              <a:t>Now that we have defined </a:t>
            </a:r>
            <a:r>
              <a:rPr lang="en-US" sz="2400" dirty="0">
                <a:solidFill>
                  <a:srgbClr val="007440"/>
                </a:solidFill>
                <a:latin typeface="Times" pitchFamily="2" charset="0"/>
              </a:rPr>
              <a:t>angular displacement</a:t>
            </a:r>
            <a:r>
              <a:rPr lang="en-US" sz="2400" dirty="0">
                <a:latin typeface="Times" pitchFamily="2" charset="0"/>
              </a:rPr>
              <a:t>, let’s allow for this quantity to change in time.  </a:t>
            </a:r>
          </a:p>
        </p:txBody>
      </p:sp>
      <p:sp>
        <p:nvSpPr>
          <p:cNvPr id="7" name="TextBox 6">
            <a:extLst>
              <a:ext uri="{FF2B5EF4-FFF2-40B4-BE49-F238E27FC236}">
                <a16:creationId xmlns:a16="http://schemas.microsoft.com/office/drawing/2014/main" id="{01532761-1DCB-1BA8-EC35-A10598C39BD7}"/>
              </a:ext>
            </a:extLst>
          </p:cNvPr>
          <p:cNvSpPr txBox="1"/>
          <p:nvPr/>
        </p:nvSpPr>
        <p:spPr>
          <a:xfrm>
            <a:off x="976921" y="2236629"/>
            <a:ext cx="10759043" cy="830997"/>
          </a:xfrm>
          <a:prstGeom prst="rect">
            <a:avLst/>
          </a:prstGeom>
          <a:noFill/>
        </p:spPr>
        <p:txBody>
          <a:bodyPr wrap="square">
            <a:spAutoFit/>
          </a:bodyPr>
          <a:lstStyle/>
          <a:p>
            <a:pPr algn="just"/>
            <a:r>
              <a:rPr lang="en-US" sz="2400" dirty="0">
                <a:latin typeface="Times" pitchFamily="2" charset="0"/>
              </a:rPr>
              <a:t>In Chapter 02, a change in linear displacement divided by elapsed time was defined as the average linear velocity, or </a:t>
            </a:r>
          </a:p>
        </p:txBody>
      </p:sp>
      <p:sp>
        <p:nvSpPr>
          <p:cNvPr id="10" name="TextBox 9">
            <a:extLst>
              <a:ext uri="{FF2B5EF4-FFF2-40B4-BE49-F238E27FC236}">
                <a16:creationId xmlns:a16="http://schemas.microsoft.com/office/drawing/2014/main" id="{21CB58B2-CA46-6B55-64A0-929119198130}"/>
              </a:ext>
            </a:extLst>
          </p:cNvPr>
          <p:cNvSpPr txBox="1"/>
          <p:nvPr/>
        </p:nvSpPr>
        <p:spPr>
          <a:xfrm>
            <a:off x="1003815" y="3633134"/>
            <a:ext cx="10759043" cy="830997"/>
          </a:xfrm>
          <a:prstGeom prst="rect">
            <a:avLst/>
          </a:prstGeom>
          <a:noFill/>
        </p:spPr>
        <p:txBody>
          <a:bodyPr wrap="square">
            <a:spAutoFit/>
          </a:bodyPr>
          <a:lstStyle/>
          <a:p>
            <a:pPr algn="just"/>
            <a:r>
              <a:rPr lang="en-US" sz="2400" dirty="0">
                <a:latin typeface="Times" pitchFamily="2" charset="0"/>
              </a:rPr>
              <a:t>Here, a change in angular velocity divided by elapsed time is defined as the </a:t>
            </a:r>
            <a:r>
              <a:rPr lang="en-US" sz="2400" dirty="0">
                <a:solidFill>
                  <a:srgbClr val="007440"/>
                </a:solidFill>
                <a:latin typeface="Times" pitchFamily="2" charset="0"/>
              </a:rPr>
              <a:t>average angular velocity</a:t>
            </a:r>
            <a:r>
              <a:rPr lang="en-US" sz="2400" dirty="0">
                <a:latin typeface="Times" pitchFamily="2" charset="0"/>
              </a:rPr>
              <a:t> – denoted by the Greek letter “omega”:  </a:t>
            </a:r>
          </a:p>
        </p:txBody>
      </p:sp>
      <p:grpSp>
        <p:nvGrpSpPr>
          <p:cNvPr id="15" name="Group 14">
            <a:extLst>
              <a:ext uri="{FF2B5EF4-FFF2-40B4-BE49-F238E27FC236}">
                <a16:creationId xmlns:a16="http://schemas.microsoft.com/office/drawing/2014/main" id="{DE6DEAF8-A5E7-F8AC-030A-42D46ADE80F1}"/>
              </a:ext>
            </a:extLst>
          </p:cNvPr>
          <p:cNvGrpSpPr/>
          <p:nvPr/>
        </p:nvGrpSpPr>
        <p:grpSpPr>
          <a:xfrm>
            <a:off x="125506" y="4525384"/>
            <a:ext cx="11940988" cy="1857487"/>
            <a:chOff x="125506" y="4525384"/>
            <a:chExt cx="11940988" cy="1857487"/>
          </a:xfrm>
        </p:grpSpPr>
        <p:grpSp>
          <p:nvGrpSpPr>
            <p:cNvPr id="11" name="Group 10">
              <a:extLst>
                <a:ext uri="{FF2B5EF4-FFF2-40B4-BE49-F238E27FC236}">
                  <a16:creationId xmlns:a16="http://schemas.microsoft.com/office/drawing/2014/main" id="{425D8747-BA6B-B72C-CE3E-5B6D21BAB411}"/>
                </a:ext>
              </a:extLst>
            </p:cNvPr>
            <p:cNvGrpSpPr/>
            <p:nvPr/>
          </p:nvGrpSpPr>
          <p:grpSpPr>
            <a:xfrm>
              <a:off x="125506" y="4525384"/>
              <a:ext cx="11940988" cy="1857487"/>
              <a:chOff x="409687" y="792480"/>
              <a:chExt cx="11940988" cy="1857487"/>
            </a:xfrm>
          </p:grpSpPr>
          <p:sp>
            <p:nvSpPr>
              <p:cNvPr id="12" name="TextBox 11">
                <a:extLst>
                  <a:ext uri="{FF2B5EF4-FFF2-40B4-BE49-F238E27FC236}">
                    <a16:creationId xmlns:a16="http://schemas.microsoft.com/office/drawing/2014/main" id="{C22BDE53-3E18-30E8-1591-B6ADA58563C0}"/>
                  </a:ext>
                </a:extLst>
              </p:cNvPr>
              <p:cNvSpPr txBox="1"/>
              <p:nvPr/>
            </p:nvSpPr>
            <p:spPr>
              <a:xfrm>
                <a:off x="813965" y="830133"/>
                <a:ext cx="11243992" cy="1200329"/>
              </a:xfrm>
              <a:prstGeom prst="rect">
                <a:avLst/>
              </a:prstGeom>
              <a:noFill/>
            </p:spPr>
            <p:txBody>
              <a:bodyPr wrap="square" rtlCol="0">
                <a:spAutoFit/>
              </a:bodyPr>
              <a:lstStyle/>
              <a:p>
                <a:r>
                  <a:rPr lang="en-US" sz="2400" dirty="0">
                    <a:solidFill>
                      <a:srgbClr val="C00000"/>
                    </a:solidFill>
                    <a:latin typeface="Times" pitchFamily="2" charset="0"/>
                  </a:rPr>
                  <a:t>DEFINITION OF AVERAGE ANGULAR VELOCITY</a:t>
                </a:r>
              </a:p>
              <a:p>
                <a:endParaRPr lang="en-US" sz="2400" dirty="0">
                  <a:latin typeface="Times" pitchFamily="2" charset="0"/>
                </a:endParaRPr>
              </a:p>
              <a:p>
                <a:r>
                  <a:rPr lang="en-US" sz="2400" dirty="0">
                    <a:latin typeface="Times" pitchFamily="2" charset="0"/>
                  </a:rPr>
                  <a:t>									</a:t>
                </a:r>
              </a:p>
            </p:txBody>
          </p:sp>
          <p:sp>
            <p:nvSpPr>
              <p:cNvPr id="13" name="Rectangle 12">
                <a:extLst>
                  <a:ext uri="{FF2B5EF4-FFF2-40B4-BE49-F238E27FC236}">
                    <a16:creationId xmlns:a16="http://schemas.microsoft.com/office/drawing/2014/main" id="{20B59713-CA7D-225D-4CA0-623BF94B64E8}"/>
                  </a:ext>
                </a:extLst>
              </p:cNvPr>
              <p:cNvSpPr/>
              <p:nvPr/>
            </p:nvSpPr>
            <p:spPr>
              <a:xfrm>
                <a:off x="409687" y="792480"/>
                <a:ext cx="11940988" cy="18574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4" name="Picture 13">
              <a:extLst>
                <a:ext uri="{FF2B5EF4-FFF2-40B4-BE49-F238E27FC236}">
                  <a16:creationId xmlns:a16="http://schemas.microsoft.com/office/drawing/2014/main" id="{88B333D1-CB04-492A-4485-94EBEC2AE2AC}"/>
                </a:ext>
              </a:extLst>
            </p:cNvPr>
            <p:cNvPicPr>
              <a:picLocks noChangeAspect="1"/>
            </p:cNvPicPr>
            <p:nvPr/>
          </p:nvPicPr>
          <p:blipFill>
            <a:blip r:embed="rId3"/>
            <a:stretch>
              <a:fillRect/>
            </a:stretch>
          </p:blipFill>
          <p:spPr>
            <a:xfrm>
              <a:off x="291360" y="5057270"/>
              <a:ext cx="7772400" cy="687929"/>
            </a:xfrm>
            <a:prstGeom prst="rect">
              <a:avLst/>
            </a:prstGeom>
          </p:spPr>
        </p:pic>
      </p:grpSp>
      <p:pic>
        <p:nvPicPr>
          <p:cNvPr id="16" name="Picture 15">
            <a:extLst>
              <a:ext uri="{FF2B5EF4-FFF2-40B4-BE49-F238E27FC236}">
                <a16:creationId xmlns:a16="http://schemas.microsoft.com/office/drawing/2014/main" id="{19BFEF86-A0C3-71F8-5C44-821DBAE153A0}"/>
              </a:ext>
            </a:extLst>
          </p:cNvPr>
          <p:cNvPicPr>
            <a:picLocks noChangeAspect="1"/>
          </p:cNvPicPr>
          <p:nvPr/>
        </p:nvPicPr>
        <p:blipFill>
          <a:blip r:embed="rId4"/>
          <a:stretch>
            <a:fillRect/>
          </a:stretch>
        </p:blipFill>
        <p:spPr>
          <a:xfrm>
            <a:off x="8253514" y="5015005"/>
            <a:ext cx="2641600" cy="736600"/>
          </a:xfrm>
          <a:prstGeom prst="rect">
            <a:avLst/>
          </a:prstGeom>
        </p:spPr>
      </p:pic>
      <p:sp>
        <p:nvSpPr>
          <p:cNvPr id="18" name="TextBox 17">
            <a:extLst>
              <a:ext uri="{FF2B5EF4-FFF2-40B4-BE49-F238E27FC236}">
                <a16:creationId xmlns:a16="http://schemas.microsoft.com/office/drawing/2014/main" id="{38E5FF34-87DE-57C8-CE6C-BBE9E5FFE2BB}"/>
              </a:ext>
            </a:extLst>
          </p:cNvPr>
          <p:cNvSpPr txBox="1"/>
          <p:nvPr/>
        </p:nvSpPr>
        <p:spPr>
          <a:xfrm>
            <a:off x="11294133" y="5151159"/>
            <a:ext cx="1184737" cy="461665"/>
          </a:xfrm>
          <a:prstGeom prst="rect">
            <a:avLst/>
          </a:prstGeom>
          <a:noFill/>
        </p:spPr>
        <p:txBody>
          <a:bodyPr wrap="square">
            <a:spAutoFit/>
          </a:bodyPr>
          <a:lstStyle/>
          <a:p>
            <a:pPr algn="just"/>
            <a:r>
              <a:rPr lang="en-US" sz="2400" dirty="0">
                <a:latin typeface="Times" pitchFamily="2" charset="0"/>
              </a:rPr>
              <a:t>(</a:t>
            </a:r>
            <a:r>
              <a:rPr lang="en-US" sz="2400" b="1" dirty="0">
                <a:latin typeface="Times" pitchFamily="2" charset="0"/>
              </a:rPr>
              <a:t>8.2</a:t>
            </a:r>
            <a:r>
              <a:rPr lang="en-US" sz="2400" dirty="0">
                <a:latin typeface="Times" pitchFamily="2" charset="0"/>
              </a:rPr>
              <a:t>)</a:t>
            </a:r>
          </a:p>
        </p:txBody>
      </p:sp>
      <p:sp>
        <p:nvSpPr>
          <p:cNvPr id="21" name="TextBox 20">
            <a:extLst>
              <a:ext uri="{FF2B5EF4-FFF2-40B4-BE49-F238E27FC236}">
                <a16:creationId xmlns:a16="http://schemas.microsoft.com/office/drawing/2014/main" id="{B593CEEB-B93F-3728-AEC9-BDD677A01F37}"/>
              </a:ext>
            </a:extLst>
          </p:cNvPr>
          <p:cNvSpPr txBox="1"/>
          <p:nvPr/>
        </p:nvSpPr>
        <p:spPr>
          <a:xfrm>
            <a:off x="380999" y="5937356"/>
            <a:ext cx="8816787" cy="461665"/>
          </a:xfrm>
          <a:prstGeom prst="rect">
            <a:avLst/>
          </a:prstGeom>
          <a:noFill/>
        </p:spPr>
        <p:txBody>
          <a:bodyPr wrap="square">
            <a:spAutoFit/>
          </a:bodyPr>
          <a:lstStyle/>
          <a:p>
            <a:r>
              <a:rPr lang="en-US" sz="2400" b="1" dirty="0">
                <a:latin typeface="Times" pitchFamily="2" charset="0"/>
              </a:rPr>
              <a:t>SI Unit of Angular Velocity: radian per second (rad/s)</a:t>
            </a:r>
          </a:p>
        </p:txBody>
      </p:sp>
      <p:sp>
        <p:nvSpPr>
          <p:cNvPr id="23" name="TextBox 22">
            <a:extLst>
              <a:ext uri="{FF2B5EF4-FFF2-40B4-BE49-F238E27FC236}">
                <a16:creationId xmlns:a16="http://schemas.microsoft.com/office/drawing/2014/main" id="{2016F7C0-31D0-6A88-F13C-8A5D98008EE7}"/>
              </a:ext>
            </a:extLst>
          </p:cNvPr>
          <p:cNvSpPr txBox="1"/>
          <p:nvPr/>
        </p:nvSpPr>
        <p:spPr>
          <a:xfrm>
            <a:off x="965202" y="1076200"/>
            <a:ext cx="2895600" cy="523220"/>
          </a:xfrm>
          <a:prstGeom prst="rect">
            <a:avLst/>
          </a:prstGeom>
          <a:noFill/>
        </p:spPr>
        <p:txBody>
          <a:bodyPr wrap="square">
            <a:spAutoFit/>
          </a:bodyPr>
          <a:lstStyle/>
          <a:p>
            <a:pPr algn="just"/>
            <a:r>
              <a:rPr lang="en-US" sz="2800" dirty="0">
                <a:solidFill>
                  <a:srgbClr val="007440"/>
                </a:solidFill>
                <a:latin typeface="Times" pitchFamily="2" charset="0"/>
              </a:rPr>
              <a:t>Angular Velocity</a:t>
            </a:r>
          </a:p>
        </p:txBody>
      </p:sp>
    </p:spTree>
    <p:extLst>
      <p:ext uri="{BB962C8B-B14F-4D97-AF65-F5344CB8AC3E}">
        <p14:creationId xmlns:p14="http://schemas.microsoft.com/office/powerpoint/2010/main" val="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dissolv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dissolv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dissolve">
                                      <p:cBhvr>
                                        <p:cTn id="31" dur="500"/>
                                        <p:tgtEl>
                                          <p:spTgt spid="16"/>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dissolv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p:bldP spid="7" grpId="0"/>
      <p:bldP spid="10" grpId="0"/>
      <p:bldP spid="18"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5B810-F072-E456-D4C2-835FD2904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0309BB-CD46-EBFA-E277-938A9CB3EB08}"/>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8.2</a:t>
            </a:r>
            <a:r>
              <a:rPr lang="en-US" dirty="0">
                <a:ea typeface="Calibri" charset="0"/>
                <a:cs typeface="Calibri" charset="0"/>
              </a:rPr>
              <a:t> Angular Velocity and Angular Acceleration</a:t>
            </a:r>
            <a:endParaRPr lang="en-US" sz="3000" dirty="0"/>
          </a:p>
        </p:txBody>
      </p:sp>
      <p:sp>
        <p:nvSpPr>
          <p:cNvPr id="17" name="TextBox 16">
            <a:extLst>
              <a:ext uri="{FF2B5EF4-FFF2-40B4-BE49-F238E27FC236}">
                <a16:creationId xmlns:a16="http://schemas.microsoft.com/office/drawing/2014/main" id="{36819264-8818-24D2-B734-FC34A670AAEC}"/>
              </a:ext>
            </a:extLst>
          </p:cNvPr>
          <p:cNvSpPr txBox="1"/>
          <p:nvPr/>
        </p:nvSpPr>
        <p:spPr>
          <a:xfrm>
            <a:off x="950025" y="839134"/>
            <a:ext cx="10759043" cy="830997"/>
          </a:xfrm>
          <a:prstGeom prst="rect">
            <a:avLst/>
          </a:prstGeom>
          <a:noFill/>
        </p:spPr>
        <p:txBody>
          <a:bodyPr wrap="square">
            <a:spAutoFit/>
          </a:bodyPr>
          <a:lstStyle/>
          <a:p>
            <a:pPr algn="just"/>
            <a:r>
              <a:rPr lang="en-US" sz="2400" dirty="0">
                <a:latin typeface="Times" pitchFamily="2" charset="0"/>
              </a:rPr>
              <a:t>The SI unit of angular velocity is rad/s, but other units are often used, such as degrees/second or revolutions/minute (rpm).</a:t>
            </a:r>
          </a:p>
        </p:txBody>
      </p:sp>
      <p:grpSp>
        <p:nvGrpSpPr>
          <p:cNvPr id="19" name="Group 18">
            <a:extLst>
              <a:ext uri="{FF2B5EF4-FFF2-40B4-BE49-F238E27FC236}">
                <a16:creationId xmlns:a16="http://schemas.microsoft.com/office/drawing/2014/main" id="{6B7073CF-1017-0525-FA97-106C43CCCA5E}"/>
              </a:ext>
            </a:extLst>
          </p:cNvPr>
          <p:cNvGrpSpPr/>
          <p:nvPr/>
        </p:nvGrpSpPr>
        <p:grpSpPr>
          <a:xfrm>
            <a:off x="1048637" y="2384612"/>
            <a:ext cx="10264822" cy="1628865"/>
            <a:chOff x="976920" y="1757082"/>
            <a:chExt cx="10264822" cy="1628865"/>
          </a:xfrm>
        </p:grpSpPr>
        <p:sp>
          <p:nvSpPr>
            <p:cNvPr id="3" name="TextBox 2">
              <a:extLst>
                <a:ext uri="{FF2B5EF4-FFF2-40B4-BE49-F238E27FC236}">
                  <a16:creationId xmlns:a16="http://schemas.microsoft.com/office/drawing/2014/main" id="{263A1C19-A450-C9D0-4CD4-BFD1D15E5E0B}"/>
                </a:ext>
              </a:extLst>
            </p:cNvPr>
            <p:cNvSpPr txBox="1"/>
            <p:nvPr/>
          </p:nvSpPr>
          <p:spPr>
            <a:xfrm>
              <a:off x="976920" y="1816287"/>
              <a:ext cx="10264822" cy="1569660"/>
            </a:xfrm>
            <a:prstGeom prst="rect">
              <a:avLst/>
            </a:prstGeom>
            <a:noFill/>
          </p:spPr>
          <p:txBody>
            <a:bodyPr wrap="square">
              <a:spAutoFit/>
            </a:bodyPr>
            <a:lstStyle/>
            <a:p>
              <a:pPr algn="just"/>
              <a:r>
                <a:rPr lang="en-US" sz="2400" dirty="0">
                  <a:latin typeface="Times" pitchFamily="2" charset="0"/>
                </a:rPr>
                <a:t>Angular velocity, like angular displacement is also a                                , and it follows the same sign convention as that of angular displacement – </a:t>
              </a:r>
              <a:r>
                <a:rPr lang="en-US" sz="2400" b="1" dirty="0">
                  <a:latin typeface="Times" pitchFamily="2" charset="0"/>
                </a:rPr>
                <a:t>angular velocity is positive when the rotation is counterclockwise and negative when it is clockwise. </a:t>
              </a:r>
            </a:p>
          </p:txBody>
        </p:sp>
        <p:sp>
          <p:nvSpPr>
            <p:cNvPr id="6" name="Rounded Rectangle 5">
              <a:extLst>
                <a:ext uri="{FF2B5EF4-FFF2-40B4-BE49-F238E27FC236}">
                  <a16:creationId xmlns:a16="http://schemas.microsoft.com/office/drawing/2014/main" id="{7F4D310A-793E-C38E-EA59-F106FBA24508}"/>
                </a:ext>
              </a:extLst>
            </p:cNvPr>
            <p:cNvSpPr/>
            <p:nvPr/>
          </p:nvSpPr>
          <p:spPr>
            <a:xfrm>
              <a:off x="7655859" y="1757082"/>
              <a:ext cx="2510117" cy="5199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D3FB57EF-F18F-C571-B63D-733CF43770EE}"/>
              </a:ext>
            </a:extLst>
          </p:cNvPr>
          <p:cNvSpPr txBox="1"/>
          <p:nvPr/>
        </p:nvSpPr>
        <p:spPr>
          <a:xfrm>
            <a:off x="188026" y="4559487"/>
            <a:ext cx="9637293" cy="830997"/>
          </a:xfrm>
          <a:prstGeom prst="rect">
            <a:avLst/>
          </a:prstGeom>
          <a:noFill/>
        </p:spPr>
        <p:txBody>
          <a:bodyPr wrap="square">
            <a:spAutoFit/>
          </a:bodyPr>
          <a:lstStyle/>
          <a:p>
            <a:pPr>
              <a:spcBef>
                <a:spcPct val="50000"/>
              </a:spcBef>
            </a:pPr>
            <a:r>
              <a:rPr lang="en-US" altLang="en-US" sz="2400" dirty="0">
                <a:latin typeface="Times" pitchFamily="2" charset="0"/>
              </a:rPr>
              <a:t>And like we did for linear motion, where we defined the </a:t>
            </a:r>
            <a:r>
              <a:rPr lang="en-US" altLang="en-US" sz="2400" i="1" dirty="0">
                <a:latin typeface="Times" pitchFamily="2" charset="0"/>
              </a:rPr>
              <a:t>instantaneous velocity</a:t>
            </a:r>
            <a:r>
              <a:rPr lang="en-US" altLang="en-US" sz="2400" dirty="0">
                <a:latin typeface="Times" pitchFamily="2" charset="0"/>
              </a:rPr>
              <a:t>, we can also define the </a:t>
            </a:r>
            <a:r>
              <a:rPr lang="en-US" altLang="en-US" sz="2400" dirty="0">
                <a:solidFill>
                  <a:srgbClr val="007440"/>
                </a:solidFill>
                <a:latin typeface="Times" pitchFamily="2" charset="0"/>
              </a:rPr>
              <a:t>instantaneous angular velocity (</a:t>
            </a:r>
            <a:r>
              <a:rPr lang="en-US" altLang="en-US" sz="2400" i="1" dirty="0">
                <a:solidFill>
                  <a:srgbClr val="007440"/>
                </a:solidFill>
                <a:latin typeface="Symbol" pitchFamily="2" charset="2"/>
              </a:rPr>
              <a:t>w</a:t>
            </a:r>
            <a:r>
              <a:rPr lang="en-US" altLang="en-US" sz="2400" baseline="-25000" dirty="0">
                <a:solidFill>
                  <a:srgbClr val="007440"/>
                </a:solidFill>
                <a:latin typeface="Times" pitchFamily="2" charset="0"/>
              </a:rPr>
              <a:t>ins</a:t>
            </a:r>
            <a:r>
              <a:rPr lang="en-US" altLang="en-US" sz="2400" dirty="0">
                <a:solidFill>
                  <a:srgbClr val="007440"/>
                </a:solidFill>
                <a:latin typeface="Times" pitchFamily="2" charset="0"/>
              </a:rPr>
              <a:t>)</a:t>
            </a:r>
            <a:r>
              <a:rPr lang="en-US" altLang="en-US" sz="2400" dirty="0">
                <a:latin typeface="Times" pitchFamily="2" charset="0"/>
              </a:rPr>
              <a:t>:</a:t>
            </a:r>
          </a:p>
        </p:txBody>
      </p:sp>
      <p:graphicFrame>
        <p:nvGraphicFramePr>
          <p:cNvPr id="22" name="Object 14">
            <a:extLst>
              <a:ext uri="{FF2B5EF4-FFF2-40B4-BE49-F238E27FC236}">
                <a16:creationId xmlns:a16="http://schemas.microsoft.com/office/drawing/2014/main" id="{2B0E8DC1-1A6D-0F6D-DFF1-8CB794BCA550}"/>
              </a:ext>
            </a:extLst>
          </p:cNvPr>
          <p:cNvGraphicFramePr>
            <a:graphicFrameLocks noChangeAspect="1"/>
          </p:cNvGraphicFramePr>
          <p:nvPr>
            <p:extLst>
              <p:ext uri="{D42A27DB-BD31-4B8C-83A1-F6EECF244321}">
                <p14:modId xmlns:p14="http://schemas.microsoft.com/office/powerpoint/2010/main" val="2377007522"/>
              </p:ext>
            </p:extLst>
          </p:nvPr>
        </p:nvGraphicFramePr>
        <p:xfrm>
          <a:off x="8888507" y="4518212"/>
          <a:ext cx="2012464" cy="891522"/>
        </p:xfrm>
        <a:graphic>
          <a:graphicData uri="http://schemas.openxmlformats.org/presentationml/2006/ole">
            <mc:AlternateContent xmlns:mc="http://schemas.openxmlformats.org/markup-compatibility/2006">
              <mc:Choice xmlns:v="urn:schemas-microsoft-com:vml" Requires="v">
                <p:oleObj name="Equation" r:id="rId3" imgW="20485100" imgH="9067800" progId="Equation.3">
                  <p:embed/>
                </p:oleObj>
              </mc:Choice>
              <mc:Fallback>
                <p:oleObj name="Equation" r:id="rId3" imgW="20485100" imgH="9067800" progId="Equation.3">
                  <p:embed/>
                  <p:pic>
                    <p:nvPicPr>
                      <p:cNvPr id="10254" name="Object 14">
                        <a:extLst>
                          <a:ext uri="{FF2B5EF4-FFF2-40B4-BE49-F238E27FC236}">
                            <a16:creationId xmlns:a16="http://schemas.microsoft.com/office/drawing/2014/main" id="{65936D3B-BF4C-4537-0CDA-0E067A0F0F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8507" y="4518212"/>
                        <a:ext cx="2012464" cy="891522"/>
                      </a:xfrm>
                      <a:prstGeom prst="rect">
                        <a:avLst/>
                      </a:prstGeom>
                      <a:noFill/>
                      <a:ln>
                        <a:noFill/>
                      </a:ln>
                      <a:effectLst/>
                    </p:spPr>
                  </p:pic>
                </p:oleObj>
              </mc:Fallback>
            </mc:AlternateContent>
          </a:graphicData>
        </a:graphic>
      </p:graphicFrame>
      <p:sp>
        <p:nvSpPr>
          <p:cNvPr id="23" name="TextBox 22">
            <a:extLst>
              <a:ext uri="{FF2B5EF4-FFF2-40B4-BE49-F238E27FC236}">
                <a16:creationId xmlns:a16="http://schemas.microsoft.com/office/drawing/2014/main" id="{152317ED-7EA6-F762-A60B-E8A8A74F6B1E}"/>
              </a:ext>
            </a:extLst>
          </p:cNvPr>
          <p:cNvSpPr txBox="1"/>
          <p:nvPr/>
        </p:nvSpPr>
        <p:spPr>
          <a:xfrm>
            <a:off x="11329993" y="4774641"/>
            <a:ext cx="1184737" cy="461665"/>
          </a:xfrm>
          <a:prstGeom prst="rect">
            <a:avLst/>
          </a:prstGeom>
          <a:noFill/>
        </p:spPr>
        <p:txBody>
          <a:bodyPr wrap="square">
            <a:spAutoFit/>
          </a:bodyPr>
          <a:lstStyle/>
          <a:p>
            <a:pPr algn="just"/>
            <a:r>
              <a:rPr lang="en-US" sz="2400" dirty="0">
                <a:latin typeface="Times" pitchFamily="2" charset="0"/>
              </a:rPr>
              <a:t>(</a:t>
            </a:r>
            <a:r>
              <a:rPr lang="en-US" sz="2400" b="1" dirty="0">
                <a:latin typeface="Times" pitchFamily="2" charset="0"/>
              </a:rPr>
              <a:t>8.3</a:t>
            </a:r>
            <a:r>
              <a:rPr lang="en-US" sz="2400" dirty="0">
                <a:latin typeface="Times" pitchFamily="2" charset="0"/>
              </a:rPr>
              <a:t>)</a:t>
            </a:r>
          </a:p>
        </p:txBody>
      </p:sp>
    </p:spTree>
    <p:extLst>
      <p:ext uri="{BB962C8B-B14F-4D97-AF65-F5344CB8AC3E}">
        <p14:creationId xmlns:p14="http://schemas.microsoft.com/office/powerpoint/2010/main" val="279207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ox(in)">
                                      <p:cBhvr>
                                        <p:cTn id="22" dur="500"/>
                                        <p:tgtEl>
                                          <p:spTgt spid="22"/>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dissolve">
                                      <p:cBhvr>
                                        <p:cTn id="2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4D95A-580D-A3A9-3CC7-031A67A6E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ED375-D5EB-3D66-299F-14110C8BF4C5}"/>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8.2</a:t>
            </a:r>
            <a:r>
              <a:rPr lang="en-US" dirty="0">
                <a:ea typeface="Calibri" charset="0"/>
                <a:cs typeface="Calibri" charset="0"/>
              </a:rPr>
              <a:t> Angular Velocity and Angular Acceleration</a:t>
            </a:r>
            <a:endParaRPr lang="en-US" sz="3000" dirty="0"/>
          </a:p>
        </p:txBody>
      </p:sp>
      <p:sp>
        <p:nvSpPr>
          <p:cNvPr id="25" name="TextBox 24">
            <a:extLst>
              <a:ext uri="{FF2B5EF4-FFF2-40B4-BE49-F238E27FC236}">
                <a16:creationId xmlns:a16="http://schemas.microsoft.com/office/drawing/2014/main" id="{E2B564A3-D462-B56B-33ED-8CD03A12C250}"/>
              </a:ext>
            </a:extLst>
          </p:cNvPr>
          <p:cNvSpPr txBox="1"/>
          <p:nvPr/>
        </p:nvSpPr>
        <p:spPr>
          <a:xfrm>
            <a:off x="887786" y="973808"/>
            <a:ext cx="10228729" cy="830997"/>
          </a:xfrm>
          <a:prstGeom prst="rect">
            <a:avLst/>
          </a:prstGeom>
          <a:noFill/>
        </p:spPr>
        <p:txBody>
          <a:bodyPr wrap="square">
            <a:spAutoFit/>
          </a:bodyPr>
          <a:lstStyle/>
          <a:p>
            <a:pPr algn="just"/>
            <a:r>
              <a:rPr lang="en-US" sz="2400" dirty="0">
                <a:latin typeface="Times" pitchFamily="2" charset="0"/>
              </a:rPr>
              <a:t>A gymnast on a high bar swings through two revolutions in a time of 1.90 s, as the figure suggests. Find the average angular velocity (in rad/s) of the gymnast.</a:t>
            </a:r>
          </a:p>
        </p:txBody>
      </p:sp>
      <p:sp>
        <p:nvSpPr>
          <p:cNvPr id="5" name="TextBox 4">
            <a:extLst>
              <a:ext uri="{FF2B5EF4-FFF2-40B4-BE49-F238E27FC236}">
                <a16:creationId xmlns:a16="http://schemas.microsoft.com/office/drawing/2014/main" id="{492855AE-FC12-FEA5-034B-E6A7F515E4BE}"/>
              </a:ext>
            </a:extLst>
          </p:cNvPr>
          <p:cNvSpPr txBox="1"/>
          <p:nvPr/>
        </p:nvSpPr>
        <p:spPr>
          <a:xfrm>
            <a:off x="925576" y="574541"/>
            <a:ext cx="8759947" cy="523220"/>
          </a:xfrm>
          <a:prstGeom prst="rect">
            <a:avLst/>
          </a:prstGeom>
          <a:noFill/>
        </p:spPr>
        <p:txBody>
          <a:bodyPr wrap="square" rtlCol="0">
            <a:spAutoFit/>
          </a:bodyPr>
          <a:lstStyle/>
          <a:p>
            <a:r>
              <a:rPr lang="en-US" sz="2800" dirty="0">
                <a:solidFill>
                  <a:srgbClr val="C00000"/>
                </a:solidFill>
                <a:latin typeface="Times" pitchFamily="2" charset="0"/>
              </a:rPr>
              <a:t>Example – Gymnast on a High Bar</a:t>
            </a:r>
          </a:p>
        </p:txBody>
      </p:sp>
      <p:pic>
        <p:nvPicPr>
          <p:cNvPr id="8" name="Picture 7">
            <a:extLst>
              <a:ext uri="{FF2B5EF4-FFF2-40B4-BE49-F238E27FC236}">
                <a16:creationId xmlns:a16="http://schemas.microsoft.com/office/drawing/2014/main" id="{D4312CB1-AB0E-71F0-182B-9E7B409B8C9D}"/>
              </a:ext>
            </a:extLst>
          </p:cNvPr>
          <p:cNvPicPr>
            <a:picLocks noChangeAspect="1"/>
          </p:cNvPicPr>
          <p:nvPr/>
        </p:nvPicPr>
        <p:blipFill>
          <a:blip r:embed="rId3"/>
          <a:stretch>
            <a:fillRect/>
          </a:stretch>
        </p:blipFill>
        <p:spPr>
          <a:xfrm>
            <a:off x="0" y="2229195"/>
            <a:ext cx="3818965" cy="4186174"/>
          </a:xfrm>
          <a:prstGeom prst="rect">
            <a:avLst/>
          </a:prstGeom>
        </p:spPr>
      </p:pic>
      <p:sp>
        <p:nvSpPr>
          <p:cNvPr id="9" name="TextBox 8">
            <a:extLst>
              <a:ext uri="{FF2B5EF4-FFF2-40B4-BE49-F238E27FC236}">
                <a16:creationId xmlns:a16="http://schemas.microsoft.com/office/drawing/2014/main" id="{F3B4B4E0-DAF2-DE5C-6202-1506F6EA1CE7}"/>
              </a:ext>
            </a:extLst>
          </p:cNvPr>
          <p:cNvSpPr txBox="1"/>
          <p:nvPr/>
        </p:nvSpPr>
        <p:spPr>
          <a:xfrm>
            <a:off x="3378853" y="1768306"/>
            <a:ext cx="8322610" cy="830997"/>
          </a:xfrm>
          <a:prstGeom prst="rect">
            <a:avLst/>
          </a:prstGeom>
          <a:noFill/>
        </p:spPr>
        <p:txBody>
          <a:bodyPr wrap="square">
            <a:spAutoFit/>
          </a:bodyPr>
          <a:lstStyle/>
          <a:p>
            <a:pPr algn="just"/>
            <a:r>
              <a:rPr lang="en-US" sz="2400" dirty="0">
                <a:latin typeface="Times" pitchFamily="2" charset="0"/>
              </a:rPr>
              <a:t>We can use Equation 8.2 to calculate the average angular velocity of the gymnast in rad/s:</a:t>
            </a:r>
          </a:p>
        </p:txBody>
      </p:sp>
      <p:sp>
        <p:nvSpPr>
          <p:cNvPr id="11" name="Rounded Rectangle 10">
            <a:extLst>
              <a:ext uri="{FF2B5EF4-FFF2-40B4-BE49-F238E27FC236}">
                <a16:creationId xmlns:a16="http://schemas.microsoft.com/office/drawing/2014/main" id="{156FB78B-3149-8426-05E2-C08D59E7C08D}"/>
              </a:ext>
            </a:extLst>
          </p:cNvPr>
          <p:cNvSpPr/>
          <p:nvPr/>
        </p:nvSpPr>
        <p:spPr>
          <a:xfrm>
            <a:off x="6786563" y="2228848"/>
            <a:ext cx="1385887"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9F6035A-9A3E-22A3-9B7D-F8D2328731D9}"/>
              </a:ext>
            </a:extLst>
          </p:cNvPr>
          <p:cNvSpPr txBox="1"/>
          <p:nvPr/>
        </p:nvSpPr>
        <p:spPr>
          <a:xfrm>
            <a:off x="3602692" y="3063705"/>
            <a:ext cx="8322610" cy="461665"/>
          </a:xfrm>
          <a:prstGeom prst="rect">
            <a:avLst/>
          </a:prstGeom>
          <a:noFill/>
        </p:spPr>
        <p:txBody>
          <a:bodyPr wrap="square">
            <a:spAutoFit/>
          </a:bodyPr>
          <a:lstStyle/>
          <a:p>
            <a:pPr algn="just"/>
            <a:r>
              <a:rPr lang="en-US" sz="2400" dirty="0">
                <a:latin typeface="Times" pitchFamily="2" charset="0"/>
              </a:rPr>
              <a:t>To do this, we will need his angular displacement (</a:t>
            </a:r>
            <a:r>
              <a:rPr lang="en-US" sz="2400" dirty="0" err="1">
                <a:latin typeface="Symbol" pitchFamily="2" charset="2"/>
              </a:rPr>
              <a:t>D</a:t>
            </a:r>
            <a:r>
              <a:rPr lang="en-US" sz="2400" i="1" dirty="0" err="1">
                <a:latin typeface="Symbol" pitchFamily="2" charset="2"/>
              </a:rPr>
              <a:t>q</a:t>
            </a:r>
            <a:r>
              <a:rPr lang="en-US" sz="2400" dirty="0">
                <a:latin typeface="Times" pitchFamily="2" charset="0"/>
              </a:rPr>
              <a:t>) in rad.  </a:t>
            </a:r>
          </a:p>
        </p:txBody>
      </p:sp>
      <p:sp>
        <p:nvSpPr>
          <p:cNvPr id="13" name="TextBox 12">
            <a:extLst>
              <a:ext uri="{FF2B5EF4-FFF2-40B4-BE49-F238E27FC236}">
                <a16:creationId xmlns:a16="http://schemas.microsoft.com/office/drawing/2014/main" id="{EC9F94DA-0837-77BC-EF11-70A2F0374696}"/>
              </a:ext>
            </a:extLst>
          </p:cNvPr>
          <p:cNvSpPr txBox="1"/>
          <p:nvPr/>
        </p:nvSpPr>
        <p:spPr>
          <a:xfrm>
            <a:off x="3626504" y="3501856"/>
            <a:ext cx="8322610" cy="830997"/>
          </a:xfrm>
          <a:prstGeom prst="rect">
            <a:avLst/>
          </a:prstGeom>
          <a:noFill/>
        </p:spPr>
        <p:txBody>
          <a:bodyPr wrap="square">
            <a:spAutoFit/>
          </a:bodyPr>
          <a:lstStyle/>
          <a:p>
            <a:pPr algn="just"/>
            <a:r>
              <a:rPr lang="en-US" sz="2400" dirty="0">
                <a:latin typeface="Times" pitchFamily="2" charset="0"/>
              </a:rPr>
              <a:t>However, the problem statement tells us his displacement in revolutions, so we need to make that conversion:</a:t>
            </a:r>
          </a:p>
        </p:txBody>
      </p:sp>
      <p:sp>
        <p:nvSpPr>
          <p:cNvPr id="14" name="Rounded Rectangle 13">
            <a:extLst>
              <a:ext uri="{FF2B5EF4-FFF2-40B4-BE49-F238E27FC236}">
                <a16:creationId xmlns:a16="http://schemas.microsoft.com/office/drawing/2014/main" id="{70A894A2-24E1-04DC-27A3-1C1ADAB084F4}"/>
              </a:ext>
            </a:extLst>
          </p:cNvPr>
          <p:cNvSpPr/>
          <p:nvPr/>
        </p:nvSpPr>
        <p:spPr>
          <a:xfrm>
            <a:off x="3757612" y="4476208"/>
            <a:ext cx="7043738" cy="8858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D09B45B-20C6-9D7E-48D8-1BE95F3EF456}"/>
              </a:ext>
            </a:extLst>
          </p:cNvPr>
          <p:cNvSpPr txBox="1"/>
          <p:nvPr/>
        </p:nvSpPr>
        <p:spPr>
          <a:xfrm>
            <a:off x="3626504" y="5587831"/>
            <a:ext cx="8322610" cy="830997"/>
          </a:xfrm>
          <a:prstGeom prst="rect">
            <a:avLst/>
          </a:prstGeom>
          <a:noFill/>
        </p:spPr>
        <p:txBody>
          <a:bodyPr wrap="square">
            <a:spAutoFit/>
          </a:bodyPr>
          <a:lstStyle/>
          <a:p>
            <a:pPr algn="just"/>
            <a:r>
              <a:rPr lang="en-US" sz="2400" dirty="0">
                <a:latin typeface="Times" pitchFamily="2" charset="0"/>
              </a:rPr>
              <a:t>The minus sign indicates his rotation direction is clockwise, as shown in the figure.</a:t>
            </a:r>
          </a:p>
        </p:txBody>
      </p:sp>
    </p:spTree>
    <p:extLst>
      <p:ext uri="{BB962C8B-B14F-4D97-AF65-F5344CB8AC3E}">
        <p14:creationId xmlns:p14="http://schemas.microsoft.com/office/powerpoint/2010/main" val="285307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dissolv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dissolve">
                                      <p:cBhvr>
                                        <p:cTn id="3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p:bldP spid="13" grpId="0"/>
      <p:bldP spid="14" grpId="0" animBg="1"/>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64FF2-115B-9C51-72CD-9B4C6F020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7047D-C0C5-073F-D04E-85B1F2592780}"/>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8.2</a:t>
            </a:r>
            <a:r>
              <a:rPr lang="en-US" dirty="0">
                <a:ea typeface="Calibri" charset="0"/>
                <a:cs typeface="Calibri" charset="0"/>
              </a:rPr>
              <a:t> Angular Velocity and Angular Acceleration</a:t>
            </a:r>
            <a:endParaRPr lang="en-US" sz="3000" dirty="0"/>
          </a:p>
        </p:txBody>
      </p:sp>
      <p:sp>
        <p:nvSpPr>
          <p:cNvPr id="25" name="TextBox 24">
            <a:extLst>
              <a:ext uri="{FF2B5EF4-FFF2-40B4-BE49-F238E27FC236}">
                <a16:creationId xmlns:a16="http://schemas.microsoft.com/office/drawing/2014/main" id="{BECB0C7B-BECB-521E-7330-E0764C487091}"/>
              </a:ext>
            </a:extLst>
          </p:cNvPr>
          <p:cNvSpPr txBox="1"/>
          <p:nvPr/>
        </p:nvSpPr>
        <p:spPr>
          <a:xfrm>
            <a:off x="938586" y="1109275"/>
            <a:ext cx="10228729" cy="461665"/>
          </a:xfrm>
          <a:prstGeom prst="rect">
            <a:avLst/>
          </a:prstGeom>
          <a:noFill/>
        </p:spPr>
        <p:txBody>
          <a:bodyPr wrap="square">
            <a:spAutoFit/>
          </a:bodyPr>
          <a:lstStyle/>
          <a:p>
            <a:pPr algn="just"/>
            <a:r>
              <a:rPr lang="en-US" sz="2400" dirty="0">
                <a:latin typeface="Times" pitchFamily="2" charset="0"/>
              </a:rPr>
              <a:t>We can now calculate his average angular velocity in rad/s:</a:t>
            </a:r>
          </a:p>
        </p:txBody>
      </p:sp>
      <p:sp>
        <p:nvSpPr>
          <p:cNvPr id="5" name="TextBox 4">
            <a:extLst>
              <a:ext uri="{FF2B5EF4-FFF2-40B4-BE49-F238E27FC236}">
                <a16:creationId xmlns:a16="http://schemas.microsoft.com/office/drawing/2014/main" id="{6C7F1617-4A89-0378-CBE7-EC55EEA19026}"/>
              </a:ext>
            </a:extLst>
          </p:cNvPr>
          <p:cNvSpPr txBox="1"/>
          <p:nvPr/>
        </p:nvSpPr>
        <p:spPr>
          <a:xfrm>
            <a:off x="925576" y="574541"/>
            <a:ext cx="8759947" cy="523220"/>
          </a:xfrm>
          <a:prstGeom prst="rect">
            <a:avLst/>
          </a:prstGeom>
          <a:noFill/>
        </p:spPr>
        <p:txBody>
          <a:bodyPr wrap="square" rtlCol="0">
            <a:spAutoFit/>
          </a:bodyPr>
          <a:lstStyle/>
          <a:p>
            <a:r>
              <a:rPr lang="en-US" sz="2800" dirty="0">
                <a:solidFill>
                  <a:srgbClr val="C00000"/>
                </a:solidFill>
                <a:latin typeface="Times" pitchFamily="2" charset="0"/>
              </a:rPr>
              <a:t>Example – Gymnast on a High Bar</a:t>
            </a:r>
          </a:p>
        </p:txBody>
      </p:sp>
      <p:pic>
        <p:nvPicPr>
          <p:cNvPr id="8" name="Picture 7">
            <a:extLst>
              <a:ext uri="{FF2B5EF4-FFF2-40B4-BE49-F238E27FC236}">
                <a16:creationId xmlns:a16="http://schemas.microsoft.com/office/drawing/2014/main" id="{14B4A906-2128-1BCD-60C8-6CBFAFD8C0DE}"/>
              </a:ext>
            </a:extLst>
          </p:cNvPr>
          <p:cNvPicPr>
            <a:picLocks noChangeAspect="1"/>
          </p:cNvPicPr>
          <p:nvPr/>
        </p:nvPicPr>
        <p:blipFill>
          <a:blip r:embed="rId3"/>
          <a:stretch>
            <a:fillRect/>
          </a:stretch>
        </p:blipFill>
        <p:spPr>
          <a:xfrm>
            <a:off x="0" y="2229195"/>
            <a:ext cx="3818965" cy="4186174"/>
          </a:xfrm>
          <a:prstGeom prst="rect">
            <a:avLst/>
          </a:prstGeom>
        </p:spPr>
      </p:pic>
      <p:sp>
        <p:nvSpPr>
          <p:cNvPr id="11" name="Rounded Rectangle 10">
            <a:extLst>
              <a:ext uri="{FF2B5EF4-FFF2-40B4-BE49-F238E27FC236}">
                <a16:creationId xmlns:a16="http://schemas.microsoft.com/office/drawing/2014/main" id="{5C4D73E6-AC6B-6C00-67E7-29F4C739050D}"/>
              </a:ext>
            </a:extLst>
          </p:cNvPr>
          <p:cNvSpPr/>
          <p:nvPr/>
        </p:nvSpPr>
        <p:spPr>
          <a:xfrm>
            <a:off x="3721630" y="1703914"/>
            <a:ext cx="4948237"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258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1552C-17CA-043E-8B88-0A1BD568B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C07B9-DADA-E364-38E5-6FDEF7246097}"/>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8.2</a:t>
            </a:r>
            <a:r>
              <a:rPr lang="en-US" dirty="0">
                <a:ea typeface="Calibri" charset="0"/>
                <a:cs typeface="Calibri" charset="0"/>
              </a:rPr>
              <a:t> Angular Velocity and Angular Acceleration</a:t>
            </a:r>
            <a:endParaRPr lang="en-US" sz="3000" dirty="0"/>
          </a:p>
        </p:txBody>
      </p:sp>
      <p:sp>
        <p:nvSpPr>
          <p:cNvPr id="7" name="TextBox 6">
            <a:extLst>
              <a:ext uri="{FF2B5EF4-FFF2-40B4-BE49-F238E27FC236}">
                <a16:creationId xmlns:a16="http://schemas.microsoft.com/office/drawing/2014/main" id="{DFB7A072-57AD-22A6-AEBB-8D3283430246}"/>
              </a:ext>
            </a:extLst>
          </p:cNvPr>
          <p:cNvSpPr txBox="1"/>
          <p:nvPr/>
        </p:nvSpPr>
        <p:spPr>
          <a:xfrm>
            <a:off x="931335" y="602067"/>
            <a:ext cx="4063998" cy="523220"/>
          </a:xfrm>
          <a:prstGeom prst="rect">
            <a:avLst/>
          </a:prstGeom>
          <a:noFill/>
        </p:spPr>
        <p:txBody>
          <a:bodyPr wrap="square">
            <a:spAutoFit/>
          </a:bodyPr>
          <a:lstStyle/>
          <a:p>
            <a:pPr algn="just"/>
            <a:r>
              <a:rPr lang="en-US" sz="2800" dirty="0">
                <a:solidFill>
                  <a:srgbClr val="007440"/>
                </a:solidFill>
                <a:latin typeface="Times" pitchFamily="2" charset="0"/>
              </a:rPr>
              <a:t>Angular Acceleration</a:t>
            </a:r>
          </a:p>
        </p:txBody>
      </p:sp>
      <p:sp>
        <p:nvSpPr>
          <p:cNvPr id="9" name="TextBox 8">
            <a:extLst>
              <a:ext uri="{FF2B5EF4-FFF2-40B4-BE49-F238E27FC236}">
                <a16:creationId xmlns:a16="http://schemas.microsoft.com/office/drawing/2014/main" id="{EC8BD9A6-3F67-E604-0CDB-05F36F0564F9}"/>
              </a:ext>
            </a:extLst>
          </p:cNvPr>
          <p:cNvSpPr txBox="1"/>
          <p:nvPr/>
        </p:nvSpPr>
        <p:spPr>
          <a:xfrm>
            <a:off x="948267" y="1083733"/>
            <a:ext cx="10634133" cy="830997"/>
          </a:xfrm>
          <a:prstGeom prst="rect">
            <a:avLst/>
          </a:prstGeom>
          <a:noFill/>
        </p:spPr>
        <p:txBody>
          <a:bodyPr wrap="square" rtlCol="0">
            <a:spAutoFit/>
          </a:bodyPr>
          <a:lstStyle/>
          <a:p>
            <a:r>
              <a:rPr lang="en-US" sz="2400" dirty="0">
                <a:latin typeface="Times" pitchFamily="2" charset="0"/>
              </a:rPr>
              <a:t>In Chapter 05, we studied uniform circular motion, in which an object moved along a circular path at constant angular velocity (i.e. constant </a:t>
            </a:r>
            <a:r>
              <a:rPr lang="en-US" sz="2400" i="1" dirty="0">
                <a:latin typeface="Symbol" pitchFamily="2" charset="2"/>
              </a:rPr>
              <a:t>w</a:t>
            </a:r>
            <a:r>
              <a:rPr lang="en-US" sz="2400" dirty="0">
                <a:latin typeface="Times" pitchFamily="2" charset="0"/>
              </a:rPr>
              <a:t>).</a:t>
            </a:r>
          </a:p>
        </p:txBody>
      </p:sp>
      <p:grpSp>
        <p:nvGrpSpPr>
          <p:cNvPr id="15" name="Group 14">
            <a:extLst>
              <a:ext uri="{FF2B5EF4-FFF2-40B4-BE49-F238E27FC236}">
                <a16:creationId xmlns:a16="http://schemas.microsoft.com/office/drawing/2014/main" id="{870D07DF-17EF-B27B-6D66-EF16C82E0CD2}"/>
              </a:ext>
            </a:extLst>
          </p:cNvPr>
          <p:cNvGrpSpPr/>
          <p:nvPr/>
        </p:nvGrpSpPr>
        <p:grpSpPr>
          <a:xfrm>
            <a:off x="220134" y="1896532"/>
            <a:ext cx="12192000" cy="830997"/>
            <a:chOff x="0" y="2235199"/>
            <a:chExt cx="12192000" cy="830997"/>
          </a:xfrm>
        </p:grpSpPr>
        <p:sp>
          <p:nvSpPr>
            <p:cNvPr id="12" name="TextBox 11">
              <a:extLst>
                <a:ext uri="{FF2B5EF4-FFF2-40B4-BE49-F238E27FC236}">
                  <a16:creationId xmlns:a16="http://schemas.microsoft.com/office/drawing/2014/main" id="{3DD2D2A2-691B-4154-D7F9-907F2485F1F7}"/>
                </a:ext>
              </a:extLst>
            </p:cNvPr>
            <p:cNvSpPr txBox="1"/>
            <p:nvPr/>
          </p:nvSpPr>
          <p:spPr>
            <a:xfrm>
              <a:off x="0" y="2235199"/>
              <a:ext cx="12192000" cy="830997"/>
            </a:xfrm>
            <a:prstGeom prst="rect">
              <a:avLst/>
            </a:prstGeom>
            <a:noFill/>
          </p:spPr>
          <p:txBody>
            <a:bodyPr wrap="square" rtlCol="0">
              <a:spAutoFit/>
            </a:bodyPr>
            <a:lstStyle/>
            <a:p>
              <a:r>
                <a:rPr lang="en-US" sz="2400" dirty="0">
                  <a:latin typeface="Times" pitchFamily="2" charset="0"/>
                </a:rPr>
                <a:t>Although its speed remained constant, its direction was continually changing, so the object was accelerating.  We called this inward acceleration the                                                 .</a:t>
              </a:r>
            </a:p>
          </p:txBody>
        </p:sp>
        <p:sp>
          <p:nvSpPr>
            <p:cNvPr id="13" name="Rounded Rectangle 12">
              <a:extLst>
                <a:ext uri="{FF2B5EF4-FFF2-40B4-BE49-F238E27FC236}">
                  <a16:creationId xmlns:a16="http://schemas.microsoft.com/office/drawing/2014/main" id="{8D1ED149-BE7B-5586-497F-2939F7103F89}"/>
                </a:ext>
              </a:extLst>
            </p:cNvPr>
            <p:cNvSpPr/>
            <p:nvPr/>
          </p:nvSpPr>
          <p:spPr>
            <a:xfrm>
              <a:off x="6468532" y="2641598"/>
              <a:ext cx="3572934" cy="3894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4177EEDA-90E1-9CFE-CA7E-80B4743A5C1D}"/>
              </a:ext>
            </a:extLst>
          </p:cNvPr>
          <p:cNvSpPr txBox="1"/>
          <p:nvPr/>
        </p:nvSpPr>
        <p:spPr>
          <a:xfrm>
            <a:off x="1016002" y="2743205"/>
            <a:ext cx="10634133" cy="830997"/>
          </a:xfrm>
          <a:prstGeom prst="rect">
            <a:avLst/>
          </a:prstGeom>
          <a:noFill/>
        </p:spPr>
        <p:txBody>
          <a:bodyPr wrap="square" rtlCol="0">
            <a:spAutoFit/>
          </a:bodyPr>
          <a:lstStyle/>
          <a:p>
            <a:r>
              <a:rPr lang="en-US" sz="2400" dirty="0">
                <a:latin typeface="Times" pitchFamily="2" charset="0"/>
              </a:rPr>
              <a:t>Now we remove the requirement that the angular velocity remains constant, i.e. the object may spin faster or slower as it rotates.</a:t>
            </a:r>
          </a:p>
        </p:txBody>
      </p:sp>
      <p:grpSp>
        <p:nvGrpSpPr>
          <p:cNvPr id="20" name="Group 19">
            <a:extLst>
              <a:ext uri="{FF2B5EF4-FFF2-40B4-BE49-F238E27FC236}">
                <a16:creationId xmlns:a16="http://schemas.microsoft.com/office/drawing/2014/main" id="{184D54F2-9787-0C05-7D75-1FB4219FC815}"/>
              </a:ext>
            </a:extLst>
          </p:cNvPr>
          <p:cNvGrpSpPr/>
          <p:nvPr/>
        </p:nvGrpSpPr>
        <p:grpSpPr>
          <a:xfrm>
            <a:off x="254002" y="3505207"/>
            <a:ext cx="12191998" cy="474131"/>
            <a:chOff x="389468" y="2269070"/>
            <a:chExt cx="11548532" cy="474131"/>
          </a:xfrm>
        </p:grpSpPr>
        <p:sp>
          <p:nvSpPr>
            <p:cNvPr id="17" name="TextBox 16">
              <a:extLst>
                <a:ext uri="{FF2B5EF4-FFF2-40B4-BE49-F238E27FC236}">
                  <a16:creationId xmlns:a16="http://schemas.microsoft.com/office/drawing/2014/main" id="{51A4867E-B581-D419-6961-205B6A2504FB}"/>
                </a:ext>
              </a:extLst>
            </p:cNvPr>
            <p:cNvSpPr txBox="1"/>
            <p:nvPr/>
          </p:nvSpPr>
          <p:spPr>
            <a:xfrm>
              <a:off x="389468" y="2269070"/>
              <a:ext cx="11548532" cy="461665"/>
            </a:xfrm>
            <a:prstGeom prst="rect">
              <a:avLst/>
            </a:prstGeom>
            <a:noFill/>
          </p:spPr>
          <p:txBody>
            <a:bodyPr wrap="square" rtlCol="0">
              <a:spAutoFit/>
            </a:bodyPr>
            <a:lstStyle/>
            <a:p>
              <a:r>
                <a:rPr lang="en-US" sz="2400" dirty="0">
                  <a:latin typeface="Times" pitchFamily="2" charset="0"/>
                </a:rPr>
                <a:t>A change in </a:t>
              </a:r>
              <a:r>
                <a:rPr lang="en-US" sz="2400" dirty="0">
                  <a:solidFill>
                    <a:srgbClr val="007440"/>
                  </a:solidFill>
                  <a:latin typeface="Times" pitchFamily="2" charset="0"/>
                </a:rPr>
                <a:t>angular velocity </a:t>
              </a:r>
              <a:r>
                <a:rPr lang="en-US" sz="2400" dirty="0">
                  <a:latin typeface="Times" pitchFamily="2" charset="0"/>
                </a:rPr>
                <a:t>gives rise to a new quantity called the                                           .        </a:t>
              </a:r>
            </a:p>
          </p:txBody>
        </p:sp>
        <p:sp>
          <p:nvSpPr>
            <p:cNvPr id="19" name="Rounded Rectangle 18">
              <a:extLst>
                <a:ext uri="{FF2B5EF4-FFF2-40B4-BE49-F238E27FC236}">
                  <a16:creationId xmlns:a16="http://schemas.microsoft.com/office/drawing/2014/main" id="{3A0A0F84-249B-B937-6891-B296B3BCDEA1}"/>
                </a:ext>
              </a:extLst>
            </p:cNvPr>
            <p:cNvSpPr/>
            <p:nvPr/>
          </p:nvSpPr>
          <p:spPr>
            <a:xfrm>
              <a:off x="8227814" y="2302934"/>
              <a:ext cx="3004442" cy="440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3C65DE37-CD8C-F799-DFBF-398BEAD64E91}"/>
              </a:ext>
            </a:extLst>
          </p:cNvPr>
          <p:cNvGrpSpPr/>
          <p:nvPr/>
        </p:nvGrpSpPr>
        <p:grpSpPr>
          <a:xfrm>
            <a:off x="125506" y="4525384"/>
            <a:ext cx="11940988" cy="1857487"/>
            <a:chOff x="409687" y="792480"/>
            <a:chExt cx="11940988" cy="1857487"/>
          </a:xfrm>
        </p:grpSpPr>
        <p:sp>
          <p:nvSpPr>
            <p:cNvPr id="24" name="TextBox 23">
              <a:extLst>
                <a:ext uri="{FF2B5EF4-FFF2-40B4-BE49-F238E27FC236}">
                  <a16:creationId xmlns:a16="http://schemas.microsoft.com/office/drawing/2014/main" id="{D742425F-CCA4-6424-F769-5F7A3552D212}"/>
                </a:ext>
              </a:extLst>
            </p:cNvPr>
            <p:cNvSpPr txBox="1"/>
            <p:nvPr/>
          </p:nvSpPr>
          <p:spPr>
            <a:xfrm>
              <a:off x="492238" y="830133"/>
              <a:ext cx="11243992" cy="1200329"/>
            </a:xfrm>
            <a:prstGeom prst="rect">
              <a:avLst/>
            </a:prstGeom>
            <a:noFill/>
          </p:spPr>
          <p:txBody>
            <a:bodyPr wrap="square" rtlCol="0">
              <a:spAutoFit/>
            </a:bodyPr>
            <a:lstStyle/>
            <a:p>
              <a:r>
                <a:rPr lang="en-US" sz="2400" dirty="0">
                  <a:solidFill>
                    <a:srgbClr val="C00000"/>
                  </a:solidFill>
                  <a:latin typeface="Times" pitchFamily="2" charset="0"/>
                </a:rPr>
                <a:t>DEFINITION OF AVERAGE ANGULAR ACCELERATION</a:t>
              </a:r>
            </a:p>
            <a:p>
              <a:endParaRPr lang="en-US" sz="2400" dirty="0">
                <a:latin typeface="Times" pitchFamily="2" charset="0"/>
              </a:endParaRPr>
            </a:p>
            <a:p>
              <a:r>
                <a:rPr lang="en-US" sz="2400" dirty="0">
                  <a:latin typeface="Times" pitchFamily="2" charset="0"/>
                </a:rPr>
                <a:t>									</a:t>
              </a:r>
            </a:p>
          </p:txBody>
        </p:sp>
        <p:sp>
          <p:nvSpPr>
            <p:cNvPr id="26" name="Rectangle 25">
              <a:extLst>
                <a:ext uri="{FF2B5EF4-FFF2-40B4-BE49-F238E27FC236}">
                  <a16:creationId xmlns:a16="http://schemas.microsoft.com/office/drawing/2014/main" id="{E5DD5244-58D7-7236-BF54-0C2E452792B5}"/>
                </a:ext>
              </a:extLst>
            </p:cNvPr>
            <p:cNvSpPr/>
            <p:nvPr/>
          </p:nvSpPr>
          <p:spPr>
            <a:xfrm>
              <a:off x="409687" y="792480"/>
              <a:ext cx="11940988" cy="18574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extBox 27">
            <a:extLst>
              <a:ext uri="{FF2B5EF4-FFF2-40B4-BE49-F238E27FC236}">
                <a16:creationId xmlns:a16="http://schemas.microsoft.com/office/drawing/2014/main" id="{4D51700E-BEB2-365C-79FE-5BA60C39E71F}"/>
              </a:ext>
            </a:extLst>
          </p:cNvPr>
          <p:cNvSpPr txBox="1"/>
          <p:nvPr/>
        </p:nvSpPr>
        <p:spPr>
          <a:xfrm>
            <a:off x="11294133" y="5151159"/>
            <a:ext cx="1184737" cy="461665"/>
          </a:xfrm>
          <a:prstGeom prst="rect">
            <a:avLst/>
          </a:prstGeom>
          <a:noFill/>
        </p:spPr>
        <p:txBody>
          <a:bodyPr wrap="square">
            <a:spAutoFit/>
          </a:bodyPr>
          <a:lstStyle/>
          <a:p>
            <a:pPr algn="just"/>
            <a:r>
              <a:rPr lang="en-US" sz="2400" dirty="0">
                <a:latin typeface="Times" pitchFamily="2" charset="0"/>
              </a:rPr>
              <a:t>(</a:t>
            </a:r>
            <a:r>
              <a:rPr lang="en-US" sz="2400" b="1" dirty="0">
                <a:latin typeface="Times" pitchFamily="2" charset="0"/>
              </a:rPr>
              <a:t>8.4</a:t>
            </a:r>
            <a:r>
              <a:rPr lang="en-US" sz="2400" dirty="0">
                <a:latin typeface="Times" pitchFamily="2" charset="0"/>
              </a:rPr>
              <a:t>)</a:t>
            </a:r>
          </a:p>
        </p:txBody>
      </p:sp>
      <p:sp>
        <p:nvSpPr>
          <p:cNvPr id="29" name="TextBox 28">
            <a:extLst>
              <a:ext uri="{FF2B5EF4-FFF2-40B4-BE49-F238E27FC236}">
                <a16:creationId xmlns:a16="http://schemas.microsoft.com/office/drawing/2014/main" id="{C0370C0A-38D2-8414-5845-00232F138CDF}"/>
              </a:ext>
            </a:extLst>
          </p:cNvPr>
          <p:cNvSpPr txBox="1"/>
          <p:nvPr/>
        </p:nvSpPr>
        <p:spPr>
          <a:xfrm>
            <a:off x="380999" y="5937356"/>
            <a:ext cx="10439401" cy="461665"/>
          </a:xfrm>
          <a:prstGeom prst="rect">
            <a:avLst/>
          </a:prstGeom>
          <a:noFill/>
        </p:spPr>
        <p:txBody>
          <a:bodyPr wrap="square">
            <a:spAutoFit/>
          </a:bodyPr>
          <a:lstStyle/>
          <a:p>
            <a:r>
              <a:rPr lang="en-US" sz="2400" b="1" dirty="0">
                <a:latin typeface="Times" pitchFamily="2" charset="0"/>
              </a:rPr>
              <a:t>SI Unit of Angular Acceleration: radian per second squared (rad/s</a:t>
            </a:r>
            <a:r>
              <a:rPr lang="en-US" sz="2400" b="1" baseline="30000" dirty="0">
                <a:latin typeface="Times" pitchFamily="2" charset="0"/>
              </a:rPr>
              <a:t>2</a:t>
            </a:r>
            <a:r>
              <a:rPr lang="en-US" sz="2400" b="1" dirty="0">
                <a:latin typeface="Times" pitchFamily="2" charset="0"/>
              </a:rPr>
              <a:t>)</a:t>
            </a:r>
          </a:p>
        </p:txBody>
      </p:sp>
      <p:pic>
        <p:nvPicPr>
          <p:cNvPr id="30" name="Picture 29">
            <a:extLst>
              <a:ext uri="{FF2B5EF4-FFF2-40B4-BE49-F238E27FC236}">
                <a16:creationId xmlns:a16="http://schemas.microsoft.com/office/drawing/2014/main" id="{D21D2B4D-0FB1-B500-04D9-32E48B143F21}"/>
              </a:ext>
            </a:extLst>
          </p:cNvPr>
          <p:cNvPicPr>
            <a:picLocks noChangeAspect="1"/>
          </p:cNvPicPr>
          <p:nvPr/>
        </p:nvPicPr>
        <p:blipFill>
          <a:blip r:embed="rId3"/>
          <a:stretch>
            <a:fillRect/>
          </a:stretch>
        </p:blipFill>
        <p:spPr>
          <a:xfrm>
            <a:off x="296333" y="5076082"/>
            <a:ext cx="7772400" cy="702102"/>
          </a:xfrm>
          <a:prstGeom prst="rect">
            <a:avLst/>
          </a:prstGeom>
        </p:spPr>
      </p:pic>
      <p:pic>
        <p:nvPicPr>
          <p:cNvPr id="31" name="Picture 30">
            <a:extLst>
              <a:ext uri="{FF2B5EF4-FFF2-40B4-BE49-F238E27FC236}">
                <a16:creationId xmlns:a16="http://schemas.microsoft.com/office/drawing/2014/main" id="{EB30AB2F-126C-3CCE-BF2F-E8E169CE468F}"/>
              </a:ext>
            </a:extLst>
          </p:cNvPr>
          <p:cNvPicPr>
            <a:picLocks noChangeAspect="1"/>
          </p:cNvPicPr>
          <p:nvPr/>
        </p:nvPicPr>
        <p:blipFill>
          <a:blip r:embed="rId4"/>
          <a:stretch>
            <a:fillRect/>
          </a:stretch>
        </p:blipFill>
        <p:spPr>
          <a:xfrm>
            <a:off x="8255000" y="5065183"/>
            <a:ext cx="2794000" cy="723900"/>
          </a:xfrm>
          <a:prstGeom prst="rect">
            <a:avLst/>
          </a:prstGeom>
        </p:spPr>
      </p:pic>
      <p:sp>
        <p:nvSpPr>
          <p:cNvPr id="32" name="TextBox 31">
            <a:extLst>
              <a:ext uri="{FF2B5EF4-FFF2-40B4-BE49-F238E27FC236}">
                <a16:creationId xmlns:a16="http://schemas.microsoft.com/office/drawing/2014/main" id="{58EF3DFE-1E46-200B-8D68-173F9135C395}"/>
              </a:ext>
            </a:extLst>
          </p:cNvPr>
          <p:cNvSpPr txBox="1"/>
          <p:nvPr/>
        </p:nvSpPr>
        <p:spPr>
          <a:xfrm>
            <a:off x="1828802" y="4013207"/>
            <a:ext cx="9414931" cy="461665"/>
          </a:xfrm>
          <a:prstGeom prst="rect">
            <a:avLst/>
          </a:prstGeom>
          <a:noFill/>
        </p:spPr>
        <p:txBody>
          <a:bodyPr wrap="square" rtlCol="0">
            <a:spAutoFit/>
          </a:bodyPr>
          <a:lstStyle/>
          <a:p>
            <a:r>
              <a:rPr lang="en-US" sz="2400" dirty="0">
                <a:latin typeface="Times" pitchFamily="2" charset="0"/>
              </a:rPr>
              <a:t>The </a:t>
            </a:r>
            <a:r>
              <a:rPr lang="en-US" sz="2400" dirty="0">
                <a:solidFill>
                  <a:srgbClr val="007440"/>
                </a:solidFill>
                <a:latin typeface="Times" pitchFamily="2" charset="0"/>
              </a:rPr>
              <a:t>angular acceleration </a:t>
            </a:r>
            <a:r>
              <a:rPr lang="en-US" sz="2400" dirty="0">
                <a:latin typeface="Times" pitchFamily="2" charset="0"/>
              </a:rPr>
              <a:t>is denoted by the Greek letter “alpha” (</a:t>
            </a:r>
            <a:r>
              <a:rPr lang="en-US" sz="2400" i="1" dirty="0">
                <a:latin typeface="Symbol" pitchFamily="2" charset="2"/>
              </a:rPr>
              <a:t>a</a:t>
            </a:r>
            <a:r>
              <a:rPr lang="en-US" sz="2400" dirty="0">
                <a:latin typeface="Times" pitchFamily="2" charset="0"/>
              </a:rPr>
              <a:t>).</a:t>
            </a:r>
          </a:p>
        </p:txBody>
      </p:sp>
    </p:spTree>
    <p:extLst>
      <p:ext uri="{BB962C8B-B14F-4D97-AF65-F5344CB8AC3E}">
        <p14:creationId xmlns:p14="http://schemas.microsoft.com/office/powerpoint/2010/main" val="168768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dissolv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dissolv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dissolve">
                                      <p:cBhvr>
                                        <p:cTn id="42" dur="500"/>
                                        <p:tgtEl>
                                          <p:spTgt spid="31"/>
                                        </p:tgtEl>
                                      </p:cBhvr>
                                    </p:animEffect>
                                  </p:childTnLst>
                                </p:cTn>
                              </p:par>
                            </p:childTnLst>
                          </p:cTn>
                        </p:par>
                        <p:par>
                          <p:cTn id="43" fill="hold">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dissolve">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dissolve">
                                      <p:cBhvr>
                                        <p:cTn id="5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28" grpId="0"/>
      <p:bldP spid="29" grpId="0"/>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C442F-A872-5CE5-B339-0AE71CF10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EAC6A-6EF0-88BD-7256-2DDB20044F29}"/>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8.2</a:t>
            </a:r>
            <a:r>
              <a:rPr lang="en-US" dirty="0">
                <a:ea typeface="Calibri" charset="0"/>
                <a:cs typeface="Calibri" charset="0"/>
              </a:rPr>
              <a:t> Angular Velocity and Angular Acceleration</a:t>
            </a:r>
            <a:endParaRPr lang="en-US" sz="3000" dirty="0"/>
          </a:p>
        </p:txBody>
      </p:sp>
      <p:sp>
        <p:nvSpPr>
          <p:cNvPr id="3" name="TextBox 2">
            <a:extLst>
              <a:ext uri="{FF2B5EF4-FFF2-40B4-BE49-F238E27FC236}">
                <a16:creationId xmlns:a16="http://schemas.microsoft.com/office/drawing/2014/main" id="{2D16C735-1D10-80CD-1459-39FAB3F69ED2}"/>
              </a:ext>
            </a:extLst>
          </p:cNvPr>
          <p:cNvSpPr txBox="1"/>
          <p:nvPr/>
        </p:nvSpPr>
        <p:spPr>
          <a:xfrm>
            <a:off x="948267" y="846666"/>
            <a:ext cx="10634133" cy="461665"/>
          </a:xfrm>
          <a:prstGeom prst="rect">
            <a:avLst/>
          </a:prstGeom>
          <a:noFill/>
        </p:spPr>
        <p:txBody>
          <a:bodyPr wrap="square" rtlCol="0">
            <a:spAutoFit/>
          </a:bodyPr>
          <a:lstStyle/>
          <a:p>
            <a:r>
              <a:rPr lang="en-US" sz="2400" dirty="0">
                <a:latin typeface="Times" pitchFamily="2" charset="0"/>
              </a:rPr>
              <a:t>In Chapters 02 and 03, we assumed that the linear acceleration (</a:t>
            </a:r>
            <a:r>
              <a:rPr lang="en-US" sz="2400" b="1" i="1" dirty="0">
                <a:latin typeface="Times" pitchFamily="2" charset="0"/>
              </a:rPr>
              <a:t>a</a:t>
            </a:r>
            <a:r>
              <a:rPr lang="en-US" sz="2400" dirty="0">
                <a:latin typeface="Times" pitchFamily="2" charset="0"/>
              </a:rPr>
              <a:t>) was constant.  </a:t>
            </a:r>
          </a:p>
        </p:txBody>
      </p:sp>
      <p:sp>
        <p:nvSpPr>
          <p:cNvPr id="4" name="TextBox 3">
            <a:extLst>
              <a:ext uri="{FF2B5EF4-FFF2-40B4-BE49-F238E27FC236}">
                <a16:creationId xmlns:a16="http://schemas.microsoft.com/office/drawing/2014/main" id="{A20A41F5-9DD8-EFB1-9D0D-FB433442AC77}"/>
              </a:ext>
            </a:extLst>
          </p:cNvPr>
          <p:cNvSpPr txBox="1"/>
          <p:nvPr/>
        </p:nvSpPr>
        <p:spPr>
          <a:xfrm>
            <a:off x="948267" y="1710266"/>
            <a:ext cx="10634133" cy="830997"/>
          </a:xfrm>
          <a:prstGeom prst="rect">
            <a:avLst/>
          </a:prstGeom>
          <a:noFill/>
        </p:spPr>
        <p:txBody>
          <a:bodyPr wrap="square" rtlCol="0">
            <a:spAutoFit/>
          </a:bodyPr>
          <a:lstStyle/>
          <a:p>
            <a:r>
              <a:rPr lang="en-US" sz="2400" dirty="0">
                <a:latin typeface="Times" pitchFamily="2" charset="0"/>
              </a:rPr>
              <a:t>Here, we assume a similar condition and only consider motion with constant angular acceleration (</a:t>
            </a:r>
            <a:r>
              <a:rPr lang="en-US" sz="2400" b="1" i="1" dirty="0">
                <a:latin typeface="Symbol" pitchFamily="2" charset="2"/>
              </a:rPr>
              <a:t>a</a:t>
            </a:r>
            <a:r>
              <a:rPr lang="en-US" sz="2400" dirty="0">
                <a:latin typeface="Times" pitchFamily="2" charset="0"/>
              </a:rPr>
              <a:t>). </a:t>
            </a:r>
          </a:p>
        </p:txBody>
      </p:sp>
      <p:sp>
        <p:nvSpPr>
          <p:cNvPr id="5" name="TextBox 4">
            <a:extLst>
              <a:ext uri="{FF2B5EF4-FFF2-40B4-BE49-F238E27FC236}">
                <a16:creationId xmlns:a16="http://schemas.microsoft.com/office/drawing/2014/main" id="{5ECB6290-CE49-5CEE-CDB9-D6284CB4A4AD}"/>
              </a:ext>
            </a:extLst>
          </p:cNvPr>
          <p:cNvSpPr txBox="1"/>
          <p:nvPr/>
        </p:nvSpPr>
        <p:spPr>
          <a:xfrm>
            <a:off x="950026" y="3035487"/>
            <a:ext cx="10225974" cy="830997"/>
          </a:xfrm>
          <a:prstGeom prst="rect">
            <a:avLst/>
          </a:prstGeom>
          <a:noFill/>
        </p:spPr>
        <p:txBody>
          <a:bodyPr wrap="square">
            <a:spAutoFit/>
          </a:bodyPr>
          <a:lstStyle/>
          <a:p>
            <a:pPr algn="just">
              <a:spcBef>
                <a:spcPct val="50000"/>
              </a:spcBef>
            </a:pPr>
            <a:r>
              <a:rPr lang="en-US" altLang="en-US" sz="2400" dirty="0">
                <a:latin typeface="Times" pitchFamily="2" charset="0"/>
              </a:rPr>
              <a:t>And like we did for linear motion, where we defined the </a:t>
            </a:r>
            <a:r>
              <a:rPr lang="en-US" altLang="en-US" sz="2400" i="1" dirty="0">
                <a:latin typeface="Times" pitchFamily="2" charset="0"/>
              </a:rPr>
              <a:t>instantaneous acceleration</a:t>
            </a:r>
            <a:r>
              <a:rPr lang="en-US" altLang="en-US" sz="2400" dirty="0">
                <a:latin typeface="Times" pitchFamily="2" charset="0"/>
              </a:rPr>
              <a:t>, we can also define the </a:t>
            </a:r>
            <a:r>
              <a:rPr lang="en-US" altLang="en-US" sz="2400" dirty="0">
                <a:solidFill>
                  <a:srgbClr val="007440"/>
                </a:solidFill>
                <a:latin typeface="Times" pitchFamily="2" charset="0"/>
              </a:rPr>
              <a:t>instantaneous angular acceleration (</a:t>
            </a:r>
            <a:r>
              <a:rPr lang="en-US" altLang="en-US" sz="2400" i="1" dirty="0" err="1">
                <a:solidFill>
                  <a:srgbClr val="007440"/>
                </a:solidFill>
                <a:latin typeface="Symbol" pitchFamily="2" charset="2"/>
              </a:rPr>
              <a:t>a</a:t>
            </a:r>
            <a:r>
              <a:rPr lang="en-US" altLang="en-US" sz="2400" baseline="-25000" dirty="0" err="1">
                <a:solidFill>
                  <a:srgbClr val="007440"/>
                </a:solidFill>
                <a:latin typeface="Times" pitchFamily="2" charset="0"/>
              </a:rPr>
              <a:t>ins</a:t>
            </a:r>
            <a:r>
              <a:rPr lang="en-US" altLang="en-US" sz="2400" dirty="0">
                <a:solidFill>
                  <a:srgbClr val="007440"/>
                </a:solidFill>
                <a:latin typeface="Times" pitchFamily="2" charset="0"/>
              </a:rPr>
              <a:t>)</a:t>
            </a:r>
            <a:r>
              <a:rPr lang="en-US" altLang="en-US" sz="2400" dirty="0">
                <a:latin typeface="Times" pitchFamily="2" charset="0"/>
              </a:rPr>
              <a:t>:</a:t>
            </a:r>
          </a:p>
        </p:txBody>
      </p:sp>
      <p:graphicFrame>
        <p:nvGraphicFramePr>
          <p:cNvPr id="10" name="Object 14">
            <a:extLst>
              <a:ext uri="{FF2B5EF4-FFF2-40B4-BE49-F238E27FC236}">
                <a16:creationId xmlns:a16="http://schemas.microsoft.com/office/drawing/2014/main" id="{6DC2577A-7CA3-70DB-6303-3466AD890CB9}"/>
              </a:ext>
            </a:extLst>
          </p:cNvPr>
          <p:cNvGraphicFramePr>
            <a:graphicFrameLocks noChangeAspect="1"/>
          </p:cNvGraphicFramePr>
          <p:nvPr>
            <p:extLst>
              <p:ext uri="{D42A27DB-BD31-4B8C-83A1-F6EECF244321}">
                <p14:modId xmlns:p14="http://schemas.microsoft.com/office/powerpoint/2010/main" val="1817663866"/>
              </p:ext>
            </p:extLst>
          </p:nvPr>
        </p:nvGraphicFramePr>
        <p:xfrm>
          <a:off x="4902200" y="4047065"/>
          <a:ext cx="1969744" cy="872597"/>
        </p:xfrm>
        <a:graphic>
          <a:graphicData uri="http://schemas.openxmlformats.org/presentationml/2006/ole">
            <mc:AlternateContent xmlns:mc="http://schemas.openxmlformats.org/markup-compatibility/2006">
              <mc:Choice xmlns:v="urn:schemas-microsoft-com:vml" Requires="v">
                <p:oleObj name="Microsoft Equation 3.0" r:id="rId3" imgW="20485100" imgH="9067800" progId="Equation.DSMT4">
                  <p:embed/>
                </p:oleObj>
              </mc:Choice>
              <mc:Fallback>
                <p:oleObj name="Microsoft Equation 3.0" r:id="rId3" imgW="20485100" imgH="9067800" progId="Equation.DSMT4">
                  <p:embed/>
                  <p:pic>
                    <p:nvPicPr>
                      <p:cNvPr id="12302" name="Object 14">
                        <a:extLst>
                          <a:ext uri="{FF2B5EF4-FFF2-40B4-BE49-F238E27FC236}">
                            <a16:creationId xmlns:a16="http://schemas.microsoft.com/office/drawing/2014/main" id="{9DDF7678-5F62-0FEE-BCB6-579DAC865F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2200" y="4047065"/>
                        <a:ext cx="1969744" cy="87259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9343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par>
                          <p:cTn id="18" fill="hold">
                            <p:stCondLst>
                              <p:cond delay="500"/>
                            </p:stCondLst>
                            <p:childTnLst>
                              <p:par>
                                <p:cTn id="19" presetID="4" presetClass="entr" presetSubtype="16"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ox(in)">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AB639-8218-A05B-222F-CBAA54A28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4A53F-A084-3F3B-D8CD-DF9EED516310}"/>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8.2</a:t>
            </a:r>
            <a:r>
              <a:rPr lang="en-US" dirty="0">
                <a:ea typeface="Calibri" charset="0"/>
                <a:cs typeface="Calibri" charset="0"/>
              </a:rPr>
              <a:t> Angular Velocity and Angular Acceleration</a:t>
            </a:r>
            <a:endParaRPr lang="en-US" sz="3000" dirty="0"/>
          </a:p>
        </p:txBody>
      </p:sp>
      <p:sp>
        <p:nvSpPr>
          <p:cNvPr id="6" name="TextBox 5">
            <a:extLst>
              <a:ext uri="{FF2B5EF4-FFF2-40B4-BE49-F238E27FC236}">
                <a16:creationId xmlns:a16="http://schemas.microsoft.com/office/drawing/2014/main" id="{2C239198-84F0-52CC-1A4E-AE4CAA46394A}"/>
              </a:ext>
            </a:extLst>
          </p:cNvPr>
          <p:cNvSpPr txBox="1"/>
          <p:nvPr/>
        </p:nvSpPr>
        <p:spPr>
          <a:xfrm>
            <a:off x="4080933" y="1210875"/>
            <a:ext cx="7949982" cy="3046988"/>
          </a:xfrm>
          <a:prstGeom prst="rect">
            <a:avLst/>
          </a:prstGeom>
          <a:noFill/>
        </p:spPr>
        <p:txBody>
          <a:bodyPr wrap="square">
            <a:spAutoFit/>
          </a:bodyPr>
          <a:lstStyle/>
          <a:p>
            <a:pPr algn="just"/>
            <a:r>
              <a:rPr lang="en-US" sz="2400" dirty="0">
                <a:latin typeface="Times" pitchFamily="2" charset="0"/>
              </a:rPr>
              <a:t>A jet awaiting clearance for takeoff is momentarily stopped on the runway. As seen from the front of one engine, the fan blades are rotating with an angular velocity of −110 rad/s, where the negative sign indicates a clockwise rotation, as in the figure. As the plane takes off, the angular velocity of the blades reaches −330 rad/s in a time of 14 s. Find the angular acceleration of the blades during this time, assuming it to be constant.</a:t>
            </a:r>
          </a:p>
        </p:txBody>
      </p:sp>
      <p:sp>
        <p:nvSpPr>
          <p:cNvPr id="7" name="TextBox 6">
            <a:extLst>
              <a:ext uri="{FF2B5EF4-FFF2-40B4-BE49-F238E27FC236}">
                <a16:creationId xmlns:a16="http://schemas.microsoft.com/office/drawing/2014/main" id="{C8D6B7C5-3DE7-0673-339A-407402715478}"/>
              </a:ext>
            </a:extLst>
          </p:cNvPr>
          <p:cNvSpPr txBox="1"/>
          <p:nvPr/>
        </p:nvSpPr>
        <p:spPr>
          <a:xfrm>
            <a:off x="908642" y="710007"/>
            <a:ext cx="8759947" cy="1384995"/>
          </a:xfrm>
          <a:prstGeom prst="rect">
            <a:avLst/>
          </a:prstGeom>
          <a:noFill/>
        </p:spPr>
        <p:txBody>
          <a:bodyPr wrap="square" rtlCol="0">
            <a:spAutoFit/>
          </a:bodyPr>
          <a:lstStyle/>
          <a:p>
            <a:r>
              <a:rPr lang="en-US" sz="2800" dirty="0">
                <a:solidFill>
                  <a:srgbClr val="C00000"/>
                </a:solidFill>
                <a:latin typeface="Times" pitchFamily="2" charset="0"/>
              </a:rPr>
              <a:t>Example – A Jet Revving Its Engines</a:t>
            </a:r>
          </a:p>
          <a:p>
            <a:endParaRPr lang="en-US" sz="2800" dirty="0">
              <a:solidFill>
                <a:srgbClr val="C00000"/>
              </a:solidFill>
              <a:latin typeface="Times" pitchFamily="2" charset="0"/>
            </a:endParaRPr>
          </a:p>
          <a:p>
            <a:endParaRPr lang="en-US" sz="2800" dirty="0">
              <a:solidFill>
                <a:srgbClr val="C00000"/>
              </a:solidFill>
              <a:latin typeface="Times" pitchFamily="2" charset="0"/>
            </a:endParaRPr>
          </a:p>
        </p:txBody>
      </p:sp>
      <p:pic>
        <p:nvPicPr>
          <p:cNvPr id="9" name="Picture 8">
            <a:extLst>
              <a:ext uri="{FF2B5EF4-FFF2-40B4-BE49-F238E27FC236}">
                <a16:creationId xmlns:a16="http://schemas.microsoft.com/office/drawing/2014/main" id="{5F22C1FF-BE16-15FB-3B6A-CCEC2DAB16FA}"/>
              </a:ext>
            </a:extLst>
          </p:cNvPr>
          <p:cNvPicPr>
            <a:picLocks noChangeAspect="1"/>
          </p:cNvPicPr>
          <p:nvPr/>
        </p:nvPicPr>
        <p:blipFill>
          <a:blip r:embed="rId3"/>
          <a:stretch>
            <a:fillRect/>
          </a:stretch>
        </p:blipFill>
        <p:spPr>
          <a:xfrm>
            <a:off x="198966" y="1507068"/>
            <a:ext cx="3735084" cy="2216150"/>
          </a:xfrm>
          <a:prstGeom prst="rect">
            <a:avLst/>
          </a:prstGeom>
        </p:spPr>
      </p:pic>
      <p:grpSp>
        <p:nvGrpSpPr>
          <p:cNvPr id="14" name="Group 13">
            <a:extLst>
              <a:ext uri="{FF2B5EF4-FFF2-40B4-BE49-F238E27FC236}">
                <a16:creationId xmlns:a16="http://schemas.microsoft.com/office/drawing/2014/main" id="{CA6113F0-5780-03EF-0F2C-E962F8BEABD2}"/>
              </a:ext>
            </a:extLst>
          </p:cNvPr>
          <p:cNvGrpSpPr/>
          <p:nvPr/>
        </p:nvGrpSpPr>
        <p:grpSpPr>
          <a:xfrm>
            <a:off x="389466" y="4292741"/>
            <a:ext cx="11802534" cy="1312191"/>
            <a:chOff x="389466" y="4292741"/>
            <a:chExt cx="11802534" cy="1312191"/>
          </a:xfrm>
        </p:grpSpPr>
        <p:sp>
          <p:nvSpPr>
            <p:cNvPr id="11" name="TextBox 10">
              <a:extLst>
                <a:ext uri="{FF2B5EF4-FFF2-40B4-BE49-F238E27FC236}">
                  <a16:creationId xmlns:a16="http://schemas.microsoft.com/office/drawing/2014/main" id="{8A7565D1-0F13-1F6A-3ECA-7A52DFAFB8E1}"/>
                </a:ext>
              </a:extLst>
            </p:cNvPr>
            <p:cNvSpPr txBox="1"/>
            <p:nvPr/>
          </p:nvSpPr>
          <p:spPr>
            <a:xfrm>
              <a:off x="389466" y="4292741"/>
              <a:ext cx="11802534" cy="461665"/>
            </a:xfrm>
            <a:prstGeom prst="rect">
              <a:avLst/>
            </a:prstGeom>
            <a:noFill/>
          </p:spPr>
          <p:txBody>
            <a:bodyPr wrap="square">
              <a:spAutoFit/>
            </a:bodyPr>
            <a:lstStyle/>
            <a:p>
              <a:pPr algn="just"/>
              <a:r>
                <a:rPr lang="en-US" sz="2400" dirty="0">
                  <a:latin typeface="Times" pitchFamily="2" charset="0"/>
                </a:rPr>
                <a:t>Since we know the initial and final angular velocities and the time, we can use Equation 8.4: </a:t>
              </a:r>
            </a:p>
          </p:txBody>
        </p:sp>
        <p:sp>
          <p:nvSpPr>
            <p:cNvPr id="13" name="Rounded Rectangle 12">
              <a:extLst>
                <a:ext uri="{FF2B5EF4-FFF2-40B4-BE49-F238E27FC236}">
                  <a16:creationId xmlns:a16="http://schemas.microsoft.com/office/drawing/2014/main" id="{78254606-D7E0-7EE6-AC46-69B3055149A9}"/>
                </a:ext>
              </a:extLst>
            </p:cNvPr>
            <p:cNvSpPr/>
            <p:nvPr/>
          </p:nvSpPr>
          <p:spPr>
            <a:xfrm>
              <a:off x="2184400" y="4758265"/>
              <a:ext cx="7823200" cy="8466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EA6C06DA-29C7-2F85-047E-7CE9B6A5E3A1}"/>
              </a:ext>
            </a:extLst>
          </p:cNvPr>
          <p:cNvGrpSpPr/>
          <p:nvPr/>
        </p:nvGrpSpPr>
        <p:grpSpPr>
          <a:xfrm>
            <a:off x="2675471" y="5696634"/>
            <a:ext cx="7078134" cy="707886"/>
            <a:chOff x="2912533" y="5696634"/>
            <a:chExt cx="7078134" cy="707886"/>
          </a:xfrm>
        </p:grpSpPr>
        <p:sp>
          <p:nvSpPr>
            <p:cNvPr id="19" name="TextBox 18">
              <a:extLst>
                <a:ext uri="{FF2B5EF4-FFF2-40B4-BE49-F238E27FC236}">
                  <a16:creationId xmlns:a16="http://schemas.microsoft.com/office/drawing/2014/main" id="{1A81EAC4-31BB-978D-ADF3-B147126CE0AC}"/>
                </a:ext>
              </a:extLst>
            </p:cNvPr>
            <p:cNvSpPr txBox="1"/>
            <p:nvPr/>
          </p:nvSpPr>
          <p:spPr>
            <a:xfrm>
              <a:off x="2912533" y="5696634"/>
              <a:ext cx="7078134" cy="707886"/>
            </a:xfrm>
            <a:prstGeom prst="rect">
              <a:avLst/>
            </a:prstGeom>
            <a:noFill/>
          </p:spPr>
          <p:txBody>
            <a:bodyPr wrap="square">
              <a:spAutoFit/>
            </a:bodyPr>
            <a:lstStyle/>
            <a:p>
              <a:r>
                <a:rPr lang="en-US" sz="2000" dirty="0">
                  <a:latin typeface="Times" pitchFamily="2" charset="0"/>
                </a:rPr>
                <a:t>*The negative sign in the answer indicates that the direction of the angular acceleration is also in the                                             .</a:t>
              </a:r>
            </a:p>
          </p:txBody>
        </p:sp>
        <p:sp>
          <p:nvSpPr>
            <p:cNvPr id="20" name="Rounded Rectangle 19">
              <a:extLst>
                <a:ext uri="{FF2B5EF4-FFF2-40B4-BE49-F238E27FC236}">
                  <a16:creationId xmlns:a16="http://schemas.microsoft.com/office/drawing/2014/main" id="{F836D796-7048-6B72-AF28-CD9639713B6B}"/>
                </a:ext>
              </a:extLst>
            </p:cNvPr>
            <p:cNvSpPr/>
            <p:nvPr/>
          </p:nvSpPr>
          <p:spPr>
            <a:xfrm>
              <a:off x="6451600" y="6045199"/>
              <a:ext cx="2709333" cy="3386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127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D276D-C5C7-EC19-72FC-4E1A882EA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27874-8581-CED4-8272-63DE17C87086}"/>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8.2</a:t>
            </a:r>
            <a:r>
              <a:rPr lang="en-US" dirty="0">
                <a:ea typeface="Calibri" charset="0"/>
                <a:cs typeface="Calibri" charset="0"/>
              </a:rPr>
              <a:t> Angular Velocity and Angular Acceleration</a:t>
            </a:r>
            <a:endParaRPr lang="en-US" sz="3000" dirty="0"/>
          </a:p>
        </p:txBody>
      </p:sp>
      <p:sp>
        <p:nvSpPr>
          <p:cNvPr id="4" name="TextBox 3">
            <a:extLst>
              <a:ext uri="{FF2B5EF4-FFF2-40B4-BE49-F238E27FC236}">
                <a16:creationId xmlns:a16="http://schemas.microsoft.com/office/drawing/2014/main" id="{B871F3C2-DE75-44A7-24A1-AE8E5CFDD343}"/>
              </a:ext>
            </a:extLst>
          </p:cNvPr>
          <p:cNvSpPr txBox="1"/>
          <p:nvPr/>
        </p:nvSpPr>
        <p:spPr>
          <a:xfrm>
            <a:off x="948266" y="739970"/>
            <a:ext cx="10634133" cy="3785652"/>
          </a:xfrm>
          <a:prstGeom prst="rect">
            <a:avLst/>
          </a:prstGeom>
          <a:noFill/>
        </p:spPr>
        <p:txBody>
          <a:bodyPr wrap="square">
            <a:spAutoFit/>
          </a:bodyPr>
          <a:lstStyle/>
          <a:p>
            <a:pPr algn="just"/>
            <a:r>
              <a:rPr lang="en-US" sz="2400" dirty="0">
                <a:solidFill>
                  <a:srgbClr val="3E5891"/>
                </a:solidFill>
                <a:latin typeface="Times" pitchFamily="2" charset="0"/>
              </a:rPr>
              <a:t>CYU/TPS </a:t>
            </a:r>
            <a:r>
              <a:rPr lang="en-US" sz="1800" dirty="0">
                <a:solidFill>
                  <a:srgbClr val="3E5891"/>
                </a:solidFill>
                <a:latin typeface="Times" pitchFamily="2" charset="0"/>
              </a:rPr>
              <a:t>– </a:t>
            </a:r>
            <a:r>
              <a:rPr lang="en-US" sz="2400" dirty="0">
                <a:solidFill>
                  <a:srgbClr val="3E5891"/>
                </a:solidFill>
                <a:latin typeface="Times" pitchFamily="2" charset="0"/>
              </a:rPr>
              <a:t>An electric clock is hanging on a wall. As you are watching the second hand rotate, the clock’s battery stops functioning, and the second hand comes to a halt over a brief period of time. Which one of the following statements correctly describes the angular velocity </a:t>
            </a:r>
            <a:r>
              <a:rPr lang="en-US" sz="2400" i="1" dirty="0">
                <a:solidFill>
                  <a:srgbClr val="3E5891"/>
                </a:solidFill>
                <a:latin typeface="Symbol" pitchFamily="2" charset="2"/>
              </a:rPr>
              <a:t>w</a:t>
            </a:r>
            <a:r>
              <a:rPr lang="en-US" sz="2400" dirty="0">
                <a:solidFill>
                  <a:srgbClr val="3E5891"/>
                </a:solidFill>
                <a:latin typeface="Times" pitchFamily="2" charset="0"/>
              </a:rPr>
              <a:t> and angular acceleration </a:t>
            </a:r>
            <a:r>
              <a:rPr lang="en-US" sz="2400" i="1" dirty="0">
                <a:solidFill>
                  <a:srgbClr val="3E5891"/>
                </a:solidFill>
                <a:latin typeface="Symbol" pitchFamily="2" charset="2"/>
              </a:rPr>
              <a:t>a</a:t>
            </a:r>
            <a:r>
              <a:rPr lang="en-US" sz="2400" dirty="0">
                <a:solidFill>
                  <a:srgbClr val="3E5891"/>
                </a:solidFill>
                <a:latin typeface="Times" pitchFamily="2" charset="0"/>
              </a:rPr>
              <a:t> of the second hand as it slows down?</a:t>
            </a:r>
          </a:p>
          <a:p>
            <a:pPr algn="just"/>
            <a:endParaRPr lang="en-US" sz="2400" dirty="0">
              <a:solidFill>
                <a:srgbClr val="3E5891"/>
              </a:solidFill>
              <a:latin typeface="Times" pitchFamily="2" charset="0"/>
            </a:endParaRPr>
          </a:p>
          <a:p>
            <a:pPr algn="just"/>
            <a:r>
              <a:rPr lang="en-US" sz="2400" dirty="0">
                <a:solidFill>
                  <a:srgbClr val="3E5891"/>
                </a:solidFill>
                <a:latin typeface="Times" pitchFamily="2" charset="0"/>
              </a:rPr>
              <a:t>(</a:t>
            </a:r>
            <a:r>
              <a:rPr lang="en-US" sz="2400" b="1" dirty="0">
                <a:solidFill>
                  <a:srgbClr val="3E5891"/>
                </a:solidFill>
                <a:latin typeface="Times" pitchFamily="2" charset="0"/>
              </a:rPr>
              <a:t>a</a:t>
            </a:r>
            <a:r>
              <a:rPr lang="en-US" sz="2400" dirty="0">
                <a:solidFill>
                  <a:srgbClr val="3E5891"/>
                </a:solidFill>
                <a:latin typeface="Times" pitchFamily="2" charset="0"/>
              </a:rPr>
              <a:t>) </a:t>
            </a:r>
            <a:r>
              <a:rPr lang="en-US" sz="2400" i="1" dirty="0">
                <a:solidFill>
                  <a:srgbClr val="3E5891"/>
                </a:solidFill>
                <a:latin typeface="Symbol" pitchFamily="2" charset="2"/>
              </a:rPr>
              <a:t>w</a:t>
            </a:r>
            <a:r>
              <a:rPr lang="en-US" sz="2400" dirty="0">
                <a:solidFill>
                  <a:srgbClr val="3E5891"/>
                </a:solidFill>
                <a:latin typeface="Times" pitchFamily="2" charset="0"/>
              </a:rPr>
              <a:t> and </a:t>
            </a:r>
            <a:r>
              <a:rPr lang="en-US" sz="2400" i="1" dirty="0">
                <a:solidFill>
                  <a:srgbClr val="3E5891"/>
                </a:solidFill>
                <a:latin typeface="Symbol" pitchFamily="2" charset="2"/>
              </a:rPr>
              <a:t>a</a:t>
            </a:r>
            <a:r>
              <a:rPr lang="en-US" sz="2400" dirty="0">
                <a:solidFill>
                  <a:srgbClr val="3E5891"/>
                </a:solidFill>
                <a:latin typeface="Times" pitchFamily="2" charset="0"/>
              </a:rPr>
              <a:t> are both negative.</a:t>
            </a:r>
          </a:p>
          <a:p>
            <a:pPr algn="just"/>
            <a:r>
              <a:rPr lang="en-US" sz="2400" dirty="0">
                <a:solidFill>
                  <a:srgbClr val="3E5891"/>
                </a:solidFill>
                <a:latin typeface="Times" pitchFamily="2" charset="0"/>
              </a:rPr>
              <a:t>(</a:t>
            </a:r>
            <a:r>
              <a:rPr lang="en-US" sz="2400" b="1" dirty="0">
                <a:solidFill>
                  <a:srgbClr val="3E5891"/>
                </a:solidFill>
                <a:latin typeface="Times" pitchFamily="2" charset="0"/>
              </a:rPr>
              <a:t>b</a:t>
            </a:r>
            <a:r>
              <a:rPr lang="en-US" sz="2400" dirty="0">
                <a:solidFill>
                  <a:srgbClr val="3E5891"/>
                </a:solidFill>
                <a:latin typeface="Times" pitchFamily="2" charset="0"/>
              </a:rPr>
              <a:t>) </a:t>
            </a:r>
            <a:r>
              <a:rPr lang="en-US" sz="2400" i="1" dirty="0">
                <a:solidFill>
                  <a:srgbClr val="3E5891"/>
                </a:solidFill>
                <a:latin typeface="Symbol" pitchFamily="2" charset="2"/>
              </a:rPr>
              <a:t>w</a:t>
            </a:r>
            <a:r>
              <a:rPr lang="en-US" sz="2400" dirty="0">
                <a:solidFill>
                  <a:srgbClr val="3E5891"/>
                </a:solidFill>
                <a:latin typeface="Times" pitchFamily="2" charset="0"/>
              </a:rPr>
              <a:t> is positive and </a:t>
            </a:r>
            <a:r>
              <a:rPr lang="en-US" sz="2400" i="1" dirty="0">
                <a:solidFill>
                  <a:srgbClr val="3E5891"/>
                </a:solidFill>
                <a:latin typeface="Symbol" pitchFamily="2" charset="2"/>
              </a:rPr>
              <a:t>a</a:t>
            </a:r>
            <a:r>
              <a:rPr lang="en-US" sz="2400" dirty="0">
                <a:solidFill>
                  <a:srgbClr val="3E5891"/>
                </a:solidFill>
                <a:latin typeface="Times" pitchFamily="2" charset="0"/>
              </a:rPr>
              <a:t> is negative.</a:t>
            </a:r>
          </a:p>
          <a:p>
            <a:pPr algn="just"/>
            <a:r>
              <a:rPr lang="en-US" sz="2400" dirty="0">
                <a:solidFill>
                  <a:srgbClr val="3E5891"/>
                </a:solidFill>
                <a:latin typeface="Times" pitchFamily="2" charset="0"/>
              </a:rPr>
              <a:t>(</a:t>
            </a:r>
            <a:r>
              <a:rPr lang="en-US" sz="2400" b="1" dirty="0">
                <a:solidFill>
                  <a:srgbClr val="3E5891"/>
                </a:solidFill>
                <a:latin typeface="Times" pitchFamily="2" charset="0"/>
              </a:rPr>
              <a:t>c</a:t>
            </a:r>
            <a:r>
              <a:rPr lang="en-US" sz="2400" dirty="0">
                <a:solidFill>
                  <a:srgbClr val="3E5891"/>
                </a:solidFill>
                <a:latin typeface="Times" pitchFamily="2" charset="0"/>
              </a:rPr>
              <a:t>) </a:t>
            </a:r>
            <a:r>
              <a:rPr lang="en-US" sz="2400" i="1" dirty="0">
                <a:solidFill>
                  <a:srgbClr val="3E5891"/>
                </a:solidFill>
                <a:latin typeface="Symbol" pitchFamily="2" charset="2"/>
              </a:rPr>
              <a:t>w</a:t>
            </a:r>
            <a:r>
              <a:rPr lang="en-US" sz="2400" dirty="0">
                <a:solidFill>
                  <a:srgbClr val="3E5891"/>
                </a:solidFill>
                <a:latin typeface="Times" pitchFamily="2" charset="0"/>
              </a:rPr>
              <a:t> is negative and </a:t>
            </a:r>
            <a:r>
              <a:rPr lang="en-US" sz="2400" i="1" dirty="0">
                <a:solidFill>
                  <a:srgbClr val="3E5891"/>
                </a:solidFill>
                <a:latin typeface="Symbol" pitchFamily="2" charset="2"/>
              </a:rPr>
              <a:t>a</a:t>
            </a:r>
            <a:r>
              <a:rPr lang="en-US" sz="2400" dirty="0">
                <a:solidFill>
                  <a:srgbClr val="3E5891"/>
                </a:solidFill>
                <a:latin typeface="Times" pitchFamily="2" charset="0"/>
              </a:rPr>
              <a:t> is positive.</a:t>
            </a:r>
          </a:p>
          <a:p>
            <a:pPr algn="just"/>
            <a:r>
              <a:rPr lang="en-US" sz="2400" dirty="0">
                <a:solidFill>
                  <a:srgbClr val="3E5891"/>
                </a:solidFill>
                <a:latin typeface="Times" pitchFamily="2" charset="0"/>
              </a:rPr>
              <a:t>(</a:t>
            </a:r>
            <a:r>
              <a:rPr lang="en-US" sz="2400" b="1" dirty="0">
                <a:solidFill>
                  <a:srgbClr val="3E5891"/>
                </a:solidFill>
                <a:latin typeface="Times" pitchFamily="2" charset="0"/>
              </a:rPr>
              <a:t>d</a:t>
            </a:r>
            <a:r>
              <a:rPr lang="en-US" sz="2400" dirty="0">
                <a:solidFill>
                  <a:srgbClr val="3E5891"/>
                </a:solidFill>
                <a:latin typeface="Times" pitchFamily="2" charset="0"/>
              </a:rPr>
              <a:t>) </a:t>
            </a:r>
            <a:r>
              <a:rPr lang="en-US" sz="2400" i="1" dirty="0">
                <a:solidFill>
                  <a:srgbClr val="3E5891"/>
                </a:solidFill>
                <a:latin typeface="Symbol" pitchFamily="2" charset="2"/>
              </a:rPr>
              <a:t>w</a:t>
            </a:r>
            <a:r>
              <a:rPr lang="en-US" sz="2400" dirty="0">
                <a:solidFill>
                  <a:srgbClr val="3E5891"/>
                </a:solidFill>
                <a:latin typeface="Times" pitchFamily="2" charset="0"/>
              </a:rPr>
              <a:t> and </a:t>
            </a:r>
            <a:r>
              <a:rPr lang="en-US" sz="2400" i="1" dirty="0">
                <a:solidFill>
                  <a:srgbClr val="3E5891"/>
                </a:solidFill>
                <a:latin typeface="Symbol" pitchFamily="2" charset="2"/>
              </a:rPr>
              <a:t>a</a:t>
            </a:r>
            <a:r>
              <a:rPr lang="en-US" sz="2400" dirty="0">
                <a:solidFill>
                  <a:srgbClr val="3E5891"/>
                </a:solidFill>
                <a:latin typeface="Times" pitchFamily="2" charset="0"/>
              </a:rPr>
              <a:t> are both positive.</a:t>
            </a:r>
            <a:endParaRPr lang="en-US" sz="2400" dirty="0">
              <a:solidFill>
                <a:srgbClr val="3E5891"/>
              </a:solidFill>
              <a:latin typeface="Times" pitchFamily="2" charset="0"/>
              <a:cs typeface="Times New Roman" panose="02020603050405020304" pitchFamily="18" charset="0"/>
            </a:endParaRPr>
          </a:p>
        </p:txBody>
      </p:sp>
      <p:pic>
        <p:nvPicPr>
          <p:cNvPr id="24578" name="Picture 2">
            <a:extLst>
              <a:ext uri="{FF2B5EF4-FFF2-40B4-BE49-F238E27FC236}">
                <a16:creationId xmlns:a16="http://schemas.microsoft.com/office/drawing/2014/main" id="{9767869B-7EB5-3511-46A2-26F767EA73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9265" y="2556933"/>
            <a:ext cx="2506133" cy="25061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EBC7A4D-A4CE-E65D-3DC4-12F7F8FE9A33}"/>
              </a:ext>
            </a:extLst>
          </p:cNvPr>
          <p:cNvSpPr txBox="1"/>
          <p:nvPr/>
        </p:nvSpPr>
        <p:spPr>
          <a:xfrm rot="2431060">
            <a:off x="5814308" y="3782523"/>
            <a:ext cx="1988191" cy="461665"/>
          </a:xfrm>
          <a:prstGeom prst="rect">
            <a:avLst/>
          </a:prstGeom>
          <a:noFill/>
        </p:spPr>
        <p:txBody>
          <a:bodyPr wrap="square" rtlCol="0">
            <a:spAutoFit/>
          </a:bodyPr>
          <a:lstStyle/>
          <a:p>
            <a:r>
              <a:rPr lang="en-US" sz="2400" dirty="0">
                <a:solidFill>
                  <a:srgbClr val="007440"/>
                </a:solidFill>
                <a:latin typeface="Chalkduster" panose="03050602040202020205" pitchFamily="66" charset="77"/>
              </a:rPr>
              <a:t>Explain!</a:t>
            </a:r>
          </a:p>
        </p:txBody>
      </p:sp>
    </p:spTree>
    <p:extLst>
      <p:ext uri="{BB962C8B-B14F-4D97-AF65-F5344CB8AC3E}">
        <p14:creationId xmlns:p14="http://schemas.microsoft.com/office/powerpoint/2010/main" val="173286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CA8A4-CC4E-E2CB-3A94-E1380956DC6B}"/>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36CBDA43-3B49-FD79-F8AD-7508F3CB2175}"/>
              </a:ext>
            </a:extLst>
          </p:cNvPr>
          <p:cNvSpPr/>
          <p:nvPr/>
        </p:nvSpPr>
        <p:spPr>
          <a:xfrm>
            <a:off x="0" y="667766"/>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8FA3D0-6D68-961A-E249-8CD21E94F217}"/>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8.3</a:t>
            </a:r>
            <a:r>
              <a:rPr lang="en-US" dirty="0">
                <a:ea typeface="Calibri" charset="0"/>
                <a:cs typeface="Calibri" charset="0"/>
              </a:rPr>
              <a:t> The Equations of Rotational Kinematics</a:t>
            </a:r>
            <a:endParaRPr lang="en-US" sz="3000" dirty="0"/>
          </a:p>
        </p:txBody>
      </p:sp>
      <p:sp>
        <p:nvSpPr>
          <p:cNvPr id="5" name="Content Placeholder 2">
            <a:extLst>
              <a:ext uri="{FF2B5EF4-FFF2-40B4-BE49-F238E27FC236}">
                <a16:creationId xmlns:a16="http://schemas.microsoft.com/office/drawing/2014/main" id="{88E7BA05-E371-707F-DA48-0A3905EF7FC9}"/>
              </a:ext>
            </a:extLst>
          </p:cNvPr>
          <p:cNvSpPr txBox="1">
            <a:spLocks/>
          </p:cNvSpPr>
          <p:nvPr/>
        </p:nvSpPr>
        <p:spPr>
          <a:xfrm>
            <a:off x="959715" y="718024"/>
            <a:ext cx="11609129"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8.3 </a:t>
            </a:r>
            <a:r>
              <a:rPr lang="en-US" dirty="0"/>
              <a:t>– Solve rotational kinematics problems.</a:t>
            </a:r>
          </a:p>
        </p:txBody>
      </p:sp>
      <p:grpSp>
        <p:nvGrpSpPr>
          <p:cNvPr id="3" name="Group 2">
            <a:extLst>
              <a:ext uri="{FF2B5EF4-FFF2-40B4-BE49-F238E27FC236}">
                <a16:creationId xmlns:a16="http://schemas.microsoft.com/office/drawing/2014/main" id="{B1FF52D4-72B8-F30F-CD10-C21013681758}"/>
              </a:ext>
            </a:extLst>
          </p:cNvPr>
          <p:cNvGrpSpPr/>
          <p:nvPr/>
        </p:nvGrpSpPr>
        <p:grpSpPr>
          <a:xfrm>
            <a:off x="447238" y="1426811"/>
            <a:ext cx="11490762" cy="1569660"/>
            <a:chOff x="430305" y="2121078"/>
            <a:chExt cx="11490762" cy="1569660"/>
          </a:xfrm>
        </p:grpSpPr>
        <p:sp>
          <p:nvSpPr>
            <p:cNvPr id="4" name="TextBox 3">
              <a:extLst>
                <a:ext uri="{FF2B5EF4-FFF2-40B4-BE49-F238E27FC236}">
                  <a16:creationId xmlns:a16="http://schemas.microsoft.com/office/drawing/2014/main" id="{10E38056-EC0A-3B13-A600-47E1520332BE}"/>
                </a:ext>
              </a:extLst>
            </p:cNvPr>
            <p:cNvSpPr txBox="1"/>
            <p:nvPr/>
          </p:nvSpPr>
          <p:spPr>
            <a:xfrm>
              <a:off x="430305" y="2121078"/>
              <a:ext cx="11490762" cy="156966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We now apply the vector concepts of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displacement</a:t>
              </a:r>
              <a:r>
                <a:rPr lang="en-US" sz="2400" dirty="0">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velocity</a:t>
              </a:r>
              <a:r>
                <a:rPr lang="en-US" sz="2400" dirty="0">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acceleration</a:t>
              </a:r>
              <a:r>
                <a:rPr lang="en-US" sz="2400" dirty="0">
                  <a:latin typeface="Times New Roman" panose="02020603050405020304" pitchFamily="18" charset="0"/>
                  <a:cs typeface="Times New Roman" panose="02020603050405020304" pitchFamily="18" charset="0"/>
                </a:rPr>
                <a:t> to develop a set of equations known as                                           . To simplify our analysis, we will again restrict ourselves to problems where the magnitude of the angular acceleration (</a:t>
              </a:r>
              <a:r>
                <a:rPr lang="en-US" sz="2400" i="1" dirty="0">
                  <a:latin typeface="Symbol" pitchFamily="2" charset="2"/>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is                      . </a:t>
              </a:r>
            </a:p>
          </p:txBody>
        </p:sp>
        <p:sp>
          <p:nvSpPr>
            <p:cNvPr id="6" name="Rounded Rectangle 5">
              <a:extLst>
                <a:ext uri="{FF2B5EF4-FFF2-40B4-BE49-F238E27FC236}">
                  <a16:creationId xmlns:a16="http://schemas.microsoft.com/office/drawing/2014/main" id="{3F73B953-2309-5DBA-1E5B-9C99B38EC392}"/>
                </a:ext>
              </a:extLst>
            </p:cNvPr>
            <p:cNvSpPr/>
            <p:nvPr/>
          </p:nvSpPr>
          <p:spPr>
            <a:xfrm>
              <a:off x="3771154" y="3268133"/>
              <a:ext cx="1461248" cy="4223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A87D50ED-3DA1-6FF3-9FE2-899B26BA74FD}"/>
                </a:ext>
              </a:extLst>
            </p:cNvPr>
            <p:cNvSpPr/>
            <p:nvPr/>
          </p:nvSpPr>
          <p:spPr>
            <a:xfrm>
              <a:off x="6882901" y="2506133"/>
              <a:ext cx="3294033" cy="4492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6" name="TextBox 25">
            <a:extLst>
              <a:ext uri="{FF2B5EF4-FFF2-40B4-BE49-F238E27FC236}">
                <a16:creationId xmlns:a16="http://schemas.microsoft.com/office/drawing/2014/main" id="{29920B0D-ECE5-AC21-B11D-7DD198883FB1}"/>
              </a:ext>
            </a:extLst>
          </p:cNvPr>
          <p:cNvSpPr txBox="1"/>
          <p:nvPr/>
        </p:nvSpPr>
        <p:spPr>
          <a:xfrm>
            <a:off x="469899" y="3356801"/>
            <a:ext cx="11501967" cy="1200329"/>
          </a:xfrm>
          <a:prstGeom prst="rect">
            <a:avLst/>
          </a:prstGeom>
          <a:noFill/>
        </p:spPr>
        <p:txBody>
          <a:bodyPr wrap="square">
            <a:spAutoFit/>
          </a:bodyPr>
          <a:lstStyle/>
          <a:p>
            <a:r>
              <a:rPr lang="en-US" sz="2400" dirty="0">
                <a:latin typeface="Times" pitchFamily="2" charset="0"/>
                <a:cs typeface="Times New Roman" panose="02020603050405020304" pitchFamily="18" charset="0"/>
              </a:rPr>
              <a:t>In Chapter 02 we asked the following question:  An object starts from rest at </a:t>
            </a:r>
            <a:r>
              <a:rPr lang="en-US" sz="2400" i="1" dirty="0">
                <a:latin typeface="Times" pitchFamily="2" charset="0"/>
                <a:cs typeface="Times New Roman" panose="02020603050405020304" pitchFamily="18" charset="0"/>
              </a:rPr>
              <a:t>t</a:t>
            </a:r>
            <a:r>
              <a:rPr lang="en-US" sz="2400" baseline="-25000" dirty="0">
                <a:latin typeface="Times" pitchFamily="2" charset="0"/>
                <a:cs typeface="Times New Roman" panose="02020603050405020304" pitchFamily="18" charset="0"/>
              </a:rPr>
              <a:t>0</a:t>
            </a:r>
            <a:r>
              <a:rPr lang="en-US" sz="2400" dirty="0">
                <a:latin typeface="Times" pitchFamily="2" charset="0"/>
                <a:cs typeface="Times New Roman" panose="02020603050405020304" pitchFamily="18" charset="0"/>
              </a:rPr>
              <a:t> = 0 s and at </a:t>
            </a:r>
            <a:r>
              <a:rPr lang="en-US" sz="2400" i="1" dirty="0">
                <a:latin typeface="Times" pitchFamily="2" charset="0"/>
                <a:cs typeface="Times New Roman" panose="02020603050405020304" pitchFamily="18" charset="0"/>
              </a:rPr>
              <a:t>x</a:t>
            </a:r>
            <a:r>
              <a:rPr lang="en-US" sz="2400" baseline="-25000" dirty="0">
                <a:latin typeface="Times" pitchFamily="2" charset="0"/>
                <a:cs typeface="Times New Roman" panose="02020603050405020304" pitchFamily="18" charset="0"/>
              </a:rPr>
              <a:t>0</a:t>
            </a:r>
            <a:r>
              <a:rPr lang="en-US" sz="2400" dirty="0">
                <a:latin typeface="Times" pitchFamily="2" charset="0"/>
                <a:cs typeface="Times New Roman" panose="02020603050405020304" pitchFamily="18" charset="0"/>
              </a:rPr>
              <a:t> = 0 m and undergoes a constant acceleration </a:t>
            </a:r>
            <a:r>
              <a:rPr lang="en-US" sz="2400" i="1" dirty="0">
                <a:latin typeface="Times" pitchFamily="2" charset="0"/>
                <a:cs typeface="Times New Roman" panose="02020603050405020304" pitchFamily="18" charset="0"/>
              </a:rPr>
              <a:t>a</a:t>
            </a:r>
            <a:r>
              <a:rPr lang="en-US" sz="2400" dirty="0">
                <a:latin typeface="Times" pitchFamily="2" charset="0"/>
                <a:cs typeface="Times New Roman" panose="02020603050405020304" pitchFamily="18" charset="0"/>
              </a:rPr>
              <a:t> for a time </a:t>
            </a:r>
            <a:r>
              <a:rPr lang="en-US" sz="2400" i="1" dirty="0">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  </a:t>
            </a:r>
            <a:r>
              <a:rPr lang="en-US" sz="2400" u="sng" dirty="0">
                <a:latin typeface="Times" pitchFamily="2" charset="0"/>
                <a:cs typeface="Times New Roman" panose="02020603050405020304" pitchFamily="18" charset="0"/>
              </a:rPr>
              <a:t>How far </a:t>
            </a:r>
            <a:r>
              <a:rPr lang="en-US" sz="2400" dirty="0">
                <a:latin typeface="Times" pitchFamily="2" charset="0"/>
                <a:cs typeface="Times New Roman" panose="02020603050405020304" pitchFamily="18" charset="0"/>
              </a:rPr>
              <a:t>does the object travel in that time?</a:t>
            </a:r>
            <a:endParaRPr lang="en-US" sz="2400" dirty="0">
              <a:latin typeface="Times" pitchFamily="2" charset="0"/>
            </a:endParaRPr>
          </a:p>
        </p:txBody>
      </p:sp>
      <p:sp>
        <p:nvSpPr>
          <p:cNvPr id="27" name="TextBox 26">
            <a:extLst>
              <a:ext uri="{FF2B5EF4-FFF2-40B4-BE49-F238E27FC236}">
                <a16:creationId xmlns:a16="http://schemas.microsoft.com/office/drawing/2014/main" id="{6F130B04-AF81-C047-F759-7A2DBC110F60}"/>
              </a:ext>
            </a:extLst>
          </p:cNvPr>
          <p:cNvSpPr txBox="1"/>
          <p:nvPr/>
        </p:nvSpPr>
        <p:spPr>
          <a:xfrm>
            <a:off x="469899" y="4880801"/>
            <a:ext cx="11501967" cy="1200329"/>
          </a:xfrm>
          <a:prstGeom prst="rect">
            <a:avLst/>
          </a:prstGeom>
          <a:noFill/>
        </p:spPr>
        <p:txBody>
          <a:bodyPr wrap="square">
            <a:spAutoFit/>
          </a:bodyPr>
          <a:lstStyle/>
          <a:p>
            <a:r>
              <a:rPr lang="en-US" sz="2400" dirty="0">
                <a:latin typeface="Times" pitchFamily="2" charset="0"/>
                <a:cs typeface="Times New Roman" panose="02020603050405020304" pitchFamily="18" charset="0"/>
              </a:rPr>
              <a:t>Now we ask the same question, but in the context of </a:t>
            </a:r>
            <a:r>
              <a:rPr lang="en-US" sz="2400" dirty="0">
                <a:solidFill>
                  <a:srgbClr val="007440"/>
                </a:solidFill>
                <a:latin typeface="Times" pitchFamily="2" charset="0"/>
                <a:cs typeface="Times New Roman" panose="02020603050405020304" pitchFamily="18" charset="0"/>
              </a:rPr>
              <a:t>rotational motion</a:t>
            </a:r>
            <a:r>
              <a:rPr lang="en-US" sz="2400" dirty="0">
                <a:latin typeface="Times" pitchFamily="2" charset="0"/>
                <a:cs typeface="Times New Roman" panose="02020603050405020304" pitchFamily="18" charset="0"/>
              </a:rPr>
              <a:t>:  An object starts from rest at </a:t>
            </a:r>
            <a:r>
              <a:rPr lang="en-US" sz="2400" i="1" dirty="0">
                <a:latin typeface="Times" pitchFamily="2" charset="0"/>
                <a:cs typeface="Times New Roman" panose="02020603050405020304" pitchFamily="18" charset="0"/>
              </a:rPr>
              <a:t>t</a:t>
            </a:r>
            <a:r>
              <a:rPr lang="en-US" sz="2400" baseline="-25000" dirty="0">
                <a:latin typeface="Times" pitchFamily="2" charset="0"/>
                <a:cs typeface="Times New Roman" panose="02020603050405020304" pitchFamily="18" charset="0"/>
              </a:rPr>
              <a:t>0</a:t>
            </a:r>
            <a:r>
              <a:rPr lang="en-US" sz="2400" dirty="0">
                <a:latin typeface="Times" pitchFamily="2" charset="0"/>
                <a:cs typeface="Times New Roman" panose="02020603050405020304" pitchFamily="18" charset="0"/>
              </a:rPr>
              <a:t> = 0 s and at </a:t>
            </a:r>
            <a:r>
              <a:rPr lang="en-US" sz="2400" i="1" dirty="0">
                <a:latin typeface="Symbol" pitchFamily="2" charset="2"/>
                <a:cs typeface="Times New Roman" panose="02020603050405020304" pitchFamily="18" charset="0"/>
              </a:rPr>
              <a:t>w</a:t>
            </a:r>
            <a:r>
              <a:rPr lang="en-US" sz="2400" baseline="-25000" dirty="0">
                <a:latin typeface="Times" pitchFamily="2" charset="0"/>
                <a:cs typeface="Times New Roman" panose="02020603050405020304" pitchFamily="18" charset="0"/>
              </a:rPr>
              <a:t>0</a:t>
            </a:r>
            <a:r>
              <a:rPr lang="en-US" sz="2400" dirty="0">
                <a:latin typeface="Times" pitchFamily="2" charset="0"/>
                <a:cs typeface="Times New Roman" panose="02020603050405020304" pitchFamily="18" charset="0"/>
              </a:rPr>
              <a:t> = 0 rad/s and undergoes a constant angular acceleration </a:t>
            </a:r>
            <a:r>
              <a:rPr lang="en-US" sz="2400" i="1" dirty="0">
                <a:latin typeface="Symbol" pitchFamily="2" charset="2"/>
                <a:cs typeface="Times New Roman" panose="02020603050405020304" pitchFamily="18" charset="0"/>
              </a:rPr>
              <a:t>a</a:t>
            </a:r>
            <a:r>
              <a:rPr lang="en-US" sz="2400" dirty="0">
                <a:latin typeface="Times" pitchFamily="2" charset="0"/>
                <a:cs typeface="Times New Roman" panose="02020603050405020304" pitchFamily="18" charset="0"/>
              </a:rPr>
              <a:t> for a time </a:t>
            </a:r>
            <a:r>
              <a:rPr lang="en-US" sz="2400" i="1" dirty="0">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  </a:t>
            </a:r>
            <a:r>
              <a:rPr lang="en-US" sz="2400" u="sng" dirty="0">
                <a:latin typeface="Times" pitchFamily="2" charset="0"/>
                <a:cs typeface="Times New Roman" panose="02020603050405020304" pitchFamily="18" charset="0"/>
              </a:rPr>
              <a:t>How far</a:t>
            </a:r>
            <a:r>
              <a:rPr lang="en-US" sz="2400" dirty="0">
                <a:latin typeface="Times" pitchFamily="2" charset="0"/>
                <a:cs typeface="Times New Roman" panose="02020603050405020304" pitchFamily="18" charset="0"/>
              </a:rPr>
              <a:t> (angular displacement) does the object travel in that time?</a:t>
            </a:r>
            <a:endParaRPr lang="en-US" sz="2400" dirty="0">
              <a:latin typeface="Times" pitchFamily="2" charset="0"/>
            </a:endParaRPr>
          </a:p>
        </p:txBody>
      </p:sp>
    </p:spTree>
    <p:extLst>
      <p:ext uri="{BB962C8B-B14F-4D97-AF65-F5344CB8AC3E}">
        <p14:creationId xmlns:p14="http://schemas.microsoft.com/office/powerpoint/2010/main" val="24233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890A1-E76C-0580-0B99-7A2E36A83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091D6-D7A3-5AF8-C29B-ECEA7708A4B6}"/>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8.3</a:t>
            </a:r>
            <a:r>
              <a:rPr lang="en-US" dirty="0">
                <a:ea typeface="Calibri" charset="0"/>
                <a:cs typeface="Calibri" charset="0"/>
              </a:rPr>
              <a:t> The Equations of Rotational Kinematics</a:t>
            </a:r>
            <a:endParaRPr lang="en-US" sz="3000" dirty="0"/>
          </a:p>
        </p:txBody>
      </p:sp>
      <p:grpSp>
        <p:nvGrpSpPr>
          <p:cNvPr id="11" name="Group 10">
            <a:extLst>
              <a:ext uri="{FF2B5EF4-FFF2-40B4-BE49-F238E27FC236}">
                <a16:creationId xmlns:a16="http://schemas.microsoft.com/office/drawing/2014/main" id="{CBE46CF0-B580-5EAA-0A1E-A41D3F3F1223}"/>
              </a:ext>
            </a:extLst>
          </p:cNvPr>
          <p:cNvGrpSpPr/>
          <p:nvPr/>
        </p:nvGrpSpPr>
        <p:grpSpPr>
          <a:xfrm>
            <a:off x="1066800" y="846668"/>
            <a:ext cx="3738034" cy="461665"/>
            <a:chOff x="1066800" y="1388533"/>
            <a:chExt cx="3738034" cy="461665"/>
          </a:xfrm>
        </p:grpSpPr>
        <p:sp>
          <p:nvSpPr>
            <p:cNvPr id="7" name="TextBox 6">
              <a:extLst>
                <a:ext uri="{FF2B5EF4-FFF2-40B4-BE49-F238E27FC236}">
                  <a16:creationId xmlns:a16="http://schemas.microsoft.com/office/drawing/2014/main" id="{BADF728E-6966-1B9F-8DFF-F8B8CCB9CF98}"/>
                </a:ext>
              </a:extLst>
            </p:cNvPr>
            <p:cNvSpPr txBox="1"/>
            <p:nvPr/>
          </p:nvSpPr>
          <p:spPr>
            <a:xfrm>
              <a:off x="1066800" y="1388533"/>
              <a:ext cx="2726267" cy="461665"/>
            </a:xfrm>
            <a:prstGeom prst="rect">
              <a:avLst/>
            </a:prstGeom>
            <a:noFill/>
          </p:spPr>
          <p:txBody>
            <a:bodyPr wrap="square" rtlCol="0">
              <a:spAutoFit/>
            </a:bodyPr>
            <a:lstStyle/>
            <a:p>
              <a:r>
                <a:rPr lang="en-US" sz="2400" dirty="0">
                  <a:latin typeface="Times" pitchFamily="2" charset="0"/>
                </a:rPr>
                <a:t>From Equation 8.2:  </a:t>
              </a:r>
            </a:p>
          </p:txBody>
        </p:sp>
        <p:pic>
          <p:nvPicPr>
            <p:cNvPr id="10" name="Picture 9">
              <a:extLst>
                <a:ext uri="{FF2B5EF4-FFF2-40B4-BE49-F238E27FC236}">
                  <a16:creationId xmlns:a16="http://schemas.microsoft.com/office/drawing/2014/main" id="{CC6723D6-2331-E8BC-F7C6-2E5BA9220567}"/>
                </a:ext>
              </a:extLst>
            </p:cNvPr>
            <p:cNvPicPr>
              <a:picLocks noChangeAspect="1"/>
            </p:cNvPicPr>
            <p:nvPr/>
          </p:nvPicPr>
          <p:blipFill>
            <a:blip r:embed="rId3"/>
            <a:stretch>
              <a:fillRect/>
            </a:stretch>
          </p:blipFill>
          <p:spPr>
            <a:xfrm>
              <a:off x="3763434" y="1509183"/>
              <a:ext cx="1041400" cy="215900"/>
            </a:xfrm>
            <a:prstGeom prst="rect">
              <a:avLst/>
            </a:prstGeom>
          </p:spPr>
        </p:pic>
      </p:grpSp>
      <p:sp>
        <p:nvSpPr>
          <p:cNvPr id="13" name="TextBox 12">
            <a:extLst>
              <a:ext uri="{FF2B5EF4-FFF2-40B4-BE49-F238E27FC236}">
                <a16:creationId xmlns:a16="http://schemas.microsoft.com/office/drawing/2014/main" id="{0FE14D6D-9F29-2A24-5DD5-256FFB08A069}"/>
              </a:ext>
            </a:extLst>
          </p:cNvPr>
          <p:cNvSpPr txBox="1"/>
          <p:nvPr/>
        </p:nvSpPr>
        <p:spPr>
          <a:xfrm>
            <a:off x="1076848" y="1905280"/>
            <a:ext cx="2726267" cy="461665"/>
          </a:xfrm>
          <a:prstGeom prst="rect">
            <a:avLst/>
          </a:prstGeom>
          <a:noFill/>
        </p:spPr>
        <p:txBody>
          <a:bodyPr wrap="square" rtlCol="0">
            <a:spAutoFit/>
          </a:bodyPr>
          <a:lstStyle/>
          <a:p>
            <a:r>
              <a:rPr lang="en-US" sz="2400" dirty="0">
                <a:latin typeface="Times" pitchFamily="2" charset="0"/>
              </a:rPr>
              <a:t>From Equation 8.4:  </a:t>
            </a:r>
          </a:p>
        </p:txBody>
      </p:sp>
      <p:sp>
        <p:nvSpPr>
          <p:cNvPr id="15" name="TextBox 14">
            <a:extLst>
              <a:ext uri="{FF2B5EF4-FFF2-40B4-BE49-F238E27FC236}">
                <a16:creationId xmlns:a16="http://schemas.microsoft.com/office/drawing/2014/main" id="{064EFECC-04DB-1383-2CAD-18CCAA6DD6B5}"/>
              </a:ext>
            </a:extLst>
          </p:cNvPr>
          <p:cNvSpPr txBox="1"/>
          <p:nvPr/>
        </p:nvSpPr>
        <p:spPr>
          <a:xfrm>
            <a:off x="5063066" y="863601"/>
            <a:ext cx="2726267" cy="461665"/>
          </a:xfrm>
          <a:prstGeom prst="rect">
            <a:avLst/>
          </a:prstGeom>
          <a:noFill/>
        </p:spPr>
        <p:txBody>
          <a:bodyPr wrap="square" rtlCol="0">
            <a:spAutoFit/>
          </a:bodyPr>
          <a:lstStyle/>
          <a:p>
            <a:r>
              <a:rPr lang="en-US" sz="2400" dirty="0">
                <a:latin typeface="Times" pitchFamily="2" charset="0"/>
              </a:rPr>
              <a:t>And...</a:t>
            </a:r>
          </a:p>
        </p:txBody>
      </p:sp>
      <p:pic>
        <p:nvPicPr>
          <p:cNvPr id="16" name="Picture 15">
            <a:extLst>
              <a:ext uri="{FF2B5EF4-FFF2-40B4-BE49-F238E27FC236}">
                <a16:creationId xmlns:a16="http://schemas.microsoft.com/office/drawing/2014/main" id="{F5313E25-B24E-2064-16E8-9E3542C03876}"/>
              </a:ext>
            </a:extLst>
          </p:cNvPr>
          <p:cNvPicPr>
            <a:picLocks noChangeAspect="1"/>
          </p:cNvPicPr>
          <p:nvPr/>
        </p:nvPicPr>
        <p:blipFill>
          <a:blip r:embed="rId4"/>
          <a:stretch>
            <a:fillRect/>
          </a:stretch>
        </p:blipFill>
        <p:spPr>
          <a:xfrm>
            <a:off x="6129866" y="797985"/>
            <a:ext cx="1524000" cy="622300"/>
          </a:xfrm>
          <a:prstGeom prst="rect">
            <a:avLst/>
          </a:prstGeom>
        </p:spPr>
      </p:pic>
      <p:grpSp>
        <p:nvGrpSpPr>
          <p:cNvPr id="23" name="Group 22">
            <a:extLst>
              <a:ext uri="{FF2B5EF4-FFF2-40B4-BE49-F238E27FC236}">
                <a16:creationId xmlns:a16="http://schemas.microsoft.com/office/drawing/2014/main" id="{D95DF231-694F-8A76-5D54-B5AC963ABC59}"/>
              </a:ext>
            </a:extLst>
          </p:cNvPr>
          <p:cNvGrpSpPr/>
          <p:nvPr/>
        </p:nvGrpSpPr>
        <p:grpSpPr>
          <a:xfrm>
            <a:off x="6710082" y="563035"/>
            <a:ext cx="484468" cy="535641"/>
            <a:chOff x="6710082" y="1104900"/>
            <a:chExt cx="484468" cy="535641"/>
          </a:xfrm>
        </p:grpSpPr>
        <p:cxnSp>
          <p:nvCxnSpPr>
            <p:cNvPr id="18" name="Straight Connector 17">
              <a:extLst>
                <a:ext uri="{FF2B5EF4-FFF2-40B4-BE49-F238E27FC236}">
                  <a16:creationId xmlns:a16="http://schemas.microsoft.com/office/drawing/2014/main" id="{67B1DDF3-45E3-4BD8-462C-D24B802C0611}"/>
                </a:ext>
              </a:extLst>
            </p:cNvPr>
            <p:cNvCxnSpPr/>
            <p:nvPr/>
          </p:nvCxnSpPr>
          <p:spPr>
            <a:xfrm flipV="1">
              <a:off x="6710082" y="1317812"/>
              <a:ext cx="309283" cy="3227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86A7A0E-CD67-495F-6CDE-ED9E30B4B434}"/>
                </a:ext>
              </a:extLst>
            </p:cNvPr>
            <p:cNvSpPr txBox="1"/>
            <p:nvPr/>
          </p:nvSpPr>
          <p:spPr>
            <a:xfrm>
              <a:off x="6956425" y="1104900"/>
              <a:ext cx="238125" cy="369332"/>
            </a:xfrm>
            <a:prstGeom prst="rect">
              <a:avLst/>
            </a:prstGeom>
            <a:noFill/>
          </p:spPr>
          <p:txBody>
            <a:bodyPr wrap="square" rtlCol="0">
              <a:spAutoFit/>
            </a:bodyPr>
            <a:lstStyle/>
            <a:p>
              <a:r>
                <a:rPr lang="en-US" dirty="0">
                  <a:solidFill>
                    <a:srgbClr val="FF0000"/>
                  </a:solidFill>
                  <a:latin typeface="Times" pitchFamily="2" charset="0"/>
                </a:rPr>
                <a:t>0</a:t>
              </a:r>
            </a:p>
          </p:txBody>
        </p:sp>
      </p:grpSp>
      <p:pic>
        <p:nvPicPr>
          <p:cNvPr id="24" name="Picture 23">
            <a:extLst>
              <a:ext uri="{FF2B5EF4-FFF2-40B4-BE49-F238E27FC236}">
                <a16:creationId xmlns:a16="http://schemas.microsoft.com/office/drawing/2014/main" id="{DB3B9AB2-0517-CCC1-E159-50ED779FADB2}"/>
              </a:ext>
            </a:extLst>
          </p:cNvPr>
          <p:cNvPicPr>
            <a:picLocks noChangeAspect="1"/>
          </p:cNvPicPr>
          <p:nvPr/>
        </p:nvPicPr>
        <p:blipFill>
          <a:blip r:embed="rId5"/>
          <a:stretch>
            <a:fillRect/>
          </a:stretch>
        </p:blipFill>
        <p:spPr>
          <a:xfrm>
            <a:off x="7800313" y="764630"/>
            <a:ext cx="711200" cy="647700"/>
          </a:xfrm>
          <a:prstGeom prst="rect">
            <a:avLst/>
          </a:prstGeom>
        </p:spPr>
      </p:pic>
      <p:pic>
        <p:nvPicPr>
          <p:cNvPr id="28" name="Picture 27">
            <a:extLst>
              <a:ext uri="{FF2B5EF4-FFF2-40B4-BE49-F238E27FC236}">
                <a16:creationId xmlns:a16="http://schemas.microsoft.com/office/drawing/2014/main" id="{C63EDC9D-DC6C-F1EA-21F5-2BD030B5A2FA}"/>
              </a:ext>
            </a:extLst>
          </p:cNvPr>
          <p:cNvPicPr>
            <a:picLocks noChangeAspect="1"/>
          </p:cNvPicPr>
          <p:nvPr/>
        </p:nvPicPr>
        <p:blipFill>
          <a:blip r:embed="rId6"/>
          <a:stretch>
            <a:fillRect/>
          </a:stretch>
        </p:blipFill>
        <p:spPr>
          <a:xfrm>
            <a:off x="3710005" y="2031908"/>
            <a:ext cx="1054100" cy="203200"/>
          </a:xfrm>
          <a:prstGeom prst="rect">
            <a:avLst/>
          </a:prstGeom>
        </p:spPr>
      </p:pic>
      <p:pic>
        <p:nvPicPr>
          <p:cNvPr id="29" name="Picture 28">
            <a:extLst>
              <a:ext uri="{FF2B5EF4-FFF2-40B4-BE49-F238E27FC236}">
                <a16:creationId xmlns:a16="http://schemas.microsoft.com/office/drawing/2014/main" id="{CD2763AB-C9C6-E48A-9A6E-6A9009DB7432}"/>
              </a:ext>
            </a:extLst>
          </p:cNvPr>
          <p:cNvPicPr>
            <a:picLocks noChangeAspect="1"/>
          </p:cNvPicPr>
          <p:nvPr/>
        </p:nvPicPr>
        <p:blipFill>
          <a:blip r:embed="rId7"/>
          <a:stretch>
            <a:fillRect/>
          </a:stretch>
        </p:blipFill>
        <p:spPr>
          <a:xfrm>
            <a:off x="4986424" y="2073149"/>
            <a:ext cx="1917700" cy="241300"/>
          </a:xfrm>
          <a:prstGeom prst="rect">
            <a:avLst/>
          </a:prstGeom>
        </p:spPr>
      </p:pic>
      <p:grpSp>
        <p:nvGrpSpPr>
          <p:cNvPr id="30" name="Group 29">
            <a:extLst>
              <a:ext uri="{FF2B5EF4-FFF2-40B4-BE49-F238E27FC236}">
                <a16:creationId xmlns:a16="http://schemas.microsoft.com/office/drawing/2014/main" id="{1A791E8A-E846-E8B9-234B-789C1CA38604}"/>
              </a:ext>
            </a:extLst>
          </p:cNvPr>
          <p:cNvGrpSpPr/>
          <p:nvPr/>
        </p:nvGrpSpPr>
        <p:grpSpPr>
          <a:xfrm>
            <a:off x="5938034" y="1830802"/>
            <a:ext cx="484468" cy="535641"/>
            <a:chOff x="6710082" y="1104900"/>
            <a:chExt cx="484468" cy="535641"/>
          </a:xfrm>
        </p:grpSpPr>
        <p:cxnSp>
          <p:nvCxnSpPr>
            <p:cNvPr id="31" name="Straight Connector 30">
              <a:extLst>
                <a:ext uri="{FF2B5EF4-FFF2-40B4-BE49-F238E27FC236}">
                  <a16:creationId xmlns:a16="http://schemas.microsoft.com/office/drawing/2014/main" id="{8130BF91-0AB7-1A3F-5B54-29C344E410A3}"/>
                </a:ext>
              </a:extLst>
            </p:cNvPr>
            <p:cNvCxnSpPr/>
            <p:nvPr/>
          </p:nvCxnSpPr>
          <p:spPr>
            <a:xfrm flipV="1">
              <a:off x="6710082" y="1317812"/>
              <a:ext cx="309283" cy="3227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FB12ADC-8972-48B6-E9C8-ABE4D2654280}"/>
                </a:ext>
              </a:extLst>
            </p:cNvPr>
            <p:cNvSpPr txBox="1"/>
            <p:nvPr/>
          </p:nvSpPr>
          <p:spPr>
            <a:xfrm>
              <a:off x="6956425" y="1104900"/>
              <a:ext cx="238125" cy="369332"/>
            </a:xfrm>
            <a:prstGeom prst="rect">
              <a:avLst/>
            </a:prstGeom>
            <a:noFill/>
          </p:spPr>
          <p:txBody>
            <a:bodyPr wrap="square" rtlCol="0">
              <a:spAutoFit/>
            </a:bodyPr>
            <a:lstStyle/>
            <a:p>
              <a:r>
                <a:rPr lang="en-US" dirty="0">
                  <a:solidFill>
                    <a:srgbClr val="FF0000"/>
                  </a:solidFill>
                  <a:latin typeface="Times" pitchFamily="2" charset="0"/>
                </a:rPr>
                <a:t>0</a:t>
              </a:r>
            </a:p>
          </p:txBody>
        </p:sp>
      </p:grpSp>
      <p:pic>
        <p:nvPicPr>
          <p:cNvPr id="33" name="Picture 32">
            <a:extLst>
              <a:ext uri="{FF2B5EF4-FFF2-40B4-BE49-F238E27FC236}">
                <a16:creationId xmlns:a16="http://schemas.microsoft.com/office/drawing/2014/main" id="{444EF001-EF52-9A19-E7E1-486D3017CC3A}"/>
              </a:ext>
            </a:extLst>
          </p:cNvPr>
          <p:cNvPicPr>
            <a:picLocks noChangeAspect="1"/>
          </p:cNvPicPr>
          <p:nvPr/>
        </p:nvPicPr>
        <p:blipFill>
          <a:blip r:embed="rId8"/>
          <a:stretch>
            <a:fillRect/>
          </a:stretch>
        </p:blipFill>
        <p:spPr>
          <a:xfrm>
            <a:off x="7068736" y="2084802"/>
            <a:ext cx="1270000" cy="177800"/>
          </a:xfrm>
          <a:prstGeom prst="rect">
            <a:avLst/>
          </a:prstGeom>
        </p:spPr>
      </p:pic>
      <p:grpSp>
        <p:nvGrpSpPr>
          <p:cNvPr id="39" name="Group 38">
            <a:extLst>
              <a:ext uri="{FF2B5EF4-FFF2-40B4-BE49-F238E27FC236}">
                <a16:creationId xmlns:a16="http://schemas.microsoft.com/office/drawing/2014/main" id="{BF7A44DD-593B-F7CE-E689-4041FBB76248}"/>
              </a:ext>
            </a:extLst>
          </p:cNvPr>
          <p:cNvGrpSpPr/>
          <p:nvPr/>
        </p:nvGrpSpPr>
        <p:grpSpPr>
          <a:xfrm>
            <a:off x="8071027" y="1236135"/>
            <a:ext cx="555448" cy="1241425"/>
            <a:chOff x="8071027" y="1778000"/>
            <a:chExt cx="555448" cy="1241425"/>
          </a:xfrm>
        </p:grpSpPr>
        <p:sp>
          <p:nvSpPr>
            <p:cNvPr id="34" name="Left Brace 33">
              <a:extLst>
                <a:ext uri="{FF2B5EF4-FFF2-40B4-BE49-F238E27FC236}">
                  <a16:creationId xmlns:a16="http://schemas.microsoft.com/office/drawing/2014/main" id="{0F43877E-CB61-3502-9408-B563705A5073}"/>
                </a:ext>
              </a:extLst>
            </p:cNvPr>
            <p:cNvSpPr/>
            <p:nvPr/>
          </p:nvSpPr>
          <p:spPr>
            <a:xfrm rot="16200000">
              <a:off x="8139464" y="2811287"/>
              <a:ext cx="132827" cy="2697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D1BA4DF3-1573-2C76-21C4-1A7812B67132}"/>
                </a:ext>
              </a:extLst>
            </p:cNvPr>
            <p:cNvCxnSpPr/>
            <p:nvPr/>
          </p:nvCxnSpPr>
          <p:spPr>
            <a:xfrm>
              <a:off x="8197952" y="3013894"/>
              <a:ext cx="42770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859E670-FCF6-939F-2ED2-9F1A9B8751CB}"/>
                </a:ext>
              </a:extLst>
            </p:cNvPr>
            <p:cNvCxnSpPr/>
            <p:nvPr/>
          </p:nvCxnSpPr>
          <p:spPr>
            <a:xfrm flipH="1" flipV="1">
              <a:off x="8435975" y="1778000"/>
              <a:ext cx="190500" cy="1241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pic>
        <p:nvPicPr>
          <p:cNvPr id="40" name="Picture 39">
            <a:extLst>
              <a:ext uri="{FF2B5EF4-FFF2-40B4-BE49-F238E27FC236}">
                <a16:creationId xmlns:a16="http://schemas.microsoft.com/office/drawing/2014/main" id="{3449A011-3893-F7D0-A1D7-F88064578943}"/>
              </a:ext>
            </a:extLst>
          </p:cNvPr>
          <p:cNvPicPr>
            <a:picLocks noChangeAspect="1"/>
          </p:cNvPicPr>
          <p:nvPr/>
        </p:nvPicPr>
        <p:blipFill>
          <a:blip r:embed="rId9"/>
          <a:stretch>
            <a:fillRect/>
          </a:stretch>
        </p:blipFill>
        <p:spPr>
          <a:xfrm>
            <a:off x="8643236" y="766383"/>
            <a:ext cx="774700" cy="647700"/>
          </a:xfrm>
          <a:prstGeom prst="rect">
            <a:avLst/>
          </a:prstGeom>
        </p:spPr>
      </p:pic>
      <p:grpSp>
        <p:nvGrpSpPr>
          <p:cNvPr id="41" name="Group 40">
            <a:extLst>
              <a:ext uri="{FF2B5EF4-FFF2-40B4-BE49-F238E27FC236}">
                <a16:creationId xmlns:a16="http://schemas.microsoft.com/office/drawing/2014/main" id="{1EA565E9-AFAB-7DE3-1A39-566102550B28}"/>
              </a:ext>
            </a:extLst>
          </p:cNvPr>
          <p:cNvGrpSpPr/>
          <p:nvPr/>
        </p:nvGrpSpPr>
        <p:grpSpPr>
          <a:xfrm>
            <a:off x="4553339" y="1480166"/>
            <a:ext cx="4879589" cy="134170"/>
            <a:chOff x="3688558" y="2879724"/>
            <a:chExt cx="4879589" cy="134170"/>
          </a:xfrm>
        </p:grpSpPr>
        <p:sp>
          <p:nvSpPr>
            <p:cNvPr id="42" name="Left Brace 41">
              <a:extLst>
                <a:ext uri="{FF2B5EF4-FFF2-40B4-BE49-F238E27FC236}">
                  <a16:creationId xmlns:a16="http://schemas.microsoft.com/office/drawing/2014/main" id="{7F8E58A0-8F1B-B22D-BE01-2D155DCE92CD}"/>
                </a:ext>
              </a:extLst>
            </p:cNvPr>
            <p:cNvSpPr/>
            <p:nvPr/>
          </p:nvSpPr>
          <p:spPr>
            <a:xfrm rot="16200000">
              <a:off x="8253173" y="2697578"/>
              <a:ext cx="132827" cy="49712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A61FA39C-1848-CA36-FD29-E2BF1EAFF930}"/>
                </a:ext>
              </a:extLst>
            </p:cNvPr>
            <p:cNvCxnSpPr>
              <a:cxnSpLocks/>
            </p:cNvCxnSpPr>
            <p:nvPr/>
          </p:nvCxnSpPr>
          <p:spPr>
            <a:xfrm>
              <a:off x="3688558" y="3013894"/>
              <a:ext cx="4641461" cy="0"/>
            </a:xfrm>
            <a:prstGeom prst="line">
              <a:avLst/>
            </a:prstGeom>
            <a:ln w="19050"/>
          </p:spPr>
          <p:style>
            <a:lnRef idx="1">
              <a:schemeClr val="accent1"/>
            </a:lnRef>
            <a:fillRef idx="0">
              <a:schemeClr val="accent1"/>
            </a:fillRef>
            <a:effectRef idx="0">
              <a:schemeClr val="accent1"/>
            </a:effectRef>
            <a:fontRef idx="minor">
              <a:schemeClr val="tx1"/>
            </a:fontRef>
          </p:style>
        </p:cxnSp>
      </p:grpSp>
      <p:cxnSp>
        <p:nvCxnSpPr>
          <p:cNvPr id="48" name="Straight Arrow Connector 47">
            <a:extLst>
              <a:ext uri="{FF2B5EF4-FFF2-40B4-BE49-F238E27FC236}">
                <a16:creationId xmlns:a16="http://schemas.microsoft.com/office/drawing/2014/main" id="{D740EA9E-90E6-D3C9-F216-3E41075E749F}"/>
              </a:ext>
            </a:extLst>
          </p:cNvPr>
          <p:cNvCxnSpPr>
            <a:cxnSpLocks/>
          </p:cNvCxnSpPr>
          <p:nvPr/>
        </p:nvCxnSpPr>
        <p:spPr>
          <a:xfrm flipV="1">
            <a:off x="4554115" y="1240636"/>
            <a:ext cx="0" cy="3828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3CED2FD-8DCA-EFD6-66E4-59186A2E1384}"/>
              </a:ext>
            </a:extLst>
          </p:cNvPr>
          <p:cNvGrpSpPr/>
          <p:nvPr/>
        </p:nvGrpSpPr>
        <p:grpSpPr>
          <a:xfrm>
            <a:off x="1074869" y="2569470"/>
            <a:ext cx="8475531" cy="783772"/>
            <a:chOff x="1074869" y="3111335"/>
            <a:chExt cx="8475531" cy="783772"/>
          </a:xfrm>
        </p:grpSpPr>
        <p:sp>
          <p:nvSpPr>
            <p:cNvPr id="6" name="Rounded Rectangle 5">
              <a:extLst>
                <a:ext uri="{FF2B5EF4-FFF2-40B4-BE49-F238E27FC236}">
                  <a16:creationId xmlns:a16="http://schemas.microsoft.com/office/drawing/2014/main" id="{86E6FDB9-6488-9950-108B-3839FD7906D0}"/>
                </a:ext>
              </a:extLst>
            </p:cNvPr>
            <p:cNvSpPr/>
            <p:nvPr/>
          </p:nvSpPr>
          <p:spPr>
            <a:xfrm>
              <a:off x="7398327" y="3111335"/>
              <a:ext cx="1650670" cy="783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3B0911-80A1-2638-21DC-BA829D058911}"/>
                </a:ext>
              </a:extLst>
            </p:cNvPr>
            <p:cNvSpPr txBox="1"/>
            <p:nvPr/>
          </p:nvSpPr>
          <p:spPr>
            <a:xfrm>
              <a:off x="1074869" y="3252688"/>
              <a:ext cx="8475531" cy="461665"/>
            </a:xfrm>
            <a:prstGeom prst="rect">
              <a:avLst/>
            </a:prstGeom>
            <a:noFill/>
          </p:spPr>
          <p:txBody>
            <a:bodyPr wrap="square" rtlCol="0">
              <a:spAutoFit/>
            </a:bodyPr>
            <a:lstStyle/>
            <a:p>
              <a:r>
                <a:rPr lang="en-US" sz="2400" dirty="0">
                  <a:latin typeface="Times" pitchFamily="2" charset="0"/>
                </a:rPr>
                <a:t>After making theses two substitutions, we see that                        .</a:t>
              </a:r>
            </a:p>
          </p:txBody>
        </p:sp>
      </p:grpSp>
      <p:sp>
        <p:nvSpPr>
          <p:cNvPr id="9" name="TextBox 8">
            <a:extLst>
              <a:ext uri="{FF2B5EF4-FFF2-40B4-BE49-F238E27FC236}">
                <a16:creationId xmlns:a16="http://schemas.microsoft.com/office/drawing/2014/main" id="{A24E7D08-3268-0165-88F0-982390388646}"/>
              </a:ext>
            </a:extLst>
          </p:cNvPr>
          <p:cNvSpPr txBox="1"/>
          <p:nvPr/>
        </p:nvSpPr>
        <p:spPr>
          <a:xfrm>
            <a:off x="685403" y="3659090"/>
            <a:ext cx="10880064" cy="1200329"/>
          </a:xfrm>
          <a:prstGeom prst="rect">
            <a:avLst/>
          </a:prstGeom>
          <a:noFill/>
        </p:spPr>
        <p:txBody>
          <a:bodyPr wrap="square" rtlCol="0">
            <a:spAutoFit/>
          </a:bodyPr>
          <a:lstStyle/>
          <a:p>
            <a:r>
              <a:rPr lang="en-US" sz="2400" dirty="0">
                <a:latin typeface="Times" pitchFamily="2" charset="0"/>
              </a:rPr>
              <a:t>Here is what this equation tells us:  Take an object initially at rest, let it begin to rotate at a constant angular acceleration </a:t>
            </a:r>
            <a:r>
              <a:rPr lang="en-US" sz="2400" i="1" dirty="0">
                <a:latin typeface="Symbol" pitchFamily="2" charset="2"/>
              </a:rPr>
              <a:t>a</a:t>
            </a:r>
            <a:r>
              <a:rPr lang="en-US" sz="2400" dirty="0">
                <a:latin typeface="Times" pitchFamily="2" charset="0"/>
              </a:rPr>
              <a:t>, then </a:t>
            </a:r>
            <a:r>
              <a:rPr lang="en-US" sz="2400" dirty="0" err="1">
                <a:latin typeface="Symbol" pitchFamily="2" charset="2"/>
              </a:rPr>
              <a:t>D</a:t>
            </a:r>
            <a:r>
              <a:rPr lang="en-US" sz="2400" i="1" dirty="0" err="1">
                <a:latin typeface="Symbol" pitchFamily="2" charset="2"/>
              </a:rPr>
              <a:t>q</a:t>
            </a:r>
            <a:r>
              <a:rPr lang="en-US" sz="2400" dirty="0">
                <a:latin typeface="Times" pitchFamily="2" charset="0"/>
              </a:rPr>
              <a:t> is the angle it rotates through (angular displacement) in a time </a:t>
            </a:r>
            <a:r>
              <a:rPr lang="en-US" sz="2400" i="1" dirty="0">
                <a:latin typeface="Times" pitchFamily="2" charset="0"/>
              </a:rPr>
              <a:t>t</a:t>
            </a:r>
            <a:r>
              <a:rPr lang="en-US" sz="2400" dirty="0">
                <a:latin typeface="Times" pitchFamily="2" charset="0"/>
              </a:rPr>
              <a:t>.  </a:t>
            </a:r>
          </a:p>
        </p:txBody>
      </p:sp>
      <p:sp>
        <p:nvSpPr>
          <p:cNvPr id="12" name="TextBox 11">
            <a:extLst>
              <a:ext uri="{FF2B5EF4-FFF2-40B4-BE49-F238E27FC236}">
                <a16:creationId xmlns:a16="http://schemas.microsoft.com/office/drawing/2014/main" id="{99E14E32-6C59-3057-CFA8-D7B6B77B3A20}"/>
              </a:ext>
            </a:extLst>
          </p:cNvPr>
          <p:cNvSpPr txBox="1"/>
          <p:nvPr/>
        </p:nvSpPr>
        <p:spPr>
          <a:xfrm>
            <a:off x="702337" y="4962956"/>
            <a:ext cx="10880064" cy="461665"/>
          </a:xfrm>
          <a:prstGeom prst="rect">
            <a:avLst/>
          </a:prstGeom>
          <a:noFill/>
        </p:spPr>
        <p:txBody>
          <a:bodyPr wrap="square" rtlCol="0">
            <a:spAutoFit/>
          </a:bodyPr>
          <a:lstStyle/>
          <a:p>
            <a:r>
              <a:rPr lang="en-US" sz="2400" dirty="0">
                <a:latin typeface="Times" pitchFamily="2" charset="0"/>
              </a:rPr>
              <a:t>But what if the object is already rotating, i.e. what if </a:t>
            </a:r>
            <a:r>
              <a:rPr lang="en-US" sz="2400" i="1" dirty="0">
                <a:latin typeface="Symbol" pitchFamily="2" charset="2"/>
              </a:rPr>
              <a:t>w</a:t>
            </a:r>
            <a:r>
              <a:rPr lang="en-US" sz="2400" baseline="-25000" dirty="0">
                <a:latin typeface="Times" pitchFamily="2" charset="0"/>
              </a:rPr>
              <a:t>0</a:t>
            </a:r>
            <a:r>
              <a:rPr lang="en-US" sz="2400" dirty="0">
                <a:latin typeface="Times" pitchFamily="2" charset="0"/>
              </a:rPr>
              <a:t> ≠ 0?</a:t>
            </a:r>
          </a:p>
        </p:txBody>
      </p:sp>
      <p:grpSp>
        <p:nvGrpSpPr>
          <p:cNvPr id="25" name="Group 24">
            <a:extLst>
              <a:ext uri="{FF2B5EF4-FFF2-40B4-BE49-F238E27FC236}">
                <a16:creationId xmlns:a16="http://schemas.microsoft.com/office/drawing/2014/main" id="{9E5E2A5B-03B9-2C7B-6473-6249045CD0E4}"/>
              </a:ext>
            </a:extLst>
          </p:cNvPr>
          <p:cNvGrpSpPr/>
          <p:nvPr/>
        </p:nvGrpSpPr>
        <p:grpSpPr>
          <a:xfrm>
            <a:off x="702337" y="5538689"/>
            <a:ext cx="10880064" cy="830997"/>
            <a:chOff x="702337" y="5538689"/>
            <a:chExt cx="10880064" cy="830997"/>
          </a:xfrm>
        </p:grpSpPr>
        <p:sp>
          <p:nvSpPr>
            <p:cNvPr id="14" name="TextBox 13">
              <a:extLst>
                <a:ext uri="{FF2B5EF4-FFF2-40B4-BE49-F238E27FC236}">
                  <a16:creationId xmlns:a16="http://schemas.microsoft.com/office/drawing/2014/main" id="{16F90525-9B62-5B44-58FD-C8A6B04D4BFD}"/>
                </a:ext>
              </a:extLst>
            </p:cNvPr>
            <p:cNvSpPr txBox="1"/>
            <p:nvPr/>
          </p:nvSpPr>
          <p:spPr>
            <a:xfrm>
              <a:off x="702337" y="5538689"/>
              <a:ext cx="10880064" cy="830997"/>
            </a:xfrm>
            <a:prstGeom prst="rect">
              <a:avLst/>
            </a:prstGeom>
            <a:noFill/>
          </p:spPr>
          <p:txBody>
            <a:bodyPr wrap="square" rtlCol="0">
              <a:spAutoFit/>
            </a:bodyPr>
            <a:lstStyle/>
            <a:p>
              <a:r>
                <a:rPr lang="en-US" sz="2400" dirty="0">
                  <a:latin typeface="Times" pitchFamily="2" charset="0"/>
                </a:rPr>
                <a:t>Then                   gives us the displacement that would result if the angular acceleration were zero, and the angular velocity remained constant at its initial value of </a:t>
              </a:r>
              <a:r>
                <a:rPr lang="en-US" sz="2400" i="1" dirty="0">
                  <a:latin typeface="Symbol" pitchFamily="2" charset="2"/>
                </a:rPr>
                <a:t>w</a:t>
              </a:r>
              <a:r>
                <a:rPr lang="en-US" sz="2400" baseline="-25000" dirty="0">
                  <a:latin typeface="Times" pitchFamily="2" charset="0"/>
                </a:rPr>
                <a:t>0</a:t>
              </a:r>
              <a:r>
                <a:rPr lang="en-US" sz="2400" dirty="0">
                  <a:latin typeface="Times" pitchFamily="2" charset="0"/>
                </a:rPr>
                <a:t>. </a:t>
              </a:r>
            </a:p>
          </p:txBody>
        </p:sp>
        <p:sp>
          <p:nvSpPr>
            <p:cNvPr id="19" name="Rounded Rectangle 18">
              <a:extLst>
                <a:ext uri="{FF2B5EF4-FFF2-40B4-BE49-F238E27FC236}">
                  <a16:creationId xmlns:a16="http://schemas.microsoft.com/office/drawing/2014/main" id="{DB82AC4F-B29A-9A0C-37A6-12695816A752}"/>
                </a:ext>
              </a:extLst>
            </p:cNvPr>
            <p:cNvSpPr/>
            <p:nvPr/>
          </p:nvSpPr>
          <p:spPr>
            <a:xfrm>
              <a:off x="1490133" y="5554133"/>
              <a:ext cx="1253067" cy="4233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8375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dissolve">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dissolv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dissolve">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dissolve">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dissolve">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dissolve">
                                      <p:cBhvr>
                                        <p:cTn id="55" dur="500"/>
                                        <p:tgtEl>
                                          <p:spTgt spid="39"/>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dissolve">
                                      <p:cBhvr>
                                        <p:cTn id="60" dur="500"/>
                                        <p:tgtEl>
                                          <p:spTgt spid="40"/>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dissolve">
                                      <p:cBhvr>
                                        <p:cTn id="65" dur="500"/>
                                        <p:tgtEl>
                                          <p:spTgt spid="41"/>
                                        </p:tgtEl>
                                      </p:cBhvr>
                                    </p:animEffect>
                                  </p:childTnLst>
                                </p:cTn>
                              </p:par>
                            </p:childTnLst>
                          </p:cTn>
                        </p:par>
                        <p:par>
                          <p:cTn id="66" fill="hold">
                            <p:stCondLst>
                              <p:cond delay="500"/>
                            </p:stCondLst>
                            <p:childTnLst>
                              <p:par>
                                <p:cTn id="67" presetID="9" presetClass="entr" presetSubtype="0" fill="hold" nodeType="after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dissolve">
                                      <p:cBhvr>
                                        <p:cTn id="69" dur="500"/>
                                        <p:tgtEl>
                                          <p:spTgt spid="48"/>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nodeType="click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dissolve">
                                      <p:cBhvr>
                                        <p:cTn id="74" dur="500"/>
                                        <p:tgtEl>
                                          <p:spTgt spid="8"/>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dissolve">
                                      <p:cBhvr>
                                        <p:cTn id="79" dur="500"/>
                                        <p:tgtEl>
                                          <p:spTgt spid="9"/>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dissolve">
                                      <p:cBhvr>
                                        <p:cTn id="84" dur="500"/>
                                        <p:tgtEl>
                                          <p:spTgt spid="12"/>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nodeType="click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dissolve">
                                      <p:cBhvr>
                                        <p:cTn id="8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9"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616EF-3BD6-9CBD-B1E7-90463FDF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272A2-AD6D-7378-1B53-81F576B86CF9}"/>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8.3</a:t>
            </a:r>
            <a:r>
              <a:rPr lang="en-US" dirty="0">
                <a:ea typeface="Calibri" charset="0"/>
                <a:cs typeface="Calibri" charset="0"/>
              </a:rPr>
              <a:t> The Equations of Rotational Kinematics</a:t>
            </a:r>
            <a:endParaRPr lang="en-US" sz="3000" dirty="0"/>
          </a:p>
        </p:txBody>
      </p:sp>
      <p:grpSp>
        <p:nvGrpSpPr>
          <p:cNvPr id="26" name="Group 25">
            <a:extLst>
              <a:ext uri="{FF2B5EF4-FFF2-40B4-BE49-F238E27FC236}">
                <a16:creationId xmlns:a16="http://schemas.microsoft.com/office/drawing/2014/main" id="{DA33A276-B572-BD6C-A03A-882F670A993A}"/>
              </a:ext>
            </a:extLst>
          </p:cNvPr>
          <p:cNvGrpSpPr/>
          <p:nvPr/>
        </p:nvGrpSpPr>
        <p:grpSpPr>
          <a:xfrm>
            <a:off x="363669" y="609601"/>
            <a:ext cx="10676864" cy="846666"/>
            <a:chOff x="363669" y="609601"/>
            <a:chExt cx="10676864" cy="846666"/>
          </a:xfrm>
        </p:grpSpPr>
        <p:sp>
          <p:nvSpPr>
            <p:cNvPr id="5" name="TextBox 4">
              <a:extLst>
                <a:ext uri="{FF2B5EF4-FFF2-40B4-BE49-F238E27FC236}">
                  <a16:creationId xmlns:a16="http://schemas.microsoft.com/office/drawing/2014/main" id="{7280102E-F06C-4C5F-A3B9-0F83CD1D6B19}"/>
                </a:ext>
              </a:extLst>
            </p:cNvPr>
            <p:cNvSpPr txBox="1"/>
            <p:nvPr/>
          </p:nvSpPr>
          <p:spPr>
            <a:xfrm>
              <a:off x="363669" y="780424"/>
              <a:ext cx="8492464" cy="461665"/>
            </a:xfrm>
            <a:prstGeom prst="rect">
              <a:avLst/>
            </a:prstGeom>
            <a:noFill/>
          </p:spPr>
          <p:txBody>
            <a:bodyPr wrap="square" rtlCol="0">
              <a:spAutoFit/>
            </a:bodyPr>
            <a:lstStyle/>
            <a:p>
              <a:pPr algn="just"/>
              <a:r>
                <a:rPr lang="en-US" sz="2400" dirty="0">
                  <a:latin typeface="Times" pitchFamily="2" charset="0"/>
                </a:rPr>
                <a:t>The total angular displacement is just the sum of these two terms:</a:t>
              </a:r>
            </a:p>
          </p:txBody>
        </p:sp>
        <p:sp>
          <p:nvSpPr>
            <p:cNvPr id="20" name="Rounded Rectangle 19">
              <a:extLst>
                <a:ext uri="{FF2B5EF4-FFF2-40B4-BE49-F238E27FC236}">
                  <a16:creationId xmlns:a16="http://schemas.microsoft.com/office/drawing/2014/main" id="{9D04D1C0-786A-2005-E783-131BE5F0B6BC}"/>
                </a:ext>
              </a:extLst>
            </p:cNvPr>
            <p:cNvSpPr/>
            <p:nvPr/>
          </p:nvSpPr>
          <p:spPr>
            <a:xfrm>
              <a:off x="8652933" y="609601"/>
              <a:ext cx="2387600" cy="8466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EBC54D82-4ECB-FB36-35F5-69B599885952}"/>
              </a:ext>
            </a:extLst>
          </p:cNvPr>
          <p:cNvSpPr txBox="1"/>
          <p:nvPr/>
        </p:nvSpPr>
        <p:spPr>
          <a:xfrm>
            <a:off x="11184069" y="814290"/>
            <a:ext cx="1007931" cy="461665"/>
          </a:xfrm>
          <a:prstGeom prst="rect">
            <a:avLst/>
          </a:prstGeom>
          <a:noFill/>
        </p:spPr>
        <p:txBody>
          <a:bodyPr wrap="square" rtlCol="0">
            <a:spAutoFit/>
          </a:bodyPr>
          <a:lstStyle/>
          <a:p>
            <a:pPr algn="just"/>
            <a:r>
              <a:rPr lang="en-US" sz="2400" dirty="0">
                <a:latin typeface="Times" pitchFamily="2" charset="0"/>
              </a:rPr>
              <a:t>(</a:t>
            </a:r>
            <a:r>
              <a:rPr lang="en-US" sz="2400" b="1" dirty="0">
                <a:latin typeface="Times" pitchFamily="2" charset="0"/>
              </a:rPr>
              <a:t>8.7</a:t>
            </a:r>
            <a:r>
              <a:rPr lang="en-US" sz="2400" dirty="0">
                <a:latin typeface="Times" pitchFamily="2" charset="0"/>
              </a:rPr>
              <a:t>)</a:t>
            </a:r>
          </a:p>
        </p:txBody>
      </p:sp>
      <p:sp>
        <p:nvSpPr>
          <p:cNvPr id="35" name="TextBox 34">
            <a:extLst>
              <a:ext uri="{FF2B5EF4-FFF2-40B4-BE49-F238E27FC236}">
                <a16:creationId xmlns:a16="http://schemas.microsoft.com/office/drawing/2014/main" id="{4C79B4D6-A6E4-F8EA-B2B3-D36E0F212B65}"/>
              </a:ext>
            </a:extLst>
          </p:cNvPr>
          <p:cNvSpPr txBox="1"/>
          <p:nvPr/>
        </p:nvSpPr>
        <p:spPr>
          <a:xfrm>
            <a:off x="634602" y="1644024"/>
            <a:ext cx="11252598" cy="461665"/>
          </a:xfrm>
          <a:prstGeom prst="rect">
            <a:avLst/>
          </a:prstGeom>
          <a:noFill/>
        </p:spPr>
        <p:txBody>
          <a:bodyPr wrap="square" rtlCol="0">
            <a:spAutoFit/>
          </a:bodyPr>
          <a:lstStyle/>
          <a:p>
            <a:pPr algn="just"/>
            <a:r>
              <a:rPr lang="en-US" sz="2400" dirty="0">
                <a:latin typeface="Times" pitchFamily="2" charset="0"/>
              </a:rPr>
              <a:t>We refer to Equation 8.7 as </a:t>
            </a:r>
            <a:r>
              <a:rPr lang="en-US" sz="2400" i="1" dirty="0">
                <a:solidFill>
                  <a:srgbClr val="007440"/>
                </a:solidFill>
                <a:latin typeface="Times" pitchFamily="2" charset="0"/>
              </a:rPr>
              <a:t>the equation for motion with constant angular acceleration</a:t>
            </a:r>
            <a:r>
              <a:rPr lang="en-US" sz="2400" dirty="0">
                <a:latin typeface="Times" pitchFamily="2" charset="0"/>
              </a:rPr>
              <a:t>.</a:t>
            </a:r>
          </a:p>
        </p:txBody>
      </p:sp>
      <p:sp>
        <p:nvSpPr>
          <p:cNvPr id="37" name="TextBox 36">
            <a:extLst>
              <a:ext uri="{FF2B5EF4-FFF2-40B4-BE49-F238E27FC236}">
                <a16:creationId xmlns:a16="http://schemas.microsoft.com/office/drawing/2014/main" id="{0DE14923-14FF-4B13-8D5B-A8C6DED9A354}"/>
              </a:ext>
            </a:extLst>
          </p:cNvPr>
          <p:cNvSpPr txBox="1"/>
          <p:nvPr/>
        </p:nvSpPr>
        <p:spPr>
          <a:xfrm>
            <a:off x="651536" y="2253624"/>
            <a:ext cx="11252598" cy="830997"/>
          </a:xfrm>
          <a:prstGeom prst="rect">
            <a:avLst/>
          </a:prstGeom>
          <a:noFill/>
        </p:spPr>
        <p:txBody>
          <a:bodyPr wrap="square" rtlCol="0">
            <a:spAutoFit/>
          </a:bodyPr>
          <a:lstStyle/>
          <a:p>
            <a:pPr algn="just"/>
            <a:r>
              <a:rPr lang="en-US" sz="2400" dirty="0">
                <a:latin typeface="Times" pitchFamily="2" charset="0"/>
              </a:rPr>
              <a:t>It should look strikingly familiar, since it has the same mathematical form as the equation of motion for constant linear acceleration that we derived in Chapter 02.</a:t>
            </a:r>
          </a:p>
        </p:txBody>
      </p:sp>
      <p:sp>
        <p:nvSpPr>
          <p:cNvPr id="45" name="TextBox 44">
            <a:extLst>
              <a:ext uri="{FF2B5EF4-FFF2-40B4-BE49-F238E27FC236}">
                <a16:creationId xmlns:a16="http://schemas.microsoft.com/office/drawing/2014/main" id="{A90C5E79-969B-94BF-A889-CEC5B88D0A49}"/>
              </a:ext>
            </a:extLst>
          </p:cNvPr>
          <p:cNvSpPr txBox="1"/>
          <p:nvPr/>
        </p:nvSpPr>
        <p:spPr>
          <a:xfrm>
            <a:off x="634999" y="3119734"/>
            <a:ext cx="11167533" cy="461665"/>
          </a:xfrm>
          <a:prstGeom prst="rect">
            <a:avLst/>
          </a:prstGeom>
          <a:noFill/>
        </p:spPr>
        <p:txBody>
          <a:bodyPr wrap="square">
            <a:spAutoFit/>
          </a:bodyPr>
          <a:lstStyle/>
          <a:p>
            <a:pPr algn="just"/>
            <a:r>
              <a:rPr lang="en-US" sz="2400" dirty="0">
                <a:latin typeface="Times" pitchFamily="2" charset="0"/>
              </a:rPr>
              <a:t>This similarity reflects the close analogy between linear and rotational motion.</a:t>
            </a:r>
          </a:p>
        </p:txBody>
      </p:sp>
      <p:sp>
        <p:nvSpPr>
          <p:cNvPr id="46" name="TextBox 45">
            <a:extLst>
              <a:ext uri="{FF2B5EF4-FFF2-40B4-BE49-F238E27FC236}">
                <a16:creationId xmlns:a16="http://schemas.microsoft.com/office/drawing/2014/main" id="{EAB0BB0E-3608-E65F-5AC0-F2FE6D27957C}"/>
              </a:ext>
            </a:extLst>
          </p:cNvPr>
          <p:cNvSpPr txBox="1"/>
          <p:nvPr/>
        </p:nvSpPr>
        <p:spPr>
          <a:xfrm>
            <a:off x="651932" y="3797067"/>
            <a:ext cx="11167533" cy="830997"/>
          </a:xfrm>
          <a:prstGeom prst="rect">
            <a:avLst/>
          </a:prstGeom>
          <a:noFill/>
        </p:spPr>
        <p:txBody>
          <a:bodyPr wrap="square">
            <a:spAutoFit/>
          </a:bodyPr>
          <a:lstStyle/>
          <a:p>
            <a:pPr algn="just"/>
            <a:r>
              <a:rPr lang="en-US" sz="2400" dirty="0">
                <a:latin typeface="Times" pitchFamily="2" charset="0"/>
              </a:rPr>
              <a:t>In fact, there is a beautiful one-to-one correspondence between the variables describing linear motion and those describing rotational motion.</a:t>
            </a:r>
          </a:p>
        </p:txBody>
      </p:sp>
      <p:grpSp>
        <p:nvGrpSpPr>
          <p:cNvPr id="55" name="Group 54">
            <a:extLst>
              <a:ext uri="{FF2B5EF4-FFF2-40B4-BE49-F238E27FC236}">
                <a16:creationId xmlns:a16="http://schemas.microsoft.com/office/drawing/2014/main" id="{30CDBA05-8539-3C28-96F1-5A8DB9AE63F6}"/>
              </a:ext>
            </a:extLst>
          </p:cNvPr>
          <p:cNvGrpSpPr/>
          <p:nvPr/>
        </p:nvGrpSpPr>
        <p:grpSpPr>
          <a:xfrm>
            <a:off x="440270" y="4859867"/>
            <a:ext cx="11328399" cy="1253066"/>
            <a:chOff x="440270" y="4859867"/>
            <a:chExt cx="11328399" cy="1253066"/>
          </a:xfrm>
        </p:grpSpPr>
        <p:grpSp>
          <p:nvGrpSpPr>
            <p:cNvPr id="51" name="Group 50">
              <a:extLst>
                <a:ext uri="{FF2B5EF4-FFF2-40B4-BE49-F238E27FC236}">
                  <a16:creationId xmlns:a16="http://schemas.microsoft.com/office/drawing/2014/main" id="{00C5B49E-8B39-1613-04CC-380BB507F8CC}"/>
                </a:ext>
              </a:extLst>
            </p:cNvPr>
            <p:cNvGrpSpPr/>
            <p:nvPr/>
          </p:nvGrpSpPr>
          <p:grpSpPr>
            <a:xfrm>
              <a:off x="440270" y="4859867"/>
              <a:ext cx="11328399" cy="1253066"/>
              <a:chOff x="626533" y="4859867"/>
              <a:chExt cx="11328399" cy="1253066"/>
            </a:xfrm>
          </p:grpSpPr>
          <p:sp>
            <p:nvSpPr>
              <p:cNvPr id="49" name="TextBox 48">
                <a:extLst>
                  <a:ext uri="{FF2B5EF4-FFF2-40B4-BE49-F238E27FC236}">
                    <a16:creationId xmlns:a16="http://schemas.microsoft.com/office/drawing/2014/main" id="{F3F616C2-F6F1-840A-E0BF-DBCC43F44331}"/>
                  </a:ext>
                </a:extLst>
              </p:cNvPr>
              <p:cNvSpPr txBox="1"/>
              <p:nvPr/>
            </p:nvSpPr>
            <p:spPr>
              <a:xfrm>
                <a:off x="651933" y="4877769"/>
                <a:ext cx="11302999" cy="1200329"/>
              </a:xfrm>
              <a:prstGeom prst="rect">
                <a:avLst/>
              </a:prstGeom>
              <a:noFill/>
            </p:spPr>
            <p:txBody>
              <a:bodyPr wrap="square">
                <a:spAutoFit/>
              </a:bodyPr>
              <a:lstStyle/>
              <a:p>
                <a:pPr algn="just"/>
                <a:r>
                  <a:rPr lang="en-US" sz="2400" dirty="0">
                    <a:latin typeface="Times" pitchFamily="2" charset="0"/>
                  </a:rPr>
                  <a:t>The variables of linear motion have direct angular counterparts: displacement (</a:t>
                </a:r>
                <a:r>
                  <a:rPr lang="en-US" sz="2400" i="1" dirty="0">
                    <a:latin typeface="Times" pitchFamily="2" charset="0"/>
                  </a:rPr>
                  <a:t>x</a:t>
                </a:r>
                <a:r>
                  <a:rPr lang="en-US" sz="2400" dirty="0">
                    <a:latin typeface="Times" pitchFamily="2" charset="0"/>
                  </a:rPr>
                  <a:t>) is replaced by angular displacement (</a:t>
                </a:r>
                <a:r>
                  <a:rPr lang="en-US" sz="2400" i="1" dirty="0">
                    <a:latin typeface="Symbol" pitchFamily="2" charset="2"/>
                  </a:rPr>
                  <a:t>  </a:t>
                </a:r>
                <a:r>
                  <a:rPr lang="en-US" sz="2400" dirty="0">
                    <a:latin typeface="Times" pitchFamily="2" charset="0"/>
                  </a:rPr>
                  <a:t>), velocity (</a:t>
                </a:r>
                <a:r>
                  <a:rPr lang="en-US" sz="2400" i="1" dirty="0">
                    <a:latin typeface="Times" pitchFamily="2" charset="0"/>
                  </a:rPr>
                  <a:t>v</a:t>
                </a:r>
                <a:r>
                  <a:rPr lang="en-US" sz="2400" dirty="0">
                    <a:latin typeface="Times" pitchFamily="2" charset="0"/>
                  </a:rPr>
                  <a:t>) by angular velocity (</a:t>
                </a:r>
                <a:r>
                  <a:rPr lang="en-US" sz="2400" i="1" dirty="0">
                    <a:latin typeface="Symbol" pitchFamily="2" charset="2"/>
                  </a:rPr>
                  <a:t>  </a:t>
                </a:r>
                <a:r>
                  <a:rPr lang="en-US" sz="2400" dirty="0">
                    <a:latin typeface="Times" pitchFamily="2" charset="0"/>
                  </a:rPr>
                  <a:t>), and acceleration (</a:t>
                </a:r>
                <a:r>
                  <a:rPr lang="en-US" sz="2400" i="1" dirty="0">
                    <a:latin typeface="Times" pitchFamily="2" charset="0"/>
                  </a:rPr>
                  <a:t>a</a:t>
                </a:r>
                <a:r>
                  <a:rPr lang="en-US" sz="2400" dirty="0">
                    <a:latin typeface="Times" pitchFamily="2" charset="0"/>
                  </a:rPr>
                  <a:t>) by angular acceleration (</a:t>
                </a:r>
                <a:r>
                  <a:rPr lang="en-US" sz="2400" i="1" dirty="0">
                    <a:latin typeface="Symbol" pitchFamily="2" charset="2"/>
                  </a:rPr>
                  <a:t>  </a:t>
                </a:r>
                <a:r>
                  <a:rPr lang="en-US" sz="2400" dirty="0">
                    <a:latin typeface="Times" pitchFamily="2" charset="0"/>
                  </a:rPr>
                  <a:t>). Swapping out for Greek letters is all that’s required!</a:t>
                </a:r>
              </a:p>
            </p:txBody>
          </p:sp>
          <p:sp>
            <p:nvSpPr>
              <p:cNvPr id="50" name="Rectangle 49">
                <a:extLst>
                  <a:ext uri="{FF2B5EF4-FFF2-40B4-BE49-F238E27FC236}">
                    <a16:creationId xmlns:a16="http://schemas.microsoft.com/office/drawing/2014/main" id="{BB65E922-8450-35C3-D10C-35A7C02BE7E3}"/>
                  </a:ext>
                </a:extLst>
              </p:cNvPr>
              <p:cNvSpPr/>
              <p:nvPr/>
            </p:nvSpPr>
            <p:spPr>
              <a:xfrm>
                <a:off x="626533" y="4859867"/>
                <a:ext cx="11294534" cy="125306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Rounded Rectangle 51">
              <a:extLst>
                <a:ext uri="{FF2B5EF4-FFF2-40B4-BE49-F238E27FC236}">
                  <a16:creationId xmlns:a16="http://schemas.microsoft.com/office/drawing/2014/main" id="{903C2DDF-D33D-7981-AE0E-0985925DE525}"/>
                </a:ext>
              </a:extLst>
            </p:cNvPr>
            <p:cNvSpPr/>
            <p:nvPr/>
          </p:nvSpPr>
          <p:spPr>
            <a:xfrm>
              <a:off x="4789920" y="5365750"/>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4B0B0FEB-AEBB-69F0-BF3B-C9CFDB44AECC}"/>
                </a:ext>
              </a:extLst>
            </p:cNvPr>
            <p:cNvSpPr/>
            <p:nvPr/>
          </p:nvSpPr>
          <p:spPr>
            <a:xfrm>
              <a:off x="9228570" y="5365750"/>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68E8099C-903A-29CE-7743-553A36FE1B72}"/>
                </a:ext>
              </a:extLst>
            </p:cNvPr>
            <p:cNvSpPr/>
            <p:nvPr/>
          </p:nvSpPr>
          <p:spPr>
            <a:xfrm>
              <a:off x="3961245" y="5720195"/>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22827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dissolve">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dissolve">
                                      <p:cBhvr>
                                        <p:cTn id="26" dur="50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dissolve">
                                      <p:cBhvr>
                                        <p:cTn id="31" dur="500"/>
                                        <p:tgtEl>
                                          <p:spTgt spid="4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dissolve">
                                      <p:cBhvr>
                                        <p:cTn id="3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p:bldP spid="37" grpId="0"/>
      <p:bldP spid="45" grpId="0"/>
      <p:bldP spid="4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F0C5D-90A3-A6EC-2410-5FD78FC8D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5043E-950A-1205-38D0-5CB44F91E006}"/>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8.3</a:t>
            </a:r>
            <a:r>
              <a:rPr lang="en-US" dirty="0">
                <a:ea typeface="Calibri" charset="0"/>
                <a:cs typeface="Calibri" charset="0"/>
              </a:rPr>
              <a:t> The Equations of Rotational Kinematics</a:t>
            </a:r>
            <a:endParaRPr lang="en-US" sz="3000" dirty="0"/>
          </a:p>
        </p:txBody>
      </p:sp>
      <p:grpSp>
        <p:nvGrpSpPr>
          <p:cNvPr id="8" name="Group 7">
            <a:extLst>
              <a:ext uri="{FF2B5EF4-FFF2-40B4-BE49-F238E27FC236}">
                <a16:creationId xmlns:a16="http://schemas.microsoft.com/office/drawing/2014/main" id="{949C016C-C78A-4E7F-FAF1-8542016BDFC8}"/>
              </a:ext>
            </a:extLst>
          </p:cNvPr>
          <p:cNvGrpSpPr/>
          <p:nvPr/>
        </p:nvGrpSpPr>
        <p:grpSpPr>
          <a:xfrm>
            <a:off x="1185333" y="660405"/>
            <a:ext cx="9076267" cy="1569660"/>
            <a:chOff x="1185333" y="914400"/>
            <a:chExt cx="9076267" cy="1569660"/>
          </a:xfrm>
        </p:grpSpPr>
        <p:sp>
          <p:nvSpPr>
            <p:cNvPr id="3" name="Rounded Rectangle 2">
              <a:extLst>
                <a:ext uri="{FF2B5EF4-FFF2-40B4-BE49-F238E27FC236}">
                  <a16:creationId xmlns:a16="http://schemas.microsoft.com/office/drawing/2014/main" id="{BA6AA9C0-87F3-D9C6-D76A-ABD057CFE858}"/>
                </a:ext>
              </a:extLst>
            </p:cNvPr>
            <p:cNvSpPr/>
            <p:nvPr/>
          </p:nvSpPr>
          <p:spPr>
            <a:xfrm>
              <a:off x="1744132" y="1337732"/>
              <a:ext cx="3251200" cy="3725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7AB6FDF-C3BD-2A24-7F27-DC41A4B25B78}"/>
                </a:ext>
              </a:extLst>
            </p:cNvPr>
            <p:cNvSpPr txBox="1"/>
            <p:nvPr/>
          </p:nvSpPr>
          <p:spPr>
            <a:xfrm>
              <a:off x="1185333" y="914400"/>
              <a:ext cx="9076267" cy="1569660"/>
            </a:xfrm>
            <a:prstGeom prst="rect">
              <a:avLst/>
            </a:prstGeom>
            <a:noFill/>
          </p:spPr>
          <p:txBody>
            <a:bodyPr wrap="square" rtlCol="0">
              <a:spAutoFit/>
            </a:bodyPr>
            <a:lstStyle/>
            <a:p>
              <a:r>
                <a:rPr lang="en-US" sz="2400" dirty="0">
                  <a:latin typeface="Times" pitchFamily="2" charset="0"/>
                </a:rPr>
                <a:t>By making these substitutions, we obtain the complete set of equations for,                                             which have the same mathematical structure as the equations for linear motion.</a:t>
              </a:r>
            </a:p>
            <a:p>
              <a:endParaRPr lang="en-US" sz="2400" dirty="0"/>
            </a:p>
          </p:txBody>
        </p:sp>
      </p:grpSp>
      <p:pic>
        <p:nvPicPr>
          <p:cNvPr id="9" name="Picture 8">
            <a:extLst>
              <a:ext uri="{FF2B5EF4-FFF2-40B4-BE49-F238E27FC236}">
                <a16:creationId xmlns:a16="http://schemas.microsoft.com/office/drawing/2014/main" id="{A12E0E5A-43DD-533E-8CA2-DB80A295EF64}"/>
              </a:ext>
            </a:extLst>
          </p:cNvPr>
          <p:cNvPicPr>
            <a:picLocks noChangeAspect="1"/>
          </p:cNvPicPr>
          <p:nvPr/>
        </p:nvPicPr>
        <p:blipFill>
          <a:blip r:embed="rId3"/>
          <a:srcRect l="30522" t="50581" r="34967" b="26180"/>
          <a:stretch/>
        </p:blipFill>
        <p:spPr>
          <a:xfrm>
            <a:off x="1303867" y="1783131"/>
            <a:ext cx="9597812" cy="3635536"/>
          </a:xfrm>
          <a:prstGeom prst="rect">
            <a:avLst/>
          </a:prstGeom>
        </p:spPr>
      </p:pic>
      <p:sp>
        <p:nvSpPr>
          <p:cNvPr id="10" name="TextBox 9">
            <a:extLst>
              <a:ext uri="{FF2B5EF4-FFF2-40B4-BE49-F238E27FC236}">
                <a16:creationId xmlns:a16="http://schemas.microsoft.com/office/drawing/2014/main" id="{6F55AD14-742B-690F-FD7D-89818DAAAD8C}"/>
              </a:ext>
            </a:extLst>
          </p:cNvPr>
          <p:cNvSpPr txBox="1"/>
          <p:nvPr/>
        </p:nvSpPr>
        <p:spPr>
          <a:xfrm>
            <a:off x="516467" y="5507335"/>
            <a:ext cx="11167533" cy="830997"/>
          </a:xfrm>
          <a:prstGeom prst="rect">
            <a:avLst/>
          </a:prstGeom>
          <a:noFill/>
        </p:spPr>
        <p:txBody>
          <a:bodyPr wrap="square">
            <a:spAutoFit/>
          </a:bodyPr>
          <a:lstStyle/>
          <a:p>
            <a:pPr algn="just"/>
            <a:r>
              <a:rPr lang="en-US" sz="2400" dirty="0">
                <a:latin typeface="Times" pitchFamily="2" charset="0"/>
              </a:rPr>
              <a:t>*The bottom equation in the left column relates the initial and final angular velocities, the angular displacement, and the angular acceleration, without the need for time.</a:t>
            </a:r>
          </a:p>
        </p:txBody>
      </p:sp>
    </p:spTree>
    <p:extLst>
      <p:ext uri="{BB962C8B-B14F-4D97-AF65-F5344CB8AC3E}">
        <p14:creationId xmlns:p14="http://schemas.microsoft.com/office/powerpoint/2010/main" val="211856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9C22D-9DBB-019B-DD06-DCCD34EB8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564C1-56C5-12C8-72E7-C8EE32F3918E}"/>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8.3</a:t>
            </a:r>
            <a:r>
              <a:rPr lang="en-US" dirty="0">
                <a:ea typeface="Calibri" charset="0"/>
                <a:cs typeface="Calibri" charset="0"/>
              </a:rPr>
              <a:t> The Equations of Rotational Kinematics</a:t>
            </a:r>
            <a:endParaRPr lang="en-US" sz="3000" dirty="0"/>
          </a:p>
        </p:txBody>
      </p:sp>
      <p:sp>
        <p:nvSpPr>
          <p:cNvPr id="5" name="Text Box 6">
            <a:extLst>
              <a:ext uri="{FF2B5EF4-FFF2-40B4-BE49-F238E27FC236}">
                <a16:creationId xmlns:a16="http://schemas.microsoft.com/office/drawing/2014/main" id="{AFCF3DD5-4E99-7C6B-51C7-B706878C9CDF}"/>
              </a:ext>
            </a:extLst>
          </p:cNvPr>
          <p:cNvSpPr txBox="1">
            <a:spLocks noChangeArrowheads="1"/>
          </p:cNvSpPr>
          <p:nvPr/>
        </p:nvSpPr>
        <p:spPr bwMode="auto">
          <a:xfrm>
            <a:off x="1269966" y="1094272"/>
            <a:ext cx="101600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50000"/>
              </a:spcBef>
              <a:buNone/>
            </a:pPr>
            <a:r>
              <a:rPr lang="en-US" altLang="en-US" sz="2000" dirty="0">
                <a:latin typeface="Times New Roman" panose="02020603050405020304" pitchFamily="18" charset="0"/>
                <a:cs typeface="Times New Roman" panose="02020603050405020304" pitchFamily="18" charset="0"/>
              </a:rPr>
              <a:t>1. Make a drawing to represent the situation being studied, showing the direction of rotation.</a:t>
            </a:r>
          </a:p>
        </p:txBody>
      </p:sp>
      <p:sp>
        <p:nvSpPr>
          <p:cNvPr id="11" name="Text Box 7">
            <a:extLst>
              <a:ext uri="{FF2B5EF4-FFF2-40B4-BE49-F238E27FC236}">
                <a16:creationId xmlns:a16="http://schemas.microsoft.com/office/drawing/2014/main" id="{681CF1E2-1FB9-B14F-BEFD-3AB15616BE25}"/>
              </a:ext>
            </a:extLst>
          </p:cNvPr>
          <p:cNvSpPr txBox="1">
            <a:spLocks noChangeArrowheads="1"/>
          </p:cNvSpPr>
          <p:nvPr/>
        </p:nvSpPr>
        <p:spPr bwMode="auto">
          <a:xfrm>
            <a:off x="1269966" y="1483330"/>
            <a:ext cx="1051563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just">
              <a:spcBef>
                <a:spcPct val="50000"/>
              </a:spcBef>
              <a:buNone/>
            </a:pPr>
            <a:r>
              <a:rPr lang="en-US" altLang="en-US" sz="2000" dirty="0">
                <a:latin typeface="Times New Roman" panose="02020603050405020304" pitchFamily="18" charset="0"/>
                <a:cs typeface="Times New Roman" panose="02020603050405020304" pitchFamily="18" charset="0"/>
              </a:rPr>
              <a:t>2. Decide which direction of rotation is to be called positive (+) and which direction is to be called negative (−). In this text we choose the counterclockwise direction to be positive and the clockwise direction to be negative, but this is arbitrary.  But once chosen, don’t change it.</a:t>
            </a:r>
          </a:p>
        </p:txBody>
      </p:sp>
      <p:sp>
        <p:nvSpPr>
          <p:cNvPr id="13" name="Text Box 9">
            <a:extLst>
              <a:ext uri="{FF2B5EF4-FFF2-40B4-BE49-F238E27FC236}">
                <a16:creationId xmlns:a16="http://schemas.microsoft.com/office/drawing/2014/main" id="{219E4835-AAA5-3143-1EA9-3D892169E549}"/>
              </a:ext>
            </a:extLst>
          </p:cNvPr>
          <p:cNvSpPr txBox="1">
            <a:spLocks noChangeArrowheads="1"/>
          </p:cNvSpPr>
          <p:nvPr/>
        </p:nvSpPr>
        <p:spPr bwMode="auto">
          <a:xfrm>
            <a:off x="1286898" y="2468352"/>
            <a:ext cx="1044790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just">
              <a:spcBef>
                <a:spcPct val="50000"/>
              </a:spcBef>
              <a:buNone/>
            </a:pPr>
            <a:r>
              <a:rPr lang="en-US" altLang="en-US" sz="2000" dirty="0">
                <a:latin typeface="Times New Roman" panose="02020603050405020304" pitchFamily="18" charset="0"/>
                <a:cs typeface="Times New Roman" panose="02020603050405020304" pitchFamily="18" charset="0"/>
              </a:rPr>
              <a:t>3. write down the values (with appropriate + and − signs) that are given for any of the five rotational kinematic variables. Be on the alert for implied data, such as the phrase “starts from rest,” which means that the value of the initial angular velocity is </a:t>
            </a:r>
            <a:r>
              <a:rPr lang="en-US" altLang="en-US" sz="2000" i="1" dirty="0">
                <a:latin typeface="Symbol" pitchFamily="2" charset="2"/>
                <a:cs typeface="Times New Roman" panose="02020603050405020304" pitchFamily="18" charset="0"/>
              </a:rPr>
              <a:t>w</a:t>
            </a:r>
            <a:r>
              <a:rPr lang="en-US" altLang="en-US" sz="2000" baseline="-25000" dirty="0">
                <a:latin typeface="Times New Roman" panose="02020603050405020304" pitchFamily="18" charset="0"/>
                <a:cs typeface="Times New Roman" panose="02020603050405020304" pitchFamily="18" charset="0"/>
              </a:rPr>
              <a:t>0</a:t>
            </a:r>
            <a:r>
              <a:rPr lang="en-US" altLang="en-US" sz="2000" dirty="0">
                <a:latin typeface="Times New Roman" panose="02020603050405020304" pitchFamily="18" charset="0"/>
                <a:cs typeface="Times New Roman" panose="02020603050405020304" pitchFamily="18" charset="0"/>
              </a:rPr>
              <a:t> = 0 rad/s . In addition, identify the variable(s) that you are being asked to determine.</a:t>
            </a:r>
          </a:p>
        </p:txBody>
      </p:sp>
      <p:sp>
        <p:nvSpPr>
          <p:cNvPr id="14" name="Text Box 12">
            <a:extLst>
              <a:ext uri="{FF2B5EF4-FFF2-40B4-BE49-F238E27FC236}">
                <a16:creationId xmlns:a16="http://schemas.microsoft.com/office/drawing/2014/main" id="{FB5A970F-47F3-D009-9FCB-6B0C0AF77B19}"/>
              </a:ext>
            </a:extLst>
          </p:cNvPr>
          <p:cNvSpPr txBox="1">
            <a:spLocks noChangeArrowheads="1"/>
          </p:cNvSpPr>
          <p:nvPr/>
        </p:nvSpPr>
        <p:spPr bwMode="auto">
          <a:xfrm>
            <a:off x="1286899" y="3787849"/>
            <a:ext cx="1048176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just">
              <a:spcBef>
                <a:spcPct val="50000"/>
              </a:spcBef>
              <a:buNone/>
            </a:pPr>
            <a:r>
              <a:rPr lang="en-US" altLang="en-US" sz="2000" dirty="0">
                <a:latin typeface="Times New Roman" panose="02020603050405020304" pitchFamily="18" charset="0"/>
                <a:cs typeface="Times New Roman" panose="02020603050405020304" pitchFamily="18" charset="0"/>
              </a:rPr>
              <a:t>4. Verify that the given information contains values for at least three of the five kinematic variables. Once the three variables are identified for which values are known, the appropriate relation from Table 8.1 can be selected.</a:t>
            </a:r>
          </a:p>
        </p:txBody>
      </p:sp>
      <p:sp>
        <p:nvSpPr>
          <p:cNvPr id="15" name="Text Box 13">
            <a:extLst>
              <a:ext uri="{FF2B5EF4-FFF2-40B4-BE49-F238E27FC236}">
                <a16:creationId xmlns:a16="http://schemas.microsoft.com/office/drawing/2014/main" id="{6EF07826-FAED-9806-7782-545BE83C8B27}"/>
              </a:ext>
            </a:extLst>
          </p:cNvPr>
          <p:cNvSpPr txBox="1">
            <a:spLocks noChangeArrowheads="1"/>
          </p:cNvSpPr>
          <p:nvPr/>
        </p:nvSpPr>
        <p:spPr bwMode="auto">
          <a:xfrm>
            <a:off x="1303833" y="4864421"/>
            <a:ext cx="1063742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50000"/>
              </a:spcBef>
              <a:buNone/>
            </a:pPr>
            <a:r>
              <a:rPr lang="en-US" altLang="en-US" sz="2000" dirty="0">
                <a:latin typeface="Times New Roman" panose="02020603050405020304" pitchFamily="18" charset="0"/>
                <a:cs typeface="Times New Roman" panose="02020603050405020304" pitchFamily="18" charset="0"/>
              </a:rPr>
              <a:t>5. When the rotational motion is divided into segments, the final angular velocity of one segment is the initial angular velocity for the next segment.</a:t>
            </a:r>
          </a:p>
        </p:txBody>
      </p:sp>
      <p:sp>
        <p:nvSpPr>
          <p:cNvPr id="16" name="Text Box 14">
            <a:extLst>
              <a:ext uri="{FF2B5EF4-FFF2-40B4-BE49-F238E27FC236}">
                <a16:creationId xmlns:a16="http://schemas.microsoft.com/office/drawing/2014/main" id="{E4C77DAF-C7F1-4A78-B59C-3AD578D44A52}"/>
              </a:ext>
            </a:extLst>
          </p:cNvPr>
          <p:cNvSpPr txBox="1">
            <a:spLocks noChangeArrowheads="1"/>
          </p:cNvSpPr>
          <p:nvPr/>
        </p:nvSpPr>
        <p:spPr bwMode="auto">
          <a:xfrm>
            <a:off x="1303832" y="5642057"/>
            <a:ext cx="1030332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50000"/>
              </a:spcBef>
              <a:buNone/>
            </a:pPr>
            <a:r>
              <a:rPr lang="en-US" altLang="en-US" sz="2000" dirty="0">
                <a:latin typeface="Times New Roman" panose="02020603050405020304" pitchFamily="18" charset="0"/>
                <a:cs typeface="Times New Roman" panose="02020603050405020304" pitchFamily="18" charset="0"/>
              </a:rPr>
              <a:t>6. Keep in mind that there may be two possible answers to a kinematics problem. Try to visualize the different physical situations to which the answers correspond.</a:t>
            </a:r>
          </a:p>
        </p:txBody>
      </p:sp>
      <p:sp>
        <p:nvSpPr>
          <p:cNvPr id="17" name="TextBox 16">
            <a:extLst>
              <a:ext uri="{FF2B5EF4-FFF2-40B4-BE49-F238E27FC236}">
                <a16:creationId xmlns:a16="http://schemas.microsoft.com/office/drawing/2014/main" id="{4427A106-E6D1-2113-F56C-FABB39E53737}"/>
              </a:ext>
            </a:extLst>
          </p:cNvPr>
          <p:cNvSpPr txBox="1"/>
          <p:nvPr/>
        </p:nvSpPr>
        <p:spPr>
          <a:xfrm>
            <a:off x="1255452" y="676864"/>
            <a:ext cx="9111343" cy="400110"/>
          </a:xfrm>
          <a:prstGeom prst="rect">
            <a:avLst/>
          </a:prstGeom>
          <a:noFill/>
        </p:spPr>
        <p:txBody>
          <a:bodyPr wrap="square" rtlCol="0">
            <a:spAutoFit/>
          </a:bodyPr>
          <a:lstStyle/>
          <a:p>
            <a:r>
              <a:rPr lang="en-US" sz="2000" b="1" dirty="0">
                <a:solidFill>
                  <a:srgbClr val="7A6630"/>
                </a:solidFill>
                <a:latin typeface="Times New Roman" panose="02020603050405020304" pitchFamily="18" charset="0"/>
                <a:cs typeface="Times New Roman" panose="02020603050405020304" pitchFamily="18" charset="0"/>
              </a:rPr>
              <a:t>REASONING STRATEGY </a:t>
            </a:r>
            <a:r>
              <a:rPr lang="en-US" sz="2000" b="1" dirty="0">
                <a:latin typeface="Times New Roman" panose="02020603050405020304" pitchFamily="18" charset="0"/>
                <a:cs typeface="Times New Roman" panose="02020603050405020304" pitchFamily="18" charset="0"/>
              </a:rPr>
              <a:t>– Applying the Equations of Rotational Kinematics</a:t>
            </a:r>
          </a:p>
        </p:txBody>
      </p:sp>
      <p:sp>
        <p:nvSpPr>
          <p:cNvPr id="18" name="Rectangle 17">
            <a:extLst>
              <a:ext uri="{FF2B5EF4-FFF2-40B4-BE49-F238E27FC236}">
                <a16:creationId xmlns:a16="http://schemas.microsoft.com/office/drawing/2014/main" id="{31868AF8-4400-F2EA-F364-69564FAF6FC8}"/>
              </a:ext>
            </a:extLst>
          </p:cNvPr>
          <p:cNvSpPr/>
          <p:nvPr/>
        </p:nvSpPr>
        <p:spPr>
          <a:xfrm>
            <a:off x="229250" y="677334"/>
            <a:ext cx="11711353" cy="5689600"/>
          </a:xfrm>
          <a:prstGeom prst="rect">
            <a:avLst/>
          </a:prstGeom>
          <a:noFill/>
          <a:ln w="38100">
            <a:solidFill>
              <a:srgbClr val="7A6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BC6CF4A7-C48F-793E-E4E2-4A4A64D15054}"/>
              </a:ext>
            </a:extLst>
          </p:cNvPr>
          <p:cNvPicPr>
            <a:picLocks noChangeAspect="1"/>
          </p:cNvPicPr>
          <p:nvPr/>
        </p:nvPicPr>
        <p:blipFill>
          <a:blip r:embed="rId3"/>
          <a:srcRect l="69912" t="50342" r="4544" b="23131"/>
          <a:stretch/>
        </p:blipFill>
        <p:spPr>
          <a:xfrm>
            <a:off x="427132" y="5702300"/>
            <a:ext cx="888213" cy="614917"/>
          </a:xfrm>
          <a:prstGeom prst="rect">
            <a:avLst/>
          </a:prstGeom>
        </p:spPr>
      </p:pic>
      <p:pic>
        <p:nvPicPr>
          <p:cNvPr id="25" name="Picture 24">
            <a:extLst>
              <a:ext uri="{FF2B5EF4-FFF2-40B4-BE49-F238E27FC236}">
                <a16:creationId xmlns:a16="http://schemas.microsoft.com/office/drawing/2014/main" id="{4815CFFA-B10F-671D-1A03-093C96C9063F}"/>
              </a:ext>
            </a:extLst>
          </p:cNvPr>
          <p:cNvPicPr>
            <a:picLocks noChangeAspect="1"/>
          </p:cNvPicPr>
          <p:nvPr/>
        </p:nvPicPr>
        <p:blipFill>
          <a:blip r:embed="rId3"/>
          <a:srcRect l="70772" t="6500" r="6017" b="71579"/>
          <a:stretch/>
        </p:blipFill>
        <p:spPr>
          <a:xfrm>
            <a:off x="342963" y="2823854"/>
            <a:ext cx="933556" cy="587796"/>
          </a:xfrm>
          <a:prstGeom prst="rect">
            <a:avLst/>
          </a:prstGeom>
        </p:spPr>
      </p:pic>
      <p:pic>
        <p:nvPicPr>
          <p:cNvPr id="27" name="Picture 26">
            <a:extLst>
              <a:ext uri="{FF2B5EF4-FFF2-40B4-BE49-F238E27FC236}">
                <a16:creationId xmlns:a16="http://schemas.microsoft.com/office/drawing/2014/main" id="{059D1384-7FDA-6673-D274-752252249742}"/>
              </a:ext>
            </a:extLst>
          </p:cNvPr>
          <p:cNvPicPr>
            <a:picLocks noChangeAspect="1"/>
          </p:cNvPicPr>
          <p:nvPr/>
        </p:nvPicPr>
        <p:blipFill>
          <a:blip r:embed="rId3"/>
          <a:srcRect l="9491" t="3369" r="74667" b="71210"/>
          <a:stretch/>
        </p:blipFill>
        <p:spPr>
          <a:xfrm>
            <a:off x="580530" y="864304"/>
            <a:ext cx="567827" cy="607444"/>
          </a:xfrm>
          <a:prstGeom prst="rect">
            <a:avLst/>
          </a:prstGeom>
        </p:spPr>
      </p:pic>
      <p:grpSp>
        <p:nvGrpSpPr>
          <p:cNvPr id="29" name="Group 28">
            <a:extLst>
              <a:ext uri="{FF2B5EF4-FFF2-40B4-BE49-F238E27FC236}">
                <a16:creationId xmlns:a16="http://schemas.microsoft.com/office/drawing/2014/main" id="{A2ABCA4D-4F7A-DAB5-0A51-9CC93F032514}"/>
              </a:ext>
            </a:extLst>
          </p:cNvPr>
          <p:cNvGrpSpPr/>
          <p:nvPr/>
        </p:nvGrpSpPr>
        <p:grpSpPr>
          <a:xfrm>
            <a:off x="368300" y="4975225"/>
            <a:ext cx="993438" cy="536307"/>
            <a:chOff x="368300" y="4975225"/>
            <a:chExt cx="993438" cy="536307"/>
          </a:xfrm>
        </p:grpSpPr>
        <p:pic>
          <p:nvPicPr>
            <p:cNvPr id="23" name="Picture 22">
              <a:extLst>
                <a:ext uri="{FF2B5EF4-FFF2-40B4-BE49-F238E27FC236}">
                  <a16:creationId xmlns:a16="http://schemas.microsoft.com/office/drawing/2014/main" id="{76AC8D3B-E827-1C59-704E-4EA16C994F93}"/>
                </a:ext>
              </a:extLst>
            </p:cNvPr>
            <p:cNvPicPr>
              <a:picLocks noChangeAspect="1"/>
            </p:cNvPicPr>
            <p:nvPr/>
          </p:nvPicPr>
          <p:blipFill>
            <a:blip r:embed="rId3"/>
            <a:srcRect l="36263" t="51447" r="37579" b="27000"/>
            <a:stretch/>
          </p:blipFill>
          <p:spPr>
            <a:xfrm>
              <a:off x="408503" y="4987925"/>
              <a:ext cx="953235" cy="523607"/>
            </a:xfrm>
            <a:prstGeom prst="rect">
              <a:avLst/>
            </a:prstGeom>
          </p:spPr>
        </p:pic>
        <p:sp>
          <p:nvSpPr>
            <p:cNvPr id="28" name="Rectangle 27">
              <a:extLst>
                <a:ext uri="{FF2B5EF4-FFF2-40B4-BE49-F238E27FC236}">
                  <a16:creationId xmlns:a16="http://schemas.microsoft.com/office/drawing/2014/main" id="{12564C16-D717-1608-6104-91CD5AF87CF0}"/>
                </a:ext>
              </a:extLst>
            </p:cNvPr>
            <p:cNvSpPr/>
            <p:nvPr/>
          </p:nvSpPr>
          <p:spPr>
            <a:xfrm>
              <a:off x="368300" y="4975225"/>
              <a:ext cx="114300" cy="111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1FCF4DB7-9EE5-407D-6089-588CAF53F44F}"/>
              </a:ext>
            </a:extLst>
          </p:cNvPr>
          <p:cNvGrpSpPr/>
          <p:nvPr/>
        </p:nvGrpSpPr>
        <p:grpSpPr>
          <a:xfrm>
            <a:off x="368300" y="3986755"/>
            <a:ext cx="930275" cy="626711"/>
            <a:chOff x="368300" y="3986755"/>
            <a:chExt cx="930275" cy="626711"/>
          </a:xfrm>
        </p:grpSpPr>
        <p:pic>
          <p:nvPicPr>
            <p:cNvPr id="24" name="Picture 23">
              <a:extLst>
                <a:ext uri="{FF2B5EF4-FFF2-40B4-BE49-F238E27FC236}">
                  <a16:creationId xmlns:a16="http://schemas.microsoft.com/office/drawing/2014/main" id="{382C05FC-FDE3-7B6D-15F0-DEF0C9EADAC0}"/>
                </a:ext>
              </a:extLst>
            </p:cNvPr>
            <p:cNvPicPr>
              <a:picLocks noChangeAspect="1"/>
            </p:cNvPicPr>
            <p:nvPr/>
          </p:nvPicPr>
          <p:blipFill>
            <a:blip r:embed="rId3"/>
            <a:srcRect l="5316" t="49790" r="71351" b="25342"/>
            <a:stretch/>
          </p:blipFill>
          <p:spPr>
            <a:xfrm>
              <a:off x="416537" y="3986755"/>
              <a:ext cx="882038" cy="626711"/>
            </a:xfrm>
            <a:prstGeom prst="rect">
              <a:avLst/>
            </a:prstGeom>
          </p:spPr>
        </p:pic>
        <p:sp>
          <p:nvSpPr>
            <p:cNvPr id="30" name="Rectangle 29">
              <a:extLst>
                <a:ext uri="{FF2B5EF4-FFF2-40B4-BE49-F238E27FC236}">
                  <a16:creationId xmlns:a16="http://schemas.microsoft.com/office/drawing/2014/main" id="{E8D88BA3-B157-944B-6A48-0CBF28539EFD}"/>
                </a:ext>
              </a:extLst>
            </p:cNvPr>
            <p:cNvSpPr/>
            <p:nvPr/>
          </p:nvSpPr>
          <p:spPr>
            <a:xfrm>
              <a:off x="368300" y="3990975"/>
              <a:ext cx="114300" cy="111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480CF3D5-F7C2-5D65-F600-9EB59DD54F9B}"/>
              </a:ext>
            </a:extLst>
          </p:cNvPr>
          <p:cNvGrpSpPr/>
          <p:nvPr/>
        </p:nvGrpSpPr>
        <p:grpSpPr>
          <a:xfrm>
            <a:off x="490651" y="1654506"/>
            <a:ext cx="668510" cy="636453"/>
            <a:chOff x="395115" y="1695450"/>
            <a:chExt cx="668510" cy="636453"/>
          </a:xfrm>
        </p:grpSpPr>
        <p:pic>
          <p:nvPicPr>
            <p:cNvPr id="26" name="Picture 25">
              <a:extLst>
                <a:ext uri="{FF2B5EF4-FFF2-40B4-BE49-F238E27FC236}">
                  <a16:creationId xmlns:a16="http://schemas.microsoft.com/office/drawing/2014/main" id="{BE486209-9E1E-8364-E755-94E4EB2F3966}"/>
                </a:ext>
              </a:extLst>
            </p:cNvPr>
            <p:cNvPicPr>
              <a:picLocks noChangeAspect="1"/>
            </p:cNvPicPr>
            <p:nvPr/>
          </p:nvPicPr>
          <p:blipFill>
            <a:blip r:embed="rId3"/>
            <a:srcRect l="39948" t="5763" r="42982" b="70658"/>
            <a:stretch/>
          </p:blipFill>
          <p:spPr>
            <a:xfrm>
              <a:off x="395115" y="1716298"/>
              <a:ext cx="668510" cy="615605"/>
            </a:xfrm>
            <a:prstGeom prst="rect">
              <a:avLst/>
            </a:prstGeom>
          </p:spPr>
        </p:pic>
        <p:sp>
          <p:nvSpPr>
            <p:cNvPr id="32" name="Rectangle 31">
              <a:extLst>
                <a:ext uri="{FF2B5EF4-FFF2-40B4-BE49-F238E27FC236}">
                  <a16:creationId xmlns:a16="http://schemas.microsoft.com/office/drawing/2014/main" id="{944FCF94-C08E-AAEB-7E1C-E61031E7086B}"/>
                </a:ext>
              </a:extLst>
            </p:cNvPr>
            <p:cNvSpPr/>
            <p:nvPr/>
          </p:nvSpPr>
          <p:spPr>
            <a:xfrm rot="19100339">
              <a:off x="527051" y="1695450"/>
              <a:ext cx="114300" cy="111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c 36">
              <a:extLst>
                <a:ext uri="{FF2B5EF4-FFF2-40B4-BE49-F238E27FC236}">
                  <a16:creationId xmlns:a16="http://schemas.microsoft.com/office/drawing/2014/main" id="{3043B07B-21E0-F05A-68B6-832960B1E63D}"/>
                </a:ext>
              </a:extLst>
            </p:cNvPr>
            <p:cNvSpPr/>
            <p:nvPr/>
          </p:nvSpPr>
          <p:spPr>
            <a:xfrm rot="13233024">
              <a:off x="497729" y="1709501"/>
              <a:ext cx="315314" cy="462740"/>
            </a:xfrm>
            <a:prstGeom prst="arc">
              <a:avLst>
                <a:gd name="adj1" fmla="val 18231884"/>
                <a:gd name="adj2" fmla="val 597148"/>
              </a:avLst>
            </a:prstGeom>
            <a:ln>
              <a:solidFill>
                <a:srgbClr val="007440"/>
              </a:solidFill>
              <a:headEnd type="none" w="sm"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riangle 37">
              <a:extLst>
                <a:ext uri="{FF2B5EF4-FFF2-40B4-BE49-F238E27FC236}">
                  <a16:creationId xmlns:a16="http://schemas.microsoft.com/office/drawing/2014/main" id="{36AE44A4-4E40-07EC-D968-97BC07F86BDB}"/>
                </a:ext>
              </a:extLst>
            </p:cNvPr>
            <p:cNvSpPr/>
            <p:nvPr/>
          </p:nvSpPr>
          <p:spPr>
            <a:xfrm rot="10800000">
              <a:off x="441325" y="1984375"/>
              <a:ext cx="45719" cy="45719"/>
            </a:xfrm>
            <a:prstGeom prst="triangle">
              <a:avLst/>
            </a:prstGeom>
            <a:solidFill>
              <a:srgbClr val="007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22831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ox(in)">
                                      <p:cBhvr>
                                        <p:cTn id="16" dur="500"/>
                                        <p:tgtEl>
                                          <p:spTgt spid="11"/>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dissolve">
                                      <p:cBhvr>
                                        <p:cTn id="20" dur="500"/>
                                        <p:tgtEl>
                                          <p:spTgt spid="39"/>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ox(in)">
                                      <p:cBhvr>
                                        <p:cTn id="25" dur="500"/>
                                        <p:tgtEl>
                                          <p:spTgt spid="13"/>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dissolv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ox(in)">
                                      <p:cBhvr>
                                        <p:cTn id="34" dur="500"/>
                                        <p:tgtEl>
                                          <p:spTgt spid="14"/>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dissolve">
                                      <p:cBhvr>
                                        <p:cTn id="38" dur="5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ox(in)">
                                      <p:cBhvr>
                                        <p:cTn id="43" dur="500"/>
                                        <p:tgtEl>
                                          <p:spTgt spid="15"/>
                                        </p:tgtEl>
                                      </p:cBhvr>
                                    </p:animEffect>
                                  </p:childTnLst>
                                </p:cTn>
                              </p:par>
                            </p:childTnLst>
                          </p:cTn>
                        </p:par>
                        <p:par>
                          <p:cTn id="44" fill="hold">
                            <p:stCondLst>
                              <p:cond delay="500"/>
                            </p:stCondLst>
                            <p:childTnLst>
                              <p:par>
                                <p:cTn id="45" presetID="9" presetClass="entr" presetSubtype="0"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dissolve">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box(in)">
                                      <p:cBhvr>
                                        <p:cTn id="52" dur="500"/>
                                        <p:tgtEl>
                                          <p:spTgt spid="16"/>
                                        </p:tgtEl>
                                      </p:cBhvr>
                                    </p:animEffect>
                                  </p:childTnLst>
                                </p:cTn>
                              </p:par>
                            </p:childTnLst>
                          </p:cTn>
                        </p:par>
                        <p:par>
                          <p:cTn id="53" fill="hold">
                            <p:stCondLst>
                              <p:cond delay="500"/>
                            </p:stCondLst>
                            <p:childTnLst>
                              <p:par>
                                <p:cTn id="54" presetID="9" presetClass="entr" presetSubtype="0" fill="hold" nodeType="after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dissolve">
                                      <p:cBhvr>
                                        <p:cTn id="5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3" grpId="0"/>
      <p:bldP spid="14" grpId="0"/>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64BCB-B1F7-03B5-6188-DAA94D3D2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03CB9-8104-3F44-AF4B-D16D18436CC8}"/>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8.3</a:t>
            </a:r>
            <a:r>
              <a:rPr lang="en-US" dirty="0">
                <a:ea typeface="Calibri" charset="0"/>
                <a:cs typeface="Calibri" charset="0"/>
              </a:rPr>
              <a:t> The Equations of Rotational Kinematics</a:t>
            </a:r>
            <a:endParaRPr lang="en-US" sz="3000" dirty="0"/>
          </a:p>
        </p:txBody>
      </p:sp>
      <p:sp>
        <p:nvSpPr>
          <p:cNvPr id="4" name="TextBox 3">
            <a:extLst>
              <a:ext uri="{FF2B5EF4-FFF2-40B4-BE49-F238E27FC236}">
                <a16:creationId xmlns:a16="http://schemas.microsoft.com/office/drawing/2014/main" id="{D87E0B58-9EF9-CCAA-C8EF-7E0765F88D11}"/>
              </a:ext>
            </a:extLst>
          </p:cNvPr>
          <p:cNvSpPr txBox="1"/>
          <p:nvPr/>
        </p:nvSpPr>
        <p:spPr>
          <a:xfrm>
            <a:off x="931333" y="951006"/>
            <a:ext cx="8856133" cy="3046988"/>
          </a:xfrm>
          <a:prstGeom prst="rect">
            <a:avLst/>
          </a:prstGeom>
          <a:noFill/>
        </p:spPr>
        <p:txBody>
          <a:bodyPr wrap="square">
            <a:spAutoFit/>
          </a:bodyPr>
          <a:lstStyle/>
          <a:p>
            <a:pPr algn="just"/>
            <a:endParaRPr lang="en-US" sz="2400" dirty="0">
              <a:latin typeface="Times" pitchFamily="2" charset="0"/>
            </a:endParaRPr>
          </a:p>
          <a:p>
            <a:pPr algn="just"/>
            <a:r>
              <a:rPr lang="en-US" sz="2400" dirty="0">
                <a:latin typeface="Times" pitchFamily="2" charset="0"/>
              </a:rPr>
              <a:t>The blades of an electric blender are whirling with an angular velocity of +375 rad/s while the “puree” button is pushed in, as the figure shows. When the “blend” button is pressed, the blades accelerate and reach a greater angular velocity after the blades have rotated through an angular displacement of +44.0 rad. The angular acceleration has a constant value of +1740 rad/s</a:t>
            </a:r>
            <a:r>
              <a:rPr lang="en-US" sz="2400" baseline="30000" dirty="0">
                <a:latin typeface="Times" pitchFamily="2" charset="0"/>
              </a:rPr>
              <a:t>2</a:t>
            </a:r>
            <a:r>
              <a:rPr lang="en-US" sz="2400" dirty="0">
                <a:latin typeface="Times" pitchFamily="2" charset="0"/>
              </a:rPr>
              <a:t>. Find the final angular velocity of the blades.</a:t>
            </a:r>
          </a:p>
        </p:txBody>
      </p:sp>
      <p:sp>
        <p:nvSpPr>
          <p:cNvPr id="6" name="TextBox 5">
            <a:extLst>
              <a:ext uri="{FF2B5EF4-FFF2-40B4-BE49-F238E27FC236}">
                <a16:creationId xmlns:a16="http://schemas.microsoft.com/office/drawing/2014/main" id="{B0524C7F-9181-0462-DEEE-E5D685FB63C0}"/>
              </a:ext>
            </a:extLst>
          </p:cNvPr>
          <p:cNvSpPr txBox="1"/>
          <p:nvPr/>
        </p:nvSpPr>
        <p:spPr>
          <a:xfrm>
            <a:off x="908642" y="710007"/>
            <a:ext cx="8759947" cy="523220"/>
          </a:xfrm>
          <a:prstGeom prst="rect">
            <a:avLst/>
          </a:prstGeom>
          <a:noFill/>
        </p:spPr>
        <p:txBody>
          <a:bodyPr wrap="square" rtlCol="0">
            <a:spAutoFit/>
          </a:bodyPr>
          <a:lstStyle/>
          <a:p>
            <a:r>
              <a:rPr lang="en-US" sz="2800" dirty="0">
                <a:solidFill>
                  <a:srgbClr val="C00000"/>
                </a:solidFill>
                <a:latin typeface="Times" pitchFamily="2" charset="0"/>
              </a:rPr>
              <a:t>Example – Blending with a Blender</a:t>
            </a:r>
          </a:p>
        </p:txBody>
      </p:sp>
      <p:pic>
        <p:nvPicPr>
          <p:cNvPr id="8" name="Picture 7">
            <a:extLst>
              <a:ext uri="{FF2B5EF4-FFF2-40B4-BE49-F238E27FC236}">
                <a16:creationId xmlns:a16="http://schemas.microsoft.com/office/drawing/2014/main" id="{8B867C34-E81F-17C5-4426-66E898C31F4F}"/>
              </a:ext>
            </a:extLst>
          </p:cNvPr>
          <p:cNvPicPr>
            <a:picLocks noChangeAspect="1"/>
          </p:cNvPicPr>
          <p:nvPr/>
        </p:nvPicPr>
        <p:blipFill>
          <a:blip r:embed="rId3"/>
          <a:stretch>
            <a:fillRect/>
          </a:stretch>
        </p:blipFill>
        <p:spPr>
          <a:xfrm>
            <a:off x="9963149" y="197022"/>
            <a:ext cx="2076450" cy="3124028"/>
          </a:xfrm>
          <a:prstGeom prst="rect">
            <a:avLst/>
          </a:prstGeom>
        </p:spPr>
      </p:pic>
      <p:sp>
        <p:nvSpPr>
          <p:cNvPr id="9" name="TextBox 8">
            <a:extLst>
              <a:ext uri="{FF2B5EF4-FFF2-40B4-BE49-F238E27FC236}">
                <a16:creationId xmlns:a16="http://schemas.microsoft.com/office/drawing/2014/main" id="{E260E3FF-1FA2-66D4-FC87-81DDAA53FB53}"/>
              </a:ext>
            </a:extLst>
          </p:cNvPr>
          <p:cNvSpPr txBox="1"/>
          <p:nvPr/>
        </p:nvSpPr>
        <p:spPr>
          <a:xfrm>
            <a:off x="931333" y="4032873"/>
            <a:ext cx="8856133" cy="461665"/>
          </a:xfrm>
          <a:prstGeom prst="rect">
            <a:avLst/>
          </a:prstGeom>
          <a:noFill/>
        </p:spPr>
        <p:txBody>
          <a:bodyPr wrap="square">
            <a:spAutoFit/>
          </a:bodyPr>
          <a:lstStyle/>
          <a:p>
            <a:pPr algn="just"/>
            <a:r>
              <a:rPr lang="en-US" sz="2400" dirty="0">
                <a:latin typeface="Times" pitchFamily="2" charset="0"/>
              </a:rPr>
              <a:t>We are looking for the final angular velocity, or </a:t>
            </a:r>
            <a:r>
              <a:rPr lang="en-US" sz="2400" i="1" dirty="0">
                <a:latin typeface="Symbol" pitchFamily="2" charset="2"/>
              </a:rPr>
              <a:t>w</a:t>
            </a:r>
            <a:r>
              <a:rPr lang="en-US" sz="2400" dirty="0">
                <a:latin typeface="Times" pitchFamily="2" charset="0"/>
              </a:rPr>
              <a:t>.</a:t>
            </a:r>
          </a:p>
        </p:txBody>
      </p:sp>
      <p:sp>
        <p:nvSpPr>
          <p:cNvPr id="10" name="TextBox 9">
            <a:extLst>
              <a:ext uri="{FF2B5EF4-FFF2-40B4-BE49-F238E27FC236}">
                <a16:creationId xmlns:a16="http://schemas.microsoft.com/office/drawing/2014/main" id="{149303E3-F12A-9A5E-7C35-D8CB3BB4E096}"/>
              </a:ext>
            </a:extLst>
          </p:cNvPr>
          <p:cNvSpPr txBox="1"/>
          <p:nvPr/>
        </p:nvSpPr>
        <p:spPr>
          <a:xfrm>
            <a:off x="948266" y="4574739"/>
            <a:ext cx="8856133" cy="461665"/>
          </a:xfrm>
          <a:prstGeom prst="rect">
            <a:avLst/>
          </a:prstGeom>
          <a:noFill/>
        </p:spPr>
        <p:txBody>
          <a:bodyPr wrap="square">
            <a:spAutoFit/>
          </a:bodyPr>
          <a:lstStyle/>
          <a:p>
            <a:pPr algn="just"/>
            <a:r>
              <a:rPr lang="en-US" sz="2400" dirty="0">
                <a:latin typeface="Times" pitchFamily="2" charset="0"/>
              </a:rPr>
              <a:t>We are given the following:  </a:t>
            </a:r>
            <a:r>
              <a:rPr lang="en-US" sz="2400" i="1" dirty="0">
                <a:latin typeface="Symbol" pitchFamily="2" charset="2"/>
              </a:rPr>
              <a:t>w</a:t>
            </a:r>
            <a:r>
              <a:rPr lang="en-US" sz="2400" baseline="-25000" dirty="0">
                <a:latin typeface="Times" pitchFamily="2" charset="0"/>
              </a:rPr>
              <a:t>0</a:t>
            </a:r>
            <a:r>
              <a:rPr lang="en-US" sz="2400" dirty="0">
                <a:latin typeface="Times" pitchFamily="2" charset="0"/>
              </a:rPr>
              <a:t>, </a:t>
            </a:r>
            <a:r>
              <a:rPr lang="en-US" sz="2400" dirty="0" err="1">
                <a:latin typeface="Symbol" pitchFamily="2" charset="2"/>
              </a:rPr>
              <a:t>D</a:t>
            </a:r>
            <a:r>
              <a:rPr lang="en-US" sz="2400" i="1" dirty="0" err="1">
                <a:latin typeface="Symbol" pitchFamily="2" charset="2"/>
              </a:rPr>
              <a:t>q</a:t>
            </a:r>
            <a:r>
              <a:rPr lang="en-US" sz="2400" dirty="0">
                <a:latin typeface="Times" pitchFamily="2" charset="0"/>
              </a:rPr>
              <a:t>, and </a:t>
            </a:r>
            <a:r>
              <a:rPr lang="en-US" sz="2400" i="1" dirty="0">
                <a:latin typeface="Symbol" pitchFamily="2" charset="2"/>
              </a:rPr>
              <a:t>a.</a:t>
            </a:r>
          </a:p>
        </p:txBody>
      </p:sp>
      <p:sp>
        <p:nvSpPr>
          <p:cNvPr id="12" name="TextBox 11">
            <a:extLst>
              <a:ext uri="{FF2B5EF4-FFF2-40B4-BE49-F238E27FC236}">
                <a16:creationId xmlns:a16="http://schemas.microsoft.com/office/drawing/2014/main" id="{5BDC9EB0-7C43-495A-F97F-57F01617F6A1}"/>
              </a:ext>
            </a:extLst>
          </p:cNvPr>
          <p:cNvSpPr txBox="1"/>
          <p:nvPr/>
        </p:nvSpPr>
        <p:spPr>
          <a:xfrm>
            <a:off x="6350000" y="4574740"/>
            <a:ext cx="3556000" cy="461665"/>
          </a:xfrm>
          <a:prstGeom prst="rect">
            <a:avLst/>
          </a:prstGeom>
          <a:noFill/>
        </p:spPr>
        <p:txBody>
          <a:bodyPr wrap="square">
            <a:spAutoFit/>
          </a:bodyPr>
          <a:lstStyle/>
          <a:p>
            <a:pPr algn="just"/>
            <a:r>
              <a:rPr lang="en-US" sz="2400" dirty="0">
                <a:latin typeface="Times" pitchFamily="2" charset="0"/>
              </a:rPr>
              <a:t>We can use Equation 8.8:</a:t>
            </a:r>
            <a:endParaRPr lang="en-US" sz="2400" i="1" dirty="0">
              <a:latin typeface="Symbol" pitchFamily="2" charset="2"/>
            </a:endParaRPr>
          </a:p>
        </p:txBody>
      </p:sp>
      <p:sp>
        <p:nvSpPr>
          <p:cNvPr id="20" name="Rounded Rectangle 19">
            <a:extLst>
              <a:ext uri="{FF2B5EF4-FFF2-40B4-BE49-F238E27FC236}">
                <a16:creationId xmlns:a16="http://schemas.microsoft.com/office/drawing/2014/main" id="{707C20A1-6707-4AE7-BD2D-1E377E3FD1E9}"/>
              </a:ext>
            </a:extLst>
          </p:cNvPr>
          <p:cNvSpPr/>
          <p:nvPr/>
        </p:nvSpPr>
        <p:spPr>
          <a:xfrm>
            <a:off x="9736666" y="4538133"/>
            <a:ext cx="2184400" cy="524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46690D70-B8A3-6D5B-EBC5-1CF18A1978D6}"/>
              </a:ext>
            </a:extLst>
          </p:cNvPr>
          <p:cNvSpPr/>
          <p:nvPr/>
        </p:nvSpPr>
        <p:spPr>
          <a:xfrm>
            <a:off x="1049865" y="5334000"/>
            <a:ext cx="9048292" cy="524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129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dissolve">
                                      <p:cBhvr>
                                        <p:cTn id="21" dur="500"/>
                                        <p:tgtEl>
                                          <p:spTgt spid="20"/>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dissolve">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20"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1FC87-B08A-B479-9DEA-0465E0EF4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32E1B-0EC3-3942-1E34-A1A7B6EB5343}"/>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8.3</a:t>
            </a:r>
            <a:r>
              <a:rPr lang="en-US" dirty="0">
                <a:ea typeface="Calibri" charset="0"/>
                <a:cs typeface="Calibri" charset="0"/>
              </a:rPr>
              <a:t> The Equations of Rotational Kinematics</a:t>
            </a:r>
            <a:endParaRPr lang="en-US" sz="3000" dirty="0"/>
          </a:p>
        </p:txBody>
      </p:sp>
      <p:sp>
        <p:nvSpPr>
          <p:cNvPr id="3" name="TextBox 2">
            <a:extLst>
              <a:ext uri="{FF2B5EF4-FFF2-40B4-BE49-F238E27FC236}">
                <a16:creationId xmlns:a16="http://schemas.microsoft.com/office/drawing/2014/main" id="{D69834CD-51F2-B0B1-22F5-97CC1CFCE96D}"/>
              </a:ext>
            </a:extLst>
          </p:cNvPr>
          <p:cNvSpPr txBox="1"/>
          <p:nvPr/>
        </p:nvSpPr>
        <p:spPr>
          <a:xfrm>
            <a:off x="894631" y="727937"/>
            <a:ext cx="10382969" cy="4832092"/>
          </a:xfrm>
          <a:prstGeom prst="rect">
            <a:avLst/>
          </a:prstGeom>
          <a:noFill/>
        </p:spPr>
        <p:txBody>
          <a:bodyPr wrap="square" rtlCol="0">
            <a:spAutoFit/>
          </a:bodyPr>
          <a:lstStyle/>
          <a:p>
            <a:pPr algn="just"/>
            <a:r>
              <a:rPr lang="en-US" sz="2800" dirty="0">
                <a:solidFill>
                  <a:srgbClr val="3E5891"/>
                </a:solidFill>
                <a:latin typeface="Times" pitchFamily="2" charset="0"/>
              </a:rPr>
              <a:t>CYU/TPS – The blades of a ceiling fan start from rest and, after two revolutions, have an angular speed of </a:t>
            </a:r>
            <a:r>
              <a:rPr lang="en-US" sz="2800" i="1" dirty="0">
                <a:solidFill>
                  <a:srgbClr val="3E5891"/>
                </a:solidFill>
                <a:latin typeface="Symbol" pitchFamily="2" charset="2"/>
              </a:rPr>
              <a:t>w</a:t>
            </a:r>
            <a:r>
              <a:rPr lang="en-US" sz="2800" baseline="-25000" dirty="0">
                <a:solidFill>
                  <a:srgbClr val="3E5891"/>
                </a:solidFill>
                <a:latin typeface="Times" pitchFamily="2" charset="0"/>
              </a:rPr>
              <a:t>1</a:t>
            </a:r>
            <a:r>
              <a:rPr lang="en-US" sz="2800" dirty="0">
                <a:solidFill>
                  <a:srgbClr val="3E5891"/>
                </a:solidFill>
                <a:latin typeface="Times" pitchFamily="2" charset="0"/>
              </a:rPr>
              <a:t> rev/s. The angular acceleration of the blades is constant. What is the angular speed after eight revolutions?</a:t>
            </a:r>
          </a:p>
          <a:p>
            <a:pPr algn="just"/>
            <a:endParaRPr lang="en-US" sz="2800" dirty="0">
              <a:solidFill>
                <a:srgbClr val="3E5891"/>
              </a:solidFill>
              <a:latin typeface="Times" pitchFamily="2" charset="0"/>
            </a:endParaRPr>
          </a:p>
          <a:p>
            <a:pPr algn="just"/>
            <a:r>
              <a:rPr lang="en-US" sz="2800" dirty="0">
                <a:solidFill>
                  <a:srgbClr val="3E5891"/>
                </a:solidFill>
                <a:latin typeface="Times" pitchFamily="2" charset="0"/>
              </a:rPr>
              <a:t>(</a:t>
            </a:r>
            <a:r>
              <a:rPr lang="en-US" sz="2800" b="1" dirty="0">
                <a:solidFill>
                  <a:srgbClr val="3E5891"/>
                </a:solidFill>
                <a:latin typeface="Times" pitchFamily="2" charset="0"/>
              </a:rPr>
              <a:t>a</a:t>
            </a:r>
            <a:r>
              <a:rPr lang="en-US" sz="2800" dirty="0">
                <a:solidFill>
                  <a:srgbClr val="3E5891"/>
                </a:solidFill>
                <a:latin typeface="Times" pitchFamily="2" charset="0"/>
              </a:rPr>
              <a:t>) </a:t>
            </a:r>
            <a:r>
              <a:rPr lang="en-US" sz="2800" i="1" dirty="0">
                <a:solidFill>
                  <a:srgbClr val="3E5891"/>
                </a:solidFill>
                <a:latin typeface="Symbol" pitchFamily="2" charset="2"/>
              </a:rPr>
              <a:t>w</a:t>
            </a:r>
            <a:r>
              <a:rPr lang="en-US" sz="2800" baseline="-25000" dirty="0">
                <a:solidFill>
                  <a:srgbClr val="3E5891"/>
                </a:solidFill>
                <a:latin typeface="Times" pitchFamily="2" charset="0"/>
              </a:rPr>
              <a:t>1</a:t>
            </a:r>
            <a:r>
              <a:rPr lang="en-US" sz="2800" dirty="0">
                <a:solidFill>
                  <a:srgbClr val="3E5891"/>
                </a:solidFill>
                <a:latin typeface="Times" pitchFamily="2" charset="0"/>
              </a:rPr>
              <a:t> rev/s</a:t>
            </a:r>
          </a:p>
          <a:p>
            <a:pPr algn="just"/>
            <a:r>
              <a:rPr lang="en-US" sz="2800" dirty="0">
                <a:solidFill>
                  <a:srgbClr val="3E5891"/>
                </a:solidFill>
                <a:latin typeface="Times" pitchFamily="2" charset="0"/>
              </a:rPr>
              <a:t>(</a:t>
            </a:r>
            <a:r>
              <a:rPr lang="en-US" sz="2800" b="1" dirty="0">
                <a:solidFill>
                  <a:srgbClr val="3E5891"/>
                </a:solidFill>
                <a:latin typeface="Times" pitchFamily="2" charset="0"/>
              </a:rPr>
              <a:t>b</a:t>
            </a:r>
            <a:r>
              <a:rPr lang="en-US" sz="2800" dirty="0">
                <a:solidFill>
                  <a:srgbClr val="3E5891"/>
                </a:solidFill>
                <a:latin typeface="Times" pitchFamily="2" charset="0"/>
              </a:rPr>
              <a:t>) 2</a:t>
            </a:r>
            <a:r>
              <a:rPr lang="en-US" sz="2800" i="1" dirty="0">
                <a:solidFill>
                  <a:srgbClr val="3E5891"/>
                </a:solidFill>
                <a:latin typeface="Symbol" pitchFamily="2" charset="2"/>
              </a:rPr>
              <a:t>w</a:t>
            </a:r>
            <a:r>
              <a:rPr lang="en-US" sz="2800" baseline="-25000" dirty="0">
                <a:solidFill>
                  <a:srgbClr val="3E5891"/>
                </a:solidFill>
                <a:latin typeface="Times" pitchFamily="2" charset="0"/>
              </a:rPr>
              <a:t>1</a:t>
            </a:r>
            <a:r>
              <a:rPr lang="en-US" sz="2800" dirty="0">
                <a:solidFill>
                  <a:srgbClr val="3E5891"/>
                </a:solidFill>
                <a:latin typeface="Times" pitchFamily="2" charset="0"/>
              </a:rPr>
              <a:t> rev/s</a:t>
            </a:r>
          </a:p>
          <a:p>
            <a:pPr algn="just"/>
            <a:r>
              <a:rPr lang="en-US" sz="2800" dirty="0">
                <a:solidFill>
                  <a:srgbClr val="3E5891"/>
                </a:solidFill>
                <a:latin typeface="Times" pitchFamily="2" charset="0"/>
              </a:rPr>
              <a:t>(</a:t>
            </a:r>
            <a:r>
              <a:rPr lang="en-US" sz="2800" b="1" dirty="0">
                <a:solidFill>
                  <a:srgbClr val="3E5891"/>
                </a:solidFill>
                <a:latin typeface="Times" pitchFamily="2" charset="0"/>
              </a:rPr>
              <a:t>c</a:t>
            </a:r>
            <a:r>
              <a:rPr lang="en-US" sz="2800" dirty="0">
                <a:solidFill>
                  <a:srgbClr val="3E5891"/>
                </a:solidFill>
                <a:latin typeface="Times" pitchFamily="2" charset="0"/>
              </a:rPr>
              <a:t>) 4</a:t>
            </a:r>
            <a:r>
              <a:rPr lang="en-US" sz="2800" i="1" dirty="0">
                <a:solidFill>
                  <a:srgbClr val="3E5891"/>
                </a:solidFill>
                <a:latin typeface="Symbol" pitchFamily="2" charset="2"/>
              </a:rPr>
              <a:t>w</a:t>
            </a:r>
            <a:r>
              <a:rPr lang="en-US" sz="2800" baseline="-25000" dirty="0">
                <a:solidFill>
                  <a:srgbClr val="3E5891"/>
                </a:solidFill>
                <a:latin typeface="Times" pitchFamily="2" charset="0"/>
              </a:rPr>
              <a:t>1</a:t>
            </a:r>
            <a:r>
              <a:rPr lang="en-US" sz="2800" dirty="0">
                <a:solidFill>
                  <a:srgbClr val="3E5891"/>
                </a:solidFill>
                <a:latin typeface="Times" pitchFamily="2" charset="0"/>
              </a:rPr>
              <a:t> rev/s</a:t>
            </a:r>
          </a:p>
          <a:p>
            <a:pPr algn="just"/>
            <a:r>
              <a:rPr lang="en-US" sz="2800" dirty="0">
                <a:solidFill>
                  <a:srgbClr val="3E5891"/>
                </a:solidFill>
                <a:latin typeface="Times" pitchFamily="2" charset="0"/>
              </a:rPr>
              <a:t>(</a:t>
            </a:r>
            <a:r>
              <a:rPr lang="en-US" sz="2800" b="1" dirty="0">
                <a:solidFill>
                  <a:srgbClr val="3E5891"/>
                </a:solidFill>
                <a:latin typeface="Times" pitchFamily="2" charset="0"/>
              </a:rPr>
              <a:t>d</a:t>
            </a:r>
            <a:r>
              <a:rPr lang="en-US" sz="2800" dirty="0">
                <a:solidFill>
                  <a:srgbClr val="3E5891"/>
                </a:solidFill>
                <a:latin typeface="Times" pitchFamily="2" charset="0"/>
              </a:rPr>
              <a:t>) 8</a:t>
            </a:r>
            <a:r>
              <a:rPr lang="en-US" sz="2800" i="1" dirty="0">
                <a:solidFill>
                  <a:srgbClr val="3E5891"/>
                </a:solidFill>
                <a:latin typeface="Symbol" pitchFamily="2" charset="2"/>
              </a:rPr>
              <a:t>w</a:t>
            </a:r>
            <a:r>
              <a:rPr lang="en-US" sz="2800" baseline="-25000" dirty="0">
                <a:solidFill>
                  <a:srgbClr val="3E5891"/>
                </a:solidFill>
                <a:latin typeface="Times" pitchFamily="2" charset="0"/>
              </a:rPr>
              <a:t>1</a:t>
            </a:r>
            <a:r>
              <a:rPr lang="en-US" sz="2800" dirty="0">
                <a:solidFill>
                  <a:srgbClr val="3E5891"/>
                </a:solidFill>
                <a:latin typeface="Times" pitchFamily="2" charset="0"/>
              </a:rPr>
              <a:t> rev/s</a:t>
            </a:r>
          </a:p>
          <a:p>
            <a:pPr algn="just"/>
            <a:endParaRPr lang="en-US" sz="2800" dirty="0">
              <a:solidFill>
                <a:srgbClr val="3E5891"/>
              </a:solidFill>
              <a:latin typeface="Times" pitchFamily="2" charset="0"/>
            </a:endParaRPr>
          </a:p>
          <a:p>
            <a:pPr algn="just"/>
            <a:endParaRPr lang="en-US" sz="2800" dirty="0">
              <a:solidFill>
                <a:srgbClr val="3E5891"/>
              </a:solidFill>
              <a:latin typeface="Times" pitchFamily="2" charset="0"/>
              <a:cs typeface="Times New Roman" panose="02020603050405020304" pitchFamily="18" charset="0"/>
            </a:endParaRPr>
          </a:p>
        </p:txBody>
      </p:sp>
      <p:sp>
        <p:nvSpPr>
          <p:cNvPr id="7" name="TextBox 6">
            <a:extLst>
              <a:ext uri="{FF2B5EF4-FFF2-40B4-BE49-F238E27FC236}">
                <a16:creationId xmlns:a16="http://schemas.microsoft.com/office/drawing/2014/main" id="{EBA3C1D4-C488-F16A-5BD1-154881EE491A}"/>
              </a:ext>
            </a:extLst>
          </p:cNvPr>
          <p:cNvSpPr txBox="1"/>
          <p:nvPr/>
        </p:nvSpPr>
        <p:spPr>
          <a:xfrm>
            <a:off x="1640233" y="3273536"/>
            <a:ext cx="1968230" cy="523220"/>
          </a:xfrm>
          <a:prstGeom prst="rect">
            <a:avLst/>
          </a:prstGeom>
          <a:noFill/>
        </p:spPr>
        <p:txBody>
          <a:bodyPr wrap="square" rtlCol="0">
            <a:spAutoFit/>
          </a:bodyPr>
          <a:lstStyle/>
          <a:p>
            <a:pPr algn="just"/>
            <a:endParaRPr lang="en-US" sz="2800" i="1" dirty="0">
              <a:solidFill>
                <a:srgbClr val="3E5891"/>
              </a:solidFill>
              <a:latin typeface="Times" pitchFamily="2" charset="0"/>
              <a:cs typeface="Times New Roman" panose="02020603050405020304" pitchFamily="18" charset="0"/>
            </a:endParaRPr>
          </a:p>
        </p:txBody>
      </p:sp>
      <p:sp>
        <p:nvSpPr>
          <p:cNvPr id="14" name="TextBox 13">
            <a:extLst>
              <a:ext uri="{FF2B5EF4-FFF2-40B4-BE49-F238E27FC236}">
                <a16:creationId xmlns:a16="http://schemas.microsoft.com/office/drawing/2014/main" id="{146EA644-3D76-ECB1-9318-1E62260EB931}"/>
              </a:ext>
            </a:extLst>
          </p:cNvPr>
          <p:cNvSpPr txBox="1"/>
          <p:nvPr/>
        </p:nvSpPr>
        <p:spPr>
          <a:xfrm rot="2431060">
            <a:off x="3968574" y="3596255"/>
            <a:ext cx="1988191" cy="461665"/>
          </a:xfrm>
          <a:prstGeom prst="rect">
            <a:avLst/>
          </a:prstGeom>
          <a:noFill/>
        </p:spPr>
        <p:txBody>
          <a:bodyPr wrap="square" rtlCol="0">
            <a:spAutoFit/>
          </a:bodyPr>
          <a:lstStyle/>
          <a:p>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322846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CF4B-FAE2-B968-762D-959CB71B417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F2C49D09-A619-3000-0A9E-062043C07B2E}"/>
              </a:ext>
            </a:extLst>
          </p:cNvPr>
          <p:cNvSpPr/>
          <p:nvPr/>
        </p:nvSpPr>
        <p:spPr>
          <a:xfrm>
            <a:off x="0" y="667766"/>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A4E940-DEC2-37E3-80FB-E1EAF4A49D83}"/>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8.4</a:t>
            </a:r>
            <a:r>
              <a:rPr lang="en-US" dirty="0">
                <a:ea typeface="Calibri" charset="0"/>
                <a:cs typeface="Calibri" charset="0"/>
              </a:rPr>
              <a:t> Angular Variables and Tangential Variables</a:t>
            </a:r>
            <a:endParaRPr lang="en-US" sz="3000" dirty="0"/>
          </a:p>
        </p:txBody>
      </p:sp>
      <p:sp>
        <p:nvSpPr>
          <p:cNvPr id="5" name="Content Placeholder 2">
            <a:extLst>
              <a:ext uri="{FF2B5EF4-FFF2-40B4-BE49-F238E27FC236}">
                <a16:creationId xmlns:a16="http://schemas.microsoft.com/office/drawing/2014/main" id="{9CCBF115-A9F5-6EF0-D609-909127D4D138}"/>
              </a:ext>
            </a:extLst>
          </p:cNvPr>
          <p:cNvSpPr txBox="1">
            <a:spLocks/>
          </p:cNvSpPr>
          <p:nvPr/>
        </p:nvSpPr>
        <p:spPr>
          <a:xfrm>
            <a:off x="959715" y="718024"/>
            <a:ext cx="11609129"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8.4 </a:t>
            </a:r>
            <a:r>
              <a:rPr lang="en-US" dirty="0"/>
              <a:t>– Relate angular and tangential variables.</a:t>
            </a:r>
          </a:p>
        </p:txBody>
      </p:sp>
      <p:sp>
        <p:nvSpPr>
          <p:cNvPr id="26" name="TextBox 25">
            <a:extLst>
              <a:ext uri="{FF2B5EF4-FFF2-40B4-BE49-F238E27FC236}">
                <a16:creationId xmlns:a16="http://schemas.microsoft.com/office/drawing/2014/main" id="{22D95097-1016-677B-BA5A-1AC0713F0841}"/>
              </a:ext>
            </a:extLst>
          </p:cNvPr>
          <p:cNvSpPr txBox="1"/>
          <p:nvPr/>
        </p:nvSpPr>
        <p:spPr>
          <a:xfrm>
            <a:off x="4224954" y="1241518"/>
            <a:ext cx="4452516"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Let’s revisit our rotating disc...</a:t>
            </a:r>
            <a:endParaRPr lang="en-US" sz="2400" dirty="0">
              <a:latin typeface="Times" pitchFamily="2" charset="0"/>
            </a:endParaRPr>
          </a:p>
        </p:txBody>
      </p:sp>
      <p:pic>
        <p:nvPicPr>
          <p:cNvPr id="7" name="Picture 6">
            <a:extLst>
              <a:ext uri="{FF2B5EF4-FFF2-40B4-BE49-F238E27FC236}">
                <a16:creationId xmlns:a16="http://schemas.microsoft.com/office/drawing/2014/main" id="{6D684FB3-D85E-38B8-CF50-9CDD5C19F80E}"/>
              </a:ext>
            </a:extLst>
          </p:cNvPr>
          <p:cNvPicPr>
            <a:picLocks noChangeAspect="1"/>
          </p:cNvPicPr>
          <p:nvPr/>
        </p:nvPicPr>
        <p:blipFill>
          <a:blip r:embed="rId3"/>
          <a:stretch>
            <a:fillRect/>
          </a:stretch>
        </p:blipFill>
        <p:spPr>
          <a:xfrm>
            <a:off x="238654" y="1452650"/>
            <a:ext cx="3778998" cy="1597831"/>
          </a:xfrm>
          <a:prstGeom prst="rect">
            <a:avLst/>
          </a:prstGeom>
        </p:spPr>
      </p:pic>
      <p:grpSp>
        <p:nvGrpSpPr>
          <p:cNvPr id="12" name="Group 11">
            <a:extLst>
              <a:ext uri="{FF2B5EF4-FFF2-40B4-BE49-F238E27FC236}">
                <a16:creationId xmlns:a16="http://schemas.microsoft.com/office/drawing/2014/main" id="{39FAF408-F940-D3C0-5BD4-17B63A3C3FA2}"/>
              </a:ext>
            </a:extLst>
          </p:cNvPr>
          <p:cNvGrpSpPr/>
          <p:nvPr/>
        </p:nvGrpSpPr>
        <p:grpSpPr>
          <a:xfrm>
            <a:off x="4228064" y="1748481"/>
            <a:ext cx="7659136" cy="830997"/>
            <a:chOff x="4228064" y="1748481"/>
            <a:chExt cx="7659136" cy="830997"/>
          </a:xfrm>
        </p:grpSpPr>
        <p:sp>
          <p:nvSpPr>
            <p:cNvPr id="8" name="TextBox 7">
              <a:extLst>
                <a:ext uri="{FF2B5EF4-FFF2-40B4-BE49-F238E27FC236}">
                  <a16:creationId xmlns:a16="http://schemas.microsoft.com/office/drawing/2014/main" id="{B884DDBC-75FD-02D5-3989-CDA9B7863BF3}"/>
                </a:ext>
              </a:extLst>
            </p:cNvPr>
            <p:cNvSpPr txBox="1"/>
            <p:nvPr/>
          </p:nvSpPr>
          <p:spPr>
            <a:xfrm>
              <a:off x="4228064" y="1748481"/>
              <a:ext cx="7659136"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As the disc rotates through some angle </a:t>
              </a:r>
              <a:r>
                <a:rPr lang="en-US" sz="2400" i="1" dirty="0">
                  <a:latin typeface="Symbol" pitchFamily="2" charset="2"/>
                  <a:cs typeface="Times New Roman" panose="02020603050405020304" pitchFamily="18" charset="0"/>
                </a:rPr>
                <a:t>q</a:t>
              </a:r>
              <a:r>
                <a:rPr lang="en-US" sz="2400" dirty="0">
                  <a:latin typeface="Times" pitchFamily="2" charset="0"/>
                  <a:cs typeface="Times New Roman" panose="02020603050405020304" pitchFamily="18" charset="0"/>
                </a:rPr>
                <a:t>, point </a:t>
              </a:r>
              <a:r>
                <a:rPr lang="en-US" sz="2400" i="1" dirty="0">
                  <a:latin typeface="Times" pitchFamily="2" charset="0"/>
                  <a:cs typeface="Times New Roman" panose="02020603050405020304" pitchFamily="18" charset="0"/>
                </a:rPr>
                <a:t>P</a:t>
              </a:r>
              <a:r>
                <a:rPr lang="en-US" sz="2400" dirty="0">
                  <a:latin typeface="Times" pitchFamily="2" charset="0"/>
                  <a:cs typeface="Times New Roman" panose="02020603050405020304" pitchFamily="18" charset="0"/>
                </a:rPr>
                <a:t> moves an arc length distance </a:t>
              </a:r>
              <a:r>
                <a:rPr lang="en-US" sz="2400" i="1" dirty="0">
                  <a:latin typeface="Times" pitchFamily="2" charset="0"/>
                  <a:cs typeface="Times New Roman" panose="02020603050405020304" pitchFamily="18" charset="0"/>
                </a:rPr>
                <a:t>s</a:t>
              </a:r>
              <a:r>
                <a:rPr lang="en-US" sz="2400" dirty="0">
                  <a:latin typeface="Times" pitchFamily="2" charset="0"/>
                  <a:cs typeface="Times New Roman" panose="02020603050405020304" pitchFamily="18" charset="0"/>
                </a:rPr>
                <a:t>, and Equation 8.1 says that              . </a:t>
              </a:r>
              <a:endParaRPr lang="en-US" sz="2400" dirty="0">
                <a:latin typeface="Times" pitchFamily="2" charset="0"/>
              </a:endParaRPr>
            </a:p>
          </p:txBody>
        </p:sp>
        <p:sp>
          <p:nvSpPr>
            <p:cNvPr id="11" name="Rounded Rectangle 10">
              <a:extLst>
                <a:ext uri="{FF2B5EF4-FFF2-40B4-BE49-F238E27FC236}">
                  <a16:creationId xmlns:a16="http://schemas.microsoft.com/office/drawing/2014/main" id="{B2FA0E90-AC34-D373-202F-3D89AD85D012}"/>
                </a:ext>
              </a:extLst>
            </p:cNvPr>
            <p:cNvSpPr/>
            <p:nvPr/>
          </p:nvSpPr>
          <p:spPr>
            <a:xfrm>
              <a:off x="10243316" y="2139256"/>
              <a:ext cx="877077" cy="3545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30C075EF-999F-4491-6FA8-A4D680E49CDD}"/>
              </a:ext>
            </a:extLst>
          </p:cNvPr>
          <p:cNvSpPr txBox="1"/>
          <p:nvPr/>
        </p:nvSpPr>
        <p:spPr>
          <a:xfrm>
            <a:off x="3890466" y="2628952"/>
            <a:ext cx="8301534"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Let’s hold </a:t>
            </a:r>
            <a:r>
              <a:rPr lang="en-US" sz="2400" i="1" dirty="0">
                <a:latin typeface="Times" pitchFamily="2" charset="0"/>
                <a:cs typeface="Times New Roman" panose="02020603050405020304" pitchFamily="18" charset="0"/>
              </a:rPr>
              <a:t>r </a:t>
            </a:r>
            <a:r>
              <a:rPr lang="en-US" sz="2400" dirty="0">
                <a:latin typeface="Times" pitchFamily="2" charset="0"/>
                <a:cs typeface="Times New Roman" panose="02020603050405020304" pitchFamily="18" charset="0"/>
              </a:rPr>
              <a:t>constant and divide both sides of this equation by </a:t>
            </a:r>
            <a:r>
              <a:rPr lang="en-US" sz="2400" dirty="0">
                <a:latin typeface="Symbol" pitchFamily="2" charset="2"/>
                <a:cs typeface="Times New Roman" panose="02020603050405020304" pitchFamily="18" charset="0"/>
              </a:rPr>
              <a:t>D</a:t>
            </a:r>
            <a:r>
              <a:rPr lang="en-US" sz="2400" i="1" dirty="0">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a:t>
            </a:r>
            <a:endParaRPr lang="en-US" sz="2400" dirty="0">
              <a:latin typeface="Times" pitchFamily="2" charset="0"/>
            </a:endParaRPr>
          </a:p>
        </p:txBody>
      </p:sp>
      <p:sp>
        <p:nvSpPr>
          <p:cNvPr id="15" name="Rounded Rectangle 14">
            <a:extLst>
              <a:ext uri="{FF2B5EF4-FFF2-40B4-BE49-F238E27FC236}">
                <a16:creationId xmlns:a16="http://schemas.microsoft.com/office/drawing/2014/main" id="{B3372D81-D197-4D92-F02D-F713F14E5E8F}"/>
              </a:ext>
            </a:extLst>
          </p:cNvPr>
          <p:cNvSpPr/>
          <p:nvPr/>
        </p:nvSpPr>
        <p:spPr>
          <a:xfrm>
            <a:off x="118753" y="3289465"/>
            <a:ext cx="1555667" cy="783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B9C40F3-90E9-43D4-661F-8DE78249AD84}"/>
              </a:ext>
            </a:extLst>
          </p:cNvPr>
          <p:cNvSpPr txBox="1"/>
          <p:nvPr/>
        </p:nvSpPr>
        <p:spPr>
          <a:xfrm>
            <a:off x="1857806" y="3446370"/>
            <a:ext cx="3533591"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In words, this equation is:</a:t>
            </a:r>
            <a:endParaRPr lang="en-US" sz="2400" dirty="0">
              <a:latin typeface="Times" pitchFamily="2" charset="0"/>
            </a:endParaRPr>
          </a:p>
        </p:txBody>
      </p:sp>
      <p:pic>
        <p:nvPicPr>
          <p:cNvPr id="18" name="Picture 17">
            <a:extLst>
              <a:ext uri="{FF2B5EF4-FFF2-40B4-BE49-F238E27FC236}">
                <a16:creationId xmlns:a16="http://schemas.microsoft.com/office/drawing/2014/main" id="{47B2FAAF-8DB7-FDCE-233C-6CA61959AAD5}"/>
              </a:ext>
            </a:extLst>
          </p:cNvPr>
          <p:cNvPicPr>
            <a:picLocks noChangeAspect="1"/>
          </p:cNvPicPr>
          <p:nvPr/>
        </p:nvPicPr>
        <p:blipFill>
          <a:blip r:embed="rId4"/>
          <a:stretch>
            <a:fillRect/>
          </a:stretch>
        </p:blipFill>
        <p:spPr>
          <a:xfrm>
            <a:off x="5488621" y="3414729"/>
            <a:ext cx="5377295" cy="590801"/>
          </a:xfrm>
          <a:prstGeom prst="rect">
            <a:avLst/>
          </a:prstGeom>
        </p:spPr>
      </p:pic>
      <p:sp>
        <p:nvSpPr>
          <p:cNvPr id="23" name="TextBox 22">
            <a:extLst>
              <a:ext uri="{FF2B5EF4-FFF2-40B4-BE49-F238E27FC236}">
                <a16:creationId xmlns:a16="http://schemas.microsoft.com/office/drawing/2014/main" id="{BB20EED5-AC92-8DE1-F037-B5275734A416}"/>
              </a:ext>
            </a:extLst>
          </p:cNvPr>
          <p:cNvSpPr txBox="1"/>
          <p:nvPr/>
        </p:nvSpPr>
        <p:spPr>
          <a:xfrm>
            <a:off x="-1" y="4240038"/>
            <a:ext cx="5367647"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The left side is linear velocity (</a:t>
            </a:r>
            <a:r>
              <a:rPr lang="en-US" sz="2400" i="1" dirty="0">
                <a:latin typeface="Times" pitchFamily="2" charset="0"/>
                <a:cs typeface="Times New Roman" panose="02020603050405020304" pitchFamily="18" charset="0"/>
              </a:rPr>
              <a:t>v</a:t>
            </a:r>
            <a:r>
              <a:rPr lang="en-US" sz="2400" dirty="0">
                <a:latin typeface="Times" pitchFamily="2" charset="0"/>
                <a:cs typeface="Times New Roman" panose="02020603050405020304" pitchFamily="18" charset="0"/>
              </a:rPr>
              <a:t>), and the right side is </a:t>
            </a:r>
            <a:r>
              <a:rPr lang="en-US" sz="2400" i="1" dirty="0">
                <a:latin typeface="Times" pitchFamily="2" charset="0"/>
                <a:cs typeface="Times New Roman" panose="02020603050405020304" pitchFamily="18" charset="0"/>
              </a:rPr>
              <a:t>r</a:t>
            </a:r>
            <a:r>
              <a:rPr lang="en-US" sz="2400" dirty="0">
                <a:latin typeface="Times" pitchFamily="2" charset="0"/>
                <a:cs typeface="Times New Roman" panose="02020603050405020304" pitchFamily="18" charset="0"/>
              </a:rPr>
              <a:t> times angular velocity (</a:t>
            </a:r>
            <a:r>
              <a:rPr lang="en-US" sz="2400" i="1" dirty="0">
                <a:latin typeface="Symbol" pitchFamily="2" charset="2"/>
                <a:cs typeface="Times New Roman" panose="02020603050405020304" pitchFamily="18" charset="0"/>
              </a:rPr>
              <a:t>w</a:t>
            </a:r>
            <a:r>
              <a:rPr lang="en-US" sz="2400" dirty="0">
                <a:latin typeface="Times" pitchFamily="2" charset="0"/>
                <a:cs typeface="Times New Roman" panose="02020603050405020304" pitchFamily="18" charset="0"/>
              </a:rPr>
              <a:t>).</a:t>
            </a:r>
            <a:endParaRPr lang="en-US" sz="2400" dirty="0">
              <a:latin typeface="Times" pitchFamily="2" charset="0"/>
            </a:endParaRPr>
          </a:p>
        </p:txBody>
      </p:sp>
      <p:grpSp>
        <p:nvGrpSpPr>
          <p:cNvPr id="29" name="Group 28">
            <a:extLst>
              <a:ext uri="{FF2B5EF4-FFF2-40B4-BE49-F238E27FC236}">
                <a16:creationId xmlns:a16="http://schemas.microsoft.com/office/drawing/2014/main" id="{2A578833-73D0-A2C4-B9FE-915AF2B4D2D9}"/>
              </a:ext>
            </a:extLst>
          </p:cNvPr>
          <p:cNvGrpSpPr/>
          <p:nvPr/>
        </p:nvGrpSpPr>
        <p:grpSpPr>
          <a:xfrm>
            <a:off x="5557648" y="4061360"/>
            <a:ext cx="5118268" cy="754392"/>
            <a:chOff x="5343898" y="4061360"/>
            <a:chExt cx="5118268" cy="754392"/>
          </a:xfrm>
        </p:grpSpPr>
        <p:sp>
          <p:nvSpPr>
            <p:cNvPr id="21" name="Left Brace 20">
              <a:extLst>
                <a:ext uri="{FF2B5EF4-FFF2-40B4-BE49-F238E27FC236}">
                  <a16:creationId xmlns:a16="http://schemas.microsoft.com/office/drawing/2014/main" id="{4F4E9286-B95D-FDCA-F0A9-7F0669283518}"/>
                </a:ext>
              </a:extLst>
            </p:cNvPr>
            <p:cNvSpPr/>
            <p:nvPr/>
          </p:nvSpPr>
          <p:spPr>
            <a:xfrm rot="16200000">
              <a:off x="6234546" y="3170712"/>
              <a:ext cx="344385" cy="2125682"/>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Left Brace 23">
              <a:extLst>
                <a:ext uri="{FF2B5EF4-FFF2-40B4-BE49-F238E27FC236}">
                  <a16:creationId xmlns:a16="http://schemas.microsoft.com/office/drawing/2014/main" id="{CC74BB43-A7C3-08B9-D9D4-10897B41122D}"/>
                </a:ext>
              </a:extLst>
            </p:cNvPr>
            <p:cNvSpPr/>
            <p:nvPr/>
          </p:nvSpPr>
          <p:spPr>
            <a:xfrm rot="16200000">
              <a:off x="9166765" y="3110345"/>
              <a:ext cx="344385" cy="2246416"/>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8114835E-576F-A30D-E584-8BE0AB05CBAA}"/>
                </a:ext>
              </a:extLst>
            </p:cNvPr>
            <p:cNvSpPr txBox="1"/>
            <p:nvPr/>
          </p:nvSpPr>
          <p:spPr>
            <a:xfrm>
              <a:off x="5593278" y="4415642"/>
              <a:ext cx="2042556" cy="400110"/>
            </a:xfrm>
            <a:prstGeom prst="rect">
              <a:avLst/>
            </a:prstGeom>
            <a:noFill/>
          </p:spPr>
          <p:txBody>
            <a:bodyPr wrap="square" rtlCol="0">
              <a:spAutoFit/>
            </a:bodyPr>
            <a:lstStyle/>
            <a:p>
              <a:r>
                <a:rPr lang="en-US" sz="2000" dirty="0">
                  <a:latin typeface="Times" pitchFamily="2" charset="0"/>
                </a:rPr>
                <a:t>Linear velocity</a:t>
              </a:r>
            </a:p>
          </p:txBody>
        </p:sp>
        <p:sp>
          <p:nvSpPr>
            <p:cNvPr id="28" name="TextBox 27">
              <a:extLst>
                <a:ext uri="{FF2B5EF4-FFF2-40B4-BE49-F238E27FC236}">
                  <a16:creationId xmlns:a16="http://schemas.microsoft.com/office/drawing/2014/main" id="{AC3EF3D5-7F2B-40B2-51F5-A64B53B73E31}"/>
                </a:ext>
              </a:extLst>
            </p:cNvPr>
            <p:cNvSpPr txBox="1"/>
            <p:nvPr/>
          </p:nvSpPr>
          <p:spPr>
            <a:xfrm>
              <a:off x="8405752" y="4415642"/>
              <a:ext cx="2042556" cy="400110"/>
            </a:xfrm>
            <a:prstGeom prst="rect">
              <a:avLst/>
            </a:prstGeom>
            <a:noFill/>
          </p:spPr>
          <p:txBody>
            <a:bodyPr wrap="square" rtlCol="0">
              <a:spAutoFit/>
            </a:bodyPr>
            <a:lstStyle/>
            <a:p>
              <a:r>
                <a:rPr lang="en-US" sz="2000" dirty="0">
                  <a:latin typeface="Times" pitchFamily="2" charset="0"/>
                </a:rPr>
                <a:t>Angular velocity</a:t>
              </a:r>
            </a:p>
          </p:txBody>
        </p:sp>
      </p:grpSp>
      <p:sp>
        <p:nvSpPr>
          <p:cNvPr id="30" name="TextBox 29">
            <a:extLst>
              <a:ext uri="{FF2B5EF4-FFF2-40B4-BE49-F238E27FC236}">
                <a16:creationId xmlns:a16="http://schemas.microsoft.com/office/drawing/2014/main" id="{8A71F8DE-AA9C-244C-B294-3D33E608E22A}"/>
              </a:ext>
            </a:extLst>
          </p:cNvPr>
          <p:cNvSpPr txBox="1"/>
          <p:nvPr/>
        </p:nvSpPr>
        <p:spPr>
          <a:xfrm>
            <a:off x="0" y="5128708"/>
            <a:ext cx="10210799"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The direction of the linear velocity of point </a:t>
            </a:r>
            <a:r>
              <a:rPr lang="en-US" sz="2400" i="1" dirty="0">
                <a:latin typeface="Times" pitchFamily="2" charset="0"/>
                <a:cs typeface="Times New Roman" panose="02020603050405020304" pitchFamily="18" charset="0"/>
              </a:rPr>
              <a:t>P</a:t>
            </a:r>
            <a:r>
              <a:rPr lang="en-US" sz="2400" dirty="0">
                <a:latin typeface="Times" pitchFamily="2" charset="0"/>
                <a:cs typeface="Times New Roman" panose="02020603050405020304" pitchFamily="18" charset="0"/>
              </a:rPr>
              <a:t> is tangent to its circular trajectory:</a:t>
            </a:r>
            <a:endParaRPr lang="en-US" sz="2400" dirty="0">
              <a:latin typeface="Times" pitchFamily="2" charset="0"/>
            </a:endParaRPr>
          </a:p>
        </p:txBody>
      </p:sp>
      <p:sp>
        <p:nvSpPr>
          <p:cNvPr id="58" name="TextBox 57">
            <a:extLst>
              <a:ext uri="{FF2B5EF4-FFF2-40B4-BE49-F238E27FC236}">
                <a16:creationId xmlns:a16="http://schemas.microsoft.com/office/drawing/2014/main" id="{09F3E0B8-5953-6FE1-3EF9-1E932AD68A5C}"/>
              </a:ext>
            </a:extLst>
          </p:cNvPr>
          <p:cNvSpPr txBox="1"/>
          <p:nvPr/>
        </p:nvSpPr>
        <p:spPr>
          <a:xfrm>
            <a:off x="235526" y="5585908"/>
            <a:ext cx="9864437" cy="707886"/>
          </a:xfrm>
          <a:prstGeom prst="rect">
            <a:avLst/>
          </a:prstGeom>
          <a:noFill/>
        </p:spPr>
        <p:txBody>
          <a:bodyPr wrap="square">
            <a:spAutoFit/>
          </a:bodyPr>
          <a:lstStyle/>
          <a:p>
            <a:pPr algn="just"/>
            <a:r>
              <a:rPr lang="en-US" sz="2000" dirty="0">
                <a:latin typeface="Times" pitchFamily="2" charset="0"/>
                <a:cs typeface="Times New Roman" panose="02020603050405020304" pitchFamily="18" charset="0"/>
              </a:rPr>
              <a:t>*Note:  This is the same linear velocity (</a:t>
            </a:r>
            <a:r>
              <a:rPr lang="en-US" sz="2000" i="1" dirty="0">
                <a:latin typeface="Times" pitchFamily="2" charset="0"/>
                <a:cs typeface="Times New Roman" panose="02020603050405020304" pitchFamily="18" charset="0"/>
              </a:rPr>
              <a:t>v</a:t>
            </a:r>
            <a:r>
              <a:rPr lang="en-US" sz="2000" dirty="0">
                <a:latin typeface="Times" pitchFamily="2" charset="0"/>
                <a:cs typeface="Times New Roman" panose="02020603050405020304" pitchFamily="18" charset="0"/>
              </a:rPr>
              <a:t>) objects had in Chapter 05, when </a:t>
            </a:r>
            <a:r>
              <a:rPr lang="en-US" sz="2000" dirty="0">
                <a:solidFill>
                  <a:srgbClr val="007440"/>
                </a:solidFill>
                <a:latin typeface="Times" pitchFamily="2" charset="0"/>
                <a:cs typeface="Times New Roman" panose="02020603050405020304" pitchFamily="18" charset="0"/>
              </a:rPr>
              <a:t>undergoing uniform circular motion</a:t>
            </a:r>
            <a:r>
              <a:rPr lang="en-US" sz="2000" dirty="0">
                <a:latin typeface="Times" pitchFamily="2" charset="0"/>
                <a:cs typeface="Times New Roman" panose="02020603050405020304" pitchFamily="18" charset="0"/>
              </a:rPr>
              <a:t>.  The subscript “T” is to further clarify that the direction is tangential.</a:t>
            </a:r>
            <a:endParaRPr lang="en-US" sz="2000" dirty="0">
              <a:latin typeface="Times" pitchFamily="2" charset="0"/>
            </a:endParaRPr>
          </a:p>
        </p:txBody>
      </p:sp>
      <p:grpSp>
        <p:nvGrpSpPr>
          <p:cNvPr id="60" name="Group 59">
            <a:extLst>
              <a:ext uri="{FF2B5EF4-FFF2-40B4-BE49-F238E27FC236}">
                <a16:creationId xmlns:a16="http://schemas.microsoft.com/office/drawing/2014/main" id="{2E69864A-1889-6935-E960-897A8A03C66C}"/>
              </a:ext>
            </a:extLst>
          </p:cNvPr>
          <p:cNvGrpSpPr/>
          <p:nvPr/>
        </p:nvGrpSpPr>
        <p:grpSpPr>
          <a:xfrm>
            <a:off x="10266997" y="4720359"/>
            <a:ext cx="1925003" cy="1616413"/>
            <a:chOff x="10266997" y="4720359"/>
            <a:chExt cx="1925003" cy="1616413"/>
          </a:xfrm>
        </p:grpSpPr>
        <p:grpSp>
          <p:nvGrpSpPr>
            <p:cNvPr id="57" name="Group 56">
              <a:extLst>
                <a:ext uri="{FF2B5EF4-FFF2-40B4-BE49-F238E27FC236}">
                  <a16:creationId xmlns:a16="http://schemas.microsoft.com/office/drawing/2014/main" id="{64A7A89D-56C5-7F8A-69B1-5730000DD143}"/>
                </a:ext>
              </a:extLst>
            </p:cNvPr>
            <p:cNvGrpSpPr/>
            <p:nvPr/>
          </p:nvGrpSpPr>
          <p:grpSpPr>
            <a:xfrm>
              <a:off x="10266997" y="4720359"/>
              <a:ext cx="1925003" cy="1616413"/>
              <a:chOff x="6168072" y="4692650"/>
              <a:chExt cx="1925003" cy="1616413"/>
            </a:xfrm>
          </p:grpSpPr>
          <p:sp>
            <p:nvSpPr>
              <p:cNvPr id="31" name="Oval 30">
                <a:extLst>
                  <a:ext uri="{FF2B5EF4-FFF2-40B4-BE49-F238E27FC236}">
                    <a16:creationId xmlns:a16="http://schemas.microsoft.com/office/drawing/2014/main" id="{308A2CA9-BDF8-0996-BAD7-3C5CFB5BC422}"/>
                  </a:ext>
                </a:extLst>
              </p:cNvPr>
              <p:cNvSpPr/>
              <p:nvPr/>
            </p:nvSpPr>
            <p:spPr>
              <a:xfrm>
                <a:off x="6168072" y="4848973"/>
                <a:ext cx="1460090" cy="1460090"/>
              </a:xfrm>
              <a:prstGeom prst="ellipse">
                <a:avLst/>
              </a:prstGeom>
              <a:gradFill flip="none" rotWithShape="1">
                <a:gsLst>
                  <a:gs pos="14000">
                    <a:schemeClr val="bg1"/>
                  </a:gs>
                  <a:gs pos="100000">
                    <a:schemeClr val="bg1">
                      <a:lumMod val="65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129D1DC1-4A06-53C1-1388-162609AC1AF6}"/>
                  </a:ext>
                </a:extLst>
              </p:cNvPr>
              <p:cNvCxnSpPr>
                <a:cxnSpLocks/>
                <a:endCxn id="31" idx="6"/>
              </p:cNvCxnSpPr>
              <p:nvPr/>
            </p:nvCxnSpPr>
            <p:spPr>
              <a:xfrm>
                <a:off x="6886575" y="5578475"/>
                <a:ext cx="741587" cy="543"/>
              </a:xfrm>
              <a:prstGeom prst="line">
                <a:avLst/>
              </a:prstGeom>
              <a:ln w="22225">
                <a:solidFill>
                  <a:srgbClr val="B91F1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79087E6-72F4-0800-571E-B1CE537872AB}"/>
                  </a:ext>
                </a:extLst>
              </p:cNvPr>
              <p:cNvCxnSpPr>
                <a:cxnSpLocks/>
                <a:endCxn id="31" idx="7"/>
              </p:cNvCxnSpPr>
              <p:nvPr/>
            </p:nvCxnSpPr>
            <p:spPr>
              <a:xfrm flipV="1">
                <a:off x="6886575" y="5062798"/>
                <a:ext cx="527762" cy="515677"/>
              </a:xfrm>
              <a:prstGeom prst="line">
                <a:avLst/>
              </a:prstGeom>
              <a:ln w="22225">
                <a:solidFill>
                  <a:srgbClr val="B91F1F"/>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7F5CB31D-8C83-FFDF-BA51-56A319D08EDB}"/>
                  </a:ext>
                </a:extLst>
              </p:cNvPr>
              <p:cNvSpPr/>
              <p:nvPr/>
            </p:nvSpPr>
            <p:spPr>
              <a:xfrm>
                <a:off x="6873875" y="5568950"/>
                <a:ext cx="27432" cy="2743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43">
                <a:extLst>
                  <a:ext uri="{FF2B5EF4-FFF2-40B4-BE49-F238E27FC236}">
                    <a16:creationId xmlns:a16="http://schemas.microsoft.com/office/drawing/2014/main" id="{5C2765E2-B2EF-D3CA-A13D-6B071B79AE27}"/>
                  </a:ext>
                </a:extLst>
              </p:cNvPr>
              <p:cNvSpPr/>
              <p:nvPr/>
            </p:nvSpPr>
            <p:spPr>
              <a:xfrm>
                <a:off x="7112000" y="5378450"/>
                <a:ext cx="65943" cy="190500"/>
              </a:xfrm>
              <a:custGeom>
                <a:avLst/>
                <a:gdLst>
                  <a:gd name="connsiteX0" fmla="*/ 63500 w 65943"/>
                  <a:gd name="connsiteY0" fmla="*/ 190500 h 190500"/>
                  <a:gd name="connsiteX1" fmla="*/ 63500 w 65943"/>
                  <a:gd name="connsiteY1" fmla="*/ 114300 h 190500"/>
                  <a:gd name="connsiteX2" fmla="*/ 38100 w 65943"/>
                  <a:gd name="connsiteY2" fmla="*/ 47625 h 190500"/>
                  <a:gd name="connsiteX3" fmla="*/ 0 w 65943"/>
                  <a:gd name="connsiteY3" fmla="*/ 0 h 190500"/>
                </a:gdLst>
                <a:ahLst/>
                <a:cxnLst>
                  <a:cxn ang="0">
                    <a:pos x="connsiteX0" y="connsiteY0"/>
                  </a:cxn>
                  <a:cxn ang="0">
                    <a:pos x="connsiteX1" y="connsiteY1"/>
                  </a:cxn>
                  <a:cxn ang="0">
                    <a:pos x="connsiteX2" y="connsiteY2"/>
                  </a:cxn>
                  <a:cxn ang="0">
                    <a:pos x="connsiteX3" y="connsiteY3"/>
                  </a:cxn>
                </a:cxnLst>
                <a:rect l="l" t="t" r="r" b="b"/>
                <a:pathLst>
                  <a:path w="65943" h="190500">
                    <a:moveTo>
                      <a:pt x="63500" y="190500"/>
                    </a:moveTo>
                    <a:cubicBezTo>
                      <a:pt x="65616" y="164306"/>
                      <a:pt x="67733" y="138112"/>
                      <a:pt x="63500" y="114300"/>
                    </a:cubicBezTo>
                    <a:cubicBezTo>
                      <a:pt x="59267" y="90488"/>
                      <a:pt x="48683" y="66675"/>
                      <a:pt x="38100" y="47625"/>
                    </a:cubicBezTo>
                    <a:cubicBezTo>
                      <a:pt x="27517" y="28575"/>
                      <a:pt x="13758" y="14287"/>
                      <a:pt x="0" y="0"/>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B8170B2-E975-7537-8A48-33F3A8F35545}"/>
                  </a:ext>
                </a:extLst>
              </p:cNvPr>
              <p:cNvSpPr txBox="1"/>
              <p:nvPr/>
            </p:nvSpPr>
            <p:spPr>
              <a:xfrm>
                <a:off x="6927850" y="5337175"/>
                <a:ext cx="301625" cy="307777"/>
              </a:xfrm>
              <a:prstGeom prst="rect">
                <a:avLst/>
              </a:prstGeom>
              <a:noFill/>
            </p:spPr>
            <p:txBody>
              <a:bodyPr wrap="square" rtlCol="0">
                <a:spAutoFit/>
              </a:bodyPr>
              <a:lstStyle/>
              <a:p>
                <a:r>
                  <a:rPr lang="en-US" sz="1400" i="1" dirty="0">
                    <a:latin typeface="Symbol" pitchFamily="2" charset="2"/>
                  </a:rPr>
                  <a:t>q</a:t>
                </a:r>
              </a:p>
            </p:txBody>
          </p:sp>
          <p:sp>
            <p:nvSpPr>
              <p:cNvPr id="46" name="TextBox 45">
                <a:extLst>
                  <a:ext uri="{FF2B5EF4-FFF2-40B4-BE49-F238E27FC236}">
                    <a16:creationId xmlns:a16="http://schemas.microsoft.com/office/drawing/2014/main" id="{C0D57D69-7F60-5AF6-7EC7-4D574C30830C}"/>
                  </a:ext>
                </a:extLst>
              </p:cNvPr>
              <p:cNvSpPr txBox="1"/>
              <p:nvPr/>
            </p:nvSpPr>
            <p:spPr>
              <a:xfrm>
                <a:off x="7150100" y="5489575"/>
                <a:ext cx="301625" cy="307777"/>
              </a:xfrm>
              <a:prstGeom prst="rect">
                <a:avLst/>
              </a:prstGeom>
              <a:noFill/>
            </p:spPr>
            <p:txBody>
              <a:bodyPr wrap="square" rtlCol="0">
                <a:spAutoFit/>
              </a:bodyPr>
              <a:lstStyle/>
              <a:p>
                <a:r>
                  <a:rPr lang="en-US" sz="1400" i="1" dirty="0">
                    <a:latin typeface="Times" pitchFamily="2" charset="0"/>
                  </a:rPr>
                  <a:t>r</a:t>
                </a:r>
              </a:p>
            </p:txBody>
          </p:sp>
          <p:sp>
            <p:nvSpPr>
              <p:cNvPr id="47" name="TextBox 46">
                <a:extLst>
                  <a:ext uri="{FF2B5EF4-FFF2-40B4-BE49-F238E27FC236}">
                    <a16:creationId xmlns:a16="http://schemas.microsoft.com/office/drawing/2014/main" id="{4CB51826-5190-A89B-AFA5-35C930E021CC}"/>
                  </a:ext>
                </a:extLst>
              </p:cNvPr>
              <p:cNvSpPr txBox="1"/>
              <p:nvPr/>
            </p:nvSpPr>
            <p:spPr>
              <a:xfrm>
                <a:off x="7404100" y="5178425"/>
                <a:ext cx="301625" cy="307777"/>
              </a:xfrm>
              <a:prstGeom prst="rect">
                <a:avLst/>
              </a:prstGeom>
              <a:noFill/>
            </p:spPr>
            <p:txBody>
              <a:bodyPr wrap="square" rtlCol="0">
                <a:spAutoFit/>
              </a:bodyPr>
              <a:lstStyle/>
              <a:p>
                <a:r>
                  <a:rPr lang="en-US" sz="1400" i="1" dirty="0">
                    <a:latin typeface="Times" pitchFamily="2" charset="0"/>
                  </a:rPr>
                  <a:t>s</a:t>
                </a:r>
              </a:p>
            </p:txBody>
          </p:sp>
          <p:sp>
            <p:nvSpPr>
              <p:cNvPr id="48" name="TextBox 47">
                <a:extLst>
                  <a:ext uri="{FF2B5EF4-FFF2-40B4-BE49-F238E27FC236}">
                    <a16:creationId xmlns:a16="http://schemas.microsoft.com/office/drawing/2014/main" id="{D49EA159-2A03-AE08-B85D-B8F2BC7BC080}"/>
                  </a:ext>
                </a:extLst>
              </p:cNvPr>
              <p:cNvSpPr txBox="1"/>
              <p:nvPr/>
            </p:nvSpPr>
            <p:spPr>
              <a:xfrm>
                <a:off x="7585878" y="5437321"/>
                <a:ext cx="301625" cy="307777"/>
              </a:xfrm>
              <a:prstGeom prst="rect">
                <a:avLst/>
              </a:prstGeom>
              <a:noFill/>
            </p:spPr>
            <p:txBody>
              <a:bodyPr wrap="square" rtlCol="0">
                <a:spAutoFit/>
              </a:bodyPr>
              <a:lstStyle/>
              <a:p>
                <a:r>
                  <a:rPr lang="en-US" sz="1400" i="1" dirty="0">
                    <a:latin typeface="Times" pitchFamily="2" charset="0"/>
                  </a:rPr>
                  <a:t>P</a:t>
                </a:r>
              </a:p>
            </p:txBody>
          </p:sp>
          <p:sp>
            <p:nvSpPr>
              <p:cNvPr id="50" name="Oval 49">
                <a:extLst>
                  <a:ext uri="{FF2B5EF4-FFF2-40B4-BE49-F238E27FC236}">
                    <a16:creationId xmlns:a16="http://schemas.microsoft.com/office/drawing/2014/main" id="{1CFD5B19-4469-E949-F1B2-6B8782322510}"/>
                  </a:ext>
                </a:extLst>
              </p:cNvPr>
              <p:cNvSpPr/>
              <p:nvPr/>
            </p:nvSpPr>
            <p:spPr>
              <a:xfrm>
                <a:off x="7602424" y="5556441"/>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Arc 52">
                <a:extLst>
                  <a:ext uri="{FF2B5EF4-FFF2-40B4-BE49-F238E27FC236}">
                    <a16:creationId xmlns:a16="http://schemas.microsoft.com/office/drawing/2014/main" id="{E5BEA9FB-6B48-4EE8-F287-395571F10D31}"/>
                  </a:ext>
                </a:extLst>
              </p:cNvPr>
              <p:cNvSpPr/>
              <p:nvPr/>
            </p:nvSpPr>
            <p:spPr>
              <a:xfrm rot="488443">
                <a:off x="6608408" y="4970813"/>
                <a:ext cx="1016767" cy="1300362"/>
              </a:xfrm>
              <a:prstGeom prst="arc">
                <a:avLst>
                  <a:gd name="adj1" fmla="val 17448689"/>
                  <a:gd name="adj2" fmla="val 20702140"/>
                </a:avLst>
              </a:prstGeom>
              <a:ln w="25400">
                <a:solidFill>
                  <a:srgbClr val="B91F1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208CD6B6-C3EA-59E9-1D65-0A6D5C59304D}"/>
                  </a:ext>
                </a:extLst>
              </p:cNvPr>
              <p:cNvCxnSpPr>
                <a:stCxn id="50" idx="0"/>
              </p:cNvCxnSpPr>
              <p:nvPr/>
            </p:nvCxnSpPr>
            <p:spPr>
              <a:xfrm flipH="1" flipV="1">
                <a:off x="7626350" y="4911725"/>
                <a:ext cx="1188" cy="644716"/>
              </a:xfrm>
              <a:prstGeom prst="straightConnector1">
                <a:avLst/>
              </a:prstGeom>
              <a:ln w="22225">
                <a:solidFill>
                  <a:srgbClr val="3C32FF"/>
                </a:solidFill>
                <a:tailEnd type="stealth" w="med" len="med"/>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A2CA02A-F46C-59B2-3A51-E1134C777082}"/>
                  </a:ext>
                </a:extLst>
              </p:cNvPr>
              <p:cNvSpPr txBox="1"/>
              <p:nvPr/>
            </p:nvSpPr>
            <p:spPr>
              <a:xfrm>
                <a:off x="7578725" y="4692650"/>
                <a:ext cx="514350" cy="369332"/>
              </a:xfrm>
              <a:prstGeom prst="rect">
                <a:avLst/>
              </a:prstGeom>
              <a:noFill/>
            </p:spPr>
            <p:txBody>
              <a:bodyPr wrap="square" rtlCol="0">
                <a:spAutoFit/>
              </a:bodyPr>
              <a:lstStyle/>
              <a:p>
                <a:r>
                  <a:rPr lang="en-US" i="1" dirty="0" err="1">
                    <a:solidFill>
                      <a:srgbClr val="3C32FF"/>
                    </a:solidFill>
                    <a:latin typeface="Times" pitchFamily="2" charset="0"/>
                  </a:rPr>
                  <a:t>v</a:t>
                </a:r>
                <a:r>
                  <a:rPr lang="en-US" baseline="-25000" dirty="0" err="1">
                    <a:solidFill>
                      <a:srgbClr val="3C32FF"/>
                    </a:solidFill>
                    <a:latin typeface="Times" pitchFamily="2" charset="0"/>
                  </a:rPr>
                  <a:t>T</a:t>
                </a:r>
                <a:endParaRPr lang="en-US" dirty="0">
                  <a:solidFill>
                    <a:srgbClr val="3C32FF"/>
                  </a:solidFill>
                  <a:latin typeface="Times" pitchFamily="2" charset="0"/>
                </a:endParaRPr>
              </a:p>
            </p:txBody>
          </p:sp>
        </p:grpSp>
        <p:sp>
          <p:nvSpPr>
            <p:cNvPr id="59" name="Arc 58">
              <a:extLst>
                <a:ext uri="{FF2B5EF4-FFF2-40B4-BE49-F238E27FC236}">
                  <a16:creationId xmlns:a16="http://schemas.microsoft.com/office/drawing/2014/main" id="{6B7BF80C-0462-6724-2373-2E2E9344AFB4}"/>
                </a:ext>
              </a:extLst>
            </p:cNvPr>
            <p:cNvSpPr/>
            <p:nvPr/>
          </p:nvSpPr>
          <p:spPr>
            <a:xfrm rot="11988207">
              <a:off x="10480355" y="5433434"/>
              <a:ext cx="1005144" cy="752509"/>
            </a:xfrm>
            <a:prstGeom prst="arc">
              <a:avLst>
                <a:gd name="adj1" fmla="val 15932650"/>
                <a:gd name="adj2" fmla="val 20098607"/>
              </a:avLst>
            </a:prstGeom>
            <a:ln w="28575">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10252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dissolv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dissolv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dissolv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dissolv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dissolve">
                                      <p:cBhvr>
                                        <p:cTn id="45" dur="500"/>
                                        <p:tgtEl>
                                          <p:spTgt spid="29"/>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dissolve">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0"/>
                                        </p:tgtEl>
                                        <p:attrNameLst>
                                          <p:attrName>style.visibility</p:attrName>
                                        </p:attrNameLst>
                                      </p:cBhvr>
                                      <p:to>
                                        <p:strVal val="visible"/>
                                      </p:to>
                                    </p:set>
                                    <p:animEffect transition="in" filter="dissolve">
                                      <p:cBhvr>
                                        <p:cTn id="55" dur="500"/>
                                        <p:tgtEl>
                                          <p:spTgt spid="60"/>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dissolve">
                                      <p:cBhvr>
                                        <p:cTn id="6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3" grpId="0"/>
      <p:bldP spid="15" grpId="0" animBg="1"/>
      <p:bldP spid="17" grpId="0"/>
      <p:bldP spid="23" grpId="0"/>
      <p:bldP spid="30" grpId="0"/>
      <p:bldP spid="5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30750-BA4B-E26E-F6DE-7712201DD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59F46-6A24-2525-C05F-DE0389401DB9}"/>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8.4</a:t>
            </a:r>
            <a:r>
              <a:rPr lang="en-US" dirty="0">
                <a:ea typeface="Calibri" charset="0"/>
                <a:cs typeface="Calibri" charset="0"/>
              </a:rPr>
              <a:t> Angular Variables and Tangential Variables</a:t>
            </a:r>
            <a:endParaRPr lang="en-US" sz="3000" dirty="0"/>
          </a:p>
        </p:txBody>
      </p:sp>
      <p:sp>
        <p:nvSpPr>
          <p:cNvPr id="15" name="Rounded Rectangle 14">
            <a:extLst>
              <a:ext uri="{FF2B5EF4-FFF2-40B4-BE49-F238E27FC236}">
                <a16:creationId xmlns:a16="http://schemas.microsoft.com/office/drawing/2014/main" id="{43BB16E5-5AB4-8D81-3673-C019B2AD1DE6}"/>
              </a:ext>
            </a:extLst>
          </p:cNvPr>
          <p:cNvSpPr/>
          <p:nvPr/>
        </p:nvSpPr>
        <p:spPr>
          <a:xfrm>
            <a:off x="7946569" y="998708"/>
            <a:ext cx="1017321" cy="4789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233B139C-5426-53D9-6AF1-F3E67228EDE6}"/>
              </a:ext>
            </a:extLst>
          </p:cNvPr>
          <p:cNvGrpSpPr/>
          <p:nvPr/>
        </p:nvGrpSpPr>
        <p:grpSpPr>
          <a:xfrm>
            <a:off x="179427" y="897521"/>
            <a:ext cx="8008609" cy="647700"/>
            <a:chOff x="179427" y="1498023"/>
            <a:chExt cx="8008609" cy="647700"/>
          </a:xfrm>
        </p:grpSpPr>
        <p:sp>
          <p:nvSpPr>
            <p:cNvPr id="26" name="TextBox 25">
              <a:extLst>
                <a:ext uri="{FF2B5EF4-FFF2-40B4-BE49-F238E27FC236}">
                  <a16:creationId xmlns:a16="http://schemas.microsoft.com/office/drawing/2014/main" id="{D3AC0FA6-3362-BE69-57F5-8B37F8707237}"/>
                </a:ext>
              </a:extLst>
            </p:cNvPr>
            <p:cNvSpPr txBox="1"/>
            <p:nvPr/>
          </p:nvSpPr>
          <p:spPr>
            <a:xfrm>
              <a:off x="179427" y="1574027"/>
              <a:ext cx="5819592"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Thus, Equation 8.1 becomes the following:</a:t>
              </a:r>
              <a:endParaRPr lang="en-US" sz="2400" dirty="0">
                <a:latin typeface="Times" pitchFamily="2" charset="0"/>
              </a:endParaRPr>
            </a:p>
          </p:txBody>
        </p:sp>
        <p:sp>
          <p:nvSpPr>
            <p:cNvPr id="13" name="TextBox 12">
              <a:extLst>
                <a:ext uri="{FF2B5EF4-FFF2-40B4-BE49-F238E27FC236}">
                  <a16:creationId xmlns:a16="http://schemas.microsoft.com/office/drawing/2014/main" id="{6533352B-50B2-0157-C4CD-D3DB825436D4}"/>
                </a:ext>
              </a:extLst>
            </p:cNvPr>
            <p:cNvSpPr txBox="1"/>
            <p:nvPr/>
          </p:nvSpPr>
          <p:spPr>
            <a:xfrm>
              <a:off x="7395666" y="1617570"/>
              <a:ext cx="792370"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a:t>
              </a:r>
              <a:endParaRPr lang="en-US" sz="2400" dirty="0">
                <a:latin typeface="Times" pitchFamily="2" charset="0"/>
              </a:endParaRPr>
            </a:p>
          </p:txBody>
        </p:sp>
        <p:pic>
          <p:nvPicPr>
            <p:cNvPr id="14" name="Picture 13">
              <a:extLst>
                <a:ext uri="{FF2B5EF4-FFF2-40B4-BE49-F238E27FC236}">
                  <a16:creationId xmlns:a16="http://schemas.microsoft.com/office/drawing/2014/main" id="{43DA85C8-3888-DB0E-3A15-A9508E52F5BF}"/>
                </a:ext>
              </a:extLst>
            </p:cNvPr>
            <p:cNvPicPr>
              <a:picLocks noChangeAspect="1"/>
            </p:cNvPicPr>
            <p:nvPr/>
          </p:nvPicPr>
          <p:blipFill>
            <a:blip r:embed="rId3"/>
            <a:stretch>
              <a:fillRect/>
            </a:stretch>
          </p:blipFill>
          <p:spPr>
            <a:xfrm>
              <a:off x="5768522" y="1498023"/>
              <a:ext cx="1308100" cy="647700"/>
            </a:xfrm>
            <a:prstGeom prst="rect">
              <a:avLst/>
            </a:prstGeom>
          </p:spPr>
        </p:pic>
      </p:grpSp>
      <p:sp>
        <p:nvSpPr>
          <p:cNvPr id="6" name="TextBox 5">
            <a:extLst>
              <a:ext uri="{FF2B5EF4-FFF2-40B4-BE49-F238E27FC236}">
                <a16:creationId xmlns:a16="http://schemas.microsoft.com/office/drawing/2014/main" id="{8FCF3A51-8F75-1985-E2D2-5EA37765F8D2}"/>
              </a:ext>
            </a:extLst>
          </p:cNvPr>
          <p:cNvSpPr txBox="1"/>
          <p:nvPr/>
        </p:nvSpPr>
        <p:spPr>
          <a:xfrm>
            <a:off x="9448118" y="1015088"/>
            <a:ext cx="2743882"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a:t>
            </a:r>
            <a:r>
              <a:rPr lang="en-US" sz="2400" b="1" dirty="0">
                <a:latin typeface="Times" pitchFamily="2" charset="0"/>
                <a:cs typeface="Times New Roman" panose="02020603050405020304" pitchFamily="18" charset="0"/>
              </a:rPr>
              <a:t>8.9</a:t>
            </a:r>
            <a:r>
              <a:rPr lang="en-US" sz="2400" dirty="0">
                <a:latin typeface="Times" pitchFamily="2" charset="0"/>
                <a:cs typeface="Times New Roman" panose="02020603050405020304" pitchFamily="18" charset="0"/>
              </a:rPr>
              <a:t>) (</a:t>
            </a:r>
            <a:r>
              <a:rPr lang="en-US" sz="2400" i="1" dirty="0">
                <a:latin typeface="Symbol" pitchFamily="2" charset="2"/>
                <a:cs typeface="Times New Roman" panose="02020603050405020304" pitchFamily="18" charset="0"/>
              </a:rPr>
              <a:t>w</a:t>
            </a:r>
            <a:r>
              <a:rPr lang="en-US" sz="2400" dirty="0">
                <a:latin typeface="Times" pitchFamily="2" charset="0"/>
                <a:cs typeface="Times New Roman" panose="02020603050405020304" pitchFamily="18" charset="0"/>
              </a:rPr>
              <a:t> in rad/s)</a:t>
            </a:r>
            <a:endParaRPr lang="en-US" sz="2400" dirty="0">
              <a:latin typeface="Times" pitchFamily="2" charset="0"/>
            </a:endParaRPr>
          </a:p>
        </p:txBody>
      </p:sp>
      <p:sp>
        <p:nvSpPr>
          <p:cNvPr id="10" name="TextBox 9">
            <a:extLst>
              <a:ext uri="{FF2B5EF4-FFF2-40B4-BE49-F238E27FC236}">
                <a16:creationId xmlns:a16="http://schemas.microsoft.com/office/drawing/2014/main" id="{3D20D27A-464E-8777-8B31-A8D17D0FFA26}"/>
              </a:ext>
            </a:extLst>
          </p:cNvPr>
          <p:cNvSpPr txBox="1"/>
          <p:nvPr/>
        </p:nvSpPr>
        <p:spPr>
          <a:xfrm>
            <a:off x="179219" y="1749794"/>
            <a:ext cx="11638501"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Equation 8.9 is the relationship between linear (tangential) speed and angular speed.</a:t>
            </a:r>
            <a:endParaRPr lang="en-US" sz="2400" dirty="0">
              <a:latin typeface="Times" pitchFamily="2" charset="0"/>
            </a:endParaRPr>
          </a:p>
        </p:txBody>
      </p:sp>
      <p:grpSp>
        <p:nvGrpSpPr>
          <p:cNvPr id="22" name="Group 21">
            <a:extLst>
              <a:ext uri="{FF2B5EF4-FFF2-40B4-BE49-F238E27FC236}">
                <a16:creationId xmlns:a16="http://schemas.microsoft.com/office/drawing/2014/main" id="{6D4DD32B-6DBD-89F6-8417-66409B316792}"/>
              </a:ext>
            </a:extLst>
          </p:cNvPr>
          <p:cNvGrpSpPr/>
          <p:nvPr/>
        </p:nvGrpSpPr>
        <p:grpSpPr>
          <a:xfrm>
            <a:off x="151923" y="2541173"/>
            <a:ext cx="11638501" cy="839460"/>
            <a:chOff x="165571" y="2923310"/>
            <a:chExt cx="11638501" cy="839460"/>
          </a:xfrm>
        </p:grpSpPr>
        <p:sp>
          <p:nvSpPr>
            <p:cNvPr id="16" name="TextBox 15">
              <a:extLst>
                <a:ext uri="{FF2B5EF4-FFF2-40B4-BE49-F238E27FC236}">
                  <a16:creationId xmlns:a16="http://schemas.microsoft.com/office/drawing/2014/main" id="{719DCECC-E67F-64A2-0E39-6BDC4EC6E87A}"/>
                </a:ext>
              </a:extLst>
            </p:cNvPr>
            <p:cNvSpPr txBox="1"/>
            <p:nvPr/>
          </p:nvSpPr>
          <p:spPr>
            <a:xfrm>
              <a:off x="165571" y="2931773"/>
              <a:ext cx="11638501"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Notice that the tangential speed is                                            to the radius of the circular motion, i.e. how far the point is located from the axis of rotation.</a:t>
              </a:r>
              <a:endParaRPr lang="en-US" sz="2400" dirty="0">
                <a:latin typeface="Times" pitchFamily="2" charset="0"/>
              </a:endParaRPr>
            </a:p>
          </p:txBody>
        </p:sp>
        <p:sp>
          <p:nvSpPr>
            <p:cNvPr id="20" name="Rounded Rectangle 19">
              <a:extLst>
                <a:ext uri="{FF2B5EF4-FFF2-40B4-BE49-F238E27FC236}">
                  <a16:creationId xmlns:a16="http://schemas.microsoft.com/office/drawing/2014/main" id="{2ED943D0-B697-4558-2E02-5C5FFD674B9E}"/>
                </a:ext>
              </a:extLst>
            </p:cNvPr>
            <p:cNvSpPr/>
            <p:nvPr/>
          </p:nvSpPr>
          <p:spPr>
            <a:xfrm>
              <a:off x="4419600" y="2923310"/>
              <a:ext cx="3241964" cy="4294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TextBox 60">
            <a:extLst>
              <a:ext uri="{FF2B5EF4-FFF2-40B4-BE49-F238E27FC236}">
                <a16:creationId xmlns:a16="http://schemas.microsoft.com/office/drawing/2014/main" id="{BE4DAB6A-23AF-059C-6DDD-A27D643D59A8}"/>
              </a:ext>
            </a:extLst>
          </p:cNvPr>
          <p:cNvSpPr txBox="1"/>
          <p:nvPr/>
        </p:nvSpPr>
        <p:spPr>
          <a:xfrm>
            <a:off x="7147850" y="3825202"/>
            <a:ext cx="2896284"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But </a:t>
            </a:r>
            <a:r>
              <a:rPr lang="en-US" sz="2400" i="1" dirty="0" err="1">
                <a:latin typeface="Times" pitchFamily="2" charset="0"/>
                <a:cs typeface="Times New Roman" panose="02020603050405020304" pitchFamily="18" charset="0"/>
              </a:rPr>
              <a:t>v</a:t>
            </a:r>
            <a:r>
              <a:rPr lang="en-US" sz="2400" baseline="-25000" dirty="0" err="1">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 varies with </a:t>
            </a:r>
            <a:r>
              <a:rPr lang="en-US" sz="2400" i="1" dirty="0">
                <a:latin typeface="Times" pitchFamily="2" charset="0"/>
                <a:cs typeface="Times New Roman" panose="02020603050405020304" pitchFamily="18" charset="0"/>
              </a:rPr>
              <a:t>r</a:t>
            </a:r>
            <a:r>
              <a:rPr lang="en-US" sz="2400" dirty="0">
                <a:latin typeface="Times" pitchFamily="2" charset="0"/>
                <a:cs typeface="Times New Roman" panose="02020603050405020304" pitchFamily="18" charset="0"/>
              </a:rPr>
              <a:t>.</a:t>
            </a:r>
            <a:endParaRPr lang="en-US" sz="2400" dirty="0">
              <a:latin typeface="Times" pitchFamily="2" charset="0"/>
            </a:endParaRPr>
          </a:p>
        </p:txBody>
      </p:sp>
      <p:grpSp>
        <p:nvGrpSpPr>
          <p:cNvPr id="64" name="Group 63">
            <a:extLst>
              <a:ext uri="{FF2B5EF4-FFF2-40B4-BE49-F238E27FC236}">
                <a16:creationId xmlns:a16="http://schemas.microsoft.com/office/drawing/2014/main" id="{1E84D7AF-198D-773A-F66B-C615968037CC}"/>
              </a:ext>
            </a:extLst>
          </p:cNvPr>
          <p:cNvGrpSpPr/>
          <p:nvPr/>
        </p:nvGrpSpPr>
        <p:grpSpPr>
          <a:xfrm>
            <a:off x="166996" y="3463829"/>
            <a:ext cx="11912600" cy="830997"/>
            <a:chOff x="139700" y="3832319"/>
            <a:chExt cx="11912600" cy="830997"/>
          </a:xfrm>
        </p:grpSpPr>
        <p:sp>
          <p:nvSpPr>
            <p:cNvPr id="60" name="TextBox 59">
              <a:extLst>
                <a:ext uri="{FF2B5EF4-FFF2-40B4-BE49-F238E27FC236}">
                  <a16:creationId xmlns:a16="http://schemas.microsoft.com/office/drawing/2014/main" id="{10D870E1-15A2-39D3-69B4-89C745B801E0}"/>
                </a:ext>
              </a:extLst>
            </p:cNvPr>
            <p:cNvSpPr txBox="1"/>
            <p:nvPr/>
          </p:nvSpPr>
          <p:spPr>
            <a:xfrm>
              <a:off x="165571" y="3832319"/>
              <a:ext cx="11638501"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As the object rotates, like our disc, for example, </a:t>
              </a:r>
              <a:r>
                <a:rPr lang="en-US" sz="2400" b="1" dirty="0">
                  <a:solidFill>
                    <a:srgbClr val="007440"/>
                  </a:solidFill>
                  <a:latin typeface="Times" pitchFamily="2" charset="0"/>
                  <a:cs typeface="Times New Roman" panose="02020603050405020304" pitchFamily="18" charset="0"/>
                </a:rPr>
                <a:t>every point on the disc has the same </a:t>
              </a:r>
              <a:r>
                <a:rPr lang="en-US" sz="2400" b="1" i="1" dirty="0">
                  <a:solidFill>
                    <a:srgbClr val="007440"/>
                  </a:solidFill>
                  <a:latin typeface="Symbol" pitchFamily="2" charset="2"/>
                  <a:cs typeface="Times New Roman" panose="02020603050405020304" pitchFamily="18" charset="0"/>
                </a:rPr>
                <a:t>w</a:t>
              </a:r>
              <a:r>
                <a:rPr lang="en-US" sz="2400" dirty="0">
                  <a:latin typeface="Times" pitchFamily="2" charset="0"/>
                  <a:cs typeface="Times New Roman" panose="02020603050405020304" pitchFamily="18" charset="0"/>
                </a:rPr>
                <a:t>, i.e. each point sweeps out the same angle in the same time.</a:t>
              </a:r>
              <a:endParaRPr lang="en-US" sz="2400" dirty="0">
                <a:latin typeface="Times" pitchFamily="2" charset="0"/>
              </a:endParaRPr>
            </a:p>
          </p:txBody>
        </p:sp>
        <p:sp>
          <p:nvSpPr>
            <p:cNvPr id="63" name="Rectangle 62">
              <a:extLst>
                <a:ext uri="{FF2B5EF4-FFF2-40B4-BE49-F238E27FC236}">
                  <a16:creationId xmlns:a16="http://schemas.microsoft.com/office/drawing/2014/main" id="{1695BE1F-6F34-0F42-48EF-2EAB0C85E7D1}"/>
                </a:ext>
              </a:extLst>
            </p:cNvPr>
            <p:cNvSpPr/>
            <p:nvPr/>
          </p:nvSpPr>
          <p:spPr>
            <a:xfrm>
              <a:off x="139700" y="3860800"/>
              <a:ext cx="11912600" cy="80010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393D4CDC-AB71-EDEE-8C6F-33F13F91B230}"/>
              </a:ext>
            </a:extLst>
          </p:cNvPr>
          <p:cNvGrpSpPr/>
          <p:nvPr/>
        </p:nvGrpSpPr>
        <p:grpSpPr>
          <a:xfrm>
            <a:off x="201617" y="4486444"/>
            <a:ext cx="2116694" cy="1651338"/>
            <a:chOff x="194742" y="4546888"/>
            <a:chExt cx="2116694" cy="1651338"/>
          </a:xfrm>
        </p:grpSpPr>
        <p:sp>
          <p:nvSpPr>
            <p:cNvPr id="32" name="Oval 31">
              <a:extLst>
                <a:ext uri="{FF2B5EF4-FFF2-40B4-BE49-F238E27FC236}">
                  <a16:creationId xmlns:a16="http://schemas.microsoft.com/office/drawing/2014/main" id="{D6108D96-5406-3B8E-5A42-8A1A3A089DFB}"/>
                </a:ext>
              </a:extLst>
            </p:cNvPr>
            <p:cNvSpPr/>
            <p:nvPr/>
          </p:nvSpPr>
          <p:spPr>
            <a:xfrm>
              <a:off x="194742" y="4738136"/>
              <a:ext cx="1460090" cy="1460090"/>
            </a:xfrm>
            <a:prstGeom prst="ellipse">
              <a:avLst/>
            </a:prstGeom>
            <a:gradFill flip="none" rotWithShape="1">
              <a:gsLst>
                <a:gs pos="14000">
                  <a:schemeClr val="bg1"/>
                </a:gs>
                <a:gs pos="100000">
                  <a:schemeClr val="bg1">
                    <a:lumMod val="65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372EE17B-777E-4832-B9DE-246DED8CA7F5}"/>
                </a:ext>
              </a:extLst>
            </p:cNvPr>
            <p:cNvSpPr txBox="1"/>
            <p:nvPr/>
          </p:nvSpPr>
          <p:spPr>
            <a:xfrm>
              <a:off x="1176770" y="5378738"/>
              <a:ext cx="484152" cy="307777"/>
            </a:xfrm>
            <a:prstGeom prst="rect">
              <a:avLst/>
            </a:prstGeom>
            <a:noFill/>
          </p:spPr>
          <p:txBody>
            <a:bodyPr wrap="square" rtlCol="0">
              <a:spAutoFit/>
            </a:bodyPr>
            <a:lstStyle/>
            <a:p>
              <a:r>
                <a:rPr lang="en-US" sz="1400" i="1" dirty="0" err="1">
                  <a:solidFill>
                    <a:srgbClr val="3C32FF"/>
                  </a:solidFill>
                  <a:latin typeface="Times" pitchFamily="2" charset="0"/>
                </a:rPr>
                <a:t>r</a:t>
              </a:r>
              <a:r>
                <a:rPr lang="en-US" sz="1400" i="1" baseline="-25000" dirty="0" err="1">
                  <a:solidFill>
                    <a:srgbClr val="3C32FF"/>
                  </a:solidFill>
                  <a:latin typeface="Times" pitchFamily="2" charset="0"/>
                </a:rPr>
                <a:t>A</a:t>
              </a:r>
              <a:endParaRPr lang="en-US" sz="1400" i="1" dirty="0">
                <a:solidFill>
                  <a:srgbClr val="3C32FF"/>
                </a:solidFill>
                <a:latin typeface="Times" pitchFamily="2" charset="0"/>
              </a:endParaRPr>
            </a:p>
          </p:txBody>
        </p:sp>
        <p:sp>
          <p:nvSpPr>
            <p:cNvPr id="42" name="TextBox 41">
              <a:extLst>
                <a:ext uri="{FF2B5EF4-FFF2-40B4-BE49-F238E27FC236}">
                  <a16:creationId xmlns:a16="http://schemas.microsoft.com/office/drawing/2014/main" id="{26CE51B7-E3A1-8241-93D8-8F836ED6BFC2}"/>
                </a:ext>
              </a:extLst>
            </p:cNvPr>
            <p:cNvSpPr txBox="1"/>
            <p:nvPr/>
          </p:nvSpPr>
          <p:spPr>
            <a:xfrm>
              <a:off x="1612548" y="5326484"/>
              <a:ext cx="301625" cy="307777"/>
            </a:xfrm>
            <a:prstGeom prst="rect">
              <a:avLst/>
            </a:prstGeom>
            <a:noFill/>
          </p:spPr>
          <p:txBody>
            <a:bodyPr wrap="square" rtlCol="0">
              <a:spAutoFit/>
            </a:bodyPr>
            <a:lstStyle/>
            <a:p>
              <a:r>
                <a:rPr lang="en-US" sz="1400" i="1" dirty="0">
                  <a:latin typeface="Times" pitchFamily="2" charset="0"/>
                </a:rPr>
                <a:t>A</a:t>
              </a:r>
            </a:p>
          </p:txBody>
        </p:sp>
        <p:sp>
          <p:nvSpPr>
            <p:cNvPr id="51" name="Oval 50">
              <a:extLst>
                <a:ext uri="{FF2B5EF4-FFF2-40B4-BE49-F238E27FC236}">
                  <a16:creationId xmlns:a16="http://schemas.microsoft.com/office/drawing/2014/main" id="{5F064650-E0E6-C3C2-CEC1-49D264B93C27}"/>
                </a:ext>
              </a:extLst>
            </p:cNvPr>
            <p:cNvSpPr/>
            <p:nvPr/>
          </p:nvSpPr>
          <p:spPr>
            <a:xfrm>
              <a:off x="1629094" y="5445604"/>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4" name="Straight Arrow Connector 53">
              <a:extLst>
                <a:ext uri="{FF2B5EF4-FFF2-40B4-BE49-F238E27FC236}">
                  <a16:creationId xmlns:a16="http://schemas.microsoft.com/office/drawing/2014/main" id="{7AD0E4E6-C60C-0F55-9918-54B0271D2A6B}"/>
                </a:ext>
              </a:extLst>
            </p:cNvPr>
            <p:cNvCxnSpPr>
              <a:stCxn id="51" idx="0"/>
            </p:cNvCxnSpPr>
            <p:nvPr/>
          </p:nvCxnSpPr>
          <p:spPr>
            <a:xfrm flipH="1" flipV="1">
              <a:off x="1653020" y="4800888"/>
              <a:ext cx="1188" cy="644716"/>
            </a:xfrm>
            <a:prstGeom prst="straightConnector1">
              <a:avLst/>
            </a:prstGeom>
            <a:ln w="22225">
              <a:solidFill>
                <a:srgbClr val="3C32FF"/>
              </a:solidFill>
              <a:tailEnd type="stealth" w="med" len="med"/>
            </a:ln>
          </p:spPr>
          <p:style>
            <a:lnRef idx="1">
              <a:schemeClr val="accent1"/>
            </a:lnRef>
            <a:fillRef idx="0">
              <a:schemeClr val="accent1"/>
            </a:fillRef>
            <a:effectRef idx="0">
              <a:schemeClr val="accent1"/>
            </a:effectRef>
            <a:fontRef idx="minor">
              <a:schemeClr val="tx1"/>
            </a:fontRef>
          </p:style>
        </p:cxnSp>
        <p:sp>
          <p:nvSpPr>
            <p:cNvPr id="62" name="Arc 61">
              <a:extLst>
                <a:ext uri="{FF2B5EF4-FFF2-40B4-BE49-F238E27FC236}">
                  <a16:creationId xmlns:a16="http://schemas.microsoft.com/office/drawing/2014/main" id="{B3B38E2A-8479-9FEE-2A33-D6F91FC14B61}"/>
                </a:ext>
              </a:extLst>
            </p:cNvPr>
            <p:cNvSpPr/>
            <p:nvPr/>
          </p:nvSpPr>
          <p:spPr>
            <a:xfrm rot="11664800">
              <a:off x="396555" y="5306434"/>
              <a:ext cx="1005144" cy="752509"/>
            </a:xfrm>
            <a:prstGeom prst="arc">
              <a:avLst>
                <a:gd name="adj1" fmla="val 15932650"/>
                <a:gd name="adj2" fmla="val 20098607"/>
              </a:avLst>
            </a:prstGeom>
            <a:ln w="28575">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6" name="Group 65">
              <a:extLst>
                <a:ext uri="{FF2B5EF4-FFF2-40B4-BE49-F238E27FC236}">
                  <a16:creationId xmlns:a16="http://schemas.microsoft.com/office/drawing/2014/main" id="{C0178EDA-88DC-81FF-5A87-7876EF95D6AD}"/>
                </a:ext>
              </a:extLst>
            </p:cNvPr>
            <p:cNvGrpSpPr/>
            <p:nvPr/>
          </p:nvGrpSpPr>
          <p:grpSpPr>
            <a:xfrm>
              <a:off x="1605395" y="4581813"/>
              <a:ext cx="706041" cy="462916"/>
              <a:chOff x="1605395" y="4581813"/>
              <a:chExt cx="706041" cy="462916"/>
            </a:xfrm>
          </p:grpSpPr>
          <p:sp>
            <p:nvSpPr>
              <p:cNvPr id="59" name="TextBox 58">
                <a:extLst>
                  <a:ext uri="{FF2B5EF4-FFF2-40B4-BE49-F238E27FC236}">
                    <a16:creationId xmlns:a16="http://schemas.microsoft.com/office/drawing/2014/main" id="{7EBEA8CC-59DC-2BC2-D841-A66925E60540}"/>
                  </a:ext>
                </a:extLst>
              </p:cNvPr>
              <p:cNvSpPr txBox="1"/>
              <p:nvPr/>
            </p:nvSpPr>
            <p:spPr>
              <a:xfrm>
                <a:off x="1605395" y="4581813"/>
                <a:ext cx="514350" cy="369332"/>
              </a:xfrm>
              <a:prstGeom prst="rect">
                <a:avLst/>
              </a:prstGeom>
              <a:noFill/>
            </p:spPr>
            <p:txBody>
              <a:bodyPr wrap="square" rtlCol="0">
                <a:spAutoFit/>
              </a:bodyPr>
              <a:lstStyle/>
              <a:p>
                <a:r>
                  <a:rPr lang="en-US" i="1" dirty="0" err="1">
                    <a:solidFill>
                      <a:srgbClr val="3C32FF"/>
                    </a:solidFill>
                    <a:latin typeface="Times" pitchFamily="2" charset="0"/>
                  </a:rPr>
                  <a:t>v</a:t>
                </a:r>
                <a:r>
                  <a:rPr lang="en-US" baseline="-25000" dirty="0" err="1">
                    <a:solidFill>
                      <a:srgbClr val="3C32FF"/>
                    </a:solidFill>
                    <a:latin typeface="Times" pitchFamily="2" charset="0"/>
                  </a:rPr>
                  <a:t>T</a:t>
                </a:r>
                <a:endParaRPr lang="en-US" sz="1000" dirty="0">
                  <a:solidFill>
                    <a:srgbClr val="3C32FF"/>
                  </a:solidFill>
                  <a:latin typeface="Times" pitchFamily="2" charset="0"/>
                </a:endParaRPr>
              </a:p>
            </p:txBody>
          </p:sp>
          <p:sp>
            <p:nvSpPr>
              <p:cNvPr id="65" name="TextBox 64">
                <a:extLst>
                  <a:ext uri="{FF2B5EF4-FFF2-40B4-BE49-F238E27FC236}">
                    <a16:creationId xmlns:a16="http://schemas.microsoft.com/office/drawing/2014/main" id="{1480F235-4968-F644-9B58-D25C137D93F8}"/>
                  </a:ext>
                </a:extLst>
              </p:cNvPr>
              <p:cNvSpPr txBox="1"/>
              <p:nvPr/>
            </p:nvSpPr>
            <p:spPr>
              <a:xfrm>
                <a:off x="1797086" y="4798508"/>
                <a:ext cx="514350" cy="246221"/>
              </a:xfrm>
              <a:prstGeom prst="rect">
                <a:avLst/>
              </a:prstGeom>
              <a:noFill/>
            </p:spPr>
            <p:txBody>
              <a:bodyPr wrap="square" rtlCol="0">
                <a:spAutoFit/>
              </a:bodyPr>
              <a:lstStyle/>
              <a:p>
                <a:r>
                  <a:rPr lang="en-US" sz="1000" i="1" dirty="0">
                    <a:solidFill>
                      <a:srgbClr val="3C32FF"/>
                    </a:solidFill>
                    <a:latin typeface="Times" pitchFamily="2" charset="0"/>
                  </a:rPr>
                  <a:t>A</a:t>
                </a:r>
                <a:endParaRPr lang="en-US" sz="1000" dirty="0">
                  <a:solidFill>
                    <a:srgbClr val="3C32FF"/>
                  </a:solidFill>
                  <a:latin typeface="Times" pitchFamily="2" charset="0"/>
                </a:endParaRPr>
              </a:p>
            </p:txBody>
          </p:sp>
        </p:grpSp>
        <p:cxnSp>
          <p:nvCxnSpPr>
            <p:cNvPr id="68" name="Straight Connector 67">
              <a:extLst>
                <a:ext uri="{FF2B5EF4-FFF2-40B4-BE49-F238E27FC236}">
                  <a16:creationId xmlns:a16="http://schemas.microsoft.com/office/drawing/2014/main" id="{7C23EA54-56EE-231F-1DFA-C658267D8863}"/>
                </a:ext>
              </a:extLst>
            </p:cNvPr>
            <p:cNvCxnSpPr>
              <a:cxnSpLocks/>
            </p:cNvCxnSpPr>
            <p:nvPr/>
          </p:nvCxnSpPr>
          <p:spPr>
            <a:xfrm>
              <a:off x="923960" y="5470812"/>
              <a:ext cx="712490" cy="4891"/>
            </a:xfrm>
            <a:prstGeom prst="line">
              <a:avLst/>
            </a:prstGeom>
            <a:ln w="12700">
              <a:solidFill>
                <a:srgbClr val="3C32FF"/>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70F3F874-CAE2-8A75-7C26-1363C94F0AF9}"/>
                </a:ext>
              </a:extLst>
            </p:cNvPr>
            <p:cNvSpPr txBox="1"/>
            <p:nvPr/>
          </p:nvSpPr>
          <p:spPr>
            <a:xfrm>
              <a:off x="1358548" y="5120109"/>
              <a:ext cx="301625" cy="307777"/>
            </a:xfrm>
            <a:prstGeom prst="rect">
              <a:avLst/>
            </a:prstGeom>
            <a:noFill/>
          </p:spPr>
          <p:txBody>
            <a:bodyPr wrap="square" rtlCol="0">
              <a:spAutoFit/>
            </a:bodyPr>
            <a:lstStyle/>
            <a:p>
              <a:r>
                <a:rPr lang="en-US" sz="1400" i="1" dirty="0">
                  <a:latin typeface="Times" pitchFamily="2" charset="0"/>
                </a:rPr>
                <a:t>B</a:t>
              </a:r>
            </a:p>
          </p:txBody>
        </p:sp>
        <p:cxnSp>
          <p:nvCxnSpPr>
            <p:cNvPr id="71" name="Straight Arrow Connector 70">
              <a:extLst>
                <a:ext uri="{FF2B5EF4-FFF2-40B4-BE49-F238E27FC236}">
                  <a16:creationId xmlns:a16="http://schemas.microsoft.com/office/drawing/2014/main" id="{27394657-A70A-DE2A-DB23-41F52E24905F}"/>
                </a:ext>
              </a:extLst>
            </p:cNvPr>
            <p:cNvCxnSpPr>
              <a:cxnSpLocks/>
            </p:cNvCxnSpPr>
            <p:nvPr/>
          </p:nvCxnSpPr>
          <p:spPr>
            <a:xfrm flipH="1" flipV="1">
              <a:off x="1219200" y="4765675"/>
              <a:ext cx="244508" cy="403704"/>
            </a:xfrm>
            <a:prstGeom prst="straightConnector1">
              <a:avLst/>
            </a:prstGeom>
            <a:ln w="22225">
              <a:solidFill>
                <a:srgbClr val="007440"/>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3E36089-BB8E-6CB4-17C1-74C7F4C511C3}"/>
                </a:ext>
              </a:extLst>
            </p:cNvPr>
            <p:cNvCxnSpPr>
              <a:cxnSpLocks/>
            </p:cNvCxnSpPr>
            <p:nvPr/>
          </p:nvCxnSpPr>
          <p:spPr>
            <a:xfrm flipV="1">
              <a:off x="908085" y="5175250"/>
              <a:ext cx="546065" cy="295562"/>
            </a:xfrm>
            <a:prstGeom prst="line">
              <a:avLst/>
            </a:prstGeom>
            <a:ln w="12700">
              <a:solidFill>
                <a:srgbClr val="007440"/>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AC24A307-021C-0823-6FE9-4B1C2EFC3791}"/>
                </a:ext>
              </a:extLst>
            </p:cNvPr>
            <p:cNvSpPr/>
            <p:nvPr/>
          </p:nvSpPr>
          <p:spPr>
            <a:xfrm>
              <a:off x="1429069" y="5150329"/>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D9BDFBB6-3A5A-2D66-5FCE-C0DAF6A65CBD}"/>
                </a:ext>
              </a:extLst>
            </p:cNvPr>
            <p:cNvSpPr/>
            <p:nvPr/>
          </p:nvSpPr>
          <p:spPr>
            <a:xfrm>
              <a:off x="1577975" y="5397500"/>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3B279B00-07B6-C528-D9D2-90405FCBA387}"/>
                </a:ext>
              </a:extLst>
            </p:cNvPr>
            <p:cNvSpPr/>
            <p:nvPr/>
          </p:nvSpPr>
          <p:spPr>
            <a:xfrm rot="19821823">
              <a:off x="1368425" y="5118100"/>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1936FEEE-D428-5481-CE7F-EE403C3A1FF3}"/>
                </a:ext>
              </a:extLst>
            </p:cNvPr>
            <p:cNvGrpSpPr/>
            <p:nvPr/>
          </p:nvGrpSpPr>
          <p:grpSpPr>
            <a:xfrm>
              <a:off x="1189470" y="4546888"/>
              <a:ext cx="706041" cy="462916"/>
              <a:chOff x="1605395" y="4581813"/>
              <a:chExt cx="706041" cy="462916"/>
            </a:xfrm>
          </p:grpSpPr>
          <p:sp>
            <p:nvSpPr>
              <p:cNvPr id="81" name="TextBox 80">
                <a:extLst>
                  <a:ext uri="{FF2B5EF4-FFF2-40B4-BE49-F238E27FC236}">
                    <a16:creationId xmlns:a16="http://schemas.microsoft.com/office/drawing/2014/main" id="{07CD555D-FB69-7E9C-BC2D-B04697641633}"/>
                  </a:ext>
                </a:extLst>
              </p:cNvPr>
              <p:cNvSpPr txBox="1"/>
              <p:nvPr/>
            </p:nvSpPr>
            <p:spPr>
              <a:xfrm>
                <a:off x="1605395" y="4581813"/>
                <a:ext cx="514350" cy="369332"/>
              </a:xfrm>
              <a:prstGeom prst="rect">
                <a:avLst/>
              </a:prstGeom>
              <a:noFill/>
            </p:spPr>
            <p:txBody>
              <a:bodyPr wrap="square" rtlCol="0">
                <a:spAutoFit/>
              </a:bodyPr>
              <a:lstStyle/>
              <a:p>
                <a:r>
                  <a:rPr lang="en-US" i="1" dirty="0" err="1">
                    <a:solidFill>
                      <a:srgbClr val="007440"/>
                    </a:solidFill>
                    <a:latin typeface="Times" pitchFamily="2" charset="0"/>
                  </a:rPr>
                  <a:t>v</a:t>
                </a:r>
                <a:r>
                  <a:rPr lang="en-US" baseline="-25000" dirty="0" err="1">
                    <a:solidFill>
                      <a:srgbClr val="007440"/>
                    </a:solidFill>
                    <a:latin typeface="Times" pitchFamily="2" charset="0"/>
                  </a:rPr>
                  <a:t>T</a:t>
                </a:r>
                <a:endParaRPr lang="en-US" sz="1000" dirty="0">
                  <a:solidFill>
                    <a:srgbClr val="007440"/>
                  </a:solidFill>
                  <a:latin typeface="Times" pitchFamily="2" charset="0"/>
                </a:endParaRPr>
              </a:p>
            </p:txBody>
          </p:sp>
          <p:sp>
            <p:nvSpPr>
              <p:cNvPr id="82" name="TextBox 81">
                <a:extLst>
                  <a:ext uri="{FF2B5EF4-FFF2-40B4-BE49-F238E27FC236}">
                    <a16:creationId xmlns:a16="http://schemas.microsoft.com/office/drawing/2014/main" id="{BEA8F02F-AC29-007D-F3BF-9C308C235408}"/>
                  </a:ext>
                </a:extLst>
              </p:cNvPr>
              <p:cNvSpPr txBox="1"/>
              <p:nvPr/>
            </p:nvSpPr>
            <p:spPr>
              <a:xfrm>
                <a:off x="1797086" y="4798508"/>
                <a:ext cx="514350" cy="246221"/>
              </a:xfrm>
              <a:prstGeom prst="rect">
                <a:avLst/>
              </a:prstGeom>
              <a:noFill/>
            </p:spPr>
            <p:txBody>
              <a:bodyPr wrap="square" rtlCol="0">
                <a:spAutoFit/>
              </a:bodyPr>
              <a:lstStyle/>
              <a:p>
                <a:r>
                  <a:rPr lang="en-US" sz="1000" i="1" dirty="0">
                    <a:solidFill>
                      <a:srgbClr val="007440"/>
                    </a:solidFill>
                    <a:latin typeface="Times" pitchFamily="2" charset="0"/>
                  </a:rPr>
                  <a:t>B</a:t>
                </a:r>
                <a:endParaRPr lang="en-US" sz="1000" dirty="0">
                  <a:solidFill>
                    <a:srgbClr val="007440"/>
                  </a:solidFill>
                  <a:latin typeface="Times" pitchFamily="2" charset="0"/>
                </a:endParaRPr>
              </a:p>
            </p:txBody>
          </p:sp>
        </p:grpSp>
        <p:sp>
          <p:nvSpPr>
            <p:cNvPr id="83" name="Oval 82">
              <a:extLst>
                <a:ext uri="{FF2B5EF4-FFF2-40B4-BE49-F238E27FC236}">
                  <a16:creationId xmlns:a16="http://schemas.microsoft.com/office/drawing/2014/main" id="{5EF9E9A2-528A-C03E-A04C-CDB26C76B93C}"/>
                </a:ext>
              </a:extLst>
            </p:cNvPr>
            <p:cNvSpPr/>
            <p:nvPr/>
          </p:nvSpPr>
          <p:spPr>
            <a:xfrm>
              <a:off x="1038544" y="5178904"/>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4" name="Straight Connector 83">
              <a:extLst>
                <a:ext uri="{FF2B5EF4-FFF2-40B4-BE49-F238E27FC236}">
                  <a16:creationId xmlns:a16="http://schemas.microsoft.com/office/drawing/2014/main" id="{189F9404-9B2A-8287-B842-93B77442F5BA}"/>
                </a:ext>
              </a:extLst>
            </p:cNvPr>
            <p:cNvCxnSpPr>
              <a:cxnSpLocks/>
            </p:cNvCxnSpPr>
            <p:nvPr/>
          </p:nvCxnSpPr>
          <p:spPr>
            <a:xfrm flipV="1">
              <a:off x="911260" y="5219700"/>
              <a:ext cx="142840" cy="25111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F2462B1B-E726-79ED-398A-F6527FE5AA0E}"/>
                </a:ext>
              </a:extLst>
            </p:cNvPr>
            <p:cNvSpPr txBox="1"/>
            <p:nvPr/>
          </p:nvSpPr>
          <p:spPr>
            <a:xfrm>
              <a:off x="1164070" y="5175538"/>
              <a:ext cx="484152" cy="307777"/>
            </a:xfrm>
            <a:prstGeom prst="rect">
              <a:avLst/>
            </a:prstGeom>
            <a:noFill/>
          </p:spPr>
          <p:txBody>
            <a:bodyPr wrap="square" rtlCol="0">
              <a:spAutoFit/>
            </a:bodyPr>
            <a:lstStyle/>
            <a:p>
              <a:r>
                <a:rPr lang="en-US" sz="1400" i="1" dirty="0" err="1">
                  <a:solidFill>
                    <a:srgbClr val="007440"/>
                  </a:solidFill>
                  <a:latin typeface="Times" pitchFamily="2" charset="0"/>
                </a:rPr>
                <a:t>r</a:t>
              </a:r>
              <a:r>
                <a:rPr lang="en-US" sz="1400" i="1" baseline="-25000" dirty="0" err="1">
                  <a:solidFill>
                    <a:srgbClr val="007440"/>
                  </a:solidFill>
                  <a:latin typeface="Times" pitchFamily="2" charset="0"/>
                </a:rPr>
                <a:t>B</a:t>
              </a:r>
              <a:endParaRPr lang="en-US" sz="1400" i="1" dirty="0">
                <a:solidFill>
                  <a:srgbClr val="007440"/>
                </a:solidFill>
                <a:latin typeface="Times" pitchFamily="2" charset="0"/>
              </a:endParaRPr>
            </a:p>
          </p:txBody>
        </p:sp>
        <p:sp>
          <p:nvSpPr>
            <p:cNvPr id="87" name="TextBox 86">
              <a:extLst>
                <a:ext uri="{FF2B5EF4-FFF2-40B4-BE49-F238E27FC236}">
                  <a16:creationId xmlns:a16="http://schemas.microsoft.com/office/drawing/2014/main" id="{88538A53-3567-216D-966A-5D2C94D9F084}"/>
                </a:ext>
              </a:extLst>
            </p:cNvPr>
            <p:cNvSpPr txBox="1"/>
            <p:nvPr/>
          </p:nvSpPr>
          <p:spPr>
            <a:xfrm>
              <a:off x="955323" y="4951834"/>
              <a:ext cx="301625" cy="307777"/>
            </a:xfrm>
            <a:prstGeom prst="rect">
              <a:avLst/>
            </a:prstGeom>
            <a:noFill/>
          </p:spPr>
          <p:txBody>
            <a:bodyPr wrap="square" rtlCol="0">
              <a:spAutoFit/>
            </a:bodyPr>
            <a:lstStyle/>
            <a:p>
              <a:r>
                <a:rPr lang="en-US" sz="1400" i="1" dirty="0">
                  <a:latin typeface="Times" pitchFamily="2" charset="0"/>
                </a:rPr>
                <a:t>C</a:t>
              </a:r>
            </a:p>
          </p:txBody>
        </p:sp>
        <p:sp>
          <p:nvSpPr>
            <p:cNvPr id="88" name="TextBox 87">
              <a:extLst>
                <a:ext uri="{FF2B5EF4-FFF2-40B4-BE49-F238E27FC236}">
                  <a16:creationId xmlns:a16="http://schemas.microsoft.com/office/drawing/2014/main" id="{26E51B88-37C1-B3E7-0EC9-A2BBE412E2A4}"/>
                </a:ext>
              </a:extLst>
            </p:cNvPr>
            <p:cNvSpPr txBox="1"/>
            <p:nvPr/>
          </p:nvSpPr>
          <p:spPr>
            <a:xfrm>
              <a:off x="719570" y="5108863"/>
              <a:ext cx="484152" cy="307777"/>
            </a:xfrm>
            <a:prstGeom prst="rect">
              <a:avLst/>
            </a:prstGeom>
            <a:noFill/>
          </p:spPr>
          <p:txBody>
            <a:bodyPr wrap="square" rtlCol="0">
              <a:spAutoFit/>
            </a:bodyPr>
            <a:lstStyle/>
            <a:p>
              <a:r>
                <a:rPr lang="en-US" sz="1400" i="1" dirty="0" err="1">
                  <a:solidFill>
                    <a:srgbClr val="FF0000"/>
                  </a:solidFill>
                  <a:latin typeface="Times" pitchFamily="2" charset="0"/>
                </a:rPr>
                <a:t>r</a:t>
              </a:r>
              <a:r>
                <a:rPr lang="en-US" sz="1400" i="1" baseline="-25000" dirty="0" err="1">
                  <a:solidFill>
                    <a:srgbClr val="FF0000"/>
                  </a:solidFill>
                  <a:latin typeface="Times" pitchFamily="2" charset="0"/>
                </a:rPr>
                <a:t>C</a:t>
              </a:r>
              <a:endParaRPr lang="en-US" sz="1400" i="1" dirty="0">
                <a:solidFill>
                  <a:srgbClr val="FF0000"/>
                </a:solidFill>
                <a:latin typeface="Times" pitchFamily="2" charset="0"/>
              </a:endParaRPr>
            </a:p>
          </p:txBody>
        </p:sp>
        <p:sp>
          <p:nvSpPr>
            <p:cNvPr id="36" name="Oval 35">
              <a:extLst>
                <a:ext uri="{FF2B5EF4-FFF2-40B4-BE49-F238E27FC236}">
                  <a16:creationId xmlns:a16="http://schemas.microsoft.com/office/drawing/2014/main" id="{AAC3A0B9-258F-7EBE-51C9-8F1C2C166677}"/>
                </a:ext>
              </a:extLst>
            </p:cNvPr>
            <p:cNvSpPr/>
            <p:nvPr/>
          </p:nvSpPr>
          <p:spPr>
            <a:xfrm>
              <a:off x="900545" y="5458113"/>
              <a:ext cx="27432" cy="2743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Arrow Connector 88">
              <a:extLst>
                <a:ext uri="{FF2B5EF4-FFF2-40B4-BE49-F238E27FC236}">
                  <a16:creationId xmlns:a16="http://schemas.microsoft.com/office/drawing/2014/main" id="{13F4C6E1-A331-5DA0-BB74-B0564F605791}"/>
                </a:ext>
              </a:extLst>
            </p:cNvPr>
            <p:cNvCxnSpPr>
              <a:cxnSpLocks/>
            </p:cNvCxnSpPr>
            <p:nvPr/>
          </p:nvCxnSpPr>
          <p:spPr>
            <a:xfrm flipH="1" flipV="1">
              <a:off x="790575" y="5067300"/>
              <a:ext cx="254033" cy="124304"/>
            </a:xfrm>
            <a:prstGeom prst="straightConnector1">
              <a:avLst/>
            </a:prstGeom>
            <a:ln w="22225">
              <a:solidFill>
                <a:srgbClr val="FF0000"/>
              </a:solidFill>
              <a:tailEnd type="stealth" w="med" len="med"/>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9C07FEDB-996C-0156-DB33-7466911093D1}"/>
                </a:ext>
              </a:extLst>
            </p:cNvPr>
            <p:cNvSpPr/>
            <p:nvPr/>
          </p:nvSpPr>
          <p:spPr>
            <a:xfrm rot="17807022">
              <a:off x="968376" y="5191126"/>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 name="Group 91">
              <a:extLst>
                <a:ext uri="{FF2B5EF4-FFF2-40B4-BE49-F238E27FC236}">
                  <a16:creationId xmlns:a16="http://schemas.microsoft.com/office/drawing/2014/main" id="{E781107F-4657-FB40-E7BA-A4C4FA39E789}"/>
                </a:ext>
              </a:extLst>
            </p:cNvPr>
            <p:cNvGrpSpPr/>
            <p:nvPr/>
          </p:nvGrpSpPr>
          <p:grpSpPr>
            <a:xfrm>
              <a:off x="595745" y="4692938"/>
              <a:ext cx="706041" cy="462916"/>
              <a:chOff x="1605395" y="4581813"/>
              <a:chExt cx="706041" cy="462916"/>
            </a:xfrm>
          </p:grpSpPr>
          <p:sp>
            <p:nvSpPr>
              <p:cNvPr id="93" name="TextBox 92">
                <a:extLst>
                  <a:ext uri="{FF2B5EF4-FFF2-40B4-BE49-F238E27FC236}">
                    <a16:creationId xmlns:a16="http://schemas.microsoft.com/office/drawing/2014/main" id="{478BA4BB-CCD2-17D5-10A4-E96E2412DAF5}"/>
                  </a:ext>
                </a:extLst>
              </p:cNvPr>
              <p:cNvSpPr txBox="1"/>
              <p:nvPr/>
            </p:nvSpPr>
            <p:spPr>
              <a:xfrm>
                <a:off x="1605395" y="4581813"/>
                <a:ext cx="514350" cy="369332"/>
              </a:xfrm>
              <a:prstGeom prst="rect">
                <a:avLst/>
              </a:prstGeom>
              <a:noFill/>
            </p:spPr>
            <p:txBody>
              <a:bodyPr wrap="square" rtlCol="0">
                <a:spAutoFit/>
              </a:bodyPr>
              <a:lstStyle/>
              <a:p>
                <a:r>
                  <a:rPr lang="en-US" i="1" dirty="0" err="1">
                    <a:solidFill>
                      <a:srgbClr val="FF0000"/>
                    </a:solidFill>
                    <a:latin typeface="Times" pitchFamily="2" charset="0"/>
                  </a:rPr>
                  <a:t>v</a:t>
                </a:r>
                <a:r>
                  <a:rPr lang="en-US" baseline="-25000" dirty="0" err="1">
                    <a:solidFill>
                      <a:srgbClr val="FF0000"/>
                    </a:solidFill>
                    <a:latin typeface="Times" pitchFamily="2" charset="0"/>
                  </a:rPr>
                  <a:t>T</a:t>
                </a:r>
                <a:endParaRPr lang="en-US" sz="1000" dirty="0">
                  <a:solidFill>
                    <a:srgbClr val="FF0000"/>
                  </a:solidFill>
                  <a:latin typeface="Times" pitchFamily="2" charset="0"/>
                </a:endParaRPr>
              </a:p>
            </p:txBody>
          </p:sp>
          <p:sp>
            <p:nvSpPr>
              <p:cNvPr id="94" name="TextBox 93">
                <a:extLst>
                  <a:ext uri="{FF2B5EF4-FFF2-40B4-BE49-F238E27FC236}">
                    <a16:creationId xmlns:a16="http://schemas.microsoft.com/office/drawing/2014/main" id="{703F9152-383A-0FF4-3C02-F0E87F9EE8C2}"/>
                  </a:ext>
                </a:extLst>
              </p:cNvPr>
              <p:cNvSpPr txBox="1"/>
              <p:nvPr/>
            </p:nvSpPr>
            <p:spPr>
              <a:xfrm>
                <a:off x="1797086" y="4798508"/>
                <a:ext cx="514350" cy="246221"/>
              </a:xfrm>
              <a:prstGeom prst="rect">
                <a:avLst/>
              </a:prstGeom>
              <a:noFill/>
            </p:spPr>
            <p:txBody>
              <a:bodyPr wrap="square" rtlCol="0">
                <a:spAutoFit/>
              </a:bodyPr>
              <a:lstStyle/>
              <a:p>
                <a:r>
                  <a:rPr lang="en-US" sz="1000" i="1" dirty="0">
                    <a:solidFill>
                      <a:srgbClr val="FF0000"/>
                    </a:solidFill>
                    <a:latin typeface="Times" pitchFamily="2" charset="0"/>
                  </a:rPr>
                  <a:t>C</a:t>
                </a:r>
                <a:endParaRPr lang="en-US" sz="1000" dirty="0">
                  <a:solidFill>
                    <a:srgbClr val="FF0000"/>
                  </a:solidFill>
                  <a:latin typeface="Times" pitchFamily="2" charset="0"/>
                </a:endParaRPr>
              </a:p>
            </p:txBody>
          </p:sp>
        </p:grpSp>
      </p:grpSp>
      <p:grpSp>
        <p:nvGrpSpPr>
          <p:cNvPr id="108" name="Group 107">
            <a:extLst>
              <a:ext uri="{FF2B5EF4-FFF2-40B4-BE49-F238E27FC236}">
                <a16:creationId xmlns:a16="http://schemas.microsoft.com/office/drawing/2014/main" id="{5798DCA6-DF3B-D7A8-3529-6B066ADDCFDA}"/>
              </a:ext>
            </a:extLst>
          </p:cNvPr>
          <p:cNvGrpSpPr/>
          <p:nvPr/>
        </p:nvGrpSpPr>
        <p:grpSpPr>
          <a:xfrm>
            <a:off x="2225766" y="4602920"/>
            <a:ext cx="9221595" cy="1597307"/>
            <a:chOff x="2225766" y="4602920"/>
            <a:chExt cx="9221595" cy="1597307"/>
          </a:xfrm>
        </p:grpSpPr>
        <p:sp>
          <p:nvSpPr>
            <p:cNvPr id="107" name="Rounded Rectangle 106">
              <a:extLst>
                <a:ext uri="{FF2B5EF4-FFF2-40B4-BE49-F238E27FC236}">
                  <a16:creationId xmlns:a16="http://schemas.microsoft.com/office/drawing/2014/main" id="{9253DDC6-70AE-E6D6-9933-98E689DEC009}"/>
                </a:ext>
              </a:extLst>
            </p:cNvPr>
            <p:cNvSpPr/>
            <p:nvPr/>
          </p:nvSpPr>
          <p:spPr>
            <a:xfrm>
              <a:off x="9954227" y="4602920"/>
              <a:ext cx="1493134" cy="1597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B3A97F70-ACFD-F93B-13B3-61E0C9C6BA1E}"/>
                </a:ext>
              </a:extLst>
            </p:cNvPr>
            <p:cNvSpPr txBox="1"/>
            <p:nvPr/>
          </p:nvSpPr>
          <p:spPr>
            <a:xfrm>
              <a:off x="2225766" y="4983460"/>
              <a:ext cx="7831702"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Points </a:t>
              </a:r>
              <a:r>
                <a:rPr lang="en-US" sz="2400" i="1" dirty="0">
                  <a:latin typeface="Times" pitchFamily="2" charset="0"/>
                  <a:cs typeface="Times New Roman" panose="02020603050405020304" pitchFamily="18" charset="0"/>
                </a:rPr>
                <a:t>A</a:t>
              </a:r>
              <a:r>
                <a:rPr lang="en-US" sz="2400" dirty="0">
                  <a:latin typeface="Times" pitchFamily="2" charset="0"/>
                  <a:cs typeface="Times New Roman" panose="02020603050405020304" pitchFamily="18" charset="0"/>
                </a:rPr>
                <a:t>, </a:t>
              </a:r>
              <a:r>
                <a:rPr lang="en-US" sz="2400" i="1" dirty="0">
                  <a:latin typeface="Times" pitchFamily="2" charset="0"/>
                  <a:cs typeface="Times New Roman" panose="02020603050405020304" pitchFamily="18" charset="0"/>
                </a:rPr>
                <a:t>B</a:t>
              </a:r>
              <a:r>
                <a:rPr lang="en-US" sz="2400" dirty="0">
                  <a:latin typeface="Times" pitchFamily="2" charset="0"/>
                  <a:cs typeface="Times New Roman" panose="02020603050405020304" pitchFamily="18" charset="0"/>
                </a:rPr>
                <a:t>, and </a:t>
              </a:r>
              <a:r>
                <a:rPr lang="en-US" sz="2400" i="1" dirty="0">
                  <a:latin typeface="Times" pitchFamily="2" charset="0"/>
                  <a:cs typeface="Times New Roman" panose="02020603050405020304" pitchFamily="18" charset="0"/>
                </a:rPr>
                <a:t>C</a:t>
              </a:r>
              <a:r>
                <a:rPr lang="en-US" sz="2400" dirty="0">
                  <a:latin typeface="Times" pitchFamily="2" charset="0"/>
                  <a:cs typeface="Times New Roman" panose="02020603050405020304" pitchFamily="18" charset="0"/>
                </a:rPr>
                <a:t> all have the same </a:t>
              </a:r>
              <a:r>
                <a:rPr lang="en-US" sz="2400" i="1" dirty="0">
                  <a:latin typeface="Symbol" pitchFamily="2" charset="2"/>
                  <a:cs typeface="Times New Roman" panose="02020603050405020304" pitchFamily="18" charset="0"/>
                </a:rPr>
                <a:t>w</a:t>
              </a:r>
              <a:r>
                <a:rPr lang="en-US" sz="2400" dirty="0">
                  <a:latin typeface="Times" pitchFamily="2" charset="0"/>
                  <a:cs typeface="Times New Roman" panose="02020603050405020304" pitchFamily="18" charset="0"/>
                </a:rPr>
                <a:t>, but their tangential speeds are different, because their </a:t>
              </a:r>
              <a:r>
                <a:rPr lang="en-US" sz="2400" i="1" dirty="0" err="1">
                  <a:latin typeface="Times" pitchFamily="2" charset="0"/>
                  <a:cs typeface="Times New Roman" panose="02020603050405020304" pitchFamily="18" charset="0"/>
                </a:rPr>
                <a:t>r</a:t>
              </a:r>
              <a:r>
                <a:rPr lang="en-US" sz="2400" dirty="0" err="1">
                  <a:latin typeface="Times" pitchFamily="2" charset="0"/>
                  <a:cs typeface="Times New Roman" panose="02020603050405020304" pitchFamily="18" charset="0"/>
                </a:rPr>
                <a:t>-values</a:t>
              </a:r>
              <a:r>
                <a:rPr lang="en-US" sz="2400" dirty="0">
                  <a:latin typeface="Times" pitchFamily="2" charset="0"/>
                  <a:cs typeface="Times New Roman" panose="02020603050405020304" pitchFamily="18" charset="0"/>
                </a:rPr>
                <a:t> are different:</a:t>
              </a:r>
              <a:endParaRPr lang="en-US" sz="2400" dirty="0">
                <a:latin typeface="Times" pitchFamily="2" charset="0"/>
              </a:endParaRPr>
            </a:p>
          </p:txBody>
        </p:sp>
      </p:grpSp>
    </p:spTree>
    <p:extLst>
      <p:ext uri="{BB962C8B-B14F-4D97-AF65-F5344CB8AC3E}">
        <p14:creationId xmlns:p14="http://schemas.microsoft.com/office/powerpoint/2010/main" val="125777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dissolve">
                                      <p:cBhvr>
                                        <p:cTn id="11" dur="500"/>
                                        <p:tgtEl>
                                          <p:spTgt spid="15"/>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dissolv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dissolve">
                                      <p:cBhvr>
                                        <p:cTn id="30" dur="500"/>
                                        <p:tgtEl>
                                          <p:spTgt spid="6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61"/>
                                        </p:tgtEl>
                                        <p:attrNameLst>
                                          <p:attrName>style.visibility</p:attrName>
                                        </p:attrNameLst>
                                      </p:cBhvr>
                                      <p:to>
                                        <p:strVal val="visible"/>
                                      </p:to>
                                    </p:set>
                                    <p:animEffect transition="in" filter="dissolve">
                                      <p:cBhvr>
                                        <p:cTn id="35" dur="500"/>
                                        <p:tgtEl>
                                          <p:spTgt spid="61"/>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95"/>
                                        </p:tgtEl>
                                        <p:attrNameLst>
                                          <p:attrName>style.visibility</p:attrName>
                                        </p:attrNameLst>
                                      </p:cBhvr>
                                      <p:to>
                                        <p:strVal val="visible"/>
                                      </p:to>
                                    </p:set>
                                    <p:animEffect transition="in" filter="dissolve">
                                      <p:cBhvr>
                                        <p:cTn id="39" dur="500"/>
                                        <p:tgtEl>
                                          <p:spTgt spid="95"/>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108"/>
                                        </p:tgtEl>
                                        <p:attrNameLst>
                                          <p:attrName>style.visibility</p:attrName>
                                        </p:attrNameLst>
                                      </p:cBhvr>
                                      <p:to>
                                        <p:strVal val="visible"/>
                                      </p:to>
                                    </p:set>
                                    <p:animEffect transition="in" filter="dissolve">
                                      <p:cBhvr>
                                        <p:cTn id="44"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6" grpId="0"/>
      <p:bldP spid="10" grpId="0"/>
      <p:bldP spid="6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AD39A-5980-591E-BBE9-FDFF586D818E}"/>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856649F1-1658-1E0A-9C27-D7B3F910ECB2}"/>
              </a:ext>
            </a:extLst>
          </p:cNvPr>
          <p:cNvSpPr/>
          <p:nvPr/>
        </p:nvSpPr>
        <p:spPr>
          <a:xfrm>
            <a:off x="7257143" y="609600"/>
            <a:ext cx="1582057" cy="1117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A19211-8D0A-9B63-1FE1-89266117B08E}"/>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8.4</a:t>
            </a:r>
            <a:r>
              <a:rPr lang="en-US" dirty="0">
                <a:ea typeface="Calibri" charset="0"/>
                <a:cs typeface="Calibri" charset="0"/>
              </a:rPr>
              <a:t> Angular Variables and Tangential Variables</a:t>
            </a:r>
            <a:endParaRPr lang="en-US" sz="3000" dirty="0"/>
          </a:p>
        </p:txBody>
      </p:sp>
      <p:sp>
        <p:nvSpPr>
          <p:cNvPr id="7" name="TextBox 6">
            <a:extLst>
              <a:ext uri="{FF2B5EF4-FFF2-40B4-BE49-F238E27FC236}">
                <a16:creationId xmlns:a16="http://schemas.microsoft.com/office/drawing/2014/main" id="{8C10AA90-6914-CA8E-1435-35B8D319EDF3}"/>
              </a:ext>
            </a:extLst>
          </p:cNvPr>
          <p:cNvSpPr txBox="1"/>
          <p:nvPr/>
        </p:nvSpPr>
        <p:spPr>
          <a:xfrm>
            <a:off x="891287" y="897133"/>
            <a:ext cx="6728714"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Now let’s divide both sides of Equation 8.9 by </a:t>
            </a:r>
            <a:r>
              <a:rPr lang="en-US" sz="2400" dirty="0">
                <a:latin typeface="Symbol" pitchFamily="2" charset="2"/>
                <a:cs typeface="Times New Roman" panose="02020603050405020304" pitchFamily="18" charset="0"/>
              </a:rPr>
              <a:t>D</a:t>
            </a:r>
            <a:r>
              <a:rPr lang="en-US" sz="2400" i="1" dirty="0">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a:t>
            </a:r>
            <a:endParaRPr lang="en-US" sz="2400" dirty="0">
              <a:latin typeface="Times" pitchFamily="2" charset="0"/>
            </a:endParaRPr>
          </a:p>
        </p:txBody>
      </p:sp>
      <p:sp>
        <p:nvSpPr>
          <p:cNvPr id="11" name="TextBox 10">
            <a:extLst>
              <a:ext uri="{FF2B5EF4-FFF2-40B4-BE49-F238E27FC236}">
                <a16:creationId xmlns:a16="http://schemas.microsoft.com/office/drawing/2014/main" id="{4ED694B2-B1A6-7589-296C-9FC8BE2AC203}"/>
              </a:ext>
            </a:extLst>
          </p:cNvPr>
          <p:cNvSpPr txBox="1"/>
          <p:nvPr/>
        </p:nvSpPr>
        <p:spPr>
          <a:xfrm>
            <a:off x="259914" y="2341305"/>
            <a:ext cx="11670829"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The term on the left we recognize as the linear acceleration </a:t>
            </a:r>
            <a:r>
              <a:rPr lang="en-US" sz="2400" i="1" dirty="0" err="1">
                <a:latin typeface="Times" pitchFamily="2" charset="0"/>
                <a:cs typeface="Times New Roman" panose="02020603050405020304" pitchFamily="18" charset="0"/>
              </a:rPr>
              <a:t>a</a:t>
            </a:r>
            <a:r>
              <a:rPr lang="en-US" sz="2400" baseline="-25000" dirty="0" err="1">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 (subscript T again, because it’s tangential).</a:t>
            </a:r>
            <a:endParaRPr lang="en-US" sz="2400" dirty="0">
              <a:latin typeface="Times" pitchFamily="2" charset="0"/>
            </a:endParaRPr>
          </a:p>
        </p:txBody>
      </p:sp>
      <p:sp>
        <p:nvSpPr>
          <p:cNvPr id="12" name="TextBox 11">
            <a:extLst>
              <a:ext uri="{FF2B5EF4-FFF2-40B4-BE49-F238E27FC236}">
                <a16:creationId xmlns:a16="http://schemas.microsoft.com/office/drawing/2014/main" id="{CAC2887C-1459-635C-998F-A50C24163390}"/>
              </a:ext>
            </a:extLst>
          </p:cNvPr>
          <p:cNvSpPr txBox="1"/>
          <p:nvPr/>
        </p:nvSpPr>
        <p:spPr>
          <a:xfrm>
            <a:off x="1783914" y="2711420"/>
            <a:ext cx="8216429"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And the term on the right is </a:t>
            </a:r>
            <a:r>
              <a:rPr lang="en-US" sz="2400" i="1" dirty="0">
                <a:latin typeface="Times" pitchFamily="2" charset="0"/>
                <a:cs typeface="Times New Roman" panose="02020603050405020304" pitchFamily="18" charset="0"/>
              </a:rPr>
              <a:t>r</a:t>
            </a:r>
            <a:r>
              <a:rPr lang="en-US" sz="2400" dirty="0">
                <a:latin typeface="Times" pitchFamily="2" charset="0"/>
                <a:cs typeface="Times New Roman" panose="02020603050405020304" pitchFamily="18" charset="0"/>
              </a:rPr>
              <a:t> times the angular acceleration, </a:t>
            </a:r>
            <a:r>
              <a:rPr lang="en-US" sz="2400" i="1" dirty="0">
                <a:latin typeface="Symbol" pitchFamily="2" charset="2"/>
                <a:cs typeface="Times New Roman" panose="02020603050405020304" pitchFamily="18" charset="0"/>
              </a:rPr>
              <a:t>a</a:t>
            </a:r>
            <a:r>
              <a:rPr lang="en-US" sz="2400" dirty="0">
                <a:latin typeface="Times" pitchFamily="2" charset="0"/>
                <a:cs typeface="Times New Roman" panose="02020603050405020304" pitchFamily="18" charset="0"/>
              </a:rPr>
              <a:t>.</a:t>
            </a:r>
            <a:endParaRPr lang="en-US" sz="2400" dirty="0">
              <a:latin typeface="Times" pitchFamily="2" charset="0"/>
            </a:endParaRPr>
          </a:p>
        </p:txBody>
      </p:sp>
      <p:grpSp>
        <p:nvGrpSpPr>
          <p:cNvPr id="21" name="Group 20">
            <a:extLst>
              <a:ext uri="{FF2B5EF4-FFF2-40B4-BE49-F238E27FC236}">
                <a16:creationId xmlns:a16="http://schemas.microsoft.com/office/drawing/2014/main" id="{3B21C760-E70A-F037-9BDB-CFC8F2406DDA}"/>
              </a:ext>
            </a:extLst>
          </p:cNvPr>
          <p:cNvGrpSpPr/>
          <p:nvPr/>
        </p:nvGrpSpPr>
        <p:grpSpPr>
          <a:xfrm>
            <a:off x="7402286" y="1799770"/>
            <a:ext cx="682171" cy="559769"/>
            <a:chOff x="7402286" y="1799770"/>
            <a:chExt cx="682171" cy="559769"/>
          </a:xfrm>
        </p:grpSpPr>
        <p:sp>
          <p:nvSpPr>
            <p:cNvPr id="17" name="Left Brace 16">
              <a:extLst>
                <a:ext uri="{FF2B5EF4-FFF2-40B4-BE49-F238E27FC236}">
                  <a16:creationId xmlns:a16="http://schemas.microsoft.com/office/drawing/2014/main" id="{F25B68AB-0B61-02DC-49E2-7E90D2F6DF70}"/>
                </a:ext>
              </a:extLst>
            </p:cNvPr>
            <p:cNvSpPr/>
            <p:nvPr/>
          </p:nvSpPr>
          <p:spPr>
            <a:xfrm rot="16200000">
              <a:off x="7474857" y="1727199"/>
              <a:ext cx="232229" cy="377371"/>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C6B4AE79-0B6E-78C6-65CB-3A9E0EB1C2A9}"/>
                </a:ext>
              </a:extLst>
            </p:cNvPr>
            <p:cNvSpPr txBox="1"/>
            <p:nvPr/>
          </p:nvSpPr>
          <p:spPr>
            <a:xfrm>
              <a:off x="7416800" y="1959429"/>
              <a:ext cx="667657" cy="400110"/>
            </a:xfrm>
            <a:prstGeom prst="rect">
              <a:avLst/>
            </a:prstGeom>
            <a:noFill/>
          </p:spPr>
          <p:txBody>
            <a:bodyPr wrap="square" rtlCol="0">
              <a:spAutoFit/>
            </a:bodyPr>
            <a:lstStyle/>
            <a:p>
              <a:r>
                <a:rPr lang="en-US" sz="2000" i="1" dirty="0" err="1">
                  <a:latin typeface="Times" pitchFamily="2" charset="0"/>
                </a:rPr>
                <a:t>a</a:t>
              </a:r>
              <a:r>
                <a:rPr lang="en-US" sz="2000" baseline="-25000" dirty="0" err="1">
                  <a:latin typeface="Times" pitchFamily="2" charset="0"/>
                </a:rPr>
                <a:t>T</a:t>
              </a:r>
              <a:endParaRPr lang="en-US" sz="2000" baseline="-25000" dirty="0">
                <a:latin typeface="Times" pitchFamily="2" charset="0"/>
              </a:endParaRPr>
            </a:p>
          </p:txBody>
        </p:sp>
      </p:grpSp>
      <p:grpSp>
        <p:nvGrpSpPr>
          <p:cNvPr id="23" name="Group 22">
            <a:extLst>
              <a:ext uri="{FF2B5EF4-FFF2-40B4-BE49-F238E27FC236}">
                <a16:creationId xmlns:a16="http://schemas.microsoft.com/office/drawing/2014/main" id="{F37F2B7B-7D37-89F8-BFB7-C87F816C90C2}"/>
              </a:ext>
            </a:extLst>
          </p:cNvPr>
          <p:cNvGrpSpPr/>
          <p:nvPr/>
        </p:nvGrpSpPr>
        <p:grpSpPr>
          <a:xfrm>
            <a:off x="8338458" y="1807027"/>
            <a:ext cx="682171" cy="559769"/>
            <a:chOff x="7402286" y="1799770"/>
            <a:chExt cx="682171" cy="559769"/>
          </a:xfrm>
        </p:grpSpPr>
        <p:sp>
          <p:nvSpPr>
            <p:cNvPr id="24" name="Left Brace 23">
              <a:extLst>
                <a:ext uri="{FF2B5EF4-FFF2-40B4-BE49-F238E27FC236}">
                  <a16:creationId xmlns:a16="http://schemas.microsoft.com/office/drawing/2014/main" id="{7ADB8190-A27E-E65B-0A55-CB18EF2F0B5B}"/>
                </a:ext>
              </a:extLst>
            </p:cNvPr>
            <p:cNvSpPr/>
            <p:nvPr/>
          </p:nvSpPr>
          <p:spPr>
            <a:xfrm rot="16200000">
              <a:off x="7474857" y="1727199"/>
              <a:ext cx="232229" cy="377371"/>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6C565F84-DB25-8A5B-06D7-45BD4BADAA62}"/>
                </a:ext>
              </a:extLst>
            </p:cNvPr>
            <p:cNvSpPr txBox="1"/>
            <p:nvPr/>
          </p:nvSpPr>
          <p:spPr>
            <a:xfrm>
              <a:off x="7416800" y="1959429"/>
              <a:ext cx="667657" cy="400110"/>
            </a:xfrm>
            <a:prstGeom prst="rect">
              <a:avLst/>
            </a:prstGeom>
            <a:noFill/>
          </p:spPr>
          <p:txBody>
            <a:bodyPr wrap="square" rtlCol="0">
              <a:spAutoFit/>
            </a:bodyPr>
            <a:lstStyle/>
            <a:p>
              <a:r>
                <a:rPr lang="en-US" sz="2000" i="1" dirty="0">
                  <a:latin typeface="Symbol" pitchFamily="2" charset="2"/>
                </a:rPr>
                <a:t>a</a:t>
              </a:r>
              <a:endParaRPr lang="en-US" sz="2000" baseline="-25000" dirty="0">
                <a:latin typeface="Symbol" pitchFamily="2" charset="2"/>
              </a:endParaRPr>
            </a:p>
          </p:txBody>
        </p:sp>
      </p:grpSp>
      <p:sp>
        <p:nvSpPr>
          <p:cNvPr id="27" name="TextBox 26">
            <a:extLst>
              <a:ext uri="{FF2B5EF4-FFF2-40B4-BE49-F238E27FC236}">
                <a16:creationId xmlns:a16="http://schemas.microsoft.com/office/drawing/2014/main" id="{D861AB3D-BDB0-ABB3-A783-7B1275EC37DB}"/>
              </a:ext>
            </a:extLst>
          </p:cNvPr>
          <p:cNvSpPr txBox="1"/>
          <p:nvPr/>
        </p:nvSpPr>
        <p:spPr>
          <a:xfrm>
            <a:off x="267171" y="3386335"/>
            <a:ext cx="1169743"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Thus:</a:t>
            </a:r>
            <a:endParaRPr lang="en-US" sz="2400" dirty="0">
              <a:latin typeface="Times" pitchFamily="2" charset="0"/>
            </a:endParaRPr>
          </a:p>
        </p:txBody>
      </p:sp>
      <p:sp>
        <p:nvSpPr>
          <p:cNvPr id="28" name="Rounded Rectangle 27">
            <a:extLst>
              <a:ext uri="{FF2B5EF4-FFF2-40B4-BE49-F238E27FC236}">
                <a16:creationId xmlns:a16="http://schemas.microsoft.com/office/drawing/2014/main" id="{F451B2CE-B1A7-E94D-98FC-321B38617B42}"/>
              </a:ext>
            </a:extLst>
          </p:cNvPr>
          <p:cNvSpPr/>
          <p:nvPr/>
        </p:nvSpPr>
        <p:spPr>
          <a:xfrm>
            <a:off x="1161143" y="3352800"/>
            <a:ext cx="1088571" cy="5225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D5A3FF4-E57C-2C22-5B0B-B15795AC4CEB}"/>
              </a:ext>
            </a:extLst>
          </p:cNvPr>
          <p:cNvSpPr txBox="1"/>
          <p:nvPr/>
        </p:nvSpPr>
        <p:spPr>
          <a:xfrm>
            <a:off x="4992914" y="3241190"/>
            <a:ext cx="6473372" cy="1200329"/>
          </a:xfrm>
          <a:prstGeom prst="rect">
            <a:avLst/>
          </a:prstGeom>
          <a:noFill/>
        </p:spPr>
        <p:txBody>
          <a:bodyPr wrap="square">
            <a:spAutoFit/>
          </a:bodyPr>
          <a:lstStyle/>
          <a:p>
            <a:r>
              <a:rPr lang="en-US" sz="2400" dirty="0">
                <a:latin typeface="Times" pitchFamily="2" charset="0"/>
                <a:cs typeface="Times New Roman" panose="02020603050405020304" pitchFamily="18" charset="0"/>
              </a:rPr>
              <a:t>This is the relationship between the </a:t>
            </a:r>
            <a:r>
              <a:rPr lang="en-US" sz="2400" dirty="0">
                <a:solidFill>
                  <a:srgbClr val="007440"/>
                </a:solidFill>
                <a:latin typeface="Times" pitchFamily="2" charset="0"/>
                <a:cs typeface="Times New Roman" panose="02020603050405020304" pitchFamily="18" charset="0"/>
              </a:rPr>
              <a:t>tangential acceleration </a:t>
            </a:r>
            <a:r>
              <a:rPr lang="en-US" sz="2400" dirty="0">
                <a:latin typeface="Times" pitchFamily="2" charset="0"/>
                <a:cs typeface="Times New Roman" panose="02020603050405020304" pitchFamily="18" charset="0"/>
              </a:rPr>
              <a:t>and the </a:t>
            </a:r>
            <a:r>
              <a:rPr lang="en-US" sz="2400" dirty="0">
                <a:solidFill>
                  <a:srgbClr val="007440"/>
                </a:solidFill>
                <a:latin typeface="Times" pitchFamily="2" charset="0"/>
                <a:cs typeface="Times New Roman" panose="02020603050405020304" pitchFamily="18" charset="0"/>
              </a:rPr>
              <a:t>angular acceleration</a:t>
            </a:r>
            <a:r>
              <a:rPr lang="en-US" sz="2400" dirty="0">
                <a:latin typeface="Times" pitchFamily="2" charset="0"/>
                <a:cs typeface="Times New Roman" panose="02020603050405020304" pitchFamily="18" charset="0"/>
              </a:rPr>
              <a:t>.</a:t>
            </a:r>
          </a:p>
          <a:p>
            <a:endParaRPr lang="en-US" sz="2400" dirty="0">
              <a:latin typeface="Times" pitchFamily="2" charset="0"/>
              <a:cs typeface="Times New Roman" panose="02020603050405020304" pitchFamily="18" charset="0"/>
            </a:endParaRPr>
          </a:p>
        </p:txBody>
      </p:sp>
      <p:sp>
        <p:nvSpPr>
          <p:cNvPr id="31" name="TextBox 30">
            <a:extLst>
              <a:ext uri="{FF2B5EF4-FFF2-40B4-BE49-F238E27FC236}">
                <a16:creationId xmlns:a16="http://schemas.microsoft.com/office/drawing/2014/main" id="{060FCD34-D1AF-72F6-B6B5-C949D66798D2}"/>
              </a:ext>
            </a:extLst>
          </p:cNvPr>
          <p:cNvSpPr txBox="1"/>
          <p:nvPr/>
        </p:nvSpPr>
        <p:spPr>
          <a:xfrm>
            <a:off x="2365147" y="3386333"/>
            <a:ext cx="2743882"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a:t>
            </a:r>
            <a:r>
              <a:rPr lang="en-US" sz="2400" b="1" dirty="0">
                <a:latin typeface="Times" pitchFamily="2" charset="0"/>
                <a:cs typeface="Times New Roman" panose="02020603050405020304" pitchFamily="18" charset="0"/>
              </a:rPr>
              <a:t>8.10</a:t>
            </a:r>
            <a:r>
              <a:rPr lang="en-US" sz="2400" dirty="0">
                <a:latin typeface="Times" pitchFamily="2" charset="0"/>
                <a:cs typeface="Times New Roman" panose="02020603050405020304" pitchFamily="18" charset="0"/>
              </a:rPr>
              <a:t>) (</a:t>
            </a:r>
            <a:r>
              <a:rPr lang="en-US" sz="2400" i="1" dirty="0">
                <a:latin typeface="Symbol" pitchFamily="2" charset="2"/>
                <a:cs typeface="Times New Roman" panose="02020603050405020304" pitchFamily="18" charset="0"/>
              </a:rPr>
              <a:t>a</a:t>
            </a:r>
            <a:r>
              <a:rPr lang="en-US" sz="2400" dirty="0">
                <a:latin typeface="Times" pitchFamily="2" charset="0"/>
                <a:cs typeface="Times New Roman" panose="02020603050405020304" pitchFamily="18" charset="0"/>
              </a:rPr>
              <a:t> in rad/s</a:t>
            </a:r>
            <a:r>
              <a:rPr lang="en-US" sz="2400" baseline="30000" dirty="0">
                <a:latin typeface="Times" pitchFamily="2" charset="0"/>
                <a:cs typeface="Times New Roman" panose="02020603050405020304" pitchFamily="18" charset="0"/>
              </a:rPr>
              <a:t>2</a:t>
            </a:r>
            <a:r>
              <a:rPr lang="en-US" sz="2400" dirty="0">
                <a:latin typeface="Times" pitchFamily="2" charset="0"/>
                <a:cs typeface="Times New Roman" panose="02020603050405020304" pitchFamily="18" charset="0"/>
              </a:rPr>
              <a:t>)</a:t>
            </a:r>
            <a:endParaRPr lang="en-US" sz="2400" dirty="0">
              <a:latin typeface="Times" pitchFamily="2" charset="0"/>
            </a:endParaRPr>
          </a:p>
        </p:txBody>
      </p:sp>
      <p:grpSp>
        <p:nvGrpSpPr>
          <p:cNvPr id="52" name="Group 51">
            <a:extLst>
              <a:ext uri="{FF2B5EF4-FFF2-40B4-BE49-F238E27FC236}">
                <a16:creationId xmlns:a16="http://schemas.microsoft.com/office/drawing/2014/main" id="{289A4B3F-A89C-FEA0-B44D-DE2376C861DD}"/>
              </a:ext>
            </a:extLst>
          </p:cNvPr>
          <p:cNvGrpSpPr/>
          <p:nvPr/>
        </p:nvGrpSpPr>
        <p:grpSpPr>
          <a:xfrm>
            <a:off x="7246961" y="4176215"/>
            <a:ext cx="4408226" cy="2183642"/>
            <a:chOff x="7246961" y="4176215"/>
            <a:chExt cx="4408226" cy="2183642"/>
          </a:xfrm>
        </p:grpSpPr>
        <p:sp>
          <p:nvSpPr>
            <p:cNvPr id="38" name="Rectangle 37">
              <a:extLst>
                <a:ext uri="{FF2B5EF4-FFF2-40B4-BE49-F238E27FC236}">
                  <a16:creationId xmlns:a16="http://schemas.microsoft.com/office/drawing/2014/main" id="{7FCDEC91-2CE7-5E1C-4743-4D6EB0FC3AC6}"/>
                </a:ext>
              </a:extLst>
            </p:cNvPr>
            <p:cNvSpPr/>
            <p:nvPr/>
          </p:nvSpPr>
          <p:spPr>
            <a:xfrm>
              <a:off x="7246961" y="4176215"/>
              <a:ext cx="4339988" cy="4776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370A0C8-CB4C-E4EA-2626-F14A805760D9}"/>
                </a:ext>
              </a:extLst>
            </p:cNvPr>
            <p:cNvSpPr/>
            <p:nvPr/>
          </p:nvSpPr>
          <p:spPr>
            <a:xfrm>
              <a:off x="7246961" y="4176215"/>
              <a:ext cx="4367284" cy="2183642"/>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99B03F9-290F-18B2-A618-87D2C67FF6AD}"/>
                </a:ext>
              </a:extLst>
            </p:cNvPr>
            <p:cNvSpPr txBox="1"/>
            <p:nvPr/>
          </p:nvSpPr>
          <p:spPr>
            <a:xfrm>
              <a:off x="7328847" y="4217157"/>
              <a:ext cx="4326340" cy="400110"/>
            </a:xfrm>
            <a:prstGeom prst="rect">
              <a:avLst/>
            </a:prstGeom>
            <a:noFill/>
          </p:spPr>
          <p:txBody>
            <a:bodyPr wrap="square" rtlCol="0">
              <a:spAutoFit/>
            </a:bodyPr>
            <a:lstStyle/>
            <a:p>
              <a:r>
                <a:rPr lang="en-US" sz="2000" b="1" dirty="0"/>
                <a:t>Linear variable = </a:t>
              </a:r>
              <a:r>
                <a:rPr lang="en-US" sz="2000" b="1" i="1" dirty="0">
                  <a:latin typeface="Times" pitchFamily="2" charset="0"/>
                </a:rPr>
                <a:t>r</a:t>
              </a:r>
              <a:r>
                <a:rPr lang="en-US" sz="2000" b="1" dirty="0"/>
                <a:t>(Rotational variable)</a:t>
              </a:r>
            </a:p>
          </p:txBody>
        </p:sp>
        <p:sp>
          <p:nvSpPr>
            <p:cNvPr id="40" name="TextBox 39">
              <a:extLst>
                <a:ext uri="{FF2B5EF4-FFF2-40B4-BE49-F238E27FC236}">
                  <a16:creationId xmlns:a16="http://schemas.microsoft.com/office/drawing/2014/main" id="{74E1ADB8-D6EE-15E9-3E0C-186E2CA8A359}"/>
                </a:ext>
              </a:extLst>
            </p:cNvPr>
            <p:cNvSpPr txBox="1"/>
            <p:nvPr/>
          </p:nvSpPr>
          <p:spPr>
            <a:xfrm>
              <a:off x="8147713" y="4694829"/>
              <a:ext cx="2852382" cy="461665"/>
            </a:xfrm>
            <a:prstGeom prst="rect">
              <a:avLst/>
            </a:prstGeom>
            <a:noFill/>
          </p:spPr>
          <p:txBody>
            <a:bodyPr wrap="square" rtlCol="0">
              <a:spAutoFit/>
            </a:bodyPr>
            <a:lstStyle/>
            <a:p>
              <a:r>
                <a:rPr lang="en-US" sz="2400" dirty="0"/>
                <a:t>Displacement:  </a:t>
              </a:r>
              <a:r>
                <a:rPr lang="en-US" sz="2400" i="1" dirty="0">
                  <a:latin typeface="Times" pitchFamily="2" charset="0"/>
                </a:rPr>
                <a:t>s</a:t>
              </a:r>
              <a:r>
                <a:rPr lang="en-US" sz="2400" dirty="0">
                  <a:latin typeface="Times" pitchFamily="2" charset="0"/>
                </a:rPr>
                <a:t> =</a:t>
              </a:r>
              <a:r>
                <a:rPr lang="en-US" sz="2400" i="1" dirty="0" err="1">
                  <a:latin typeface="Times" pitchFamily="2" charset="0"/>
                </a:rPr>
                <a:t>r</a:t>
              </a:r>
              <a:r>
                <a:rPr lang="en-US" sz="2400" i="1" dirty="0" err="1">
                  <a:latin typeface="Symbol" pitchFamily="2" charset="2"/>
                </a:rPr>
                <a:t>q</a:t>
              </a:r>
              <a:endParaRPr lang="en-US" sz="2400" i="1" dirty="0">
                <a:latin typeface="Symbol" pitchFamily="2" charset="2"/>
              </a:endParaRPr>
            </a:p>
          </p:txBody>
        </p:sp>
        <p:sp>
          <p:nvSpPr>
            <p:cNvPr id="41" name="TextBox 40">
              <a:extLst>
                <a:ext uri="{FF2B5EF4-FFF2-40B4-BE49-F238E27FC236}">
                  <a16:creationId xmlns:a16="http://schemas.microsoft.com/office/drawing/2014/main" id="{29FCA241-913E-1836-82C8-8EB1EEC51F86}"/>
                </a:ext>
              </a:extLst>
            </p:cNvPr>
            <p:cNvSpPr txBox="1"/>
            <p:nvPr/>
          </p:nvSpPr>
          <p:spPr>
            <a:xfrm>
              <a:off x="8379729" y="5236191"/>
              <a:ext cx="2483893" cy="461665"/>
            </a:xfrm>
            <a:prstGeom prst="rect">
              <a:avLst/>
            </a:prstGeom>
            <a:noFill/>
          </p:spPr>
          <p:txBody>
            <a:bodyPr wrap="square" rtlCol="0">
              <a:spAutoFit/>
            </a:bodyPr>
            <a:lstStyle/>
            <a:p>
              <a:r>
                <a:rPr lang="en-US" sz="2400" dirty="0"/>
                <a:t>Velocity:  </a:t>
              </a:r>
              <a:r>
                <a:rPr lang="en-US" sz="2400" i="1" dirty="0" err="1">
                  <a:latin typeface="Times" pitchFamily="2" charset="0"/>
                </a:rPr>
                <a:t>v</a:t>
              </a:r>
              <a:r>
                <a:rPr lang="en-US" sz="2400" baseline="-25000" dirty="0" err="1">
                  <a:latin typeface="Times" pitchFamily="2" charset="0"/>
                </a:rPr>
                <a:t>T</a:t>
              </a:r>
              <a:r>
                <a:rPr lang="en-US" sz="2400" dirty="0">
                  <a:latin typeface="Times" pitchFamily="2" charset="0"/>
                </a:rPr>
                <a:t> =</a:t>
              </a:r>
              <a:r>
                <a:rPr lang="en-US" sz="2400" i="1" dirty="0" err="1">
                  <a:latin typeface="Times" pitchFamily="2" charset="0"/>
                </a:rPr>
                <a:t>r</a:t>
              </a:r>
              <a:r>
                <a:rPr lang="en-US" sz="2400" i="1" dirty="0" err="1">
                  <a:latin typeface="Symbol" pitchFamily="2" charset="2"/>
                </a:rPr>
                <a:t>w</a:t>
              </a:r>
              <a:endParaRPr lang="en-US" sz="2400" i="1" dirty="0">
                <a:latin typeface="Symbol" pitchFamily="2" charset="2"/>
              </a:endParaRPr>
            </a:p>
          </p:txBody>
        </p:sp>
        <p:sp>
          <p:nvSpPr>
            <p:cNvPr id="43" name="TextBox 42">
              <a:extLst>
                <a:ext uri="{FF2B5EF4-FFF2-40B4-BE49-F238E27FC236}">
                  <a16:creationId xmlns:a16="http://schemas.microsoft.com/office/drawing/2014/main" id="{FE348E33-F110-8134-FAD4-024FFF389B37}"/>
                </a:ext>
              </a:extLst>
            </p:cNvPr>
            <p:cNvSpPr txBox="1"/>
            <p:nvPr/>
          </p:nvSpPr>
          <p:spPr>
            <a:xfrm>
              <a:off x="8129518" y="5832145"/>
              <a:ext cx="3134436" cy="461665"/>
            </a:xfrm>
            <a:prstGeom prst="rect">
              <a:avLst/>
            </a:prstGeom>
            <a:noFill/>
          </p:spPr>
          <p:txBody>
            <a:bodyPr wrap="square" rtlCol="0">
              <a:spAutoFit/>
            </a:bodyPr>
            <a:lstStyle/>
            <a:p>
              <a:r>
                <a:rPr lang="en-US" sz="2400" dirty="0"/>
                <a:t>Acceleration:  </a:t>
              </a:r>
              <a:r>
                <a:rPr lang="en-US" sz="2400" i="1" dirty="0" err="1">
                  <a:latin typeface="Times" pitchFamily="2" charset="0"/>
                </a:rPr>
                <a:t>a</a:t>
              </a:r>
              <a:r>
                <a:rPr lang="en-US" sz="2400" baseline="-25000" dirty="0" err="1">
                  <a:latin typeface="Times" pitchFamily="2" charset="0"/>
                </a:rPr>
                <a:t>T</a:t>
              </a:r>
              <a:r>
                <a:rPr lang="en-US" sz="2400" dirty="0">
                  <a:latin typeface="Times" pitchFamily="2" charset="0"/>
                </a:rPr>
                <a:t> =</a:t>
              </a:r>
              <a:r>
                <a:rPr lang="en-US" sz="2400" i="1" dirty="0" err="1">
                  <a:latin typeface="Times" pitchFamily="2" charset="0"/>
                </a:rPr>
                <a:t>r</a:t>
              </a:r>
              <a:r>
                <a:rPr lang="en-US" sz="2400" i="1" dirty="0" err="1">
                  <a:latin typeface="Symbol" pitchFamily="2" charset="2"/>
                </a:rPr>
                <a:t>a</a:t>
              </a:r>
              <a:endParaRPr lang="en-US" sz="2400" i="1" dirty="0">
                <a:latin typeface="Symbol" pitchFamily="2" charset="2"/>
              </a:endParaRPr>
            </a:p>
          </p:txBody>
        </p:sp>
        <p:cxnSp>
          <p:nvCxnSpPr>
            <p:cNvPr id="45" name="Straight Connector 44">
              <a:extLst>
                <a:ext uri="{FF2B5EF4-FFF2-40B4-BE49-F238E27FC236}">
                  <a16:creationId xmlns:a16="http://schemas.microsoft.com/office/drawing/2014/main" id="{980A1A67-34C0-C3A5-6FDA-CE0562393506}"/>
                </a:ext>
              </a:extLst>
            </p:cNvPr>
            <p:cNvCxnSpPr/>
            <p:nvPr/>
          </p:nvCxnSpPr>
          <p:spPr>
            <a:xfrm>
              <a:off x="7260609" y="5732060"/>
              <a:ext cx="435363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762498-6BAB-33F1-A225-5F07721B8CC3}"/>
                </a:ext>
              </a:extLst>
            </p:cNvPr>
            <p:cNvCxnSpPr/>
            <p:nvPr/>
          </p:nvCxnSpPr>
          <p:spPr>
            <a:xfrm>
              <a:off x="7262884" y="5188425"/>
              <a:ext cx="4353636"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2956F713-B439-C479-8A38-CE0B331EB6D2}"/>
              </a:ext>
            </a:extLst>
          </p:cNvPr>
          <p:cNvGrpSpPr/>
          <p:nvPr/>
        </p:nvGrpSpPr>
        <p:grpSpPr>
          <a:xfrm>
            <a:off x="276367" y="4547063"/>
            <a:ext cx="5564874" cy="1569660"/>
            <a:chOff x="276367" y="4547063"/>
            <a:chExt cx="5564874" cy="1569660"/>
          </a:xfrm>
        </p:grpSpPr>
        <p:sp>
          <p:nvSpPr>
            <p:cNvPr id="34" name="TextBox 33">
              <a:extLst>
                <a:ext uri="{FF2B5EF4-FFF2-40B4-BE49-F238E27FC236}">
                  <a16:creationId xmlns:a16="http://schemas.microsoft.com/office/drawing/2014/main" id="{AE9DB939-4A87-2512-2107-9E36EA3275FF}"/>
                </a:ext>
              </a:extLst>
            </p:cNvPr>
            <p:cNvSpPr txBox="1"/>
            <p:nvPr/>
          </p:nvSpPr>
          <p:spPr>
            <a:xfrm>
              <a:off x="276367" y="4547063"/>
              <a:ext cx="5564874" cy="1569660"/>
            </a:xfrm>
            <a:prstGeom prst="rect">
              <a:avLst/>
            </a:prstGeom>
            <a:noFill/>
          </p:spPr>
          <p:txBody>
            <a:bodyPr wrap="square">
              <a:spAutoFit/>
            </a:bodyPr>
            <a:lstStyle/>
            <a:p>
              <a:pPr algn="just"/>
              <a:r>
                <a:rPr lang="en-US" sz="2400" dirty="0">
                  <a:latin typeface="Times" pitchFamily="2" charset="0"/>
                </a:rPr>
                <a:t>*Notice that the linear variables of displacement, velocity, and acceleration are related to their rotational counterparts by a simple factor:                      .</a:t>
              </a:r>
            </a:p>
          </p:txBody>
        </p:sp>
        <p:sp>
          <p:nvSpPr>
            <p:cNvPr id="47" name="Rounded Rectangle 46">
              <a:extLst>
                <a:ext uri="{FF2B5EF4-FFF2-40B4-BE49-F238E27FC236}">
                  <a16:creationId xmlns:a16="http://schemas.microsoft.com/office/drawing/2014/main" id="{FC6C8C72-E8C5-163B-6ACB-D6FF47FDBDEB}"/>
                </a:ext>
              </a:extLst>
            </p:cNvPr>
            <p:cNvSpPr/>
            <p:nvPr/>
          </p:nvSpPr>
          <p:spPr>
            <a:xfrm>
              <a:off x="2074459" y="5691116"/>
              <a:ext cx="1610436" cy="3821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9589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dissolve">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ssolve">
                                      <p:cBhvr>
                                        <p:cTn id="25" dur="500"/>
                                        <p:tgtEl>
                                          <p:spTgt spid="12"/>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dissolve">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dissolve">
                                      <p:cBhvr>
                                        <p:cTn id="34" dur="500"/>
                                        <p:tgtEl>
                                          <p:spTgt spid="27"/>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dissolve">
                                      <p:cBhvr>
                                        <p:cTn id="38" dur="500"/>
                                        <p:tgtEl>
                                          <p:spTgt spid="28"/>
                                        </p:tgtEl>
                                      </p:cBhvr>
                                    </p:animEffect>
                                  </p:childTnLst>
                                </p:cTn>
                              </p:par>
                            </p:childTnLst>
                          </p:cTn>
                        </p:par>
                        <p:par>
                          <p:cTn id="39" fill="hold">
                            <p:stCondLst>
                              <p:cond delay="1000"/>
                            </p:stCondLst>
                            <p:childTnLst>
                              <p:par>
                                <p:cTn id="40" presetID="9" presetClass="entr" presetSubtype="0" fill="hold" grpId="0" nodeType="after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dissolve">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dissolve">
                                      <p:cBhvr>
                                        <p:cTn id="52" dur="500"/>
                                        <p:tgtEl>
                                          <p:spTgt spid="50"/>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dissolve">
                                      <p:cBhvr>
                                        <p:cTn id="5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p:bldP spid="11" grpId="0"/>
      <p:bldP spid="12" grpId="0"/>
      <p:bldP spid="27" grpId="0"/>
      <p:bldP spid="28" grpId="0" animBg="1"/>
      <p:bldP spid="30" grpId="0"/>
      <p:bldP spid="3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F08D6-ED5F-152C-FC4A-F44A641E8E29}"/>
            </a:ext>
          </a:extLst>
        </p:cNvPr>
        <p:cNvGrpSpPr/>
        <p:nvPr/>
      </p:nvGrpSpPr>
      <p:grpSpPr>
        <a:xfrm>
          <a:off x="0" y="0"/>
          <a:ext cx="0" cy="0"/>
          <a:chOff x="0" y="0"/>
          <a:chExt cx="0" cy="0"/>
        </a:xfrm>
      </p:grpSpPr>
      <p:sp>
        <p:nvSpPr>
          <p:cNvPr id="19" name="Rounded Rectangle 18">
            <a:extLst>
              <a:ext uri="{FF2B5EF4-FFF2-40B4-BE49-F238E27FC236}">
                <a16:creationId xmlns:a16="http://schemas.microsoft.com/office/drawing/2014/main" id="{79ADBB6A-E93D-1D92-B913-26B5756B05EF}"/>
              </a:ext>
            </a:extLst>
          </p:cNvPr>
          <p:cNvSpPr/>
          <p:nvPr/>
        </p:nvSpPr>
        <p:spPr>
          <a:xfrm>
            <a:off x="518616" y="5042848"/>
            <a:ext cx="5131558" cy="9075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6E095F-36DC-76E1-E4CF-CE108DAF1783}"/>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8.4</a:t>
            </a:r>
            <a:r>
              <a:rPr lang="en-US" dirty="0">
                <a:ea typeface="Calibri" charset="0"/>
                <a:cs typeface="Calibri" charset="0"/>
              </a:rPr>
              <a:t> Angular Variables and Tangential Variables</a:t>
            </a:r>
            <a:endParaRPr lang="en-US" sz="3000" dirty="0"/>
          </a:p>
        </p:txBody>
      </p:sp>
      <p:sp>
        <p:nvSpPr>
          <p:cNvPr id="7" name="TextBox 6">
            <a:extLst>
              <a:ext uri="{FF2B5EF4-FFF2-40B4-BE49-F238E27FC236}">
                <a16:creationId xmlns:a16="http://schemas.microsoft.com/office/drawing/2014/main" id="{F05C4ABB-5F5B-EC6E-8AF9-300B4DEFE87C}"/>
              </a:ext>
            </a:extLst>
          </p:cNvPr>
          <p:cNvSpPr txBox="1"/>
          <p:nvPr/>
        </p:nvSpPr>
        <p:spPr>
          <a:xfrm>
            <a:off x="932231" y="1279270"/>
            <a:ext cx="7406552" cy="1938992"/>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A helicopter blade has an angular speed of </a:t>
            </a:r>
            <a:r>
              <a:rPr lang="en-US" sz="2400" i="1" dirty="0">
                <a:latin typeface="Symbol" pitchFamily="2" charset="2"/>
                <a:cs typeface="Times New Roman" panose="02020603050405020304" pitchFamily="18" charset="0"/>
              </a:rPr>
              <a:t>w</a:t>
            </a:r>
            <a:r>
              <a:rPr lang="en-US" sz="2400" dirty="0">
                <a:latin typeface="Times" pitchFamily="2" charset="0"/>
                <a:cs typeface="Times New Roman" panose="02020603050405020304" pitchFamily="18" charset="0"/>
              </a:rPr>
              <a:t> = 6.50 rev/s and has an angular acceleration of </a:t>
            </a:r>
            <a:r>
              <a:rPr lang="en-US" sz="2400" i="1" dirty="0">
                <a:latin typeface="Symbol" pitchFamily="2" charset="2"/>
                <a:cs typeface="Times New Roman" panose="02020603050405020304" pitchFamily="18" charset="0"/>
              </a:rPr>
              <a:t>a</a:t>
            </a:r>
            <a:r>
              <a:rPr lang="en-US" sz="2400" dirty="0">
                <a:latin typeface="Times" pitchFamily="2" charset="0"/>
                <a:cs typeface="Times New Roman" panose="02020603050405020304" pitchFamily="18" charset="0"/>
              </a:rPr>
              <a:t> = 1.30 rev/s</a:t>
            </a:r>
            <a:r>
              <a:rPr lang="en-US" sz="2400" baseline="30000" dirty="0">
                <a:latin typeface="Times" pitchFamily="2" charset="0"/>
                <a:cs typeface="Times New Roman" panose="02020603050405020304" pitchFamily="18" charset="0"/>
              </a:rPr>
              <a:t>2</a:t>
            </a:r>
            <a:r>
              <a:rPr lang="en-US" sz="2400" dirty="0">
                <a:latin typeface="Times" pitchFamily="2" charset="0"/>
                <a:cs typeface="Times New Roman" panose="02020603050405020304" pitchFamily="18" charset="0"/>
              </a:rPr>
              <a:t>. For points 1 and 2 on the blade in the figure, find the magnitudes of (</a:t>
            </a:r>
            <a:r>
              <a:rPr lang="en-US" sz="2400" b="1" dirty="0">
                <a:latin typeface="Times" pitchFamily="2" charset="0"/>
                <a:cs typeface="Times New Roman" panose="02020603050405020304" pitchFamily="18" charset="0"/>
              </a:rPr>
              <a:t>a</a:t>
            </a:r>
            <a:r>
              <a:rPr lang="en-US" sz="2400" dirty="0">
                <a:latin typeface="Times" pitchFamily="2" charset="0"/>
                <a:cs typeface="Times New Roman" panose="02020603050405020304" pitchFamily="18" charset="0"/>
              </a:rPr>
              <a:t>) the tangential speeds and (</a:t>
            </a:r>
            <a:r>
              <a:rPr lang="en-US" sz="2400" b="1" dirty="0">
                <a:latin typeface="Times" pitchFamily="2" charset="0"/>
                <a:cs typeface="Times New Roman" panose="02020603050405020304" pitchFamily="18" charset="0"/>
              </a:rPr>
              <a:t>b</a:t>
            </a:r>
            <a:r>
              <a:rPr lang="en-US" sz="2400" dirty="0">
                <a:latin typeface="Times" pitchFamily="2" charset="0"/>
                <a:cs typeface="Times New Roman" panose="02020603050405020304" pitchFamily="18" charset="0"/>
              </a:rPr>
              <a:t>) the tangential accelerations.</a:t>
            </a:r>
            <a:endParaRPr lang="en-US" sz="2400" dirty="0">
              <a:latin typeface="Times" pitchFamily="2" charset="0"/>
            </a:endParaRPr>
          </a:p>
        </p:txBody>
      </p:sp>
      <p:sp>
        <p:nvSpPr>
          <p:cNvPr id="3" name="TextBox 2">
            <a:extLst>
              <a:ext uri="{FF2B5EF4-FFF2-40B4-BE49-F238E27FC236}">
                <a16:creationId xmlns:a16="http://schemas.microsoft.com/office/drawing/2014/main" id="{358DF29F-F824-0F71-AE26-9A84AC7DCCD6}"/>
              </a:ext>
            </a:extLst>
          </p:cNvPr>
          <p:cNvSpPr txBox="1"/>
          <p:nvPr/>
        </p:nvSpPr>
        <p:spPr>
          <a:xfrm>
            <a:off x="908642" y="710007"/>
            <a:ext cx="8759947" cy="523220"/>
          </a:xfrm>
          <a:prstGeom prst="rect">
            <a:avLst/>
          </a:prstGeom>
          <a:noFill/>
        </p:spPr>
        <p:txBody>
          <a:bodyPr wrap="square" rtlCol="0">
            <a:spAutoFit/>
          </a:bodyPr>
          <a:lstStyle/>
          <a:p>
            <a:r>
              <a:rPr lang="en-US" sz="2800" dirty="0">
                <a:solidFill>
                  <a:srgbClr val="C00000"/>
                </a:solidFill>
                <a:latin typeface="Times" pitchFamily="2" charset="0"/>
              </a:rPr>
              <a:t>Example – A Helicopter Blade</a:t>
            </a:r>
          </a:p>
        </p:txBody>
      </p:sp>
      <p:pic>
        <p:nvPicPr>
          <p:cNvPr id="5" name="Picture 4">
            <a:extLst>
              <a:ext uri="{FF2B5EF4-FFF2-40B4-BE49-F238E27FC236}">
                <a16:creationId xmlns:a16="http://schemas.microsoft.com/office/drawing/2014/main" id="{371EDA5F-E04B-12B4-0C4B-B25D439AA71F}"/>
              </a:ext>
            </a:extLst>
          </p:cNvPr>
          <p:cNvPicPr>
            <a:picLocks noChangeAspect="1"/>
          </p:cNvPicPr>
          <p:nvPr/>
        </p:nvPicPr>
        <p:blipFill>
          <a:blip r:embed="rId3"/>
          <a:stretch>
            <a:fillRect/>
          </a:stretch>
        </p:blipFill>
        <p:spPr>
          <a:xfrm>
            <a:off x="8543499" y="734704"/>
            <a:ext cx="3398292" cy="3010567"/>
          </a:xfrm>
          <a:prstGeom prst="rect">
            <a:avLst/>
          </a:prstGeom>
        </p:spPr>
      </p:pic>
      <p:sp>
        <p:nvSpPr>
          <p:cNvPr id="6" name="TextBox 5">
            <a:extLst>
              <a:ext uri="{FF2B5EF4-FFF2-40B4-BE49-F238E27FC236}">
                <a16:creationId xmlns:a16="http://schemas.microsoft.com/office/drawing/2014/main" id="{607404B7-8A46-368F-9027-2EB49B03816E}"/>
              </a:ext>
            </a:extLst>
          </p:cNvPr>
          <p:cNvSpPr txBox="1"/>
          <p:nvPr/>
        </p:nvSpPr>
        <p:spPr>
          <a:xfrm>
            <a:off x="436729" y="3357349"/>
            <a:ext cx="9348716"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a</a:t>
            </a:r>
            <a:r>
              <a:rPr lang="en-US" sz="2400" dirty="0">
                <a:latin typeface="Times" pitchFamily="2" charset="0"/>
              </a:rPr>
              <a:t>) We can use Equation 8.9 to find the tangential speeds of the two points.  </a:t>
            </a:r>
          </a:p>
        </p:txBody>
      </p:sp>
      <p:sp>
        <p:nvSpPr>
          <p:cNvPr id="10" name="TextBox 9">
            <a:extLst>
              <a:ext uri="{FF2B5EF4-FFF2-40B4-BE49-F238E27FC236}">
                <a16:creationId xmlns:a16="http://schemas.microsoft.com/office/drawing/2014/main" id="{0C048065-D021-912B-80A0-224B8FA816A2}"/>
              </a:ext>
            </a:extLst>
          </p:cNvPr>
          <p:cNvSpPr txBox="1"/>
          <p:nvPr/>
        </p:nvSpPr>
        <p:spPr>
          <a:xfrm>
            <a:off x="466299" y="3932830"/>
            <a:ext cx="9348716" cy="830997"/>
          </a:xfrm>
          <a:prstGeom prst="rect">
            <a:avLst/>
          </a:prstGeom>
          <a:noFill/>
        </p:spPr>
        <p:txBody>
          <a:bodyPr wrap="square" rtlCol="0">
            <a:spAutoFit/>
          </a:bodyPr>
          <a:lstStyle/>
          <a:p>
            <a:r>
              <a:rPr lang="en-US" sz="2400" dirty="0">
                <a:latin typeface="Times" pitchFamily="2" charset="0"/>
              </a:rPr>
              <a:t>We will first have to convert the angular speed from rev/s to rad/s, so that our tangential speeds will have units of m/s.  </a:t>
            </a:r>
          </a:p>
        </p:txBody>
      </p:sp>
      <p:sp>
        <p:nvSpPr>
          <p:cNvPr id="39" name="TextBox 38">
            <a:extLst>
              <a:ext uri="{FF2B5EF4-FFF2-40B4-BE49-F238E27FC236}">
                <a16:creationId xmlns:a16="http://schemas.microsoft.com/office/drawing/2014/main" id="{F36CC623-BFAA-CCFF-9B5A-1F9DD66F7FB7}"/>
              </a:ext>
            </a:extLst>
          </p:cNvPr>
          <p:cNvSpPr txBox="1"/>
          <p:nvPr/>
        </p:nvSpPr>
        <p:spPr>
          <a:xfrm>
            <a:off x="7037695" y="4440071"/>
            <a:ext cx="5154305" cy="461665"/>
          </a:xfrm>
          <a:prstGeom prst="rect">
            <a:avLst/>
          </a:prstGeom>
          <a:noFill/>
        </p:spPr>
        <p:txBody>
          <a:bodyPr wrap="square" rtlCol="0">
            <a:spAutoFit/>
          </a:bodyPr>
          <a:lstStyle/>
          <a:p>
            <a:r>
              <a:rPr lang="en-US" sz="2400" dirty="0">
                <a:latin typeface="Times" pitchFamily="2" charset="0"/>
              </a:rPr>
              <a:t>Applying Equation 8.9 to each point:</a:t>
            </a:r>
          </a:p>
        </p:txBody>
      </p:sp>
      <p:sp>
        <p:nvSpPr>
          <p:cNvPr id="42" name="TextBox 41">
            <a:extLst>
              <a:ext uri="{FF2B5EF4-FFF2-40B4-BE49-F238E27FC236}">
                <a16:creationId xmlns:a16="http://schemas.microsoft.com/office/drawing/2014/main" id="{455C77CB-049F-3AFC-D80E-B0748635183A}"/>
              </a:ext>
            </a:extLst>
          </p:cNvPr>
          <p:cNvSpPr txBox="1"/>
          <p:nvPr/>
        </p:nvSpPr>
        <p:spPr>
          <a:xfrm>
            <a:off x="5675195" y="4920017"/>
            <a:ext cx="1312460" cy="461665"/>
          </a:xfrm>
          <a:prstGeom prst="rect">
            <a:avLst/>
          </a:prstGeom>
          <a:noFill/>
        </p:spPr>
        <p:txBody>
          <a:bodyPr wrap="square" rtlCol="0">
            <a:spAutoFit/>
          </a:bodyPr>
          <a:lstStyle/>
          <a:p>
            <a:r>
              <a:rPr lang="en-US" sz="2400" dirty="0">
                <a:latin typeface="Times" pitchFamily="2" charset="0"/>
              </a:rPr>
              <a:t>Point 1: </a:t>
            </a:r>
          </a:p>
        </p:txBody>
      </p:sp>
      <p:sp>
        <p:nvSpPr>
          <p:cNvPr id="44" name="Rounded Rectangle 43">
            <a:extLst>
              <a:ext uri="{FF2B5EF4-FFF2-40B4-BE49-F238E27FC236}">
                <a16:creationId xmlns:a16="http://schemas.microsoft.com/office/drawing/2014/main" id="{87299D70-74A5-407B-EA67-7BB670CB671E}"/>
              </a:ext>
            </a:extLst>
          </p:cNvPr>
          <p:cNvSpPr/>
          <p:nvPr/>
        </p:nvSpPr>
        <p:spPr>
          <a:xfrm>
            <a:off x="6796584" y="4926841"/>
            <a:ext cx="530265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628CC87E-422A-1E39-6F99-02B7E326EDC4}"/>
              </a:ext>
            </a:extLst>
          </p:cNvPr>
          <p:cNvSpPr txBox="1"/>
          <p:nvPr/>
        </p:nvSpPr>
        <p:spPr>
          <a:xfrm>
            <a:off x="5676594" y="5709980"/>
            <a:ext cx="1312460" cy="461665"/>
          </a:xfrm>
          <a:prstGeom prst="rect">
            <a:avLst/>
          </a:prstGeom>
          <a:noFill/>
        </p:spPr>
        <p:txBody>
          <a:bodyPr wrap="square" rtlCol="0">
            <a:spAutoFit/>
          </a:bodyPr>
          <a:lstStyle/>
          <a:p>
            <a:r>
              <a:rPr lang="en-US" sz="2400" dirty="0">
                <a:latin typeface="Times" pitchFamily="2" charset="0"/>
              </a:rPr>
              <a:t>Point 2: </a:t>
            </a:r>
          </a:p>
        </p:txBody>
      </p:sp>
      <p:sp>
        <p:nvSpPr>
          <p:cNvPr id="56" name="Rounded Rectangle 55">
            <a:extLst>
              <a:ext uri="{FF2B5EF4-FFF2-40B4-BE49-F238E27FC236}">
                <a16:creationId xmlns:a16="http://schemas.microsoft.com/office/drawing/2014/main" id="{BCCBD415-E5C1-DDD5-DFFE-BD18857E6A8B}"/>
              </a:ext>
            </a:extLst>
          </p:cNvPr>
          <p:cNvSpPr/>
          <p:nvPr/>
        </p:nvSpPr>
        <p:spPr>
          <a:xfrm>
            <a:off x="6805293" y="5706259"/>
            <a:ext cx="530265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339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dissolve">
                                      <p:cBhvr>
                                        <p:cTn id="21" dur="500"/>
                                        <p:tgtEl>
                                          <p:spTgt spid="3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dissolve">
                                      <p:cBhvr>
                                        <p:cTn id="26" dur="500"/>
                                        <p:tgtEl>
                                          <p:spTgt spid="42"/>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dissolve">
                                      <p:cBhvr>
                                        <p:cTn id="30" dur="500"/>
                                        <p:tgtEl>
                                          <p:spTgt spid="4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dissolve">
                                      <p:cBhvr>
                                        <p:cTn id="35" dur="500"/>
                                        <p:tgtEl>
                                          <p:spTgt spid="55"/>
                                        </p:tgtEl>
                                      </p:cBhvr>
                                    </p:animEffect>
                                  </p:childTnLst>
                                </p:cTn>
                              </p:par>
                            </p:childTnLst>
                          </p:cTn>
                        </p:par>
                        <p:par>
                          <p:cTn id="36" fill="hold">
                            <p:stCondLst>
                              <p:cond delay="500"/>
                            </p:stCondLst>
                            <p:childTnLst>
                              <p:par>
                                <p:cTn id="37" presetID="9" presetClass="entr" presetSubtype="0" fill="hold" grpId="0" nodeType="after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dissolve">
                                      <p:cBhvr>
                                        <p:cTn id="3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p:bldP spid="10" grpId="0"/>
      <p:bldP spid="39" grpId="0"/>
      <p:bldP spid="42" grpId="0"/>
      <p:bldP spid="44" grpId="0" animBg="1"/>
      <p:bldP spid="55" grpId="0"/>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A831A-F177-47AA-E319-19699ED6E2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C8415-0631-C7CF-A55F-6CD188A2154C}"/>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8.4</a:t>
            </a:r>
            <a:r>
              <a:rPr lang="en-US" dirty="0">
                <a:ea typeface="Calibri" charset="0"/>
                <a:cs typeface="Calibri" charset="0"/>
              </a:rPr>
              <a:t> Angular Variables and Tangential Variables</a:t>
            </a:r>
            <a:endParaRPr lang="en-US" sz="3000" dirty="0"/>
          </a:p>
        </p:txBody>
      </p:sp>
      <p:sp>
        <p:nvSpPr>
          <p:cNvPr id="7" name="TextBox 6">
            <a:extLst>
              <a:ext uri="{FF2B5EF4-FFF2-40B4-BE49-F238E27FC236}">
                <a16:creationId xmlns:a16="http://schemas.microsoft.com/office/drawing/2014/main" id="{54A95D6D-72DE-93E9-F92E-E5EFD4CE7584}"/>
              </a:ext>
            </a:extLst>
          </p:cNvPr>
          <p:cNvSpPr txBox="1"/>
          <p:nvPr/>
        </p:nvSpPr>
        <p:spPr>
          <a:xfrm>
            <a:off x="932231" y="1279270"/>
            <a:ext cx="7406552" cy="1938992"/>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A helicopter blade has an angular speed of </a:t>
            </a:r>
            <a:r>
              <a:rPr lang="en-US" sz="2400" i="1" dirty="0">
                <a:latin typeface="Symbol" pitchFamily="2" charset="2"/>
                <a:cs typeface="Times New Roman" panose="02020603050405020304" pitchFamily="18" charset="0"/>
              </a:rPr>
              <a:t>w</a:t>
            </a:r>
            <a:r>
              <a:rPr lang="en-US" sz="2400" dirty="0">
                <a:latin typeface="Times" pitchFamily="2" charset="0"/>
                <a:cs typeface="Times New Roman" panose="02020603050405020304" pitchFamily="18" charset="0"/>
              </a:rPr>
              <a:t> = 6.50 rev/s and has an angular acceleration of </a:t>
            </a:r>
            <a:r>
              <a:rPr lang="en-US" sz="2400" i="1" dirty="0">
                <a:latin typeface="Symbol" pitchFamily="2" charset="2"/>
                <a:cs typeface="Times New Roman" panose="02020603050405020304" pitchFamily="18" charset="0"/>
              </a:rPr>
              <a:t>a</a:t>
            </a:r>
            <a:r>
              <a:rPr lang="en-US" sz="2400" dirty="0">
                <a:latin typeface="Times" pitchFamily="2" charset="0"/>
                <a:cs typeface="Times New Roman" panose="02020603050405020304" pitchFamily="18" charset="0"/>
              </a:rPr>
              <a:t> = 1.30 rev/s</a:t>
            </a:r>
            <a:r>
              <a:rPr lang="en-US" sz="2400" baseline="30000" dirty="0">
                <a:latin typeface="Times" pitchFamily="2" charset="0"/>
                <a:cs typeface="Times New Roman" panose="02020603050405020304" pitchFamily="18" charset="0"/>
              </a:rPr>
              <a:t>2</a:t>
            </a:r>
            <a:r>
              <a:rPr lang="en-US" sz="2400" dirty="0">
                <a:latin typeface="Times" pitchFamily="2" charset="0"/>
                <a:cs typeface="Times New Roman" panose="02020603050405020304" pitchFamily="18" charset="0"/>
              </a:rPr>
              <a:t>. For points 1 and 2 on the blade in the figure, find the magnitudes of (</a:t>
            </a:r>
            <a:r>
              <a:rPr lang="en-US" sz="2400" b="1" dirty="0">
                <a:latin typeface="Times" pitchFamily="2" charset="0"/>
                <a:cs typeface="Times New Roman" panose="02020603050405020304" pitchFamily="18" charset="0"/>
              </a:rPr>
              <a:t>a</a:t>
            </a:r>
            <a:r>
              <a:rPr lang="en-US" sz="2400" dirty="0">
                <a:latin typeface="Times" pitchFamily="2" charset="0"/>
                <a:cs typeface="Times New Roman" panose="02020603050405020304" pitchFamily="18" charset="0"/>
              </a:rPr>
              <a:t>) the tangential speeds and (</a:t>
            </a:r>
            <a:r>
              <a:rPr lang="en-US" sz="2400" b="1" dirty="0">
                <a:latin typeface="Times" pitchFamily="2" charset="0"/>
                <a:cs typeface="Times New Roman" panose="02020603050405020304" pitchFamily="18" charset="0"/>
              </a:rPr>
              <a:t>b</a:t>
            </a:r>
            <a:r>
              <a:rPr lang="en-US" sz="2400" dirty="0">
                <a:latin typeface="Times" pitchFamily="2" charset="0"/>
                <a:cs typeface="Times New Roman" panose="02020603050405020304" pitchFamily="18" charset="0"/>
              </a:rPr>
              <a:t>) the tangential accelerations.</a:t>
            </a:r>
            <a:endParaRPr lang="en-US" sz="2400" dirty="0">
              <a:latin typeface="Times" pitchFamily="2" charset="0"/>
            </a:endParaRPr>
          </a:p>
        </p:txBody>
      </p:sp>
      <p:sp>
        <p:nvSpPr>
          <p:cNvPr id="3" name="TextBox 2">
            <a:extLst>
              <a:ext uri="{FF2B5EF4-FFF2-40B4-BE49-F238E27FC236}">
                <a16:creationId xmlns:a16="http://schemas.microsoft.com/office/drawing/2014/main" id="{818C6058-0EB9-1806-B940-9048DD742F40}"/>
              </a:ext>
            </a:extLst>
          </p:cNvPr>
          <p:cNvSpPr txBox="1"/>
          <p:nvPr/>
        </p:nvSpPr>
        <p:spPr>
          <a:xfrm>
            <a:off x="908642" y="710007"/>
            <a:ext cx="8759947" cy="523220"/>
          </a:xfrm>
          <a:prstGeom prst="rect">
            <a:avLst/>
          </a:prstGeom>
          <a:noFill/>
        </p:spPr>
        <p:txBody>
          <a:bodyPr wrap="square" rtlCol="0">
            <a:spAutoFit/>
          </a:bodyPr>
          <a:lstStyle/>
          <a:p>
            <a:r>
              <a:rPr lang="en-US" sz="2800" dirty="0">
                <a:solidFill>
                  <a:srgbClr val="C00000"/>
                </a:solidFill>
                <a:latin typeface="Times" pitchFamily="2" charset="0"/>
              </a:rPr>
              <a:t>Example – A Helicopter Blade</a:t>
            </a:r>
          </a:p>
        </p:txBody>
      </p:sp>
      <p:pic>
        <p:nvPicPr>
          <p:cNvPr id="5" name="Picture 4">
            <a:extLst>
              <a:ext uri="{FF2B5EF4-FFF2-40B4-BE49-F238E27FC236}">
                <a16:creationId xmlns:a16="http://schemas.microsoft.com/office/drawing/2014/main" id="{38CAE671-0F1B-BBB8-D0A9-C9B7E060909B}"/>
              </a:ext>
            </a:extLst>
          </p:cNvPr>
          <p:cNvPicPr>
            <a:picLocks noChangeAspect="1"/>
          </p:cNvPicPr>
          <p:nvPr/>
        </p:nvPicPr>
        <p:blipFill>
          <a:blip r:embed="rId3"/>
          <a:stretch>
            <a:fillRect/>
          </a:stretch>
        </p:blipFill>
        <p:spPr>
          <a:xfrm>
            <a:off x="8543499" y="734704"/>
            <a:ext cx="3398292" cy="3010567"/>
          </a:xfrm>
          <a:prstGeom prst="rect">
            <a:avLst/>
          </a:prstGeom>
        </p:spPr>
      </p:pic>
      <p:sp>
        <p:nvSpPr>
          <p:cNvPr id="4" name="TextBox 3">
            <a:extLst>
              <a:ext uri="{FF2B5EF4-FFF2-40B4-BE49-F238E27FC236}">
                <a16:creationId xmlns:a16="http://schemas.microsoft.com/office/drawing/2014/main" id="{C6B1B955-04A8-2B67-6F07-48201EC4F34C}"/>
              </a:ext>
            </a:extLst>
          </p:cNvPr>
          <p:cNvSpPr txBox="1"/>
          <p:nvPr/>
        </p:nvSpPr>
        <p:spPr>
          <a:xfrm>
            <a:off x="436729" y="3357349"/>
            <a:ext cx="9348716" cy="830997"/>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b</a:t>
            </a:r>
            <a:r>
              <a:rPr lang="en-US" sz="2400" dirty="0">
                <a:latin typeface="Times" pitchFamily="2" charset="0"/>
              </a:rPr>
              <a:t>) The tangential accelerations can be found with Equation 8.10, once we convert the angular acceleration from rev/s</a:t>
            </a:r>
            <a:r>
              <a:rPr lang="en-US" sz="2400" baseline="30000" dirty="0">
                <a:latin typeface="Times" pitchFamily="2" charset="0"/>
              </a:rPr>
              <a:t>2</a:t>
            </a:r>
            <a:r>
              <a:rPr lang="en-US" sz="2400" dirty="0">
                <a:latin typeface="Times" pitchFamily="2" charset="0"/>
              </a:rPr>
              <a:t> to rad/s</a:t>
            </a:r>
            <a:r>
              <a:rPr lang="en-US" sz="2400" baseline="30000" dirty="0">
                <a:latin typeface="Times" pitchFamily="2" charset="0"/>
              </a:rPr>
              <a:t>2</a:t>
            </a:r>
            <a:r>
              <a:rPr lang="en-US" sz="2400" dirty="0">
                <a:latin typeface="Times" pitchFamily="2" charset="0"/>
              </a:rPr>
              <a:t>: </a:t>
            </a:r>
          </a:p>
        </p:txBody>
      </p:sp>
      <p:sp>
        <p:nvSpPr>
          <p:cNvPr id="25" name="Rounded Rectangle 24">
            <a:extLst>
              <a:ext uri="{FF2B5EF4-FFF2-40B4-BE49-F238E27FC236}">
                <a16:creationId xmlns:a16="http://schemas.microsoft.com/office/drawing/2014/main" id="{CB11F720-1329-5516-6F91-1BC47163C379}"/>
              </a:ext>
            </a:extLst>
          </p:cNvPr>
          <p:cNvSpPr/>
          <p:nvPr/>
        </p:nvSpPr>
        <p:spPr>
          <a:xfrm>
            <a:off x="251916" y="4280848"/>
            <a:ext cx="5297984" cy="9075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D481E344-BA26-9934-E941-26B641F92977}"/>
              </a:ext>
            </a:extLst>
          </p:cNvPr>
          <p:cNvSpPr txBox="1"/>
          <p:nvPr/>
        </p:nvSpPr>
        <p:spPr>
          <a:xfrm>
            <a:off x="6719033" y="4440078"/>
            <a:ext cx="5154305" cy="461665"/>
          </a:xfrm>
          <a:prstGeom prst="rect">
            <a:avLst/>
          </a:prstGeom>
          <a:noFill/>
        </p:spPr>
        <p:txBody>
          <a:bodyPr wrap="square" rtlCol="0">
            <a:spAutoFit/>
          </a:bodyPr>
          <a:lstStyle/>
          <a:p>
            <a:r>
              <a:rPr lang="en-US" sz="2400" dirty="0">
                <a:latin typeface="Times" pitchFamily="2" charset="0"/>
              </a:rPr>
              <a:t>Applying Equation 8.10 to each point:</a:t>
            </a:r>
          </a:p>
        </p:txBody>
      </p:sp>
      <p:sp>
        <p:nvSpPr>
          <p:cNvPr id="40" name="TextBox 39">
            <a:extLst>
              <a:ext uri="{FF2B5EF4-FFF2-40B4-BE49-F238E27FC236}">
                <a16:creationId xmlns:a16="http://schemas.microsoft.com/office/drawing/2014/main" id="{81E79ED2-8727-E37A-64FD-2DD4A94EB1AE}"/>
              </a:ext>
            </a:extLst>
          </p:cNvPr>
          <p:cNvSpPr txBox="1"/>
          <p:nvPr/>
        </p:nvSpPr>
        <p:spPr>
          <a:xfrm>
            <a:off x="5467370" y="5113987"/>
            <a:ext cx="1312460" cy="461665"/>
          </a:xfrm>
          <a:prstGeom prst="rect">
            <a:avLst/>
          </a:prstGeom>
          <a:noFill/>
        </p:spPr>
        <p:txBody>
          <a:bodyPr wrap="square" rtlCol="0">
            <a:spAutoFit/>
          </a:bodyPr>
          <a:lstStyle/>
          <a:p>
            <a:r>
              <a:rPr lang="en-US" sz="2400" dirty="0">
                <a:latin typeface="Times" pitchFamily="2" charset="0"/>
              </a:rPr>
              <a:t>Point 1: </a:t>
            </a:r>
          </a:p>
        </p:txBody>
      </p:sp>
      <p:sp>
        <p:nvSpPr>
          <p:cNvPr id="41" name="Rounded Rectangle 40">
            <a:extLst>
              <a:ext uri="{FF2B5EF4-FFF2-40B4-BE49-F238E27FC236}">
                <a16:creationId xmlns:a16="http://schemas.microsoft.com/office/drawing/2014/main" id="{B46C2787-686B-87FF-CCCC-87527FDF7282}"/>
              </a:ext>
            </a:extLst>
          </p:cNvPr>
          <p:cNvSpPr/>
          <p:nvPr/>
        </p:nvSpPr>
        <p:spPr>
          <a:xfrm>
            <a:off x="6588759" y="5120811"/>
            <a:ext cx="553974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B76A51DE-977B-5A17-CCAB-559D1BE870C6}"/>
              </a:ext>
            </a:extLst>
          </p:cNvPr>
          <p:cNvSpPr txBox="1"/>
          <p:nvPr/>
        </p:nvSpPr>
        <p:spPr>
          <a:xfrm>
            <a:off x="5468769" y="5903950"/>
            <a:ext cx="1312460" cy="461665"/>
          </a:xfrm>
          <a:prstGeom prst="rect">
            <a:avLst/>
          </a:prstGeom>
          <a:noFill/>
        </p:spPr>
        <p:txBody>
          <a:bodyPr wrap="square" rtlCol="0">
            <a:spAutoFit/>
          </a:bodyPr>
          <a:lstStyle/>
          <a:p>
            <a:r>
              <a:rPr lang="en-US" sz="2400" dirty="0">
                <a:latin typeface="Times" pitchFamily="2" charset="0"/>
              </a:rPr>
              <a:t>Point 2: </a:t>
            </a:r>
          </a:p>
        </p:txBody>
      </p:sp>
      <p:sp>
        <p:nvSpPr>
          <p:cNvPr id="50" name="Rounded Rectangle 49">
            <a:extLst>
              <a:ext uri="{FF2B5EF4-FFF2-40B4-BE49-F238E27FC236}">
                <a16:creationId xmlns:a16="http://schemas.microsoft.com/office/drawing/2014/main" id="{8EC604FD-897B-576B-2000-5F724DAF0027}"/>
              </a:ext>
            </a:extLst>
          </p:cNvPr>
          <p:cNvSpPr/>
          <p:nvPr/>
        </p:nvSpPr>
        <p:spPr>
          <a:xfrm>
            <a:off x="6597468" y="5900229"/>
            <a:ext cx="5534207"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133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dissolve">
                                      <p:cBhvr>
                                        <p:cTn id="16"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dissolve">
                                      <p:cBhvr>
                                        <p:cTn id="21" dur="500"/>
                                        <p:tgtEl>
                                          <p:spTgt spid="40"/>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dissolve">
                                      <p:cBhvr>
                                        <p:cTn id="25" dur="500"/>
                                        <p:tgtEl>
                                          <p:spTgt spid="4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dissolve">
                                      <p:cBhvr>
                                        <p:cTn id="30" dur="500"/>
                                        <p:tgtEl>
                                          <p:spTgt spid="48"/>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dissolve">
                                      <p:cBhvr>
                                        <p:cTn id="3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5" grpId="0" animBg="1"/>
      <p:bldP spid="38" grpId="0"/>
      <p:bldP spid="40" grpId="0"/>
      <p:bldP spid="41" grpId="0" animBg="1"/>
      <p:bldP spid="48" grpId="0"/>
      <p:bldP spid="5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11CBD-3B99-92A5-4155-9FD194954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764A4-6BF7-6FA8-C844-A4FA8FDB0F91}"/>
              </a:ext>
            </a:extLst>
          </p:cNvPr>
          <p:cNvSpPr>
            <a:spLocks noGrp="1"/>
          </p:cNvSpPr>
          <p:nvPr>
            <p:ph type="title"/>
          </p:nvPr>
        </p:nvSpPr>
        <p:spPr>
          <a:xfrm>
            <a:off x="654622" y="53787"/>
            <a:ext cx="10820401" cy="849312"/>
          </a:xfrm>
        </p:spPr>
        <p:txBody>
          <a:bodyPr/>
          <a:lstStyle/>
          <a:p>
            <a:r>
              <a:rPr lang="en-US" b="1" dirty="0">
                <a:ea typeface="Calibri" charset="0"/>
                <a:cs typeface="Calibri" charset="0"/>
              </a:rPr>
              <a:t>8.4</a:t>
            </a:r>
            <a:r>
              <a:rPr lang="en-US" dirty="0">
                <a:ea typeface="Calibri" charset="0"/>
                <a:cs typeface="Calibri" charset="0"/>
              </a:rPr>
              <a:t> Angular Variables and Tangential Variables</a:t>
            </a:r>
            <a:endParaRPr lang="en-US" sz="3000" dirty="0"/>
          </a:p>
        </p:txBody>
      </p:sp>
      <p:sp>
        <p:nvSpPr>
          <p:cNvPr id="6" name="TextBox 5">
            <a:extLst>
              <a:ext uri="{FF2B5EF4-FFF2-40B4-BE49-F238E27FC236}">
                <a16:creationId xmlns:a16="http://schemas.microsoft.com/office/drawing/2014/main" id="{C2613A6B-A453-0D45-A4CE-49076A7BDAF5}"/>
              </a:ext>
            </a:extLst>
          </p:cNvPr>
          <p:cNvSpPr txBox="1"/>
          <p:nvPr/>
        </p:nvSpPr>
        <p:spPr>
          <a:xfrm>
            <a:off x="894631" y="727937"/>
            <a:ext cx="10382969" cy="3970318"/>
          </a:xfrm>
          <a:prstGeom prst="rect">
            <a:avLst/>
          </a:prstGeom>
          <a:noFill/>
        </p:spPr>
        <p:txBody>
          <a:bodyPr wrap="square" rtlCol="0">
            <a:spAutoFit/>
          </a:bodyPr>
          <a:lstStyle/>
          <a:p>
            <a:pPr algn="just"/>
            <a:r>
              <a:rPr lang="en-US" sz="2800" dirty="0">
                <a:solidFill>
                  <a:srgbClr val="3E5891"/>
                </a:solidFill>
                <a:latin typeface="Times" pitchFamily="2" charset="0"/>
              </a:rPr>
              <a:t>CYU/TPS – A building is located on the earth’s equator. As the earth rotates about its axis, which floor of the building has the greatest tangential speed?</a:t>
            </a:r>
          </a:p>
          <a:p>
            <a:pPr algn="just"/>
            <a:endParaRPr lang="en-US" sz="2800" dirty="0">
              <a:solidFill>
                <a:srgbClr val="3E5891"/>
              </a:solidFill>
              <a:latin typeface="Times" pitchFamily="2" charset="0"/>
            </a:endParaRPr>
          </a:p>
          <a:p>
            <a:pPr algn="just"/>
            <a:r>
              <a:rPr lang="en-US" sz="2800" dirty="0">
                <a:solidFill>
                  <a:srgbClr val="3E5891"/>
                </a:solidFill>
                <a:latin typeface="Times" pitchFamily="2" charset="0"/>
              </a:rPr>
              <a:t>(</a:t>
            </a:r>
            <a:r>
              <a:rPr lang="en-US" sz="2800" b="1" dirty="0">
                <a:solidFill>
                  <a:srgbClr val="3E5891"/>
                </a:solidFill>
                <a:latin typeface="Times" pitchFamily="2" charset="0"/>
              </a:rPr>
              <a:t>a</a:t>
            </a:r>
            <a:r>
              <a:rPr lang="en-US" sz="2800" dirty="0">
                <a:solidFill>
                  <a:srgbClr val="3E5891"/>
                </a:solidFill>
                <a:latin typeface="Times" pitchFamily="2" charset="0"/>
              </a:rPr>
              <a:t>) The first floor.</a:t>
            </a:r>
          </a:p>
          <a:p>
            <a:pPr algn="just"/>
            <a:r>
              <a:rPr lang="en-US" sz="2800" dirty="0">
                <a:solidFill>
                  <a:srgbClr val="3E5891"/>
                </a:solidFill>
                <a:latin typeface="Times" pitchFamily="2" charset="0"/>
              </a:rPr>
              <a:t>(</a:t>
            </a:r>
            <a:r>
              <a:rPr lang="en-US" sz="2800" b="1" dirty="0">
                <a:solidFill>
                  <a:srgbClr val="3E5891"/>
                </a:solidFill>
                <a:latin typeface="Times" pitchFamily="2" charset="0"/>
              </a:rPr>
              <a:t>b</a:t>
            </a:r>
            <a:r>
              <a:rPr lang="en-US" sz="2800" dirty="0">
                <a:solidFill>
                  <a:srgbClr val="3E5891"/>
                </a:solidFill>
                <a:latin typeface="Times" pitchFamily="2" charset="0"/>
              </a:rPr>
              <a:t>) The tenth floor.</a:t>
            </a:r>
          </a:p>
          <a:p>
            <a:pPr algn="just"/>
            <a:r>
              <a:rPr lang="en-US" sz="2800" dirty="0">
                <a:solidFill>
                  <a:srgbClr val="3E5891"/>
                </a:solidFill>
                <a:latin typeface="Times" pitchFamily="2" charset="0"/>
              </a:rPr>
              <a:t>(</a:t>
            </a:r>
            <a:r>
              <a:rPr lang="en-US" sz="2800" b="1" dirty="0">
                <a:solidFill>
                  <a:srgbClr val="3E5891"/>
                </a:solidFill>
                <a:latin typeface="Times" pitchFamily="2" charset="0"/>
              </a:rPr>
              <a:t>c</a:t>
            </a:r>
            <a:r>
              <a:rPr lang="en-US" sz="2800" dirty="0">
                <a:solidFill>
                  <a:srgbClr val="3E5891"/>
                </a:solidFill>
                <a:latin typeface="Times" pitchFamily="2" charset="0"/>
              </a:rPr>
              <a:t>) The twentieth floor.</a:t>
            </a:r>
          </a:p>
          <a:p>
            <a:pPr algn="just"/>
            <a:r>
              <a:rPr lang="en-US" sz="2800" dirty="0">
                <a:solidFill>
                  <a:srgbClr val="3E5891"/>
                </a:solidFill>
                <a:latin typeface="Times" pitchFamily="2" charset="0"/>
              </a:rPr>
              <a:t>(</a:t>
            </a:r>
            <a:r>
              <a:rPr lang="en-US" sz="2800" b="1" dirty="0">
                <a:solidFill>
                  <a:srgbClr val="3E5891"/>
                </a:solidFill>
                <a:latin typeface="Times" pitchFamily="2" charset="0"/>
              </a:rPr>
              <a:t>d</a:t>
            </a:r>
            <a:r>
              <a:rPr lang="en-US" sz="2800" dirty="0">
                <a:solidFill>
                  <a:srgbClr val="3E5891"/>
                </a:solidFill>
                <a:latin typeface="Times" pitchFamily="2" charset="0"/>
              </a:rPr>
              <a:t>) Each floor has the same tangential speed.</a:t>
            </a:r>
          </a:p>
          <a:p>
            <a:pPr algn="just"/>
            <a:endParaRPr lang="en-US" sz="2800" dirty="0">
              <a:solidFill>
                <a:srgbClr val="3E5891"/>
              </a:solidFill>
              <a:latin typeface="Times" pitchFamily="2" charset="0"/>
              <a:cs typeface="Times New Roman" panose="02020603050405020304" pitchFamily="18" charset="0"/>
            </a:endParaRPr>
          </a:p>
        </p:txBody>
      </p:sp>
      <p:sp>
        <p:nvSpPr>
          <p:cNvPr id="8" name="TextBox 7">
            <a:extLst>
              <a:ext uri="{FF2B5EF4-FFF2-40B4-BE49-F238E27FC236}">
                <a16:creationId xmlns:a16="http://schemas.microsoft.com/office/drawing/2014/main" id="{DCB1EE35-9EB1-031A-73D6-1564DCE7AC1F}"/>
              </a:ext>
            </a:extLst>
          </p:cNvPr>
          <p:cNvSpPr txBox="1"/>
          <p:nvPr/>
        </p:nvSpPr>
        <p:spPr>
          <a:xfrm rot="2431060">
            <a:off x="5059954" y="3006320"/>
            <a:ext cx="1988191" cy="461665"/>
          </a:xfrm>
          <a:prstGeom prst="rect">
            <a:avLst/>
          </a:prstGeom>
          <a:noFill/>
        </p:spPr>
        <p:txBody>
          <a:bodyPr wrap="square" rtlCol="0">
            <a:spAutoFit/>
          </a:bodyPr>
          <a:lstStyle/>
          <a:p>
            <a:r>
              <a:rPr lang="en-US" sz="2400" dirty="0">
                <a:solidFill>
                  <a:srgbClr val="007440"/>
                </a:solidFill>
                <a:latin typeface="Chalkduster" panose="03050602040202020205" pitchFamily="66" charset="77"/>
              </a:rPr>
              <a:t>Explain!</a:t>
            </a:r>
          </a:p>
        </p:txBody>
      </p:sp>
    </p:spTree>
    <p:extLst>
      <p:ext uri="{BB962C8B-B14F-4D97-AF65-F5344CB8AC3E}">
        <p14:creationId xmlns:p14="http://schemas.microsoft.com/office/powerpoint/2010/main" val="146500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FDD46-2CA6-9F32-B0A7-50E4EEB0E34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027D081D-F983-D387-985E-ED54F3BB986D}"/>
              </a:ext>
            </a:extLst>
          </p:cNvPr>
          <p:cNvSpPr/>
          <p:nvPr/>
        </p:nvSpPr>
        <p:spPr>
          <a:xfrm>
            <a:off x="0" y="667765"/>
            <a:ext cx="12192000" cy="895563"/>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55C4FA-0E91-FEF4-14C1-E648E34E2B59}"/>
              </a:ext>
            </a:extLst>
          </p:cNvPr>
          <p:cNvSpPr>
            <a:spLocks noGrp="1"/>
          </p:cNvSpPr>
          <p:nvPr>
            <p:ph type="title"/>
          </p:nvPr>
        </p:nvSpPr>
        <p:spPr>
          <a:xfrm>
            <a:off x="639874" y="142278"/>
            <a:ext cx="10820401" cy="849312"/>
          </a:xfrm>
        </p:spPr>
        <p:txBody>
          <a:bodyPr>
            <a:normAutofit fontScale="90000"/>
          </a:bodyPr>
          <a:lstStyle/>
          <a:p>
            <a:r>
              <a:rPr lang="en-US" b="1" dirty="0">
                <a:ea typeface="Calibri" charset="0"/>
                <a:cs typeface="Calibri" charset="0"/>
              </a:rPr>
              <a:t>8.5</a:t>
            </a:r>
            <a:r>
              <a:rPr lang="en-US" dirty="0">
                <a:ea typeface="Calibri" charset="0"/>
                <a:cs typeface="Calibri" charset="0"/>
              </a:rPr>
              <a:t> Centripetal Acceleration and Tangential Acceleration</a:t>
            </a:r>
            <a:endParaRPr lang="en-US" sz="3000" dirty="0"/>
          </a:p>
        </p:txBody>
      </p:sp>
      <p:sp>
        <p:nvSpPr>
          <p:cNvPr id="5" name="Content Placeholder 2">
            <a:extLst>
              <a:ext uri="{FF2B5EF4-FFF2-40B4-BE49-F238E27FC236}">
                <a16:creationId xmlns:a16="http://schemas.microsoft.com/office/drawing/2014/main" id="{A82A4E73-66DD-7A88-890F-D5269A9408C3}"/>
              </a:ext>
            </a:extLst>
          </p:cNvPr>
          <p:cNvSpPr txBox="1">
            <a:spLocks/>
          </p:cNvSpPr>
          <p:nvPr/>
        </p:nvSpPr>
        <p:spPr>
          <a:xfrm>
            <a:off x="914401" y="718024"/>
            <a:ext cx="11654444"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8.5 </a:t>
            </a:r>
            <a:r>
              <a:rPr lang="en-US" dirty="0"/>
              <a:t>– Distinguish between centripetal and tangential accelerations.</a:t>
            </a:r>
          </a:p>
        </p:txBody>
      </p:sp>
      <p:sp>
        <p:nvSpPr>
          <p:cNvPr id="26" name="TextBox 25">
            <a:extLst>
              <a:ext uri="{FF2B5EF4-FFF2-40B4-BE49-F238E27FC236}">
                <a16:creationId xmlns:a16="http://schemas.microsoft.com/office/drawing/2014/main" id="{23924AFC-CEB3-300D-DF41-5921B179135B}"/>
              </a:ext>
            </a:extLst>
          </p:cNvPr>
          <p:cNvSpPr txBox="1"/>
          <p:nvPr/>
        </p:nvSpPr>
        <p:spPr>
          <a:xfrm>
            <a:off x="921313" y="1698717"/>
            <a:ext cx="10892143"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In Chapter 05, we studied </a:t>
            </a:r>
            <a:r>
              <a:rPr lang="en-US" sz="2400" dirty="0">
                <a:solidFill>
                  <a:srgbClr val="007440"/>
                </a:solidFill>
                <a:latin typeface="Times" pitchFamily="2" charset="0"/>
                <a:cs typeface="Times New Roman" panose="02020603050405020304" pitchFamily="18" charset="0"/>
              </a:rPr>
              <a:t>uniform circular motion</a:t>
            </a:r>
            <a:r>
              <a:rPr lang="en-US" sz="2400" dirty="0">
                <a:latin typeface="Times" pitchFamily="2" charset="0"/>
                <a:cs typeface="Times New Roman" panose="02020603050405020304" pitchFamily="18" charset="0"/>
              </a:rPr>
              <a:t>, where an object moved along a circular path at constant speed.</a:t>
            </a:r>
            <a:endParaRPr lang="en-US" sz="2400" dirty="0">
              <a:latin typeface="Times" pitchFamily="2" charset="0"/>
            </a:endParaRPr>
          </a:p>
        </p:txBody>
      </p:sp>
      <p:grpSp>
        <p:nvGrpSpPr>
          <p:cNvPr id="19" name="Group 18">
            <a:extLst>
              <a:ext uri="{FF2B5EF4-FFF2-40B4-BE49-F238E27FC236}">
                <a16:creationId xmlns:a16="http://schemas.microsoft.com/office/drawing/2014/main" id="{505F5F63-758D-9DCF-E89A-D55491B0D2A0}"/>
              </a:ext>
            </a:extLst>
          </p:cNvPr>
          <p:cNvGrpSpPr/>
          <p:nvPr/>
        </p:nvGrpSpPr>
        <p:grpSpPr>
          <a:xfrm>
            <a:off x="394285" y="2572884"/>
            <a:ext cx="2716906" cy="2574978"/>
            <a:chOff x="550401" y="2956027"/>
            <a:chExt cx="3305319" cy="3092752"/>
          </a:xfrm>
        </p:grpSpPr>
        <p:pic>
          <p:nvPicPr>
            <p:cNvPr id="4" name="Picture 3">
              <a:extLst>
                <a:ext uri="{FF2B5EF4-FFF2-40B4-BE49-F238E27FC236}">
                  <a16:creationId xmlns:a16="http://schemas.microsoft.com/office/drawing/2014/main" id="{246FC45A-B782-4E4D-0D72-990AABF56B7F}"/>
                </a:ext>
              </a:extLst>
            </p:cNvPr>
            <p:cNvPicPr>
              <a:picLocks noChangeAspect="1"/>
            </p:cNvPicPr>
            <p:nvPr/>
          </p:nvPicPr>
          <p:blipFill>
            <a:blip r:embed="rId3"/>
            <a:srcRect b="52337"/>
            <a:stretch/>
          </p:blipFill>
          <p:spPr>
            <a:xfrm>
              <a:off x="550401" y="2956027"/>
              <a:ext cx="3033457" cy="3092752"/>
            </a:xfrm>
            <a:prstGeom prst="rect">
              <a:avLst/>
            </a:prstGeom>
          </p:spPr>
        </p:pic>
        <p:cxnSp>
          <p:nvCxnSpPr>
            <p:cNvPr id="10" name="Straight Arrow Connector 9">
              <a:extLst>
                <a:ext uri="{FF2B5EF4-FFF2-40B4-BE49-F238E27FC236}">
                  <a16:creationId xmlns:a16="http://schemas.microsoft.com/office/drawing/2014/main" id="{FE6ABEE8-BD10-B7C8-FB30-1B6926F6C4E4}"/>
                </a:ext>
              </a:extLst>
            </p:cNvPr>
            <p:cNvCxnSpPr/>
            <p:nvPr/>
          </p:nvCxnSpPr>
          <p:spPr>
            <a:xfrm flipV="1">
              <a:off x="3322320" y="3525520"/>
              <a:ext cx="0" cy="68072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6089F72-8677-6900-0F76-347C2D85551F}"/>
                </a:ext>
              </a:extLst>
            </p:cNvPr>
            <p:cNvSpPr txBox="1"/>
            <p:nvPr/>
          </p:nvSpPr>
          <p:spPr>
            <a:xfrm>
              <a:off x="3317240" y="3302000"/>
              <a:ext cx="538480" cy="400110"/>
            </a:xfrm>
            <a:prstGeom prst="rect">
              <a:avLst/>
            </a:prstGeom>
            <a:noFill/>
          </p:spPr>
          <p:txBody>
            <a:bodyPr wrap="square" rtlCol="0">
              <a:spAutoFit/>
            </a:bodyPr>
            <a:lstStyle/>
            <a:p>
              <a:r>
                <a:rPr lang="en-US" sz="2000" i="1" dirty="0" err="1">
                  <a:latin typeface="Times" pitchFamily="2" charset="0"/>
                </a:rPr>
                <a:t>v</a:t>
              </a:r>
              <a:r>
                <a:rPr lang="en-US" sz="2000" baseline="-25000" dirty="0" err="1">
                  <a:latin typeface="Times" pitchFamily="2" charset="0"/>
                </a:rPr>
                <a:t>T</a:t>
              </a:r>
              <a:endParaRPr lang="en-US" sz="2000" baseline="-25000" dirty="0">
                <a:latin typeface="Times" pitchFamily="2" charset="0"/>
              </a:endParaRPr>
            </a:p>
          </p:txBody>
        </p:sp>
      </p:grpSp>
      <p:grpSp>
        <p:nvGrpSpPr>
          <p:cNvPr id="32" name="Group 31">
            <a:extLst>
              <a:ext uri="{FF2B5EF4-FFF2-40B4-BE49-F238E27FC236}">
                <a16:creationId xmlns:a16="http://schemas.microsoft.com/office/drawing/2014/main" id="{061C9A09-783D-4B3F-1642-BA60405DD8FB}"/>
              </a:ext>
            </a:extLst>
          </p:cNvPr>
          <p:cNvGrpSpPr/>
          <p:nvPr/>
        </p:nvGrpSpPr>
        <p:grpSpPr>
          <a:xfrm>
            <a:off x="3895936" y="2562317"/>
            <a:ext cx="8025132" cy="1200329"/>
            <a:chOff x="3895936" y="2562317"/>
            <a:chExt cx="8025132" cy="1200329"/>
          </a:xfrm>
        </p:grpSpPr>
        <p:sp>
          <p:nvSpPr>
            <p:cNvPr id="20" name="TextBox 19">
              <a:extLst>
                <a:ext uri="{FF2B5EF4-FFF2-40B4-BE49-F238E27FC236}">
                  <a16:creationId xmlns:a16="http://schemas.microsoft.com/office/drawing/2014/main" id="{C471D0FD-71C4-057C-9912-81936F45B907}"/>
                </a:ext>
              </a:extLst>
            </p:cNvPr>
            <p:cNvSpPr txBox="1"/>
            <p:nvPr/>
          </p:nvSpPr>
          <p:spPr>
            <a:xfrm>
              <a:off x="3895936" y="2562317"/>
              <a:ext cx="8025132" cy="1200329"/>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We found that, even though the speed of the object (magnitude of the tangential velocity) was constant, an acceleration was present.  We called this                                                , </a:t>
              </a:r>
              <a:endParaRPr lang="en-US" sz="2400" dirty="0">
                <a:latin typeface="Times" pitchFamily="2" charset="0"/>
              </a:endParaRPr>
            </a:p>
          </p:txBody>
        </p:sp>
        <p:sp>
          <p:nvSpPr>
            <p:cNvPr id="22" name="Rounded Rectangle 21">
              <a:extLst>
                <a:ext uri="{FF2B5EF4-FFF2-40B4-BE49-F238E27FC236}">
                  <a16:creationId xmlns:a16="http://schemas.microsoft.com/office/drawing/2014/main" id="{E79CE880-EFA7-77A1-7639-C30991653D64}"/>
                </a:ext>
              </a:extLst>
            </p:cNvPr>
            <p:cNvSpPr/>
            <p:nvPr/>
          </p:nvSpPr>
          <p:spPr>
            <a:xfrm>
              <a:off x="6852355" y="3341512"/>
              <a:ext cx="3589867" cy="372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TextBox 34">
            <a:extLst>
              <a:ext uri="{FF2B5EF4-FFF2-40B4-BE49-F238E27FC236}">
                <a16:creationId xmlns:a16="http://schemas.microsoft.com/office/drawing/2014/main" id="{60B64759-4035-C58E-E6CC-BDD611E9129A}"/>
              </a:ext>
            </a:extLst>
          </p:cNvPr>
          <p:cNvSpPr txBox="1"/>
          <p:nvPr/>
        </p:nvSpPr>
        <p:spPr>
          <a:xfrm>
            <a:off x="10522514" y="3262228"/>
            <a:ext cx="935708" cy="461665"/>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or </a:t>
            </a:r>
            <a:r>
              <a:rPr lang="en-US" sz="2400" i="1" dirty="0">
                <a:latin typeface="Times" pitchFamily="2" charset="0"/>
                <a:cs typeface="Times New Roman" panose="02020603050405020304" pitchFamily="18" charset="0"/>
              </a:rPr>
              <a:t>a</a:t>
            </a:r>
            <a:r>
              <a:rPr lang="en-US" sz="2400" baseline="-25000" dirty="0">
                <a:latin typeface="Times" pitchFamily="2" charset="0"/>
                <a:cs typeface="Times New Roman" panose="02020603050405020304" pitchFamily="18" charset="0"/>
              </a:rPr>
              <a:t>c</a:t>
            </a:r>
            <a:r>
              <a:rPr lang="en-US" sz="2400" dirty="0">
                <a:latin typeface="Times" pitchFamily="2" charset="0"/>
                <a:cs typeface="Times New Roman" panose="02020603050405020304" pitchFamily="18" charset="0"/>
              </a:rPr>
              <a:t>.</a:t>
            </a:r>
            <a:endParaRPr lang="en-US" sz="2400" dirty="0">
              <a:latin typeface="Times" pitchFamily="2" charset="0"/>
            </a:endParaRPr>
          </a:p>
        </p:txBody>
      </p:sp>
      <p:grpSp>
        <p:nvGrpSpPr>
          <p:cNvPr id="38" name="Group 37">
            <a:extLst>
              <a:ext uri="{FF2B5EF4-FFF2-40B4-BE49-F238E27FC236}">
                <a16:creationId xmlns:a16="http://schemas.microsoft.com/office/drawing/2014/main" id="{86DB1F36-6464-6D96-66A4-8A84230F3885}"/>
              </a:ext>
            </a:extLst>
          </p:cNvPr>
          <p:cNvGrpSpPr/>
          <p:nvPr/>
        </p:nvGrpSpPr>
        <p:grpSpPr>
          <a:xfrm>
            <a:off x="3901581" y="3780474"/>
            <a:ext cx="8025132" cy="857955"/>
            <a:chOff x="3901581" y="3815643"/>
            <a:chExt cx="8025132" cy="857955"/>
          </a:xfrm>
        </p:grpSpPr>
        <p:sp>
          <p:nvSpPr>
            <p:cNvPr id="33" name="TextBox 32">
              <a:extLst>
                <a:ext uri="{FF2B5EF4-FFF2-40B4-BE49-F238E27FC236}">
                  <a16:creationId xmlns:a16="http://schemas.microsoft.com/office/drawing/2014/main" id="{A2838816-856B-4572-FAE5-2C646B58897A}"/>
                </a:ext>
              </a:extLst>
            </p:cNvPr>
            <p:cNvSpPr txBox="1"/>
            <p:nvPr/>
          </p:nvSpPr>
          <p:spPr>
            <a:xfrm>
              <a:off x="3901581" y="4001650"/>
              <a:ext cx="8025132" cy="461665"/>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The magnitude of </a:t>
              </a:r>
              <a:r>
                <a:rPr lang="en-US" sz="2400" b="1" dirty="0">
                  <a:latin typeface="Times" pitchFamily="2" charset="0"/>
                  <a:cs typeface="Times New Roman" panose="02020603050405020304" pitchFamily="18" charset="0"/>
                </a:rPr>
                <a:t>a</a:t>
              </a:r>
              <a:r>
                <a:rPr lang="en-US" sz="2400" baseline="-25000" dirty="0">
                  <a:latin typeface="Times" pitchFamily="2" charset="0"/>
                  <a:cs typeface="Times New Roman" panose="02020603050405020304" pitchFamily="18" charset="0"/>
                </a:rPr>
                <a:t>c</a:t>
              </a:r>
              <a:r>
                <a:rPr lang="en-US" sz="2400" dirty="0">
                  <a:latin typeface="Times" pitchFamily="2" charset="0"/>
                  <a:cs typeface="Times New Roman" panose="02020603050405020304" pitchFamily="18" charset="0"/>
                </a:rPr>
                <a:t> is found using Equation 5.2:</a:t>
              </a:r>
              <a:endParaRPr lang="en-US" sz="2400" dirty="0">
                <a:latin typeface="Times" pitchFamily="2" charset="0"/>
              </a:endParaRPr>
            </a:p>
          </p:txBody>
        </p:sp>
        <p:sp>
          <p:nvSpPr>
            <p:cNvPr id="37" name="Rounded Rectangle 36">
              <a:extLst>
                <a:ext uri="{FF2B5EF4-FFF2-40B4-BE49-F238E27FC236}">
                  <a16:creationId xmlns:a16="http://schemas.microsoft.com/office/drawing/2014/main" id="{6AFDBFB4-2AF3-7A5E-C03A-A4C4957E4012}"/>
                </a:ext>
              </a:extLst>
            </p:cNvPr>
            <p:cNvSpPr/>
            <p:nvPr/>
          </p:nvSpPr>
          <p:spPr>
            <a:xfrm>
              <a:off x="10103556" y="3815643"/>
              <a:ext cx="1241778" cy="8579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0649D8B6-B3A6-B6D7-67F0-618E920ED404}"/>
              </a:ext>
            </a:extLst>
          </p:cNvPr>
          <p:cNvSpPr txBox="1"/>
          <p:nvPr/>
        </p:nvSpPr>
        <p:spPr>
          <a:xfrm>
            <a:off x="2942024" y="4407085"/>
            <a:ext cx="7071771" cy="830997"/>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And the direction of </a:t>
            </a:r>
            <a:r>
              <a:rPr lang="en-US" sz="2400" b="1" dirty="0">
                <a:latin typeface="Times" pitchFamily="2" charset="0"/>
                <a:cs typeface="Times New Roman" panose="02020603050405020304" pitchFamily="18" charset="0"/>
              </a:rPr>
              <a:t>a</a:t>
            </a:r>
            <a:r>
              <a:rPr lang="en-US" sz="2400" baseline="-25000" dirty="0">
                <a:latin typeface="Times" pitchFamily="2" charset="0"/>
                <a:cs typeface="Times New Roman" panose="02020603050405020304" pitchFamily="18" charset="0"/>
              </a:rPr>
              <a:t>c</a:t>
            </a:r>
            <a:r>
              <a:rPr lang="en-US" sz="2400" dirty="0">
                <a:latin typeface="Times" pitchFamily="2" charset="0"/>
                <a:cs typeface="Times New Roman" panose="02020603050405020304" pitchFamily="18" charset="0"/>
              </a:rPr>
              <a:t> always points </a:t>
            </a:r>
            <a:r>
              <a:rPr lang="en-US" sz="2400" dirty="0">
                <a:solidFill>
                  <a:srgbClr val="007440"/>
                </a:solidFill>
                <a:latin typeface="Times" pitchFamily="2" charset="0"/>
                <a:cs typeface="Times New Roman" panose="02020603050405020304" pitchFamily="18" charset="0"/>
              </a:rPr>
              <a:t>in toward the center of the circular motion</a:t>
            </a:r>
            <a:r>
              <a:rPr lang="en-US" sz="2400" dirty="0">
                <a:latin typeface="Times" pitchFamily="2" charset="0"/>
                <a:cs typeface="Times New Roman" panose="02020603050405020304" pitchFamily="18" charset="0"/>
              </a:rPr>
              <a:t>.</a:t>
            </a:r>
            <a:endParaRPr lang="en-US" sz="2400" dirty="0">
              <a:latin typeface="Times" pitchFamily="2" charset="0"/>
            </a:endParaRPr>
          </a:p>
        </p:txBody>
      </p:sp>
      <p:sp>
        <p:nvSpPr>
          <p:cNvPr id="42" name="TextBox 41">
            <a:extLst>
              <a:ext uri="{FF2B5EF4-FFF2-40B4-BE49-F238E27FC236}">
                <a16:creationId xmlns:a16="http://schemas.microsoft.com/office/drawing/2014/main" id="{8B3043AE-A1A8-D0B2-A6E9-918A7F29A33E}"/>
              </a:ext>
            </a:extLst>
          </p:cNvPr>
          <p:cNvSpPr txBox="1"/>
          <p:nvPr/>
        </p:nvSpPr>
        <p:spPr>
          <a:xfrm>
            <a:off x="133815" y="5155362"/>
            <a:ext cx="10058400" cy="461665"/>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We can write Equation 5.2 purely in terms of angular variables, since</a:t>
            </a:r>
            <a:r>
              <a:rPr lang="en-US" sz="2400" i="1" dirty="0">
                <a:latin typeface="Times" pitchFamily="2" charset="0"/>
                <a:cs typeface="Times New Roman" panose="02020603050405020304" pitchFamily="18" charset="0"/>
              </a:rPr>
              <a:t> </a:t>
            </a:r>
            <a:r>
              <a:rPr lang="en-US" sz="2400" i="1" dirty="0" err="1">
                <a:latin typeface="Times" pitchFamily="2" charset="0"/>
                <a:cs typeface="Times New Roman" panose="02020603050405020304" pitchFamily="18" charset="0"/>
              </a:rPr>
              <a:t>v</a:t>
            </a:r>
            <a:r>
              <a:rPr lang="en-US" sz="2400" baseline="-25000" dirty="0" err="1">
                <a:latin typeface="Times" pitchFamily="2" charset="0"/>
                <a:cs typeface="Times New Roman" panose="02020603050405020304" pitchFamily="18" charset="0"/>
              </a:rPr>
              <a:t>T</a:t>
            </a:r>
            <a:r>
              <a:rPr lang="en-US" sz="2400" i="1" dirty="0">
                <a:latin typeface="Times" pitchFamily="2" charset="0"/>
                <a:cs typeface="Times New Roman" panose="02020603050405020304" pitchFamily="18" charset="0"/>
              </a:rPr>
              <a:t> </a:t>
            </a:r>
            <a:r>
              <a:rPr lang="en-US" sz="2400" dirty="0">
                <a:latin typeface="Times" pitchFamily="2" charset="0"/>
                <a:cs typeface="Times New Roman" panose="02020603050405020304" pitchFamily="18" charset="0"/>
              </a:rPr>
              <a:t>= </a:t>
            </a:r>
            <a:r>
              <a:rPr lang="en-US" sz="2400" i="1" dirty="0" err="1">
                <a:latin typeface="Times" pitchFamily="2" charset="0"/>
                <a:cs typeface="Times New Roman" panose="02020603050405020304" pitchFamily="18" charset="0"/>
              </a:rPr>
              <a:t>r</a:t>
            </a:r>
            <a:r>
              <a:rPr lang="en-US" sz="2400" i="1" dirty="0" err="1">
                <a:latin typeface="Symbol" pitchFamily="2" charset="2"/>
                <a:cs typeface="Times New Roman" panose="02020603050405020304" pitchFamily="18" charset="0"/>
              </a:rPr>
              <a:t>w</a:t>
            </a:r>
            <a:r>
              <a:rPr lang="en-US" sz="2400" i="1" dirty="0">
                <a:latin typeface="Symbol" pitchFamily="2" charset="2"/>
                <a:cs typeface="Times New Roman" panose="02020603050405020304" pitchFamily="18" charset="0"/>
              </a:rPr>
              <a:t> </a:t>
            </a:r>
            <a:r>
              <a:rPr lang="en-US" sz="2400" dirty="0">
                <a:latin typeface="Times" pitchFamily="2" charset="0"/>
                <a:cs typeface="Times New Roman" panose="02020603050405020304" pitchFamily="18" charset="0"/>
              </a:rPr>
              <a:t>:</a:t>
            </a:r>
            <a:endParaRPr lang="en-US" sz="2400" dirty="0">
              <a:latin typeface="Times" pitchFamily="2" charset="0"/>
            </a:endParaRPr>
          </a:p>
        </p:txBody>
      </p:sp>
      <p:grpSp>
        <p:nvGrpSpPr>
          <p:cNvPr id="67" name="Group 66">
            <a:extLst>
              <a:ext uri="{FF2B5EF4-FFF2-40B4-BE49-F238E27FC236}">
                <a16:creationId xmlns:a16="http://schemas.microsoft.com/office/drawing/2014/main" id="{86B94C94-A18E-8222-C1AE-5CE48AE369A9}"/>
              </a:ext>
            </a:extLst>
          </p:cNvPr>
          <p:cNvGrpSpPr/>
          <p:nvPr/>
        </p:nvGrpSpPr>
        <p:grpSpPr>
          <a:xfrm>
            <a:off x="9327994" y="4093064"/>
            <a:ext cx="2375056" cy="1210915"/>
            <a:chOff x="9327994" y="4175125"/>
            <a:chExt cx="2375056" cy="1210915"/>
          </a:xfrm>
        </p:grpSpPr>
        <p:sp>
          <p:nvSpPr>
            <p:cNvPr id="51" name="Left Brace 50">
              <a:extLst>
                <a:ext uri="{FF2B5EF4-FFF2-40B4-BE49-F238E27FC236}">
                  <a16:creationId xmlns:a16="http://schemas.microsoft.com/office/drawing/2014/main" id="{8ADB5954-3E03-DCD1-6358-4FFC2A024FF3}"/>
                </a:ext>
              </a:extLst>
            </p:cNvPr>
            <p:cNvSpPr/>
            <p:nvPr/>
          </p:nvSpPr>
          <p:spPr>
            <a:xfrm rot="5400000">
              <a:off x="9353086" y="5104472"/>
              <a:ext cx="256476" cy="306659"/>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9E3F6F9A-4574-BB09-D94F-634F6B5C1F3C}"/>
                </a:ext>
              </a:extLst>
            </p:cNvPr>
            <p:cNvCxnSpPr/>
            <p:nvPr/>
          </p:nvCxnSpPr>
          <p:spPr>
            <a:xfrm>
              <a:off x="9464675" y="5133975"/>
              <a:ext cx="223837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92DB025-E72D-5B99-009F-D3CF58D99E9A}"/>
                </a:ext>
              </a:extLst>
            </p:cNvPr>
            <p:cNvCxnSpPr>
              <a:cxnSpLocks/>
            </p:cNvCxnSpPr>
            <p:nvPr/>
          </p:nvCxnSpPr>
          <p:spPr>
            <a:xfrm flipV="1">
              <a:off x="11684000" y="4346575"/>
              <a:ext cx="0" cy="7937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D87190B-58D5-C052-5FA4-FA4EE16D58C0}"/>
                </a:ext>
              </a:extLst>
            </p:cNvPr>
            <p:cNvCxnSpPr>
              <a:cxnSpLocks/>
            </p:cNvCxnSpPr>
            <p:nvPr/>
          </p:nvCxnSpPr>
          <p:spPr>
            <a:xfrm flipH="1" flipV="1">
              <a:off x="11372850" y="4175125"/>
              <a:ext cx="314325" cy="187325"/>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69" name="Rounded Rectangle 68">
            <a:extLst>
              <a:ext uri="{FF2B5EF4-FFF2-40B4-BE49-F238E27FC236}">
                <a16:creationId xmlns:a16="http://schemas.microsoft.com/office/drawing/2014/main" id="{36706FD8-9918-7A6C-6853-7BF03F3B3735}"/>
              </a:ext>
            </a:extLst>
          </p:cNvPr>
          <p:cNvSpPr/>
          <p:nvPr/>
        </p:nvSpPr>
        <p:spPr>
          <a:xfrm>
            <a:off x="2766645" y="5580184"/>
            <a:ext cx="4431323" cy="8323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C5643C73-4A64-B916-B676-40F7FA0AB81F}"/>
              </a:ext>
            </a:extLst>
          </p:cNvPr>
          <p:cNvSpPr txBox="1"/>
          <p:nvPr/>
        </p:nvSpPr>
        <p:spPr>
          <a:xfrm>
            <a:off x="7244080" y="5795442"/>
            <a:ext cx="3627120" cy="461665"/>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a:t>
            </a:r>
            <a:r>
              <a:rPr lang="en-US" sz="2400" i="1" dirty="0">
                <a:latin typeface="Symbol" pitchFamily="2" charset="2"/>
                <a:cs typeface="Times New Roman" panose="02020603050405020304" pitchFamily="18" charset="0"/>
              </a:rPr>
              <a:t>w</a:t>
            </a:r>
            <a:r>
              <a:rPr lang="en-US" sz="2400" dirty="0">
                <a:latin typeface="Times" pitchFamily="2" charset="0"/>
                <a:cs typeface="Times New Roman" panose="02020603050405020304" pitchFamily="18" charset="0"/>
              </a:rPr>
              <a:t> in rad/s)      (</a:t>
            </a:r>
            <a:r>
              <a:rPr lang="en-US" sz="2400" b="1" dirty="0">
                <a:latin typeface="Times" pitchFamily="2" charset="0"/>
                <a:cs typeface="Times New Roman" panose="02020603050405020304" pitchFamily="18" charset="0"/>
              </a:rPr>
              <a:t>8.11</a:t>
            </a:r>
            <a:r>
              <a:rPr lang="en-US" sz="2400" dirty="0">
                <a:latin typeface="Times" pitchFamily="2" charset="0"/>
                <a:cs typeface="Times New Roman" panose="02020603050405020304" pitchFamily="18" charset="0"/>
              </a:rPr>
              <a:t>)</a:t>
            </a:r>
            <a:endParaRPr lang="en-US" sz="2400" dirty="0">
              <a:latin typeface="Times" pitchFamily="2" charset="0"/>
            </a:endParaRPr>
          </a:p>
        </p:txBody>
      </p:sp>
    </p:spTree>
    <p:extLst>
      <p:ext uri="{BB962C8B-B14F-4D97-AF65-F5344CB8AC3E}">
        <p14:creationId xmlns:p14="http://schemas.microsoft.com/office/powerpoint/2010/main" val="2525610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dissolve">
                                      <p:cBhvr>
                                        <p:cTn id="16" dur="500"/>
                                        <p:tgtEl>
                                          <p:spTgt spid="32"/>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dissolve">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dissolve">
                                      <p:cBhvr>
                                        <p:cTn id="25" dur="5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dissolve">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dissolve">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dissolve">
                                      <p:cBhvr>
                                        <p:cTn id="40" dur="500"/>
                                        <p:tgtEl>
                                          <p:spTgt spid="67"/>
                                        </p:tgtEl>
                                      </p:cBhvr>
                                    </p:animEffec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69"/>
                                        </p:tgtEl>
                                        <p:attrNameLst>
                                          <p:attrName>style.visibility</p:attrName>
                                        </p:attrNameLst>
                                      </p:cBhvr>
                                      <p:to>
                                        <p:strVal val="visible"/>
                                      </p:to>
                                    </p:set>
                                    <p:animEffect transition="in" filter="dissolve">
                                      <p:cBhvr>
                                        <p:cTn id="44" dur="500"/>
                                        <p:tgtEl>
                                          <p:spTgt spid="69"/>
                                        </p:tgtEl>
                                      </p:cBhvr>
                                    </p:animEffect>
                                  </p:childTnLst>
                                </p:cTn>
                              </p:par>
                            </p:childTnLst>
                          </p:cTn>
                        </p:par>
                        <p:par>
                          <p:cTn id="45" fill="hold">
                            <p:stCondLst>
                              <p:cond delay="1000"/>
                            </p:stCondLst>
                            <p:childTnLst>
                              <p:par>
                                <p:cTn id="46" presetID="9" presetClass="entr" presetSubtype="0" fill="hold" grpId="0" nodeType="after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dissolve">
                                      <p:cBhvr>
                                        <p:cTn id="4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5" grpId="0"/>
      <p:bldP spid="39" grpId="0"/>
      <p:bldP spid="42" grpId="0"/>
      <p:bldP spid="69" grpId="0" animBg="1"/>
      <p:bldP spid="7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8CC74-A4A4-F22D-4EB4-6957C9D9AFF9}"/>
            </a:ext>
          </a:extLst>
        </p:cNvPr>
        <p:cNvGrpSpPr/>
        <p:nvPr/>
      </p:nvGrpSpPr>
      <p:grpSpPr>
        <a:xfrm>
          <a:off x="0" y="0"/>
          <a:ext cx="0" cy="0"/>
          <a:chOff x="0" y="0"/>
          <a:chExt cx="0" cy="0"/>
        </a:xfrm>
      </p:grpSpPr>
      <p:sp>
        <p:nvSpPr>
          <p:cNvPr id="45" name="Rounded Rectangle 44">
            <a:extLst>
              <a:ext uri="{FF2B5EF4-FFF2-40B4-BE49-F238E27FC236}">
                <a16:creationId xmlns:a16="http://schemas.microsoft.com/office/drawing/2014/main" id="{81F17A25-4C81-1FC5-93E4-B7F69173AECB}"/>
              </a:ext>
            </a:extLst>
          </p:cNvPr>
          <p:cNvSpPr/>
          <p:nvPr/>
        </p:nvSpPr>
        <p:spPr>
          <a:xfrm>
            <a:off x="6736080" y="4781550"/>
            <a:ext cx="2819400" cy="7886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C031AD15-F232-759D-06C6-9C11A64EB240}"/>
              </a:ext>
            </a:extLst>
          </p:cNvPr>
          <p:cNvSpPr/>
          <p:nvPr/>
        </p:nvSpPr>
        <p:spPr>
          <a:xfrm>
            <a:off x="2320290" y="5657850"/>
            <a:ext cx="5109210" cy="7543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243B78-EA2C-818D-467F-4DE6EF0D74F8}"/>
              </a:ext>
            </a:extLst>
          </p:cNvPr>
          <p:cNvSpPr>
            <a:spLocks noGrp="1"/>
          </p:cNvSpPr>
          <p:nvPr>
            <p:ph type="title"/>
          </p:nvPr>
        </p:nvSpPr>
        <p:spPr>
          <a:xfrm>
            <a:off x="639874" y="142278"/>
            <a:ext cx="10820401" cy="849312"/>
          </a:xfrm>
        </p:spPr>
        <p:txBody>
          <a:bodyPr>
            <a:normAutofit fontScale="90000"/>
          </a:bodyPr>
          <a:lstStyle/>
          <a:p>
            <a:r>
              <a:rPr lang="en-US" b="1" dirty="0">
                <a:ea typeface="Calibri" charset="0"/>
                <a:cs typeface="Calibri" charset="0"/>
              </a:rPr>
              <a:t>8.5</a:t>
            </a:r>
            <a:r>
              <a:rPr lang="en-US" dirty="0">
                <a:ea typeface="Calibri" charset="0"/>
                <a:cs typeface="Calibri" charset="0"/>
              </a:rPr>
              <a:t> Centripetal Acceleration and Tangential Acceleration</a:t>
            </a:r>
            <a:endParaRPr lang="en-US" sz="3000" dirty="0"/>
          </a:p>
        </p:txBody>
      </p:sp>
      <p:pic>
        <p:nvPicPr>
          <p:cNvPr id="6" name="Picture 5">
            <a:extLst>
              <a:ext uri="{FF2B5EF4-FFF2-40B4-BE49-F238E27FC236}">
                <a16:creationId xmlns:a16="http://schemas.microsoft.com/office/drawing/2014/main" id="{1D2A7EDE-A47E-31E1-1BB6-E0409453D5C9}"/>
              </a:ext>
            </a:extLst>
          </p:cNvPr>
          <p:cNvPicPr>
            <a:picLocks noChangeAspect="1"/>
          </p:cNvPicPr>
          <p:nvPr/>
        </p:nvPicPr>
        <p:blipFill>
          <a:blip r:embed="rId3"/>
          <a:srcRect t="51495"/>
          <a:stretch/>
        </p:blipFill>
        <p:spPr>
          <a:xfrm>
            <a:off x="184057" y="652472"/>
            <a:ext cx="2635250" cy="2734215"/>
          </a:xfrm>
          <a:prstGeom prst="rect">
            <a:avLst/>
          </a:prstGeom>
        </p:spPr>
      </p:pic>
      <p:sp>
        <p:nvSpPr>
          <p:cNvPr id="7" name="TextBox 6">
            <a:extLst>
              <a:ext uri="{FF2B5EF4-FFF2-40B4-BE49-F238E27FC236}">
                <a16:creationId xmlns:a16="http://schemas.microsoft.com/office/drawing/2014/main" id="{B637790C-6CD1-557D-CD57-921F9E4DA7C7}"/>
              </a:ext>
            </a:extLst>
          </p:cNvPr>
          <p:cNvSpPr txBox="1"/>
          <p:nvPr/>
        </p:nvSpPr>
        <p:spPr>
          <a:xfrm>
            <a:off x="2914494" y="647396"/>
            <a:ext cx="8730686" cy="830997"/>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Now we want to allow for the possibility that the magnitude of </a:t>
            </a:r>
            <a:r>
              <a:rPr lang="en-US" sz="2400" i="1" dirty="0" err="1">
                <a:latin typeface="Times" pitchFamily="2" charset="0"/>
                <a:cs typeface="Times New Roman" panose="02020603050405020304" pitchFamily="18" charset="0"/>
              </a:rPr>
              <a:t>v</a:t>
            </a:r>
            <a:r>
              <a:rPr lang="en-US" sz="2400" baseline="-25000" dirty="0" err="1">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 can change, i.e. the object is speeding up or slowing down...</a:t>
            </a:r>
            <a:endParaRPr lang="en-US" sz="2400" dirty="0">
              <a:latin typeface="Times" pitchFamily="2" charset="0"/>
            </a:endParaRPr>
          </a:p>
        </p:txBody>
      </p:sp>
      <p:sp>
        <p:nvSpPr>
          <p:cNvPr id="8" name="TextBox 7">
            <a:extLst>
              <a:ext uri="{FF2B5EF4-FFF2-40B4-BE49-F238E27FC236}">
                <a16:creationId xmlns:a16="http://schemas.microsoft.com/office/drawing/2014/main" id="{863EEB32-BCC4-42FD-C2DD-17CD55849332}"/>
              </a:ext>
            </a:extLst>
          </p:cNvPr>
          <p:cNvSpPr txBox="1"/>
          <p:nvPr/>
        </p:nvSpPr>
        <p:spPr>
          <a:xfrm>
            <a:off x="2929734" y="1542746"/>
            <a:ext cx="8730686" cy="461665"/>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This produces an additional component of acceleration, </a:t>
            </a:r>
            <a:r>
              <a:rPr lang="en-US" sz="2400" b="1" dirty="0" err="1">
                <a:latin typeface="Times" pitchFamily="2" charset="0"/>
                <a:cs typeface="Times New Roman" panose="02020603050405020304" pitchFamily="18" charset="0"/>
              </a:rPr>
              <a:t>a</a:t>
            </a:r>
            <a:r>
              <a:rPr lang="en-US" sz="2400" baseline="-25000" dirty="0" err="1">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a:t>
            </a:r>
            <a:endParaRPr lang="en-US" sz="2400" dirty="0">
              <a:latin typeface="Times" pitchFamily="2" charset="0"/>
            </a:endParaRPr>
          </a:p>
        </p:txBody>
      </p:sp>
      <p:grpSp>
        <p:nvGrpSpPr>
          <p:cNvPr id="13" name="Group 12">
            <a:extLst>
              <a:ext uri="{FF2B5EF4-FFF2-40B4-BE49-F238E27FC236}">
                <a16:creationId xmlns:a16="http://schemas.microsoft.com/office/drawing/2014/main" id="{CA52BCD0-E867-EA6E-B787-409E8123E07F}"/>
              </a:ext>
            </a:extLst>
          </p:cNvPr>
          <p:cNvGrpSpPr/>
          <p:nvPr/>
        </p:nvGrpSpPr>
        <p:grpSpPr>
          <a:xfrm>
            <a:off x="2944974" y="2060906"/>
            <a:ext cx="9247026" cy="830997"/>
            <a:chOff x="2944974" y="2060906"/>
            <a:chExt cx="9247026" cy="830997"/>
          </a:xfrm>
        </p:grpSpPr>
        <p:sp>
          <p:nvSpPr>
            <p:cNvPr id="9" name="TextBox 8">
              <a:extLst>
                <a:ext uri="{FF2B5EF4-FFF2-40B4-BE49-F238E27FC236}">
                  <a16:creationId xmlns:a16="http://schemas.microsoft.com/office/drawing/2014/main" id="{E44EACF7-3E58-A3A7-1CDC-9D39FE239562}"/>
                </a:ext>
              </a:extLst>
            </p:cNvPr>
            <p:cNvSpPr txBox="1"/>
            <p:nvPr/>
          </p:nvSpPr>
          <p:spPr>
            <a:xfrm>
              <a:off x="2944974" y="2060906"/>
              <a:ext cx="9247026" cy="830997"/>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The total acceleration will be equal to the                    of </a:t>
              </a:r>
              <a:r>
                <a:rPr lang="en-US" sz="2400" b="1" dirty="0" err="1">
                  <a:latin typeface="Times" pitchFamily="2" charset="0"/>
                  <a:cs typeface="Times New Roman" panose="02020603050405020304" pitchFamily="18" charset="0"/>
                </a:rPr>
                <a:t>a</a:t>
              </a:r>
              <a:r>
                <a:rPr lang="en-US" sz="2400" baseline="-25000" dirty="0" err="1">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 and </a:t>
              </a:r>
              <a:r>
                <a:rPr lang="en-US" sz="2400" b="1" dirty="0">
                  <a:latin typeface="Times" pitchFamily="2" charset="0"/>
                  <a:cs typeface="Times New Roman" panose="02020603050405020304" pitchFamily="18" charset="0"/>
                </a:rPr>
                <a:t>a</a:t>
              </a:r>
              <a:r>
                <a:rPr lang="en-US" sz="2400" baseline="-25000" dirty="0">
                  <a:latin typeface="Times" pitchFamily="2" charset="0"/>
                  <a:cs typeface="Times New Roman" panose="02020603050405020304" pitchFamily="18" charset="0"/>
                </a:rPr>
                <a:t>c</a:t>
              </a:r>
              <a:r>
                <a:rPr lang="en-US" sz="2400" dirty="0">
                  <a:latin typeface="Times" pitchFamily="2" charset="0"/>
                  <a:cs typeface="Times New Roman" panose="02020603050405020304" pitchFamily="18" charset="0"/>
                </a:rPr>
                <a:t>, as shown in the figure.</a:t>
              </a:r>
              <a:endParaRPr lang="en-US" sz="2400" dirty="0">
                <a:latin typeface="Times" pitchFamily="2" charset="0"/>
              </a:endParaRPr>
            </a:p>
          </p:txBody>
        </p:sp>
        <p:sp>
          <p:nvSpPr>
            <p:cNvPr id="11" name="Rounded Rectangle 10">
              <a:extLst>
                <a:ext uri="{FF2B5EF4-FFF2-40B4-BE49-F238E27FC236}">
                  <a16:creationId xmlns:a16="http://schemas.microsoft.com/office/drawing/2014/main" id="{8DCF4DF9-AB58-5879-E7AF-A42E42A843F6}"/>
                </a:ext>
              </a:extLst>
            </p:cNvPr>
            <p:cNvSpPr/>
            <p:nvPr/>
          </p:nvSpPr>
          <p:spPr>
            <a:xfrm>
              <a:off x="8355330" y="2114550"/>
              <a:ext cx="1691640" cy="365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50255CE-B9AE-1FEB-E82E-A2E2C4D0E11B}"/>
              </a:ext>
            </a:extLst>
          </p:cNvPr>
          <p:cNvGrpSpPr/>
          <p:nvPr/>
        </p:nvGrpSpPr>
        <p:grpSpPr>
          <a:xfrm>
            <a:off x="2944974" y="2921966"/>
            <a:ext cx="9247026" cy="1055674"/>
            <a:chOff x="2944974" y="2921966"/>
            <a:chExt cx="9247026" cy="1055674"/>
          </a:xfrm>
        </p:grpSpPr>
        <p:sp>
          <p:nvSpPr>
            <p:cNvPr id="14" name="TextBox 13">
              <a:extLst>
                <a:ext uri="{FF2B5EF4-FFF2-40B4-BE49-F238E27FC236}">
                  <a16:creationId xmlns:a16="http://schemas.microsoft.com/office/drawing/2014/main" id="{4B194A9E-D9B1-AB40-EB4F-CB9B6E9BCDFF}"/>
                </a:ext>
              </a:extLst>
            </p:cNvPr>
            <p:cNvSpPr txBox="1"/>
            <p:nvPr/>
          </p:nvSpPr>
          <p:spPr>
            <a:xfrm>
              <a:off x="2944974" y="2921966"/>
              <a:ext cx="9247026" cy="830997"/>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Since </a:t>
              </a:r>
              <a:r>
                <a:rPr lang="en-US" sz="2400" b="1" dirty="0" err="1">
                  <a:latin typeface="Times" pitchFamily="2" charset="0"/>
                  <a:cs typeface="Times New Roman" panose="02020603050405020304" pitchFamily="18" charset="0"/>
                </a:rPr>
                <a:t>a</a:t>
              </a:r>
              <a:r>
                <a:rPr lang="en-US" sz="2400" baseline="-25000" dirty="0" err="1">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 and </a:t>
              </a:r>
              <a:r>
                <a:rPr lang="en-US" sz="2400" b="1" dirty="0">
                  <a:latin typeface="Times" pitchFamily="2" charset="0"/>
                  <a:cs typeface="Times New Roman" panose="02020603050405020304" pitchFamily="18" charset="0"/>
                </a:rPr>
                <a:t>a</a:t>
              </a:r>
              <a:r>
                <a:rPr lang="en-US" sz="2400" baseline="-25000" dirty="0">
                  <a:latin typeface="Times" pitchFamily="2" charset="0"/>
                  <a:cs typeface="Times New Roman" panose="02020603050405020304" pitchFamily="18" charset="0"/>
                </a:rPr>
                <a:t>c </a:t>
              </a:r>
              <a:r>
                <a:rPr lang="en-US" sz="2400" dirty="0">
                  <a:latin typeface="Times" pitchFamily="2" charset="0"/>
                  <a:cs typeface="Times New Roman" panose="02020603050405020304" pitchFamily="18" charset="0"/>
                </a:rPr>
                <a:t>are perpendicular to each other, we can find their vector sum using the Pythagorean theorem:</a:t>
              </a:r>
              <a:endParaRPr lang="en-US" sz="2400" dirty="0">
                <a:latin typeface="Times" pitchFamily="2" charset="0"/>
              </a:endParaRPr>
            </a:p>
          </p:txBody>
        </p:sp>
        <p:sp>
          <p:nvSpPr>
            <p:cNvPr id="17" name="Rounded Rectangle 16">
              <a:extLst>
                <a:ext uri="{FF2B5EF4-FFF2-40B4-BE49-F238E27FC236}">
                  <a16:creationId xmlns:a16="http://schemas.microsoft.com/office/drawing/2014/main" id="{45AA336B-8CA1-3B84-6CB0-A2D79754E049}"/>
                </a:ext>
              </a:extLst>
            </p:cNvPr>
            <p:cNvSpPr/>
            <p:nvPr/>
          </p:nvSpPr>
          <p:spPr>
            <a:xfrm>
              <a:off x="7669530" y="3303270"/>
              <a:ext cx="2023110" cy="6743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51840790-A9CD-74F7-6F01-7FC13E29DA2B}"/>
              </a:ext>
            </a:extLst>
          </p:cNvPr>
          <p:cNvGrpSpPr/>
          <p:nvPr/>
        </p:nvGrpSpPr>
        <p:grpSpPr>
          <a:xfrm>
            <a:off x="788514" y="4091940"/>
            <a:ext cx="10321446" cy="788670"/>
            <a:chOff x="788514" y="4091940"/>
            <a:chExt cx="10321446" cy="788670"/>
          </a:xfrm>
        </p:grpSpPr>
        <p:sp>
          <p:nvSpPr>
            <p:cNvPr id="21" name="TextBox 20">
              <a:extLst>
                <a:ext uri="{FF2B5EF4-FFF2-40B4-BE49-F238E27FC236}">
                  <a16:creationId xmlns:a16="http://schemas.microsoft.com/office/drawing/2014/main" id="{85113A7E-7BD3-F4DF-D841-650A6160F954}"/>
                </a:ext>
              </a:extLst>
            </p:cNvPr>
            <p:cNvSpPr txBox="1"/>
            <p:nvPr/>
          </p:nvSpPr>
          <p:spPr>
            <a:xfrm>
              <a:off x="788514" y="4251656"/>
              <a:ext cx="9052716" cy="461665"/>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The angle </a:t>
              </a:r>
              <a:r>
                <a:rPr lang="en-US" sz="2400" i="1" dirty="0">
                  <a:latin typeface="Symbol" pitchFamily="2" charset="2"/>
                  <a:cs typeface="Times New Roman" panose="02020603050405020304" pitchFamily="18" charset="0"/>
                </a:rPr>
                <a:t>f</a:t>
              </a:r>
              <a:r>
                <a:rPr lang="en-US" sz="2400" dirty="0">
                  <a:latin typeface="Times" pitchFamily="2" charset="0"/>
                  <a:cs typeface="Times New Roman" panose="02020603050405020304" pitchFamily="18" charset="0"/>
                </a:rPr>
                <a:t> in the figure can be determined using the tangent function:</a:t>
              </a:r>
              <a:endParaRPr lang="en-US" sz="2400" dirty="0">
                <a:latin typeface="Times" pitchFamily="2" charset="0"/>
              </a:endParaRPr>
            </a:p>
          </p:txBody>
        </p:sp>
        <p:sp>
          <p:nvSpPr>
            <p:cNvPr id="24" name="Rounded Rectangle 23">
              <a:extLst>
                <a:ext uri="{FF2B5EF4-FFF2-40B4-BE49-F238E27FC236}">
                  <a16:creationId xmlns:a16="http://schemas.microsoft.com/office/drawing/2014/main" id="{B35F0170-3B0D-1542-909C-DE196DA0ACB7}"/>
                </a:ext>
              </a:extLst>
            </p:cNvPr>
            <p:cNvSpPr/>
            <p:nvPr/>
          </p:nvSpPr>
          <p:spPr>
            <a:xfrm>
              <a:off x="9566910" y="4091940"/>
              <a:ext cx="1543050" cy="7886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A319BA1E-4BCA-2F1A-8B50-43611631DFD3}"/>
              </a:ext>
            </a:extLst>
          </p:cNvPr>
          <p:cNvSpPr txBox="1"/>
          <p:nvPr/>
        </p:nvSpPr>
        <p:spPr>
          <a:xfrm>
            <a:off x="95094" y="4826966"/>
            <a:ext cx="5014116" cy="830997"/>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We can write each of these equations purely in terms of angular variables:</a:t>
            </a:r>
            <a:endParaRPr lang="en-US" sz="2400" dirty="0">
              <a:latin typeface="Times" pitchFamily="2" charset="0"/>
            </a:endParaRPr>
          </a:p>
        </p:txBody>
      </p:sp>
      <p:pic>
        <p:nvPicPr>
          <p:cNvPr id="29" name="Picture 28">
            <a:extLst>
              <a:ext uri="{FF2B5EF4-FFF2-40B4-BE49-F238E27FC236}">
                <a16:creationId xmlns:a16="http://schemas.microsoft.com/office/drawing/2014/main" id="{48D38FEC-1DFC-6A16-A79C-72919B9F24B9}"/>
              </a:ext>
            </a:extLst>
          </p:cNvPr>
          <p:cNvPicPr>
            <a:picLocks noChangeAspect="1"/>
          </p:cNvPicPr>
          <p:nvPr/>
        </p:nvPicPr>
        <p:blipFill>
          <a:blip r:embed="rId4"/>
          <a:stretch>
            <a:fillRect/>
          </a:stretch>
        </p:blipFill>
        <p:spPr>
          <a:xfrm>
            <a:off x="463550" y="5759450"/>
            <a:ext cx="1739900" cy="558800"/>
          </a:xfrm>
          <a:prstGeom prst="rect">
            <a:avLst/>
          </a:prstGeom>
        </p:spPr>
      </p:pic>
      <p:pic>
        <p:nvPicPr>
          <p:cNvPr id="44" name="Picture 43">
            <a:extLst>
              <a:ext uri="{FF2B5EF4-FFF2-40B4-BE49-F238E27FC236}">
                <a16:creationId xmlns:a16="http://schemas.microsoft.com/office/drawing/2014/main" id="{D24DD658-B6E1-0D1B-1E49-F66712E162D4}"/>
              </a:ext>
            </a:extLst>
          </p:cNvPr>
          <p:cNvPicPr>
            <a:picLocks noChangeAspect="1"/>
          </p:cNvPicPr>
          <p:nvPr/>
        </p:nvPicPr>
        <p:blipFill>
          <a:blip r:embed="rId5"/>
          <a:stretch>
            <a:fillRect/>
          </a:stretch>
        </p:blipFill>
        <p:spPr>
          <a:xfrm>
            <a:off x="5341620" y="4885690"/>
            <a:ext cx="1333500" cy="660400"/>
          </a:xfrm>
          <a:prstGeom prst="rect">
            <a:avLst/>
          </a:prstGeom>
        </p:spPr>
      </p:pic>
    </p:spTree>
    <p:extLst>
      <p:ext uri="{BB962C8B-B14F-4D97-AF65-F5344CB8AC3E}">
        <p14:creationId xmlns:p14="http://schemas.microsoft.com/office/powerpoint/2010/main" val="117655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dissolv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dissolve">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dissolv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dissolve">
                                      <p:cBhvr>
                                        <p:cTn id="41" dur="500"/>
                                        <p:tgtEl>
                                          <p:spTgt spid="44"/>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dissolve">
                                      <p:cBhvr>
                                        <p:cTn id="45" dur="500"/>
                                        <p:tgtEl>
                                          <p:spTgt spid="45"/>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dissolve">
                                      <p:cBhvr>
                                        <p:cTn id="50" dur="500"/>
                                        <p:tgtEl>
                                          <p:spTgt spid="29"/>
                                        </p:tgtEl>
                                      </p:cBhvr>
                                    </p:animEffect>
                                  </p:childTnLst>
                                </p:cTn>
                              </p:par>
                            </p:childTnLst>
                          </p:cTn>
                        </p:par>
                        <p:par>
                          <p:cTn id="51" fill="hold">
                            <p:stCondLst>
                              <p:cond delay="500"/>
                            </p:stCondLst>
                            <p:childTnLst>
                              <p:par>
                                <p:cTn id="52" presetID="9" presetClass="entr" presetSubtype="0" fill="hold" grpId="0" nodeType="after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dissolve">
                                      <p:cBhvr>
                                        <p:cTn id="5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2" grpId="0" animBg="1"/>
      <p:bldP spid="7" grpId="0"/>
      <p:bldP spid="8" grpId="0"/>
      <p:bldP spid="2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BA2F8-55D2-3C3B-F1D9-12EC49671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2FF2E-4A54-795A-A144-536A02B3044B}"/>
              </a:ext>
            </a:extLst>
          </p:cNvPr>
          <p:cNvSpPr>
            <a:spLocks noGrp="1"/>
          </p:cNvSpPr>
          <p:nvPr>
            <p:ph type="title"/>
          </p:nvPr>
        </p:nvSpPr>
        <p:spPr>
          <a:xfrm>
            <a:off x="639874" y="157025"/>
            <a:ext cx="10820401" cy="849312"/>
          </a:xfrm>
        </p:spPr>
        <p:txBody>
          <a:bodyPr>
            <a:normAutofit fontScale="90000"/>
          </a:bodyPr>
          <a:lstStyle/>
          <a:p>
            <a:r>
              <a:rPr lang="en-US" b="1" dirty="0">
                <a:ea typeface="Calibri" charset="0"/>
                <a:cs typeface="Calibri" charset="0"/>
              </a:rPr>
              <a:t>8.5</a:t>
            </a:r>
            <a:r>
              <a:rPr lang="en-US" dirty="0">
                <a:ea typeface="Calibri" charset="0"/>
                <a:cs typeface="Calibri" charset="0"/>
              </a:rPr>
              <a:t> Centripetal Acceleration and Tangential Acceleration</a:t>
            </a:r>
            <a:endParaRPr lang="en-US" sz="3000" dirty="0"/>
          </a:p>
        </p:txBody>
      </p:sp>
      <p:sp>
        <p:nvSpPr>
          <p:cNvPr id="3" name="TextBox 2">
            <a:extLst>
              <a:ext uri="{FF2B5EF4-FFF2-40B4-BE49-F238E27FC236}">
                <a16:creationId xmlns:a16="http://schemas.microsoft.com/office/drawing/2014/main" id="{9BC37DB7-06BB-4239-EF3D-D72A9F98E98E}"/>
              </a:ext>
            </a:extLst>
          </p:cNvPr>
          <p:cNvSpPr txBox="1"/>
          <p:nvPr/>
        </p:nvSpPr>
        <p:spPr>
          <a:xfrm>
            <a:off x="908642" y="710007"/>
            <a:ext cx="8759947" cy="523220"/>
          </a:xfrm>
          <a:prstGeom prst="rect">
            <a:avLst/>
          </a:prstGeom>
          <a:noFill/>
        </p:spPr>
        <p:txBody>
          <a:bodyPr wrap="square" rtlCol="0">
            <a:spAutoFit/>
          </a:bodyPr>
          <a:lstStyle/>
          <a:p>
            <a:r>
              <a:rPr lang="en-US" sz="2800" dirty="0">
                <a:solidFill>
                  <a:srgbClr val="C00000"/>
                </a:solidFill>
                <a:latin typeface="Times" pitchFamily="2" charset="0"/>
              </a:rPr>
              <a:t>Example – A Race Car</a:t>
            </a:r>
          </a:p>
        </p:txBody>
      </p:sp>
      <p:sp>
        <p:nvSpPr>
          <p:cNvPr id="5" name="TextBox 4">
            <a:extLst>
              <a:ext uri="{FF2B5EF4-FFF2-40B4-BE49-F238E27FC236}">
                <a16:creationId xmlns:a16="http://schemas.microsoft.com/office/drawing/2014/main" id="{4DA9DDB5-9B0A-A21F-D747-BC08319F6BCB}"/>
              </a:ext>
            </a:extLst>
          </p:cNvPr>
          <p:cNvSpPr txBox="1"/>
          <p:nvPr/>
        </p:nvSpPr>
        <p:spPr>
          <a:xfrm>
            <a:off x="922973" y="1180237"/>
            <a:ext cx="7752398" cy="2677656"/>
          </a:xfrm>
          <a:prstGeom prst="rect">
            <a:avLst/>
          </a:prstGeom>
          <a:noFill/>
        </p:spPr>
        <p:txBody>
          <a:bodyPr wrap="square">
            <a:spAutoFit/>
          </a:bodyPr>
          <a:lstStyle/>
          <a:p>
            <a:pPr algn="just"/>
            <a:r>
              <a:rPr lang="en-US" altLang="en-US" sz="2400" dirty="0">
                <a:latin typeface="Times" pitchFamily="2" charset="0"/>
              </a:rPr>
              <a:t>A race car, starting from rest, travels around a circular turn of radius 22.3 m. At a certain instant, the car is still accelerating, and its angular speed is 0.471 rad/s. At this time, the total acceleration (centripetal plus tangential) makes an angle of 35.0° with respect to the radius.  (</a:t>
            </a:r>
            <a:r>
              <a:rPr lang="en-US" altLang="en-US" sz="2400" b="1" dirty="0">
                <a:latin typeface="Times" pitchFamily="2" charset="0"/>
              </a:rPr>
              <a:t>a</a:t>
            </a:r>
            <a:r>
              <a:rPr lang="en-US" altLang="en-US" sz="2400" dirty="0">
                <a:latin typeface="Times" pitchFamily="2" charset="0"/>
              </a:rPr>
              <a:t>) What is the magnitude of the total acceleration? (</a:t>
            </a:r>
            <a:r>
              <a:rPr lang="en-US" altLang="en-US" sz="2400" b="1" dirty="0">
                <a:latin typeface="Times" pitchFamily="2" charset="0"/>
              </a:rPr>
              <a:t>b</a:t>
            </a:r>
            <a:r>
              <a:rPr lang="en-US" altLang="en-US" sz="2400" dirty="0">
                <a:latin typeface="Times" pitchFamily="2" charset="0"/>
              </a:rPr>
              <a:t>) What is the magnitude of the angular acceleration? </a:t>
            </a:r>
            <a:endParaRPr lang="en-US" sz="2400" dirty="0">
              <a:latin typeface="Times" pitchFamily="2" charset="0"/>
            </a:endParaRPr>
          </a:p>
        </p:txBody>
      </p:sp>
      <p:grpSp>
        <p:nvGrpSpPr>
          <p:cNvPr id="48" name="Group 47">
            <a:extLst>
              <a:ext uri="{FF2B5EF4-FFF2-40B4-BE49-F238E27FC236}">
                <a16:creationId xmlns:a16="http://schemas.microsoft.com/office/drawing/2014/main" id="{9BF0365A-047D-035B-2BC5-F4E8614BC1B4}"/>
              </a:ext>
            </a:extLst>
          </p:cNvPr>
          <p:cNvGrpSpPr/>
          <p:nvPr/>
        </p:nvGrpSpPr>
        <p:grpSpPr>
          <a:xfrm>
            <a:off x="9342120" y="1383030"/>
            <a:ext cx="2328863" cy="1838325"/>
            <a:chOff x="9342120" y="1383030"/>
            <a:chExt cx="2328863" cy="1838325"/>
          </a:xfrm>
        </p:grpSpPr>
        <p:grpSp>
          <p:nvGrpSpPr>
            <p:cNvPr id="40" name="Group 39">
              <a:extLst>
                <a:ext uri="{FF2B5EF4-FFF2-40B4-BE49-F238E27FC236}">
                  <a16:creationId xmlns:a16="http://schemas.microsoft.com/office/drawing/2014/main" id="{BFC570C4-AE1A-42BC-8968-05573E40CBDD}"/>
                </a:ext>
              </a:extLst>
            </p:cNvPr>
            <p:cNvGrpSpPr/>
            <p:nvPr/>
          </p:nvGrpSpPr>
          <p:grpSpPr>
            <a:xfrm>
              <a:off x="9342120" y="1383030"/>
              <a:ext cx="2328863" cy="1838325"/>
              <a:chOff x="9342120" y="1383030"/>
              <a:chExt cx="2328863" cy="1838325"/>
            </a:xfrm>
          </p:grpSpPr>
          <p:grpSp>
            <p:nvGrpSpPr>
              <p:cNvPr id="10" name="Group 9">
                <a:extLst>
                  <a:ext uri="{FF2B5EF4-FFF2-40B4-BE49-F238E27FC236}">
                    <a16:creationId xmlns:a16="http://schemas.microsoft.com/office/drawing/2014/main" id="{59BA69A7-D72B-2E4B-E939-2F200A64900E}"/>
                  </a:ext>
                </a:extLst>
              </p:cNvPr>
              <p:cNvGrpSpPr/>
              <p:nvPr/>
            </p:nvGrpSpPr>
            <p:grpSpPr>
              <a:xfrm>
                <a:off x="9342120" y="1383030"/>
                <a:ext cx="2328863" cy="1838325"/>
                <a:chOff x="152400" y="1828800"/>
                <a:chExt cx="2328863" cy="1838325"/>
              </a:xfrm>
            </p:grpSpPr>
            <p:sp>
              <p:nvSpPr>
                <p:cNvPr id="16" name="Rectangle 5">
                  <a:extLst>
                    <a:ext uri="{FF2B5EF4-FFF2-40B4-BE49-F238E27FC236}">
                      <a16:creationId xmlns:a16="http://schemas.microsoft.com/office/drawing/2014/main" id="{6DA8B147-3285-4C1B-BB8A-12F4C7B9C43F}"/>
                    </a:ext>
                  </a:extLst>
                </p:cNvPr>
                <p:cNvSpPr>
                  <a:spLocks noChangeArrowheads="1"/>
                </p:cNvSpPr>
                <p:nvPr/>
              </p:nvSpPr>
              <p:spPr bwMode="auto">
                <a:xfrm>
                  <a:off x="1447800" y="2066925"/>
                  <a:ext cx="533400" cy="7620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9" name="Oval 6">
                  <a:extLst>
                    <a:ext uri="{FF2B5EF4-FFF2-40B4-BE49-F238E27FC236}">
                      <a16:creationId xmlns:a16="http://schemas.microsoft.com/office/drawing/2014/main" id="{7FB718A3-77EF-007B-0BB6-82A4639C88B4}"/>
                    </a:ext>
                  </a:extLst>
                </p:cNvPr>
                <p:cNvSpPr>
                  <a:spLocks noChangeArrowheads="1"/>
                </p:cNvSpPr>
                <p:nvPr/>
              </p:nvSpPr>
              <p:spPr bwMode="auto">
                <a:xfrm>
                  <a:off x="152400" y="1838325"/>
                  <a:ext cx="1828800" cy="1828800"/>
                </a:xfrm>
                <a:prstGeom prst="ellipse">
                  <a:avLst/>
                </a:prstGeom>
                <a:noFill/>
                <a:ln w="254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0" name="Line 7">
                  <a:extLst>
                    <a:ext uri="{FF2B5EF4-FFF2-40B4-BE49-F238E27FC236}">
                      <a16:creationId xmlns:a16="http://schemas.microsoft.com/office/drawing/2014/main" id="{59489EB2-6773-8E08-53AF-12895A7C1878}"/>
                    </a:ext>
                  </a:extLst>
                </p:cNvPr>
                <p:cNvSpPr>
                  <a:spLocks noChangeShapeType="1"/>
                </p:cNvSpPr>
                <p:nvPr/>
              </p:nvSpPr>
              <p:spPr bwMode="auto">
                <a:xfrm>
                  <a:off x="990600" y="2828925"/>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10">
                  <a:extLst>
                    <a:ext uri="{FF2B5EF4-FFF2-40B4-BE49-F238E27FC236}">
                      <a16:creationId xmlns:a16="http://schemas.microsoft.com/office/drawing/2014/main" id="{83E0919B-BA5E-8653-7FCE-B5FACAC16E3C}"/>
                    </a:ext>
                  </a:extLst>
                </p:cNvPr>
                <p:cNvSpPr>
                  <a:spLocks noChangeShapeType="1"/>
                </p:cNvSpPr>
                <p:nvPr/>
              </p:nvSpPr>
              <p:spPr bwMode="auto">
                <a:xfrm flipV="1">
                  <a:off x="1981200" y="2066925"/>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 name="Line 12">
                  <a:extLst>
                    <a:ext uri="{FF2B5EF4-FFF2-40B4-BE49-F238E27FC236}">
                      <a16:creationId xmlns:a16="http://schemas.microsoft.com/office/drawing/2014/main" id="{9D072E98-CB1D-6511-1048-F1108B76D0FE}"/>
                    </a:ext>
                  </a:extLst>
                </p:cNvPr>
                <p:cNvSpPr>
                  <a:spLocks noChangeShapeType="1"/>
                </p:cNvSpPr>
                <p:nvPr/>
              </p:nvSpPr>
              <p:spPr bwMode="auto">
                <a:xfrm flipH="1">
                  <a:off x="1371600" y="2828925"/>
                  <a:ext cx="609600" cy="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endParaRPr lang="en-US" dirty="0"/>
                </a:p>
              </p:txBody>
            </p:sp>
            <p:sp>
              <p:nvSpPr>
                <p:cNvPr id="31" name="Text Box 13">
                  <a:extLst>
                    <a:ext uri="{FF2B5EF4-FFF2-40B4-BE49-F238E27FC236}">
                      <a16:creationId xmlns:a16="http://schemas.microsoft.com/office/drawing/2014/main" id="{DE02178F-023E-DAFE-2985-E16E3D966026}"/>
                    </a:ext>
                  </a:extLst>
                </p:cNvPr>
                <p:cNvSpPr txBox="1">
                  <a:spLocks noChangeArrowheads="1"/>
                </p:cNvSpPr>
                <p:nvPr/>
              </p:nvSpPr>
              <p:spPr bwMode="auto">
                <a:xfrm>
                  <a:off x="1290638" y="2786063"/>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latin typeface="Times New Roman" panose="02020603050405020304" pitchFamily="18" charset="0"/>
                    </a:rPr>
                    <a:t>a</a:t>
                  </a:r>
                  <a:r>
                    <a:rPr lang="en-US" altLang="en-US" sz="1800" b="1" i="1" baseline="-25000" dirty="0">
                      <a:latin typeface="Times New Roman" panose="02020603050405020304" pitchFamily="18" charset="0"/>
                    </a:rPr>
                    <a:t>c</a:t>
                  </a:r>
                  <a:endParaRPr lang="en-US" altLang="en-US" sz="1800" b="1" i="1" dirty="0">
                    <a:latin typeface="Times New Roman" panose="02020603050405020304" pitchFamily="18" charset="0"/>
                  </a:endParaRPr>
                </a:p>
              </p:txBody>
            </p:sp>
            <p:sp>
              <p:nvSpPr>
                <p:cNvPr id="32" name="Line 14">
                  <a:extLst>
                    <a:ext uri="{FF2B5EF4-FFF2-40B4-BE49-F238E27FC236}">
                      <a16:creationId xmlns:a16="http://schemas.microsoft.com/office/drawing/2014/main" id="{3A33AF28-EC41-B757-963D-D9357B25E187}"/>
                    </a:ext>
                  </a:extLst>
                </p:cNvPr>
                <p:cNvSpPr>
                  <a:spLocks noChangeShapeType="1"/>
                </p:cNvSpPr>
                <p:nvPr/>
              </p:nvSpPr>
              <p:spPr bwMode="auto">
                <a:xfrm flipV="1">
                  <a:off x="1981200" y="2066925"/>
                  <a:ext cx="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endParaRPr lang="en-US"/>
                </a:p>
              </p:txBody>
            </p:sp>
            <p:sp>
              <p:nvSpPr>
                <p:cNvPr id="33" name="Text Box 15">
                  <a:extLst>
                    <a:ext uri="{FF2B5EF4-FFF2-40B4-BE49-F238E27FC236}">
                      <a16:creationId xmlns:a16="http://schemas.microsoft.com/office/drawing/2014/main" id="{3CCF3E40-6A62-124F-4ED9-91CF0D3B1279}"/>
                    </a:ext>
                  </a:extLst>
                </p:cNvPr>
                <p:cNvSpPr txBox="1">
                  <a:spLocks noChangeArrowheads="1"/>
                </p:cNvSpPr>
                <p:nvPr/>
              </p:nvSpPr>
              <p:spPr bwMode="auto">
                <a:xfrm>
                  <a:off x="1947863" y="1828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a:latin typeface="Times New Roman" panose="02020603050405020304" pitchFamily="18" charset="0"/>
                    </a:rPr>
                    <a:t>a</a:t>
                  </a:r>
                  <a:r>
                    <a:rPr lang="en-US" altLang="en-US" sz="1800" b="1" baseline="-25000"/>
                    <a:t>T</a:t>
                  </a:r>
                </a:p>
              </p:txBody>
            </p:sp>
            <p:sp>
              <p:nvSpPr>
                <p:cNvPr id="35" name="Line 16">
                  <a:extLst>
                    <a:ext uri="{FF2B5EF4-FFF2-40B4-BE49-F238E27FC236}">
                      <a16:creationId xmlns:a16="http://schemas.microsoft.com/office/drawing/2014/main" id="{AAEC60C1-8CBA-984D-D8AF-31ACA6E09DFE}"/>
                    </a:ext>
                  </a:extLst>
                </p:cNvPr>
                <p:cNvSpPr>
                  <a:spLocks noChangeShapeType="1"/>
                </p:cNvSpPr>
                <p:nvPr/>
              </p:nvSpPr>
              <p:spPr bwMode="auto">
                <a:xfrm flipH="1" flipV="1">
                  <a:off x="1447800" y="2066925"/>
                  <a:ext cx="53340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endParaRPr lang="en-US"/>
                </a:p>
              </p:txBody>
            </p:sp>
            <p:sp>
              <p:nvSpPr>
                <p:cNvPr id="36" name="Text Box 17">
                  <a:extLst>
                    <a:ext uri="{FF2B5EF4-FFF2-40B4-BE49-F238E27FC236}">
                      <a16:creationId xmlns:a16="http://schemas.microsoft.com/office/drawing/2014/main" id="{181C8BE5-775D-4792-C494-8F4D7A02A543}"/>
                    </a:ext>
                  </a:extLst>
                </p:cNvPr>
                <p:cNvSpPr txBox="1">
                  <a:spLocks noChangeArrowheads="1"/>
                </p:cNvSpPr>
                <p:nvPr/>
              </p:nvSpPr>
              <p:spPr bwMode="auto">
                <a:xfrm>
                  <a:off x="1181100" y="1854518"/>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latin typeface="Times New Roman" panose="02020603050405020304" pitchFamily="18" charset="0"/>
                    </a:rPr>
                    <a:t>a</a:t>
                  </a:r>
                </a:p>
              </p:txBody>
            </p:sp>
            <p:sp>
              <p:nvSpPr>
                <p:cNvPr id="38" name="Text Box 19">
                  <a:extLst>
                    <a:ext uri="{FF2B5EF4-FFF2-40B4-BE49-F238E27FC236}">
                      <a16:creationId xmlns:a16="http://schemas.microsoft.com/office/drawing/2014/main" id="{5F615FF4-DDBC-43F5-2748-07D4453A8561}"/>
                    </a:ext>
                  </a:extLst>
                </p:cNvPr>
                <p:cNvSpPr txBox="1">
                  <a:spLocks noChangeArrowheads="1"/>
                </p:cNvSpPr>
                <p:nvPr/>
              </p:nvSpPr>
              <p:spPr bwMode="auto">
                <a:xfrm>
                  <a:off x="1406862" y="2529920"/>
                  <a:ext cx="51585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200" dirty="0"/>
                    <a:t>35</a:t>
                  </a:r>
                  <a:r>
                    <a:rPr lang="en-US" altLang="en-US" sz="1200" baseline="30000" dirty="0"/>
                    <a:t>o</a:t>
                  </a:r>
                  <a:endParaRPr lang="en-US" altLang="en-US" sz="1200" dirty="0"/>
                </a:p>
              </p:txBody>
            </p:sp>
          </p:grpSp>
          <p:sp>
            <p:nvSpPr>
              <p:cNvPr id="39" name="Freeform 38">
                <a:extLst>
                  <a:ext uri="{FF2B5EF4-FFF2-40B4-BE49-F238E27FC236}">
                    <a16:creationId xmlns:a16="http://schemas.microsoft.com/office/drawing/2014/main" id="{1FF668BB-0DA4-D3EA-BF64-5FA3A5BA1AD9}"/>
                  </a:ext>
                </a:extLst>
              </p:cNvPr>
              <p:cNvSpPr/>
              <p:nvPr/>
            </p:nvSpPr>
            <p:spPr>
              <a:xfrm>
                <a:off x="10936066" y="2166633"/>
                <a:ext cx="59256" cy="202699"/>
              </a:xfrm>
              <a:custGeom>
                <a:avLst/>
                <a:gdLst>
                  <a:gd name="connsiteX0" fmla="*/ 59256 w 59256"/>
                  <a:gd name="connsiteY0" fmla="*/ 0 h 202699"/>
                  <a:gd name="connsiteX1" fmla="*/ 699 w 59256"/>
                  <a:gd name="connsiteY1" fmla="*/ 103601 h 202699"/>
                  <a:gd name="connsiteX2" fmla="*/ 32230 w 59256"/>
                  <a:gd name="connsiteY2" fmla="*/ 202699 h 202699"/>
                </a:gdLst>
                <a:ahLst/>
                <a:cxnLst>
                  <a:cxn ang="0">
                    <a:pos x="connsiteX0" y="connsiteY0"/>
                  </a:cxn>
                  <a:cxn ang="0">
                    <a:pos x="connsiteX1" y="connsiteY1"/>
                  </a:cxn>
                  <a:cxn ang="0">
                    <a:pos x="connsiteX2" y="connsiteY2"/>
                  </a:cxn>
                </a:cxnLst>
                <a:rect l="l" t="t" r="r" b="b"/>
                <a:pathLst>
                  <a:path w="59256" h="202699">
                    <a:moveTo>
                      <a:pt x="59256" y="0"/>
                    </a:moveTo>
                    <a:cubicBezTo>
                      <a:pt x="32229" y="34909"/>
                      <a:pt x="5203" y="69818"/>
                      <a:pt x="699" y="103601"/>
                    </a:cubicBezTo>
                    <a:cubicBezTo>
                      <a:pt x="-3805" y="137384"/>
                      <a:pt x="14212" y="170041"/>
                      <a:pt x="32230" y="20269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386" name="Picture 2">
              <a:extLst>
                <a:ext uri="{FF2B5EF4-FFF2-40B4-BE49-F238E27FC236}">
                  <a16:creationId xmlns:a16="http://schemas.microsoft.com/office/drawing/2014/main" id="{37107E12-8DD7-DFA8-4E30-C145FF198913}"/>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8142" b="93451" l="4286" r="94405">
                          <a14:foregroundMark x1="83810" y1="29027" x2="83810" y2="29027"/>
                          <a14:foregroundMark x1="83571" y1="15575" x2="83571" y2="15575"/>
                          <a14:foregroundMark x1="74524" y1="11504" x2="74524" y2="11504"/>
                          <a14:foregroundMark x1="67976" y1="11858" x2="67976" y2="11858"/>
                          <a14:foregroundMark x1="65952" y1="19823" x2="65952" y2="19823"/>
                          <a14:foregroundMark x1="66190" y1="28496" x2="66190" y2="28496"/>
                          <a14:foregroundMark x1="70833" y1="29381" x2="70833" y2="29381"/>
                          <a14:foregroundMark x1="76905" y1="29204" x2="76905" y2="29204"/>
                          <a14:foregroundMark x1="81429" y1="30088" x2="81429" y2="30088"/>
                          <a14:foregroundMark x1="24167" y1="9381" x2="24167" y2="9381"/>
                          <a14:foregroundMark x1="66667" y1="75221" x2="66667" y2="75221"/>
                          <a14:foregroundMark x1="66667" y1="82301" x2="66667" y2="82301"/>
                          <a14:foregroundMark x1="67024" y1="87788" x2="67024" y2="87788"/>
                          <a14:foregroundMark x1="74643" y1="88496" x2="74643" y2="88496"/>
                          <a14:foregroundMark x1="79762" y1="88673" x2="79762" y2="88673"/>
                          <a14:foregroundMark x1="83690" y1="88496" x2="83690" y2="88496"/>
                          <a14:foregroundMark x1="84762" y1="83540" x2="84762" y2="83540"/>
                          <a14:foregroundMark x1="84405" y1="78407" x2="84405" y2="78407"/>
                          <a14:foregroundMark x1="84048" y1="73982" x2="84048" y2="73982"/>
                          <a14:foregroundMark x1="79524" y1="73628" x2="79524" y2="73628"/>
                          <a14:foregroundMark x1="74405" y1="73451" x2="74405" y2="73451"/>
                          <a14:foregroundMark x1="71310" y1="73628" x2="71310" y2="73628"/>
                          <a14:foregroundMark x1="67024" y1="73628" x2="67024" y2="73628"/>
                          <a14:foregroundMark x1="66429" y1="76991" x2="66429" y2="76991"/>
                          <a14:foregroundMark x1="66190" y1="82301" x2="66190" y2="82301"/>
                          <a14:foregroundMark x1="66429" y1="86372" x2="66429" y2="86372"/>
                          <a14:foregroundMark x1="66429" y1="89204" x2="66429" y2="89204"/>
                          <a14:foregroundMark x1="82024" y1="91504" x2="82024" y2="91504"/>
                          <a14:foregroundMark x1="76429" y1="91150" x2="76429" y2="91150"/>
                          <a14:foregroundMark x1="71786" y1="91504" x2="71786" y2="91504"/>
                          <a14:foregroundMark x1="69048" y1="91504" x2="69048" y2="91504"/>
                          <a14:foregroundMark x1="67500" y1="91504" x2="67500" y2="91504"/>
                          <a14:foregroundMark x1="66429" y1="84779" x2="66429" y2="84779"/>
                          <a14:foregroundMark x1="66190" y1="79823" x2="66190" y2="79823"/>
                          <a14:foregroundMark x1="66429" y1="76460" x2="66429" y2="76460"/>
                          <a14:foregroundMark x1="68690" y1="73451" x2="68690" y2="73451"/>
                          <a14:foregroundMark x1="75119" y1="73274" x2="75119" y2="73274"/>
                          <a14:foregroundMark x1="80119" y1="72920" x2="80119" y2="72920"/>
                          <a14:foregroundMark x1="83929" y1="73451" x2="83929" y2="73451"/>
                          <a14:foregroundMark x1="84643" y1="75575" x2="84643" y2="75575"/>
                          <a14:foregroundMark x1="84762" y1="80354" x2="84762" y2="80354"/>
                          <a14:foregroundMark x1="79643" y1="29912" x2="79643" y2="29912"/>
                          <a14:foregroundMark x1="74762" y1="29912" x2="74762" y2="29912"/>
                          <a14:foregroundMark x1="68690" y1="29735" x2="68690" y2="29735"/>
                          <a14:foregroundMark x1="66786" y1="27788" x2="66786" y2="27788"/>
                          <a14:foregroundMark x1="66190" y1="24248" x2="66190" y2="24248"/>
                          <a14:foregroundMark x1="66190" y1="19115" x2="66190" y2="19115"/>
                          <a14:foregroundMark x1="66429" y1="16106" x2="66429" y2="16106"/>
                          <a14:foregroundMark x1="66548" y1="12389" x2="66548" y2="12389"/>
                          <a14:foregroundMark x1="69405" y1="11327" x2="69405" y2="11327"/>
                          <a14:foregroundMark x1="73929" y1="11504" x2="73929" y2="11504"/>
                          <a14:foregroundMark x1="77262" y1="11504" x2="77262" y2="11504"/>
                          <a14:foregroundMark x1="79048" y1="11504" x2="79048" y2="11504"/>
                          <a14:foregroundMark x1="80476" y1="11504" x2="80476" y2="11504"/>
                          <a14:foregroundMark x1="83095" y1="11681" x2="83095" y2="11681"/>
                          <a14:foregroundMark x1="84167" y1="12212" x2="84167" y2="12212"/>
                          <a14:foregroundMark x1="84762" y1="15044" x2="84762" y2="15044"/>
                          <a14:foregroundMark x1="84881" y1="20354" x2="84881" y2="20354"/>
                          <a14:foregroundMark x1="84762" y1="24602" x2="84762" y2="24602"/>
                          <a14:foregroundMark x1="15476" y1="18053" x2="15476" y2="18053"/>
                          <a14:foregroundMark x1="12143" y1="18053" x2="12143" y2="18053"/>
                          <a14:foregroundMark x1="10714" y1="17522" x2="10714" y2="17522"/>
                          <a14:foregroundMark x1="10952" y1="12566" x2="10952" y2="12566"/>
                          <a14:foregroundMark x1="11548" y1="9381" x2="11548" y2="9381"/>
                          <a14:foregroundMark x1="14762" y1="8142" x2="14762" y2="8142"/>
                          <a14:foregroundMark x1="28333" y1="94159" x2="28333" y2="94159"/>
                          <a14:foregroundMark x1="8810" y1="20708" x2="8810" y2="20708"/>
                          <a14:foregroundMark x1="4286" y1="20354" x2="4286" y2="20354"/>
                          <a14:foregroundMark x1="88214" y1="43186" x2="88214" y2="43186"/>
                          <a14:foregroundMark x1="87976" y1="34690" x2="87976" y2="34690"/>
                          <a14:foregroundMark x1="88333" y1="25841" x2="88333" y2="25841"/>
                          <a14:foregroundMark x1="88095" y1="20885" x2="88095" y2="20885"/>
                          <a14:foregroundMark x1="91429" y1="20177" x2="91429" y2="20177"/>
                          <a14:foregroundMark x1="94405" y1="20177" x2="94405" y2="20177"/>
                        </a14:backgroundRemoval>
                      </a14:imgEffect>
                    </a14:imgLayer>
                  </a14:imgProps>
                </a:ext>
                <a:ext uri="{28A0092B-C50C-407E-A947-70E740481C1C}">
                  <a14:useLocalDpi xmlns:a14="http://schemas.microsoft.com/office/drawing/2010/main" val="0"/>
                </a:ext>
              </a:extLst>
            </a:blip>
            <a:srcRect/>
            <a:stretch>
              <a:fillRect/>
            </a:stretch>
          </p:blipFill>
          <p:spPr bwMode="auto">
            <a:xfrm rot="16200000" flipV="1">
              <a:off x="11062496" y="2300170"/>
              <a:ext cx="219245" cy="147461"/>
            </a:xfrm>
            <a:prstGeom prst="rect">
              <a:avLst/>
            </a:prstGeom>
            <a:noFill/>
            <a:extLst>
              <a:ext uri="{909E8E84-426E-40DD-AFC4-6F175D3DCCD1}">
                <a14:hiddenFill xmlns:a14="http://schemas.microsoft.com/office/drawing/2010/main">
                  <a:solidFill>
                    <a:srgbClr val="FFFFFF"/>
                  </a:solidFill>
                </a14:hiddenFill>
              </a:ext>
            </a:extLst>
          </p:spPr>
        </p:pic>
      </p:grpSp>
      <p:sp>
        <p:nvSpPr>
          <p:cNvPr id="49" name="TextBox 48">
            <a:extLst>
              <a:ext uri="{FF2B5EF4-FFF2-40B4-BE49-F238E27FC236}">
                <a16:creationId xmlns:a16="http://schemas.microsoft.com/office/drawing/2014/main" id="{7BA15E38-EF93-A16C-D832-B4FB324CAFEB}"/>
              </a:ext>
            </a:extLst>
          </p:cNvPr>
          <p:cNvSpPr txBox="1"/>
          <p:nvPr/>
        </p:nvSpPr>
        <p:spPr>
          <a:xfrm>
            <a:off x="899651" y="3982065"/>
            <a:ext cx="10825317" cy="830997"/>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a</a:t>
            </a:r>
            <a:r>
              <a:rPr lang="en-US" sz="2400" dirty="0">
                <a:latin typeface="Times" pitchFamily="2" charset="0"/>
              </a:rPr>
              <a:t>) From the figure, we see that the total acceleration (</a:t>
            </a:r>
            <a:r>
              <a:rPr lang="en-US" sz="2400" i="1" dirty="0">
                <a:latin typeface="Times" pitchFamily="2" charset="0"/>
              </a:rPr>
              <a:t>a</a:t>
            </a:r>
            <a:r>
              <a:rPr lang="en-US" sz="2400" dirty="0">
                <a:latin typeface="Times" pitchFamily="2" charset="0"/>
              </a:rPr>
              <a:t>) corresponds to the hypotenuse of a right triangle containing </a:t>
            </a:r>
            <a:r>
              <a:rPr lang="en-US" sz="2400" i="1" dirty="0" err="1">
                <a:latin typeface="Times" pitchFamily="2" charset="0"/>
              </a:rPr>
              <a:t>a</a:t>
            </a:r>
            <a:r>
              <a:rPr lang="en-US" sz="2400" baseline="-25000" dirty="0" err="1">
                <a:latin typeface="Times" pitchFamily="2" charset="0"/>
              </a:rPr>
              <a:t>T</a:t>
            </a:r>
            <a:r>
              <a:rPr lang="en-US" sz="2400" dirty="0">
                <a:latin typeface="Times" pitchFamily="2" charset="0"/>
              </a:rPr>
              <a:t> and </a:t>
            </a:r>
            <a:r>
              <a:rPr lang="en-US" sz="2400" i="1" dirty="0">
                <a:latin typeface="Times" pitchFamily="2" charset="0"/>
              </a:rPr>
              <a:t>a</a:t>
            </a:r>
            <a:r>
              <a:rPr lang="en-US" sz="2400" baseline="-25000" dirty="0">
                <a:latin typeface="Times" pitchFamily="2" charset="0"/>
              </a:rPr>
              <a:t>c</a:t>
            </a:r>
            <a:r>
              <a:rPr lang="en-US" sz="2400" dirty="0">
                <a:latin typeface="Times" pitchFamily="2" charset="0"/>
              </a:rPr>
              <a:t>.</a:t>
            </a:r>
          </a:p>
        </p:txBody>
      </p:sp>
      <p:sp>
        <p:nvSpPr>
          <p:cNvPr id="50" name="TextBox 49">
            <a:extLst>
              <a:ext uri="{FF2B5EF4-FFF2-40B4-BE49-F238E27FC236}">
                <a16:creationId xmlns:a16="http://schemas.microsoft.com/office/drawing/2014/main" id="{5E3B994D-4A95-8811-3051-A520F68A131D}"/>
              </a:ext>
            </a:extLst>
          </p:cNvPr>
          <p:cNvSpPr txBox="1"/>
          <p:nvPr/>
        </p:nvSpPr>
        <p:spPr>
          <a:xfrm>
            <a:off x="904567" y="4886633"/>
            <a:ext cx="10825317" cy="461665"/>
          </a:xfrm>
          <a:prstGeom prst="rect">
            <a:avLst/>
          </a:prstGeom>
          <a:noFill/>
        </p:spPr>
        <p:txBody>
          <a:bodyPr wrap="square" rtlCol="0">
            <a:spAutoFit/>
          </a:bodyPr>
          <a:lstStyle/>
          <a:p>
            <a:r>
              <a:rPr lang="en-US" sz="2400" dirty="0">
                <a:latin typeface="Times" pitchFamily="2" charset="0"/>
              </a:rPr>
              <a:t>Let’s write </a:t>
            </a:r>
            <a:r>
              <a:rPr lang="en-US" sz="2400" i="1" dirty="0">
                <a:latin typeface="Times" pitchFamily="2" charset="0"/>
              </a:rPr>
              <a:t>a</a:t>
            </a:r>
            <a:r>
              <a:rPr lang="en-US" sz="2400" dirty="0">
                <a:latin typeface="Times" pitchFamily="2" charset="0"/>
              </a:rPr>
              <a:t> in terms of </a:t>
            </a:r>
            <a:r>
              <a:rPr lang="en-US" sz="2400" i="1" dirty="0">
                <a:latin typeface="Times" pitchFamily="2" charset="0"/>
              </a:rPr>
              <a:t>a</a:t>
            </a:r>
            <a:r>
              <a:rPr lang="en-US" sz="2400" baseline="-25000" dirty="0">
                <a:latin typeface="Times" pitchFamily="2" charset="0"/>
              </a:rPr>
              <a:t>c</a:t>
            </a:r>
            <a:r>
              <a:rPr lang="en-US" sz="2400" dirty="0">
                <a:latin typeface="Times" pitchFamily="2" charset="0"/>
              </a:rPr>
              <a:t>, since we know </a:t>
            </a:r>
            <a:r>
              <a:rPr lang="en-US" sz="2400" i="1" dirty="0">
                <a:latin typeface="Symbol" pitchFamily="2" charset="2"/>
              </a:rPr>
              <a:t>w</a:t>
            </a:r>
            <a:r>
              <a:rPr lang="en-US" sz="2400" dirty="0">
                <a:latin typeface="Times" pitchFamily="2" charset="0"/>
              </a:rPr>
              <a:t>:</a:t>
            </a:r>
          </a:p>
        </p:txBody>
      </p:sp>
      <p:sp>
        <p:nvSpPr>
          <p:cNvPr id="51" name="Rounded Rectangle 50">
            <a:extLst>
              <a:ext uri="{FF2B5EF4-FFF2-40B4-BE49-F238E27FC236}">
                <a16:creationId xmlns:a16="http://schemas.microsoft.com/office/drawing/2014/main" id="{F2D3A4AB-3E75-C1E1-A34C-5ABF6125E436}"/>
              </a:ext>
            </a:extLst>
          </p:cNvPr>
          <p:cNvSpPr/>
          <p:nvPr/>
        </p:nvSpPr>
        <p:spPr>
          <a:xfrm>
            <a:off x="6695768" y="4778477"/>
            <a:ext cx="5220929"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ounded Rectangle 54">
            <a:extLst>
              <a:ext uri="{FF2B5EF4-FFF2-40B4-BE49-F238E27FC236}">
                <a16:creationId xmlns:a16="http://schemas.microsoft.com/office/drawing/2014/main" id="{9FE606CC-1EFC-4997-6B00-74FC7A519648}"/>
              </a:ext>
            </a:extLst>
          </p:cNvPr>
          <p:cNvSpPr/>
          <p:nvPr/>
        </p:nvSpPr>
        <p:spPr>
          <a:xfrm>
            <a:off x="993059" y="5461819"/>
            <a:ext cx="4729316"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574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dissolve">
                                      <p:cBhvr>
                                        <p:cTn id="12" dur="500"/>
                                        <p:tgtEl>
                                          <p:spTgt spid="50"/>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dissolve">
                                      <p:cBhvr>
                                        <p:cTn id="16" dur="500"/>
                                        <p:tgtEl>
                                          <p:spTgt spid="51"/>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dissolve">
                                      <p:cBhvr>
                                        <p:cTn id="2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animBg="1"/>
      <p:bldP spid="5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94980-2AA9-2A6B-0758-2CD9E0B16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C1727-3FA8-8D0E-9BEC-0BF13942E4E3}"/>
              </a:ext>
            </a:extLst>
          </p:cNvPr>
          <p:cNvSpPr>
            <a:spLocks noGrp="1"/>
          </p:cNvSpPr>
          <p:nvPr>
            <p:ph type="title"/>
          </p:nvPr>
        </p:nvSpPr>
        <p:spPr>
          <a:xfrm>
            <a:off x="639874" y="171774"/>
            <a:ext cx="10820401" cy="849312"/>
          </a:xfrm>
        </p:spPr>
        <p:txBody>
          <a:bodyPr>
            <a:normAutofit fontScale="90000"/>
          </a:bodyPr>
          <a:lstStyle/>
          <a:p>
            <a:r>
              <a:rPr lang="en-US" b="1" dirty="0">
                <a:ea typeface="Calibri" charset="0"/>
                <a:cs typeface="Calibri" charset="0"/>
              </a:rPr>
              <a:t>8.5</a:t>
            </a:r>
            <a:r>
              <a:rPr lang="en-US" dirty="0">
                <a:ea typeface="Calibri" charset="0"/>
                <a:cs typeface="Calibri" charset="0"/>
              </a:rPr>
              <a:t> Centripetal Acceleration and Tangential Acceleration</a:t>
            </a:r>
            <a:endParaRPr lang="en-US" sz="3000" dirty="0"/>
          </a:p>
        </p:txBody>
      </p:sp>
      <p:sp>
        <p:nvSpPr>
          <p:cNvPr id="3" name="TextBox 2">
            <a:extLst>
              <a:ext uri="{FF2B5EF4-FFF2-40B4-BE49-F238E27FC236}">
                <a16:creationId xmlns:a16="http://schemas.microsoft.com/office/drawing/2014/main" id="{A6969C33-4AC6-0943-05D9-C2B3C0B37C79}"/>
              </a:ext>
            </a:extLst>
          </p:cNvPr>
          <p:cNvSpPr txBox="1"/>
          <p:nvPr/>
        </p:nvSpPr>
        <p:spPr>
          <a:xfrm>
            <a:off x="908642" y="710007"/>
            <a:ext cx="8759947" cy="523220"/>
          </a:xfrm>
          <a:prstGeom prst="rect">
            <a:avLst/>
          </a:prstGeom>
          <a:noFill/>
        </p:spPr>
        <p:txBody>
          <a:bodyPr wrap="square" rtlCol="0">
            <a:spAutoFit/>
          </a:bodyPr>
          <a:lstStyle/>
          <a:p>
            <a:r>
              <a:rPr lang="en-US" sz="2800" dirty="0">
                <a:solidFill>
                  <a:srgbClr val="C00000"/>
                </a:solidFill>
                <a:latin typeface="Times" pitchFamily="2" charset="0"/>
              </a:rPr>
              <a:t>Example – A Race Car</a:t>
            </a:r>
          </a:p>
        </p:txBody>
      </p:sp>
      <p:sp>
        <p:nvSpPr>
          <p:cNvPr id="5" name="TextBox 4">
            <a:extLst>
              <a:ext uri="{FF2B5EF4-FFF2-40B4-BE49-F238E27FC236}">
                <a16:creationId xmlns:a16="http://schemas.microsoft.com/office/drawing/2014/main" id="{3F608279-DC3B-EC30-FD96-8948C1A2ABD2}"/>
              </a:ext>
            </a:extLst>
          </p:cNvPr>
          <p:cNvSpPr txBox="1"/>
          <p:nvPr/>
        </p:nvSpPr>
        <p:spPr>
          <a:xfrm>
            <a:off x="922973" y="1180237"/>
            <a:ext cx="7752398" cy="2677656"/>
          </a:xfrm>
          <a:prstGeom prst="rect">
            <a:avLst/>
          </a:prstGeom>
          <a:noFill/>
        </p:spPr>
        <p:txBody>
          <a:bodyPr wrap="square">
            <a:spAutoFit/>
          </a:bodyPr>
          <a:lstStyle/>
          <a:p>
            <a:pPr algn="just"/>
            <a:r>
              <a:rPr lang="en-US" altLang="en-US" sz="2400" dirty="0">
                <a:latin typeface="Times" pitchFamily="2" charset="0"/>
              </a:rPr>
              <a:t>A race car, starting from rest, travels around a circular turn of radius 22.3 m. At a certain instant, the car is still accelerating, and its angular speed is 0.471 rad/s. At this time, the total acceleration (centripetal plus tangential) makes an angle of 35.0° with respect to the radius.  (</a:t>
            </a:r>
            <a:r>
              <a:rPr lang="en-US" altLang="en-US" sz="2400" b="1" dirty="0">
                <a:latin typeface="Times" pitchFamily="2" charset="0"/>
              </a:rPr>
              <a:t>a</a:t>
            </a:r>
            <a:r>
              <a:rPr lang="en-US" altLang="en-US" sz="2400" dirty="0">
                <a:latin typeface="Times" pitchFamily="2" charset="0"/>
              </a:rPr>
              <a:t>) What is the magnitude of the total acceleration? (</a:t>
            </a:r>
            <a:r>
              <a:rPr lang="en-US" altLang="en-US" sz="2400" b="1" dirty="0">
                <a:latin typeface="Times" pitchFamily="2" charset="0"/>
              </a:rPr>
              <a:t>b</a:t>
            </a:r>
            <a:r>
              <a:rPr lang="en-US" altLang="en-US" sz="2400" dirty="0">
                <a:latin typeface="Times" pitchFamily="2" charset="0"/>
              </a:rPr>
              <a:t>) What is the magnitude of the angular acceleration? </a:t>
            </a:r>
            <a:endParaRPr lang="en-US" sz="2400" dirty="0">
              <a:latin typeface="Times" pitchFamily="2" charset="0"/>
            </a:endParaRPr>
          </a:p>
        </p:txBody>
      </p:sp>
      <p:grpSp>
        <p:nvGrpSpPr>
          <p:cNvPr id="48" name="Group 47">
            <a:extLst>
              <a:ext uri="{FF2B5EF4-FFF2-40B4-BE49-F238E27FC236}">
                <a16:creationId xmlns:a16="http://schemas.microsoft.com/office/drawing/2014/main" id="{B1BA2D42-B8B7-CD74-7895-E999E0408659}"/>
              </a:ext>
            </a:extLst>
          </p:cNvPr>
          <p:cNvGrpSpPr/>
          <p:nvPr/>
        </p:nvGrpSpPr>
        <p:grpSpPr>
          <a:xfrm>
            <a:off x="9342120" y="1383030"/>
            <a:ext cx="2328863" cy="1838325"/>
            <a:chOff x="9342120" y="1383030"/>
            <a:chExt cx="2328863" cy="1838325"/>
          </a:xfrm>
        </p:grpSpPr>
        <p:grpSp>
          <p:nvGrpSpPr>
            <p:cNvPr id="40" name="Group 39">
              <a:extLst>
                <a:ext uri="{FF2B5EF4-FFF2-40B4-BE49-F238E27FC236}">
                  <a16:creationId xmlns:a16="http://schemas.microsoft.com/office/drawing/2014/main" id="{8BF5FBBC-C24F-E61A-79AF-088804FE82D7}"/>
                </a:ext>
              </a:extLst>
            </p:cNvPr>
            <p:cNvGrpSpPr/>
            <p:nvPr/>
          </p:nvGrpSpPr>
          <p:grpSpPr>
            <a:xfrm>
              <a:off x="9342120" y="1383030"/>
              <a:ext cx="2328863" cy="1838325"/>
              <a:chOff x="9342120" y="1383030"/>
              <a:chExt cx="2328863" cy="1838325"/>
            </a:xfrm>
          </p:grpSpPr>
          <p:grpSp>
            <p:nvGrpSpPr>
              <p:cNvPr id="10" name="Group 9">
                <a:extLst>
                  <a:ext uri="{FF2B5EF4-FFF2-40B4-BE49-F238E27FC236}">
                    <a16:creationId xmlns:a16="http://schemas.microsoft.com/office/drawing/2014/main" id="{D419FC46-AB53-0B47-B879-C84E1653F12D}"/>
                  </a:ext>
                </a:extLst>
              </p:cNvPr>
              <p:cNvGrpSpPr/>
              <p:nvPr/>
            </p:nvGrpSpPr>
            <p:grpSpPr>
              <a:xfrm>
                <a:off x="9342120" y="1383030"/>
                <a:ext cx="2328863" cy="1838325"/>
                <a:chOff x="152400" y="1828800"/>
                <a:chExt cx="2328863" cy="1838325"/>
              </a:xfrm>
            </p:grpSpPr>
            <p:sp>
              <p:nvSpPr>
                <p:cNvPr id="16" name="Rectangle 5">
                  <a:extLst>
                    <a:ext uri="{FF2B5EF4-FFF2-40B4-BE49-F238E27FC236}">
                      <a16:creationId xmlns:a16="http://schemas.microsoft.com/office/drawing/2014/main" id="{A22FEB4F-FB69-7D30-2CE9-4AEAD3CB208E}"/>
                    </a:ext>
                  </a:extLst>
                </p:cNvPr>
                <p:cNvSpPr>
                  <a:spLocks noChangeArrowheads="1"/>
                </p:cNvSpPr>
                <p:nvPr/>
              </p:nvSpPr>
              <p:spPr bwMode="auto">
                <a:xfrm>
                  <a:off x="1447800" y="2066925"/>
                  <a:ext cx="533400" cy="7620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9" name="Oval 6">
                  <a:extLst>
                    <a:ext uri="{FF2B5EF4-FFF2-40B4-BE49-F238E27FC236}">
                      <a16:creationId xmlns:a16="http://schemas.microsoft.com/office/drawing/2014/main" id="{555B046B-8D93-3E56-73C1-ABE55EAEEF9F}"/>
                    </a:ext>
                  </a:extLst>
                </p:cNvPr>
                <p:cNvSpPr>
                  <a:spLocks noChangeArrowheads="1"/>
                </p:cNvSpPr>
                <p:nvPr/>
              </p:nvSpPr>
              <p:spPr bwMode="auto">
                <a:xfrm>
                  <a:off x="152400" y="1838325"/>
                  <a:ext cx="1828800" cy="1828800"/>
                </a:xfrm>
                <a:prstGeom prst="ellipse">
                  <a:avLst/>
                </a:prstGeom>
                <a:noFill/>
                <a:ln w="254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0" name="Line 7">
                  <a:extLst>
                    <a:ext uri="{FF2B5EF4-FFF2-40B4-BE49-F238E27FC236}">
                      <a16:creationId xmlns:a16="http://schemas.microsoft.com/office/drawing/2014/main" id="{F9BE2BED-3D43-9785-3C41-C20372389D7A}"/>
                    </a:ext>
                  </a:extLst>
                </p:cNvPr>
                <p:cNvSpPr>
                  <a:spLocks noChangeShapeType="1"/>
                </p:cNvSpPr>
                <p:nvPr/>
              </p:nvSpPr>
              <p:spPr bwMode="auto">
                <a:xfrm>
                  <a:off x="990600" y="2828925"/>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10">
                  <a:extLst>
                    <a:ext uri="{FF2B5EF4-FFF2-40B4-BE49-F238E27FC236}">
                      <a16:creationId xmlns:a16="http://schemas.microsoft.com/office/drawing/2014/main" id="{C1AFE049-80FC-B6A0-8CFB-DA95621F8195}"/>
                    </a:ext>
                  </a:extLst>
                </p:cNvPr>
                <p:cNvSpPr>
                  <a:spLocks noChangeShapeType="1"/>
                </p:cNvSpPr>
                <p:nvPr/>
              </p:nvSpPr>
              <p:spPr bwMode="auto">
                <a:xfrm flipV="1">
                  <a:off x="1981200" y="2066925"/>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 name="Line 12">
                  <a:extLst>
                    <a:ext uri="{FF2B5EF4-FFF2-40B4-BE49-F238E27FC236}">
                      <a16:creationId xmlns:a16="http://schemas.microsoft.com/office/drawing/2014/main" id="{E873627E-D51F-913D-4851-D62FDC0C863E}"/>
                    </a:ext>
                  </a:extLst>
                </p:cNvPr>
                <p:cNvSpPr>
                  <a:spLocks noChangeShapeType="1"/>
                </p:cNvSpPr>
                <p:nvPr/>
              </p:nvSpPr>
              <p:spPr bwMode="auto">
                <a:xfrm flipH="1">
                  <a:off x="1371600" y="2828925"/>
                  <a:ext cx="609600" cy="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endParaRPr lang="en-US" dirty="0"/>
                </a:p>
              </p:txBody>
            </p:sp>
            <p:sp>
              <p:nvSpPr>
                <p:cNvPr id="31" name="Text Box 13">
                  <a:extLst>
                    <a:ext uri="{FF2B5EF4-FFF2-40B4-BE49-F238E27FC236}">
                      <a16:creationId xmlns:a16="http://schemas.microsoft.com/office/drawing/2014/main" id="{BC932F90-2BC0-C416-3B21-65078D36B01E}"/>
                    </a:ext>
                  </a:extLst>
                </p:cNvPr>
                <p:cNvSpPr txBox="1">
                  <a:spLocks noChangeArrowheads="1"/>
                </p:cNvSpPr>
                <p:nvPr/>
              </p:nvSpPr>
              <p:spPr bwMode="auto">
                <a:xfrm>
                  <a:off x="1290638" y="2786063"/>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latin typeface="Times New Roman" panose="02020603050405020304" pitchFamily="18" charset="0"/>
                    </a:rPr>
                    <a:t>a</a:t>
                  </a:r>
                  <a:r>
                    <a:rPr lang="en-US" altLang="en-US" sz="1800" b="1" i="1" baseline="-25000" dirty="0">
                      <a:latin typeface="Times New Roman" panose="02020603050405020304" pitchFamily="18" charset="0"/>
                    </a:rPr>
                    <a:t>c</a:t>
                  </a:r>
                  <a:endParaRPr lang="en-US" altLang="en-US" sz="1800" b="1" i="1" dirty="0">
                    <a:latin typeface="Times New Roman" panose="02020603050405020304" pitchFamily="18" charset="0"/>
                  </a:endParaRPr>
                </a:p>
              </p:txBody>
            </p:sp>
            <p:sp>
              <p:nvSpPr>
                <p:cNvPr id="32" name="Line 14">
                  <a:extLst>
                    <a:ext uri="{FF2B5EF4-FFF2-40B4-BE49-F238E27FC236}">
                      <a16:creationId xmlns:a16="http://schemas.microsoft.com/office/drawing/2014/main" id="{8105BABC-2B6C-952C-3205-CAD5867CB896}"/>
                    </a:ext>
                  </a:extLst>
                </p:cNvPr>
                <p:cNvSpPr>
                  <a:spLocks noChangeShapeType="1"/>
                </p:cNvSpPr>
                <p:nvPr/>
              </p:nvSpPr>
              <p:spPr bwMode="auto">
                <a:xfrm flipV="1">
                  <a:off x="1981200" y="2066925"/>
                  <a:ext cx="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endParaRPr lang="en-US"/>
                </a:p>
              </p:txBody>
            </p:sp>
            <p:sp>
              <p:nvSpPr>
                <p:cNvPr id="33" name="Text Box 15">
                  <a:extLst>
                    <a:ext uri="{FF2B5EF4-FFF2-40B4-BE49-F238E27FC236}">
                      <a16:creationId xmlns:a16="http://schemas.microsoft.com/office/drawing/2014/main" id="{D44F1302-3763-FECD-1195-A534C831EB58}"/>
                    </a:ext>
                  </a:extLst>
                </p:cNvPr>
                <p:cNvSpPr txBox="1">
                  <a:spLocks noChangeArrowheads="1"/>
                </p:cNvSpPr>
                <p:nvPr/>
              </p:nvSpPr>
              <p:spPr bwMode="auto">
                <a:xfrm>
                  <a:off x="1947863" y="1828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a:latin typeface="Times New Roman" panose="02020603050405020304" pitchFamily="18" charset="0"/>
                    </a:rPr>
                    <a:t>a</a:t>
                  </a:r>
                  <a:r>
                    <a:rPr lang="en-US" altLang="en-US" sz="1800" b="1" baseline="-25000"/>
                    <a:t>T</a:t>
                  </a:r>
                </a:p>
              </p:txBody>
            </p:sp>
            <p:sp>
              <p:nvSpPr>
                <p:cNvPr id="35" name="Line 16">
                  <a:extLst>
                    <a:ext uri="{FF2B5EF4-FFF2-40B4-BE49-F238E27FC236}">
                      <a16:creationId xmlns:a16="http://schemas.microsoft.com/office/drawing/2014/main" id="{410F5285-FFBC-548E-9996-B8C7E2734FCC}"/>
                    </a:ext>
                  </a:extLst>
                </p:cNvPr>
                <p:cNvSpPr>
                  <a:spLocks noChangeShapeType="1"/>
                </p:cNvSpPr>
                <p:nvPr/>
              </p:nvSpPr>
              <p:spPr bwMode="auto">
                <a:xfrm flipH="1" flipV="1">
                  <a:off x="1447800" y="2066925"/>
                  <a:ext cx="53340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endParaRPr lang="en-US"/>
                </a:p>
              </p:txBody>
            </p:sp>
            <p:sp>
              <p:nvSpPr>
                <p:cNvPr id="36" name="Text Box 17">
                  <a:extLst>
                    <a:ext uri="{FF2B5EF4-FFF2-40B4-BE49-F238E27FC236}">
                      <a16:creationId xmlns:a16="http://schemas.microsoft.com/office/drawing/2014/main" id="{BD8EF05F-179E-5E45-4F8C-ED73DFA57AFB}"/>
                    </a:ext>
                  </a:extLst>
                </p:cNvPr>
                <p:cNvSpPr txBox="1">
                  <a:spLocks noChangeArrowheads="1"/>
                </p:cNvSpPr>
                <p:nvPr/>
              </p:nvSpPr>
              <p:spPr bwMode="auto">
                <a:xfrm>
                  <a:off x="1181100" y="1854518"/>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latin typeface="Times New Roman" panose="02020603050405020304" pitchFamily="18" charset="0"/>
                    </a:rPr>
                    <a:t>a</a:t>
                  </a:r>
                </a:p>
              </p:txBody>
            </p:sp>
            <p:sp>
              <p:nvSpPr>
                <p:cNvPr id="38" name="Text Box 19">
                  <a:extLst>
                    <a:ext uri="{FF2B5EF4-FFF2-40B4-BE49-F238E27FC236}">
                      <a16:creationId xmlns:a16="http://schemas.microsoft.com/office/drawing/2014/main" id="{865DB2F5-0CE9-6C00-F804-21579D7D38AA}"/>
                    </a:ext>
                  </a:extLst>
                </p:cNvPr>
                <p:cNvSpPr txBox="1">
                  <a:spLocks noChangeArrowheads="1"/>
                </p:cNvSpPr>
                <p:nvPr/>
              </p:nvSpPr>
              <p:spPr bwMode="auto">
                <a:xfrm>
                  <a:off x="1406862" y="2529920"/>
                  <a:ext cx="51585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200" dirty="0"/>
                    <a:t>35</a:t>
                  </a:r>
                  <a:r>
                    <a:rPr lang="en-US" altLang="en-US" sz="1200" baseline="30000" dirty="0"/>
                    <a:t>o</a:t>
                  </a:r>
                  <a:endParaRPr lang="en-US" altLang="en-US" sz="1200" dirty="0"/>
                </a:p>
              </p:txBody>
            </p:sp>
          </p:grpSp>
          <p:sp>
            <p:nvSpPr>
              <p:cNvPr id="39" name="Freeform 38">
                <a:extLst>
                  <a:ext uri="{FF2B5EF4-FFF2-40B4-BE49-F238E27FC236}">
                    <a16:creationId xmlns:a16="http://schemas.microsoft.com/office/drawing/2014/main" id="{EC66314A-AEB6-8355-F370-CAC2E129C2DD}"/>
                  </a:ext>
                </a:extLst>
              </p:cNvPr>
              <p:cNvSpPr/>
              <p:nvPr/>
            </p:nvSpPr>
            <p:spPr>
              <a:xfrm>
                <a:off x="10936066" y="2166633"/>
                <a:ext cx="59256" cy="202699"/>
              </a:xfrm>
              <a:custGeom>
                <a:avLst/>
                <a:gdLst>
                  <a:gd name="connsiteX0" fmla="*/ 59256 w 59256"/>
                  <a:gd name="connsiteY0" fmla="*/ 0 h 202699"/>
                  <a:gd name="connsiteX1" fmla="*/ 699 w 59256"/>
                  <a:gd name="connsiteY1" fmla="*/ 103601 h 202699"/>
                  <a:gd name="connsiteX2" fmla="*/ 32230 w 59256"/>
                  <a:gd name="connsiteY2" fmla="*/ 202699 h 202699"/>
                </a:gdLst>
                <a:ahLst/>
                <a:cxnLst>
                  <a:cxn ang="0">
                    <a:pos x="connsiteX0" y="connsiteY0"/>
                  </a:cxn>
                  <a:cxn ang="0">
                    <a:pos x="connsiteX1" y="connsiteY1"/>
                  </a:cxn>
                  <a:cxn ang="0">
                    <a:pos x="connsiteX2" y="connsiteY2"/>
                  </a:cxn>
                </a:cxnLst>
                <a:rect l="l" t="t" r="r" b="b"/>
                <a:pathLst>
                  <a:path w="59256" h="202699">
                    <a:moveTo>
                      <a:pt x="59256" y="0"/>
                    </a:moveTo>
                    <a:cubicBezTo>
                      <a:pt x="32229" y="34909"/>
                      <a:pt x="5203" y="69818"/>
                      <a:pt x="699" y="103601"/>
                    </a:cubicBezTo>
                    <a:cubicBezTo>
                      <a:pt x="-3805" y="137384"/>
                      <a:pt x="14212" y="170041"/>
                      <a:pt x="32230" y="20269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386" name="Picture 2">
              <a:extLst>
                <a:ext uri="{FF2B5EF4-FFF2-40B4-BE49-F238E27FC236}">
                  <a16:creationId xmlns:a16="http://schemas.microsoft.com/office/drawing/2014/main" id="{77BED589-D2A4-F831-972F-1B04BEF542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8142" b="93451" l="4286" r="94405">
                          <a14:foregroundMark x1="83810" y1="29027" x2="83810" y2="29027"/>
                          <a14:foregroundMark x1="83571" y1="15575" x2="83571" y2="15575"/>
                          <a14:foregroundMark x1="74524" y1="11504" x2="74524" y2="11504"/>
                          <a14:foregroundMark x1="67976" y1="11858" x2="67976" y2="11858"/>
                          <a14:foregroundMark x1="65952" y1="19823" x2="65952" y2="19823"/>
                          <a14:foregroundMark x1="66190" y1="28496" x2="66190" y2="28496"/>
                          <a14:foregroundMark x1="70833" y1="29381" x2="70833" y2="29381"/>
                          <a14:foregroundMark x1="76905" y1="29204" x2="76905" y2="29204"/>
                          <a14:foregroundMark x1="81429" y1="30088" x2="81429" y2="30088"/>
                          <a14:foregroundMark x1="24167" y1="9381" x2="24167" y2="9381"/>
                          <a14:foregroundMark x1="66667" y1="75221" x2="66667" y2="75221"/>
                          <a14:foregroundMark x1="66667" y1="82301" x2="66667" y2="82301"/>
                          <a14:foregroundMark x1="67024" y1="87788" x2="67024" y2="87788"/>
                          <a14:foregroundMark x1="74643" y1="88496" x2="74643" y2="88496"/>
                          <a14:foregroundMark x1="79762" y1="88673" x2="79762" y2="88673"/>
                          <a14:foregroundMark x1="83690" y1="88496" x2="83690" y2="88496"/>
                          <a14:foregroundMark x1="84762" y1="83540" x2="84762" y2="83540"/>
                          <a14:foregroundMark x1="84405" y1="78407" x2="84405" y2="78407"/>
                          <a14:foregroundMark x1="84048" y1="73982" x2="84048" y2="73982"/>
                          <a14:foregroundMark x1="79524" y1="73628" x2="79524" y2="73628"/>
                          <a14:foregroundMark x1="74405" y1="73451" x2="74405" y2="73451"/>
                          <a14:foregroundMark x1="71310" y1="73628" x2="71310" y2="73628"/>
                          <a14:foregroundMark x1="67024" y1="73628" x2="67024" y2="73628"/>
                          <a14:foregroundMark x1="66429" y1="76991" x2="66429" y2="76991"/>
                          <a14:foregroundMark x1="66190" y1="82301" x2="66190" y2="82301"/>
                          <a14:foregroundMark x1="66429" y1="86372" x2="66429" y2="86372"/>
                          <a14:foregroundMark x1="66429" y1="89204" x2="66429" y2="89204"/>
                          <a14:foregroundMark x1="82024" y1="91504" x2="82024" y2="91504"/>
                          <a14:foregroundMark x1="76429" y1="91150" x2="76429" y2="91150"/>
                          <a14:foregroundMark x1="71786" y1="91504" x2="71786" y2="91504"/>
                          <a14:foregroundMark x1="69048" y1="91504" x2="69048" y2="91504"/>
                          <a14:foregroundMark x1="67500" y1="91504" x2="67500" y2="91504"/>
                          <a14:foregroundMark x1="66429" y1="84779" x2="66429" y2="84779"/>
                          <a14:foregroundMark x1="66190" y1="79823" x2="66190" y2="79823"/>
                          <a14:foregroundMark x1="66429" y1="76460" x2="66429" y2="76460"/>
                          <a14:foregroundMark x1="68690" y1="73451" x2="68690" y2="73451"/>
                          <a14:foregroundMark x1="75119" y1="73274" x2="75119" y2="73274"/>
                          <a14:foregroundMark x1="80119" y1="72920" x2="80119" y2="72920"/>
                          <a14:foregroundMark x1="83929" y1="73451" x2="83929" y2="73451"/>
                          <a14:foregroundMark x1="84643" y1="75575" x2="84643" y2="75575"/>
                          <a14:foregroundMark x1="84762" y1="80354" x2="84762" y2="80354"/>
                          <a14:foregroundMark x1="79643" y1="29912" x2="79643" y2="29912"/>
                          <a14:foregroundMark x1="74762" y1="29912" x2="74762" y2="29912"/>
                          <a14:foregroundMark x1="68690" y1="29735" x2="68690" y2="29735"/>
                          <a14:foregroundMark x1="66786" y1="27788" x2="66786" y2="27788"/>
                          <a14:foregroundMark x1="66190" y1="24248" x2="66190" y2="24248"/>
                          <a14:foregroundMark x1="66190" y1="19115" x2="66190" y2="19115"/>
                          <a14:foregroundMark x1="66429" y1="16106" x2="66429" y2="16106"/>
                          <a14:foregroundMark x1="66548" y1="12389" x2="66548" y2="12389"/>
                          <a14:foregroundMark x1="69405" y1="11327" x2="69405" y2="11327"/>
                          <a14:foregroundMark x1="73929" y1="11504" x2="73929" y2="11504"/>
                          <a14:foregroundMark x1="77262" y1="11504" x2="77262" y2="11504"/>
                          <a14:foregroundMark x1="79048" y1="11504" x2="79048" y2="11504"/>
                          <a14:foregroundMark x1="80476" y1="11504" x2="80476" y2="11504"/>
                          <a14:foregroundMark x1="83095" y1="11681" x2="83095" y2="11681"/>
                          <a14:foregroundMark x1="84167" y1="12212" x2="84167" y2="12212"/>
                          <a14:foregroundMark x1="84762" y1="15044" x2="84762" y2="15044"/>
                          <a14:foregroundMark x1="84881" y1="20354" x2="84881" y2="20354"/>
                          <a14:foregroundMark x1="84762" y1="24602" x2="84762" y2="24602"/>
                          <a14:foregroundMark x1="15476" y1="18053" x2="15476" y2="18053"/>
                          <a14:foregroundMark x1="12143" y1="18053" x2="12143" y2="18053"/>
                          <a14:foregroundMark x1="10714" y1="17522" x2="10714" y2="17522"/>
                          <a14:foregroundMark x1="10952" y1="12566" x2="10952" y2="12566"/>
                          <a14:foregroundMark x1="11548" y1="9381" x2="11548" y2="9381"/>
                          <a14:foregroundMark x1="14762" y1="8142" x2="14762" y2="8142"/>
                          <a14:foregroundMark x1="28333" y1="94159" x2="28333" y2="94159"/>
                          <a14:foregroundMark x1="8810" y1="20708" x2="8810" y2="20708"/>
                          <a14:foregroundMark x1="4286" y1="20354" x2="4286" y2="20354"/>
                          <a14:foregroundMark x1="88214" y1="43186" x2="88214" y2="43186"/>
                          <a14:foregroundMark x1="87976" y1="34690" x2="87976" y2="34690"/>
                          <a14:foregroundMark x1="88333" y1="25841" x2="88333" y2="25841"/>
                          <a14:foregroundMark x1="88095" y1="20885" x2="88095" y2="20885"/>
                          <a14:foregroundMark x1="91429" y1="20177" x2="91429" y2="20177"/>
                          <a14:foregroundMark x1="94405" y1="20177" x2="94405" y2="20177"/>
                        </a14:backgroundRemoval>
                      </a14:imgEffect>
                    </a14:imgLayer>
                  </a14:imgProps>
                </a:ext>
                <a:ext uri="{28A0092B-C50C-407E-A947-70E740481C1C}">
                  <a14:useLocalDpi xmlns:a14="http://schemas.microsoft.com/office/drawing/2010/main" val="0"/>
                </a:ext>
              </a:extLst>
            </a:blip>
            <a:srcRect/>
            <a:stretch>
              <a:fillRect/>
            </a:stretch>
          </p:blipFill>
          <p:spPr bwMode="auto">
            <a:xfrm rot="16200000" flipV="1">
              <a:off x="11062496" y="2300170"/>
              <a:ext cx="219245" cy="147461"/>
            </a:xfrm>
            <a:prstGeom prst="rect">
              <a:avLst/>
            </a:prstGeom>
            <a:noFill/>
            <a:extLst>
              <a:ext uri="{909E8E84-426E-40DD-AFC4-6F175D3DCCD1}">
                <a14:hiddenFill xmlns:a14="http://schemas.microsoft.com/office/drawing/2010/main">
                  <a:solidFill>
                    <a:srgbClr val="FFFFFF"/>
                  </a:solidFill>
                </a14:hiddenFill>
              </a:ext>
            </a:extLst>
          </p:spPr>
        </p:pic>
      </p:grpSp>
      <p:sp>
        <p:nvSpPr>
          <p:cNvPr id="49" name="TextBox 48">
            <a:extLst>
              <a:ext uri="{FF2B5EF4-FFF2-40B4-BE49-F238E27FC236}">
                <a16:creationId xmlns:a16="http://schemas.microsoft.com/office/drawing/2014/main" id="{EA7041FD-DFBC-A85A-9FD9-149122B2D19F}"/>
              </a:ext>
            </a:extLst>
          </p:cNvPr>
          <p:cNvSpPr txBox="1"/>
          <p:nvPr/>
        </p:nvSpPr>
        <p:spPr>
          <a:xfrm>
            <a:off x="899651" y="3982065"/>
            <a:ext cx="10825317" cy="461665"/>
          </a:xfrm>
          <a:prstGeom prst="rect">
            <a:avLst/>
          </a:prstGeom>
          <a:noFill/>
        </p:spPr>
        <p:txBody>
          <a:bodyPr wrap="square" rtlCol="0">
            <a:spAutoFit/>
          </a:bodyPr>
          <a:lstStyle/>
          <a:p>
            <a:r>
              <a:rPr lang="en-US" sz="2400" dirty="0">
                <a:latin typeface="Times" pitchFamily="2" charset="0"/>
              </a:rPr>
              <a:t>(</a:t>
            </a:r>
            <a:r>
              <a:rPr lang="en-US" sz="2400" b="1" dirty="0">
                <a:latin typeface="Times" pitchFamily="2" charset="0"/>
              </a:rPr>
              <a:t>b</a:t>
            </a:r>
            <a:r>
              <a:rPr lang="en-US" sz="2400" dirty="0">
                <a:latin typeface="Times" pitchFamily="2" charset="0"/>
              </a:rPr>
              <a:t>) We can use Equation 8.10 to calculate the </a:t>
            </a:r>
            <a:r>
              <a:rPr lang="en-US" sz="2400" dirty="0">
                <a:solidFill>
                  <a:srgbClr val="007440"/>
                </a:solidFill>
                <a:latin typeface="Times" pitchFamily="2" charset="0"/>
              </a:rPr>
              <a:t>angular acceleration</a:t>
            </a:r>
            <a:r>
              <a:rPr lang="en-US" sz="2400" dirty="0">
                <a:latin typeface="Times" pitchFamily="2" charset="0"/>
              </a:rPr>
              <a:t>: </a:t>
            </a:r>
          </a:p>
        </p:txBody>
      </p:sp>
      <p:sp>
        <p:nvSpPr>
          <p:cNvPr id="55" name="Rounded Rectangle 54">
            <a:extLst>
              <a:ext uri="{FF2B5EF4-FFF2-40B4-BE49-F238E27FC236}">
                <a16:creationId xmlns:a16="http://schemas.microsoft.com/office/drawing/2014/main" id="{444FA2D1-50E2-F999-E34B-4AF476ECD199}"/>
              </a:ext>
            </a:extLst>
          </p:cNvPr>
          <p:cNvSpPr/>
          <p:nvPr/>
        </p:nvSpPr>
        <p:spPr>
          <a:xfrm>
            <a:off x="1524001" y="4429432"/>
            <a:ext cx="1115960"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00FDC726-C0FD-D801-85DD-B7794A2FAE5F}"/>
              </a:ext>
            </a:extLst>
          </p:cNvPr>
          <p:cNvSpPr txBox="1"/>
          <p:nvPr/>
        </p:nvSpPr>
        <p:spPr>
          <a:xfrm>
            <a:off x="1071716" y="4611331"/>
            <a:ext cx="506361" cy="461665"/>
          </a:xfrm>
          <a:prstGeom prst="rect">
            <a:avLst/>
          </a:prstGeom>
          <a:noFill/>
        </p:spPr>
        <p:txBody>
          <a:bodyPr wrap="square" rtlCol="0">
            <a:spAutoFit/>
          </a:bodyPr>
          <a:lstStyle/>
          <a:p>
            <a:r>
              <a:rPr lang="en-US" sz="2400" dirty="0">
                <a:latin typeface="Times" pitchFamily="2" charset="0"/>
              </a:rPr>
              <a:t>⇒ </a:t>
            </a:r>
          </a:p>
        </p:txBody>
      </p:sp>
      <p:sp>
        <p:nvSpPr>
          <p:cNvPr id="4" name="TextBox 3">
            <a:extLst>
              <a:ext uri="{FF2B5EF4-FFF2-40B4-BE49-F238E27FC236}">
                <a16:creationId xmlns:a16="http://schemas.microsoft.com/office/drawing/2014/main" id="{8A36A095-DEB5-B1D2-0E12-2B3157A40AC7}"/>
              </a:ext>
            </a:extLst>
          </p:cNvPr>
          <p:cNvSpPr txBox="1"/>
          <p:nvPr/>
        </p:nvSpPr>
        <p:spPr>
          <a:xfrm>
            <a:off x="9249173" y="3976504"/>
            <a:ext cx="1271343" cy="461665"/>
          </a:xfrm>
          <a:prstGeom prst="rect">
            <a:avLst/>
          </a:prstGeom>
          <a:noFill/>
        </p:spPr>
        <p:txBody>
          <a:bodyPr wrap="square">
            <a:spAutoFit/>
          </a:bodyPr>
          <a:lstStyle/>
          <a:p>
            <a:r>
              <a:rPr lang="en-US" sz="2400" i="1" dirty="0" err="1">
                <a:latin typeface="Times" pitchFamily="2" charset="0"/>
                <a:cs typeface="Times New Roman" panose="02020603050405020304" pitchFamily="18" charset="0"/>
              </a:rPr>
              <a:t>a</a:t>
            </a:r>
            <a:r>
              <a:rPr lang="en-US" sz="2400" baseline="-25000" dirty="0" err="1">
                <a:latin typeface="Times" pitchFamily="2" charset="0"/>
                <a:cs typeface="Times New Roman" panose="02020603050405020304" pitchFamily="18" charset="0"/>
              </a:rPr>
              <a:t>T</a:t>
            </a:r>
            <a:r>
              <a:rPr lang="en-US" sz="2400" dirty="0">
                <a:latin typeface="Times" pitchFamily="2" charset="0"/>
                <a:cs typeface="Times New Roman" panose="02020603050405020304" pitchFamily="18" charset="0"/>
              </a:rPr>
              <a:t> = </a:t>
            </a:r>
            <a:r>
              <a:rPr lang="en-US" sz="2400" i="1" dirty="0" err="1">
                <a:latin typeface="Times" pitchFamily="2" charset="0"/>
                <a:cs typeface="Times New Roman" panose="02020603050405020304" pitchFamily="18" charset="0"/>
              </a:rPr>
              <a:t>r</a:t>
            </a:r>
            <a:r>
              <a:rPr lang="en-US" sz="2400" i="1" dirty="0" err="1">
                <a:latin typeface="Symbol" pitchFamily="2" charset="2"/>
                <a:cs typeface="Times New Roman" panose="02020603050405020304" pitchFamily="18" charset="0"/>
              </a:rPr>
              <a:t>a</a:t>
            </a:r>
            <a:endParaRPr lang="en-US" sz="2400" dirty="0">
              <a:latin typeface="Times" pitchFamily="2" charset="0"/>
            </a:endParaRPr>
          </a:p>
        </p:txBody>
      </p:sp>
      <p:sp>
        <p:nvSpPr>
          <p:cNvPr id="7" name="TextBox 6">
            <a:extLst>
              <a:ext uri="{FF2B5EF4-FFF2-40B4-BE49-F238E27FC236}">
                <a16:creationId xmlns:a16="http://schemas.microsoft.com/office/drawing/2014/main" id="{30885525-FCF9-DE41-C0A4-C8F0B7CF1D50}"/>
              </a:ext>
            </a:extLst>
          </p:cNvPr>
          <p:cNvSpPr txBox="1"/>
          <p:nvPr/>
        </p:nvSpPr>
        <p:spPr>
          <a:xfrm>
            <a:off x="2718619" y="4635910"/>
            <a:ext cx="10825317" cy="461665"/>
          </a:xfrm>
          <a:prstGeom prst="rect">
            <a:avLst/>
          </a:prstGeom>
          <a:noFill/>
        </p:spPr>
        <p:txBody>
          <a:bodyPr wrap="square" rtlCol="0">
            <a:spAutoFit/>
          </a:bodyPr>
          <a:lstStyle/>
          <a:p>
            <a:r>
              <a:rPr lang="en-US" sz="2400" dirty="0">
                <a:latin typeface="Times" pitchFamily="2" charset="0"/>
              </a:rPr>
              <a:t>From the figure, notice that sin35</a:t>
            </a:r>
            <a:r>
              <a:rPr lang="en-US" sz="2400" baseline="30000" dirty="0">
                <a:latin typeface="Times" pitchFamily="2" charset="0"/>
              </a:rPr>
              <a:t>o</a:t>
            </a:r>
            <a:r>
              <a:rPr lang="en-US" sz="2400" dirty="0">
                <a:latin typeface="Times" pitchFamily="2" charset="0"/>
              </a:rPr>
              <a:t> = </a:t>
            </a:r>
            <a:r>
              <a:rPr lang="en-US" sz="2400" i="1" dirty="0" err="1">
                <a:latin typeface="Times" pitchFamily="2" charset="0"/>
              </a:rPr>
              <a:t>a</a:t>
            </a:r>
            <a:r>
              <a:rPr lang="en-US" sz="2400" baseline="-25000" dirty="0" err="1">
                <a:latin typeface="Times" pitchFamily="2" charset="0"/>
              </a:rPr>
              <a:t>T</a:t>
            </a:r>
            <a:r>
              <a:rPr lang="en-US" sz="2400" dirty="0">
                <a:latin typeface="Times" pitchFamily="2" charset="0"/>
              </a:rPr>
              <a:t>/</a:t>
            </a:r>
            <a:r>
              <a:rPr lang="en-US" sz="2400" i="1" dirty="0">
                <a:latin typeface="Times" pitchFamily="2" charset="0"/>
              </a:rPr>
              <a:t>a</a:t>
            </a:r>
            <a:r>
              <a:rPr lang="en-US" sz="2400" dirty="0">
                <a:latin typeface="Times" pitchFamily="2" charset="0"/>
              </a:rPr>
              <a:t>.</a:t>
            </a:r>
          </a:p>
        </p:txBody>
      </p:sp>
      <p:sp>
        <p:nvSpPr>
          <p:cNvPr id="8" name="TextBox 7">
            <a:extLst>
              <a:ext uri="{FF2B5EF4-FFF2-40B4-BE49-F238E27FC236}">
                <a16:creationId xmlns:a16="http://schemas.microsoft.com/office/drawing/2014/main" id="{59D200BD-313A-7BCB-AA01-390FC308F019}"/>
              </a:ext>
            </a:extLst>
          </p:cNvPr>
          <p:cNvSpPr txBox="1"/>
          <p:nvPr/>
        </p:nvSpPr>
        <p:spPr>
          <a:xfrm>
            <a:off x="8096865" y="4734234"/>
            <a:ext cx="506361" cy="461665"/>
          </a:xfrm>
          <a:prstGeom prst="rect">
            <a:avLst/>
          </a:prstGeom>
          <a:noFill/>
        </p:spPr>
        <p:txBody>
          <a:bodyPr wrap="square" rtlCol="0">
            <a:spAutoFit/>
          </a:bodyPr>
          <a:lstStyle/>
          <a:p>
            <a:r>
              <a:rPr lang="en-US" sz="2400" dirty="0">
                <a:latin typeface="Times" pitchFamily="2" charset="0"/>
              </a:rPr>
              <a:t>⇒ </a:t>
            </a:r>
          </a:p>
        </p:txBody>
      </p:sp>
      <p:sp>
        <p:nvSpPr>
          <p:cNvPr id="9" name="Rounded Rectangle 8">
            <a:extLst>
              <a:ext uri="{FF2B5EF4-FFF2-40B4-BE49-F238E27FC236}">
                <a16:creationId xmlns:a16="http://schemas.microsoft.com/office/drawing/2014/main" id="{E6F6DC37-64F6-A025-0458-412748536A83}"/>
              </a:ext>
            </a:extLst>
          </p:cNvPr>
          <p:cNvSpPr/>
          <p:nvPr/>
        </p:nvSpPr>
        <p:spPr>
          <a:xfrm>
            <a:off x="8696632" y="4478593"/>
            <a:ext cx="1671483"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398F1EAD-ABA0-23AC-461A-0DE243458374}"/>
              </a:ext>
            </a:extLst>
          </p:cNvPr>
          <p:cNvSpPr/>
          <p:nvPr/>
        </p:nvSpPr>
        <p:spPr>
          <a:xfrm>
            <a:off x="1533832" y="5501148"/>
            <a:ext cx="4454013"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488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dissolve">
                                      <p:cBhvr>
                                        <p:cTn id="16" dur="500"/>
                                        <p:tgtEl>
                                          <p:spTgt spid="57"/>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dissolve">
                                      <p:cBhvr>
                                        <p:cTn id="20" dur="500"/>
                                        <p:tgtEl>
                                          <p:spTgt spid="5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dissolve">
                                      <p:cBhvr>
                                        <p:cTn id="25" dur="500"/>
                                        <p:tgtEl>
                                          <p:spTgt spid="7"/>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dissolve">
                                      <p:cBhvr>
                                        <p:cTn id="29" dur="500"/>
                                        <p:tgtEl>
                                          <p:spTgt spid="8"/>
                                        </p:tgtEl>
                                      </p:cBhvr>
                                    </p:animEffect>
                                  </p:childTnLst>
                                </p:cTn>
                              </p:par>
                            </p:childTnLst>
                          </p:cTn>
                        </p:par>
                        <p:par>
                          <p:cTn id="30" fill="hold">
                            <p:stCondLst>
                              <p:cond delay="1000"/>
                            </p:stCondLst>
                            <p:childTnLst>
                              <p:par>
                                <p:cTn id="31" presetID="9"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dissolve">
                                      <p:cBhvr>
                                        <p:cTn id="33" dur="500"/>
                                        <p:tgtEl>
                                          <p:spTgt spid="9"/>
                                        </p:tgtEl>
                                      </p:cBhvr>
                                    </p:animEffect>
                                  </p:childTnLst>
                                </p:cTn>
                              </p:par>
                            </p:childTnLst>
                          </p:cTn>
                        </p:par>
                        <p:par>
                          <p:cTn id="34" fill="hold">
                            <p:stCondLst>
                              <p:cond delay="1500"/>
                            </p:stCondLst>
                            <p:childTnLst>
                              <p:par>
                                <p:cTn id="35" presetID="9"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5" grpId="0" animBg="1"/>
      <p:bldP spid="57" grpId="0"/>
      <p:bldP spid="4" grpId="0"/>
      <p:bldP spid="7" grpId="0"/>
      <p:bldP spid="8" grpId="0"/>
      <p:bldP spid="9" grpId="0" animBg="1"/>
      <p:bldP spid="1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15231-50F3-917B-6CE9-8A6F94DF2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0BD67-748A-3F46-3484-C6857BA52A95}"/>
              </a:ext>
            </a:extLst>
          </p:cNvPr>
          <p:cNvSpPr>
            <a:spLocks noGrp="1"/>
          </p:cNvSpPr>
          <p:nvPr>
            <p:ph type="title"/>
          </p:nvPr>
        </p:nvSpPr>
        <p:spPr>
          <a:xfrm>
            <a:off x="566132" y="201270"/>
            <a:ext cx="10820401" cy="849312"/>
          </a:xfrm>
        </p:spPr>
        <p:txBody>
          <a:bodyPr>
            <a:normAutofit fontScale="90000"/>
          </a:bodyPr>
          <a:lstStyle/>
          <a:p>
            <a:r>
              <a:rPr lang="en-US" b="1" dirty="0">
                <a:ea typeface="Calibri" charset="0"/>
                <a:cs typeface="Calibri" charset="0"/>
              </a:rPr>
              <a:t>8.5</a:t>
            </a:r>
            <a:r>
              <a:rPr lang="en-US" dirty="0">
                <a:ea typeface="Calibri" charset="0"/>
                <a:cs typeface="Calibri" charset="0"/>
              </a:rPr>
              <a:t> Centripetal Acceleration and Tangential Acceleration</a:t>
            </a:r>
            <a:endParaRPr lang="en-US" sz="3000" dirty="0"/>
          </a:p>
        </p:txBody>
      </p:sp>
      <p:sp>
        <p:nvSpPr>
          <p:cNvPr id="21" name="TextBox 20">
            <a:extLst>
              <a:ext uri="{FF2B5EF4-FFF2-40B4-BE49-F238E27FC236}">
                <a16:creationId xmlns:a16="http://schemas.microsoft.com/office/drawing/2014/main" id="{3E9D4363-67FD-C9AC-9DAB-5CF9D3E582E4}"/>
              </a:ext>
            </a:extLst>
          </p:cNvPr>
          <p:cNvSpPr txBox="1"/>
          <p:nvPr/>
        </p:nvSpPr>
        <p:spPr>
          <a:xfrm>
            <a:off x="894631" y="727937"/>
            <a:ext cx="10382969" cy="4832092"/>
          </a:xfrm>
          <a:prstGeom prst="rect">
            <a:avLst/>
          </a:prstGeom>
          <a:noFill/>
        </p:spPr>
        <p:txBody>
          <a:bodyPr wrap="square" rtlCol="0">
            <a:spAutoFit/>
          </a:bodyPr>
          <a:lstStyle/>
          <a:p>
            <a:pPr algn="just"/>
            <a:r>
              <a:rPr lang="en-US" sz="2800" dirty="0">
                <a:solidFill>
                  <a:srgbClr val="3E5891"/>
                </a:solidFill>
                <a:latin typeface="Times" pitchFamily="2" charset="0"/>
              </a:rPr>
              <a:t>CYU/TPS – Section 5.6 discusses how the uniform circular motion of a space station can be used to create artificial gravity. This can be done by adjusting the angular speed of the space station, so the centripetal acceleration at an astronaut’s feet equals </a:t>
            </a:r>
            <a:r>
              <a:rPr lang="en-US" sz="2800" i="1" dirty="0">
                <a:solidFill>
                  <a:srgbClr val="3E5891"/>
                </a:solidFill>
                <a:latin typeface="Times" pitchFamily="2" charset="0"/>
              </a:rPr>
              <a:t>g</a:t>
            </a:r>
            <a:r>
              <a:rPr lang="en-US" sz="2800" dirty="0">
                <a:solidFill>
                  <a:srgbClr val="3E5891"/>
                </a:solidFill>
                <a:latin typeface="Times" pitchFamily="2" charset="0"/>
              </a:rPr>
              <a:t>, the magnitude of the acceleration due to the earth’s gravity. If such an adjustment is made, the acceleration at the astronaut’s head due to the artificial gravity will be...</a:t>
            </a:r>
          </a:p>
          <a:p>
            <a:pPr algn="just"/>
            <a:endParaRPr lang="en-US" sz="2800" dirty="0">
              <a:solidFill>
                <a:srgbClr val="3E5891"/>
              </a:solidFill>
              <a:latin typeface="Times" pitchFamily="2" charset="0"/>
            </a:endParaRPr>
          </a:p>
          <a:p>
            <a:pPr algn="just"/>
            <a:r>
              <a:rPr lang="en-US" sz="2800" dirty="0">
                <a:solidFill>
                  <a:srgbClr val="3E5891"/>
                </a:solidFill>
                <a:latin typeface="Times" pitchFamily="2" charset="0"/>
              </a:rPr>
              <a:t>(</a:t>
            </a:r>
            <a:r>
              <a:rPr lang="en-US" sz="2800" b="1" dirty="0">
                <a:solidFill>
                  <a:srgbClr val="3E5891"/>
                </a:solidFill>
                <a:latin typeface="Times" pitchFamily="2" charset="0"/>
              </a:rPr>
              <a:t>a</a:t>
            </a:r>
            <a:r>
              <a:rPr lang="en-US" sz="2800" dirty="0">
                <a:solidFill>
                  <a:srgbClr val="3E5891"/>
                </a:solidFill>
                <a:latin typeface="Times" pitchFamily="2" charset="0"/>
              </a:rPr>
              <a:t>) greater than </a:t>
            </a:r>
            <a:r>
              <a:rPr lang="en-US" sz="2800" i="1" dirty="0">
                <a:solidFill>
                  <a:srgbClr val="3E5891"/>
                </a:solidFill>
                <a:latin typeface="Times" pitchFamily="2" charset="0"/>
              </a:rPr>
              <a:t>g</a:t>
            </a:r>
            <a:r>
              <a:rPr lang="en-US" sz="2800" dirty="0">
                <a:solidFill>
                  <a:srgbClr val="3E5891"/>
                </a:solidFill>
                <a:latin typeface="Times" pitchFamily="2" charset="0"/>
              </a:rPr>
              <a:t>.</a:t>
            </a:r>
          </a:p>
          <a:p>
            <a:pPr algn="just"/>
            <a:r>
              <a:rPr lang="en-US" sz="2800" dirty="0">
                <a:solidFill>
                  <a:srgbClr val="3E5891"/>
                </a:solidFill>
                <a:latin typeface="Times" pitchFamily="2" charset="0"/>
              </a:rPr>
              <a:t>(</a:t>
            </a:r>
            <a:r>
              <a:rPr lang="en-US" sz="2800" b="1" dirty="0">
                <a:solidFill>
                  <a:srgbClr val="3E5891"/>
                </a:solidFill>
                <a:latin typeface="Times" pitchFamily="2" charset="0"/>
              </a:rPr>
              <a:t>b</a:t>
            </a:r>
            <a:r>
              <a:rPr lang="en-US" sz="2800" dirty="0">
                <a:solidFill>
                  <a:srgbClr val="3E5891"/>
                </a:solidFill>
                <a:latin typeface="Times" pitchFamily="2" charset="0"/>
              </a:rPr>
              <a:t>) equal to </a:t>
            </a:r>
            <a:r>
              <a:rPr lang="en-US" sz="2800" i="1" dirty="0">
                <a:solidFill>
                  <a:srgbClr val="3E5891"/>
                </a:solidFill>
                <a:latin typeface="Times" pitchFamily="2" charset="0"/>
              </a:rPr>
              <a:t>g</a:t>
            </a:r>
            <a:r>
              <a:rPr lang="en-US" sz="2800" dirty="0">
                <a:solidFill>
                  <a:srgbClr val="3E5891"/>
                </a:solidFill>
                <a:latin typeface="Times" pitchFamily="2" charset="0"/>
              </a:rPr>
              <a:t>.</a:t>
            </a:r>
          </a:p>
          <a:p>
            <a:pPr algn="just"/>
            <a:r>
              <a:rPr lang="en-US" sz="2800" dirty="0">
                <a:solidFill>
                  <a:srgbClr val="3E5891"/>
                </a:solidFill>
                <a:latin typeface="Times" pitchFamily="2" charset="0"/>
              </a:rPr>
              <a:t>(</a:t>
            </a:r>
            <a:r>
              <a:rPr lang="en-US" sz="2800" b="1" dirty="0">
                <a:solidFill>
                  <a:srgbClr val="3E5891"/>
                </a:solidFill>
                <a:latin typeface="Times" pitchFamily="2" charset="0"/>
              </a:rPr>
              <a:t>c</a:t>
            </a:r>
            <a:r>
              <a:rPr lang="en-US" sz="2800" dirty="0">
                <a:solidFill>
                  <a:srgbClr val="3E5891"/>
                </a:solidFill>
                <a:latin typeface="Times" pitchFamily="2" charset="0"/>
              </a:rPr>
              <a:t>) less than </a:t>
            </a:r>
            <a:r>
              <a:rPr lang="en-US" sz="2800" i="1" dirty="0">
                <a:solidFill>
                  <a:srgbClr val="3E5891"/>
                </a:solidFill>
                <a:latin typeface="Times" pitchFamily="2" charset="0"/>
              </a:rPr>
              <a:t>g</a:t>
            </a:r>
            <a:r>
              <a:rPr lang="en-US" sz="2800" dirty="0">
                <a:solidFill>
                  <a:srgbClr val="3E5891"/>
                </a:solidFill>
                <a:latin typeface="Times" pitchFamily="2" charset="0"/>
              </a:rPr>
              <a:t>.</a:t>
            </a:r>
          </a:p>
        </p:txBody>
      </p:sp>
      <p:sp>
        <p:nvSpPr>
          <p:cNvPr id="22" name="TextBox 21">
            <a:extLst>
              <a:ext uri="{FF2B5EF4-FFF2-40B4-BE49-F238E27FC236}">
                <a16:creationId xmlns:a16="http://schemas.microsoft.com/office/drawing/2014/main" id="{666F5956-9BA7-FC6B-FB0E-6FBBC1715179}"/>
              </a:ext>
            </a:extLst>
          </p:cNvPr>
          <p:cNvSpPr txBox="1"/>
          <p:nvPr/>
        </p:nvSpPr>
        <p:spPr>
          <a:xfrm rot="2431060">
            <a:off x="3865337" y="4820373"/>
            <a:ext cx="1988191" cy="461665"/>
          </a:xfrm>
          <a:prstGeom prst="rect">
            <a:avLst/>
          </a:prstGeom>
          <a:noFill/>
        </p:spPr>
        <p:txBody>
          <a:bodyPr wrap="square" rtlCol="0">
            <a:spAutoFit/>
          </a:bodyPr>
          <a:lstStyle/>
          <a:p>
            <a:r>
              <a:rPr lang="en-US" sz="2400" dirty="0">
                <a:solidFill>
                  <a:srgbClr val="007440"/>
                </a:solidFill>
                <a:latin typeface="Chalkduster" panose="03050602040202020205" pitchFamily="66" charset="77"/>
              </a:rPr>
              <a:t>Explain!</a:t>
            </a:r>
          </a:p>
        </p:txBody>
      </p:sp>
      <p:pic>
        <p:nvPicPr>
          <p:cNvPr id="24" name="Picture 23">
            <a:extLst>
              <a:ext uri="{FF2B5EF4-FFF2-40B4-BE49-F238E27FC236}">
                <a16:creationId xmlns:a16="http://schemas.microsoft.com/office/drawing/2014/main" id="{8F46617C-E46C-38A5-F08D-B901168D914E}"/>
              </a:ext>
            </a:extLst>
          </p:cNvPr>
          <p:cNvPicPr>
            <a:picLocks noChangeAspect="1"/>
          </p:cNvPicPr>
          <p:nvPr/>
        </p:nvPicPr>
        <p:blipFill>
          <a:blip r:embed="rId3"/>
          <a:stretch>
            <a:fillRect/>
          </a:stretch>
        </p:blipFill>
        <p:spPr>
          <a:xfrm>
            <a:off x="7187174" y="3387880"/>
            <a:ext cx="2915469" cy="2896161"/>
          </a:xfrm>
          <a:prstGeom prst="rect">
            <a:avLst/>
          </a:prstGeom>
        </p:spPr>
      </p:pic>
    </p:spTree>
    <p:extLst>
      <p:ext uri="{BB962C8B-B14F-4D97-AF65-F5344CB8AC3E}">
        <p14:creationId xmlns:p14="http://schemas.microsoft.com/office/powerpoint/2010/main" val="342239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67653-6B62-B457-966B-D8C476A6F89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AAF9F572-A6FA-7282-D4EF-D0003B46514D}"/>
              </a:ext>
            </a:extLst>
          </p:cNvPr>
          <p:cNvSpPr/>
          <p:nvPr/>
        </p:nvSpPr>
        <p:spPr>
          <a:xfrm>
            <a:off x="0" y="667766"/>
            <a:ext cx="12192000" cy="585848"/>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5FF0AB-419A-D556-602C-1F3D4A6FBBC4}"/>
              </a:ext>
            </a:extLst>
          </p:cNvPr>
          <p:cNvSpPr>
            <a:spLocks noGrp="1"/>
          </p:cNvSpPr>
          <p:nvPr>
            <p:ph type="title"/>
          </p:nvPr>
        </p:nvSpPr>
        <p:spPr>
          <a:xfrm>
            <a:off x="639874" y="142278"/>
            <a:ext cx="10820401" cy="849312"/>
          </a:xfrm>
        </p:spPr>
        <p:txBody>
          <a:bodyPr>
            <a:normAutofit/>
          </a:bodyPr>
          <a:lstStyle/>
          <a:p>
            <a:r>
              <a:rPr lang="en-US" b="1" dirty="0">
                <a:ea typeface="Calibri" charset="0"/>
                <a:cs typeface="Calibri" charset="0"/>
              </a:rPr>
              <a:t>8.6</a:t>
            </a:r>
            <a:r>
              <a:rPr lang="en-US" dirty="0">
                <a:ea typeface="Calibri" charset="0"/>
                <a:cs typeface="Calibri" charset="0"/>
              </a:rPr>
              <a:t> Rolling Motion</a:t>
            </a:r>
            <a:endParaRPr lang="en-US" sz="3000" dirty="0"/>
          </a:p>
        </p:txBody>
      </p:sp>
      <p:sp>
        <p:nvSpPr>
          <p:cNvPr id="5" name="Content Placeholder 2">
            <a:extLst>
              <a:ext uri="{FF2B5EF4-FFF2-40B4-BE49-F238E27FC236}">
                <a16:creationId xmlns:a16="http://schemas.microsoft.com/office/drawing/2014/main" id="{BC3F01A0-BF47-3449-0B9D-B03245F75E76}"/>
              </a:ext>
            </a:extLst>
          </p:cNvPr>
          <p:cNvSpPr txBox="1">
            <a:spLocks/>
          </p:cNvSpPr>
          <p:nvPr/>
        </p:nvSpPr>
        <p:spPr>
          <a:xfrm>
            <a:off x="914401" y="718024"/>
            <a:ext cx="11654444"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8.6 </a:t>
            </a:r>
            <a:r>
              <a:rPr lang="en-US" dirty="0"/>
              <a:t>– Analyze rolling motion.</a:t>
            </a:r>
          </a:p>
        </p:txBody>
      </p:sp>
      <p:sp>
        <p:nvSpPr>
          <p:cNvPr id="26" name="TextBox 25">
            <a:extLst>
              <a:ext uri="{FF2B5EF4-FFF2-40B4-BE49-F238E27FC236}">
                <a16:creationId xmlns:a16="http://schemas.microsoft.com/office/drawing/2014/main" id="{68AC3A18-6885-C68E-3FE0-C73B58F171AD}"/>
              </a:ext>
            </a:extLst>
          </p:cNvPr>
          <p:cNvSpPr txBox="1"/>
          <p:nvPr/>
        </p:nvSpPr>
        <p:spPr>
          <a:xfrm>
            <a:off x="390372" y="1315259"/>
            <a:ext cx="10892143"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One very familiar rotation is the rolling motion of a wheel.  </a:t>
            </a:r>
            <a:endParaRPr lang="en-US" sz="2400" dirty="0">
              <a:latin typeface="Times" pitchFamily="2" charset="0"/>
            </a:endParaRPr>
          </a:p>
        </p:txBody>
      </p:sp>
      <p:sp>
        <p:nvSpPr>
          <p:cNvPr id="3" name="TextBox 2">
            <a:extLst>
              <a:ext uri="{FF2B5EF4-FFF2-40B4-BE49-F238E27FC236}">
                <a16:creationId xmlns:a16="http://schemas.microsoft.com/office/drawing/2014/main" id="{8C15BE2D-854E-510D-5469-03B94F2D94ED}"/>
              </a:ext>
            </a:extLst>
          </p:cNvPr>
          <p:cNvSpPr txBox="1"/>
          <p:nvPr/>
        </p:nvSpPr>
        <p:spPr>
          <a:xfrm>
            <a:off x="410037" y="1836369"/>
            <a:ext cx="10892143"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Here, we assume that the wheel rolls along some surface </a:t>
            </a:r>
            <a:r>
              <a:rPr lang="en-US" sz="2400" u="sng" dirty="0">
                <a:latin typeface="Times" pitchFamily="2" charset="0"/>
                <a:cs typeface="Times New Roman" panose="02020603050405020304" pitchFamily="18" charset="0"/>
              </a:rPr>
              <a:t>without slipping.</a:t>
            </a:r>
            <a:endParaRPr lang="en-US" sz="2400" u="sng" dirty="0">
              <a:latin typeface="Times" pitchFamily="2" charset="0"/>
            </a:endParaRPr>
          </a:p>
        </p:txBody>
      </p:sp>
      <p:pic>
        <p:nvPicPr>
          <p:cNvPr id="8" name="Picture 7">
            <a:extLst>
              <a:ext uri="{FF2B5EF4-FFF2-40B4-BE49-F238E27FC236}">
                <a16:creationId xmlns:a16="http://schemas.microsoft.com/office/drawing/2014/main" id="{79821044-2583-88EB-8F0C-87B5C298B954}"/>
              </a:ext>
            </a:extLst>
          </p:cNvPr>
          <p:cNvPicPr>
            <a:picLocks noChangeAspect="1"/>
          </p:cNvPicPr>
          <p:nvPr/>
        </p:nvPicPr>
        <p:blipFill>
          <a:blip r:embed="rId3"/>
          <a:srcRect l="1929" r="68776" b="35541"/>
          <a:stretch/>
        </p:blipFill>
        <p:spPr>
          <a:xfrm>
            <a:off x="8023124" y="2315497"/>
            <a:ext cx="3864916" cy="4073726"/>
          </a:xfrm>
          <a:prstGeom prst="rect">
            <a:avLst/>
          </a:prstGeom>
        </p:spPr>
      </p:pic>
      <p:sp>
        <p:nvSpPr>
          <p:cNvPr id="9" name="TextBox 8">
            <a:extLst>
              <a:ext uri="{FF2B5EF4-FFF2-40B4-BE49-F238E27FC236}">
                <a16:creationId xmlns:a16="http://schemas.microsoft.com/office/drawing/2014/main" id="{D273E126-B1C9-85F2-5A5A-AF40BC9AAD5A}"/>
              </a:ext>
            </a:extLst>
          </p:cNvPr>
          <p:cNvSpPr txBox="1"/>
          <p:nvPr/>
        </p:nvSpPr>
        <p:spPr>
          <a:xfrm>
            <a:off x="400204" y="2608202"/>
            <a:ext cx="7755653"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As you drive in a car at constant speed, for example, the car moves forward, and at the same time, the wheels rotate.  </a:t>
            </a:r>
            <a:endParaRPr lang="en-US" sz="2400" u="sng" dirty="0">
              <a:latin typeface="Times" pitchFamily="2" charset="0"/>
            </a:endParaRPr>
          </a:p>
        </p:txBody>
      </p:sp>
      <p:sp>
        <p:nvSpPr>
          <p:cNvPr id="11" name="TextBox 10">
            <a:extLst>
              <a:ext uri="{FF2B5EF4-FFF2-40B4-BE49-F238E27FC236}">
                <a16:creationId xmlns:a16="http://schemas.microsoft.com/office/drawing/2014/main" id="{147E9902-4993-A079-C0B5-84240E55655D}"/>
              </a:ext>
            </a:extLst>
          </p:cNvPr>
          <p:cNvSpPr txBox="1"/>
          <p:nvPr/>
        </p:nvSpPr>
        <p:spPr>
          <a:xfrm>
            <a:off x="419869" y="3778241"/>
            <a:ext cx="7357448"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We label the velocity of the car </a:t>
            </a:r>
            <a:r>
              <a:rPr lang="en-US" sz="2400" i="1" dirty="0" err="1">
                <a:latin typeface="Times" pitchFamily="2" charset="0"/>
                <a:cs typeface="Times New Roman" panose="02020603050405020304" pitchFamily="18" charset="0"/>
              </a:rPr>
              <a:t>v</a:t>
            </a:r>
            <a:r>
              <a:rPr lang="en-US" sz="2400" baseline="-25000" dirty="0" err="1">
                <a:latin typeface="Times" pitchFamily="2" charset="0"/>
                <a:cs typeface="Times New Roman" panose="02020603050405020304" pitchFamily="18" charset="0"/>
              </a:rPr>
              <a:t>cm</a:t>
            </a:r>
            <a:r>
              <a:rPr lang="en-US" sz="2400" dirty="0">
                <a:latin typeface="Times" pitchFamily="2" charset="0"/>
                <a:cs typeface="Times New Roman" panose="02020603050405020304" pitchFamily="18" charset="0"/>
              </a:rPr>
              <a:t>, since that represents the linear speed of the </a:t>
            </a:r>
            <a:r>
              <a:rPr lang="en-US" sz="2400" dirty="0">
                <a:solidFill>
                  <a:srgbClr val="007440"/>
                </a:solidFill>
                <a:latin typeface="Times" pitchFamily="2" charset="0"/>
                <a:cs typeface="Times New Roman" panose="02020603050405020304" pitchFamily="18" charset="0"/>
              </a:rPr>
              <a:t>center of mass </a:t>
            </a:r>
            <a:r>
              <a:rPr lang="en-US" sz="2400" dirty="0">
                <a:latin typeface="Times" pitchFamily="2" charset="0"/>
                <a:cs typeface="Times New Roman" panose="02020603050405020304" pitchFamily="18" charset="0"/>
              </a:rPr>
              <a:t>of the car. </a:t>
            </a:r>
            <a:endParaRPr lang="en-US" sz="2400" u="sng" dirty="0">
              <a:latin typeface="Times" pitchFamily="2" charset="0"/>
            </a:endParaRPr>
          </a:p>
        </p:txBody>
      </p:sp>
      <p:sp>
        <p:nvSpPr>
          <p:cNvPr id="12" name="TextBox 11">
            <a:extLst>
              <a:ext uri="{FF2B5EF4-FFF2-40B4-BE49-F238E27FC236}">
                <a16:creationId xmlns:a16="http://schemas.microsoft.com/office/drawing/2014/main" id="{C349A893-2C6B-FAE1-7391-DFA6296C2BE1}"/>
              </a:ext>
            </a:extLst>
          </p:cNvPr>
          <p:cNvSpPr txBox="1"/>
          <p:nvPr/>
        </p:nvSpPr>
        <p:spPr>
          <a:xfrm>
            <a:off x="557521" y="5184253"/>
            <a:ext cx="7357448"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Now let’s consider different points on the car’s wheels...</a:t>
            </a:r>
            <a:endParaRPr lang="en-US" sz="2400" u="sng" dirty="0">
              <a:latin typeface="Times" pitchFamily="2" charset="0"/>
            </a:endParaRPr>
          </a:p>
        </p:txBody>
      </p:sp>
    </p:spTree>
    <p:extLst>
      <p:ext uri="{BB962C8B-B14F-4D97-AF65-F5344CB8AC3E}">
        <p14:creationId xmlns:p14="http://schemas.microsoft.com/office/powerpoint/2010/main" val="230087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dissolv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p:bldP spid="9" grpId="0"/>
      <p:bldP spid="11" grpId="0"/>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F2324-1C65-9BFA-A26C-2AFF1F556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DEADE-AD75-411D-2541-825677B28CA8}"/>
              </a:ext>
            </a:extLst>
          </p:cNvPr>
          <p:cNvSpPr>
            <a:spLocks noGrp="1"/>
          </p:cNvSpPr>
          <p:nvPr>
            <p:ph type="title"/>
          </p:nvPr>
        </p:nvSpPr>
        <p:spPr>
          <a:xfrm>
            <a:off x="639874" y="142278"/>
            <a:ext cx="10820401" cy="849312"/>
          </a:xfrm>
        </p:spPr>
        <p:txBody>
          <a:bodyPr>
            <a:normAutofit/>
          </a:bodyPr>
          <a:lstStyle/>
          <a:p>
            <a:r>
              <a:rPr lang="en-US" b="1" dirty="0">
                <a:ea typeface="Calibri" charset="0"/>
                <a:cs typeface="Calibri" charset="0"/>
              </a:rPr>
              <a:t>8.6</a:t>
            </a:r>
            <a:r>
              <a:rPr lang="en-US" dirty="0">
                <a:ea typeface="Calibri" charset="0"/>
                <a:cs typeface="Calibri" charset="0"/>
              </a:rPr>
              <a:t> Rolling Motion</a:t>
            </a:r>
            <a:endParaRPr lang="en-US" sz="3000" dirty="0"/>
          </a:p>
        </p:txBody>
      </p:sp>
      <p:sp>
        <p:nvSpPr>
          <p:cNvPr id="26" name="TextBox 25">
            <a:extLst>
              <a:ext uri="{FF2B5EF4-FFF2-40B4-BE49-F238E27FC236}">
                <a16:creationId xmlns:a16="http://schemas.microsoft.com/office/drawing/2014/main" id="{F061017B-9350-EEE3-793A-48707DCA0F7F}"/>
              </a:ext>
            </a:extLst>
          </p:cNvPr>
          <p:cNvSpPr txBox="1"/>
          <p:nvPr/>
        </p:nvSpPr>
        <p:spPr>
          <a:xfrm>
            <a:off x="921313" y="828563"/>
            <a:ext cx="10892143" cy="1200329"/>
          </a:xfrm>
          <a:prstGeom prst="rect">
            <a:avLst/>
          </a:prstGeom>
          <a:noFill/>
        </p:spPr>
        <p:txBody>
          <a:bodyPr wrap="square">
            <a:spAutoFit/>
          </a:bodyPr>
          <a:lstStyle/>
          <a:p>
            <a:r>
              <a:rPr lang="en-US" sz="2400" dirty="0">
                <a:latin typeface="Times" pitchFamily="2" charset="0"/>
                <a:cs typeface="Times New Roman" panose="02020603050405020304" pitchFamily="18" charset="0"/>
              </a:rPr>
              <a:t>If the wheel did not rotate as the car moved forward, i.e. if the wheels were “locked up” and sliding, for example, then each point on the wheel would have the same linear speed – a speed equal to the CM of the car.</a:t>
            </a:r>
            <a:endParaRPr lang="en-US" sz="2400" dirty="0">
              <a:latin typeface="Times" pitchFamily="2" charset="0"/>
            </a:endParaRPr>
          </a:p>
        </p:txBody>
      </p:sp>
      <p:grpSp>
        <p:nvGrpSpPr>
          <p:cNvPr id="46" name="Group 45">
            <a:extLst>
              <a:ext uri="{FF2B5EF4-FFF2-40B4-BE49-F238E27FC236}">
                <a16:creationId xmlns:a16="http://schemas.microsoft.com/office/drawing/2014/main" id="{7A3D1F65-F561-1636-2BE6-9DB03102F6B9}"/>
              </a:ext>
            </a:extLst>
          </p:cNvPr>
          <p:cNvGrpSpPr/>
          <p:nvPr/>
        </p:nvGrpSpPr>
        <p:grpSpPr>
          <a:xfrm>
            <a:off x="6255313" y="1577310"/>
            <a:ext cx="5366843" cy="461665"/>
            <a:chOff x="6255313" y="1577310"/>
            <a:chExt cx="5366843" cy="461665"/>
          </a:xfrm>
        </p:grpSpPr>
        <p:sp>
          <p:nvSpPr>
            <p:cNvPr id="43" name="TextBox 42">
              <a:extLst>
                <a:ext uri="{FF2B5EF4-FFF2-40B4-BE49-F238E27FC236}">
                  <a16:creationId xmlns:a16="http://schemas.microsoft.com/office/drawing/2014/main" id="{D35BD1A5-7837-9F74-1366-BBBD802BD71E}"/>
                </a:ext>
              </a:extLst>
            </p:cNvPr>
            <p:cNvSpPr txBox="1"/>
            <p:nvPr/>
          </p:nvSpPr>
          <p:spPr>
            <a:xfrm>
              <a:off x="6255313" y="1577310"/>
              <a:ext cx="5366843"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This is pure                                           .</a:t>
              </a:r>
              <a:endParaRPr lang="en-US" sz="2400" dirty="0">
                <a:latin typeface="Times" pitchFamily="2" charset="0"/>
              </a:endParaRPr>
            </a:p>
          </p:txBody>
        </p:sp>
        <p:sp>
          <p:nvSpPr>
            <p:cNvPr id="44" name="Rounded Rectangle 43">
              <a:extLst>
                <a:ext uri="{FF2B5EF4-FFF2-40B4-BE49-F238E27FC236}">
                  <a16:creationId xmlns:a16="http://schemas.microsoft.com/office/drawing/2014/main" id="{6587FE0E-90BF-4871-D5B6-C4D1C0D3DF03}"/>
                </a:ext>
              </a:extLst>
            </p:cNvPr>
            <p:cNvSpPr/>
            <p:nvPr/>
          </p:nvSpPr>
          <p:spPr>
            <a:xfrm>
              <a:off x="7832034" y="1630017"/>
              <a:ext cx="3180522"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TextBox 46">
            <a:extLst>
              <a:ext uri="{FF2B5EF4-FFF2-40B4-BE49-F238E27FC236}">
                <a16:creationId xmlns:a16="http://schemas.microsoft.com/office/drawing/2014/main" id="{4DC2918E-EEBA-32C4-E648-F96EEAD3F6B0}"/>
              </a:ext>
            </a:extLst>
          </p:cNvPr>
          <p:cNvSpPr txBox="1"/>
          <p:nvPr/>
        </p:nvSpPr>
        <p:spPr>
          <a:xfrm>
            <a:off x="4094547" y="2429425"/>
            <a:ext cx="4302694" cy="1200329"/>
          </a:xfrm>
          <a:prstGeom prst="rect">
            <a:avLst/>
          </a:prstGeom>
          <a:noFill/>
        </p:spPr>
        <p:txBody>
          <a:bodyPr wrap="square">
            <a:spAutoFit/>
          </a:bodyPr>
          <a:lstStyle/>
          <a:p>
            <a:r>
              <a:rPr lang="en-US" sz="2400" dirty="0">
                <a:latin typeface="Times" pitchFamily="2" charset="0"/>
                <a:cs typeface="Times New Roman" panose="02020603050405020304" pitchFamily="18" charset="0"/>
              </a:rPr>
              <a:t>Now consider if the wheel was only rotating and not moving translationally.  </a:t>
            </a:r>
            <a:endParaRPr lang="en-US" sz="2400" dirty="0">
              <a:latin typeface="Times" pitchFamily="2" charset="0"/>
            </a:endParaRPr>
          </a:p>
        </p:txBody>
      </p:sp>
      <p:sp>
        <p:nvSpPr>
          <p:cNvPr id="48" name="TextBox 47">
            <a:extLst>
              <a:ext uri="{FF2B5EF4-FFF2-40B4-BE49-F238E27FC236}">
                <a16:creationId xmlns:a16="http://schemas.microsoft.com/office/drawing/2014/main" id="{7E66244F-82AA-8A38-3935-CA520A397E59}"/>
              </a:ext>
            </a:extLst>
          </p:cNvPr>
          <p:cNvSpPr txBox="1"/>
          <p:nvPr/>
        </p:nvSpPr>
        <p:spPr>
          <a:xfrm>
            <a:off x="4057440" y="3960714"/>
            <a:ext cx="4587774"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...And rotating with an angular velocity </a:t>
            </a:r>
            <a:r>
              <a:rPr lang="en-US" sz="2400" i="1" dirty="0">
                <a:latin typeface="Symbol" pitchFamily="2" charset="2"/>
                <a:cs typeface="Times New Roman" panose="02020603050405020304" pitchFamily="18" charset="0"/>
              </a:rPr>
              <a:t>w</a:t>
            </a:r>
            <a:r>
              <a:rPr lang="en-US" sz="2400" dirty="0">
                <a:latin typeface="Times" pitchFamily="2" charset="0"/>
                <a:cs typeface="Times New Roman" panose="02020603050405020304" pitchFamily="18" charset="0"/>
              </a:rPr>
              <a:t>, such that </a:t>
            </a:r>
            <a:r>
              <a:rPr lang="en-US" sz="2400" i="1" dirty="0" err="1">
                <a:latin typeface="Times" pitchFamily="2" charset="0"/>
                <a:cs typeface="Times New Roman" panose="02020603050405020304" pitchFamily="18" charset="0"/>
              </a:rPr>
              <a:t>v</a:t>
            </a:r>
            <a:r>
              <a:rPr lang="en-US" sz="2400" baseline="-25000" dirty="0" err="1">
                <a:latin typeface="Times" pitchFamily="2" charset="0"/>
                <a:cs typeface="Times New Roman" panose="02020603050405020304" pitchFamily="18" charset="0"/>
              </a:rPr>
              <a:t>cm</a:t>
            </a:r>
            <a:r>
              <a:rPr lang="en-US" sz="2400" dirty="0">
                <a:latin typeface="Times" pitchFamily="2" charset="0"/>
                <a:cs typeface="Times New Roman" panose="02020603050405020304" pitchFamily="18" charset="0"/>
              </a:rPr>
              <a:t> = </a:t>
            </a:r>
            <a:r>
              <a:rPr lang="en-US" sz="2400" i="1" dirty="0" err="1">
                <a:latin typeface="Times" pitchFamily="2" charset="0"/>
                <a:cs typeface="Times New Roman" panose="02020603050405020304" pitchFamily="18" charset="0"/>
              </a:rPr>
              <a:t>r</a:t>
            </a:r>
            <a:r>
              <a:rPr lang="en-US" sz="2400" i="1" dirty="0" err="1">
                <a:latin typeface="Symbol" pitchFamily="2" charset="2"/>
                <a:cs typeface="Times New Roman" panose="02020603050405020304" pitchFamily="18" charset="0"/>
              </a:rPr>
              <a:t>w</a:t>
            </a:r>
            <a:r>
              <a:rPr lang="en-US" sz="2400" dirty="0">
                <a:latin typeface="Times" pitchFamily="2" charset="0"/>
                <a:cs typeface="Times New Roman" panose="02020603050405020304" pitchFamily="18" charset="0"/>
              </a:rPr>
              <a:t>.</a:t>
            </a:r>
            <a:endParaRPr lang="en-US" sz="2400" dirty="0">
              <a:latin typeface="Times" pitchFamily="2" charset="0"/>
            </a:endParaRPr>
          </a:p>
        </p:txBody>
      </p:sp>
      <p:grpSp>
        <p:nvGrpSpPr>
          <p:cNvPr id="96" name="Group 95">
            <a:extLst>
              <a:ext uri="{FF2B5EF4-FFF2-40B4-BE49-F238E27FC236}">
                <a16:creationId xmlns:a16="http://schemas.microsoft.com/office/drawing/2014/main" id="{46529E97-4AB9-8BFB-1382-6D6AEF29BD50}"/>
              </a:ext>
            </a:extLst>
          </p:cNvPr>
          <p:cNvGrpSpPr/>
          <p:nvPr/>
        </p:nvGrpSpPr>
        <p:grpSpPr>
          <a:xfrm>
            <a:off x="236293" y="2144608"/>
            <a:ext cx="4214191" cy="2824479"/>
            <a:chOff x="236293" y="2144608"/>
            <a:chExt cx="4214191" cy="2824479"/>
          </a:xfrm>
        </p:grpSpPr>
        <p:sp>
          <p:nvSpPr>
            <p:cNvPr id="40" name="TextBox 39">
              <a:extLst>
                <a:ext uri="{FF2B5EF4-FFF2-40B4-BE49-F238E27FC236}">
                  <a16:creationId xmlns:a16="http://schemas.microsoft.com/office/drawing/2014/main" id="{0D45FF95-B28C-FDDD-0A33-9DB27D1A14EE}"/>
                </a:ext>
              </a:extLst>
            </p:cNvPr>
            <p:cNvSpPr txBox="1"/>
            <p:nvPr/>
          </p:nvSpPr>
          <p:spPr>
            <a:xfrm>
              <a:off x="236293" y="2144608"/>
              <a:ext cx="4214191" cy="461665"/>
            </a:xfrm>
            <a:prstGeom prst="rect">
              <a:avLst/>
            </a:prstGeom>
            <a:noFill/>
          </p:spPr>
          <p:txBody>
            <a:bodyPr wrap="square" rtlCol="0">
              <a:spAutoFit/>
            </a:bodyPr>
            <a:lstStyle/>
            <a:p>
              <a:r>
                <a:rPr lang="en-US" sz="2400" b="1" dirty="0">
                  <a:solidFill>
                    <a:srgbClr val="002495"/>
                  </a:solidFill>
                </a:rPr>
                <a:t>Pure Translational Motion</a:t>
              </a:r>
            </a:p>
          </p:txBody>
        </p:sp>
        <p:pic>
          <p:nvPicPr>
            <p:cNvPr id="8" name="Picture 7">
              <a:extLst>
                <a:ext uri="{FF2B5EF4-FFF2-40B4-BE49-F238E27FC236}">
                  <a16:creationId xmlns:a16="http://schemas.microsoft.com/office/drawing/2014/main" id="{E81EDE62-1644-106B-775B-485AB69C901B}"/>
                </a:ext>
              </a:extLst>
            </p:cNvPr>
            <p:cNvPicPr>
              <a:picLocks noChangeAspect="1"/>
            </p:cNvPicPr>
            <p:nvPr/>
          </p:nvPicPr>
          <p:blipFill>
            <a:blip r:embed="rId3"/>
            <a:srcRect l="70204" t="22205" r="9398" b="50175"/>
            <a:stretch/>
          </p:blipFill>
          <p:spPr>
            <a:xfrm>
              <a:off x="380301" y="2829330"/>
              <a:ext cx="3298677" cy="2139757"/>
            </a:xfrm>
            <a:prstGeom prst="rect">
              <a:avLst/>
            </a:prstGeom>
          </p:spPr>
        </p:pic>
        <p:sp>
          <p:nvSpPr>
            <p:cNvPr id="6" name="Rectangle 5">
              <a:extLst>
                <a:ext uri="{FF2B5EF4-FFF2-40B4-BE49-F238E27FC236}">
                  <a16:creationId xmlns:a16="http://schemas.microsoft.com/office/drawing/2014/main" id="{9CEB33CC-F9E5-DFB3-89C7-4E210799F844}"/>
                </a:ext>
              </a:extLst>
            </p:cNvPr>
            <p:cNvSpPr/>
            <p:nvPr/>
          </p:nvSpPr>
          <p:spPr>
            <a:xfrm rot="19034367">
              <a:off x="423029" y="2772818"/>
              <a:ext cx="940038" cy="6067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7328E45-A49A-67AF-D3D4-AE3AA724EE95}"/>
                </a:ext>
              </a:extLst>
            </p:cNvPr>
            <p:cNvSpPr/>
            <p:nvPr/>
          </p:nvSpPr>
          <p:spPr>
            <a:xfrm>
              <a:off x="2506779" y="4524706"/>
              <a:ext cx="1428573" cy="272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7B53F49-18A4-4300-0C82-EF0FE2073382}"/>
                </a:ext>
              </a:extLst>
            </p:cNvPr>
            <p:cNvSpPr/>
            <p:nvPr/>
          </p:nvSpPr>
          <p:spPr>
            <a:xfrm>
              <a:off x="2707101" y="38719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EAEF099-F8FC-0882-7A7F-9B2881B7F3E4}"/>
                </a:ext>
              </a:extLst>
            </p:cNvPr>
            <p:cNvSpPr/>
            <p:nvPr/>
          </p:nvSpPr>
          <p:spPr>
            <a:xfrm>
              <a:off x="887826" y="3862407"/>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53FF825-548C-B922-7A37-5C2C2093DA46}"/>
                </a:ext>
              </a:extLst>
            </p:cNvPr>
            <p:cNvSpPr/>
            <p:nvPr/>
          </p:nvSpPr>
          <p:spPr>
            <a:xfrm>
              <a:off x="1770476" y="29321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ECBA5E0D-C636-36F3-5493-321E51A40208}"/>
                </a:ext>
              </a:extLst>
            </p:cNvPr>
            <p:cNvCxnSpPr>
              <a:cxnSpLocks/>
              <a:stCxn id="14" idx="6"/>
            </p:cNvCxnSpPr>
            <p:nvPr/>
          </p:nvCxnSpPr>
          <p:spPr>
            <a:xfrm>
              <a:off x="1881572" y="2987680"/>
              <a:ext cx="743454"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C4F0346-5500-3788-7D97-ED092BFBA19D}"/>
                </a:ext>
              </a:extLst>
            </p:cNvPr>
            <p:cNvCxnSpPr/>
            <p:nvPr/>
          </p:nvCxnSpPr>
          <p:spPr>
            <a:xfrm flipV="1">
              <a:off x="1903797" y="4826212"/>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B2D8674-92CD-0D30-0DBA-F8D61384BEC1}"/>
                </a:ext>
              </a:extLst>
            </p:cNvPr>
            <p:cNvCxnSpPr/>
            <p:nvPr/>
          </p:nvCxnSpPr>
          <p:spPr>
            <a:xfrm flipV="1">
              <a:off x="995747" y="3914987"/>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8B60BE8-F2B8-39B8-F85A-BF35AC85C1E1}"/>
                </a:ext>
              </a:extLst>
            </p:cNvPr>
            <p:cNvSpPr txBox="1"/>
            <p:nvPr/>
          </p:nvSpPr>
          <p:spPr>
            <a:xfrm>
              <a:off x="2199576" y="2495762"/>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sp>
          <p:nvSpPr>
            <p:cNvPr id="21" name="TextBox 20">
              <a:extLst>
                <a:ext uri="{FF2B5EF4-FFF2-40B4-BE49-F238E27FC236}">
                  <a16:creationId xmlns:a16="http://schemas.microsoft.com/office/drawing/2014/main" id="{C69718BD-6ADE-22EA-DDEB-B7A53C0F0FB4}"/>
                </a:ext>
              </a:extLst>
            </p:cNvPr>
            <p:cNvSpPr txBox="1"/>
            <p:nvPr/>
          </p:nvSpPr>
          <p:spPr>
            <a:xfrm>
              <a:off x="450151" y="3759412"/>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sp>
          <p:nvSpPr>
            <p:cNvPr id="23" name="TextBox 22">
              <a:extLst>
                <a:ext uri="{FF2B5EF4-FFF2-40B4-BE49-F238E27FC236}">
                  <a16:creationId xmlns:a16="http://schemas.microsoft.com/office/drawing/2014/main" id="{29AF28EA-2DA4-34E5-F47C-089001C34704}"/>
                </a:ext>
              </a:extLst>
            </p:cNvPr>
            <p:cNvSpPr txBox="1"/>
            <p:nvPr/>
          </p:nvSpPr>
          <p:spPr>
            <a:xfrm>
              <a:off x="400621" y="2733887"/>
              <a:ext cx="1117600" cy="400110"/>
            </a:xfrm>
            <a:prstGeom prst="rect">
              <a:avLst/>
            </a:prstGeom>
            <a:noFill/>
          </p:spPr>
          <p:txBody>
            <a:bodyPr wrap="square" rtlCol="0">
              <a:spAutoFit/>
            </a:bodyPr>
            <a:lstStyle/>
            <a:p>
              <a:r>
                <a:rPr lang="en-US" sz="2000" i="1" dirty="0">
                  <a:latin typeface="Symbol" pitchFamily="2" charset="2"/>
                </a:rPr>
                <a:t>w</a:t>
              </a:r>
              <a:r>
                <a:rPr lang="en-US" sz="2000" dirty="0"/>
                <a:t> </a:t>
              </a:r>
              <a:r>
                <a:rPr lang="en-US" sz="2000" dirty="0">
                  <a:latin typeface="Times" pitchFamily="2" charset="0"/>
                </a:rPr>
                <a:t>= 0</a:t>
              </a:r>
            </a:p>
          </p:txBody>
        </p:sp>
        <p:sp>
          <p:nvSpPr>
            <p:cNvPr id="88" name="TextBox 87">
              <a:extLst>
                <a:ext uri="{FF2B5EF4-FFF2-40B4-BE49-F238E27FC236}">
                  <a16:creationId xmlns:a16="http://schemas.microsoft.com/office/drawing/2014/main" id="{CE07B826-4782-5DE8-A32B-75BC5B797336}"/>
                </a:ext>
              </a:extLst>
            </p:cNvPr>
            <p:cNvSpPr txBox="1"/>
            <p:nvPr/>
          </p:nvSpPr>
          <p:spPr>
            <a:xfrm>
              <a:off x="2538830" y="4370983"/>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grpSp>
      <p:grpSp>
        <p:nvGrpSpPr>
          <p:cNvPr id="99" name="Group 98">
            <a:extLst>
              <a:ext uri="{FF2B5EF4-FFF2-40B4-BE49-F238E27FC236}">
                <a16:creationId xmlns:a16="http://schemas.microsoft.com/office/drawing/2014/main" id="{BAA433FF-65C0-7F86-B2CA-78952262FA08}"/>
              </a:ext>
            </a:extLst>
          </p:cNvPr>
          <p:cNvGrpSpPr/>
          <p:nvPr/>
        </p:nvGrpSpPr>
        <p:grpSpPr>
          <a:xfrm>
            <a:off x="8371399" y="2210734"/>
            <a:ext cx="4353113" cy="2947420"/>
            <a:chOff x="8401879" y="2606974"/>
            <a:chExt cx="4353113" cy="2947420"/>
          </a:xfrm>
        </p:grpSpPr>
        <p:grpSp>
          <p:nvGrpSpPr>
            <p:cNvPr id="97" name="Group 96">
              <a:extLst>
                <a:ext uri="{FF2B5EF4-FFF2-40B4-BE49-F238E27FC236}">
                  <a16:creationId xmlns:a16="http://schemas.microsoft.com/office/drawing/2014/main" id="{D5A91957-D33D-DCB1-863F-6AA70BD7838C}"/>
                </a:ext>
              </a:extLst>
            </p:cNvPr>
            <p:cNvGrpSpPr/>
            <p:nvPr/>
          </p:nvGrpSpPr>
          <p:grpSpPr>
            <a:xfrm>
              <a:off x="8401879" y="3012860"/>
              <a:ext cx="3790121" cy="2541534"/>
              <a:chOff x="5199794" y="3493307"/>
              <a:chExt cx="3790121" cy="2541534"/>
            </a:xfrm>
          </p:grpSpPr>
          <p:grpSp>
            <p:nvGrpSpPr>
              <p:cNvPr id="94" name="Group 93">
                <a:extLst>
                  <a:ext uri="{FF2B5EF4-FFF2-40B4-BE49-F238E27FC236}">
                    <a16:creationId xmlns:a16="http://schemas.microsoft.com/office/drawing/2014/main" id="{8E05FFE6-9B52-824B-C33C-6CD1CD868AD8}"/>
                  </a:ext>
                </a:extLst>
              </p:cNvPr>
              <p:cNvGrpSpPr/>
              <p:nvPr/>
            </p:nvGrpSpPr>
            <p:grpSpPr>
              <a:xfrm>
                <a:off x="5199794" y="3493307"/>
                <a:ext cx="3790121" cy="2541534"/>
                <a:chOff x="4068418" y="3400317"/>
                <a:chExt cx="3790121" cy="2541534"/>
              </a:xfrm>
            </p:grpSpPr>
            <p:pic>
              <p:nvPicPr>
                <p:cNvPr id="27" name="Picture 26">
                  <a:extLst>
                    <a:ext uri="{FF2B5EF4-FFF2-40B4-BE49-F238E27FC236}">
                      <a16:creationId xmlns:a16="http://schemas.microsoft.com/office/drawing/2014/main" id="{74188EAB-581A-CA9C-090E-9485854197EA}"/>
                    </a:ext>
                  </a:extLst>
                </p:cNvPr>
                <p:cNvPicPr>
                  <a:picLocks noChangeAspect="1"/>
                </p:cNvPicPr>
                <p:nvPr/>
              </p:nvPicPr>
              <p:blipFill>
                <a:blip r:embed="rId3"/>
                <a:srcRect l="36577" t="22060" r="39986" b="52966"/>
                <a:stretch/>
              </p:blipFill>
              <p:spPr>
                <a:xfrm>
                  <a:off x="4068418" y="3896140"/>
                  <a:ext cx="3790121" cy="1934817"/>
                </a:xfrm>
                <a:prstGeom prst="rect">
                  <a:avLst/>
                </a:prstGeom>
              </p:spPr>
            </p:pic>
            <p:sp>
              <p:nvSpPr>
                <p:cNvPr id="67" name="Freeform 66">
                  <a:extLst>
                    <a:ext uri="{FF2B5EF4-FFF2-40B4-BE49-F238E27FC236}">
                      <a16:creationId xmlns:a16="http://schemas.microsoft.com/office/drawing/2014/main" id="{9FDA79BE-C4B5-F889-7BD1-BA6F34FD4A27}"/>
                    </a:ext>
                  </a:extLst>
                </p:cNvPr>
                <p:cNvSpPr/>
                <p:nvPr/>
              </p:nvSpPr>
              <p:spPr>
                <a:xfrm>
                  <a:off x="5489217" y="5766709"/>
                  <a:ext cx="650372" cy="127030"/>
                </a:xfrm>
                <a:custGeom>
                  <a:avLst/>
                  <a:gdLst>
                    <a:gd name="connsiteX0" fmla="*/ 0 w 650372"/>
                    <a:gd name="connsiteY0" fmla="*/ 34955 h 127030"/>
                    <a:gd name="connsiteX1" fmla="*/ 73025 w 650372"/>
                    <a:gd name="connsiteY1" fmla="*/ 66705 h 127030"/>
                    <a:gd name="connsiteX2" fmla="*/ 127000 w 650372"/>
                    <a:gd name="connsiteY2" fmla="*/ 88930 h 127030"/>
                    <a:gd name="connsiteX3" fmla="*/ 206375 w 650372"/>
                    <a:gd name="connsiteY3" fmla="*/ 114330 h 127030"/>
                    <a:gd name="connsiteX4" fmla="*/ 288925 w 650372"/>
                    <a:gd name="connsiteY4" fmla="*/ 123855 h 127030"/>
                    <a:gd name="connsiteX5" fmla="*/ 365125 w 650372"/>
                    <a:gd name="connsiteY5" fmla="*/ 127030 h 127030"/>
                    <a:gd name="connsiteX6" fmla="*/ 425450 w 650372"/>
                    <a:gd name="connsiteY6" fmla="*/ 123855 h 127030"/>
                    <a:gd name="connsiteX7" fmla="*/ 488950 w 650372"/>
                    <a:gd name="connsiteY7" fmla="*/ 111155 h 127030"/>
                    <a:gd name="connsiteX8" fmla="*/ 533400 w 650372"/>
                    <a:gd name="connsiteY8" fmla="*/ 101630 h 127030"/>
                    <a:gd name="connsiteX9" fmla="*/ 574675 w 650372"/>
                    <a:gd name="connsiteY9" fmla="*/ 82580 h 127030"/>
                    <a:gd name="connsiteX10" fmla="*/ 615950 w 650372"/>
                    <a:gd name="connsiteY10" fmla="*/ 57180 h 127030"/>
                    <a:gd name="connsiteX11" fmla="*/ 641350 w 650372"/>
                    <a:gd name="connsiteY11" fmla="*/ 34955 h 127030"/>
                    <a:gd name="connsiteX12" fmla="*/ 641350 w 650372"/>
                    <a:gd name="connsiteY12" fmla="*/ 30 h 127030"/>
                    <a:gd name="connsiteX13" fmla="*/ 533400 w 650372"/>
                    <a:gd name="connsiteY13" fmla="*/ 41305 h 127030"/>
                    <a:gd name="connsiteX14" fmla="*/ 295275 w 650372"/>
                    <a:gd name="connsiteY14" fmla="*/ 41305 h 127030"/>
                    <a:gd name="connsiteX15" fmla="*/ 152400 w 650372"/>
                    <a:gd name="connsiteY15" fmla="*/ 41305 h 127030"/>
                    <a:gd name="connsiteX16" fmla="*/ 0 w 650372"/>
                    <a:gd name="connsiteY16" fmla="*/ 34955 h 12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0372" h="127030">
                      <a:moveTo>
                        <a:pt x="0" y="34955"/>
                      </a:moveTo>
                      <a:lnTo>
                        <a:pt x="73025" y="66705"/>
                      </a:lnTo>
                      <a:cubicBezTo>
                        <a:pt x="94192" y="75701"/>
                        <a:pt x="104775" y="80993"/>
                        <a:pt x="127000" y="88930"/>
                      </a:cubicBezTo>
                      <a:cubicBezTo>
                        <a:pt x="149225" y="96868"/>
                        <a:pt x="179387" y="108509"/>
                        <a:pt x="206375" y="114330"/>
                      </a:cubicBezTo>
                      <a:cubicBezTo>
                        <a:pt x="233363" y="120151"/>
                        <a:pt x="262467" y="121738"/>
                        <a:pt x="288925" y="123855"/>
                      </a:cubicBezTo>
                      <a:cubicBezTo>
                        <a:pt x="315383" y="125972"/>
                        <a:pt x="342371" y="127030"/>
                        <a:pt x="365125" y="127030"/>
                      </a:cubicBezTo>
                      <a:cubicBezTo>
                        <a:pt x="387879" y="127030"/>
                        <a:pt x="404813" y="126501"/>
                        <a:pt x="425450" y="123855"/>
                      </a:cubicBezTo>
                      <a:cubicBezTo>
                        <a:pt x="446087" y="121209"/>
                        <a:pt x="488950" y="111155"/>
                        <a:pt x="488950" y="111155"/>
                      </a:cubicBezTo>
                      <a:cubicBezTo>
                        <a:pt x="506942" y="107451"/>
                        <a:pt x="519112" y="106393"/>
                        <a:pt x="533400" y="101630"/>
                      </a:cubicBezTo>
                      <a:cubicBezTo>
                        <a:pt x="547688" y="96867"/>
                        <a:pt x="560917" y="89988"/>
                        <a:pt x="574675" y="82580"/>
                      </a:cubicBezTo>
                      <a:cubicBezTo>
                        <a:pt x="588433" y="75172"/>
                        <a:pt x="604838" y="65118"/>
                        <a:pt x="615950" y="57180"/>
                      </a:cubicBezTo>
                      <a:cubicBezTo>
                        <a:pt x="627063" y="49243"/>
                        <a:pt x="637117" y="44480"/>
                        <a:pt x="641350" y="34955"/>
                      </a:cubicBezTo>
                      <a:cubicBezTo>
                        <a:pt x="645583" y="25430"/>
                        <a:pt x="659341" y="-1028"/>
                        <a:pt x="641350" y="30"/>
                      </a:cubicBezTo>
                      <a:cubicBezTo>
                        <a:pt x="623359" y="1088"/>
                        <a:pt x="591079" y="34426"/>
                        <a:pt x="533400" y="41305"/>
                      </a:cubicBezTo>
                      <a:cubicBezTo>
                        <a:pt x="475721" y="48184"/>
                        <a:pt x="295275" y="41305"/>
                        <a:pt x="295275" y="41305"/>
                      </a:cubicBezTo>
                      <a:lnTo>
                        <a:pt x="152400" y="41305"/>
                      </a:lnTo>
                      <a:lnTo>
                        <a:pt x="0" y="34955"/>
                      </a:lnTo>
                      <a:close/>
                    </a:path>
                  </a:pathLst>
                </a:cu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856BFF47-0247-F625-ECE9-B9429BDF9CAD}"/>
                    </a:ext>
                  </a:extLst>
                </p:cNvPr>
                <p:cNvSpPr/>
                <p:nvPr/>
              </p:nvSpPr>
              <p:spPr>
                <a:xfrm rot="20726395">
                  <a:off x="6362925" y="5605434"/>
                  <a:ext cx="1028024" cy="3192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61AC1887-F259-5A1E-DCC7-D031C8CAFAA7}"/>
                    </a:ext>
                  </a:extLst>
                </p:cNvPr>
                <p:cNvSpPr/>
                <p:nvPr/>
              </p:nvSpPr>
              <p:spPr>
                <a:xfrm rot="18752524">
                  <a:off x="4408763" y="3845505"/>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7175E08E-BD3A-5B7D-EDDF-391691E9ABA5}"/>
                    </a:ext>
                  </a:extLst>
                </p:cNvPr>
                <p:cNvSpPr/>
                <p:nvPr/>
              </p:nvSpPr>
              <p:spPr>
                <a:xfrm>
                  <a:off x="5791340" y="5830756"/>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D886A20-5D28-60CE-1D87-67D92E637192}"/>
                    </a:ext>
                  </a:extLst>
                </p:cNvPr>
                <p:cNvSpPr/>
                <p:nvPr/>
              </p:nvSpPr>
              <p:spPr>
                <a:xfrm>
                  <a:off x="5802161" y="3985724"/>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F59EB7C-95EB-46AA-23D1-66B9B6B98A34}"/>
                    </a:ext>
                  </a:extLst>
                </p:cNvPr>
                <p:cNvSpPr/>
                <p:nvPr/>
              </p:nvSpPr>
              <p:spPr>
                <a:xfrm>
                  <a:off x="6690410" y="493349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DD23F9BA-C2E5-3680-1500-FCF720620AA1}"/>
                    </a:ext>
                  </a:extLst>
                </p:cNvPr>
                <p:cNvSpPr/>
                <p:nvPr/>
              </p:nvSpPr>
              <p:spPr>
                <a:xfrm>
                  <a:off x="4867020" y="4944311"/>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9D803FEC-261B-49FF-517B-732E19A322C5}"/>
                    </a:ext>
                  </a:extLst>
                </p:cNvPr>
                <p:cNvCxnSpPr>
                  <a:cxnSpLocks/>
                </p:cNvCxnSpPr>
                <p:nvPr/>
              </p:nvCxnSpPr>
              <p:spPr>
                <a:xfrm flipV="1">
                  <a:off x="4917696" y="4139148"/>
                  <a:ext cx="0" cy="806998"/>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B91D609-C1B1-1A10-DFF9-8B8D29625ADC}"/>
                    </a:ext>
                  </a:extLst>
                </p:cNvPr>
                <p:cNvCxnSpPr>
                  <a:cxnSpLocks/>
                </p:cNvCxnSpPr>
                <p:nvPr/>
              </p:nvCxnSpPr>
              <p:spPr>
                <a:xfrm>
                  <a:off x="5903336" y="4043468"/>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80B8F4B4-4231-78DB-B710-517FD999CD71}"/>
                    </a:ext>
                  </a:extLst>
                </p:cNvPr>
                <p:cNvSpPr/>
                <p:nvPr/>
              </p:nvSpPr>
              <p:spPr>
                <a:xfrm>
                  <a:off x="6811994" y="467423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10860B61-63A1-0298-774C-9DF8DCEA5358}"/>
                    </a:ext>
                  </a:extLst>
                </p:cNvPr>
                <p:cNvCxnSpPr>
                  <a:cxnSpLocks/>
                </p:cNvCxnSpPr>
                <p:nvPr/>
              </p:nvCxnSpPr>
              <p:spPr>
                <a:xfrm>
                  <a:off x="6753709" y="5039929"/>
                  <a:ext cx="0" cy="72782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5B1D71D-BF0E-832F-F311-CFF827015BC0}"/>
                    </a:ext>
                  </a:extLst>
                </p:cNvPr>
                <p:cNvCxnSpPr>
                  <a:cxnSpLocks/>
                </p:cNvCxnSpPr>
                <p:nvPr/>
              </p:nvCxnSpPr>
              <p:spPr>
                <a:xfrm flipH="1">
                  <a:off x="4958275" y="5898511"/>
                  <a:ext cx="831122"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5" name="Arc 84">
                  <a:extLst>
                    <a:ext uri="{FF2B5EF4-FFF2-40B4-BE49-F238E27FC236}">
                      <a16:creationId xmlns:a16="http://schemas.microsoft.com/office/drawing/2014/main" id="{37217DFA-3160-4E71-72D4-C3F1D742D35D}"/>
                    </a:ext>
                  </a:extLst>
                </p:cNvPr>
                <p:cNvSpPr/>
                <p:nvPr/>
              </p:nvSpPr>
              <p:spPr>
                <a:xfrm rot="14793523">
                  <a:off x="4502040" y="4782468"/>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CB45FAAB-FCE3-2281-DF52-CB7FD1434521}"/>
                    </a:ext>
                  </a:extLst>
                </p:cNvPr>
                <p:cNvSpPr txBox="1"/>
                <p:nvPr/>
              </p:nvSpPr>
              <p:spPr>
                <a:xfrm>
                  <a:off x="5167172" y="3400317"/>
                  <a:ext cx="149875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r>
                    <a:rPr lang="en-US" sz="2400" dirty="0">
                      <a:latin typeface="Times" pitchFamily="2" charset="0"/>
                    </a:rPr>
                    <a:t>=</a:t>
                  </a:r>
                  <a:r>
                    <a:rPr lang="en-US" sz="2400" i="1" dirty="0">
                      <a:latin typeface="Symbol" pitchFamily="2" charset="2"/>
                    </a:rPr>
                    <a:t> </a:t>
                  </a:r>
                  <a:r>
                    <a:rPr lang="en-US" sz="2400" i="1" dirty="0" err="1">
                      <a:latin typeface="Times" pitchFamily="2" charset="0"/>
                    </a:rPr>
                    <a:t>r</a:t>
                  </a:r>
                  <a:r>
                    <a:rPr lang="en-US" sz="2400" i="1" dirty="0" err="1">
                      <a:latin typeface="Symbol" pitchFamily="2" charset="2"/>
                    </a:rPr>
                    <a:t>w</a:t>
                  </a:r>
                  <a:endParaRPr lang="en-US" sz="2400" i="1" dirty="0">
                    <a:latin typeface="Symbol" pitchFamily="2" charset="2"/>
                  </a:endParaRPr>
                </a:p>
              </p:txBody>
            </p:sp>
            <p:sp>
              <p:nvSpPr>
                <p:cNvPr id="90" name="TextBox 89">
                  <a:extLst>
                    <a:ext uri="{FF2B5EF4-FFF2-40B4-BE49-F238E27FC236}">
                      <a16:creationId xmlns:a16="http://schemas.microsoft.com/office/drawing/2014/main" id="{44CE427C-2617-161C-E1EF-D7F1F59B5CC8}"/>
                    </a:ext>
                  </a:extLst>
                </p:cNvPr>
                <p:cNvSpPr txBox="1"/>
                <p:nvPr/>
              </p:nvSpPr>
              <p:spPr>
                <a:xfrm>
                  <a:off x="6509915" y="3585181"/>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1" name="TextBox 90">
                  <a:extLst>
                    <a:ext uri="{FF2B5EF4-FFF2-40B4-BE49-F238E27FC236}">
                      <a16:creationId xmlns:a16="http://schemas.microsoft.com/office/drawing/2014/main" id="{7D640847-96F9-53C5-89BA-A3C1FFA2E283}"/>
                    </a:ext>
                  </a:extLst>
                </p:cNvPr>
                <p:cNvSpPr txBox="1"/>
                <p:nvPr/>
              </p:nvSpPr>
              <p:spPr>
                <a:xfrm>
                  <a:off x="6754296" y="5463579"/>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2" name="TextBox 91">
                  <a:extLst>
                    <a:ext uri="{FF2B5EF4-FFF2-40B4-BE49-F238E27FC236}">
                      <a16:creationId xmlns:a16="http://schemas.microsoft.com/office/drawing/2014/main" id="{A56222C4-B433-363C-E66D-A2A537B4DD52}"/>
                    </a:ext>
                  </a:extLst>
                </p:cNvPr>
                <p:cNvSpPr txBox="1"/>
                <p:nvPr/>
              </p:nvSpPr>
              <p:spPr>
                <a:xfrm>
                  <a:off x="4574705" y="5410374"/>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3" name="TextBox 92">
                  <a:extLst>
                    <a:ext uri="{FF2B5EF4-FFF2-40B4-BE49-F238E27FC236}">
                      <a16:creationId xmlns:a16="http://schemas.microsoft.com/office/drawing/2014/main" id="{A763EB44-CBA6-8B6F-0C89-3B3ABD0F3AA1}"/>
                    </a:ext>
                  </a:extLst>
                </p:cNvPr>
                <p:cNvSpPr txBox="1"/>
                <p:nvPr/>
              </p:nvSpPr>
              <p:spPr>
                <a:xfrm>
                  <a:off x="4352868" y="3819643"/>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grpSp>
          <p:sp>
            <p:nvSpPr>
              <p:cNvPr id="22" name="TextBox 21">
                <a:extLst>
                  <a:ext uri="{FF2B5EF4-FFF2-40B4-BE49-F238E27FC236}">
                    <a16:creationId xmlns:a16="http://schemas.microsoft.com/office/drawing/2014/main" id="{09EB3DBF-BF6D-8DC5-E397-C50D220B1F91}"/>
                  </a:ext>
                </a:extLst>
              </p:cNvPr>
              <p:cNvSpPr txBox="1"/>
              <p:nvPr/>
            </p:nvSpPr>
            <p:spPr>
              <a:xfrm>
                <a:off x="5386041" y="4615803"/>
                <a:ext cx="685800" cy="461665"/>
              </a:xfrm>
              <a:prstGeom prst="rect">
                <a:avLst/>
              </a:prstGeom>
              <a:noFill/>
            </p:spPr>
            <p:txBody>
              <a:bodyPr wrap="square" rtlCol="0">
                <a:spAutoFit/>
              </a:bodyPr>
              <a:lstStyle/>
              <a:p>
                <a:r>
                  <a:rPr lang="en-US" sz="2400" i="1" dirty="0">
                    <a:latin typeface="Symbol" pitchFamily="2" charset="2"/>
                  </a:rPr>
                  <a:t>w</a:t>
                </a:r>
              </a:p>
            </p:txBody>
          </p:sp>
        </p:grpSp>
        <p:sp>
          <p:nvSpPr>
            <p:cNvPr id="98" name="TextBox 97">
              <a:extLst>
                <a:ext uri="{FF2B5EF4-FFF2-40B4-BE49-F238E27FC236}">
                  <a16:creationId xmlns:a16="http://schemas.microsoft.com/office/drawing/2014/main" id="{375F87FD-B93E-155A-199F-452035D4FF13}"/>
                </a:ext>
              </a:extLst>
            </p:cNvPr>
            <p:cNvSpPr txBox="1"/>
            <p:nvPr/>
          </p:nvSpPr>
          <p:spPr>
            <a:xfrm>
              <a:off x="8540801" y="2606974"/>
              <a:ext cx="4214191" cy="461665"/>
            </a:xfrm>
            <a:prstGeom prst="rect">
              <a:avLst/>
            </a:prstGeom>
            <a:noFill/>
          </p:spPr>
          <p:txBody>
            <a:bodyPr wrap="square" rtlCol="0">
              <a:spAutoFit/>
            </a:bodyPr>
            <a:lstStyle/>
            <a:p>
              <a:r>
                <a:rPr lang="en-US" sz="2400" b="1" dirty="0">
                  <a:solidFill>
                    <a:srgbClr val="002495"/>
                  </a:solidFill>
                </a:rPr>
                <a:t>Pure Rotational Motion</a:t>
              </a:r>
            </a:p>
          </p:txBody>
        </p:sp>
      </p:grpSp>
      <p:grpSp>
        <p:nvGrpSpPr>
          <p:cNvPr id="100" name="Group 99">
            <a:extLst>
              <a:ext uri="{FF2B5EF4-FFF2-40B4-BE49-F238E27FC236}">
                <a16:creationId xmlns:a16="http://schemas.microsoft.com/office/drawing/2014/main" id="{5743D1AD-E2C6-44F9-1BAF-019F2543E72C}"/>
              </a:ext>
            </a:extLst>
          </p:cNvPr>
          <p:cNvGrpSpPr/>
          <p:nvPr/>
        </p:nvGrpSpPr>
        <p:grpSpPr>
          <a:xfrm>
            <a:off x="3871224" y="5042989"/>
            <a:ext cx="5366843" cy="461665"/>
            <a:chOff x="6255313" y="1577310"/>
            <a:chExt cx="5366843" cy="461665"/>
          </a:xfrm>
        </p:grpSpPr>
        <p:sp>
          <p:nvSpPr>
            <p:cNvPr id="101" name="TextBox 100">
              <a:extLst>
                <a:ext uri="{FF2B5EF4-FFF2-40B4-BE49-F238E27FC236}">
                  <a16:creationId xmlns:a16="http://schemas.microsoft.com/office/drawing/2014/main" id="{92782978-BAA2-B725-4FEE-843F987C6C4F}"/>
                </a:ext>
              </a:extLst>
            </p:cNvPr>
            <p:cNvSpPr txBox="1"/>
            <p:nvPr/>
          </p:nvSpPr>
          <p:spPr>
            <a:xfrm>
              <a:off x="6255313" y="1577310"/>
              <a:ext cx="5366843"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This is pure                                     .</a:t>
              </a:r>
              <a:endParaRPr lang="en-US" sz="2400" dirty="0">
                <a:latin typeface="Times" pitchFamily="2" charset="0"/>
              </a:endParaRPr>
            </a:p>
          </p:txBody>
        </p:sp>
        <p:sp>
          <p:nvSpPr>
            <p:cNvPr id="102" name="Rounded Rectangle 101">
              <a:extLst>
                <a:ext uri="{FF2B5EF4-FFF2-40B4-BE49-F238E27FC236}">
                  <a16:creationId xmlns:a16="http://schemas.microsoft.com/office/drawing/2014/main" id="{3659DBDE-8A37-AAA7-C44B-89B1890F310D}"/>
                </a:ext>
              </a:extLst>
            </p:cNvPr>
            <p:cNvSpPr/>
            <p:nvPr/>
          </p:nvSpPr>
          <p:spPr>
            <a:xfrm>
              <a:off x="7832034" y="1630017"/>
              <a:ext cx="2735120"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TextBox 103">
            <a:extLst>
              <a:ext uri="{FF2B5EF4-FFF2-40B4-BE49-F238E27FC236}">
                <a16:creationId xmlns:a16="http://schemas.microsoft.com/office/drawing/2014/main" id="{83E60B30-C58D-9263-535F-ECC1955F06B9}"/>
              </a:ext>
            </a:extLst>
          </p:cNvPr>
          <p:cNvSpPr txBox="1"/>
          <p:nvPr/>
        </p:nvSpPr>
        <p:spPr>
          <a:xfrm>
            <a:off x="875593" y="5840551"/>
            <a:ext cx="10892143"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A wheel that was rolling without slipping will be the sum of these two motions...</a:t>
            </a:r>
            <a:endParaRPr lang="en-US" sz="2400" dirty="0">
              <a:latin typeface="Times" pitchFamily="2" charset="0"/>
            </a:endParaRPr>
          </a:p>
        </p:txBody>
      </p:sp>
    </p:spTree>
    <p:extLst>
      <p:ext uri="{BB962C8B-B14F-4D97-AF65-F5344CB8AC3E}">
        <p14:creationId xmlns:p14="http://schemas.microsoft.com/office/powerpoint/2010/main" val="356081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96"/>
                                        </p:tgtEl>
                                        <p:attrNameLst>
                                          <p:attrName>style.visibility</p:attrName>
                                        </p:attrNameLst>
                                      </p:cBhvr>
                                      <p:to>
                                        <p:strVal val="visible"/>
                                      </p:to>
                                    </p:set>
                                    <p:animEffect transition="in" filter="dissolve">
                                      <p:cBhvr>
                                        <p:cTn id="16" dur="500"/>
                                        <p:tgtEl>
                                          <p:spTgt spid="9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dissolve">
                                      <p:cBhvr>
                                        <p:cTn id="21" dur="5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8"/>
                                        </p:tgtEl>
                                        <p:attrNameLst>
                                          <p:attrName>style.visibility</p:attrName>
                                        </p:attrNameLst>
                                      </p:cBhvr>
                                      <p:to>
                                        <p:strVal val="visible"/>
                                      </p:to>
                                    </p:set>
                                    <p:animEffect transition="in" filter="dissolve">
                                      <p:cBhvr>
                                        <p:cTn id="26" dur="500"/>
                                        <p:tgtEl>
                                          <p:spTgt spid="4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dissolve">
                                      <p:cBhvr>
                                        <p:cTn id="31" dur="500"/>
                                        <p:tgtEl>
                                          <p:spTgt spid="100"/>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99"/>
                                        </p:tgtEl>
                                        <p:attrNameLst>
                                          <p:attrName>style.visibility</p:attrName>
                                        </p:attrNameLst>
                                      </p:cBhvr>
                                      <p:to>
                                        <p:strVal val="visible"/>
                                      </p:to>
                                    </p:set>
                                    <p:animEffect transition="in" filter="dissolve">
                                      <p:cBhvr>
                                        <p:cTn id="35" dur="500"/>
                                        <p:tgtEl>
                                          <p:spTgt spid="99"/>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04"/>
                                        </p:tgtEl>
                                        <p:attrNameLst>
                                          <p:attrName>style.visibility</p:attrName>
                                        </p:attrNameLst>
                                      </p:cBhvr>
                                      <p:to>
                                        <p:strVal val="visible"/>
                                      </p:to>
                                    </p:set>
                                    <p:animEffect transition="in" filter="dissolve">
                                      <p:cBhvr>
                                        <p:cTn id="40"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7" grpId="0"/>
      <p:bldP spid="48" grpId="0"/>
      <p:bldP spid="10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F0CEF-CB75-D6C1-8AF9-7183B1FA2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A2B3E-7367-0EC1-9766-4A6A0E977509}"/>
              </a:ext>
            </a:extLst>
          </p:cNvPr>
          <p:cNvSpPr>
            <a:spLocks noGrp="1"/>
          </p:cNvSpPr>
          <p:nvPr>
            <p:ph type="title"/>
          </p:nvPr>
        </p:nvSpPr>
        <p:spPr>
          <a:xfrm>
            <a:off x="639874" y="142278"/>
            <a:ext cx="10820401" cy="849312"/>
          </a:xfrm>
        </p:spPr>
        <p:txBody>
          <a:bodyPr>
            <a:normAutofit/>
          </a:bodyPr>
          <a:lstStyle/>
          <a:p>
            <a:r>
              <a:rPr lang="en-US" b="1" dirty="0">
                <a:ea typeface="Calibri" charset="0"/>
                <a:cs typeface="Calibri" charset="0"/>
              </a:rPr>
              <a:t>8.6</a:t>
            </a:r>
            <a:r>
              <a:rPr lang="en-US" dirty="0">
                <a:ea typeface="Calibri" charset="0"/>
                <a:cs typeface="Calibri" charset="0"/>
              </a:rPr>
              <a:t> Rolling Motion</a:t>
            </a:r>
            <a:endParaRPr lang="en-US" sz="3000" dirty="0"/>
          </a:p>
        </p:txBody>
      </p:sp>
      <p:grpSp>
        <p:nvGrpSpPr>
          <p:cNvPr id="112" name="Group 111">
            <a:extLst>
              <a:ext uri="{FF2B5EF4-FFF2-40B4-BE49-F238E27FC236}">
                <a16:creationId xmlns:a16="http://schemas.microsoft.com/office/drawing/2014/main" id="{3332F20A-E88F-8279-A449-0023B455F0C9}"/>
              </a:ext>
            </a:extLst>
          </p:cNvPr>
          <p:cNvGrpSpPr/>
          <p:nvPr/>
        </p:nvGrpSpPr>
        <p:grpSpPr>
          <a:xfrm>
            <a:off x="221053" y="733916"/>
            <a:ext cx="11970947" cy="3399253"/>
            <a:chOff x="221053" y="879688"/>
            <a:chExt cx="11970947" cy="3399253"/>
          </a:xfrm>
        </p:grpSpPr>
        <p:grpSp>
          <p:nvGrpSpPr>
            <p:cNvPr id="96" name="Group 95">
              <a:extLst>
                <a:ext uri="{FF2B5EF4-FFF2-40B4-BE49-F238E27FC236}">
                  <a16:creationId xmlns:a16="http://schemas.microsoft.com/office/drawing/2014/main" id="{0BE289A0-BC25-BCB7-F548-EF833568A0C9}"/>
                </a:ext>
              </a:extLst>
            </p:cNvPr>
            <p:cNvGrpSpPr/>
            <p:nvPr/>
          </p:nvGrpSpPr>
          <p:grpSpPr>
            <a:xfrm>
              <a:off x="221053" y="879688"/>
              <a:ext cx="4214191" cy="3037839"/>
              <a:chOff x="236293" y="1931248"/>
              <a:chExt cx="4214191" cy="3037839"/>
            </a:xfrm>
          </p:grpSpPr>
          <p:sp>
            <p:nvSpPr>
              <p:cNvPr id="40" name="TextBox 39">
                <a:extLst>
                  <a:ext uri="{FF2B5EF4-FFF2-40B4-BE49-F238E27FC236}">
                    <a16:creationId xmlns:a16="http://schemas.microsoft.com/office/drawing/2014/main" id="{0FE36FB7-A398-5FDC-713F-978B01B7C61F}"/>
                  </a:ext>
                </a:extLst>
              </p:cNvPr>
              <p:cNvSpPr txBox="1"/>
              <p:nvPr/>
            </p:nvSpPr>
            <p:spPr>
              <a:xfrm>
                <a:off x="236293" y="1931248"/>
                <a:ext cx="4214191" cy="461665"/>
              </a:xfrm>
              <a:prstGeom prst="rect">
                <a:avLst/>
              </a:prstGeom>
              <a:noFill/>
            </p:spPr>
            <p:txBody>
              <a:bodyPr wrap="square" rtlCol="0">
                <a:spAutoFit/>
              </a:bodyPr>
              <a:lstStyle/>
              <a:p>
                <a:r>
                  <a:rPr lang="en-US" sz="2400" b="1" dirty="0">
                    <a:solidFill>
                      <a:srgbClr val="002495"/>
                    </a:solidFill>
                  </a:rPr>
                  <a:t>Pure Translational Motion</a:t>
                </a:r>
              </a:p>
            </p:txBody>
          </p:sp>
          <p:pic>
            <p:nvPicPr>
              <p:cNvPr id="8" name="Picture 7">
                <a:extLst>
                  <a:ext uri="{FF2B5EF4-FFF2-40B4-BE49-F238E27FC236}">
                    <a16:creationId xmlns:a16="http://schemas.microsoft.com/office/drawing/2014/main" id="{1DAB3AEC-6375-F9AC-CCDA-656C03282555}"/>
                  </a:ext>
                </a:extLst>
              </p:cNvPr>
              <p:cNvPicPr>
                <a:picLocks noChangeAspect="1"/>
              </p:cNvPicPr>
              <p:nvPr/>
            </p:nvPicPr>
            <p:blipFill>
              <a:blip r:embed="rId3"/>
              <a:srcRect l="70204" t="22205" r="9398" b="50175"/>
              <a:stretch/>
            </p:blipFill>
            <p:spPr>
              <a:xfrm>
                <a:off x="380301" y="2829330"/>
                <a:ext cx="3298677" cy="2139757"/>
              </a:xfrm>
              <a:prstGeom prst="rect">
                <a:avLst/>
              </a:prstGeom>
            </p:spPr>
          </p:pic>
          <p:sp>
            <p:nvSpPr>
              <p:cNvPr id="6" name="Rectangle 5">
                <a:extLst>
                  <a:ext uri="{FF2B5EF4-FFF2-40B4-BE49-F238E27FC236}">
                    <a16:creationId xmlns:a16="http://schemas.microsoft.com/office/drawing/2014/main" id="{5EE8372F-2E37-82FB-866E-85838A62D612}"/>
                  </a:ext>
                </a:extLst>
              </p:cNvPr>
              <p:cNvSpPr/>
              <p:nvPr/>
            </p:nvSpPr>
            <p:spPr>
              <a:xfrm rot="19034367">
                <a:off x="423029" y="2772818"/>
                <a:ext cx="940038" cy="6067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3A170D8-12D2-5CCD-C5BB-8C18D8A237AE}"/>
                  </a:ext>
                </a:extLst>
              </p:cNvPr>
              <p:cNvSpPr/>
              <p:nvPr/>
            </p:nvSpPr>
            <p:spPr>
              <a:xfrm>
                <a:off x="2506779" y="4524706"/>
                <a:ext cx="1428573" cy="272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C9844F1-E28D-E545-CA0F-1AA2AF5E1E85}"/>
                  </a:ext>
                </a:extLst>
              </p:cNvPr>
              <p:cNvSpPr/>
              <p:nvPr/>
            </p:nvSpPr>
            <p:spPr>
              <a:xfrm>
                <a:off x="2707101" y="38719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E3B9ED9-597F-ADB3-F0AC-936C81AD36E6}"/>
                  </a:ext>
                </a:extLst>
              </p:cNvPr>
              <p:cNvSpPr/>
              <p:nvPr/>
            </p:nvSpPr>
            <p:spPr>
              <a:xfrm>
                <a:off x="887826" y="3862407"/>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8EAC9A9-13F5-02CE-F37E-32D1559424DA}"/>
                  </a:ext>
                </a:extLst>
              </p:cNvPr>
              <p:cNvSpPr/>
              <p:nvPr/>
            </p:nvSpPr>
            <p:spPr>
              <a:xfrm>
                <a:off x="1770476" y="29321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32829165-4FDD-23F1-29DA-D7DE384B6EA0}"/>
                  </a:ext>
                </a:extLst>
              </p:cNvPr>
              <p:cNvCxnSpPr>
                <a:cxnSpLocks/>
                <a:stCxn id="14" idx="6"/>
              </p:cNvCxnSpPr>
              <p:nvPr/>
            </p:nvCxnSpPr>
            <p:spPr>
              <a:xfrm>
                <a:off x="1881572" y="2987680"/>
                <a:ext cx="743454"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0B8CD9F-E44C-D507-8F26-A526F73FD986}"/>
                  </a:ext>
                </a:extLst>
              </p:cNvPr>
              <p:cNvCxnSpPr/>
              <p:nvPr/>
            </p:nvCxnSpPr>
            <p:spPr>
              <a:xfrm flipV="1">
                <a:off x="1903797" y="4826212"/>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89CC650-07D0-E0D4-A9A9-78C0DDA64CEF}"/>
                  </a:ext>
                </a:extLst>
              </p:cNvPr>
              <p:cNvCxnSpPr/>
              <p:nvPr/>
            </p:nvCxnSpPr>
            <p:spPr>
              <a:xfrm flipV="1">
                <a:off x="995747" y="3914987"/>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8B24667-5FB5-9BEF-D17B-FABDBEB5E296}"/>
                  </a:ext>
                </a:extLst>
              </p:cNvPr>
              <p:cNvSpPr txBox="1"/>
              <p:nvPr/>
            </p:nvSpPr>
            <p:spPr>
              <a:xfrm>
                <a:off x="2199576" y="2495762"/>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sp>
            <p:nvSpPr>
              <p:cNvPr id="21" name="TextBox 20">
                <a:extLst>
                  <a:ext uri="{FF2B5EF4-FFF2-40B4-BE49-F238E27FC236}">
                    <a16:creationId xmlns:a16="http://schemas.microsoft.com/office/drawing/2014/main" id="{FC71C063-4E48-00FC-A08B-0B730D5F78F0}"/>
                  </a:ext>
                </a:extLst>
              </p:cNvPr>
              <p:cNvSpPr txBox="1"/>
              <p:nvPr/>
            </p:nvSpPr>
            <p:spPr>
              <a:xfrm>
                <a:off x="450151" y="3759412"/>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sp>
            <p:nvSpPr>
              <p:cNvPr id="23" name="TextBox 22">
                <a:extLst>
                  <a:ext uri="{FF2B5EF4-FFF2-40B4-BE49-F238E27FC236}">
                    <a16:creationId xmlns:a16="http://schemas.microsoft.com/office/drawing/2014/main" id="{3F43BC8A-F013-FF11-1A80-2F514EAB3001}"/>
                  </a:ext>
                </a:extLst>
              </p:cNvPr>
              <p:cNvSpPr txBox="1"/>
              <p:nvPr/>
            </p:nvSpPr>
            <p:spPr>
              <a:xfrm>
                <a:off x="400621" y="2733887"/>
                <a:ext cx="1117600" cy="400110"/>
              </a:xfrm>
              <a:prstGeom prst="rect">
                <a:avLst/>
              </a:prstGeom>
              <a:noFill/>
            </p:spPr>
            <p:txBody>
              <a:bodyPr wrap="square" rtlCol="0">
                <a:spAutoFit/>
              </a:bodyPr>
              <a:lstStyle/>
              <a:p>
                <a:r>
                  <a:rPr lang="en-US" sz="2000" i="1" dirty="0">
                    <a:latin typeface="Symbol" pitchFamily="2" charset="2"/>
                  </a:rPr>
                  <a:t>w</a:t>
                </a:r>
                <a:r>
                  <a:rPr lang="en-US" sz="2000" dirty="0"/>
                  <a:t> </a:t>
                </a:r>
                <a:r>
                  <a:rPr lang="en-US" sz="2000" dirty="0">
                    <a:latin typeface="Times" pitchFamily="2" charset="0"/>
                  </a:rPr>
                  <a:t>= 0</a:t>
                </a:r>
              </a:p>
            </p:txBody>
          </p:sp>
          <p:sp>
            <p:nvSpPr>
              <p:cNvPr id="88" name="TextBox 87">
                <a:extLst>
                  <a:ext uri="{FF2B5EF4-FFF2-40B4-BE49-F238E27FC236}">
                    <a16:creationId xmlns:a16="http://schemas.microsoft.com/office/drawing/2014/main" id="{450F8B72-0218-417C-35F0-D2FD70226CC0}"/>
                  </a:ext>
                </a:extLst>
              </p:cNvPr>
              <p:cNvSpPr txBox="1"/>
              <p:nvPr/>
            </p:nvSpPr>
            <p:spPr>
              <a:xfrm>
                <a:off x="2538830" y="4370983"/>
                <a:ext cx="68580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endParaRPr lang="en-US" sz="2400" i="1" dirty="0">
                  <a:latin typeface="Times" pitchFamily="2" charset="0"/>
                </a:endParaRPr>
              </a:p>
            </p:txBody>
          </p:sp>
        </p:grpSp>
        <p:grpSp>
          <p:nvGrpSpPr>
            <p:cNvPr id="99" name="Group 98">
              <a:extLst>
                <a:ext uri="{FF2B5EF4-FFF2-40B4-BE49-F238E27FC236}">
                  <a16:creationId xmlns:a16="http://schemas.microsoft.com/office/drawing/2014/main" id="{9E39926A-B280-640A-D14C-4E45B2CADD84}"/>
                </a:ext>
              </a:extLst>
            </p:cNvPr>
            <p:cNvGrpSpPr/>
            <p:nvPr/>
          </p:nvGrpSpPr>
          <p:grpSpPr>
            <a:xfrm>
              <a:off x="4591879" y="900094"/>
              <a:ext cx="4353113" cy="2947420"/>
              <a:chOff x="8401879" y="2606974"/>
              <a:chExt cx="4353113" cy="2947420"/>
            </a:xfrm>
          </p:grpSpPr>
          <p:grpSp>
            <p:nvGrpSpPr>
              <p:cNvPr id="97" name="Group 96">
                <a:extLst>
                  <a:ext uri="{FF2B5EF4-FFF2-40B4-BE49-F238E27FC236}">
                    <a16:creationId xmlns:a16="http://schemas.microsoft.com/office/drawing/2014/main" id="{6A31F061-92A0-C2F8-B733-9C092A7C009A}"/>
                  </a:ext>
                </a:extLst>
              </p:cNvPr>
              <p:cNvGrpSpPr/>
              <p:nvPr/>
            </p:nvGrpSpPr>
            <p:grpSpPr>
              <a:xfrm>
                <a:off x="8401879" y="3012860"/>
                <a:ext cx="3790121" cy="2541534"/>
                <a:chOff x="5199794" y="3493307"/>
                <a:chExt cx="3790121" cy="2541534"/>
              </a:xfrm>
            </p:grpSpPr>
            <p:grpSp>
              <p:nvGrpSpPr>
                <p:cNvPr id="94" name="Group 93">
                  <a:extLst>
                    <a:ext uri="{FF2B5EF4-FFF2-40B4-BE49-F238E27FC236}">
                      <a16:creationId xmlns:a16="http://schemas.microsoft.com/office/drawing/2014/main" id="{CE08A1D3-5D1B-796D-EE8B-5E97C189FEC4}"/>
                    </a:ext>
                  </a:extLst>
                </p:cNvPr>
                <p:cNvGrpSpPr/>
                <p:nvPr/>
              </p:nvGrpSpPr>
              <p:grpSpPr>
                <a:xfrm>
                  <a:off x="5199794" y="3493307"/>
                  <a:ext cx="3790121" cy="2541534"/>
                  <a:chOff x="4068418" y="3400317"/>
                  <a:chExt cx="3790121" cy="2541534"/>
                </a:xfrm>
              </p:grpSpPr>
              <p:pic>
                <p:nvPicPr>
                  <p:cNvPr id="27" name="Picture 26">
                    <a:extLst>
                      <a:ext uri="{FF2B5EF4-FFF2-40B4-BE49-F238E27FC236}">
                        <a16:creationId xmlns:a16="http://schemas.microsoft.com/office/drawing/2014/main" id="{56BDD352-DD96-BEF8-4128-645FB93B3C3F}"/>
                      </a:ext>
                    </a:extLst>
                  </p:cNvPr>
                  <p:cNvPicPr>
                    <a:picLocks noChangeAspect="1"/>
                  </p:cNvPicPr>
                  <p:nvPr/>
                </p:nvPicPr>
                <p:blipFill>
                  <a:blip r:embed="rId3"/>
                  <a:srcRect l="36577" t="22060" r="39986" b="52966"/>
                  <a:stretch/>
                </p:blipFill>
                <p:spPr>
                  <a:xfrm>
                    <a:off x="4068418" y="3896140"/>
                    <a:ext cx="3790121" cy="1934817"/>
                  </a:xfrm>
                  <a:prstGeom prst="rect">
                    <a:avLst/>
                  </a:prstGeom>
                </p:spPr>
              </p:pic>
              <p:sp>
                <p:nvSpPr>
                  <p:cNvPr id="67" name="Freeform 66">
                    <a:extLst>
                      <a:ext uri="{FF2B5EF4-FFF2-40B4-BE49-F238E27FC236}">
                        <a16:creationId xmlns:a16="http://schemas.microsoft.com/office/drawing/2014/main" id="{500122FB-7246-8F07-59AE-ACC7078CA6B1}"/>
                      </a:ext>
                    </a:extLst>
                  </p:cNvPr>
                  <p:cNvSpPr/>
                  <p:nvPr/>
                </p:nvSpPr>
                <p:spPr>
                  <a:xfrm>
                    <a:off x="5489217" y="5766709"/>
                    <a:ext cx="650372" cy="127030"/>
                  </a:xfrm>
                  <a:custGeom>
                    <a:avLst/>
                    <a:gdLst>
                      <a:gd name="connsiteX0" fmla="*/ 0 w 650372"/>
                      <a:gd name="connsiteY0" fmla="*/ 34955 h 127030"/>
                      <a:gd name="connsiteX1" fmla="*/ 73025 w 650372"/>
                      <a:gd name="connsiteY1" fmla="*/ 66705 h 127030"/>
                      <a:gd name="connsiteX2" fmla="*/ 127000 w 650372"/>
                      <a:gd name="connsiteY2" fmla="*/ 88930 h 127030"/>
                      <a:gd name="connsiteX3" fmla="*/ 206375 w 650372"/>
                      <a:gd name="connsiteY3" fmla="*/ 114330 h 127030"/>
                      <a:gd name="connsiteX4" fmla="*/ 288925 w 650372"/>
                      <a:gd name="connsiteY4" fmla="*/ 123855 h 127030"/>
                      <a:gd name="connsiteX5" fmla="*/ 365125 w 650372"/>
                      <a:gd name="connsiteY5" fmla="*/ 127030 h 127030"/>
                      <a:gd name="connsiteX6" fmla="*/ 425450 w 650372"/>
                      <a:gd name="connsiteY6" fmla="*/ 123855 h 127030"/>
                      <a:gd name="connsiteX7" fmla="*/ 488950 w 650372"/>
                      <a:gd name="connsiteY7" fmla="*/ 111155 h 127030"/>
                      <a:gd name="connsiteX8" fmla="*/ 533400 w 650372"/>
                      <a:gd name="connsiteY8" fmla="*/ 101630 h 127030"/>
                      <a:gd name="connsiteX9" fmla="*/ 574675 w 650372"/>
                      <a:gd name="connsiteY9" fmla="*/ 82580 h 127030"/>
                      <a:gd name="connsiteX10" fmla="*/ 615950 w 650372"/>
                      <a:gd name="connsiteY10" fmla="*/ 57180 h 127030"/>
                      <a:gd name="connsiteX11" fmla="*/ 641350 w 650372"/>
                      <a:gd name="connsiteY11" fmla="*/ 34955 h 127030"/>
                      <a:gd name="connsiteX12" fmla="*/ 641350 w 650372"/>
                      <a:gd name="connsiteY12" fmla="*/ 30 h 127030"/>
                      <a:gd name="connsiteX13" fmla="*/ 533400 w 650372"/>
                      <a:gd name="connsiteY13" fmla="*/ 41305 h 127030"/>
                      <a:gd name="connsiteX14" fmla="*/ 295275 w 650372"/>
                      <a:gd name="connsiteY14" fmla="*/ 41305 h 127030"/>
                      <a:gd name="connsiteX15" fmla="*/ 152400 w 650372"/>
                      <a:gd name="connsiteY15" fmla="*/ 41305 h 127030"/>
                      <a:gd name="connsiteX16" fmla="*/ 0 w 650372"/>
                      <a:gd name="connsiteY16" fmla="*/ 34955 h 12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0372" h="127030">
                        <a:moveTo>
                          <a:pt x="0" y="34955"/>
                        </a:moveTo>
                        <a:lnTo>
                          <a:pt x="73025" y="66705"/>
                        </a:lnTo>
                        <a:cubicBezTo>
                          <a:pt x="94192" y="75701"/>
                          <a:pt x="104775" y="80993"/>
                          <a:pt x="127000" y="88930"/>
                        </a:cubicBezTo>
                        <a:cubicBezTo>
                          <a:pt x="149225" y="96868"/>
                          <a:pt x="179387" y="108509"/>
                          <a:pt x="206375" y="114330"/>
                        </a:cubicBezTo>
                        <a:cubicBezTo>
                          <a:pt x="233363" y="120151"/>
                          <a:pt x="262467" y="121738"/>
                          <a:pt x="288925" y="123855"/>
                        </a:cubicBezTo>
                        <a:cubicBezTo>
                          <a:pt x="315383" y="125972"/>
                          <a:pt x="342371" y="127030"/>
                          <a:pt x="365125" y="127030"/>
                        </a:cubicBezTo>
                        <a:cubicBezTo>
                          <a:pt x="387879" y="127030"/>
                          <a:pt x="404813" y="126501"/>
                          <a:pt x="425450" y="123855"/>
                        </a:cubicBezTo>
                        <a:cubicBezTo>
                          <a:pt x="446087" y="121209"/>
                          <a:pt x="488950" y="111155"/>
                          <a:pt x="488950" y="111155"/>
                        </a:cubicBezTo>
                        <a:cubicBezTo>
                          <a:pt x="506942" y="107451"/>
                          <a:pt x="519112" y="106393"/>
                          <a:pt x="533400" y="101630"/>
                        </a:cubicBezTo>
                        <a:cubicBezTo>
                          <a:pt x="547688" y="96867"/>
                          <a:pt x="560917" y="89988"/>
                          <a:pt x="574675" y="82580"/>
                        </a:cubicBezTo>
                        <a:cubicBezTo>
                          <a:pt x="588433" y="75172"/>
                          <a:pt x="604838" y="65118"/>
                          <a:pt x="615950" y="57180"/>
                        </a:cubicBezTo>
                        <a:cubicBezTo>
                          <a:pt x="627063" y="49243"/>
                          <a:pt x="637117" y="44480"/>
                          <a:pt x="641350" y="34955"/>
                        </a:cubicBezTo>
                        <a:cubicBezTo>
                          <a:pt x="645583" y="25430"/>
                          <a:pt x="659341" y="-1028"/>
                          <a:pt x="641350" y="30"/>
                        </a:cubicBezTo>
                        <a:cubicBezTo>
                          <a:pt x="623359" y="1088"/>
                          <a:pt x="591079" y="34426"/>
                          <a:pt x="533400" y="41305"/>
                        </a:cubicBezTo>
                        <a:cubicBezTo>
                          <a:pt x="475721" y="48184"/>
                          <a:pt x="295275" y="41305"/>
                          <a:pt x="295275" y="41305"/>
                        </a:cubicBezTo>
                        <a:lnTo>
                          <a:pt x="152400" y="41305"/>
                        </a:lnTo>
                        <a:lnTo>
                          <a:pt x="0" y="34955"/>
                        </a:lnTo>
                        <a:close/>
                      </a:path>
                    </a:pathLst>
                  </a:cu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7A4930EF-4EF4-455B-748F-CB6843C274A3}"/>
                      </a:ext>
                    </a:extLst>
                  </p:cNvPr>
                  <p:cNvSpPr/>
                  <p:nvPr/>
                </p:nvSpPr>
                <p:spPr>
                  <a:xfrm rot="20726395">
                    <a:off x="6362925" y="5605434"/>
                    <a:ext cx="1028024" cy="3192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B829BF02-E6BF-FA3E-E4C6-55A336CD7F3F}"/>
                      </a:ext>
                    </a:extLst>
                  </p:cNvPr>
                  <p:cNvSpPr/>
                  <p:nvPr/>
                </p:nvSpPr>
                <p:spPr>
                  <a:xfrm rot="18752524">
                    <a:off x="4408763" y="3845505"/>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9EF0619C-5A4E-3AB0-8945-447139CD3234}"/>
                      </a:ext>
                    </a:extLst>
                  </p:cNvPr>
                  <p:cNvSpPr/>
                  <p:nvPr/>
                </p:nvSpPr>
                <p:spPr>
                  <a:xfrm>
                    <a:off x="5791340" y="5830756"/>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a:extLst>
                      <a:ext uri="{FF2B5EF4-FFF2-40B4-BE49-F238E27FC236}">
                        <a16:creationId xmlns:a16="http://schemas.microsoft.com/office/drawing/2014/main" id="{C7C2749A-F395-88B8-110E-0FB75F5C3CB5}"/>
                      </a:ext>
                    </a:extLst>
                  </p:cNvPr>
                  <p:cNvSpPr/>
                  <p:nvPr/>
                </p:nvSpPr>
                <p:spPr>
                  <a:xfrm>
                    <a:off x="5802161" y="3985724"/>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AA74339-48A0-C89D-670C-E4BC2BF483F7}"/>
                      </a:ext>
                    </a:extLst>
                  </p:cNvPr>
                  <p:cNvSpPr/>
                  <p:nvPr/>
                </p:nvSpPr>
                <p:spPr>
                  <a:xfrm>
                    <a:off x="6690410" y="493349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C20BFB14-6BD8-DE16-9E17-C9720FEA55C7}"/>
                      </a:ext>
                    </a:extLst>
                  </p:cNvPr>
                  <p:cNvSpPr/>
                  <p:nvPr/>
                </p:nvSpPr>
                <p:spPr>
                  <a:xfrm>
                    <a:off x="4867020" y="4944311"/>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B875E3A6-38AB-9ABE-13FC-E8FB33C22A8B}"/>
                      </a:ext>
                    </a:extLst>
                  </p:cNvPr>
                  <p:cNvCxnSpPr>
                    <a:cxnSpLocks/>
                  </p:cNvCxnSpPr>
                  <p:nvPr/>
                </p:nvCxnSpPr>
                <p:spPr>
                  <a:xfrm flipV="1">
                    <a:off x="4917696" y="4139148"/>
                    <a:ext cx="0" cy="806998"/>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14AD570D-7AD8-3081-F010-69727188C974}"/>
                      </a:ext>
                    </a:extLst>
                  </p:cNvPr>
                  <p:cNvCxnSpPr>
                    <a:cxnSpLocks/>
                  </p:cNvCxnSpPr>
                  <p:nvPr/>
                </p:nvCxnSpPr>
                <p:spPr>
                  <a:xfrm>
                    <a:off x="5903336" y="4043468"/>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4D62A3F7-005F-956E-BDDD-E81D0636754F}"/>
                      </a:ext>
                    </a:extLst>
                  </p:cNvPr>
                  <p:cNvSpPr/>
                  <p:nvPr/>
                </p:nvSpPr>
                <p:spPr>
                  <a:xfrm>
                    <a:off x="6811994" y="467423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A7C6E97C-2E73-E3ED-7DE4-35FB6697B880}"/>
                      </a:ext>
                    </a:extLst>
                  </p:cNvPr>
                  <p:cNvCxnSpPr>
                    <a:cxnSpLocks/>
                  </p:cNvCxnSpPr>
                  <p:nvPr/>
                </p:nvCxnSpPr>
                <p:spPr>
                  <a:xfrm>
                    <a:off x="6753709" y="5039929"/>
                    <a:ext cx="0" cy="72782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FDC31C36-D3F3-19EE-4863-BA5F4DF6AEED}"/>
                      </a:ext>
                    </a:extLst>
                  </p:cNvPr>
                  <p:cNvCxnSpPr>
                    <a:cxnSpLocks/>
                  </p:cNvCxnSpPr>
                  <p:nvPr/>
                </p:nvCxnSpPr>
                <p:spPr>
                  <a:xfrm flipH="1">
                    <a:off x="4958275" y="5898511"/>
                    <a:ext cx="831122"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5" name="Arc 84">
                    <a:extLst>
                      <a:ext uri="{FF2B5EF4-FFF2-40B4-BE49-F238E27FC236}">
                        <a16:creationId xmlns:a16="http://schemas.microsoft.com/office/drawing/2014/main" id="{85C8C01F-A398-3FA9-EF00-A0E52B255679}"/>
                      </a:ext>
                    </a:extLst>
                  </p:cNvPr>
                  <p:cNvSpPr/>
                  <p:nvPr/>
                </p:nvSpPr>
                <p:spPr>
                  <a:xfrm rot="14793523">
                    <a:off x="4502040" y="4782468"/>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7D7632EC-D9E8-358F-8014-691CD06B676F}"/>
                      </a:ext>
                    </a:extLst>
                  </p:cNvPr>
                  <p:cNvSpPr txBox="1"/>
                  <p:nvPr/>
                </p:nvSpPr>
                <p:spPr>
                  <a:xfrm>
                    <a:off x="5167172" y="3400317"/>
                    <a:ext cx="1498750"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r>
                      <a:rPr lang="en-US" sz="2400" dirty="0">
                        <a:latin typeface="Times" pitchFamily="2" charset="0"/>
                      </a:rPr>
                      <a:t>=</a:t>
                    </a:r>
                    <a:r>
                      <a:rPr lang="en-US" sz="2400" i="1" dirty="0">
                        <a:latin typeface="Symbol" pitchFamily="2" charset="2"/>
                      </a:rPr>
                      <a:t> </a:t>
                    </a:r>
                    <a:r>
                      <a:rPr lang="en-US" sz="2400" i="1" dirty="0" err="1">
                        <a:latin typeface="Times" pitchFamily="2" charset="0"/>
                      </a:rPr>
                      <a:t>r</a:t>
                    </a:r>
                    <a:r>
                      <a:rPr lang="en-US" sz="2400" i="1" dirty="0" err="1">
                        <a:latin typeface="Symbol" pitchFamily="2" charset="2"/>
                      </a:rPr>
                      <a:t>w</a:t>
                    </a:r>
                    <a:endParaRPr lang="en-US" sz="2400" i="1" dirty="0">
                      <a:latin typeface="Symbol" pitchFamily="2" charset="2"/>
                    </a:endParaRPr>
                  </a:p>
                </p:txBody>
              </p:sp>
              <p:sp>
                <p:nvSpPr>
                  <p:cNvPr id="90" name="TextBox 89">
                    <a:extLst>
                      <a:ext uri="{FF2B5EF4-FFF2-40B4-BE49-F238E27FC236}">
                        <a16:creationId xmlns:a16="http://schemas.microsoft.com/office/drawing/2014/main" id="{7A2AC9CE-2B75-A81E-23C3-04A2422B5661}"/>
                      </a:ext>
                    </a:extLst>
                  </p:cNvPr>
                  <p:cNvSpPr txBox="1"/>
                  <p:nvPr/>
                </p:nvSpPr>
                <p:spPr>
                  <a:xfrm>
                    <a:off x="6509915" y="3585181"/>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1" name="TextBox 90">
                    <a:extLst>
                      <a:ext uri="{FF2B5EF4-FFF2-40B4-BE49-F238E27FC236}">
                        <a16:creationId xmlns:a16="http://schemas.microsoft.com/office/drawing/2014/main" id="{5D04F091-4A86-040F-B1D9-E01DC19AD884}"/>
                      </a:ext>
                    </a:extLst>
                  </p:cNvPr>
                  <p:cNvSpPr txBox="1"/>
                  <p:nvPr/>
                </p:nvSpPr>
                <p:spPr>
                  <a:xfrm>
                    <a:off x="6754296" y="5463579"/>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2" name="TextBox 91">
                    <a:extLst>
                      <a:ext uri="{FF2B5EF4-FFF2-40B4-BE49-F238E27FC236}">
                        <a16:creationId xmlns:a16="http://schemas.microsoft.com/office/drawing/2014/main" id="{B00B3865-32A8-D9A0-212A-DFF7356B7482}"/>
                      </a:ext>
                    </a:extLst>
                  </p:cNvPr>
                  <p:cNvSpPr txBox="1"/>
                  <p:nvPr/>
                </p:nvSpPr>
                <p:spPr>
                  <a:xfrm>
                    <a:off x="4574705" y="5410374"/>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sp>
                <p:nvSpPr>
                  <p:cNvPr id="93" name="TextBox 92">
                    <a:extLst>
                      <a:ext uri="{FF2B5EF4-FFF2-40B4-BE49-F238E27FC236}">
                        <a16:creationId xmlns:a16="http://schemas.microsoft.com/office/drawing/2014/main" id="{08DD870F-3271-88EB-0694-774F9C6EF24B}"/>
                      </a:ext>
                    </a:extLst>
                  </p:cNvPr>
                  <p:cNvSpPr txBox="1"/>
                  <p:nvPr/>
                </p:nvSpPr>
                <p:spPr>
                  <a:xfrm>
                    <a:off x="4352868" y="3819643"/>
                    <a:ext cx="675429" cy="461665"/>
                  </a:xfrm>
                  <a:prstGeom prst="rect">
                    <a:avLst/>
                  </a:prstGeom>
                  <a:noFill/>
                </p:spPr>
                <p:txBody>
                  <a:bodyPr wrap="square" rtlCol="0">
                    <a:spAutoFit/>
                  </a:bodyPr>
                  <a:lstStyle/>
                  <a:p>
                    <a:r>
                      <a:rPr lang="en-US" sz="2400" i="1" dirty="0" err="1">
                        <a:latin typeface="Times" pitchFamily="2" charset="0"/>
                      </a:rPr>
                      <a:t>v</a:t>
                    </a:r>
                    <a:r>
                      <a:rPr lang="en-US" sz="2400" i="1" baseline="-25000" dirty="0" err="1">
                        <a:latin typeface="Times" pitchFamily="2" charset="0"/>
                      </a:rPr>
                      <a:t>cm</a:t>
                    </a:r>
                    <a:r>
                      <a:rPr lang="en-US" sz="2400" i="1" dirty="0">
                        <a:latin typeface="Symbol" pitchFamily="2" charset="2"/>
                      </a:rPr>
                      <a:t> </a:t>
                    </a:r>
                  </a:p>
                </p:txBody>
              </p:sp>
            </p:grpSp>
            <p:sp>
              <p:nvSpPr>
                <p:cNvPr id="22" name="TextBox 21">
                  <a:extLst>
                    <a:ext uri="{FF2B5EF4-FFF2-40B4-BE49-F238E27FC236}">
                      <a16:creationId xmlns:a16="http://schemas.microsoft.com/office/drawing/2014/main" id="{8CEE253A-2CD4-FD3A-53B9-9B71F85F2F29}"/>
                    </a:ext>
                  </a:extLst>
                </p:cNvPr>
                <p:cNvSpPr txBox="1"/>
                <p:nvPr/>
              </p:nvSpPr>
              <p:spPr>
                <a:xfrm>
                  <a:off x="5386041" y="4615803"/>
                  <a:ext cx="685800" cy="461665"/>
                </a:xfrm>
                <a:prstGeom prst="rect">
                  <a:avLst/>
                </a:prstGeom>
                <a:noFill/>
              </p:spPr>
              <p:txBody>
                <a:bodyPr wrap="square" rtlCol="0">
                  <a:spAutoFit/>
                </a:bodyPr>
                <a:lstStyle/>
                <a:p>
                  <a:r>
                    <a:rPr lang="en-US" sz="2400" i="1" dirty="0">
                      <a:latin typeface="Symbol" pitchFamily="2" charset="2"/>
                    </a:rPr>
                    <a:t>w</a:t>
                  </a:r>
                </a:p>
              </p:txBody>
            </p:sp>
          </p:grpSp>
          <p:sp>
            <p:nvSpPr>
              <p:cNvPr id="98" name="TextBox 97">
                <a:extLst>
                  <a:ext uri="{FF2B5EF4-FFF2-40B4-BE49-F238E27FC236}">
                    <a16:creationId xmlns:a16="http://schemas.microsoft.com/office/drawing/2014/main" id="{2DCD73DE-CB33-BD81-502B-E743F71928B1}"/>
                  </a:ext>
                </a:extLst>
              </p:cNvPr>
              <p:cNvSpPr txBox="1"/>
              <p:nvPr/>
            </p:nvSpPr>
            <p:spPr>
              <a:xfrm>
                <a:off x="8540801" y="2606974"/>
                <a:ext cx="4214191" cy="461665"/>
              </a:xfrm>
              <a:prstGeom prst="rect">
                <a:avLst/>
              </a:prstGeom>
              <a:noFill/>
            </p:spPr>
            <p:txBody>
              <a:bodyPr wrap="square" rtlCol="0">
                <a:spAutoFit/>
              </a:bodyPr>
              <a:lstStyle/>
              <a:p>
                <a:r>
                  <a:rPr lang="en-US" sz="2400" b="1" dirty="0">
                    <a:solidFill>
                      <a:srgbClr val="002495"/>
                    </a:solidFill>
                  </a:rPr>
                  <a:t>Pure Rotational Motion</a:t>
                </a:r>
              </a:p>
            </p:txBody>
          </p:sp>
        </p:grpSp>
        <p:sp>
          <p:nvSpPr>
            <p:cNvPr id="3" name="TextBox 2">
              <a:extLst>
                <a:ext uri="{FF2B5EF4-FFF2-40B4-BE49-F238E27FC236}">
                  <a16:creationId xmlns:a16="http://schemas.microsoft.com/office/drawing/2014/main" id="{4D99635A-EA70-D068-E18C-45322B30F5A3}"/>
                </a:ext>
              </a:extLst>
            </p:cNvPr>
            <p:cNvSpPr txBox="1"/>
            <p:nvPr/>
          </p:nvSpPr>
          <p:spPr>
            <a:xfrm>
              <a:off x="4023360" y="2346960"/>
              <a:ext cx="716280" cy="1015663"/>
            </a:xfrm>
            <a:prstGeom prst="rect">
              <a:avLst/>
            </a:prstGeom>
            <a:noFill/>
          </p:spPr>
          <p:txBody>
            <a:bodyPr wrap="square" rtlCol="0">
              <a:spAutoFit/>
            </a:bodyPr>
            <a:lstStyle/>
            <a:p>
              <a:r>
                <a:rPr lang="en-US" sz="6000" dirty="0">
                  <a:latin typeface="Times" pitchFamily="2" charset="0"/>
                </a:rPr>
                <a:t>+</a:t>
              </a:r>
            </a:p>
          </p:txBody>
        </p:sp>
        <p:sp>
          <p:nvSpPr>
            <p:cNvPr id="4" name="TextBox 3">
              <a:extLst>
                <a:ext uri="{FF2B5EF4-FFF2-40B4-BE49-F238E27FC236}">
                  <a16:creationId xmlns:a16="http://schemas.microsoft.com/office/drawing/2014/main" id="{55FAF3DE-0F6E-E5D1-631A-34286FE2D4EC}"/>
                </a:ext>
              </a:extLst>
            </p:cNvPr>
            <p:cNvSpPr txBox="1"/>
            <p:nvPr/>
          </p:nvSpPr>
          <p:spPr>
            <a:xfrm>
              <a:off x="8874034" y="2353180"/>
              <a:ext cx="716280" cy="1015663"/>
            </a:xfrm>
            <a:prstGeom prst="rect">
              <a:avLst/>
            </a:prstGeom>
            <a:noFill/>
          </p:spPr>
          <p:txBody>
            <a:bodyPr wrap="square" rtlCol="0">
              <a:spAutoFit/>
            </a:bodyPr>
            <a:lstStyle/>
            <a:p>
              <a:r>
                <a:rPr lang="en-US" sz="6000" dirty="0">
                  <a:latin typeface="Times" pitchFamily="2" charset="0"/>
                </a:rPr>
                <a:t>=</a:t>
              </a:r>
            </a:p>
          </p:txBody>
        </p:sp>
        <p:sp>
          <p:nvSpPr>
            <p:cNvPr id="5" name="TextBox 4">
              <a:extLst>
                <a:ext uri="{FF2B5EF4-FFF2-40B4-BE49-F238E27FC236}">
                  <a16:creationId xmlns:a16="http://schemas.microsoft.com/office/drawing/2014/main" id="{B2FD7771-0F3E-7A5C-3BA2-FE4494A4A877}"/>
                </a:ext>
              </a:extLst>
            </p:cNvPr>
            <p:cNvSpPr txBox="1"/>
            <p:nvPr/>
          </p:nvSpPr>
          <p:spPr>
            <a:xfrm>
              <a:off x="9180881" y="900094"/>
              <a:ext cx="2584399" cy="461665"/>
            </a:xfrm>
            <a:prstGeom prst="rect">
              <a:avLst/>
            </a:prstGeom>
            <a:noFill/>
          </p:spPr>
          <p:txBody>
            <a:bodyPr wrap="square" rtlCol="0">
              <a:spAutoFit/>
            </a:bodyPr>
            <a:lstStyle/>
            <a:p>
              <a:r>
                <a:rPr lang="en-US" sz="2400" b="1" dirty="0">
                  <a:solidFill>
                    <a:srgbClr val="002495"/>
                  </a:solidFill>
                </a:rPr>
                <a:t>Rolling Motion</a:t>
              </a:r>
            </a:p>
          </p:txBody>
        </p:sp>
        <p:pic>
          <p:nvPicPr>
            <p:cNvPr id="24" name="Picture 23">
              <a:extLst>
                <a:ext uri="{FF2B5EF4-FFF2-40B4-BE49-F238E27FC236}">
                  <a16:creationId xmlns:a16="http://schemas.microsoft.com/office/drawing/2014/main" id="{AC0A3ABF-7DC7-9715-6DDA-20EBCE640947}"/>
                </a:ext>
              </a:extLst>
            </p:cNvPr>
            <p:cNvPicPr>
              <a:picLocks noChangeAspect="1"/>
            </p:cNvPicPr>
            <p:nvPr/>
          </p:nvPicPr>
          <p:blipFill>
            <a:blip r:embed="rId3"/>
            <a:srcRect l="71887" t="22606" r="7286" b="49658"/>
            <a:stretch/>
          </p:blipFill>
          <p:spPr>
            <a:xfrm>
              <a:off x="8823960" y="1828799"/>
              <a:ext cx="3368040" cy="2148841"/>
            </a:xfrm>
            <a:prstGeom prst="rect">
              <a:avLst/>
            </a:prstGeom>
          </p:spPr>
        </p:pic>
        <p:sp>
          <p:nvSpPr>
            <p:cNvPr id="52" name="Arc 51">
              <a:extLst>
                <a:ext uri="{FF2B5EF4-FFF2-40B4-BE49-F238E27FC236}">
                  <a16:creationId xmlns:a16="http://schemas.microsoft.com/office/drawing/2014/main" id="{05E106FB-9A64-DD2A-E96F-3B5BB79692D9}"/>
                </a:ext>
              </a:extLst>
            </p:cNvPr>
            <p:cNvSpPr/>
            <p:nvPr/>
          </p:nvSpPr>
          <p:spPr>
            <a:xfrm rot="14793523">
              <a:off x="8713579" y="2688132"/>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AEB79658-B8F0-5930-755E-7449F302BFEE}"/>
                </a:ext>
              </a:extLst>
            </p:cNvPr>
            <p:cNvSpPr txBox="1"/>
            <p:nvPr/>
          </p:nvSpPr>
          <p:spPr>
            <a:xfrm>
              <a:off x="8481446" y="2428476"/>
              <a:ext cx="685800" cy="461665"/>
            </a:xfrm>
            <a:prstGeom prst="rect">
              <a:avLst/>
            </a:prstGeom>
            <a:noFill/>
          </p:spPr>
          <p:txBody>
            <a:bodyPr wrap="square" rtlCol="0">
              <a:spAutoFit/>
            </a:bodyPr>
            <a:lstStyle/>
            <a:p>
              <a:r>
                <a:rPr lang="en-US" sz="2400" i="1" dirty="0">
                  <a:latin typeface="Symbol" pitchFamily="2" charset="2"/>
                </a:rPr>
                <a:t>w</a:t>
              </a:r>
            </a:p>
          </p:txBody>
        </p:sp>
        <p:sp>
          <p:nvSpPr>
            <p:cNvPr id="54" name="Rectangle 53">
              <a:extLst>
                <a:ext uri="{FF2B5EF4-FFF2-40B4-BE49-F238E27FC236}">
                  <a16:creationId xmlns:a16="http://schemas.microsoft.com/office/drawing/2014/main" id="{5B7E8AC0-EA65-DDD6-DC03-B6EA2593E88C}"/>
                </a:ext>
              </a:extLst>
            </p:cNvPr>
            <p:cNvSpPr/>
            <p:nvPr/>
          </p:nvSpPr>
          <p:spPr>
            <a:xfrm rot="18752524">
              <a:off x="8605063" y="1720688"/>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0C4DB7A-E83E-C9D7-2B0C-F571DFF1E7BD}"/>
                </a:ext>
              </a:extLst>
            </p:cNvPr>
            <p:cNvSpPr/>
            <p:nvPr/>
          </p:nvSpPr>
          <p:spPr>
            <a:xfrm>
              <a:off x="10952023" y="2574128"/>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32E5BE13-2B99-E407-A252-8E3FA21F529C}"/>
                </a:ext>
              </a:extLst>
            </p:cNvPr>
            <p:cNvSpPr/>
            <p:nvPr/>
          </p:nvSpPr>
          <p:spPr>
            <a:xfrm>
              <a:off x="9048670" y="2856231"/>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24DD75D8-06B1-A025-188F-4719DF17F541}"/>
                </a:ext>
              </a:extLst>
            </p:cNvPr>
            <p:cNvSpPr/>
            <p:nvPr/>
          </p:nvSpPr>
          <p:spPr>
            <a:xfrm>
              <a:off x="9963070" y="1898289"/>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2F818C2E-8D86-405A-8A23-EEAB76177797}"/>
                </a:ext>
              </a:extLst>
            </p:cNvPr>
            <p:cNvSpPr/>
            <p:nvPr/>
          </p:nvSpPr>
          <p:spPr>
            <a:xfrm>
              <a:off x="10865029" y="283757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 name="Straight Arrow Connector 59">
              <a:extLst>
                <a:ext uri="{FF2B5EF4-FFF2-40B4-BE49-F238E27FC236}">
                  <a16:creationId xmlns:a16="http://schemas.microsoft.com/office/drawing/2014/main" id="{12972B2D-81E0-9409-08E0-985C18E23B55}"/>
                </a:ext>
              </a:extLst>
            </p:cNvPr>
            <p:cNvCxnSpPr>
              <a:cxnSpLocks/>
            </p:cNvCxnSpPr>
            <p:nvPr/>
          </p:nvCxnSpPr>
          <p:spPr>
            <a:xfrm>
              <a:off x="10043965" y="2885302"/>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E80B8545-F294-49ED-CABA-8162B41AB03D}"/>
                </a:ext>
              </a:extLst>
            </p:cNvPr>
            <p:cNvSpPr txBox="1"/>
            <p:nvPr/>
          </p:nvSpPr>
          <p:spPr>
            <a:xfrm>
              <a:off x="10513694" y="2470558"/>
              <a:ext cx="675429" cy="369332"/>
            </a:xfrm>
            <a:prstGeom prst="rect">
              <a:avLst/>
            </a:prstGeom>
            <a:noFill/>
          </p:spPr>
          <p:txBody>
            <a:bodyPr wrap="square" rtlCol="0">
              <a:spAutoFit/>
            </a:bodyPr>
            <a:lstStyle/>
            <a:p>
              <a:r>
                <a:rPr lang="en-US" i="1" dirty="0" err="1">
                  <a:solidFill>
                    <a:srgbClr val="00AAE6"/>
                  </a:solidFill>
                  <a:latin typeface="Times" pitchFamily="2" charset="0"/>
                </a:rPr>
                <a:t>v</a:t>
              </a:r>
              <a:r>
                <a:rPr lang="en-US" i="1" baseline="-25000" dirty="0" err="1">
                  <a:solidFill>
                    <a:srgbClr val="00AAE6"/>
                  </a:solidFill>
                  <a:latin typeface="Times" pitchFamily="2" charset="0"/>
                </a:rPr>
                <a:t>cm</a:t>
              </a:r>
              <a:r>
                <a:rPr lang="en-US" i="1" dirty="0">
                  <a:solidFill>
                    <a:srgbClr val="00AAE6"/>
                  </a:solidFill>
                  <a:latin typeface="Symbol" pitchFamily="2" charset="2"/>
                </a:rPr>
                <a:t> </a:t>
              </a:r>
            </a:p>
          </p:txBody>
        </p:sp>
        <p:cxnSp>
          <p:nvCxnSpPr>
            <p:cNvPr id="62" name="Straight Arrow Connector 61">
              <a:extLst>
                <a:ext uri="{FF2B5EF4-FFF2-40B4-BE49-F238E27FC236}">
                  <a16:creationId xmlns:a16="http://schemas.microsoft.com/office/drawing/2014/main" id="{70581E45-C2AC-B525-B325-B812E79D4416}"/>
                </a:ext>
              </a:extLst>
            </p:cNvPr>
            <p:cNvCxnSpPr>
              <a:cxnSpLocks/>
            </p:cNvCxnSpPr>
            <p:nvPr/>
          </p:nvCxnSpPr>
          <p:spPr>
            <a:xfrm>
              <a:off x="10062625" y="1939800"/>
              <a:ext cx="14932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98A1759-BD32-12D1-8389-C44AABD31BA8}"/>
                </a:ext>
              </a:extLst>
            </p:cNvPr>
            <p:cNvSpPr txBox="1"/>
            <p:nvPr/>
          </p:nvSpPr>
          <p:spPr>
            <a:xfrm>
              <a:off x="11185498" y="1444191"/>
              <a:ext cx="1006502" cy="461665"/>
            </a:xfrm>
            <a:prstGeom prst="rect">
              <a:avLst/>
            </a:prstGeom>
            <a:noFill/>
          </p:spPr>
          <p:txBody>
            <a:bodyPr wrap="square" rtlCol="0">
              <a:spAutoFit/>
            </a:bodyPr>
            <a:lstStyle/>
            <a:p>
              <a:r>
                <a:rPr lang="en-US" sz="2400" dirty="0">
                  <a:latin typeface="Times" pitchFamily="2" charset="0"/>
                </a:rPr>
                <a:t>2</a:t>
              </a:r>
              <a:r>
                <a:rPr lang="en-US" sz="2400" i="1" dirty="0">
                  <a:latin typeface="Times" pitchFamily="2" charset="0"/>
                </a:rPr>
                <a:t>v</a:t>
              </a:r>
              <a:r>
                <a:rPr lang="en-US" sz="2400" i="1" baseline="-25000" dirty="0">
                  <a:latin typeface="Times" pitchFamily="2" charset="0"/>
                </a:rPr>
                <a:t>cm</a:t>
              </a:r>
              <a:r>
                <a:rPr lang="en-US" sz="2400" i="1" dirty="0">
                  <a:latin typeface="Symbol" pitchFamily="2" charset="2"/>
                </a:rPr>
                <a:t> </a:t>
              </a:r>
            </a:p>
          </p:txBody>
        </p:sp>
        <p:sp>
          <p:nvSpPr>
            <p:cNvPr id="77" name="Rectangle 76">
              <a:extLst>
                <a:ext uri="{FF2B5EF4-FFF2-40B4-BE49-F238E27FC236}">
                  <a16:creationId xmlns:a16="http://schemas.microsoft.com/office/drawing/2014/main" id="{6B08D021-5D60-36D7-10C8-70BE18621288}"/>
                </a:ext>
              </a:extLst>
            </p:cNvPr>
            <p:cNvSpPr/>
            <p:nvPr/>
          </p:nvSpPr>
          <p:spPr>
            <a:xfrm>
              <a:off x="10687654" y="3483429"/>
              <a:ext cx="1230647" cy="2736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960F6CE1-3970-7188-3330-A8CC12731393}"/>
                </a:ext>
              </a:extLst>
            </p:cNvPr>
            <p:cNvPicPr>
              <a:picLocks noChangeAspect="1"/>
            </p:cNvPicPr>
            <p:nvPr/>
          </p:nvPicPr>
          <p:blipFill>
            <a:blip r:embed="rId4"/>
            <a:stretch>
              <a:fillRect/>
            </a:stretch>
          </p:blipFill>
          <p:spPr>
            <a:xfrm>
              <a:off x="11364364" y="3395531"/>
              <a:ext cx="677632" cy="322682"/>
            </a:xfrm>
            <a:prstGeom prst="rect">
              <a:avLst/>
            </a:prstGeom>
          </p:spPr>
        </p:pic>
        <p:cxnSp>
          <p:nvCxnSpPr>
            <p:cNvPr id="78" name="Straight Arrow Connector 77">
              <a:extLst>
                <a:ext uri="{FF2B5EF4-FFF2-40B4-BE49-F238E27FC236}">
                  <a16:creationId xmlns:a16="http://schemas.microsoft.com/office/drawing/2014/main" id="{54C58953-8343-57B0-34EC-740655590D54}"/>
                </a:ext>
              </a:extLst>
            </p:cNvPr>
            <p:cNvCxnSpPr>
              <a:cxnSpLocks/>
              <a:stCxn id="57" idx="0"/>
            </p:cNvCxnSpPr>
            <p:nvPr/>
          </p:nvCxnSpPr>
          <p:spPr>
            <a:xfrm flipV="1">
              <a:off x="9104218" y="2001076"/>
              <a:ext cx="344582" cy="85515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pic>
          <p:nvPicPr>
            <p:cNvPr id="106" name="Picture 105">
              <a:extLst>
                <a:ext uri="{FF2B5EF4-FFF2-40B4-BE49-F238E27FC236}">
                  <a16:creationId xmlns:a16="http://schemas.microsoft.com/office/drawing/2014/main" id="{F9874670-49E9-A589-15D8-3BCA96E058F1}"/>
                </a:ext>
              </a:extLst>
            </p:cNvPr>
            <p:cNvPicPr>
              <a:picLocks noChangeAspect="1"/>
            </p:cNvPicPr>
            <p:nvPr/>
          </p:nvPicPr>
          <p:blipFill>
            <a:blip r:embed="rId4"/>
            <a:stretch>
              <a:fillRect/>
            </a:stretch>
          </p:blipFill>
          <p:spPr>
            <a:xfrm>
              <a:off x="8851640" y="1661365"/>
              <a:ext cx="683077" cy="325275"/>
            </a:xfrm>
            <a:prstGeom prst="rect">
              <a:avLst/>
            </a:prstGeom>
          </p:spPr>
        </p:pic>
        <p:sp>
          <p:nvSpPr>
            <p:cNvPr id="107" name="TextBox 106">
              <a:extLst>
                <a:ext uri="{FF2B5EF4-FFF2-40B4-BE49-F238E27FC236}">
                  <a16:creationId xmlns:a16="http://schemas.microsoft.com/office/drawing/2014/main" id="{98FF3DFA-B9BD-ED40-B421-335FC86AEDFA}"/>
                </a:ext>
              </a:extLst>
            </p:cNvPr>
            <p:cNvSpPr txBox="1"/>
            <p:nvPr/>
          </p:nvSpPr>
          <p:spPr>
            <a:xfrm>
              <a:off x="9359808" y="3817276"/>
              <a:ext cx="1948895" cy="461665"/>
            </a:xfrm>
            <a:prstGeom prst="rect">
              <a:avLst/>
            </a:prstGeom>
            <a:noFill/>
          </p:spPr>
          <p:txBody>
            <a:bodyPr wrap="square" rtlCol="0">
              <a:spAutoFit/>
            </a:bodyPr>
            <a:lstStyle/>
            <a:p>
              <a:r>
                <a:rPr lang="en-US" sz="2400" i="1" dirty="0" err="1">
                  <a:latin typeface="Times" pitchFamily="2" charset="0"/>
                </a:rPr>
                <a:t>v</a:t>
              </a:r>
              <a:r>
                <a:rPr lang="en-US" sz="2400" baseline="-25000" dirty="0" err="1">
                  <a:latin typeface="Times" pitchFamily="2" charset="0"/>
                </a:rPr>
                <a:t>contact</a:t>
              </a:r>
              <a:r>
                <a:rPr lang="en-US" sz="2400" dirty="0">
                  <a:latin typeface="Times" pitchFamily="2" charset="0"/>
                </a:rPr>
                <a:t> = 0</a:t>
              </a:r>
              <a:r>
                <a:rPr lang="en-US" sz="2400" i="1" dirty="0">
                  <a:latin typeface="Symbol" pitchFamily="2" charset="2"/>
                </a:rPr>
                <a:t> </a:t>
              </a:r>
            </a:p>
          </p:txBody>
        </p:sp>
        <p:cxnSp>
          <p:nvCxnSpPr>
            <p:cNvPr id="109" name="Straight Arrow Connector 108">
              <a:extLst>
                <a:ext uri="{FF2B5EF4-FFF2-40B4-BE49-F238E27FC236}">
                  <a16:creationId xmlns:a16="http://schemas.microsoft.com/office/drawing/2014/main" id="{50670AA0-343F-1E1F-87B2-6C82E12EFB3E}"/>
                </a:ext>
              </a:extLst>
            </p:cNvPr>
            <p:cNvCxnSpPr/>
            <p:nvPr/>
          </p:nvCxnSpPr>
          <p:spPr>
            <a:xfrm flipV="1">
              <a:off x="9778482" y="3862873"/>
              <a:ext cx="180391" cy="1741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6CF5E540-999B-A42C-D2D8-EE5CD15336B6}"/>
                </a:ext>
              </a:extLst>
            </p:cNvPr>
            <p:cNvSpPr txBox="1"/>
            <p:nvPr/>
          </p:nvSpPr>
          <p:spPr>
            <a:xfrm>
              <a:off x="7674333" y="2327082"/>
              <a:ext cx="716280" cy="1015663"/>
            </a:xfrm>
            <a:prstGeom prst="rect">
              <a:avLst/>
            </a:prstGeom>
            <a:noFill/>
          </p:spPr>
          <p:txBody>
            <a:bodyPr wrap="square" rtlCol="0">
              <a:spAutoFit/>
            </a:bodyPr>
            <a:lstStyle/>
            <a:p>
              <a:r>
                <a:rPr lang="en-US" sz="6000" dirty="0">
                  <a:latin typeface="Times" pitchFamily="2" charset="0"/>
                </a:rPr>
                <a:t>=</a:t>
              </a:r>
            </a:p>
          </p:txBody>
        </p:sp>
        <p:cxnSp>
          <p:nvCxnSpPr>
            <p:cNvPr id="65" name="Straight Arrow Connector 64">
              <a:extLst>
                <a:ext uri="{FF2B5EF4-FFF2-40B4-BE49-F238E27FC236}">
                  <a16:creationId xmlns:a16="http://schemas.microsoft.com/office/drawing/2014/main" id="{A3D3722A-47FE-D24B-3163-CC2312D359E1}"/>
                </a:ext>
              </a:extLst>
            </p:cNvPr>
            <p:cNvCxnSpPr>
              <a:cxnSpLocks/>
            </p:cNvCxnSpPr>
            <p:nvPr/>
          </p:nvCxnSpPr>
          <p:spPr>
            <a:xfrm>
              <a:off x="10950321" y="2917600"/>
              <a:ext cx="327279" cy="726746"/>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7" name="Group 116">
            <a:extLst>
              <a:ext uri="{FF2B5EF4-FFF2-40B4-BE49-F238E27FC236}">
                <a16:creationId xmlns:a16="http://schemas.microsoft.com/office/drawing/2014/main" id="{8E141439-1B84-FFEA-AD67-A1D736B9B3A3}"/>
              </a:ext>
            </a:extLst>
          </p:cNvPr>
          <p:cNvGrpSpPr/>
          <p:nvPr/>
        </p:nvGrpSpPr>
        <p:grpSpPr>
          <a:xfrm>
            <a:off x="385264" y="4038256"/>
            <a:ext cx="11475431" cy="1170656"/>
            <a:chOff x="265994" y="4594846"/>
            <a:chExt cx="11475431" cy="1170656"/>
          </a:xfrm>
        </p:grpSpPr>
        <p:grpSp>
          <p:nvGrpSpPr>
            <p:cNvPr id="115" name="Group 114">
              <a:extLst>
                <a:ext uri="{FF2B5EF4-FFF2-40B4-BE49-F238E27FC236}">
                  <a16:creationId xmlns:a16="http://schemas.microsoft.com/office/drawing/2014/main" id="{6E2462CD-206B-22E6-72BC-D07CA243E7A2}"/>
                </a:ext>
              </a:extLst>
            </p:cNvPr>
            <p:cNvGrpSpPr/>
            <p:nvPr/>
          </p:nvGrpSpPr>
          <p:grpSpPr>
            <a:xfrm>
              <a:off x="265994" y="4594846"/>
              <a:ext cx="11475431" cy="830997"/>
              <a:chOff x="106968" y="4316551"/>
              <a:chExt cx="11475431" cy="830997"/>
            </a:xfrm>
          </p:grpSpPr>
          <p:sp>
            <p:nvSpPr>
              <p:cNvPr id="104" name="TextBox 103">
                <a:extLst>
                  <a:ext uri="{FF2B5EF4-FFF2-40B4-BE49-F238E27FC236}">
                    <a16:creationId xmlns:a16="http://schemas.microsoft.com/office/drawing/2014/main" id="{62CEC0BE-AB48-575B-349B-571F353978FC}"/>
                  </a:ext>
                </a:extLst>
              </p:cNvPr>
              <p:cNvSpPr txBox="1"/>
              <p:nvPr/>
            </p:nvSpPr>
            <p:spPr>
              <a:xfrm>
                <a:off x="106968" y="4316551"/>
                <a:ext cx="11435676"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When pure </a:t>
                </a:r>
                <a:r>
                  <a:rPr lang="en-US" sz="2400" dirty="0">
                    <a:solidFill>
                      <a:srgbClr val="002495"/>
                    </a:solidFill>
                    <a:latin typeface="Times" pitchFamily="2" charset="0"/>
                    <a:cs typeface="Times New Roman" panose="02020603050405020304" pitchFamily="18" charset="0"/>
                  </a:rPr>
                  <a:t>translational motion </a:t>
                </a:r>
                <a:r>
                  <a:rPr lang="en-US" sz="2400" dirty="0">
                    <a:latin typeface="Times" pitchFamily="2" charset="0"/>
                    <a:cs typeface="Times New Roman" panose="02020603050405020304" pitchFamily="18" charset="0"/>
                  </a:rPr>
                  <a:t>and pure </a:t>
                </a:r>
                <a:r>
                  <a:rPr lang="en-US" sz="2400" dirty="0">
                    <a:solidFill>
                      <a:srgbClr val="002495"/>
                    </a:solidFill>
                    <a:latin typeface="Times" pitchFamily="2" charset="0"/>
                    <a:cs typeface="Times New Roman" panose="02020603050405020304" pitchFamily="18" charset="0"/>
                  </a:rPr>
                  <a:t>rotational motion </a:t>
                </a:r>
                <a:r>
                  <a:rPr lang="en-US" sz="2400" dirty="0">
                    <a:latin typeface="Times" pitchFamily="2" charset="0"/>
                    <a:cs typeface="Times New Roman" panose="02020603050405020304" pitchFamily="18" charset="0"/>
                  </a:rPr>
                  <a:t>are added together, </a:t>
                </a:r>
                <a:r>
                  <a:rPr lang="en-US" sz="2400" dirty="0">
                    <a:solidFill>
                      <a:srgbClr val="002495"/>
                    </a:solidFill>
                    <a:latin typeface="Times" pitchFamily="2" charset="0"/>
                    <a:cs typeface="Times New Roman" panose="02020603050405020304" pitchFamily="18" charset="0"/>
                  </a:rPr>
                  <a:t>rolling motion </a:t>
                </a:r>
                <a:r>
                  <a:rPr lang="en-US" sz="2400" dirty="0">
                    <a:latin typeface="Times" pitchFamily="2" charset="0"/>
                    <a:cs typeface="Times New Roman" panose="02020603050405020304" pitchFamily="18" charset="0"/>
                  </a:rPr>
                  <a:t>results, and the speed of each point on the wheel will correspond to the                               </a:t>
                </a:r>
                <a:endParaRPr lang="en-US" sz="2400" dirty="0">
                  <a:latin typeface="Times" pitchFamily="2" charset="0"/>
                </a:endParaRPr>
              </a:p>
            </p:txBody>
          </p:sp>
          <p:sp>
            <p:nvSpPr>
              <p:cNvPr id="113" name="Rounded Rectangle 112">
                <a:extLst>
                  <a:ext uri="{FF2B5EF4-FFF2-40B4-BE49-F238E27FC236}">
                    <a16:creationId xmlns:a16="http://schemas.microsoft.com/office/drawing/2014/main" id="{11E6020C-B379-139A-0123-2A4E2470E828}"/>
                  </a:ext>
                </a:extLst>
              </p:cNvPr>
              <p:cNvSpPr/>
              <p:nvPr/>
            </p:nvSpPr>
            <p:spPr>
              <a:xfrm>
                <a:off x="9833112" y="4731027"/>
                <a:ext cx="1749287" cy="331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 name="TextBox 115">
              <a:extLst>
                <a:ext uri="{FF2B5EF4-FFF2-40B4-BE49-F238E27FC236}">
                  <a16:creationId xmlns:a16="http://schemas.microsoft.com/office/drawing/2014/main" id="{EA13B24A-8152-5A57-F009-E9723B809102}"/>
                </a:ext>
              </a:extLst>
            </p:cNvPr>
            <p:cNvSpPr txBox="1"/>
            <p:nvPr/>
          </p:nvSpPr>
          <p:spPr>
            <a:xfrm>
              <a:off x="285872" y="5303837"/>
              <a:ext cx="11435676"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of the velocities from each type of motion.</a:t>
              </a:r>
              <a:endParaRPr lang="en-US" sz="2400" dirty="0">
                <a:latin typeface="Times" pitchFamily="2" charset="0"/>
              </a:endParaRPr>
            </a:p>
          </p:txBody>
        </p:sp>
      </p:grpSp>
      <p:grpSp>
        <p:nvGrpSpPr>
          <p:cNvPr id="123" name="Group 122">
            <a:extLst>
              <a:ext uri="{FF2B5EF4-FFF2-40B4-BE49-F238E27FC236}">
                <a16:creationId xmlns:a16="http://schemas.microsoft.com/office/drawing/2014/main" id="{3C6E454B-CB2B-C8BD-8B4E-F8F3FC8F1799}"/>
              </a:ext>
            </a:extLst>
          </p:cNvPr>
          <p:cNvGrpSpPr/>
          <p:nvPr/>
        </p:nvGrpSpPr>
        <p:grpSpPr>
          <a:xfrm>
            <a:off x="610549" y="5211072"/>
            <a:ext cx="11435676" cy="1098826"/>
            <a:chOff x="438273" y="5396600"/>
            <a:chExt cx="11435676" cy="1098826"/>
          </a:xfrm>
        </p:grpSpPr>
        <p:sp>
          <p:nvSpPr>
            <p:cNvPr id="118" name="TextBox 117">
              <a:extLst>
                <a:ext uri="{FF2B5EF4-FFF2-40B4-BE49-F238E27FC236}">
                  <a16:creationId xmlns:a16="http://schemas.microsoft.com/office/drawing/2014/main" id="{9032386F-FEF6-8D02-94B2-81A3C314C3EA}"/>
                </a:ext>
              </a:extLst>
            </p:cNvPr>
            <p:cNvSpPr txBox="1"/>
            <p:nvPr/>
          </p:nvSpPr>
          <p:spPr>
            <a:xfrm>
              <a:off x="855716" y="5396600"/>
              <a:ext cx="10580910" cy="400110"/>
            </a:xfrm>
            <a:prstGeom prst="rect">
              <a:avLst/>
            </a:prstGeom>
            <a:noFill/>
          </p:spPr>
          <p:txBody>
            <a:bodyPr wrap="square">
              <a:spAutoFit/>
            </a:bodyPr>
            <a:lstStyle/>
            <a:p>
              <a:r>
                <a:rPr lang="en-US" sz="2000" dirty="0">
                  <a:latin typeface="Times" pitchFamily="2" charset="0"/>
                  <a:cs typeface="Times New Roman" panose="02020603050405020304" pitchFamily="18" charset="0"/>
                </a:rPr>
                <a:t>Notice that the top of the wheel moves at twice the velocity of the CM relative to the ground.</a:t>
              </a:r>
              <a:endParaRPr lang="en-US" sz="2000" dirty="0">
                <a:latin typeface="Times" pitchFamily="2" charset="0"/>
              </a:endParaRPr>
            </a:p>
          </p:txBody>
        </p:sp>
        <p:grpSp>
          <p:nvGrpSpPr>
            <p:cNvPr id="122" name="Group 121">
              <a:extLst>
                <a:ext uri="{FF2B5EF4-FFF2-40B4-BE49-F238E27FC236}">
                  <a16:creationId xmlns:a16="http://schemas.microsoft.com/office/drawing/2014/main" id="{C4D95FA2-8529-3A8B-90B7-F742CE3D8670}"/>
                </a:ext>
              </a:extLst>
            </p:cNvPr>
            <p:cNvGrpSpPr/>
            <p:nvPr/>
          </p:nvGrpSpPr>
          <p:grpSpPr>
            <a:xfrm>
              <a:off x="438273" y="5787540"/>
              <a:ext cx="11435676" cy="707886"/>
              <a:chOff x="438273" y="5787540"/>
              <a:chExt cx="11435676" cy="707886"/>
            </a:xfrm>
          </p:grpSpPr>
          <p:sp>
            <p:nvSpPr>
              <p:cNvPr id="119" name="TextBox 118">
                <a:extLst>
                  <a:ext uri="{FF2B5EF4-FFF2-40B4-BE49-F238E27FC236}">
                    <a16:creationId xmlns:a16="http://schemas.microsoft.com/office/drawing/2014/main" id="{994F8C5F-DD05-5696-F32C-DC94ABCFC27D}"/>
                  </a:ext>
                </a:extLst>
              </p:cNvPr>
              <p:cNvSpPr txBox="1"/>
              <p:nvPr/>
            </p:nvSpPr>
            <p:spPr>
              <a:xfrm>
                <a:off x="438273" y="5787540"/>
                <a:ext cx="11435676" cy="707886"/>
              </a:xfrm>
              <a:prstGeom prst="rect">
                <a:avLst/>
              </a:prstGeom>
              <a:noFill/>
            </p:spPr>
            <p:txBody>
              <a:bodyPr wrap="square">
                <a:spAutoFit/>
              </a:bodyPr>
              <a:lstStyle/>
              <a:p>
                <a:r>
                  <a:rPr lang="en-US" sz="2000" dirty="0">
                    <a:latin typeface="Times" pitchFamily="2" charset="0"/>
                    <a:cs typeface="Times New Roman" panose="02020603050405020304" pitchFamily="18" charset="0"/>
                  </a:rPr>
                  <a:t>...And, the point where the wheel contacts the ground has a net velocity of 0!  That means this point is instantaneously at rest with respect to the road, i.e. rolling tires (not slipping) rely on                                !</a:t>
                </a:r>
                <a:endParaRPr lang="en-US" sz="2000" dirty="0">
                  <a:latin typeface="Times" pitchFamily="2" charset="0"/>
                </a:endParaRPr>
              </a:p>
            </p:txBody>
          </p:sp>
          <p:sp>
            <p:nvSpPr>
              <p:cNvPr id="121" name="Rounded Rectangle 120">
                <a:extLst>
                  <a:ext uri="{FF2B5EF4-FFF2-40B4-BE49-F238E27FC236}">
                    <a16:creationId xmlns:a16="http://schemas.microsoft.com/office/drawing/2014/main" id="{1AE0D35C-18A5-DF24-AD54-3BA393127C1E}"/>
                  </a:ext>
                </a:extLst>
              </p:cNvPr>
              <p:cNvSpPr/>
              <p:nvPr/>
            </p:nvSpPr>
            <p:spPr>
              <a:xfrm>
                <a:off x="9170506" y="6089374"/>
                <a:ext cx="1948069" cy="331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24" name="Rectangle 123">
            <a:extLst>
              <a:ext uri="{FF2B5EF4-FFF2-40B4-BE49-F238E27FC236}">
                <a16:creationId xmlns:a16="http://schemas.microsoft.com/office/drawing/2014/main" id="{118A0F25-D767-1D84-955B-BC069B5F3896}"/>
              </a:ext>
            </a:extLst>
          </p:cNvPr>
          <p:cNvSpPr/>
          <p:nvPr/>
        </p:nvSpPr>
        <p:spPr>
          <a:xfrm>
            <a:off x="583093" y="5234611"/>
            <a:ext cx="11025809" cy="1099928"/>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724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dissolve">
                                      <p:cBhvr>
                                        <p:cTn id="7" dur="5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dissolve">
                                      <p:cBhvr>
                                        <p:cTn id="12" dur="500"/>
                                        <p:tgtEl>
                                          <p:spTgt spid="12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24"/>
                                        </p:tgtEl>
                                        <p:attrNameLst>
                                          <p:attrName>style.visibility</p:attrName>
                                        </p:attrNameLst>
                                      </p:cBhvr>
                                      <p:to>
                                        <p:strVal val="visible"/>
                                      </p:to>
                                    </p:set>
                                    <p:animEffect transition="in" filter="dissolve">
                                      <p:cBhvr>
                                        <p:cTn id="15"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CD0D-A5FE-C21F-EE75-38DAF6B35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7E268A-C8A9-0254-C0A3-D8C6D1D3E3DF}"/>
              </a:ext>
            </a:extLst>
          </p:cNvPr>
          <p:cNvSpPr>
            <a:spLocks noGrp="1"/>
          </p:cNvSpPr>
          <p:nvPr>
            <p:ph type="title"/>
          </p:nvPr>
        </p:nvSpPr>
        <p:spPr>
          <a:xfrm>
            <a:off x="639874" y="142278"/>
            <a:ext cx="10820401" cy="849312"/>
          </a:xfrm>
        </p:spPr>
        <p:txBody>
          <a:bodyPr>
            <a:normAutofit/>
          </a:bodyPr>
          <a:lstStyle/>
          <a:p>
            <a:r>
              <a:rPr lang="en-US" b="1" dirty="0">
                <a:ea typeface="Calibri" charset="0"/>
                <a:cs typeface="Calibri" charset="0"/>
              </a:rPr>
              <a:t>8.6</a:t>
            </a:r>
            <a:r>
              <a:rPr lang="en-US" dirty="0">
                <a:ea typeface="Calibri" charset="0"/>
                <a:cs typeface="Calibri" charset="0"/>
              </a:rPr>
              <a:t> Rolling Motion</a:t>
            </a:r>
            <a:endParaRPr lang="en-US" sz="3000" dirty="0"/>
          </a:p>
        </p:txBody>
      </p:sp>
      <p:grpSp>
        <p:nvGrpSpPr>
          <p:cNvPr id="39" name="Group 38">
            <a:extLst>
              <a:ext uri="{FF2B5EF4-FFF2-40B4-BE49-F238E27FC236}">
                <a16:creationId xmlns:a16="http://schemas.microsoft.com/office/drawing/2014/main" id="{94BD3D0B-136C-03A5-8F56-C90F83F4441A}"/>
              </a:ext>
            </a:extLst>
          </p:cNvPr>
          <p:cNvGrpSpPr/>
          <p:nvPr/>
        </p:nvGrpSpPr>
        <p:grpSpPr>
          <a:xfrm>
            <a:off x="8144357" y="192158"/>
            <a:ext cx="3742843" cy="3531703"/>
            <a:chOff x="8144357" y="192158"/>
            <a:chExt cx="3742843" cy="3531703"/>
          </a:xfrm>
        </p:grpSpPr>
        <p:grpSp>
          <p:nvGrpSpPr>
            <p:cNvPr id="9" name="Group 7">
              <a:extLst>
                <a:ext uri="{FF2B5EF4-FFF2-40B4-BE49-F238E27FC236}">
                  <a16:creationId xmlns:a16="http://schemas.microsoft.com/office/drawing/2014/main" id="{749FAF47-683A-C335-61E9-50C71D386827}"/>
                </a:ext>
              </a:extLst>
            </p:cNvPr>
            <p:cNvGrpSpPr>
              <a:grpSpLocks/>
            </p:cNvGrpSpPr>
            <p:nvPr/>
          </p:nvGrpSpPr>
          <p:grpSpPr bwMode="auto">
            <a:xfrm>
              <a:off x="8507896" y="1603514"/>
              <a:ext cx="2729948" cy="2120347"/>
              <a:chOff x="59" y="54"/>
              <a:chExt cx="2869" cy="2202"/>
            </a:xfrm>
          </p:grpSpPr>
          <p:pic>
            <p:nvPicPr>
              <p:cNvPr id="11" name="Picture 4" descr="rolling wo slipping">
                <a:extLst>
                  <a:ext uri="{FF2B5EF4-FFF2-40B4-BE49-F238E27FC236}">
                    <a16:creationId xmlns:a16="http://schemas.microsoft.com/office/drawing/2014/main" id="{18BD32F2-E5D9-3B5E-42C0-E37CB511AC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179" b="8015"/>
              <a:stretch/>
            </p:blipFill>
            <p:spPr bwMode="auto">
              <a:xfrm>
                <a:off x="59" y="54"/>
                <a:ext cx="2869" cy="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6">
                <a:extLst>
                  <a:ext uri="{FF2B5EF4-FFF2-40B4-BE49-F238E27FC236}">
                    <a16:creationId xmlns:a16="http://schemas.microsoft.com/office/drawing/2014/main" id="{2A37A7B8-39C8-0DE5-6A59-EA3E93FA3C0D}"/>
                  </a:ext>
                </a:extLst>
              </p:cNvPr>
              <p:cNvSpPr>
                <a:spLocks noChangeArrowheads="1"/>
              </p:cNvSpPr>
              <p:nvPr/>
            </p:nvSpPr>
            <p:spPr bwMode="auto">
              <a:xfrm>
                <a:off x="1248" y="2064"/>
                <a:ext cx="384"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pic>
          <p:nvPicPr>
            <p:cNvPr id="25" name="Picture 4" descr="rolling wo slipping">
              <a:extLst>
                <a:ext uri="{FF2B5EF4-FFF2-40B4-BE49-F238E27FC236}">
                  <a16:creationId xmlns:a16="http://schemas.microsoft.com/office/drawing/2014/main" id="{B7222B3D-0D5E-C0EB-5E2D-F4DE763097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9550"/>
            <a:stretch/>
          </p:blipFill>
          <p:spPr bwMode="auto">
            <a:xfrm>
              <a:off x="8144357" y="192158"/>
              <a:ext cx="3742843" cy="143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 name="TextBox 27">
            <a:extLst>
              <a:ext uri="{FF2B5EF4-FFF2-40B4-BE49-F238E27FC236}">
                <a16:creationId xmlns:a16="http://schemas.microsoft.com/office/drawing/2014/main" id="{4D7AE01B-2FB1-DFF5-D455-1C0D2D3EE016}"/>
              </a:ext>
            </a:extLst>
          </p:cNvPr>
          <p:cNvSpPr txBox="1"/>
          <p:nvPr/>
        </p:nvSpPr>
        <p:spPr>
          <a:xfrm>
            <a:off x="159977" y="791472"/>
            <a:ext cx="7486528" cy="1200329"/>
          </a:xfrm>
          <a:prstGeom prst="rect">
            <a:avLst/>
          </a:prstGeom>
          <a:noFill/>
        </p:spPr>
        <p:txBody>
          <a:bodyPr wrap="square">
            <a:spAutoFit/>
          </a:bodyPr>
          <a:lstStyle/>
          <a:p>
            <a:pPr algn="just"/>
            <a:r>
              <a:rPr lang="en-US" sz="2400" dirty="0">
                <a:latin typeface="Times" pitchFamily="2" charset="0"/>
                <a:cs typeface="Times New Roman" panose="02020603050405020304" pitchFamily="18" charset="0"/>
              </a:rPr>
              <a:t>Also, because the wheel rolls without slipping, the linear distance traveled by the car, </a:t>
            </a:r>
            <a:r>
              <a:rPr lang="en-US" sz="2400" i="1" dirty="0">
                <a:latin typeface="Times" pitchFamily="2" charset="0"/>
                <a:cs typeface="Times New Roman" panose="02020603050405020304" pitchFamily="18" charset="0"/>
              </a:rPr>
              <a:t>d</a:t>
            </a:r>
            <a:r>
              <a:rPr lang="en-US" sz="2400" dirty="0">
                <a:latin typeface="Times" pitchFamily="2" charset="0"/>
                <a:cs typeface="Times New Roman" panose="02020603050405020304" pitchFamily="18" charset="0"/>
              </a:rPr>
              <a:t>, must equal the arc length, </a:t>
            </a:r>
            <a:r>
              <a:rPr lang="en-US" sz="2400" i="1" dirty="0">
                <a:latin typeface="Times" pitchFamily="2" charset="0"/>
                <a:cs typeface="Times New Roman" panose="02020603050405020304" pitchFamily="18" charset="0"/>
              </a:rPr>
              <a:t>s</a:t>
            </a:r>
            <a:r>
              <a:rPr lang="en-US" sz="2400" dirty="0">
                <a:latin typeface="Times" pitchFamily="2" charset="0"/>
                <a:cs typeface="Times New Roman" panose="02020603050405020304" pitchFamily="18" charset="0"/>
              </a:rPr>
              <a:t>, traced by a point on the edge of the wheel.</a:t>
            </a:r>
            <a:endParaRPr lang="en-US" sz="2400" dirty="0">
              <a:latin typeface="Times" pitchFamily="2" charset="0"/>
            </a:endParaRPr>
          </a:p>
        </p:txBody>
      </p:sp>
      <p:sp>
        <p:nvSpPr>
          <p:cNvPr id="29" name="TextBox 28">
            <a:extLst>
              <a:ext uri="{FF2B5EF4-FFF2-40B4-BE49-F238E27FC236}">
                <a16:creationId xmlns:a16="http://schemas.microsoft.com/office/drawing/2014/main" id="{C7925B14-1593-4633-6D7E-702DAFAE3F5A}"/>
              </a:ext>
            </a:extLst>
          </p:cNvPr>
          <p:cNvSpPr txBox="1"/>
          <p:nvPr/>
        </p:nvSpPr>
        <p:spPr>
          <a:xfrm>
            <a:off x="153353" y="2335351"/>
            <a:ext cx="920075"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Or...</a:t>
            </a:r>
            <a:endParaRPr lang="en-US" sz="2400" dirty="0">
              <a:latin typeface="Times" pitchFamily="2" charset="0"/>
            </a:endParaRPr>
          </a:p>
        </p:txBody>
      </p:sp>
      <p:sp>
        <p:nvSpPr>
          <p:cNvPr id="30" name="Rounded Rectangle 29">
            <a:extLst>
              <a:ext uri="{FF2B5EF4-FFF2-40B4-BE49-F238E27FC236}">
                <a16:creationId xmlns:a16="http://schemas.microsoft.com/office/drawing/2014/main" id="{286C404E-EDB2-683B-CBFE-74E93B861D71}"/>
              </a:ext>
            </a:extLst>
          </p:cNvPr>
          <p:cNvSpPr/>
          <p:nvPr/>
        </p:nvSpPr>
        <p:spPr>
          <a:xfrm>
            <a:off x="901150" y="2186609"/>
            <a:ext cx="4982817" cy="7951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85D65476-D8E9-4A32-DCD2-0278201834F3}"/>
              </a:ext>
            </a:extLst>
          </p:cNvPr>
          <p:cNvSpPr txBox="1"/>
          <p:nvPr/>
        </p:nvSpPr>
        <p:spPr>
          <a:xfrm>
            <a:off x="5898169" y="2368481"/>
            <a:ext cx="2636234"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a:t>
            </a:r>
            <a:r>
              <a:rPr lang="en-US" sz="2400" i="1" dirty="0">
                <a:latin typeface="Symbol" pitchFamily="2" charset="2"/>
                <a:cs typeface="Times New Roman" panose="02020603050405020304" pitchFamily="18" charset="0"/>
              </a:rPr>
              <a:t>w</a:t>
            </a:r>
            <a:r>
              <a:rPr lang="en-US" sz="2400" dirty="0">
                <a:latin typeface="Times" pitchFamily="2" charset="0"/>
                <a:cs typeface="Times New Roman" panose="02020603050405020304" pitchFamily="18" charset="0"/>
              </a:rPr>
              <a:t> in rad/s)   (</a:t>
            </a:r>
            <a:r>
              <a:rPr lang="en-US" sz="2400" b="1" dirty="0">
                <a:latin typeface="Times" pitchFamily="2" charset="0"/>
                <a:cs typeface="Times New Roman" panose="02020603050405020304" pitchFamily="18" charset="0"/>
              </a:rPr>
              <a:t>8.12</a:t>
            </a:r>
            <a:r>
              <a:rPr lang="en-US" sz="2400" dirty="0">
                <a:latin typeface="Times" pitchFamily="2" charset="0"/>
                <a:cs typeface="Times New Roman" panose="02020603050405020304" pitchFamily="18" charset="0"/>
              </a:rPr>
              <a:t>)</a:t>
            </a:r>
            <a:endParaRPr lang="en-US" sz="2400" dirty="0">
              <a:latin typeface="Times" pitchFamily="2" charset="0"/>
            </a:endParaRPr>
          </a:p>
        </p:txBody>
      </p:sp>
      <p:sp>
        <p:nvSpPr>
          <p:cNvPr id="37" name="TextBox 36">
            <a:extLst>
              <a:ext uri="{FF2B5EF4-FFF2-40B4-BE49-F238E27FC236}">
                <a16:creationId xmlns:a16="http://schemas.microsoft.com/office/drawing/2014/main" id="{FBB56A23-F28B-0BD6-7641-780BD2C9C793}"/>
              </a:ext>
            </a:extLst>
          </p:cNvPr>
          <p:cNvSpPr txBox="1"/>
          <p:nvPr/>
        </p:nvSpPr>
        <p:spPr>
          <a:xfrm>
            <a:off x="179855" y="3501542"/>
            <a:ext cx="11435676"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Equation 8.12 shows directly that the linear speed of the car is equal to the tangential speed of a point on the edge of the wheel.</a:t>
            </a:r>
            <a:endParaRPr lang="en-US" sz="2400" dirty="0">
              <a:latin typeface="Times" pitchFamily="2" charset="0"/>
            </a:endParaRPr>
          </a:p>
        </p:txBody>
      </p:sp>
      <p:sp>
        <p:nvSpPr>
          <p:cNvPr id="38" name="TextBox 37">
            <a:extLst>
              <a:ext uri="{FF2B5EF4-FFF2-40B4-BE49-F238E27FC236}">
                <a16:creationId xmlns:a16="http://schemas.microsoft.com/office/drawing/2014/main" id="{BBB53944-F55E-E68A-BE18-3749EC9BD55C}"/>
              </a:ext>
            </a:extLst>
          </p:cNvPr>
          <p:cNvSpPr txBox="1"/>
          <p:nvPr/>
        </p:nvSpPr>
        <p:spPr>
          <a:xfrm>
            <a:off x="173228" y="4449071"/>
            <a:ext cx="11435676" cy="1200329"/>
          </a:xfrm>
          <a:prstGeom prst="rect">
            <a:avLst/>
          </a:prstGeom>
          <a:noFill/>
        </p:spPr>
        <p:txBody>
          <a:bodyPr wrap="square">
            <a:spAutoFit/>
          </a:bodyPr>
          <a:lstStyle/>
          <a:p>
            <a:r>
              <a:rPr lang="en-US" sz="2400" dirty="0">
                <a:latin typeface="Times" pitchFamily="2" charset="0"/>
                <a:cs typeface="Times New Roman" panose="02020603050405020304" pitchFamily="18" charset="0"/>
              </a:rPr>
              <a:t>If the car has a linear acceleration parallel to the ground, then with the same reasoning as above, we can show that the </a:t>
            </a:r>
            <a:r>
              <a:rPr lang="en-US" sz="2400" dirty="0">
                <a:solidFill>
                  <a:srgbClr val="007440"/>
                </a:solidFill>
                <a:latin typeface="Times" pitchFamily="2" charset="0"/>
                <a:cs typeface="Times New Roman" panose="02020603050405020304" pitchFamily="18" charset="0"/>
              </a:rPr>
              <a:t>linear acceleration </a:t>
            </a:r>
            <a:r>
              <a:rPr lang="en-US" sz="2400" dirty="0">
                <a:latin typeface="Times" pitchFamily="2" charset="0"/>
                <a:cs typeface="Times New Roman" panose="02020603050405020304" pitchFamily="18" charset="0"/>
              </a:rPr>
              <a:t>of the car has the same magnitude as the </a:t>
            </a:r>
            <a:r>
              <a:rPr lang="en-US" sz="2400" dirty="0">
                <a:solidFill>
                  <a:srgbClr val="007440"/>
                </a:solidFill>
                <a:latin typeface="Times" pitchFamily="2" charset="0"/>
                <a:cs typeface="Times New Roman" panose="02020603050405020304" pitchFamily="18" charset="0"/>
              </a:rPr>
              <a:t>tangential acceleration </a:t>
            </a:r>
            <a:r>
              <a:rPr lang="en-US" sz="2400" dirty="0">
                <a:latin typeface="Times" pitchFamily="2" charset="0"/>
                <a:cs typeface="Times New Roman" panose="02020603050405020304" pitchFamily="18" charset="0"/>
              </a:rPr>
              <a:t>of a point on the edge of the wheel:</a:t>
            </a:r>
            <a:endParaRPr lang="en-US" sz="2400" dirty="0">
              <a:latin typeface="Times" pitchFamily="2" charset="0"/>
            </a:endParaRPr>
          </a:p>
        </p:txBody>
      </p:sp>
      <p:sp>
        <p:nvSpPr>
          <p:cNvPr id="42" name="Rounded Rectangle 41">
            <a:extLst>
              <a:ext uri="{FF2B5EF4-FFF2-40B4-BE49-F238E27FC236}">
                <a16:creationId xmlns:a16="http://schemas.microsoft.com/office/drawing/2014/main" id="{30292129-8D1A-54A7-77E5-A92D9F2BB9D5}"/>
              </a:ext>
            </a:extLst>
          </p:cNvPr>
          <p:cNvSpPr/>
          <p:nvPr/>
        </p:nvSpPr>
        <p:spPr>
          <a:xfrm>
            <a:off x="4479235" y="5804452"/>
            <a:ext cx="1736034"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37D4FA54-1838-4F65-819F-CCEA7E4F8D2D}"/>
              </a:ext>
            </a:extLst>
          </p:cNvPr>
          <p:cNvSpPr txBox="1"/>
          <p:nvPr/>
        </p:nvSpPr>
        <p:spPr>
          <a:xfrm>
            <a:off x="6342117" y="5807420"/>
            <a:ext cx="3186196"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a:t>
            </a:r>
            <a:r>
              <a:rPr lang="en-US" sz="2400" i="1" dirty="0">
                <a:latin typeface="Symbol" pitchFamily="2" charset="2"/>
                <a:cs typeface="Times New Roman" panose="02020603050405020304" pitchFamily="18" charset="0"/>
              </a:rPr>
              <a:t>a</a:t>
            </a:r>
            <a:r>
              <a:rPr lang="en-US" sz="2400" dirty="0">
                <a:latin typeface="Times" pitchFamily="2" charset="0"/>
                <a:cs typeface="Times New Roman" panose="02020603050405020304" pitchFamily="18" charset="0"/>
              </a:rPr>
              <a:t> in rad/s</a:t>
            </a:r>
            <a:r>
              <a:rPr lang="en-US" sz="2400" baseline="30000" dirty="0">
                <a:latin typeface="Times" pitchFamily="2" charset="0"/>
                <a:cs typeface="Times New Roman" panose="02020603050405020304" pitchFamily="18" charset="0"/>
              </a:rPr>
              <a:t>2</a:t>
            </a:r>
            <a:r>
              <a:rPr lang="en-US" sz="2400" dirty="0">
                <a:latin typeface="Times" pitchFamily="2" charset="0"/>
                <a:cs typeface="Times New Roman" panose="02020603050405020304" pitchFamily="18" charset="0"/>
              </a:rPr>
              <a:t>)   (</a:t>
            </a:r>
            <a:r>
              <a:rPr lang="en-US" sz="2400" b="1" dirty="0">
                <a:latin typeface="Times" pitchFamily="2" charset="0"/>
                <a:cs typeface="Times New Roman" panose="02020603050405020304" pitchFamily="18" charset="0"/>
              </a:rPr>
              <a:t>8.13</a:t>
            </a:r>
            <a:r>
              <a:rPr lang="en-US" sz="2400" dirty="0">
                <a:latin typeface="Times" pitchFamily="2" charset="0"/>
                <a:cs typeface="Times New Roman" panose="02020603050405020304" pitchFamily="18" charset="0"/>
              </a:rPr>
              <a:t>)</a:t>
            </a:r>
            <a:endParaRPr lang="en-US" sz="2400" dirty="0">
              <a:latin typeface="Times" pitchFamily="2" charset="0"/>
            </a:endParaRPr>
          </a:p>
        </p:txBody>
      </p:sp>
    </p:spTree>
    <p:extLst>
      <p:ext uri="{BB962C8B-B14F-4D97-AF65-F5344CB8AC3E}">
        <p14:creationId xmlns:p14="http://schemas.microsoft.com/office/powerpoint/2010/main" val="342306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ssolve">
                                      <p:cBhvr>
                                        <p:cTn id="11" dur="500"/>
                                        <p:tgtEl>
                                          <p:spTgt spid="29"/>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dissolve">
                                      <p:cBhvr>
                                        <p:cTn id="15" dur="500"/>
                                        <p:tgtEl>
                                          <p:spTgt spid="30"/>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dissolve">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dissolve">
                                      <p:cBhvr>
                                        <p:cTn id="24" dur="500"/>
                                        <p:tgtEl>
                                          <p:spTgt spid="3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dissolve">
                                      <p:cBhvr>
                                        <p:cTn id="29" dur="500"/>
                                        <p:tgtEl>
                                          <p:spTgt spid="38"/>
                                        </p:tgtEl>
                                      </p:cBhvr>
                                    </p:animEffect>
                                  </p:childTnLst>
                                </p:cTn>
                              </p:par>
                            </p:childTnLst>
                          </p:cTn>
                        </p:par>
                        <p:par>
                          <p:cTn id="30" fill="hold">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dissolve">
                                      <p:cBhvr>
                                        <p:cTn id="33" dur="500"/>
                                        <p:tgtEl>
                                          <p:spTgt spid="42"/>
                                        </p:tgtEl>
                                      </p:cBhvr>
                                    </p:animEffect>
                                  </p:childTnLst>
                                </p:cTn>
                              </p:par>
                            </p:childTnLst>
                          </p:cTn>
                        </p:par>
                        <p:par>
                          <p:cTn id="34" fill="hold">
                            <p:stCondLst>
                              <p:cond delay="1000"/>
                            </p:stCondLst>
                            <p:childTnLst>
                              <p:par>
                                <p:cTn id="35" presetID="9" presetClass="entr" presetSubtype="0" fill="hold" grpId="0" nodeType="after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dissolve">
                                      <p:cBhvr>
                                        <p:cTn id="3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animBg="1"/>
      <p:bldP spid="36" grpId="0"/>
      <p:bldP spid="37" grpId="0"/>
      <p:bldP spid="38" grpId="0"/>
      <p:bldP spid="42" grpId="0" animBg="1"/>
      <p:bldP spid="4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8A8B6-9EE5-8F6F-05F0-201131729FB5}"/>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9B3FED91-7F68-392F-3AB8-98425B251CAC}"/>
              </a:ext>
            </a:extLst>
          </p:cNvPr>
          <p:cNvSpPr/>
          <p:nvPr/>
        </p:nvSpPr>
        <p:spPr>
          <a:xfrm>
            <a:off x="0" y="667766"/>
            <a:ext cx="12192000" cy="988756"/>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F19BD6-65E6-DCD1-7429-8053EAEF99F7}"/>
              </a:ext>
            </a:extLst>
          </p:cNvPr>
          <p:cNvSpPr>
            <a:spLocks noGrp="1"/>
          </p:cNvSpPr>
          <p:nvPr>
            <p:ph type="title"/>
          </p:nvPr>
        </p:nvSpPr>
        <p:spPr>
          <a:xfrm>
            <a:off x="639874" y="115774"/>
            <a:ext cx="10820401" cy="849312"/>
          </a:xfrm>
        </p:spPr>
        <p:txBody>
          <a:bodyPr>
            <a:normAutofit/>
          </a:bodyPr>
          <a:lstStyle/>
          <a:p>
            <a:r>
              <a:rPr lang="en-US" b="1" dirty="0">
                <a:ea typeface="Calibri" charset="0"/>
                <a:cs typeface="Calibri" charset="0"/>
              </a:rPr>
              <a:t>8.7</a:t>
            </a:r>
            <a:r>
              <a:rPr lang="en-US" dirty="0">
                <a:ea typeface="Calibri" charset="0"/>
                <a:cs typeface="Calibri" charset="0"/>
              </a:rPr>
              <a:t> The Vector Nature of Angular Variables</a:t>
            </a:r>
            <a:endParaRPr lang="en-US" sz="3000" dirty="0"/>
          </a:p>
        </p:txBody>
      </p:sp>
      <p:sp>
        <p:nvSpPr>
          <p:cNvPr id="5" name="Content Placeholder 2">
            <a:extLst>
              <a:ext uri="{FF2B5EF4-FFF2-40B4-BE49-F238E27FC236}">
                <a16:creationId xmlns:a16="http://schemas.microsoft.com/office/drawing/2014/main" id="{DFFA183B-1D17-A799-A4C4-78EA106C605C}"/>
              </a:ext>
            </a:extLst>
          </p:cNvPr>
          <p:cNvSpPr txBox="1">
            <a:spLocks/>
          </p:cNvSpPr>
          <p:nvPr/>
        </p:nvSpPr>
        <p:spPr>
          <a:xfrm>
            <a:off x="914401" y="718024"/>
            <a:ext cx="10933042"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solidFill>
                  <a:srgbClr val="007440"/>
                </a:solidFill>
              </a:rPr>
              <a:t>Learning Objective 8.7 </a:t>
            </a:r>
            <a:r>
              <a:rPr lang="en-US" dirty="0"/>
              <a:t>– Use the right-hand rule to determine the direction of angular vectors.</a:t>
            </a:r>
          </a:p>
        </p:txBody>
      </p:sp>
      <p:grpSp>
        <p:nvGrpSpPr>
          <p:cNvPr id="6" name="Group 5">
            <a:extLst>
              <a:ext uri="{FF2B5EF4-FFF2-40B4-BE49-F238E27FC236}">
                <a16:creationId xmlns:a16="http://schemas.microsoft.com/office/drawing/2014/main" id="{C22EC002-A0DE-A71C-3133-7D705D100DF6}"/>
              </a:ext>
            </a:extLst>
          </p:cNvPr>
          <p:cNvGrpSpPr/>
          <p:nvPr/>
        </p:nvGrpSpPr>
        <p:grpSpPr>
          <a:xfrm>
            <a:off x="973467" y="1858599"/>
            <a:ext cx="10892143" cy="830997"/>
            <a:chOff x="973467" y="1858599"/>
            <a:chExt cx="10892143" cy="830997"/>
          </a:xfrm>
        </p:grpSpPr>
        <p:sp>
          <p:nvSpPr>
            <p:cNvPr id="26" name="TextBox 25">
              <a:extLst>
                <a:ext uri="{FF2B5EF4-FFF2-40B4-BE49-F238E27FC236}">
                  <a16:creationId xmlns:a16="http://schemas.microsoft.com/office/drawing/2014/main" id="{EF9A5586-0416-5615-AA96-4D1B48AA951A}"/>
                </a:ext>
              </a:extLst>
            </p:cNvPr>
            <p:cNvSpPr txBox="1"/>
            <p:nvPr/>
          </p:nvSpPr>
          <p:spPr>
            <a:xfrm>
              <a:off x="973467" y="1858599"/>
              <a:ext cx="10892143" cy="830997"/>
            </a:xfrm>
            <a:prstGeom prst="rect">
              <a:avLst/>
            </a:prstGeom>
            <a:noFill/>
          </p:spPr>
          <p:txBody>
            <a:bodyPr wrap="square">
              <a:spAutoFit/>
            </a:bodyPr>
            <a:lstStyle/>
            <a:p>
              <a:r>
                <a:rPr lang="en-US" sz="2400" dirty="0">
                  <a:latin typeface="Times" pitchFamily="2" charset="0"/>
                  <a:cs typeface="Times New Roman" panose="02020603050405020304" pitchFamily="18" charset="0"/>
                </a:rPr>
                <a:t>As mentioned previously, </a:t>
              </a:r>
              <a:r>
                <a:rPr lang="en-US" sz="2400" dirty="0">
                  <a:solidFill>
                    <a:srgbClr val="007440"/>
                  </a:solidFill>
                  <a:latin typeface="Times" pitchFamily="2" charset="0"/>
                  <a:cs typeface="Times New Roman" panose="02020603050405020304" pitchFamily="18" charset="0"/>
                </a:rPr>
                <a:t>angular displacement</a:t>
              </a:r>
              <a:r>
                <a:rPr lang="en-US" sz="2400" dirty="0">
                  <a:latin typeface="Times" pitchFamily="2" charset="0"/>
                  <a:cs typeface="Times New Roman" panose="02020603050405020304" pitchFamily="18" charset="0"/>
                </a:rPr>
                <a:t>, </a:t>
              </a:r>
              <a:r>
                <a:rPr lang="en-US" sz="2400" dirty="0">
                  <a:solidFill>
                    <a:srgbClr val="007440"/>
                  </a:solidFill>
                  <a:latin typeface="Times" pitchFamily="2" charset="0"/>
                  <a:cs typeface="Times New Roman" panose="02020603050405020304" pitchFamily="18" charset="0"/>
                </a:rPr>
                <a:t>angular velocity</a:t>
              </a:r>
              <a:r>
                <a:rPr lang="en-US" sz="2400" dirty="0">
                  <a:latin typeface="Times" pitchFamily="2" charset="0"/>
                  <a:cs typeface="Times New Roman" panose="02020603050405020304" pitchFamily="18" charset="0"/>
                </a:rPr>
                <a:t>, and </a:t>
              </a:r>
              <a:r>
                <a:rPr lang="en-US" sz="2400" dirty="0">
                  <a:solidFill>
                    <a:srgbClr val="007440"/>
                  </a:solidFill>
                  <a:latin typeface="Times" pitchFamily="2" charset="0"/>
                  <a:cs typeface="Times New Roman" panose="02020603050405020304" pitchFamily="18" charset="0"/>
                </a:rPr>
                <a:t>angular acceleration </a:t>
              </a:r>
              <a:r>
                <a:rPr lang="en-US" sz="2400" dirty="0">
                  <a:latin typeface="Times" pitchFamily="2" charset="0"/>
                  <a:cs typeface="Times New Roman" panose="02020603050405020304" pitchFamily="18" charset="0"/>
                </a:rPr>
                <a:t>are, like their linear counterparts,                                   .</a:t>
              </a:r>
              <a:endParaRPr lang="en-US" sz="2400" dirty="0">
                <a:latin typeface="Times" pitchFamily="2" charset="0"/>
              </a:endParaRPr>
            </a:p>
          </p:txBody>
        </p:sp>
        <p:sp>
          <p:nvSpPr>
            <p:cNvPr id="4" name="Rounded Rectangle 3">
              <a:extLst>
                <a:ext uri="{FF2B5EF4-FFF2-40B4-BE49-F238E27FC236}">
                  <a16:creationId xmlns:a16="http://schemas.microsoft.com/office/drawing/2014/main" id="{351A905E-43C0-3BCF-A233-6750214C40F1}"/>
                </a:ext>
              </a:extLst>
            </p:cNvPr>
            <p:cNvSpPr/>
            <p:nvPr/>
          </p:nvSpPr>
          <p:spPr>
            <a:xfrm>
              <a:off x="6705600" y="2252870"/>
              <a:ext cx="2584174"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D03AC6AC-27B9-0F5A-2072-7A64C3C2B3A8}"/>
              </a:ext>
            </a:extLst>
          </p:cNvPr>
          <p:cNvSpPr txBox="1"/>
          <p:nvPr/>
        </p:nvSpPr>
        <p:spPr>
          <a:xfrm>
            <a:off x="940337" y="2819382"/>
            <a:ext cx="10892143"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We now turn our attention to determining the </a:t>
            </a:r>
            <a:r>
              <a:rPr lang="en-US" sz="2400" dirty="0">
                <a:solidFill>
                  <a:srgbClr val="007440"/>
                </a:solidFill>
                <a:latin typeface="Times" pitchFamily="2" charset="0"/>
                <a:cs typeface="Times New Roman" panose="02020603050405020304" pitchFamily="18" charset="0"/>
              </a:rPr>
              <a:t>direction</a:t>
            </a:r>
            <a:r>
              <a:rPr lang="en-US" sz="2400" dirty="0">
                <a:latin typeface="Times" pitchFamily="2" charset="0"/>
                <a:cs typeface="Times New Roman" panose="02020603050405020304" pitchFamily="18" charset="0"/>
              </a:rPr>
              <a:t> of these angular vectors.</a:t>
            </a:r>
            <a:endParaRPr lang="en-US" sz="2400" dirty="0">
              <a:latin typeface="Times" pitchFamily="2" charset="0"/>
            </a:endParaRPr>
          </a:p>
        </p:txBody>
      </p:sp>
      <p:grpSp>
        <p:nvGrpSpPr>
          <p:cNvPr id="16" name="Group 15">
            <a:extLst>
              <a:ext uri="{FF2B5EF4-FFF2-40B4-BE49-F238E27FC236}">
                <a16:creationId xmlns:a16="http://schemas.microsoft.com/office/drawing/2014/main" id="{C57AAA5E-4658-9744-12AF-F8CFFFA06267}"/>
              </a:ext>
            </a:extLst>
          </p:cNvPr>
          <p:cNvGrpSpPr/>
          <p:nvPr/>
        </p:nvGrpSpPr>
        <p:grpSpPr>
          <a:xfrm>
            <a:off x="973468" y="3405808"/>
            <a:ext cx="8183784" cy="478213"/>
            <a:chOff x="973468" y="3405808"/>
            <a:chExt cx="8183784" cy="478213"/>
          </a:xfrm>
        </p:grpSpPr>
        <p:sp>
          <p:nvSpPr>
            <p:cNvPr id="13" name="TextBox 12">
              <a:extLst>
                <a:ext uri="{FF2B5EF4-FFF2-40B4-BE49-F238E27FC236}">
                  <a16:creationId xmlns:a16="http://schemas.microsoft.com/office/drawing/2014/main" id="{43B041E9-7417-2EBA-4153-4C50B355CE98}"/>
                </a:ext>
              </a:extLst>
            </p:cNvPr>
            <p:cNvSpPr txBox="1"/>
            <p:nvPr/>
          </p:nvSpPr>
          <p:spPr>
            <a:xfrm>
              <a:off x="973468" y="3422356"/>
              <a:ext cx="8183784" cy="461665"/>
            </a:xfrm>
            <a:prstGeom prst="rect">
              <a:avLst/>
            </a:prstGeom>
            <a:noFill/>
          </p:spPr>
          <p:txBody>
            <a:bodyPr wrap="square">
              <a:spAutoFit/>
            </a:bodyPr>
            <a:lstStyle/>
            <a:p>
              <a:r>
                <a:rPr lang="en-US" sz="2400" dirty="0">
                  <a:latin typeface="Times" pitchFamily="2" charset="0"/>
                  <a:cs typeface="Times New Roman" panose="02020603050405020304" pitchFamily="18" charset="0"/>
                </a:rPr>
                <a:t>To do so, we use a technique known as the                                 .</a:t>
              </a:r>
              <a:endParaRPr lang="en-US" sz="2400" dirty="0">
                <a:latin typeface="Times" pitchFamily="2" charset="0"/>
              </a:endParaRPr>
            </a:p>
          </p:txBody>
        </p:sp>
        <p:sp>
          <p:nvSpPr>
            <p:cNvPr id="15" name="Rounded Rectangle 14">
              <a:extLst>
                <a:ext uri="{FF2B5EF4-FFF2-40B4-BE49-F238E27FC236}">
                  <a16:creationId xmlns:a16="http://schemas.microsoft.com/office/drawing/2014/main" id="{F2687A25-C158-CC4C-F329-68E76DBFF2CA}"/>
                </a:ext>
              </a:extLst>
            </p:cNvPr>
            <p:cNvSpPr/>
            <p:nvPr/>
          </p:nvSpPr>
          <p:spPr>
            <a:xfrm>
              <a:off x="6308034" y="3405808"/>
              <a:ext cx="2425148" cy="4373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1AF27940-4BDB-4894-46CD-B3E68B64F254}"/>
              </a:ext>
            </a:extLst>
          </p:cNvPr>
          <p:cNvGrpSpPr/>
          <p:nvPr/>
        </p:nvGrpSpPr>
        <p:grpSpPr>
          <a:xfrm>
            <a:off x="914400" y="4253948"/>
            <a:ext cx="10363200" cy="1762539"/>
            <a:chOff x="914400" y="4253948"/>
            <a:chExt cx="10363200" cy="1762539"/>
          </a:xfrm>
        </p:grpSpPr>
        <p:sp>
          <p:nvSpPr>
            <p:cNvPr id="18" name="TextBox 17">
              <a:extLst>
                <a:ext uri="{FF2B5EF4-FFF2-40B4-BE49-F238E27FC236}">
                  <a16:creationId xmlns:a16="http://schemas.microsoft.com/office/drawing/2014/main" id="{71FE3D80-0E66-762A-7EC3-76AA1FF15039}"/>
                </a:ext>
              </a:extLst>
            </p:cNvPr>
            <p:cNvSpPr txBox="1"/>
            <p:nvPr/>
          </p:nvSpPr>
          <p:spPr>
            <a:xfrm>
              <a:off x="1033670" y="4786847"/>
              <a:ext cx="10217425" cy="1200329"/>
            </a:xfrm>
            <a:prstGeom prst="rect">
              <a:avLst/>
            </a:prstGeom>
            <a:noFill/>
          </p:spPr>
          <p:txBody>
            <a:bodyPr wrap="square">
              <a:spAutoFit/>
            </a:bodyPr>
            <a:lstStyle/>
            <a:p>
              <a:pPr algn="just"/>
              <a:r>
                <a:rPr lang="en-US" sz="2400" dirty="0">
                  <a:latin typeface="Times" pitchFamily="2" charset="0"/>
                </a:rPr>
                <a:t>Grasp the axis of rotation with your right hand, with your fingers curling around the axis in the same sense as the rotation. Your extended thumb then points along the axis of rotation in the direction of the angular vector.</a:t>
              </a:r>
            </a:p>
          </p:txBody>
        </p:sp>
        <p:sp>
          <p:nvSpPr>
            <p:cNvPr id="19" name="TextBox 18">
              <a:extLst>
                <a:ext uri="{FF2B5EF4-FFF2-40B4-BE49-F238E27FC236}">
                  <a16:creationId xmlns:a16="http://schemas.microsoft.com/office/drawing/2014/main" id="{437BA5F0-4DF5-56F2-89C8-11685BCDAB37}"/>
                </a:ext>
              </a:extLst>
            </p:cNvPr>
            <p:cNvSpPr txBox="1"/>
            <p:nvPr/>
          </p:nvSpPr>
          <p:spPr>
            <a:xfrm>
              <a:off x="1060175" y="4280452"/>
              <a:ext cx="4015408" cy="461665"/>
            </a:xfrm>
            <a:prstGeom prst="rect">
              <a:avLst/>
            </a:prstGeom>
            <a:noFill/>
          </p:spPr>
          <p:txBody>
            <a:bodyPr wrap="square" rtlCol="0">
              <a:spAutoFit/>
            </a:bodyPr>
            <a:lstStyle/>
            <a:p>
              <a:r>
                <a:rPr lang="en-US" sz="2400" dirty="0">
                  <a:solidFill>
                    <a:srgbClr val="C00000"/>
                  </a:solidFill>
                  <a:latin typeface="Times" pitchFamily="2" charset="0"/>
                </a:rPr>
                <a:t>RIGHT-HAND RULE</a:t>
              </a:r>
            </a:p>
          </p:txBody>
        </p:sp>
        <p:sp>
          <p:nvSpPr>
            <p:cNvPr id="20" name="Rectangle 19">
              <a:extLst>
                <a:ext uri="{FF2B5EF4-FFF2-40B4-BE49-F238E27FC236}">
                  <a16:creationId xmlns:a16="http://schemas.microsoft.com/office/drawing/2014/main" id="{0E862AE9-5737-1708-0D59-5D993D178F63}"/>
                </a:ext>
              </a:extLst>
            </p:cNvPr>
            <p:cNvSpPr/>
            <p:nvPr/>
          </p:nvSpPr>
          <p:spPr>
            <a:xfrm>
              <a:off x="914400" y="4253948"/>
              <a:ext cx="10363200" cy="176253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7739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963EF-B574-876B-2135-0642F071F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C4670-64E6-4E0B-E52E-F7943CDAA08A}"/>
              </a:ext>
            </a:extLst>
          </p:cNvPr>
          <p:cNvSpPr>
            <a:spLocks noGrp="1"/>
          </p:cNvSpPr>
          <p:nvPr>
            <p:ph type="title"/>
          </p:nvPr>
        </p:nvSpPr>
        <p:spPr>
          <a:xfrm>
            <a:off x="639874" y="115774"/>
            <a:ext cx="10820401" cy="849312"/>
          </a:xfrm>
        </p:spPr>
        <p:txBody>
          <a:bodyPr>
            <a:normAutofit/>
          </a:bodyPr>
          <a:lstStyle/>
          <a:p>
            <a:r>
              <a:rPr lang="en-US" b="1" dirty="0">
                <a:ea typeface="Calibri" charset="0"/>
                <a:cs typeface="Calibri" charset="0"/>
              </a:rPr>
              <a:t>8.7</a:t>
            </a:r>
            <a:r>
              <a:rPr lang="en-US" dirty="0">
                <a:ea typeface="Calibri" charset="0"/>
                <a:cs typeface="Calibri" charset="0"/>
              </a:rPr>
              <a:t> The Vector Nature of Angular Variables</a:t>
            </a:r>
            <a:endParaRPr lang="en-US" sz="3000" dirty="0"/>
          </a:p>
        </p:txBody>
      </p:sp>
      <p:pic>
        <p:nvPicPr>
          <p:cNvPr id="8" name="Picture 7">
            <a:extLst>
              <a:ext uri="{FF2B5EF4-FFF2-40B4-BE49-F238E27FC236}">
                <a16:creationId xmlns:a16="http://schemas.microsoft.com/office/drawing/2014/main" id="{B61AE045-B954-99C3-E940-F97ECFE4A36D}"/>
              </a:ext>
            </a:extLst>
          </p:cNvPr>
          <p:cNvPicPr>
            <a:picLocks noChangeAspect="1"/>
          </p:cNvPicPr>
          <p:nvPr/>
        </p:nvPicPr>
        <p:blipFill>
          <a:blip r:embed="rId3"/>
          <a:stretch>
            <a:fillRect/>
          </a:stretch>
        </p:blipFill>
        <p:spPr>
          <a:xfrm>
            <a:off x="215072" y="978176"/>
            <a:ext cx="2408858" cy="4027022"/>
          </a:xfrm>
          <a:prstGeom prst="rect">
            <a:avLst/>
          </a:prstGeom>
        </p:spPr>
      </p:pic>
      <p:sp>
        <p:nvSpPr>
          <p:cNvPr id="9" name="TextBox 8">
            <a:extLst>
              <a:ext uri="{FF2B5EF4-FFF2-40B4-BE49-F238E27FC236}">
                <a16:creationId xmlns:a16="http://schemas.microsoft.com/office/drawing/2014/main" id="{89BB3CA9-3A5B-1793-0A8D-CF6643F3044E}"/>
              </a:ext>
            </a:extLst>
          </p:cNvPr>
          <p:cNvSpPr txBox="1"/>
          <p:nvPr/>
        </p:nvSpPr>
        <p:spPr>
          <a:xfrm>
            <a:off x="2968488" y="901148"/>
            <a:ext cx="8640416" cy="1200329"/>
          </a:xfrm>
          <a:prstGeom prst="rect">
            <a:avLst/>
          </a:prstGeom>
          <a:noFill/>
        </p:spPr>
        <p:txBody>
          <a:bodyPr wrap="square" rtlCol="0">
            <a:spAutoFit/>
          </a:bodyPr>
          <a:lstStyle/>
          <a:p>
            <a:pPr algn="just"/>
            <a:r>
              <a:rPr lang="en-US" sz="2400" dirty="0">
                <a:latin typeface="Times" pitchFamily="2" charset="0"/>
              </a:rPr>
              <a:t>The figure to the left demonstrates how the </a:t>
            </a:r>
            <a:r>
              <a:rPr lang="en-US" sz="2400" dirty="0">
                <a:solidFill>
                  <a:srgbClr val="007440"/>
                </a:solidFill>
                <a:latin typeface="Times" pitchFamily="2" charset="0"/>
              </a:rPr>
              <a:t>right-hand rule </a:t>
            </a:r>
            <a:r>
              <a:rPr lang="en-US" sz="2400" dirty="0">
                <a:latin typeface="Times" pitchFamily="2" charset="0"/>
              </a:rPr>
              <a:t>would be applied to a rotating disc to determine the direction of its angular velocity vector, </a:t>
            </a:r>
            <a:r>
              <a:rPr lang="en-US" sz="2400" b="1" dirty="0">
                <a:latin typeface="Symbol" pitchFamily="2" charset="2"/>
              </a:rPr>
              <a:t>w</a:t>
            </a:r>
            <a:r>
              <a:rPr lang="en-US" sz="2400" dirty="0">
                <a:latin typeface="Times" pitchFamily="2" charset="0"/>
              </a:rPr>
              <a:t>.</a:t>
            </a:r>
          </a:p>
        </p:txBody>
      </p:sp>
      <p:grpSp>
        <p:nvGrpSpPr>
          <p:cNvPr id="22" name="Group 21">
            <a:extLst>
              <a:ext uri="{FF2B5EF4-FFF2-40B4-BE49-F238E27FC236}">
                <a16:creationId xmlns:a16="http://schemas.microsoft.com/office/drawing/2014/main" id="{381FAD5C-8FA3-7148-1F33-02165243097E}"/>
              </a:ext>
            </a:extLst>
          </p:cNvPr>
          <p:cNvGrpSpPr/>
          <p:nvPr/>
        </p:nvGrpSpPr>
        <p:grpSpPr>
          <a:xfrm>
            <a:off x="2968487" y="2335193"/>
            <a:ext cx="8693426" cy="1569660"/>
            <a:chOff x="2968487" y="2335193"/>
            <a:chExt cx="8693426" cy="1569660"/>
          </a:xfrm>
        </p:grpSpPr>
        <p:sp>
          <p:nvSpPr>
            <p:cNvPr id="12" name="TextBox 11">
              <a:extLst>
                <a:ext uri="{FF2B5EF4-FFF2-40B4-BE49-F238E27FC236}">
                  <a16:creationId xmlns:a16="http://schemas.microsoft.com/office/drawing/2014/main" id="{A92DB14C-B90D-26FD-CEB0-DCB3DB3991A8}"/>
                </a:ext>
              </a:extLst>
            </p:cNvPr>
            <p:cNvSpPr txBox="1"/>
            <p:nvPr/>
          </p:nvSpPr>
          <p:spPr>
            <a:xfrm>
              <a:off x="2968487" y="2335193"/>
              <a:ext cx="8693426" cy="1569660"/>
            </a:xfrm>
            <a:prstGeom prst="rect">
              <a:avLst/>
            </a:prstGeom>
            <a:noFill/>
          </p:spPr>
          <p:txBody>
            <a:bodyPr wrap="square">
              <a:spAutoFit/>
            </a:bodyPr>
            <a:lstStyle/>
            <a:p>
              <a:pPr algn="just"/>
              <a:r>
                <a:rPr lang="en-US" sz="2400" dirty="0">
                  <a:latin typeface="Times" pitchFamily="2" charset="0"/>
                </a:rPr>
                <a:t>It is important to recognize that the direction of an angular vector does not coincide with the direction of motion of the rotating object. Instead, </a:t>
              </a:r>
              <a:r>
                <a:rPr lang="en-US" sz="2400" dirty="0">
                  <a:solidFill>
                    <a:srgbClr val="007440"/>
                  </a:solidFill>
                  <a:latin typeface="Times" pitchFamily="2" charset="0"/>
                </a:rPr>
                <a:t>angular displacement</a:t>
              </a:r>
              <a:r>
                <a:rPr lang="en-US" sz="2400" dirty="0">
                  <a:latin typeface="Times" pitchFamily="2" charset="0"/>
                </a:rPr>
                <a:t>, </a:t>
              </a:r>
              <a:r>
                <a:rPr lang="en-US" sz="2400" dirty="0">
                  <a:solidFill>
                    <a:srgbClr val="007440"/>
                  </a:solidFill>
                  <a:latin typeface="Times" pitchFamily="2" charset="0"/>
                </a:rPr>
                <a:t>angular velocity</a:t>
              </a:r>
              <a:r>
                <a:rPr lang="en-US" sz="2400" dirty="0">
                  <a:latin typeface="Times" pitchFamily="2" charset="0"/>
                </a:rPr>
                <a:t>, and </a:t>
              </a:r>
              <a:r>
                <a:rPr lang="en-US" sz="2400" dirty="0">
                  <a:solidFill>
                    <a:srgbClr val="007440"/>
                  </a:solidFill>
                  <a:latin typeface="Times" pitchFamily="2" charset="0"/>
                </a:rPr>
                <a:t>angular acceleration</a:t>
              </a:r>
              <a:r>
                <a:rPr lang="en-US" sz="2400" dirty="0">
                  <a:latin typeface="Times" pitchFamily="2" charset="0"/>
                </a:rPr>
                <a:t> are directed                                                     .</a:t>
              </a:r>
            </a:p>
          </p:txBody>
        </p:sp>
        <p:sp>
          <p:nvSpPr>
            <p:cNvPr id="17" name="Rounded Rectangle 16">
              <a:extLst>
                <a:ext uri="{FF2B5EF4-FFF2-40B4-BE49-F238E27FC236}">
                  <a16:creationId xmlns:a16="http://schemas.microsoft.com/office/drawing/2014/main" id="{FD1F4081-AEFE-9C77-8B6D-81213DBFCAEB}"/>
                </a:ext>
              </a:extLst>
            </p:cNvPr>
            <p:cNvSpPr/>
            <p:nvPr/>
          </p:nvSpPr>
          <p:spPr>
            <a:xfrm>
              <a:off x="6082750" y="3485321"/>
              <a:ext cx="3988904"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031AD58A-C874-EAD4-0D3C-38E4AFB25247}"/>
              </a:ext>
            </a:extLst>
          </p:cNvPr>
          <p:cNvSpPr/>
          <p:nvPr/>
        </p:nvSpPr>
        <p:spPr>
          <a:xfrm>
            <a:off x="2981739" y="2372139"/>
            <a:ext cx="8733183" cy="1563757"/>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355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dissolve">
                                      <p:cBhvr>
                                        <p:cTn id="1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4" grpId="0" animBg="1"/>
    </p:bldLst>
  </p:timing>
</p:sld>
</file>

<file path=ppt/theme/theme1.xml><?xml version="1.0" encoding="utf-8"?>
<a:theme xmlns:a="http://schemas.openxmlformats.org/drawingml/2006/main" name="Wiley Green">
  <a:themeElements>
    <a:clrScheme name="Wiley Green 2">
      <a:dk1>
        <a:srgbClr val="231F20"/>
      </a:dk1>
      <a:lt1>
        <a:srgbClr val="FFFFFF"/>
      </a:lt1>
      <a:dk2>
        <a:srgbClr val="194951"/>
      </a:dk2>
      <a:lt2>
        <a:srgbClr val="EFEFF0"/>
      </a:lt2>
      <a:accent1>
        <a:srgbClr val="A6C0B7"/>
      </a:accent1>
      <a:accent2>
        <a:srgbClr val="36D77E"/>
      </a:accent2>
      <a:accent3>
        <a:srgbClr val="007942"/>
      </a:accent3>
      <a:accent4>
        <a:srgbClr val="194951"/>
      </a:accent4>
      <a:accent5>
        <a:srgbClr val="A6C0B7"/>
      </a:accent5>
      <a:accent6>
        <a:srgbClr val="194951"/>
      </a:accent6>
      <a:hlink>
        <a:srgbClr val="36D77E"/>
      </a:hlink>
      <a:folHlink>
        <a:srgbClr val="19495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ley Green" id="{CB77757E-E413-4E45-832E-56086DCB3229}" vid="{54F1114B-D960-CD41-93B0-DE80B1735C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487DD02714334AA284610353C6D0A5" ma:contentTypeVersion="7" ma:contentTypeDescription="Create a new document." ma:contentTypeScope="" ma:versionID="afd8265e81daf7a6b239848e27b4a5d5">
  <xsd:schema xmlns:xsd="http://www.w3.org/2001/XMLSchema" xmlns:xs="http://www.w3.org/2001/XMLSchema" xmlns:p="http://schemas.microsoft.com/office/2006/metadata/properties" xmlns:ns2="d1ee5d69-9466-47e8-8dc9-197116f7f5be" targetNamespace="http://schemas.microsoft.com/office/2006/metadata/properties" ma:root="true" ma:fieldsID="a40e57e1c6ab732498fca28ffdcf1584" ns2:_="">
    <xsd:import namespace="d1ee5d69-9466-47e8-8dc9-197116f7f5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ee5d69-9466-47e8-8dc9-197116f7f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1EB3F6C-4C08-4FF3-9FDC-9E36633ABE68}"/>
</file>

<file path=customXml/itemProps2.xml><?xml version="1.0" encoding="utf-8"?>
<ds:datastoreItem xmlns:ds="http://schemas.openxmlformats.org/officeDocument/2006/customXml" ds:itemID="{87B099ED-2612-4F96-B3DF-B43271CC614C}"/>
</file>

<file path=customXml/itemProps3.xml><?xml version="1.0" encoding="utf-8"?>
<ds:datastoreItem xmlns:ds="http://schemas.openxmlformats.org/officeDocument/2006/customXml" ds:itemID="{877EFF1E-5775-437D-99A1-267E1C57D4AC}"/>
</file>

<file path=docProps/app.xml><?xml version="1.0" encoding="utf-8"?>
<Properties xmlns="http://schemas.openxmlformats.org/officeDocument/2006/extended-properties" xmlns:vt="http://schemas.openxmlformats.org/officeDocument/2006/docPropsVTypes">
  <Template>Wiley Green</Template>
  <TotalTime>95848</TotalTime>
  <Words>4772</Words>
  <Application>Microsoft Macintosh PowerPoint</Application>
  <PresentationFormat>Widescreen</PresentationFormat>
  <Paragraphs>394</Paragraphs>
  <Slides>42</Slides>
  <Notes>42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42</vt:i4>
      </vt:variant>
    </vt:vector>
  </HeadingPairs>
  <TitlesOfParts>
    <vt:vector size="51" baseType="lpstr">
      <vt:lpstr>Arial</vt:lpstr>
      <vt:lpstr>Calibri</vt:lpstr>
      <vt:lpstr>Chalkduster</vt:lpstr>
      <vt:lpstr>Symbol</vt:lpstr>
      <vt:lpstr>Times</vt:lpstr>
      <vt:lpstr>Times New Roman</vt:lpstr>
      <vt:lpstr>Wiley Green</vt:lpstr>
      <vt:lpstr>Equation</vt:lpstr>
      <vt:lpstr>Microsoft Equation 3.0</vt:lpstr>
      <vt:lpstr>Cutnell &amp; Johnson  Physics</vt:lpstr>
      <vt:lpstr>8.1 Rotational Motion and Angular Displacement</vt:lpstr>
      <vt:lpstr>8.1 Rotational Motion and Angular Displacement</vt:lpstr>
      <vt:lpstr>8.1 Rotational Motion and Angular Displacement</vt:lpstr>
      <vt:lpstr>8.1 Rotational Motion and Angular Displacement</vt:lpstr>
      <vt:lpstr>8.1 Rotational Motion and Angular Displacement</vt:lpstr>
      <vt:lpstr>8.1 Rotational Motion and Angular Displacement</vt:lpstr>
      <vt:lpstr>8.1 Rotational Motion and Angular Displacement</vt:lpstr>
      <vt:lpstr>8.1 Rotational Motion and Angular Displacement</vt:lpstr>
      <vt:lpstr>8.1 Rotational Motion and Angular Displacement</vt:lpstr>
      <vt:lpstr>8.2 Angular Velocity and Angular Acceleration</vt:lpstr>
      <vt:lpstr>8.2 Angular Velocity and Angular Acceleration</vt:lpstr>
      <vt:lpstr>8.2 Angular Velocity and Angular Acceleration</vt:lpstr>
      <vt:lpstr>8.2 Angular Velocity and Angular Acceleration</vt:lpstr>
      <vt:lpstr>8.2 Angular Velocity and Angular Acceleration</vt:lpstr>
      <vt:lpstr>8.2 Angular Velocity and Angular Acceleration</vt:lpstr>
      <vt:lpstr>8.2 Angular Velocity and Angular Acceleration</vt:lpstr>
      <vt:lpstr>8.2 Angular Velocity and Angular Acceleration</vt:lpstr>
      <vt:lpstr>8.3 The Equations of Rotational Kinematics</vt:lpstr>
      <vt:lpstr>8.3 The Equations of Rotational Kinematics</vt:lpstr>
      <vt:lpstr>8.3 The Equations of Rotational Kinematics</vt:lpstr>
      <vt:lpstr>8.3 The Equations of Rotational Kinematics</vt:lpstr>
      <vt:lpstr>8.3 The Equations of Rotational Kinematics</vt:lpstr>
      <vt:lpstr>8.3 The Equations of Rotational Kinematics</vt:lpstr>
      <vt:lpstr>8.3 The Equations of Rotational Kinematics</vt:lpstr>
      <vt:lpstr>8.4 Angular Variables and Tangential Variables</vt:lpstr>
      <vt:lpstr>8.4 Angular Variables and Tangential Variables</vt:lpstr>
      <vt:lpstr>8.4 Angular Variables and Tangential Variables</vt:lpstr>
      <vt:lpstr>8.4 Angular Variables and Tangential Variables</vt:lpstr>
      <vt:lpstr>8.4 Angular Variables and Tangential Variables</vt:lpstr>
      <vt:lpstr>8.4 Angular Variables and Tangential Variables</vt:lpstr>
      <vt:lpstr>8.5 Centripetal Acceleration and Tangential Acceleration</vt:lpstr>
      <vt:lpstr>8.5 Centripetal Acceleration and Tangential Acceleration</vt:lpstr>
      <vt:lpstr>8.5 Centripetal Acceleration and Tangential Acceleration</vt:lpstr>
      <vt:lpstr>8.5 Centripetal Acceleration and Tangential Acceleration</vt:lpstr>
      <vt:lpstr>8.5 Centripetal Acceleration and Tangential Acceleration</vt:lpstr>
      <vt:lpstr>8.6 Rolling Motion</vt:lpstr>
      <vt:lpstr>8.6 Rolling Motion</vt:lpstr>
      <vt:lpstr>8.6 Rolling Motion</vt:lpstr>
      <vt:lpstr>8.6 Rolling Motion</vt:lpstr>
      <vt:lpstr>8.7 The Vector Nature of Angular Variables</vt:lpstr>
      <vt:lpstr>8.7 The Vector Nature of Angular Variables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Lai, Wendy</dc:creator>
  <cp:lastModifiedBy>David P Young</cp:lastModifiedBy>
  <cp:revision>1173</cp:revision>
  <cp:lastPrinted>2026-04-16T02:17:59Z</cp:lastPrinted>
  <dcterms:created xsi:type="dcterms:W3CDTF">2018-08-23T13:01:59Z</dcterms:created>
  <dcterms:modified xsi:type="dcterms:W3CDTF">2026-08-05T18:28:42Z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0x010100CF487DD02714334AA284610353C6D0A5</vt:lpwstr>
  </property>
</Properties>
</file>