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4"/>
  </p:sldMasterIdLst>
  <p:notesMasterIdLst>
    <p:notesMasterId r:id="rId47"/>
  </p:notesMasterIdLst>
  <p:sldIdLst>
    <p:sldId id="399" r:id="rId5"/>
    <p:sldId id="400" r:id="rId6"/>
    <p:sldId id="444" r:id="rId7"/>
    <p:sldId id="445" r:id="rId8"/>
    <p:sldId id="446" r:id="rId9"/>
    <p:sldId id="448" r:id="rId10"/>
    <p:sldId id="447" r:id="rId11"/>
    <p:sldId id="450" r:id="rId12"/>
    <p:sldId id="451" r:id="rId13"/>
    <p:sldId id="452" r:id="rId14"/>
    <p:sldId id="449" r:id="rId15"/>
    <p:sldId id="453" r:id="rId16"/>
    <p:sldId id="454" r:id="rId17"/>
    <p:sldId id="455" r:id="rId18"/>
    <p:sldId id="456" r:id="rId19"/>
    <p:sldId id="457" r:id="rId20"/>
    <p:sldId id="458" r:id="rId21"/>
    <p:sldId id="459" r:id="rId22"/>
    <p:sldId id="460" r:id="rId23"/>
    <p:sldId id="461" r:id="rId24"/>
    <p:sldId id="462" r:id="rId25"/>
    <p:sldId id="463" r:id="rId26"/>
    <p:sldId id="464" r:id="rId27"/>
    <p:sldId id="465" r:id="rId28"/>
    <p:sldId id="466" r:id="rId29"/>
    <p:sldId id="467" r:id="rId30"/>
    <p:sldId id="468" r:id="rId31"/>
    <p:sldId id="469" r:id="rId32"/>
    <p:sldId id="470" r:id="rId33"/>
    <p:sldId id="471" r:id="rId34"/>
    <p:sldId id="472" r:id="rId35"/>
    <p:sldId id="473" r:id="rId36"/>
    <p:sldId id="474" r:id="rId37"/>
    <p:sldId id="475" r:id="rId38"/>
    <p:sldId id="476" r:id="rId39"/>
    <p:sldId id="477" r:id="rId40"/>
    <p:sldId id="478" r:id="rId41"/>
    <p:sldId id="479" r:id="rId42"/>
    <p:sldId id="480" r:id="rId43"/>
    <p:sldId id="481" r:id="rId44"/>
    <p:sldId id="482" r:id="rId45"/>
    <p:sldId id="48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5891"/>
    <a:srgbClr val="194951"/>
    <a:srgbClr val="007440"/>
    <a:srgbClr val="A6C0B7"/>
    <a:srgbClr val="002495"/>
    <a:srgbClr val="00AAE6"/>
    <a:srgbClr val="0046AD"/>
    <a:srgbClr val="955D47"/>
    <a:srgbClr val="77403C"/>
    <a:srgbClr val="3C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5" autoAdjust="0"/>
    <p:restoredTop sz="85019" autoAdjust="0"/>
  </p:normalViewPr>
  <p:slideViewPr>
    <p:cSldViewPr snapToGrid="0" snapToObjects="1">
      <p:cViewPr>
        <p:scale>
          <a:sx n="66" d="100"/>
          <a:sy n="66" d="100"/>
        </p:scale>
        <p:origin x="-108" y="-428"/>
      </p:cViewPr>
      <p:guideLst/>
    </p:cSldViewPr>
  </p:slideViewPr>
  <p:outlineViewPr>
    <p:cViewPr>
      <p:scale>
        <a:sx n="33" d="100"/>
        <a:sy n="33" d="100"/>
      </p:scale>
      <p:origin x="0" y="0"/>
    </p:cViewPr>
  </p:outlin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10/8/2026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3E66-0B46-770F-8D32-50BACD4CB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76AA8-10EB-78A8-8DD0-56EE96A80D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3D43607-9BCB-B2EB-3828-F46F6E5D79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74943E-5189-A49D-F726-5555B1F4C65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417636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74DB5-3D56-38BC-1BC4-E80F20512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5A7EA-0ADD-BDA3-9CAB-F06905ADF39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96F2F7-FB34-0E6B-D567-0875D5459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317B1-EEBA-BDB4-B95D-17787948424E}"/>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271315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7ABD-BF43-8B2D-AFF4-1B4020C27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A4FEC-E159-0424-EFF0-64E2532848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5E8E5CE-8B6B-B16E-1249-212D37EDA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39A35A-8B85-D168-5936-C2AA460A49A3}"/>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1438582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00F5-BB9A-370D-83FA-0C693DB81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DF49C-BE84-3F97-C69B-2BF2AFF26EA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8EDA090-76DE-CE42-2DD7-4308C00447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E1577-6BC7-080B-CDEE-1F2243822EE2}"/>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3646158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99F24-7BD1-1FB6-E017-E36698978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7FA88-BD79-381C-7557-A397E8EE5A4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BAFFDA-54CE-6881-72C3-A6E2DD28E3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2E9D24-2F0E-7629-1E9B-5DE777390022}"/>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903621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DEFF-EE3B-8B7B-5B0F-2B34AEE26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C259C-DB93-9359-4B86-22F99DFF23A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7D1AE9-2022-A80C-A5F9-6C618240B3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0B1C5F-4BDA-4A15-BAB2-3CF7F0D2B6C8}"/>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757819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E900-AB14-91AA-15C0-ABF78E42D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5BEE0-8595-09EC-7A2F-68E2CFC413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12F4196-4172-0E64-EE41-AF83D019D3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13189-5716-16D0-6F4A-39F49A16D829}"/>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3912764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461A-0CBE-6FC3-4635-830F37488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764F0-4375-E7C4-3DE2-51B1F05BC1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BF90F2-8B9E-DFA2-C8E1-1F75FC6FD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6CA69-7255-52B3-596C-CFA649ABD367}"/>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4171200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B7E82-9A94-2189-1300-E7EBD6975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4B08C-8D22-AB3E-7D39-32715D117B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8093A2-ACD2-839A-4538-13C1FFE97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8EDFD6-A282-389D-B6BF-E225BD906F05}"/>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848329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7BB9-A4DB-4801-CB4A-B9014C06F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F3393-6512-E506-BC39-3D0E92AE1C6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3B5BF41-ED51-8EDA-5873-E82484CFFE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7545A-3021-96FC-CB62-E966814EB563}"/>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1295593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8C26-AC8E-669E-CC6A-9D751D1FC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AA950-A011-486B-A373-776CDAF358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F0CC554-CB0E-EBB4-0F16-5A4132C690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4AE23-E552-9608-B031-F8964774619C}"/>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2011348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3685-EE4A-5152-6C46-D812168C7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8E790-3941-82BD-ABE9-BCDC3E7D0EB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2C18435-58E2-9416-BC83-0C41CE3A7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5C222-CC3F-D8E0-0BF5-F5A6DFD74C80}"/>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1101642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19D7-4311-8331-EB3C-2CDE8BB1E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384CD-9C1D-60A3-BF30-C67DE40254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3616DD7-0AD0-7DD3-5B2E-5E4EB797B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13029A-44DF-8B79-239B-51FE0245BD4C}"/>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3809654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E48F1-48BA-8B6D-41AC-9B6E296C4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51966-9E17-1E17-C121-BBBBFB8546B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AA3D1B8-4379-7EE4-737D-DDF83F92D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629D8A-21AC-3942-C006-3784A04405D6}"/>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2596160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0DB3-A74A-F81F-2CB7-F8BAB2212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F0774-2623-51E9-05A9-D1437E01A14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DE232D2-FB95-F6AE-37B8-511CED9C0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5C8431-7F6D-EE43-AFB8-16A52E4165BF}"/>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1286324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97099-43C2-37C6-267A-B603DCC09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FA978-3950-1F39-3049-88D8F7B0F2D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C264822-A716-D7B1-F80B-421780101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7BD77-2161-4F92-085D-DA8B4BA6C04C}"/>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49824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0E80-2F53-E692-31CF-A9213B6CE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3C788-1445-B372-CB98-BD08C26AC95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97907BB-87A8-4F31-6EFE-270E3C76E9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6BE9E-9135-336B-20AC-26A6F4750F30}"/>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6741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DE789-C723-B6D2-4687-6C4FA2B4D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D0C67-F049-8B8C-DD8C-7B07C29EFEB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CCFCFF-BC65-854A-62EF-949612D7F9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8BC8C-5BF5-76D1-AB37-3A853856C68D}"/>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772231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3A14-CC83-CB59-C933-DB29F436E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DAB13-B01B-E4E1-3D7E-4821A13F09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121D84B-FC35-62CA-3348-DBA4135737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7B714E-A8C6-A381-3798-1D4915FD4DFE}"/>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203068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6C19-6084-1185-401A-1CADB68F5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32693-89DC-F5B8-6B24-14413E8B88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1518474-E1FE-4603-20A5-1CAE2362C6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B06B7F-B6EB-0806-E45E-42F9037ABDF9}"/>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319570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C8867-B201-B255-33F7-3B1D12E9E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924BE-760D-E312-7E82-CC4E6CA89A3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9DCCF97-0749-470A-FB47-0DE6BE6F37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392A0A-9421-8577-277E-647F7B4EA219}"/>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9473367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525C-92BB-E368-1B6C-737B2FC3A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83956-F475-59A1-8BC9-2A1C8DB2156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8DFF47-286B-E655-C46A-23C7D835E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DE7AB-0209-B6B6-1F2B-DCEA53E28ABC}"/>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904609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6B87-F051-4AB3-9589-EF41F6C03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47656-856E-58F5-EE08-484E87DB699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45B34F9-FB84-CF9F-2A45-D8D298EAB9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8CB8D-14AF-7A99-3DFE-7AFBCB325D61}"/>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2865801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9483-1F7A-EBDB-6380-7F7498C07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45CDC-456E-09CF-D457-1E02C5DC80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4D56C0-61BB-0971-86A6-11375A2697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9A40E-8743-CC3C-5039-2F224A7DD0C7}"/>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773742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6AE9-DB33-5F8E-A2DC-2C911953E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55AF1-295F-820D-A296-D32B2F79F3C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04E36C-5C12-5FDC-FEAF-E71AB0A93F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934D4-64A1-B794-D178-52C5E5906AD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26278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9FA28-31CF-FB51-0B1F-F7DD90ACD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7022D-BA65-F2AB-6507-200ECA08C42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941CED-3279-565A-8E81-548A308980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229CD-2E65-FE90-379A-84BBF080FDD4}"/>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392032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4AC6-D5C0-4AC2-6932-668A05984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2356B-6A52-A3D6-9170-47BF583C735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F3A044-C979-CC52-5D83-CF0C2A2ED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D4D67F-A8CA-A64C-6163-F0A157154C05}"/>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2792991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AA8B-F29F-A9E7-405A-77DBA5F3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1334E-B242-3906-0CC1-5F06DA8C1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D49F81-D1F2-F179-89D1-6B72CD12B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84043-0EB3-9133-2972-D2E1774F9DD0}"/>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1539450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7D44C-DC24-EE7D-5BEB-375810E96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A437F-8B06-8FDF-65B8-718A201816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435010E-8EE2-D5BB-1EFC-FA362C34E9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91AE7-8566-CE08-FE5E-7756B119588E}"/>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794931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60AB-14EC-E8CF-C362-B0A2B88D0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75E50-90C2-E0AB-AA59-7BE3BBAD152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DB09B4F-E06A-BA4B-19DC-704F75F0A9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D66E31-AAC6-B0FA-9DD4-0736119FD019}"/>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12242938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367D-CB99-0C31-B798-F8A22231B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2D735-0A24-1561-A619-3121214FD9D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4F77F73-04D1-8992-915F-6E647264D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117FF-E507-E88A-A81D-35C12F702490}"/>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3976838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A14C-F996-81C3-3800-F2FF4EDF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817EE-0E47-001D-30A8-AEC806A16B4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D1AB71-4AB0-1F07-24FF-F2FE0B70D3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425F82-413B-727E-6A68-A8CB6DD4BFE3}"/>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788215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CDF2-7A70-4FE0-F24B-B3295859F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F5186-4111-3378-E260-13DB9DA0F43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CD1163-D7EC-FCFA-8410-F3D9FCE79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94605-B2D8-5C57-3A2F-95D991D3170F}"/>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3421632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246E-4EC9-E6DC-4DA9-519803A0D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AE792-43E5-CDAA-46DB-E766987690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0821EE9-816D-2DE2-8DF9-115E791FB2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6CBA1F-B18F-D9BD-B146-0F7417705954}"/>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9564638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7E65-F0C4-4D28-6C45-0CB5E4EE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26243-A0FE-B09D-FB40-D2ED1D1644F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B554BBD-28F7-A017-4A32-66BFDE3E65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17486-FC80-B146-0010-506E242DC592}"/>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14931146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3648A-02B8-A424-DC2F-26AECCBE1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3FEB-F915-AAFA-7EF6-B25942DC1A0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A8ADAA7-E29A-EA23-5E8E-77870E6ED0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B7769-5500-48C2-2B45-811370D895C9}"/>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0214351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CCAB-41DC-0247-1BBC-697F15149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0F109-62F3-7B0B-7C71-B804D62BA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DBDD5E6-CE13-595A-423B-5A2C7A39F3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14C8D1-0C86-AA5C-27D9-383C2C5FEBF7}"/>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3503430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BE36-386D-ADB2-447E-DCF2EF2C7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1B550-7160-F687-82A4-B4A46DD23BE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341E96-C0E1-828D-D309-98A47E891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EE3598-FADC-E012-639C-0FBE31DD0326}"/>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151062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E4EA-7395-E993-DABF-C98197E66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09461-4FCB-7E7C-7E76-8F7B957DDD1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2A04C-F574-70A8-8F42-5AFAB6FAC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52FFC-80A9-E6B4-E2AD-A7D6B4A743B7}"/>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6438129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AC93B-9903-104A-31CA-F22DFEAFB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DB97E-20DA-B7CE-0C1F-94FC73138ED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28A4AD7-7D6E-11D4-42C9-AC3DCD069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59E503-DE29-455F-CA96-CE3BDC83EE68}"/>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6911213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8"/>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8"/>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5.wmf"/><Relationship Id="rId3" Type="http://schemas.openxmlformats.org/officeDocument/2006/relationships/image" Target="../media/image10.png"/><Relationship Id="rId7" Type="http://schemas.openxmlformats.org/officeDocument/2006/relationships/image" Target="../media/image12.wmf"/><Relationship Id="rId12" Type="http://schemas.openxmlformats.org/officeDocument/2006/relationships/oleObject" Target="../embeddings/oleObject6.bin"/><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oleObject" Target="../embeddings/oleObject3.bin"/><Relationship Id="rId11" Type="http://schemas.openxmlformats.org/officeDocument/2006/relationships/image" Target="../media/image14.wmf"/><Relationship Id="rId5" Type="http://schemas.openxmlformats.org/officeDocument/2006/relationships/image" Target="../media/image11.png"/><Relationship Id="rId10" Type="http://schemas.openxmlformats.org/officeDocument/2006/relationships/oleObject" Target="../embeddings/oleObject5.bin"/><Relationship Id="rId4" Type="http://schemas.microsoft.com/office/2007/relationships/hdphoto" Target="../media/hdphoto1.wdp"/><Relationship Id="rId9" Type="http://schemas.openxmlformats.org/officeDocument/2006/relationships/image" Target="../media/image13.wmf"/></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0.wmf"/><Relationship Id="rId5" Type="http://schemas.openxmlformats.org/officeDocument/2006/relationships/oleObject" Target="../embeddings/oleObject8.bin"/><Relationship Id="rId4" Type="http://schemas.openxmlformats.org/officeDocument/2006/relationships/image" Target="../media/image19.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wmf"/><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oleObject" Target="../embeddings/oleObject11.bin"/><Relationship Id="rId5" Type="http://schemas.openxmlformats.org/officeDocument/2006/relationships/image" Target="../media/image23.wmf"/><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5.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6.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7.emf"/></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9.wmf"/><Relationship Id="rId4"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emf"/><Relationship Id="rId7" Type="http://schemas.openxmlformats.org/officeDocument/2006/relationships/image" Target="../media/image35.em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4.emf"/><Relationship Id="rId11" Type="http://schemas.openxmlformats.org/officeDocument/2006/relationships/image" Target="../media/image38.wmf"/><Relationship Id="rId5" Type="http://schemas.openxmlformats.org/officeDocument/2006/relationships/image" Target="../media/image33.emf"/><Relationship Id="rId10" Type="http://schemas.openxmlformats.org/officeDocument/2006/relationships/oleObject" Target="../embeddings/oleObject16.bin"/><Relationship Id="rId4" Type="http://schemas.openxmlformats.org/officeDocument/2006/relationships/image" Target="../media/image32.emf"/><Relationship Id="rId9" Type="http://schemas.openxmlformats.org/officeDocument/2006/relationships/image" Target="../media/image37.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9.wmf"/></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wmf"/><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oleObject" Target="../embeddings/oleObject19.bin"/><Relationship Id="rId5" Type="http://schemas.openxmlformats.org/officeDocument/2006/relationships/image" Target="../media/image44.wmf"/><Relationship Id="rId4" Type="http://schemas.openxmlformats.org/officeDocument/2006/relationships/oleObject" Target="../embeddings/oleObject18.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47.emf"/><Relationship Id="rId5" Type="http://schemas.openxmlformats.org/officeDocument/2006/relationships/image" Target="../media/image46.wmf"/><Relationship Id="rId4" Type="http://schemas.openxmlformats.org/officeDocument/2006/relationships/oleObject" Target="../embeddings/oleObject20.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48.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9.emf"/></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51.wmf"/><Relationship Id="rId4" Type="http://schemas.openxmlformats.org/officeDocument/2006/relationships/oleObject" Target="../embeddings/oleObject23.bin"/></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52.wmf"/><Relationship Id="rId4" Type="http://schemas.openxmlformats.org/officeDocument/2006/relationships/oleObject" Target="../embeddings/oleObject24.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oleObject" Target="../embeddings/oleObject25.bin"/><Relationship Id="rId7" Type="http://schemas.openxmlformats.org/officeDocument/2006/relationships/image" Target="../media/image55.wmf"/><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oleObject" Target="../embeddings/oleObject26.bin"/><Relationship Id="rId5" Type="http://schemas.openxmlformats.org/officeDocument/2006/relationships/image" Target="../media/image54.png"/><Relationship Id="rId4" Type="http://schemas.openxmlformats.org/officeDocument/2006/relationships/image" Target="../media/image53.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56.png"/><Relationship Id="rId7" Type="http://schemas.openxmlformats.org/officeDocument/2006/relationships/image" Target="../media/image58.wmf"/><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oleObject" Target="../embeddings/oleObject28.bin"/><Relationship Id="rId11" Type="http://schemas.openxmlformats.org/officeDocument/2006/relationships/image" Target="../media/image60.wmf"/><Relationship Id="rId5" Type="http://schemas.openxmlformats.org/officeDocument/2006/relationships/image" Target="../media/image57.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59.wmf"/></Relationships>
</file>

<file path=ppt/slides/_rels/slide3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oleObject" Target="../embeddings/oleObject31.bin"/><Relationship Id="rId7"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62.wmf"/><Relationship Id="rId5" Type="http://schemas.openxmlformats.org/officeDocument/2006/relationships/oleObject" Target="../embeddings/oleObject32.bin"/><Relationship Id="rId4" Type="http://schemas.openxmlformats.org/officeDocument/2006/relationships/image" Target="../media/image61.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64.png"/><Relationship Id="rId7" Type="http://schemas.openxmlformats.org/officeDocument/2006/relationships/image" Target="../media/image66.wmf"/><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oleObject" Target="../embeddings/oleObject34.bin"/><Relationship Id="rId5" Type="http://schemas.openxmlformats.org/officeDocument/2006/relationships/image" Target="../media/image65.wmf"/><Relationship Id="rId4" Type="http://schemas.openxmlformats.org/officeDocument/2006/relationships/oleObject" Target="../embeddings/oleObject33.bin"/><Relationship Id="rId9" Type="http://schemas.openxmlformats.org/officeDocument/2006/relationships/image" Target="../media/image67.wmf"/></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70.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6.bin"/><Relationship Id="rId7" Type="http://schemas.openxmlformats.org/officeDocument/2006/relationships/image" Target="../media/image73.jpe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72.wmf"/><Relationship Id="rId5" Type="http://schemas.openxmlformats.org/officeDocument/2006/relationships/oleObject" Target="../embeddings/oleObject37.bin"/><Relationship Id="rId4" Type="http://schemas.openxmlformats.org/officeDocument/2006/relationships/image" Target="../media/image71.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Autofit/>
          </a:bodyPr>
          <a:lstStyle/>
          <a:p>
            <a:r>
              <a:rPr lang="en-US" sz="4000" dirty="0" err="1">
                <a:solidFill>
                  <a:schemeClr val="tx1"/>
                </a:solidFill>
                <a:latin typeface="Times New Roman" panose="02020603050405020304" pitchFamily="18" charset="0"/>
                <a:cs typeface="Times New Roman" panose="02020603050405020304" pitchFamily="18" charset="0"/>
              </a:rPr>
              <a:t>Cutnell</a:t>
            </a:r>
            <a:r>
              <a:rPr lang="en-US" sz="4000" dirty="0">
                <a:solidFill>
                  <a:schemeClr val="tx1"/>
                </a:solidFill>
                <a:latin typeface="Times New Roman" panose="02020603050405020304" pitchFamily="18" charset="0"/>
                <a:cs typeface="Times New Roman" panose="02020603050405020304" pitchFamily="18" charset="0"/>
              </a:rPr>
              <a:t> &amp; Johnson </a:t>
            </a:r>
            <a:br>
              <a:rPr lang="en-US" sz="4000" dirty="0">
                <a:solidFill>
                  <a:schemeClr val="tx1"/>
                </a:solidFill>
                <a:latin typeface="Times New Roman" panose="02020603050405020304" pitchFamily="18" charset="0"/>
                <a:cs typeface="Times New Roman" panose="02020603050405020304" pitchFamily="18" charset="0"/>
              </a:rPr>
            </a:br>
            <a:r>
              <a:rPr lang="en-US" sz="4000" dirty="0">
                <a:solidFill>
                  <a:schemeClr val="tx1"/>
                </a:solidFill>
                <a:latin typeface="Times New Roman" panose="02020603050405020304" pitchFamily="18" charset="0"/>
                <a:cs typeface="Times New Roman" panose="02020603050405020304" pitchFamily="18" charset="0"/>
              </a:rPr>
              <a:t>Physics</a:t>
            </a:r>
          </a:p>
        </p:txBody>
      </p:sp>
      <p:sp>
        <p:nvSpPr>
          <p:cNvPr id="3" name="Content Placeholder 24">
            <a:extLst>
              <a:ext uri="{FF2B5EF4-FFF2-40B4-BE49-F238E27FC236}">
                <a16:creationId xmlns:a16="http://schemas.microsoft.com/office/drawing/2014/main" id="{FE4A4E37-3C3B-52BE-75F5-3352E7A80047}"/>
              </a:ext>
            </a:extLst>
          </p:cNvPr>
          <p:cNvSpPr>
            <a:spLocks noGrp="1"/>
          </p:cNvSpPr>
          <p:nvPr>
            <p:ph sz="quarter" idx="24"/>
          </p:nvPr>
        </p:nvSpPr>
        <p:spPr>
          <a:xfrm>
            <a:off x="442384" y="1901135"/>
            <a:ext cx="11294533" cy="603504"/>
          </a:xfrm>
        </p:spPr>
        <p:txBody>
          <a:bodyPr/>
          <a:lstStyle/>
          <a:p>
            <a:r>
              <a:rPr lang="en-US" dirty="0">
                <a:latin typeface="Times New Roman" panose="02020603050405020304" pitchFamily="18" charset="0"/>
                <a:cs typeface="Times New Roman" panose="02020603050405020304" pitchFamily="18" charset="0"/>
              </a:rPr>
              <a:t>Twelfth Edition</a:t>
            </a:r>
          </a:p>
        </p:txBody>
      </p:sp>
      <p:sp>
        <p:nvSpPr>
          <p:cNvPr id="4" name="Content Placeholder 25">
            <a:extLst>
              <a:ext uri="{FF2B5EF4-FFF2-40B4-BE49-F238E27FC236}">
                <a16:creationId xmlns:a16="http://schemas.microsoft.com/office/drawing/2014/main" id="{1653E4EB-8C72-6F2A-0C74-00D79E54C15B}"/>
              </a:ext>
            </a:extLst>
          </p:cNvPr>
          <p:cNvSpPr>
            <a:spLocks noGrp="1"/>
          </p:cNvSpPr>
          <p:nvPr>
            <p:ph sz="quarter" idx="25"/>
          </p:nvPr>
        </p:nvSpPr>
        <p:spPr>
          <a:xfrm>
            <a:off x="442384" y="2353144"/>
            <a:ext cx="11294533" cy="668222"/>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David Young and Shane Stadler</a:t>
            </a:r>
          </a:p>
        </p:txBody>
      </p:sp>
      <p:sp>
        <p:nvSpPr>
          <p:cNvPr id="5" name="Content Placeholder 26">
            <a:extLst>
              <a:ext uri="{FF2B5EF4-FFF2-40B4-BE49-F238E27FC236}">
                <a16:creationId xmlns:a16="http://schemas.microsoft.com/office/drawing/2014/main" id="{478EC628-D124-7C5F-E556-56B66C56FC64}"/>
              </a:ext>
            </a:extLst>
          </p:cNvPr>
          <p:cNvSpPr>
            <a:spLocks noGrp="1"/>
          </p:cNvSpPr>
          <p:nvPr>
            <p:ph sz="quarter" idx="26"/>
          </p:nvPr>
        </p:nvSpPr>
        <p:spPr/>
        <p:txBody>
          <a:bodyPr/>
          <a:lstStyle/>
          <a:p>
            <a:r>
              <a:rPr lang="en-US" dirty="0">
                <a:latin typeface="Times New Roman" panose="02020603050405020304" pitchFamily="18" charset="0"/>
                <a:cs typeface="Times New Roman" panose="02020603050405020304" pitchFamily="18" charset="0"/>
              </a:rPr>
              <a:t>CHAPTER 8</a:t>
            </a:r>
          </a:p>
        </p:txBody>
      </p:sp>
      <p:sp>
        <p:nvSpPr>
          <p:cNvPr id="8" name="Content Placeholder 1">
            <a:extLst>
              <a:ext uri="{FF2B5EF4-FFF2-40B4-BE49-F238E27FC236}">
                <a16:creationId xmlns:a16="http://schemas.microsoft.com/office/drawing/2014/main" id="{F577AFD0-5607-4F1F-702B-A7F7343B2F13}"/>
              </a:ext>
            </a:extLst>
          </p:cNvPr>
          <p:cNvSpPr txBox="1">
            <a:spLocks noGrp="1"/>
          </p:cNvSpPr>
          <p:nvPr>
            <p:ph type="body" idx="1"/>
          </p:nvPr>
        </p:nvSpPr>
        <p:spPr>
          <a:xfrm>
            <a:off x="4502727" y="4808570"/>
            <a:ext cx="6096000" cy="52322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194951"/>
                </a:solidFill>
                <a:latin typeface="Times New Roman" panose="02020603050405020304" pitchFamily="18" charset="0"/>
                <a:cs typeface="Times New Roman" panose="02020603050405020304" pitchFamily="18" charset="0"/>
              </a:rPr>
              <a:t>Rotational Kinematics</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a:xfrm>
            <a:off x="672552" y="261472"/>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8.1</a:t>
            </a:r>
            <a:r>
              <a:rPr lang="en-US" dirty="0">
                <a:latin typeface="Times New Roman" panose="02020603050405020304" pitchFamily="18" charset="0"/>
                <a:ea typeface="Calibri" charset="0"/>
                <a:cs typeface="Times New Roman" panose="02020603050405020304" pitchFamily="18" charset="0"/>
              </a:rPr>
              <a:t> Rotational Motion and Angular Displacement (1 of 9)</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F4ADFB39-6AB2-4D8A-B257-AEEF0083F39C}"/>
              </a:ext>
              <a:ext uri="{C183D7F6-B498-43B3-948B-1728B52AA6E4}">
                <adec:decorative xmlns:adec="http://schemas.microsoft.com/office/drawing/2017/decorative" val="1"/>
              </a:ext>
            </a:extLst>
          </p:cNvPr>
          <p:cNvSpPr/>
          <p:nvPr/>
        </p:nvSpPr>
        <p:spPr>
          <a:xfrm>
            <a:off x="0" y="88789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8A94F337-0296-189A-A04A-41DD577C9D5A}"/>
              </a:ext>
            </a:extLst>
          </p:cNvPr>
          <p:cNvSpPr txBox="1">
            <a:spLocks noGrp="1"/>
          </p:cNvSpPr>
          <p:nvPr>
            <p:ph type="body" idx="1"/>
          </p:nvPr>
        </p:nvSpPr>
        <p:spPr>
          <a:xfrm>
            <a:off x="950026" y="909976"/>
            <a:ext cx="10820401" cy="5701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8.1 </a:t>
            </a:r>
            <a:r>
              <a:rPr lang="en-US" dirty="0">
                <a:latin typeface="Times New Roman" panose="02020603050405020304" pitchFamily="18" charset="0"/>
                <a:cs typeface="Times New Roman" panose="02020603050405020304" pitchFamily="18" charset="0"/>
              </a:rPr>
              <a:t>– Define angular displacement.</a:t>
            </a:r>
          </a:p>
        </p:txBody>
      </p:sp>
      <p:sp>
        <p:nvSpPr>
          <p:cNvPr id="17" name="Content Placeholder 2">
            <a:extLst>
              <a:ext uri="{FF2B5EF4-FFF2-40B4-BE49-F238E27FC236}">
                <a16:creationId xmlns:a16="http://schemas.microsoft.com/office/drawing/2014/main" id="{27D182FF-6A6F-4D10-C97F-4C0333D6A307}"/>
              </a:ext>
            </a:extLst>
          </p:cNvPr>
          <p:cNvSpPr txBox="1">
            <a:spLocks noGrp="1"/>
          </p:cNvSpPr>
          <p:nvPr>
            <p:ph type="body" idx="2"/>
          </p:nvPr>
        </p:nvSpPr>
        <p:spPr>
          <a:xfrm>
            <a:off x="950026" y="1592159"/>
            <a:ext cx="10759043" cy="1200329"/>
          </a:xfrm>
          <a:prstGeom prst="rect">
            <a:avLst/>
          </a:prstGeom>
          <a:noFill/>
        </p:spPr>
        <p:txBody>
          <a:bodyPr wrap="square">
            <a:noAutofit/>
          </a:bodyPr>
          <a:lstStyle>
            <a:lvl1pPr algn="l">
              <a:lnSpc>
                <a:spcPct val="100000"/>
              </a:lnSpc>
              <a:spcBef>
                <a:spcPts val="0"/>
              </a:spcBef>
            </a:lvl1pPr>
          </a:lstStyle>
          <a:p>
            <a:pPr marL="50800" indent="-5080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So far, we've focused on the motion of objects as they move from one place to another—along a straight line (Chapter 02), through two dimensions (Chapter 03), or even around a circle at constant speed (Chapter 05). </a:t>
            </a:r>
          </a:p>
        </p:txBody>
      </p:sp>
      <p:sp>
        <p:nvSpPr>
          <p:cNvPr id="19" name="Content Placeholder 3">
            <a:extLst>
              <a:ext uri="{FF2B5EF4-FFF2-40B4-BE49-F238E27FC236}">
                <a16:creationId xmlns:a16="http://schemas.microsoft.com/office/drawing/2014/main" id="{DF5C73E3-4508-C9BC-8E33-C8B6DF588D07}"/>
              </a:ext>
            </a:extLst>
          </p:cNvPr>
          <p:cNvSpPr txBox="1">
            <a:spLocks noGrp="1"/>
          </p:cNvSpPr>
          <p:nvPr>
            <p:ph type="body" idx="3"/>
          </p:nvPr>
        </p:nvSpPr>
        <p:spPr>
          <a:xfrm>
            <a:off x="982682" y="2957681"/>
            <a:ext cx="10655135"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we'll shift our attention from </a:t>
            </a:r>
            <a:r>
              <a:rPr lang="en-US" sz="2400" i="1" dirty="0">
                <a:latin typeface="Times New Roman" panose="02020603050405020304" pitchFamily="18" charset="0"/>
                <a:cs typeface="Times New Roman" panose="02020603050405020304" pitchFamily="18" charset="0"/>
              </a:rPr>
              <a:t>where an object moves </a:t>
            </a:r>
            <a:r>
              <a:rPr lang="en-US" sz="2400" dirty="0">
                <a:latin typeface="Times New Roman" panose="02020603050405020304" pitchFamily="18" charset="0"/>
                <a:cs typeface="Times New Roman" panose="02020603050405020304" pitchFamily="18" charset="0"/>
              </a:rPr>
              <a:t>to </a:t>
            </a:r>
            <a:r>
              <a:rPr lang="en-US" sz="2400" i="1" dirty="0">
                <a:latin typeface="Times New Roman" panose="02020603050405020304" pitchFamily="18" charset="0"/>
                <a:cs typeface="Times New Roman" panose="02020603050405020304" pitchFamily="18" charset="0"/>
              </a:rPr>
              <a:t>how an object itself </a:t>
            </a:r>
            <a:r>
              <a:rPr lang="en-US" sz="2400" b="1" i="1" dirty="0">
                <a:solidFill>
                  <a:srgbClr val="007440"/>
                </a:solidFill>
                <a:latin typeface="Times New Roman" panose="02020603050405020304" pitchFamily="18" charset="0"/>
                <a:cs typeface="Times New Roman" panose="02020603050405020304" pitchFamily="18" charset="0"/>
              </a:rPr>
              <a:t>rotates</a:t>
            </a:r>
            <a:r>
              <a:rPr lang="en-US" sz="2400" dirty="0">
                <a:latin typeface="Times New Roman" panose="02020603050405020304" pitchFamily="18" charset="0"/>
                <a:cs typeface="Times New Roman" panose="02020603050405020304" pitchFamily="18" charset="0"/>
              </a:rPr>
              <a:t>.</a:t>
            </a:r>
          </a:p>
        </p:txBody>
      </p:sp>
      <p:sp>
        <p:nvSpPr>
          <p:cNvPr id="22" name="Content Placeholder 4">
            <a:extLst>
              <a:ext uri="{FF2B5EF4-FFF2-40B4-BE49-F238E27FC236}">
                <a16:creationId xmlns:a16="http://schemas.microsoft.com/office/drawing/2014/main" id="{C6540B6F-EFBE-2676-1AD7-6185B6EF5476}"/>
              </a:ext>
            </a:extLst>
          </p:cNvPr>
          <p:cNvSpPr txBox="1">
            <a:spLocks noGrp="1"/>
          </p:cNvSpPr>
          <p:nvPr>
            <p:ph type="body" idx="4"/>
          </p:nvPr>
        </p:nvSpPr>
        <p:spPr>
          <a:xfrm>
            <a:off x="955962" y="4058078"/>
            <a:ext cx="11236038"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will begin by introducing a new set of variables that describe</a:t>
            </a:r>
          </a:p>
        </p:txBody>
      </p:sp>
      <p:sp>
        <p:nvSpPr>
          <p:cNvPr id="24" name="Rounded Rectangle 23">
            <a:extLst>
              <a:ext uri="{FF2B5EF4-FFF2-40B4-BE49-F238E27FC236}">
                <a16:creationId xmlns:a16="http://schemas.microsoft.com/office/drawing/2014/main" id="{A438845E-6114-BECD-A7C3-52A7CFC86C1B}"/>
              </a:ext>
              <a:ext uri="{C183D7F6-B498-43B3-948B-1728B52AA6E4}">
                <adec:decorative xmlns:adec="http://schemas.microsoft.com/office/drawing/2017/decorative" val="1"/>
              </a:ext>
            </a:extLst>
          </p:cNvPr>
          <p:cNvSpPr/>
          <p:nvPr/>
        </p:nvSpPr>
        <p:spPr>
          <a:xfrm>
            <a:off x="8987248" y="4104106"/>
            <a:ext cx="2693323"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Content Placeholder 5">
            <a:extLst>
              <a:ext uri="{FF2B5EF4-FFF2-40B4-BE49-F238E27FC236}">
                <a16:creationId xmlns:a16="http://schemas.microsoft.com/office/drawing/2014/main" id="{6D4F6317-D749-08F8-0F05-7349FDE13937}"/>
              </a:ext>
            </a:extLst>
          </p:cNvPr>
          <p:cNvSpPr txBox="1">
            <a:spLocks noGrp="1"/>
          </p:cNvSpPr>
          <p:nvPr>
            <p:ph type="body" idx="5"/>
          </p:nvPr>
        </p:nvSpPr>
        <p:spPr>
          <a:xfrm>
            <a:off x="8971666" y="4059914"/>
            <a:ext cx="2959331"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motion</a:t>
            </a:r>
          </a:p>
        </p:txBody>
      </p:sp>
      <p:sp>
        <p:nvSpPr>
          <p:cNvPr id="4" name="Content Placeholder 6">
            <a:extLst>
              <a:ext uri="{FF2B5EF4-FFF2-40B4-BE49-F238E27FC236}">
                <a16:creationId xmlns:a16="http://schemas.microsoft.com/office/drawing/2014/main" id="{81EA06BD-9D7D-43E4-1C91-058C873CD051}"/>
              </a:ext>
              <a:ext uri="{C183D7F6-B498-43B3-948B-1728B52AA6E4}">
                <adec:decorative xmlns:adec="http://schemas.microsoft.com/office/drawing/2017/decorative" val="0"/>
              </a:ext>
            </a:extLst>
          </p:cNvPr>
          <p:cNvSpPr txBox="1">
            <a:spLocks noGrp="1"/>
          </p:cNvSpPr>
          <p:nvPr>
            <p:ph type="body" idx="6"/>
          </p:nvPr>
        </p:nvSpPr>
        <p:spPr>
          <a:xfrm>
            <a:off x="11680571" y="4067276"/>
            <a:ext cx="25431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endParaRPr lang="en-US" dirty="0">
              <a:latin typeface="Times New Roman"/>
            </a:endParaRPr>
          </a:p>
        </p:txBody>
      </p:sp>
      <p:sp>
        <p:nvSpPr>
          <p:cNvPr id="38" name="Content Placeholder 7">
            <a:extLst>
              <a:ext uri="{FF2B5EF4-FFF2-40B4-BE49-F238E27FC236}">
                <a16:creationId xmlns:a16="http://schemas.microsoft.com/office/drawing/2014/main" id="{61A59AB5-9946-0407-099E-902F92B6918A}"/>
              </a:ext>
            </a:extLst>
          </p:cNvPr>
          <p:cNvSpPr txBox="1">
            <a:spLocks noGrp="1"/>
          </p:cNvSpPr>
          <p:nvPr>
            <p:ph type="body" idx="7"/>
          </p:nvPr>
        </p:nvSpPr>
        <p:spPr>
          <a:xfrm>
            <a:off x="969027" y="5000232"/>
            <a:ext cx="10972800"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By using </a:t>
            </a:r>
            <a:r>
              <a:rPr lang="en-US" sz="2400" b="1" dirty="0">
                <a:solidFill>
                  <a:srgbClr val="007440"/>
                </a:solidFill>
                <a:latin typeface="Times New Roman" panose="02020603050405020304" pitchFamily="18" charset="0"/>
                <a:cs typeface="Times New Roman" panose="02020603050405020304" pitchFamily="18" charset="0"/>
              </a:rPr>
              <a:t>angular displacement</a:t>
            </a:r>
            <a:r>
              <a:rPr lang="en-US" sz="2400" dirty="0">
                <a:latin typeface="Times New Roman" panose="02020603050405020304" pitchFamily="18" charset="0"/>
                <a:cs typeface="Times New Roman" panose="02020603050405020304" pitchFamily="18" charset="0"/>
              </a:rPr>
              <a:t>, </a:t>
            </a:r>
            <a:r>
              <a:rPr lang="en-US" sz="2400" b="1" dirty="0">
                <a:solidFill>
                  <a:srgbClr val="007440"/>
                </a:solidFill>
                <a:latin typeface="Times New Roman" panose="02020603050405020304" pitchFamily="18" charset="0"/>
                <a:cs typeface="Times New Roman" panose="02020603050405020304" pitchFamily="18" charset="0"/>
              </a:rPr>
              <a:t>angular velocity</a:t>
            </a:r>
            <a:r>
              <a:rPr lang="en-US" sz="2400" dirty="0">
                <a:latin typeface="Times New Roman" panose="02020603050405020304" pitchFamily="18" charset="0"/>
                <a:cs typeface="Times New Roman" panose="02020603050405020304" pitchFamily="18" charset="0"/>
              </a:rPr>
              <a:t>, and </a:t>
            </a:r>
            <a:r>
              <a:rPr lang="en-US" sz="2400" b="1" dirty="0">
                <a:solidFill>
                  <a:srgbClr val="007440"/>
                </a:solidFill>
                <a:latin typeface="Times New Roman" panose="02020603050405020304" pitchFamily="18" charset="0"/>
                <a:cs typeface="Times New Roman" panose="02020603050405020304" pitchFamily="18" charset="0"/>
              </a:rPr>
              <a:t>angular acceleration</a:t>
            </a:r>
            <a:r>
              <a:rPr lang="en-US" sz="2400" dirty="0">
                <a:latin typeface="Times New Roman" panose="02020603050405020304" pitchFamily="18" charset="0"/>
                <a:cs typeface="Times New Roman" panose="02020603050405020304" pitchFamily="18" charset="0"/>
              </a:rPr>
              <a:t>, we'll build a rotational version of</a:t>
            </a:r>
          </a:p>
        </p:txBody>
      </p:sp>
      <p:sp>
        <p:nvSpPr>
          <p:cNvPr id="39" name="Rounded Rectangle 38">
            <a:extLst>
              <a:ext uri="{FF2B5EF4-FFF2-40B4-BE49-F238E27FC236}">
                <a16:creationId xmlns:a16="http://schemas.microsoft.com/office/drawing/2014/main" id="{82755ACF-93E7-FB36-1464-E7C411421042}"/>
              </a:ext>
              <a:ext uri="{C183D7F6-B498-43B3-948B-1728B52AA6E4}">
                <adec:decorative xmlns:adec="http://schemas.microsoft.com/office/drawing/2017/decorative" val="1"/>
              </a:ext>
            </a:extLst>
          </p:cNvPr>
          <p:cNvSpPr/>
          <p:nvPr/>
        </p:nvSpPr>
        <p:spPr>
          <a:xfrm>
            <a:off x="4564873" y="5438894"/>
            <a:ext cx="1615045" cy="320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ontent Placeholder 8">
            <a:extLst>
              <a:ext uri="{FF2B5EF4-FFF2-40B4-BE49-F238E27FC236}">
                <a16:creationId xmlns:a16="http://schemas.microsoft.com/office/drawing/2014/main" id="{E993E16D-C463-40A9-E394-9362B9077FDF}"/>
              </a:ext>
            </a:extLst>
          </p:cNvPr>
          <p:cNvSpPr txBox="1">
            <a:spLocks noGrp="1"/>
          </p:cNvSpPr>
          <p:nvPr>
            <p:ph type="body" idx="8"/>
          </p:nvPr>
        </p:nvSpPr>
        <p:spPr>
          <a:xfrm>
            <a:off x="4562901" y="5426348"/>
            <a:ext cx="1892526"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kinematics</a:t>
            </a:r>
          </a:p>
        </p:txBody>
      </p:sp>
      <p:sp>
        <p:nvSpPr>
          <p:cNvPr id="7" name="Content Placeholder 9">
            <a:extLst>
              <a:ext uri="{FF2B5EF4-FFF2-40B4-BE49-F238E27FC236}">
                <a16:creationId xmlns:a16="http://schemas.microsoft.com/office/drawing/2014/main" id="{AFD5A6C8-807D-E1F8-BECE-C17F97660552}"/>
              </a:ext>
            </a:extLst>
          </p:cNvPr>
          <p:cNvSpPr txBox="1">
            <a:spLocks noGrp="1"/>
          </p:cNvSpPr>
          <p:nvPr>
            <p:ph type="body" idx="9"/>
          </p:nvPr>
        </p:nvSpPr>
        <p:spPr>
          <a:xfrm>
            <a:off x="6179918" y="5369564"/>
            <a:ext cx="473487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that will look quite familiar to you.</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dissolv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dissolv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dissolve">
                                      <p:cBhvr>
                                        <p:cTn id="33" dur="500"/>
                                        <p:tgtEl>
                                          <p:spTgt spid="3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dissolve">
                                      <p:cBhvr>
                                        <p:cTn id="36" dur="500"/>
                                        <p:tgtEl>
                                          <p:spTgt spid="7"/>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dissolve">
                                      <p:cBhvr>
                                        <p:cTn id="39" dur="500"/>
                                        <p:tgtEl>
                                          <p:spTgt spid="3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dissolve">
                                      <p:cBhvr>
                                        <p:cTn id="4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2" grpId="0"/>
      <p:bldP spid="24" grpId="0" animBg="1"/>
      <p:bldP spid="35" grpId="0"/>
      <p:bldP spid="4" grpId="0"/>
      <p:bldP spid="38" grpId="0"/>
      <p:bldP spid="39" grpId="0" animBg="1"/>
      <p:bldP spid="40"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998E-6DE4-BB15-9C51-32D927353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4E087-1061-DA4D-1C5F-A96AD9E904AD}"/>
              </a:ext>
            </a:extLst>
          </p:cNvPr>
          <p:cNvSpPr>
            <a:spLocks noGrp="1"/>
          </p:cNvSpPr>
          <p:nvPr>
            <p:ph type="title"/>
          </p:nvPr>
        </p:nvSpPr>
        <p:spPr>
          <a:xfrm>
            <a:off x="672552" y="261472"/>
            <a:ext cx="10820401" cy="849312"/>
          </a:xfrm>
        </p:spPr>
        <p:txBody>
          <a:bodyPr>
            <a:noAutofit/>
          </a:bodyPr>
          <a:lstStyle/>
          <a:p>
            <a:r>
              <a:rPr lang="en-US" sz="3600" b="1" dirty="0">
                <a:latin typeface="Times New Roman" panose="02020603050405020304" pitchFamily="18" charset="0"/>
                <a:ea typeface="Calibri" charset="0"/>
                <a:cs typeface="Times New Roman" panose="02020603050405020304" pitchFamily="18" charset="0"/>
              </a:rPr>
              <a:t>8.1</a:t>
            </a:r>
            <a:r>
              <a:rPr lang="en-US" sz="3600" dirty="0">
                <a:latin typeface="Times New Roman" panose="02020603050405020304" pitchFamily="18" charset="0"/>
                <a:ea typeface="Calibri" charset="0"/>
                <a:cs typeface="Times New Roman" panose="02020603050405020304" pitchFamily="18" charset="0"/>
              </a:rPr>
              <a:t> Rotational Motion and Angular Displacement (2 of 9)</a:t>
            </a:r>
            <a:endParaRPr lang="en-US" sz="3600" dirty="0">
              <a:latin typeface="Times New Roman" panose="02020603050405020304" pitchFamily="18" charset="0"/>
              <a:cs typeface="Times New Roman" panose="02020603050405020304" pitchFamily="18" charset="0"/>
            </a:endParaRPr>
          </a:p>
        </p:txBody>
      </p:sp>
      <p:pic>
        <p:nvPicPr>
          <p:cNvPr id="6" name="Content Placeholder 1">
            <a:extLst>
              <a:ext uri="{FF2B5EF4-FFF2-40B4-BE49-F238E27FC236}">
                <a16:creationId xmlns:a16="http://schemas.microsoft.com/office/drawing/2014/main" id="{C4E1EA97-297E-5DF8-F247-1CAF6C3550F2}"/>
              </a:ext>
            </a:extLst>
          </p:cNvPr>
          <p:cNvPicPr>
            <a:picLocks noGrp="1" noChangeAspect="1"/>
          </p:cNvPicPr>
          <p:nvPr>
            <p:ph type="pic" idx="1"/>
          </p:nvPr>
        </p:nvPicPr>
        <p:blipFill>
          <a:blip r:embed="rId3"/>
          <a:stretch>
            <a:fillRect/>
          </a:stretch>
        </p:blipFill>
        <p:spPr>
          <a:xfrm>
            <a:off x="0" y="1101782"/>
            <a:ext cx="2512637" cy="5044166"/>
          </a:xfrm>
          <a:prstGeom prst="rect">
            <a:avLst/>
          </a:prstGeom>
        </p:spPr>
      </p:pic>
      <p:sp>
        <p:nvSpPr>
          <p:cNvPr id="17" name="Content Placeholder 2">
            <a:extLst>
              <a:ext uri="{FF2B5EF4-FFF2-40B4-BE49-F238E27FC236}">
                <a16:creationId xmlns:a16="http://schemas.microsoft.com/office/drawing/2014/main" id="{7A764D7E-9C8D-2B21-0863-201076D61629}"/>
              </a:ext>
            </a:extLst>
          </p:cNvPr>
          <p:cNvSpPr txBox="1">
            <a:spLocks noGrp="1"/>
          </p:cNvSpPr>
          <p:nvPr>
            <p:ph type="body" idx="2"/>
          </p:nvPr>
        </p:nvSpPr>
        <p:spPr>
          <a:xfrm>
            <a:off x="2978331" y="1076769"/>
            <a:ext cx="9341131"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Imagine a rotating object, such as a spinning figure skater, for example.</a:t>
            </a:r>
          </a:p>
        </p:txBody>
      </p:sp>
      <p:sp>
        <p:nvSpPr>
          <p:cNvPr id="7" name="Content Placeholder 3">
            <a:extLst>
              <a:ext uri="{FF2B5EF4-FFF2-40B4-BE49-F238E27FC236}">
                <a16:creationId xmlns:a16="http://schemas.microsoft.com/office/drawing/2014/main" id="{C175DEB9-6AE9-DF93-3D8C-E05E2D06D84D}"/>
              </a:ext>
            </a:extLst>
          </p:cNvPr>
          <p:cNvSpPr txBox="1">
            <a:spLocks noGrp="1"/>
          </p:cNvSpPr>
          <p:nvPr>
            <p:ph type="body" idx="3"/>
          </p:nvPr>
        </p:nvSpPr>
        <p:spPr>
          <a:xfrm>
            <a:off x="2981101" y="1860936"/>
            <a:ext cx="7500811"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Each point on the object (e.g.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will sweep out a</a:t>
            </a:r>
          </a:p>
        </p:txBody>
      </p:sp>
      <p:sp>
        <p:nvSpPr>
          <p:cNvPr id="8" name="Rounded Rectangle 7">
            <a:extLst>
              <a:ext uri="{FF2B5EF4-FFF2-40B4-BE49-F238E27FC236}">
                <a16:creationId xmlns:a16="http://schemas.microsoft.com/office/drawing/2014/main" id="{A355E063-9EFC-E824-C2A1-FFBFE74A9E7D}"/>
              </a:ext>
              <a:ext uri="{C183D7F6-B498-43B3-948B-1728B52AA6E4}">
                <adec:decorative xmlns:adec="http://schemas.microsoft.com/office/drawing/2017/decorative" val="0"/>
              </a:ext>
            </a:extLst>
          </p:cNvPr>
          <p:cNvSpPr/>
          <p:nvPr/>
        </p:nvSpPr>
        <p:spPr>
          <a:xfrm>
            <a:off x="3059082" y="2310937"/>
            <a:ext cx="1995055"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4">
            <a:extLst>
              <a:ext uri="{FF2B5EF4-FFF2-40B4-BE49-F238E27FC236}">
                <a16:creationId xmlns:a16="http://schemas.microsoft.com/office/drawing/2014/main" id="{8E45B088-478F-ED2D-3B35-664A7D21B307}"/>
              </a:ext>
            </a:extLst>
          </p:cNvPr>
          <p:cNvSpPr txBox="1">
            <a:spLocks noGrp="1"/>
          </p:cNvSpPr>
          <p:nvPr>
            <p:ph type="body" idx="4"/>
          </p:nvPr>
        </p:nvSpPr>
        <p:spPr>
          <a:xfrm>
            <a:off x="3221640" y="2785992"/>
            <a:ext cx="2078182"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circular path</a:t>
            </a:r>
          </a:p>
        </p:txBody>
      </p:sp>
      <p:sp>
        <p:nvSpPr>
          <p:cNvPr id="4" name="Content Placeholder 5">
            <a:extLst>
              <a:ext uri="{FF2B5EF4-FFF2-40B4-BE49-F238E27FC236}">
                <a16:creationId xmlns:a16="http://schemas.microsoft.com/office/drawing/2014/main" id="{90E1D348-CD94-19D8-10CB-3863D510B1FC}"/>
              </a:ext>
            </a:extLst>
          </p:cNvPr>
          <p:cNvSpPr txBox="1">
            <a:spLocks noGrp="1"/>
          </p:cNvSpPr>
          <p:nvPr>
            <p:ph type="body" idx="5"/>
          </p:nvPr>
        </p:nvSpPr>
        <p:spPr>
          <a:xfrm>
            <a:off x="4980709" y="2260351"/>
            <a:ext cx="276398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 as the object rotates. </a:t>
            </a:r>
            <a:endParaRPr lang="en-US" dirty="0">
              <a:latin typeface="Times New Roman" panose="02020603050405020304" pitchFamily="18" charset="0"/>
              <a:cs typeface="Times New Roman" panose="02020603050405020304" pitchFamily="18" charset="0"/>
            </a:endParaRPr>
          </a:p>
        </p:txBody>
      </p:sp>
      <p:sp>
        <p:nvSpPr>
          <p:cNvPr id="11" name="Content Placeholder 6">
            <a:extLst>
              <a:ext uri="{FF2B5EF4-FFF2-40B4-BE49-F238E27FC236}">
                <a16:creationId xmlns:a16="http://schemas.microsoft.com/office/drawing/2014/main" id="{1B65712E-BD17-0230-18FF-F9DB2E332224}"/>
              </a:ext>
            </a:extLst>
          </p:cNvPr>
          <p:cNvSpPr txBox="1">
            <a:spLocks noGrp="1"/>
          </p:cNvSpPr>
          <p:nvPr>
            <p:ph type="body" idx="6"/>
          </p:nvPr>
        </p:nvSpPr>
        <p:spPr>
          <a:xfrm>
            <a:off x="2917370" y="3193744"/>
            <a:ext cx="8870077" cy="830997"/>
          </a:xfrm>
          <a:prstGeom prst="rect">
            <a:avLst/>
          </a:prstGeom>
          <a:noFill/>
        </p:spPr>
        <p:txBody>
          <a:bodyPr wrap="square">
            <a:noAutofit/>
          </a:bodyPr>
          <a:lstStyle>
            <a:lvl1pPr algn="l">
              <a:lnSpc>
                <a:spcPct val="100000"/>
              </a:lnSpc>
              <a:spcBef>
                <a:spcPts val="0"/>
              </a:spcBef>
            </a:lvl1pPr>
          </a:lstStyle>
          <a:p>
            <a:pPr marL="15875" indent="-15875"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centers of these circular paths will lie along a common line known as the</a:t>
            </a:r>
          </a:p>
        </p:txBody>
      </p:sp>
      <p:sp>
        <p:nvSpPr>
          <p:cNvPr id="12" name="Rounded Rectangle 11">
            <a:extLst>
              <a:ext uri="{FF2B5EF4-FFF2-40B4-BE49-F238E27FC236}">
                <a16:creationId xmlns:a16="http://schemas.microsoft.com/office/drawing/2014/main" id="{B22D88E4-5C1B-00FF-4A2A-35D11C9957FC}"/>
              </a:ext>
              <a:ext uri="{C183D7F6-B498-43B3-948B-1728B52AA6E4}">
                <adec:decorative xmlns:adec="http://schemas.microsoft.com/office/drawing/2017/decorative" val="0"/>
              </a:ext>
            </a:extLst>
          </p:cNvPr>
          <p:cNvSpPr/>
          <p:nvPr/>
        </p:nvSpPr>
        <p:spPr>
          <a:xfrm>
            <a:off x="3793374" y="3610494"/>
            <a:ext cx="2374670"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7">
            <a:extLst>
              <a:ext uri="{FF2B5EF4-FFF2-40B4-BE49-F238E27FC236}">
                <a16:creationId xmlns:a16="http://schemas.microsoft.com/office/drawing/2014/main" id="{A6698248-0B6D-9DF9-ABA9-930F0498838E}"/>
              </a:ext>
            </a:extLst>
          </p:cNvPr>
          <p:cNvSpPr txBox="1">
            <a:spLocks noGrp="1"/>
          </p:cNvSpPr>
          <p:nvPr>
            <p:ph type="body" idx="7"/>
          </p:nvPr>
        </p:nvSpPr>
        <p:spPr>
          <a:xfrm>
            <a:off x="3773743" y="3609242"/>
            <a:ext cx="2823557"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axis of rotation</a:t>
            </a:r>
          </a:p>
        </p:txBody>
      </p:sp>
      <p:sp>
        <p:nvSpPr>
          <p:cNvPr id="16" name="Content Placeholder 8">
            <a:extLst>
              <a:ext uri="{FF2B5EF4-FFF2-40B4-BE49-F238E27FC236}">
                <a16:creationId xmlns:a16="http://schemas.microsoft.com/office/drawing/2014/main" id="{72E9391B-E1D6-2521-7F34-D479B9B0E7A0}"/>
              </a:ext>
            </a:extLst>
          </p:cNvPr>
          <p:cNvSpPr txBox="1">
            <a:spLocks noGrp="1"/>
          </p:cNvSpPr>
          <p:nvPr>
            <p:ph type="body" idx="8"/>
          </p:nvPr>
        </p:nvSpPr>
        <p:spPr>
          <a:xfrm>
            <a:off x="6167523" y="3548940"/>
            <a:ext cx="26860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endParaRPr lang="en-US" dirty="0">
              <a:latin typeface="Times New Roman"/>
            </a:endParaRPr>
          </a:p>
        </p:txBody>
      </p:sp>
      <p:sp>
        <p:nvSpPr>
          <p:cNvPr id="15" name="Content Placeholder 9">
            <a:extLst>
              <a:ext uri="{FF2B5EF4-FFF2-40B4-BE49-F238E27FC236}">
                <a16:creationId xmlns:a16="http://schemas.microsoft.com/office/drawing/2014/main" id="{2FD5FB77-DE67-2C73-08BB-FE55604D1435}"/>
              </a:ext>
            </a:extLst>
          </p:cNvPr>
          <p:cNvSpPr txBox="1">
            <a:spLocks noGrp="1"/>
          </p:cNvSpPr>
          <p:nvPr>
            <p:ph type="body" idx="9"/>
          </p:nvPr>
        </p:nvSpPr>
        <p:spPr>
          <a:xfrm>
            <a:off x="2953393" y="4659554"/>
            <a:ext cx="8870077" cy="830997"/>
          </a:xfrm>
          <a:prstGeom prst="rect">
            <a:avLst/>
          </a:prstGeom>
          <a:noFill/>
        </p:spPr>
        <p:txBody>
          <a:bodyPr wrap="square">
            <a:noAutofit/>
          </a:bodyPr>
          <a:lstStyle>
            <a:lvl1pPr algn="l">
              <a:lnSpc>
                <a:spcPct val="100000"/>
              </a:lnSpc>
              <a:spcBef>
                <a:spcPts val="0"/>
              </a:spcBef>
            </a:lvl1pPr>
          </a:lstStyle>
          <a:p>
            <a:pPr marL="15875" indent="-15875"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could ask the following question: </a:t>
            </a:r>
            <a:r>
              <a:rPr lang="en-US" sz="2400" i="1" dirty="0">
                <a:latin typeface="Times New Roman" panose="02020603050405020304" pitchFamily="18" charset="0"/>
                <a:cs typeface="Times New Roman" panose="02020603050405020304" pitchFamily="18" charset="0"/>
              </a:rPr>
              <a:t>During a certain time, through what </a:t>
            </a:r>
            <a:r>
              <a:rPr lang="en-US" sz="2400" i="1" u="sng" dirty="0">
                <a:latin typeface="Times New Roman" panose="02020603050405020304" pitchFamily="18" charset="0"/>
                <a:cs typeface="Times New Roman" panose="02020603050405020304" pitchFamily="18" charset="0"/>
              </a:rPr>
              <a:t>angle</a:t>
            </a:r>
            <a:r>
              <a:rPr lang="en-US" sz="2400" i="1" dirty="0">
                <a:latin typeface="Times New Roman" panose="02020603050405020304" pitchFamily="18" charset="0"/>
                <a:cs typeface="Times New Roman" panose="02020603050405020304" pitchFamily="18" charset="0"/>
              </a:rPr>
              <a:t> does each point rotate?</a:t>
            </a:r>
          </a:p>
        </p:txBody>
      </p:sp>
    </p:spTree>
    <p:extLst>
      <p:ext uri="{BB962C8B-B14F-4D97-AF65-F5344CB8AC3E}">
        <p14:creationId xmlns:p14="http://schemas.microsoft.com/office/powerpoint/2010/main" val="301072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dissolv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dissolv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5">
                                            <p:txEl>
                                              <p:pRg st="0" end="0"/>
                                            </p:txEl>
                                          </p:spTgt>
                                        </p:tgtEl>
                                        <p:attrNameLst>
                                          <p:attrName>style.visibility</p:attrName>
                                        </p:attrNameLst>
                                      </p:cBhvr>
                                      <p:to>
                                        <p:strVal val="visible"/>
                                      </p:to>
                                    </p:set>
                                    <p:animEffect transition="in" filter="dissolve">
                                      <p:cBhvr>
                                        <p:cTn id="39"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4" grpId="0"/>
      <p:bldP spid="11" grpId="0"/>
      <p:bldP spid="12" grpId="0" animBg="1"/>
      <p:bldP spid="14"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BE03-307C-90C3-827B-1BFD9D567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EE2DA-A455-6C30-D677-B8EF1E9AC1AE}"/>
              </a:ext>
            </a:extLst>
          </p:cNvPr>
          <p:cNvSpPr>
            <a:spLocks noGrp="1"/>
          </p:cNvSpPr>
          <p:nvPr>
            <p:ph type="title"/>
          </p:nvPr>
        </p:nvSpPr>
        <p:spPr>
          <a:xfrm>
            <a:off x="672552" y="107574"/>
            <a:ext cx="10820401" cy="849312"/>
          </a:xfrm>
        </p:spPr>
        <p:txBody>
          <a:bodyPr>
            <a:normAutofit/>
          </a:bodyPr>
          <a:lstStyle/>
          <a:p>
            <a:r>
              <a:rPr lang="en-US" sz="3600" b="1" dirty="0">
                <a:latin typeface="Times New Roman"/>
                <a:ea typeface="Calibri" charset="0"/>
                <a:cs typeface="Calibri" charset="0"/>
              </a:rPr>
              <a:t>8.1</a:t>
            </a:r>
            <a:r>
              <a:rPr lang="en-US" sz="3600" dirty="0">
                <a:latin typeface="Times New Roman"/>
                <a:ea typeface="Calibri" charset="0"/>
                <a:cs typeface="Calibri" charset="0"/>
              </a:rPr>
              <a:t> Rotational Motion and Angular Displacement </a:t>
            </a:r>
            <a:r>
              <a:rPr lang="en-US" sz="3600" dirty="0">
                <a:latin typeface="Times New Roman" panose="02020603050405020304" pitchFamily="18" charset="0"/>
                <a:ea typeface="Calibri" charset="0"/>
                <a:cs typeface="Times New Roman" panose="02020603050405020304" pitchFamily="18" charset="0"/>
              </a:rPr>
              <a:t>(3 of 9)</a:t>
            </a:r>
            <a:endParaRPr lang="en-US" sz="3600" dirty="0">
              <a:latin typeface="Times New Roman"/>
            </a:endParaRPr>
          </a:p>
        </p:txBody>
      </p:sp>
      <p:pic>
        <p:nvPicPr>
          <p:cNvPr id="7" name="Content Placeholder 1">
            <a:extLst>
              <a:ext uri="{FF2B5EF4-FFF2-40B4-BE49-F238E27FC236}">
                <a16:creationId xmlns:a16="http://schemas.microsoft.com/office/drawing/2014/main" id="{376B692A-BD41-3B33-F978-E3FEE77013DF}"/>
              </a:ext>
            </a:extLst>
          </p:cNvPr>
          <p:cNvPicPr>
            <a:picLocks noGrp="1" noChangeAspect="1"/>
          </p:cNvPicPr>
          <p:nvPr>
            <p:ph type="pic" idx="1"/>
          </p:nvPr>
        </p:nvPicPr>
        <p:blipFill>
          <a:blip r:embed="rId3"/>
          <a:stretch>
            <a:fillRect/>
          </a:stretch>
        </p:blipFill>
        <p:spPr>
          <a:xfrm>
            <a:off x="114187" y="963478"/>
            <a:ext cx="3643186" cy="2798058"/>
          </a:xfrm>
          <a:prstGeom prst="rect">
            <a:avLst/>
          </a:prstGeom>
        </p:spPr>
      </p:pic>
      <p:sp>
        <p:nvSpPr>
          <p:cNvPr id="17" name="Content Placeholder 2">
            <a:extLst>
              <a:ext uri="{FF2B5EF4-FFF2-40B4-BE49-F238E27FC236}">
                <a16:creationId xmlns:a16="http://schemas.microsoft.com/office/drawing/2014/main" id="{6C039CAD-C337-17B9-A0A2-0794F34E02E4}"/>
              </a:ext>
            </a:extLst>
          </p:cNvPr>
          <p:cNvSpPr txBox="1">
            <a:spLocks noGrp="1"/>
          </p:cNvSpPr>
          <p:nvPr>
            <p:ph type="body" idx="2"/>
          </p:nvPr>
        </p:nvSpPr>
        <p:spPr>
          <a:xfrm>
            <a:off x="3933483" y="950286"/>
            <a:ext cx="7977842"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To help us answer this question, let’s consider a solid disc rotating about an axis through its center, as shown in the figure.</a:t>
            </a:r>
          </a:p>
        </p:txBody>
      </p:sp>
      <p:sp>
        <p:nvSpPr>
          <p:cNvPr id="3" name="Content Placeholder 3">
            <a:extLst>
              <a:ext uri="{FF2B5EF4-FFF2-40B4-BE49-F238E27FC236}">
                <a16:creationId xmlns:a16="http://schemas.microsoft.com/office/drawing/2014/main" id="{200D7B3F-C670-4672-1081-495A81688AD7}"/>
              </a:ext>
            </a:extLst>
          </p:cNvPr>
          <p:cNvSpPr txBox="1">
            <a:spLocks noGrp="1"/>
          </p:cNvSpPr>
          <p:nvPr>
            <p:ph type="body" idx="3"/>
          </p:nvPr>
        </p:nvSpPr>
        <p:spPr>
          <a:xfrm>
            <a:off x="3937558" y="2188886"/>
            <a:ext cx="7977842"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Point P on the edge of the disc begins at some initial angle, </a:t>
            </a:r>
            <a:r>
              <a:rPr lang="en-US" sz="2400" i="1" dirty="0">
                <a:latin typeface="Times New Roman" panose="02020603050405020304" pitchFamily="18" charset="0"/>
                <a:cs typeface="Times New Roman" panose="02020603050405020304" pitchFamily="18" charset="0"/>
                <a:sym typeface="Symbol" panose="05050102010706020507" pitchFamily="18" charset="2"/>
              </a:rPr>
              <a:t>θ</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relative to a reference line, and maybe the reference line corresponds to 0 rad, for example.</a:t>
            </a:r>
          </a:p>
        </p:txBody>
      </p:sp>
      <p:sp>
        <p:nvSpPr>
          <p:cNvPr id="20" name="Content Placeholder 4">
            <a:extLst>
              <a:ext uri="{FF2B5EF4-FFF2-40B4-BE49-F238E27FC236}">
                <a16:creationId xmlns:a16="http://schemas.microsoft.com/office/drawing/2014/main" id="{E3E7D83E-A396-4DDC-7AC5-9A5B5882C884}"/>
              </a:ext>
            </a:extLst>
          </p:cNvPr>
          <p:cNvSpPr txBox="1">
            <a:spLocks noGrp="1"/>
          </p:cNvSpPr>
          <p:nvPr>
            <p:ph type="body" idx="4"/>
          </p:nvPr>
        </p:nvSpPr>
        <p:spPr>
          <a:xfrm>
            <a:off x="3919187" y="3638958"/>
            <a:ext cx="7977842"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After some time interval, Point P rotates to its final angle, </a:t>
            </a:r>
            <a:r>
              <a:rPr lang="en-US" sz="2400" i="1" dirty="0">
                <a:latin typeface="Times New Roman" panose="02020603050405020304" pitchFamily="18" charset="0"/>
                <a:cs typeface="Times New Roman" panose="02020603050405020304" pitchFamily="18" charset="0"/>
                <a:sym typeface="Symbol" panose="05050102010706020507" pitchFamily="18" charset="2"/>
              </a:rPr>
              <a:t>θ</a:t>
            </a:r>
            <a:r>
              <a:rPr lang="en-US" sz="2400" dirty="0">
                <a:latin typeface="Times New Roman" panose="02020603050405020304" pitchFamily="18" charset="0"/>
                <a:cs typeface="Times New Roman" panose="02020603050405020304" pitchFamily="18" charset="0"/>
              </a:rPr>
              <a:t>, relative to the reference line, and during this time, Point P is </a:t>
            </a:r>
            <a:r>
              <a:rPr lang="en-US" sz="2400" dirty="0">
                <a:solidFill>
                  <a:srgbClr val="007440"/>
                </a:solidFill>
                <a:latin typeface="Times New Roman" panose="02020603050405020304" pitchFamily="18" charset="0"/>
                <a:cs typeface="Times New Roman" panose="02020603050405020304" pitchFamily="18" charset="0"/>
              </a:rPr>
              <a:t>displaced</a:t>
            </a:r>
            <a:r>
              <a:rPr lang="en-US" sz="2400" dirty="0">
                <a:latin typeface="Times New Roman" panose="02020603050405020304" pitchFamily="18" charset="0"/>
                <a:cs typeface="Times New Roman" panose="02020603050405020304" pitchFamily="18" charset="0"/>
              </a:rPr>
              <a:t> along the edge of the disc and </a:t>
            </a:r>
            <a:r>
              <a:rPr lang="en-US" sz="2400" dirty="0">
                <a:solidFill>
                  <a:srgbClr val="007440"/>
                </a:solidFill>
                <a:latin typeface="Times New Roman" panose="02020603050405020304" pitchFamily="18" charset="0"/>
                <a:cs typeface="Times New Roman" panose="02020603050405020304" pitchFamily="18" charset="0"/>
              </a:rPr>
              <a:t>sweeps out an angle</a:t>
            </a:r>
          </a:p>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sym typeface="Symbol" panose="05050102010706020507" pitchFamily="18" charset="2"/>
              </a:rPr>
              <a:t> </a:t>
            </a:r>
            <a:r>
              <a:rPr lang="el-GR" sz="2400" dirty="0">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latin typeface="Times New Roman" panose="02020603050405020304" pitchFamily="18" charset="0"/>
                <a:cs typeface="Times New Roman" panose="02020603050405020304" pitchFamily="18" charset="0"/>
                <a:sym typeface="Symbol" panose="05050102010706020507" pitchFamily="18" charset="2"/>
              </a:rPr>
              <a:t>θ</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sym typeface="Symbol" panose="05050102010706020507" pitchFamily="18" charset="2"/>
              </a:rPr>
              <a:t>θ</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sym typeface="Symbol" panose="05050102010706020507" pitchFamily="18" charset="2"/>
              </a:rPr>
              <a:t>θ</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a:t>
            </a:r>
          </a:p>
        </p:txBody>
      </p:sp>
      <p:sp>
        <p:nvSpPr>
          <p:cNvPr id="21" name="Content Placeholder 5">
            <a:extLst>
              <a:ext uri="{FF2B5EF4-FFF2-40B4-BE49-F238E27FC236}">
                <a16:creationId xmlns:a16="http://schemas.microsoft.com/office/drawing/2014/main" id="{1F6F0C51-1522-77F8-EF41-FEA8354A75E2}"/>
              </a:ext>
            </a:extLst>
          </p:cNvPr>
          <p:cNvSpPr txBox="1">
            <a:spLocks noGrp="1"/>
          </p:cNvSpPr>
          <p:nvPr>
            <p:ph type="body" idx="5"/>
          </p:nvPr>
        </p:nvSpPr>
        <p:spPr>
          <a:xfrm>
            <a:off x="1935780" y="5694080"/>
            <a:ext cx="8570855"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refer to this motion of Point P as its</a:t>
            </a:r>
          </a:p>
        </p:txBody>
      </p:sp>
      <p:sp>
        <p:nvSpPr>
          <p:cNvPr id="22" name="Rounded Rectangle 21">
            <a:extLst>
              <a:ext uri="{FF2B5EF4-FFF2-40B4-BE49-F238E27FC236}">
                <a16:creationId xmlns:a16="http://schemas.microsoft.com/office/drawing/2014/main" id="{D8AC49A5-4C8A-5C66-519F-3DDA09909DD0}"/>
              </a:ext>
              <a:ext uri="{C183D7F6-B498-43B3-948B-1728B52AA6E4}">
                <adec:decorative xmlns:adec="http://schemas.microsoft.com/office/drawing/2017/decorative" val="1"/>
              </a:ext>
            </a:extLst>
          </p:cNvPr>
          <p:cNvSpPr/>
          <p:nvPr/>
        </p:nvSpPr>
        <p:spPr>
          <a:xfrm>
            <a:off x="6884894" y="5665694"/>
            <a:ext cx="3263153" cy="4661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6">
            <a:extLst>
              <a:ext uri="{FF2B5EF4-FFF2-40B4-BE49-F238E27FC236}">
                <a16:creationId xmlns:a16="http://schemas.microsoft.com/office/drawing/2014/main" id="{35B29567-0BFA-292B-550A-F67180AD283A}"/>
              </a:ext>
            </a:extLst>
          </p:cNvPr>
          <p:cNvSpPr txBox="1">
            <a:spLocks noGrp="1"/>
          </p:cNvSpPr>
          <p:nvPr>
            <p:ph type="body" idx="6"/>
          </p:nvPr>
        </p:nvSpPr>
        <p:spPr>
          <a:xfrm>
            <a:off x="6858327" y="5729938"/>
            <a:ext cx="3532094"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angular displacement</a:t>
            </a:r>
          </a:p>
        </p:txBody>
      </p:sp>
      <p:sp>
        <p:nvSpPr>
          <p:cNvPr id="8" name="Content Placeholder 7">
            <a:extLst>
              <a:ext uri="{FF2B5EF4-FFF2-40B4-BE49-F238E27FC236}">
                <a16:creationId xmlns:a16="http://schemas.microsoft.com/office/drawing/2014/main" id="{2D0988C4-1153-0B4E-8A6F-8F54E88761E7}"/>
              </a:ext>
            </a:extLst>
          </p:cNvPr>
          <p:cNvSpPr txBox="1">
            <a:spLocks noGrp="1"/>
          </p:cNvSpPr>
          <p:nvPr>
            <p:ph type="body" idx="7"/>
          </p:nvPr>
        </p:nvSpPr>
        <p:spPr>
          <a:xfrm>
            <a:off x="10148047" y="5760716"/>
            <a:ext cx="242374" cy="369332"/>
          </a:xfrm>
          <a:prstGeom prst="rect">
            <a:avLst/>
          </a:prstGeom>
          <a:noFill/>
        </p:spPr>
        <p:txBody>
          <a:bodyPr wrap="none" rtlCol="0">
            <a:noAutofit/>
          </a:bodyPr>
          <a:lstStyle>
            <a:lvl1pPr algn="l">
              <a:lnSpc>
                <a:spcPct val="100000"/>
              </a:lnSpc>
              <a:spcBef>
                <a:spcPts val="0"/>
              </a:spcBef>
            </a:lvl1pPr>
          </a:lstStyle>
          <a:p>
            <a:pPr algn="l">
              <a:lnSpc>
                <a:spcPct val="100000"/>
              </a:lnSpc>
              <a:spcBef>
                <a:spcPts val="0"/>
              </a:spcBef>
              <a:spcAft>
                <a:spcPts val="0"/>
              </a:spcAft>
              <a:buNone/>
            </a:pPr>
            <a:r>
              <a:rPr lang="en-US" dirty="0">
                <a:latin typeface="Times New Roman" pitchFamily="2" charset="0"/>
              </a:rPr>
              <a:t>.</a:t>
            </a:r>
            <a:endParaRPr lang="en-US" dirty="0">
              <a:latin typeface="Times New Roman"/>
            </a:endParaRPr>
          </a:p>
        </p:txBody>
      </p:sp>
    </p:spTree>
    <p:extLst>
      <p:ext uri="{BB962C8B-B14F-4D97-AF65-F5344CB8AC3E}">
        <p14:creationId xmlns:p14="http://schemas.microsoft.com/office/powerpoint/2010/main" val="191749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dissolv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dissolve">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 grpId="0"/>
      <p:bldP spid="21" grpId="0"/>
      <p:bldP spid="22" grpId="0" animBg="1"/>
      <p:bldP spid="2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39F8B-F596-C380-5096-D3093D69B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7DBB1-9F18-84AB-4781-AD246F33C49F}"/>
              </a:ext>
            </a:extLst>
          </p:cNvPr>
          <p:cNvSpPr>
            <a:spLocks noGrp="1"/>
          </p:cNvSpPr>
          <p:nvPr>
            <p:ph type="title"/>
          </p:nvPr>
        </p:nvSpPr>
        <p:spPr>
          <a:xfrm>
            <a:off x="672552" y="107574"/>
            <a:ext cx="10820401" cy="849312"/>
          </a:xfrm>
        </p:spPr>
        <p:txBody>
          <a:bodyPr>
            <a:normAutofit/>
          </a:bodyPr>
          <a:lstStyle/>
          <a:p>
            <a:r>
              <a:rPr lang="en-US" sz="3600" b="1" dirty="0">
                <a:latin typeface="Times New Roman"/>
                <a:ea typeface="Calibri" charset="0"/>
                <a:cs typeface="Calibri" charset="0"/>
              </a:rPr>
              <a:t>8.1</a:t>
            </a:r>
            <a:r>
              <a:rPr lang="en-US" sz="3600" dirty="0">
                <a:latin typeface="Times New Roman"/>
                <a:ea typeface="Calibri" charset="0"/>
                <a:cs typeface="Calibri" charset="0"/>
              </a:rPr>
              <a:t> Rotational Motion and Angular Displacement </a:t>
            </a:r>
            <a:r>
              <a:rPr lang="en-US" sz="3600" dirty="0">
                <a:latin typeface="Times New Roman" panose="02020603050405020304" pitchFamily="18" charset="0"/>
                <a:ea typeface="Calibri" charset="0"/>
                <a:cs typeface="Times New Roman" panose="02020603050405020304" pitchFamily="18" charset="0"/>
              </a:rPr>
              <a:t>(4 of 9)</a:t>
            </a:r>
            <a:endParaRPr lang="en-US" sz="3600" dirty="0">
              <a:latin typeface="Times New Roman"/>
            </a:endParaRPr>
          </a:p>
        </p:txBody>
      </p:sp>
      <p:sp>
        <p:nvSpPr>
          <p:cNvPr id="28" name="Rectangle 27">
            <a:extLst>
              <a:ext uri="{FF2B5EF4-FFF2-40B4-BE49-F238E27FC236}">
                <a16:creationId xmlns:a16="http://schemas.microsoft.com/office/drawing/2014/main" id="{C874AF3C-DEAA-E9FB-27E3-2B0C25899558}"/>
              </a:ext>
              <a:ext uri="{C183D7F6-B498-43B3-948B-1728B52AA6E4}">
                <adec:decorative xmlns:adec="http://schemas.microsoft.com/office/drawing/2017/decorative" val="1"/>
              </a:ext>
            </a:extLst>
          </p:cNvPr>
          <p:cNvSpPr/>
          <p:nvPr/>
        </p:nvSpPr>
        <p:spPr>
          <a:xfrm>
            <a:off x="475130" y="867784"/>
            <a:ext cx="11216640" cy="27718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ntent Placeholder 1">
            <a:extLst>
              <a:ext uri="{FF2B5EF4-FFF2-40B4-BE49-F238E27FC236}">
                <a16:creationId xmlns:a16="http://schemas.microsoft.com/office/drawing/2014/main" id="{1E262DC4-F1ED-8F46-4967-55435034107D}"/>
              </a:ext>
            </a:extLst>
          </p:cNvPr>
          <p:cNvSpPr txBox="1">
            <a:spLocks noGrp="1"/>
          </p:cNvSpPr>
          <p:nvPr>
            <p:ph type="body" idx="1"/>
          </p:nvPr>
        </p:nvSpPr>
        <p:spPr>
          <a:xfrm>
            <a:off x="511855" y="905437"/>
            <a:ext cx="11243992" cy="1200329"/>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srgbClr val="C00000"/>
                </a:solidFill>
                <a:latin typeface="Times New Roman" pitchFamily="2" charset="0"/>
              </a:rPr>
              <a:t>DEFINITION OF ANGULAR DISPLACEMENT</a:t>
            </a:r>
            <a:r>
              <a:rPr lang="en-US" sz="2400" dirty="0">
                <a:latin typeface="Times New Roman" pitchFamily="2" charset="0"/>
              </a:rPr>
              <a:t>	</a:t>
            </a:r>
          </a:p>
        </p:txBody>
      </p:sp>
      <p:sp>
        <p:nvSpPr>
          <p:cNvPr id="7" name="Content Placeholder 2">
            <a:extLst>
              <a:ext uri="{FF2B5EF4-FFF2-40B4-BE49-F238E27FC236}">
                <a16:creationId xmlns:a16="http://schemas.microsoft.com/office/drawing/2014/main" id="{1300B56F-1241-DB84-0D67-DAA55DB0D2EF}"/>
              </a:ext>
            </a:extLst>
          </p:cNvPr>
          <p:cNvSpPr txBox="1">
            <a:spLocks noGrp="1"/>
          </p:cNvSpPr>
          <p:nvPr>
            <p:ph type="body" idx="2"/>
          </p:nvPr>
        </p:nvSpPr>
        <p:spPr>
          <a:xfrm>
            <a:off x="519951" y="1403900"/>
            <a:ext cx="11044517"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When a rigid body rotates about a fixed axis, the angular displacement is the angle </a:t>
            </a:r>
            <a:r>
              <a:rPr lang="el-GR" sz="2400" dirty="0">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latin typeface="Times New Roman" panose="02020603050405020304" pitchFamily="18" charset="0"/>
                <a:cs typeface="Times New Roman" panose="02020603050405020304" pitchFamily="18" charset="0"/>
                <a:sym typeface="Symbol" panose="05050102010706020507" pitchFamily="18" charset="2"/>
              </a:rPr>
              <a:t>θ</a:t>
            </a:r>
            <a:r>
              <a:rPr lang="en-US" sz="2400" dirty="0">
                <a:latin typeface="Times New Roman" panose="02020603050405020304" pitchFamily="18" charset="0"/>
                <a:cs typeface="Times New Roman" panose="02020603050405020304" pitchFamily="18" charset="0"/>
              </a:rPr>
              <a:t> swept out by a line passing through any point on the body and intersecting the axis of rotation perpendicularly. </a:t>
            </a:r>
            <a:r>
              <a:rPr lang="en-US" sz="2400" b="1" dirty="0">
                <a:latin typeface="Times New Roman" panose="02020603050405020304" pitchFamily="18" charset="0"/>
                <a:cs typeface="Times New Roman" panose="02020603050405020304" pitchFamily="18" charset="0"/>
              </a:rPr>
              <a:t>By convention, the angular displacement is positive if it is counterclockwise and negative if it is clockwise.</a:t>
            </a:r>
          </a:p>
        </p:txBody>
      </p:sp>
      <p:sp>
        <p:nvSpPr>
          <p:cNvPr id="11" name="Content Placeholder 3">
            <a:extLst>
              <a:ext uri="{FF2B5EF4-FFF2-40B4-BE49-F238E27FC236}">
                <a16:creationId xmlns:a16="http://schemas.microsoft.com/office/drawing/2014/main" id="{0AF88292-5BFB-EDAB-FCCB-E5B333DF659C}"/>
              </a:ext>
            </a:extLst>
          </p:cNvPr>
          <p:cNvSpPr txBox="1">
            <a:spLocks noGrp="1"/>
          </p:cNvSpPr>
          <p:nvPr>
            <p:ph type="body" idx="3"/>
          </p:nvPr>
        </p:nvSpPr>
        <p:spPr>
          <a:xfrm>
            <a:off x="502023" y="3087451"/>
            <a:ext cx="7727576"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rPr>
              <a:t>SI Unit of Angular Displacement: radian (rad)</a:t>
            </a:r>
          </a:p>
        </p:txBody>
      </p:sp>
      <p:sp>
        <p:nvSpPr>
          <p:cNvPr id="45" name="Rectangle 44">
            <a:extLst>
              <a:ext uri="{FF2B5EF4-FFF2-40B4-BE49-F238E27FC236}">
                <a16:creationId xmlns:a16="http://schemas.microsoft.com/office/drawing/2014/main" id="{2AA69C00-AD53-611C-483E-CEC1F82561B8}"/>
              </a:ext>
              <a:ext uri="{C183D7F6-B498-43B3-948B-1728B52AA6E4}">
                <adec:decorative xmlns:adec="http://schemas.microsoft.com/office/drawing/2017/decorative" val="1"/>
              </a:ext>
            </a:extLst>
          </p:cNvPr>
          <p:cNvSpPr/>
          <p:nvPr/>
        </p:nvSpPr>
        <p:spPr>
          <a:xfrm>
            <a:off x="7351059" y="2581835"/>
            <a:ext cx="4052047" cy="93233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Content Placeholder 4">
            <a:extLst>
              <a:ext uri="{FF2B5EF4-FFF2-40B4-BE49-F238E27FC236}">
                <a16:creationId xmlns:a16="http://schemas.microsoft.com/office/drawing/2014/main" id="{38A34685-3DD6-45F1-CA34-A189C8A429B8}"/>
              </a:ext>
            </a:extLst>
          </p:cNvPr>
          <p:cNvSpPr txBox="1">
            <a:spLocks noGrp="1"/>
          </p:cNvSpPr>
          <p:nvPr>
            <p:ph type="body" idx="4"/>
          </p:nvPr>
        </p:nvSpPr>
        <p:spPr>
          <a:xfrm>
            <a:off x="7348845" y="2558380"/>
            <a:ext cx="4016188" cy="1015663"/>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000" dirty="0">
                <a:latin typeface="Times New Roman" panose="02020603050405020304" pitchFamily="18" charset="0"/>
                <a:cs typeface="Times New Roman" panose="02020603050405020304" pitchFamily="18" charset="0"/>
              </a:rPr>
              <a:t>*Note: </a:t>
            </a:r>
            <a:r>
              <a:rPr lang="en-US" sz="2000" u="sng" dirty="0">
                <a:solidFill>
                  <a:srgbClr val="007440"/>
                </a:solidFill>
                <a:latin typeface="Times New Roman" panose="02020603050405020304" pitchFamily="18" charset="0"/>
                <a:cs typeface="Times New Roman" panose="02020603050405020304" pitchFamily="18" charset="0"/>
              </a:rPr>
              <a:t>Angular displacement </a:t>
            </a:r>
            <a:r>
              <a:rPr lang="en-US" sz="2000" u="sng" dirty="0">
                <a:latin typeface="Times New Roman" panose="02020603050405020304" pitchFamily="18" charset="0"/>
                <a:cs typeface="Times New Roman" panose="02020603050405020304" pitchFamily="18" charset="0"/>
              </a:rPr>
              <a:t>is a vector quantity</a:t>
            </a:r>
            <a:r>
              <a:rPr lang="en-US" sz="2000" dirty="0">
                <a:latin typeface="Times New Roman" panose="02020603050405020304" pitchFamily="18" charset="0"/>
                <a:cs typeface="Times New Roman" panose="02020603050405020304" pitchFamily="18" charset="0"/>
              </a:rPr>
              <a:t>. We will see how to determine its direction in Section 8.7.</a:t>
            </a:r>
          </a:p>
        </p:txBody>
      </p:sp>
      <p:sp>
        <p:nvSpPr>
          <p:cNvPr id="30" name="Content Placeholder 5">
            <a:extLst>
              <a:ext uri="{FF2B5EF4-FFF2-40B4-BE49-F238E27FC236}">
                <a16:creationId xmlns:a16="http://schemas.microsoft.com/office/drawing/2014/main" id="{4D855C07-0847-DF96-7660-0D26254E5388}"/>
              </a:ext>
            </a:extLst>
          </p:cNvPr>
          <p:cNvSpPr txBox="1">
            <a:spLocks noGrp="1"/>
          </p:cNvSpPr>
          <p:nvPr>
            <p:ph type="body" idx="5"/>
          </p:nvPr>
        </p:nvSpPr>
        <p:spPr>
          <a:xfrm>
            <a:off x="430305" y="3729317"/>
            <a:ext cx="11367247"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When </a:t>
            </a:r>
            <a:r>
              <a:rPr lang="en-US" sz="2400" i="1" dirty="0">
                <a:latin typeface="Times New Roman" panose="02020603050405020304" pitchFamily="18" charset="0"/>
                <a:cs typeface="Times New Roman" panose="02020603050405020304" pitchFamily="18" charset="0"/>
              </a:rPr>
              <a:t>θ</a:t>
            </a:r>
            <a:r>
              <a:rPr lang="en-US" sz="2400" dirty="0">
                <a:latin typeface="Times New Roman" panose="02020603050405020304" pitchFamily="18" charset="0"/>
                <a:cs typeface="Times New Roman" panose="02020603050405020304" pitchFamily="18" charset="0"/>
              </a:rPr>
              <a:t> is measured in rad, the arc length distance, </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swept out along the edge of the disc is given by</a:t>
            </a:r>
          </a:p>
        </p:txBody>
      </p:sp>
      <p:sp>
        <p:nvSpPr>
          <p:cNvPr id="31" name="Rounded Rectangle 30">
            <a:extLst>
              <a:ext uri="{FF2B5EF4-FFF2-40B4-BE49-F238E27FC236}">
                <a16:creationId xmlns:a16="http://schemas.microsoft.com/office/drawing/2014/main" id="{F8D38C89-44C8-59D8-A832-0996D44B7A78}"/>
              </a:ext>
              <a:ext uri="{C183D7F6-B498-43B3-948B-1728B52AA6E4}">
                <adec:decorative xmlns:adec="http://schemas.microsoft.com/office/drawing/2017/decorative" val="1"/>
              </a:ext>
            </a:extLst>
          </p:cNvPr>
          <p:cNvSpPr/>
          <p:nvPr/>
        </p:nvSpPr>
        <p:spPr>
          <a:xfrm>
            <a:off x="1918445" y="4159623"/>
            <a:ext cx="1021977" cy="3406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6">
            <a:extLst>
              <a:ext uri="{FF2B5EF4-FFF2-40B4-BE49-F238E27FC236}">
                <a16:creationId xmlns:a16="http://schemas.microsoft.com/office/drawing/2014/main" id="{63F2E330-4AF7-FE30-3FA8-E9E299116CA1}"/>
              </a:ext>
            </a:extLst>
          </p:cNvPr>
          <p:cNvSpPr txBox="1">
            <a:spLocks noGrp="1"/>
          </p:cNvSpPr>
          <p:nvPr>
            <p:ph type="body" idx="6"/>
          </p:nvPr>
        </p:nvSpPr>
        <p:spPr>
          <a:xfrm>
            <a:off x="1949821" y="4107862"/>
            <a:ext cx="95922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a:t>
            </a:r>
            <a:r>
              <a:rPr lang="en-US" sz="2400" i="1" dirty="0" err="1">
                <a:latin typeface="Times New Roman" panose="02020603050405020304" pitchFamily="18" charset="0"/>
                <a:cs typeface="Times New Roman" panose="02020603050405020304" pitchFamily="18" charset="0"/>
              </a:rPr>
              <a:t>rθ</a:t>
            </a:r>
            <a:endParaRPr lang="en-US" sz="2400" i="1" dirty="0">
              <a:latin typeface="Times New Roman" panose="02020603050405020304" pitchFamily="18" charset="0"/>
              <a:cs typeface="Times New Roman" panose="02020603050405020304" pitchFamily="18" charset="0"/>
            </a:endParaRPr>
          </a:p>
        </p:txBody>
      </p:sp>
      <p:sp>
        <p:nvSpPr>
          <p:cNvPr id="4" name="Content Placeholder 7">
            <a:extLst>
              <a:ext uri="{FF2B5EF4-FFF2-40B4-BE49-F238E27FC236}">
                <a16:creationId xmlns:a16="http://schemas.microsoft.com/office/drawing/2014/main" id="{D4CBB55D-8186-6B41-9F91-265C1BA44E26}"/>
              </a:ext>
            </a:extLst>
          </p:cNvPr>
          <p:cNvSpPr txBox="1">
            <a:spLocks noGrp="1"/>
          </p:cNvSpPr>
          <p:nvPr>
            <p:ph type="body" idx="7"/>
          </p:nvPr>
        </p:nvSpPr>
        <p:spPr>
          <a:xfrm>
            <a:off x="2922494" y="4069136"/>
            <a:ext cx="31146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endParaRPr lang="en-US" dirty="0">
              <a:latin typeface="Times New Roman"/>
            </a:endParaRPr>
          </a:p>
        </p:txBody>
      </p:sp>
      <p:sp>
        <p:nvSpPr>
          <p:cNvPr id="34" name="Content Placeholder 8">
            <a:extLst>
              <a:ext uri="{FF2B5EF4-FFF2-40B4-BE49-F238E27FC236}">
                <a16:creationId xmlns:a16="http://schemas.microsoft.com/office/drawing/2014/main" id="{8B33760D-561C-8FD8-2F84-B90D934B1A2E}"/>
              </a:ext>
            </a:extLst>
          </p:cNvPr>
          <p:cNvSpPr txBox="1">
            <a:spLocks noGrp="1"/>
          </p:cNvSpPr>
          <p:nvPr>
            <p:ph type="body" idx="8"/>
          </p:nvPr>
        </p:nvSpPr>
        <p:spPr>
          <a:xfrm>
            <a:off x="3218329" y="4132729"/>
            <a:ext cx="112059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r>
              <a:rPr lang="en-US" sz="2400" b="1" dirty="0">
                <a:latin typeface="Times New Roman" pitchFamily="2" charset="0"/>
              </a:rPr>
              <a:t>8.1</a:t>
            </a:r>
            <a:r>
              <a:rPr lang="en-US" sz="2400" dirty="0">
                <a:latin typeface="Times New Roman" pitchFamily="2" charset="0"/>
              </a:rPr>
              <a:t>)</a:t>
            </a:r>
          </a:p>
        </p:txBody>
      </p:sp>
      <p:sp>
        <p:nvSpPr>
          <p:cNvPr id="35" name="Content Placeholder 9">
            <a:extLst>
              <a:ext uri="{FF2B5EF4-FFF2-40B4-BE49-F238E27FC236}">
                <a16:creationId xmlns:a16="http://schemas.microsoft.com/office/drawing/2014/main" id="{DEA46C20-D8D7-F0FC-B7CC-530B82781EAC}"/>
              </a:ext>
            </a:extLst>
          </p:cNvPr>
          <p:cNvSpPr txBox="1">
            <a:spLocks noGrp="1"/>
          </p:cNvSpPr>
          <p:nvPr>
            <p:ph type="body" idx="9"/>
          </p:nvPr>
        </p:nvSpPr>
        <p:spPr>
          <a:xfrm>
            <a:off x="4634754" y="4168587"/>
            <a:ext cx="6606988"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It is also common to see </a:t>
            </a:r>
            <a:r>
              <a:rPr lang="en-US" sz="2400" i="1" dirty="0">
                <a:latin typeface="Times New Roman" panose="02020603050405020304" pitchFamily="18" charset="0"/>
                <a:cs typeface="Times New Roman" panose="02020603050405020304" pitchFamily="18" charset="0"/>
              </a:rPr>
              <a:t>θ</a:t>
            </a:r>
            <a:r>
              <a:rPr lang="en-US" sz="2400" dirty="0">
                <a:latin typeface="Times New Roman" panose="02020603050405020304" pitchFamily="18" charset="0"/>
                <a:cs typeface="Times New Roman" panose="02020603050405020304" pitchFamily="18" charset="0"/>
              </a:rPr>
              <a:t> measured in degrees.</a:t>
            </a:r>
          </a:p>
        </p:txBody>
      </p:sp>
      <p:pic>
        <p:nvPicPr>
          <p:cNvPr id="27" name="Content Placeholder 10">
            <a:extLst>
              <a:ext uri="{FF2B5EF4-FFF2-40B4-BE49-F238E27FC236}">
                <a16:creationId xmlns:a16="http://schemas.microsoft.com/office/drawing/2014/main" id="{B04C4AAF-3844-C4E2-0A87-0001D1A57894}"/>
              </a:ext>
            </a:extLst>
          </p:cNvPr>
          <p:cNvPicPr>
            <a:picLocks noGrp="1" noChangeAspect="1"/>
          </p:cNvPicPr>
          <p:nvPr>
            <p:ph type="pic" idx="10"/>
          </p:nvPr>
        </p:nvPicPr>
        <p:blipFill>
          <a:blip r:embed="rId3"/>
          <a:stretch>
            <a:fillRect/>
          </a:stretch>
        </p:blipFill>
        <p:spPr>
          <a:xfrm>
            <a:off x="201331" y="4643720"/>
            <a:ext cx="3778998" cy="1597831"/>
          </a:xfrm>
          <a:prstGeom prst="rect">
            <a:avLst/>
          </a:prstGeom>
        </p:spPr>
      </p:pic>
      <p:sp>
        <p:nvSpPr>
          <p:cNvPr id="36" name="Content Placeholder 11">
            <a:extLst>
              <a:ext uri="{FF2B5EF4-FFF2-40B4-BE49-F238E27FC236}">
                <a16:creationId xmlns:a16="http://schemas.microsoft.com/office/drawing/2014/main" id="{0EA1C8EF-D0D7-1233-B369-75D388E34BB7}"/>
              </a:ext>
            </a:extLst>
          </p:cNvPr>
          <p:cNvSpPr txBox="1">
            <a:spLocks noGrp="1"/>
          </p:cNvSpPr>
          <p:nvPr>
            <p:ph type="body" idx="11"/>
          </p:nvPr>
        </p:nvSpPr>
        <p:spPr>
          <a:xfrm>
            <a:off x="4069977" y="4607858"/>
            <a:ext cx="7637929"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Since one full revolution (rev) corresponds to both 2</a:t>
            </a:r>
            <a:r>
              <a:rPr lang="en-US" sz="2400" i="1" dirty="0">
                <a:latin typeface="Times New Roman" panose="02020603050405020304" pitchFamily="18" charset="0"/>
                <a:cs typeface="Times New Roman" panose="02020603050405020304" pitchFamily="18" charset="0"/>
              </a:rPr>
              <a:t>π</a:t>
            </a:r>
            <a:r>
              <a:rPr lang="en-US" sz="2400" dirty="0">
                <a:latin typeface="Times New Roman" panose="02020603050405020304" pitchFamily="18" charset="0"/>
                <a:cs typeface="Times New Roman" panose="02020603050405020304" pitchFamily="18" charset="0"/>
              </a:rPr>
              <a:t> rad and 360</a:t>
            </a:r>
            <a:r>
              <a:rPr lang="en-US" sz="2400" baseline="30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 the following must be true:</a:t>
            </a:r>
          </a:p>
        </p:txBody>
      </p:sp>
      <p:sp>
        <p:nvSpPr>
          <p:cNvPr id="38" name="Rounded Rectangle 37">
            <a:extLst>
              <a:ext uri="{FF2B5EF4-FFF2-40B4-BE49-F238E27FC236}">
                <a16:creationId xmlns:a16="http://schemas.microsoft.com/office/drawing/2014/main" id="{633C603F-A434-06FD-FAEA-FC788A4F0B73}"/>
              </a:ext>
              <a:ext uri="{C183D7F6-B498-43B3-948B-1728B52AA6E4}">
                <adec:decorative xmlns:adec="http://schemas.microsoft.com/office/drawing/2017/decorative" val="1"/>
              </a:ext>
            </a:extLst>
          </p:cNvPr>
          <p:cNvSpPr/>
          <p:nvPr/>
        </p:nvSpPr>
        <p:spPr>
          <a:xfrm>
            <a:off x="4787153" y="5719482"/>
            <a:ext cx="2779058" cy="4303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12">
            <a:extLst>
              <a:ext uri="{FF2B5EF4-FFF2-40B4-BE49-F238E27FC236}">
                <a16:creationId xmlns:a16="http://schemas.microsoft.com/office/drawing/2014/main" id="{94B1B662-EF01-7F4A-9F7C-4C17AE0C40D5}"/>
              </a:ext>
            </a:extLst>
          </p:cNvPr>
          <p:cNvSpPr txBox="1">
            <a:spLocks noGrp="1"/>
          </p:cNvSpPr>
          <p:nvPr>
            <p:ph type="body" idx="12"/>
          </p:nvPr>
        </p:nvSpPr>
        <p:spPr>
          <a:xfrm>
            <a:off x="4778189" y="5710173"/>
            <a:ext cx="309282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1 rev = 2</a:t>
            </a:r>
            <a:r>
              <a:rPr lang="en-US" sz="2400" i="1" dirty="0">
                <a:latin typeface="Times New Roman" panose="02020603050405020304" pitchFamily="18" charset="0"/>
                <a:cs typeface="Times New Roman" panose="02020603050405020304" pitchFamily="18" charset="0"/>
              </a:rPr>
              <a:t>π</a:t>
            </a:r>
            <a:r>
              <a:rPr lang="en-US" sz="2400" dirty="0">
                <a:latin typeface="Times New Roman" panose="02020603050405020304" pitchFamily="18" charset="0"/>
                <a:cs typeface="Times New Roman" panose="02020603050405020304" pitchFamily="18" charset="0"/>
              </a:rPr>
              <a:t> rad = 360</a:t>
            </a:r>
            <a:r>
              <a:rPr lang="en-US" sz="2400" baseline="30000" dirty="0">
                <a:latin typeface="Times New Roman" panose="02020603050405020304" pitchFamily="18" charset="0"/>
                <a:cs typeface="Times New Roman" panose="02020603050405020304" pitchFamily="18" charset="0"/>
              </a:rPr>
              <a:t>°</a:t>
            </a:r>
          </a:p>
        </p:txBody>
      </p:sp>
      <p:sp>
        <p:nvSpPr>
          <p:cNvPr id="39" name="Content Placeholder 13">
            <a:extLst>
              <a:ext uri="{FF2B5EF4-FFF2-40B4-BE49-F238E27FC236}">
                <a16:creationId xmlns:a16="http://schemas.microsoft.com/office/drawing/2014/main" id="{6C8B9A8E-0FAE-8E94-A5AE-E0CBE42035FE}"/>
              </a:ext>
            </a:extLst>
          </p:cNvPr>
          <p:cNvSpPr txBox="1">
            <a:spLocks noGrp="1"/>
          </p:cNvSpPr>
          <p:nvPr>
            <p:ph type="body" idx="13"/>
          </p:nvPr>
        </p:nvSpPr>
        <p:spPr>
          <a:xfrm>
            <a:off x="7763436" y="5737413"/>
            <a:ext cx="87854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p>
        </p:txBody>
      </p:sp>
      <p:sp>
        <p:nvSpPr>
          <p:cNvPr id="40" name="Rounded Rectangle 39">
            <a:extLst>
              <a:ext uri="{FF2B5EF4-FFF2-40B4-BE49-F238E27FC236}">
                <a16:creationId xmlns:a16="http://schemas.microsoft.com/office/drawing/2014/main" id="{C96EFAE8-BCDD-4919-C0DD-2E63A3F369BD}"/>
              </a:ext>
              <a:ext uri="{C183D7F6-B498-43B3-948B-1728B52AA6E4}">
                <adec:decorative xmlns:adec="http://schemas.microsoft.com/office/drawing/2017/decorative" val="1"/>
              </a:ext>
            </a:extLst>
          </p:cNvPr>
          <p:cNvSpPr/>
          <p:nvPr/>
        </p:nvSpPr>
        <p:spPr>
          <a:xfrm>
            <a:off x="8408894" y="5468471"/>
            <a:ext cx="2904566" cy="824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a:extLst>
              <a:ext uri="{FF2B5EF4-FFF2-40B4-BE49-F238E27FC236}">
                <a16:creationId xmlns:a16="http://schemas.microsoft.com/office/drawing/2014/main" id="{32C66F4B-667D-B466-FB09-6D00B53BA4D8}"/>
              </a:ext>
            </a:extLst>
          </p:cNvPr>
          <p:cNvGraphicFramePr>
            <a:graphicFrameLocks noChangeAspect="1"/>
          </p:cNvGraphicFramePr>
          <p:nvPr>
            <p:extLst>
              <p:ext uri="{D42A27DB-BD31-4B8C-83A1-F6EECF244321}">
                <p14:modId xmlns:p14="http://schemas.microsoft.com/office/powerpoint/2010/main" val="1899083076"/>
              </p:ext>
            </p:extLst>
          </p:nvPr>
        </p:nvGraphicFramePr>
        <p:xfrm>
          <a:off x="8516470" y="5523287"/>
          <a:ext cx="1677397" cy="674575"/>
        </p:xfrm>
        <a:graphic>
          <a:graphicData uri="http://schemas.openxmlformats.org/presentationml/2006/ole">
            <mc:AlternateContent xmlns:mc="http://schemas.openxmlformats.org/markup-compatibility/2006">
              <mc:Choice xmlns:v="urn:schemas-microsoft-com:vml" Requires="v">
                <p:oleObj name="Equation" r:id="rId4" imgW="977760" imgH="393480" progId="Equation.DSMT4">
                  <p:embed/>
                </p:oleObj>
              </mc:Choice>
              <mc:Fallback>
                <p:oleObj name="Equation" r:id="rId4" imgW="977760" imgH="393480" progId="Equation.DSMT4">
                  <p:embed/>
                  <p:pic>
                    <p:nvPicPr>
                      <p:cNvPr id="0" name=""/>
                      <p:cNvPicPr/>
                      <p:nvPr/>
                    </p:nvPicPr>
                    <p:blipFill>
                      <a:blip r:embed="rId5"/>
                      <a:stretch>
                        <a:fillRect/>
                      </a:stretch>
                    </p:blipFill>
                    <p:spPr>
                      <a:xfrm>
                        <a:off x="8516470" y="5523287"/>
                        <a:ext cx="1677397" cy="67457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031F4A48-4BDF-975E-4FE6-63B97B58F513}"/>
              </a:ext>
            </a:extLst>
          </p:cNvPr>
          <p:cNvGraphicFramePr>
            <a:graphicFrameLocks noChangeAspect="1"/>
          </p:cNvGraphicFramePr>
          <p:nvPr>
            <p:extLst>
              <p:ext uri="{D42A27DB-BD31-4B8C-83A1-F6EECF244321}">
                <p14:modId xmlns:p14="http://schemas.microsoft.com/office/powerpoint/2010/main" val="888997114"/>
              </p:ext>
            </p:extLst>
          </p:nvPr>
        </p:nvGraphicFramePr>
        <p:xfrm>
          <a:off x="10265886" y="5653926"/>
          <a:ext cx="1047574" cy="386943"/>
        </p:xfrm>
        <a:graphic>
          <a:graphicData uri="http://schemas.openxmlformats.org/presentationml/2006/ole">
            <mc:AlternateContent xmlns:mc="http://schemas.openxmlformats.org/markup-compatibility/2006">
              <mc:Choice xmlns:v="urn:schemas-microsoft-com:vml" Requires="v">
                <p:oleObj name="Equation" r:id="rId6" imgW="528715" imgH="195433" progId="Equation.DSMT4">
                  <p:embed/>
                </p:oleObj>
              </mc:Choice>
              <mc:Fallback>
                <p:oleObj name="Equation" r:id="rId6" imgW="528715" imgH="195433" progId="Equation.DSMT4">
                  <p:embed/>
                  <p:pic>
                    <p:nvPicPr>
                      <p:cNvPr id="0" name=""/>
                      <p:cNvPicPr/>
                      <p:nvPr/>
                    </p:nvPicPr>
                    <p:blipFill>
                      <a:blip r:embed="rId7"/>
                      <a:stretch>
                        <a:fillRect/>
                      </a:stretch>
                    </p:blipFill>
                    <p:spPr>
                      <a:xfrm>
                        <a:off x="10265886" y="5653926"/>
                        <a:ext cx="1047574" cy="386943"/>
                      </a:xfrm>
                      <a:prstGeom prst="rect">
                        <a:avLst/>
                      </a:prstGeom>
                    </p:spPr>
                  </p:pic>
                </p:oleObj>
              </mc:Fallback>
            </mc:AlternateContent>
          </a:graphicData>
        </a:graphic>
      </p:graphicFrame>
    </p:spTree>
    <p:extLst>
      <p:ext uri="{BB962C8B-B14F-4D97-AF65-F5344CB8AC3E}">
        <p14:creationId xmlns:p14="http://schemas.microsoft.com/office/powerpoint/2010/main" val="139715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dissolve">
                                      <p:cBhvr>
                                        <p:cTn id="10" dur="500"/>
                                        <p:tgtEl>
                                          <p:spTgt spid="4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dissolve">
                                      <p:cBhvr>
                                        <p:cTn id="21" dur="500"/>
                                        <p:tgtEl>
                                          <p:spTgt spid="3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dissolv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dissolve">
                                      <p:cBhvr>
                                        <p:cTn id="30" dur="500"/>
                                        <p:tgtEl>
                                          <p:spTgt spid="32"/>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dissolve">
                                      <p:cBhvr>
                                        <p:cTn id="34" dur="5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dissolve">
                                      <p:cBhvr>
                                        <p:cTn id="39" dur="500"/>
                                        <p:tgtEl>
                                          <p:spTgt spid="3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dissolve">
                                      <p:cBhvr>
                                        <p:cTn id="44" dur="500"/>
                                        <p:tgtEl>
                                          <p:spTgt spid="36"/>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dissolve">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dissolve">
                                      <p:cBhvr>
                                        <p:cTn id="53" dur="500"/>
                                        <p:tgtEl>
                                          <p:spTgt spid="37"/>
                                        </p:tgtEl>
                                      </p:cBhvr>
                                    </p:animEffect>
                                  </p:childTnLst>
                                </p:cTn>
                              </p:par>
                              <p:par>
                                <p:cTn id="54" presetID="9" presetClass="entr" presetSubtype="0" fill="hold" grpId="0" nodeType="withEffect">
                                  <p:stCondLst>
                                    <p:cond delay="500"/>
                                  </p:stCondLst>
                                  <p:childTnLst>
                                    <p:set>
                                      <p:cBhvr>
                                        <p:cTn id="55" dur="1" fill="hold">
                                          <p:stCondLst>
                                            <p:cond delay="0"/>
                                          </p:stCondLst>
                                        </p:cTn>
                                        <p:tgtEl>
                                          <p:spTgt spid="39"/>
                                        </p:tgtEl>
                                        <p:attrNameLst>
                                          <p:attrName>style.visibility</p:attrName>
                                        </p:attrNameLst>
                                      </p:cBhvr>
                                      <p:to>
                                        <p:strVal val="visible"/>
                                      </p:to>
                                    </p:set>
                                    <p:animEffect transition="in" filter="dissolve">
                                      <p:cBhvr>
                                        <p:cTn id="56" dur="500"/>
                                        <p:tgtEl>
                                          <p:spTgt spid="39"/>
                                        </p:tgtEl>
                                      </p:cBhvr>
                                    </p:animEffect>
                                  </p:childTnLst>
                                </p:cTn>
                              </p:par>
                              <p:par>
                                <p:cTn id="57" presetID="9" presetClass="entr" presetSubtype="0" fill="hold" grpId="0" nodeType="withEffect">
                                  <p:stCondLst>
                                    <p:cond delay="500"/>
                                  </p:stCondLst>
                                  <p:childTnLst>
                                    <p:set>
                                      <p:cBhvr>
                                        <p:cTn id="58" dur="1" fill="hold">
                                          <p:stCondLst>
                                            <p:cond delay="0"/>
                                          </p:stCondLst>
                                        </p:cTn>
                                        <p:tgtEl>
                                          <p:spTgt spid="40"/>
                                        </p:tgtEl>
                                        <p:attrNameLst>
                                          <p:attrName>style.visibility</p:attrName>
                                        </p:attrNameLst>
                                      </p:cBhvr>
                                      <p:to>
                                        <p:strVal val="visible"/>
                                      </p:to>
                                    </p:set>
                                    <p:animEffect transition="in" filter="dissolve">
                                      <p:cBhvr>
                                        <p:cTn id="59" dur="500"/>
                                        <p:tgtEl>
                                          <p:spTgt spid="40"/>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250"/>
                                  </p:stCondLst>
                                  <p:childTnLst>
                                    <p:set>
                                      <p:cBhvr>
                                        <p:cTn id="63" dur="1" fill="hold">
                                          <p:stCondLst>
                                            <p:cond delay="0"/>
                                          </p:stCondLst>
                                        </p:cTn>
                                        <p:tgtEl>
                                          <p:spTgt spid="5"/>
                                        </p:tgtEl>
                                        <p:attrNameLst>
                                          <p:attrName>style.visibility</p:attrName>
                                        </p:attrNameLst>
                                      </p:cBhvr>
                                      <p:to>
                                        <p:strVal val="visible"/>
                                      </p:to>
                                    </p:set>
                                    <p:animEffect transition="in" filter="dissolve">
                                      <p:cBhvr>
                                        <p:cTn id="64" dur="500"/>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dissolve">
                                      <p:cBhvr>
                                        <p:cTn id="6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4" grpId="0"/>
      <p:bldP spid="30" grpId="0"/>
      <p:bldP spid="31" grpId="0" animBg="1"/>
      <p:bldP spid="32" grpId="0"/>
      <p:bldP spid="4" grpId="0"/>
      <p:bldP spid="34" grpId="0"/>
      <p:bldP spid="35" grpId="0"/>
      <p:bldP spid="36" grpId="0"/>
      <p:bldP spid="38" grpId="0" animBg="1"/>
      <p:bldP spid="37" grpId="0"/>
      <p:bldP spid="39" grpId="0"/>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5B0CD-4268-3ADD-06AE-9A94C86CD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750AB-2AE7-20A4-3D2D-3814A835E348}"/>
              </a:ext>
            </a:extLst>
          </p:cNvPr>
          <p:cNvSpPr>
            <a:spLocks noGrp="1"/>
          </p:cNvSpPr>
          <p:nvPr>
            <p:ph type="title"/>
          </p:nvPr>
        </p:nvSpPr>
        <p:spPr>
          <a:xfrm>
            <a:off x="672552" y="196782"/>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8.1</a:t>
            </a:r>
            <a:r>
              <a:rPr lang="en-US" dirty="0">
                <a:latin typeface="Times New Roman" panose="02020603050405020304" pitchFamily="18" charset="0"/>
                <a:ea typeface="Calibri" charset="0"/>
                <a:cs typeface="Times New Roman" panose="02020603050405020304" pitchFamily="18" charset="0"/>
              </a:rPr>
              <a:t> Rotational Motion and Angular Displacement (5 of 9)</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11DF3D63-C9E7-7A57-C310-A4022A2BEB4B}"/>
              </a:ext>
            </a:extLst>
          </p:cNvPr>
          <p:cNvSpPr txBox="1">
            <a:spLocks noGrp="1"/>
          </p:cNvSpPr>
          <p:nvPr>
            <p:ph type="body" idx="1"/>
          </p:nvPr>
        </p:nvSpPr>
        <p:spPr>
          <a:xfrm>
            <a:off x="993652" y="760559"/>
            <a:ext cx="5945030"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Rotating Space Station</a:t>
            </a:r>
          </a:p>
        </p:txBody>
      </p:sp>
      <p:sp>
        <p:nvSpPr>
          <p:cNvPr id="7" name="Content Placeholder 2">
            <a:extLst>
              <a:ext uri="{FF2B5EF4-FFF2-40B4-BE49-F238E27FC236}">
                <a16:creationId xmlns:a16="http://schemas.microsoft.com/office/drawing/2014/main" id="{021C0261-85B8-DD1A-93FD-C7268DADDF47}"/>
              </a:ext>
            </a:extLst>
          </p:cNvPr>
          <p:cNvSpPr txBox="1">
            <a:spLocks noGrp="1"/>
          </p:cNvSpPr>
          <p:nvPr>
            <p:ph type="body" idx="2"/>
          </p:nvPr>
        </p:nvSpPr>
        <p:spPr>
          <a:xfrm>
            <a:off x="986117" y="1219720"/>
            <a:ext cx="10524566"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 space station consists of two donut-shaped living chambers, A and B, that have the radii shown in the figure. As the station rotates, an astronaut in chamber A is moved 2.40 × 10</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m along a circular arc. How far along a circular arc is an astronaut in chamber B moved during the same time?</a:t>
            </a:r>
            <a:endParaRPr lang="en-US" sz="2400" b="1" dirty="0">
              <a:latin typeface="Times New Roman" panose="02020603050405020304" pitchFamily="18" charset="0"/>
              <a:cs typeface="Times New Roman" panose="02020603050405020304" pitchFamily="18" charset="0"/>
            </a:endParaRPr>
          </a:p>
        </p:txBody>
      </p:sp>
      <p:pic>
        <p:nvPicPr>
          <p:cNvPr id="4" name="Content Placeholder 3" descr="space station prob">
            <a:extLst>
              <a:ext uri="{FF2B5EF4-FFF2-40B4-BE49-F238E27FC236}">
                <a16:creationId xmlns:a16="http://schemas.microsoft.com/office/drawing/2014/main" id="{A347CD6A-1AB4-D176-58AA-C726236223BC}"/>
              </a:ext>
            </a:extLst>
          </p:cNvPr>
          <p:cNvPicPr>
            <a:picLocks noGrp="1" noChangeAspect="1" noChangeArrowheads="1"/>
          </p:cNvPicPr>
          <p:nvPr>
            <p:ph type="pic" idx="3"/>
          </p:nvPr>
        </p:nvPicPr>
        <p:blipFill rotWithShape="1">
          <a:blip r:embed="rId3">
            <a:extLst>
              <a:ext uri="{28A0092B-C50C-407E-A947-70E740481C1C}">
                <a14:useLocalDpi xmlns:a14="http://schemas.microsoft.com/office/drawing/2010/main" val="0"/>
              </a:ext>
            </a:extLst>
          </a:blip>
          <a:srcRect b="26798"/>
          <a:stretch/>
        </p:blipFill>
        <p:spPr bwMode="auto">
          <a:xfrm>
            <a:off x="322730" y="2995156"/>
            <a:ext cx="3281082" cy="322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4">
            <a:extLst>
              <a:ext uri="{FF2B5EF4-FFF2-40B4-BE49-F238E27FC236}">
                <a16:creationId xmlns:a16="http://schemas.microsoft.com/office/drawing/2014/main" id="{50227512-C31F-F9B7-6C2C-B5B9EC9A3852}"/>
              </a:ext>
            </a:extLst>
          </p:cNvPr>
          <p:cNvSpPr txBox="1">
            <a:spLocks noGrp="1"/>
          </p:cNvSpPr>
          <p:nvPr>
            <p:ph type="body" idx="4"/>
          </p:nvPr>
        </p:nvSpPr>
        <p:spPr>
          <a:xfrm>
            <a:off x="3594847" y="2954794"/>
            <a:ext cx="5836024"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Let’s view the station from directly above.</a:t>
            </a:r>
            <a:endParaRPr lang="en-US" sz="2400" b="1" dirty="0">
              <a:latin typeface="Times New Roman" panose="02020603050405020304" pitchFamily="18" charset="0"/>
              <a:cs typeface="Times New Roman" panose="02020603050405020304" pitchFamily="18" charset="0"/>
            </a:endParaRPr>
          </a:p>
        </p:txBody>
      </p:sp>
      <p:sp>
        <p:nvSpPr>
          <p:cNvPr id="9" name="Content Placeholder 5">
            <a:extLst>
              <a:ext uri="{FF2B5EF4-FFF2-40B4-BE49-F238E27FC236}">
                <a16:creationId xmlns:a16="http://schemas.microsoft.com/office/drawing/2014/main" id="{3EBEAA7A-31C7-E713-81B5-F4A6DEF95651}"/>
              </a:ext>
            </a:extLst>
          </p:cNvPr>
          <p:cNvSpPr txBox="1">
            <a:spLocks noGrp="1"/>
          </p:cNvSpPr>
          <p:nvPr>
            <p:ph type="body" idx="5"/>
          </p:nvPr>
        </p:nvSpPr>
        <p:spPr>
          <a:xfrm>
            <a:off x="3633964" y="3669525"/>
            <a:ext cx="539675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Since the station is rigid, the chambers rotate together.</a:t>
            </a:r>
            <a:endParaRPr lang="en-US" sz="2400" b="1" dirty="0">
              <a:latin typeface="Times New Roman" panose="02020603050405020304" pitchFamily="18" charset="0"/>
              <a:cs typeface="Times New Roman" panose="02020603050405020304" pitchFamily="18" charset="0"/>
            </a:endParaRPr>
          </a:p>
        </p:txBody>
      </p:sp>
      <p:sp>
        <p:nvSpPr>
          <p:cNvPr id="25" name="Content Placeholder 6">
            <a:extLst>
              <a:ext uri="{FF2B5EF4-FFF2-40B4-BE49-F238E27FC236}">
                <a16:creationId xmlns:a16="http://schemas.microsoft.com/office/drawing/2014/main" id="{12759255-F4A8-3489-925E-75FC058433A2}"/>
              </a:ext>
            </a:extLst>
          </p:cNvPr>
          <p:cNvSpPr txBox="1">
            <a:spLocks noGrp="1"/>
          </p:cNvSpPr>
          <p:nvPr>
            <p:ph type="body" idx="6"/>
          </p:nvPr>
        </p:nvSpPr>
        <p:spPr>
          <a:xfrm>
            <a:off x="3633965" y="4680908"/>
            <a:ext cx="5396753"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When rotated through some angle </a:t>
            </a:r>
            <a:r>
              <a:rPr lang="en-US" sz="2400" i="1" dirty="0">
                <a:latin typeface="Times New Roman" panose="02020603050405020304" pitchFamily="18" charset="0"/>
                <a:cs typeface="Times New Roman" panose="02020603050405020304" pitchFamily="18" charset="0"/>
              </a:rPr>
              <a:t>q</a:t>
            </a:r>
            <a:r>
              <a:rPr lang="en-US" sz="2400" dirty="0">
                <a:latin typeface="Times New Roman" panose="02020603050405020304" pitchFamily="18" charset="0"/>
                <a:cs typeface="Times New Roman" panose="02020603050405020304" pitchFamily="18" charset="0"/>
              </a:rPr>
              <a:t>, an astronaut in chamber A moves an arc length </a:t>
            </a:r>
            <a:r>
              <a:rPr lang="en-US" sz="2400" i="1" dirty="0" err="1">
                <a:solidFill>
                  <a:srgbClr val="3C32FF"/>
                </a:solidFill>
                <a:latin typeface="Times New Roman" panose="02020603050405020304" pitchFamily="18" charset="0"/>
                <a:cs typeface="Times New Roman" panose="02020603050405020304" pitchFamily="18" charset="0"/>
              </a:rPr>
              <a:t>s</a:t>
            </a:r>
            <a:r>
              <a:rPr lang="en-US" sz="2400" baseline="-25000" dirty="0" err="1">
                <a:solidFill>
                  <a:srgbClr val="3C32FF"/>
                </a:solidFill>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and an astronaut in chamber B moves an arc length </a:t>
            </a:r>
            <a:r>
              <a:rPr lang="en-US" sz="2400" i="1" dirty="0" err="1">
                <a:solidFill>
                  <a:srgbClr val="007440"/>
                </a:solidFill>
                <a:latin typeface="Times New Roman" panose="02020603050405020304" pitchFamily="18" charset="0"/>
                <a:cs typeface="Times New Roman" panose="02020603050405020304" pitchFamily="18" charset="0"/>
              </a:rPr>
              <a:t>s</a:t>
            </a:r>
            <a:r>
              <a:rPr lang="en-US" sz="2400" baseline="-25000" dirty="0" err="1">
                <a:solidFill>
                  <a:srgbClr val="007440"/>
                </a:solidFill>
                <a:latin typeface="Times New Roman" panose="02020603050405020304" pitchFamily="18" charset="0"/>
                <a:cs typeface="Times New Roman" panose="02020603050405020304" pitchFamily="18" charset="0"/>
              </a:rPr>
              <a:t>B</a:t>
            </a:r>
            <a:r>
              <a:rPr lang="en-US" sz="2400" dirty="0" err="1">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4C6E92B-D064-E43A-5754-2B31162CE5AD}"/>
              </a:ext>
            </a:extLst>
          </p:cNvPr>
          <p:cNvPicPr>
            <a:picLocks noChangeAspect="1"/>
          </p:cNvPicPr>
          <p:nvPr/>
        </p:nvPicPr>
        <p:blipFill>
          <a:blip r:embed="rId4"/>
          <a:stretch>
            <a:fillRect/>
          </a:stretch>
        </p:blipFill>
        <p:spPr>
          <a:xfrm>
            <a:off x="9067798" y="3088340"/>
            <a:ext cx="3124202" cy="3124202"/>
          </a:xfrm>
          <a:prstGeom prst="rect">
            <a:avLst/>
          </a:prstGeom>
        </p:spPr>
      </p:pic>
      <p:grpSp>
        <p:nvGrpSpPr>
          <p:cNvPr id="24" name="Group 23">
            <a:extLst>
              <a:ext uri="{FF2B5EF4-FFF2-40B4-BE49-F238E27FC236}">
                <a16:creationId xmlns:a16="http://schemas.microsoft.com/office/drawing/2014/main" id="{5B701AB0-72F6-F922-40A9-37B2282FA9E3}"/>
              </a:ext>
            </a:extLst>
          </p:cNvPr>
          <p:cNvGrpSpPr/>
          <p:nvPr/>
        </p:nvGrpSpPr>
        <p:grpSpPr>
          <a:xfrm>
            <a:off x="8972396" y="4597400"/>
            <a:ext cx="1667029" cy="1187174"/>
            <a:chOff x="8972396" y="4597400"/>
            <a:chExt cx="1667029" cy="1187174"/>
          </a:xfrm>
        </p:grpSpPr>
        <p:cxnSp>
          <p:nvCxnSpPr>
            <p:cNvPr id="12" name="Straight Connector 11">
              <a:extLst>
                <a:ext uri="{FF2B5EF4-FFF2-40B4-BE49-F238E27FC236}">
                  <a16:creationId xmlns:a16="http://schemas.microsoft.com/office/drawing/2014/main" id="{C2BC2F99-99B7-6D9C-7895-682298F5F71C}"/>
                </a:ext>
              </a:extLst>
            </p:cNvPr>
            <p:cNvCxnSpPr>
              <a:cxnSpLocks/>
            </p:cNvCxnSpPr>
            <p:nvPr/>
          </p:nvCxnSpPr>
          <p:spPr>
            <a:xfrm flipH="1">
              <a:off x="9253330" y="4601817"/>
              <a:ext cx="1386095" cy="0"/>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B7DF8B-64C7-6C01-86D9-C1DF58B0CF4E}"/>
                </a:ext>
              </a:extLst>
            </p:cNvPr>
            <p:cNvCxnSpPr>
              <a:cxnSpLocks/>
            </p:cNvCxnSpPr>
            <p:nvPr/>
          </p:nvCxnSpPr>
          <p:spPr>
            <a:xfrm flipH="1">
              <a:off x="9919252" y="4605131"/>
              <a:ext cx="718930" cy="1179443"/>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7BA2A7C8-A295-66F2-136B-11797E833D3A}"/>
                </a:ext>
              </a:extLst>
            </p:cNvPr>
            <p:cNvSpPr/>
            <p:nvPr/>
          </p:nvSpPr>
          <p:spPr>
            <a:xfrm>
              <a:off x="9258300" y="4597400"/>
              <a:ext cx="669925" cy="1162050"/>
            </a:xfrm>
            <a:custGeom>
              <a:avLst/>
              <a:gdLst>
                <a:gd name="connsiteX0" fmla="*/ 0 w 669925"/>
                <a:gd name="connsiteY0" fmla="*/ 0 h 1162050"/>
                <a:gd name="connsiteX1" fmla="*/ 3175 w 669925"/>
                <a:gd name="connsiteY1" fmla="*/ 95250 h 1162050"/>
                <a:gd name="connsiteX2" fmla="*/ 12700 w 669925"/>
                <a:gd name="connsiteY2" fmla="*/ 127000 h 1162050"/>
                <a:gd name="connsiteX3" fmla="*/ 15875 w 669925"/>
                <a:gd name="connsiteY3" fmla="*/ 165100 h 1162050"/>
                <a:gd name="connsiteX4" fmla="*/ 22225 w 669925"/>
                <a:gd name="connsiteY4" fmla="*/ 203200 h 1162050"/>
                <a:gd name="connsiteX5" fmla="*/ 31750 w 669925"/>
                <a:gd name="connsiteY5" fmla="*/ 247650 h 1162050"/>
                <a:gd name="connsiteX6" fmla="*/ 44450 w 669925"/>
                <a:gd name="connsiteY6" fmla="*/ 304800 h 1162050"/>
                <a:gd name="connsiteX7" fmla="*/ 57150 w 669925"/>
                <a:gd name="connsiteY7" fmla="*/ 349250 h 1162050"/>
                <a:gd name="connsiteX8" fmla="*/ 76200 w 669925"/>
                <a:gd name="connsiteY8" fmla="*/ 409575 h 1162050"/>
                <a:gd name="connsiteX9" fmla="*/ 95250 w 669925"/>
                <a:gd name="connsiteY9" fmla="*/ 463550 h 1162050"/>
                <a:gd name="connsiteX10" fmla="*/ 120650 w 669925"/>
                <a:gd name="connsiteY10" fmla="*/ 517525 h 1162050"/>
                <a:gd name="connsiteX11" fmla="*/ 152400 w 669925"/>
                <a:gd name="connsiteY11" fmla="*/ 593725 h 1162050"/>
                <a:gd name="connsiteX12" fmla="*/ 190500 w 669925"/>
                <a:gd name="connsiteY12" fmla="*/ 660400 h 1162050"/>
                <a:gd name="connsiteX13" fmla="*/ 241300 w 669925"/>
                <a:gd name="connsiteY13" fmla="*/ 742950 h 1162050"/>
                <a:gd name="connsiteX14" fmla="*/ 269875 w 669925"/>
                <a:gd name="connsiteY14" fmla="*/ 787400 h 1162050"/>
                <a:gd name="connsiteX15" fmla="*/ 311150 w 669925"/>
                <a:gd name="connsiteY15" fmla="*/ 841375 h 1162050"/>
                <a:gd name="connsiteX16" fmla="*/ 358775 w 669925"/>
                <a:gd name="connsiteY16" fmla="*/ 895350 h 1162050"/>
                <a:gd name="connsiteX17" fmla="*/ 400050 w 669925"/>
                <a:gd name="connsiteY17" fmla="*/ 939800 h 1162050"/>
                <a:gd name="connsiteX18" fmla="*/ 444500 w 669925"/>
                <a:gd name="connsiteY18" fmla="*/ 981075 h 1162050"/>
                <a:gd name="connsiteX19" fmla="*/ 495300 w 669925"/>
                <a:gd name="connsiteY19" fmla="*/ 1031875 h 1162050"/>
                <a:gd name="connsiteX20" fmla="*/ 539750 w 669925"/>
                <a:gd name="connsiteY20" fmla="*/ 1066800 h 1162050"/>
                <a:gd name="connsiteX21" fmla="*/ 587375 w 669925"/>
                <a:gd name="connsiteY21" fmla="*/ 1104900 h 1162050"/>
                <a:gd name="connsiteX22" fmla="*/ 628650 w 669925"/>
                <a:gd name="connsiteY22" fmla="*/ 1136650 h 1162050"/>
                <a:gd name="connsiteX23" fmla="*/ 669925 w 669925"/>
                <a:gd name="connsiteY23" fmla="*/ 116205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9925" h="1162050">
                  <a:moveTo>
                    <a:pt x="0" y="0"/>
                  </a:moveTo>
                  <a:cubicBezTo>
                    <a:pt x="529" y="37041"/>
                    <a:pt x="1058" y="74083"/>
                    <a:pt x="3175" y="95250"/>
                  </a:cubicBezTo>
                  <a:cubicBezTo>
                    <a:pt x="5292" y="116417"/>
                    <a:pt x="10583" y="115358"/>
                    <a:pt x="12700" y="127000"/>
                  </a:cubicBezTo>
                  <a:cubicBezTo>
                    <a:pt x="14817" y="138642"/>
                    <a:pt x="14288" y="152400"/>
                    <a:pt x="15875" y="165100"/>
                  </a:cubicBezTo>
                  <a:cubicBezTo>
                    <a:pt x="17462" y="177800"/>
                    <a:pt x="19579" y="189442"/>
                    <a:pt x="22225" y="203200"/>
                  </a:cubicBezTo>
                  <a:cubicBezTo>
                    <a:pt x="24871" y="216958"/>
                    <a:pt x="28046" y="230717"/>
                    <a:pt x="31750" y="247650"/>
                  </a:cubicBezTo>
                  <a:cubicBezTo>
                    <a:pt x="35454" y="264583"/>
                    <a:pt x="40217" y="287867"/>
                    <a:pt x="44450" y="304800"/>
                  </a:cubicBezTo>
                  <a:cubicBezTo>
                    <a:pt x="48683" y="321733"/>
                    <a:pt x="51858" y="331788"/>
                    <a:pt x="57150" y="349250"/>
                  </a:cubicBezTo>
                  <a:cubicBezTo>
                    <a:pt x="62442" y="366712"/>
                    <a:pt x="69850" y="390525"/>
                    <a:pt x="76200" y="409575"/>
                  </a:cubicBezTo>
                  <a:cubicBezTo>
                    <a:pt x="82550" y="428625"/>
                    <a:pt x="87842" y="445558"/>
                    <a:pt x="95250" y="463550"/>
                  </a:cubicBezTo>
                  <a:cubicBezTo>
                    <a:pt x="102658" y="481542"/>
                    <a:pt x="111125" y="495829"/>
                    <a:pt x="120650" y="517525"/>
                  </a:cubicBezTo>
                  <a:cubicBezTo>
                    <a:pt x="130175" y="539221"/>
                    <a:pt x="140758" y="569912"/>
                    <a:pt x="152400" y="593725"/>
                  </a:cubicBezTo>
                  <a:cubicBezTo>
                    <a:pt x="164042" y="617538"/>
                    <a:pt x="175683" y="635529"/>
                    <a:pt x="190500" y="660400"/>
                  </a:cubicBezTo>
                  <a:cubicBezTo>
                    <a:pt x="205317" y="685271"/>
                    <a:pt x="228071" y="721783"/>
                    <a:pt x="241300" y="742950"/>
                  </a:cubicBezTo>
                  <a:cubicBezTo>
                    <a:pt x="254529" y="764117"/>
                    <a:pt x="258233" y="770996"/>
                    <a:pt x="269875" y="787400"/>
                  </a:cubicBezTo>
                  <a:cubicBezTo>
                    <a:pt x="281517" y="803804"/>
                    <a:pt x="296333" y="823383"/>
                    <a:pt x="311150" y="841375"/>
                  </a:cubicBezTo>
                  <a:cubicBezTo>
                    <a:pt x="325967" y="859367"/>
                    <a:pt x="343958" y="878946"/>
                    <a:pt x="358775" y="895350"/>
                  </a:cubicBezTo>
                  <a:cubicBezTo>
                    <a:pt x="373592" y="911754"/>
                    <a:pt x="385763" y="925513"/>
                    <a:pt x="400050" y="939800"/>
                  </a:cubicBezTo>
                  <a:cubicBezTo>
                    <a:pt x="414337" y="954087"/>
                    <a:pt x="428625" y="965729"/>
                    <a:pt x="444500" y="981075"/>
                  </a:cubicBezTo>
                  <a:cubicBezTo>
                    <a:pt x="460375" y="996421"/>
                    <a:pt x="479425" y="1017588"/>
                    <a:pt x="495300" y="1031875"/>
                  </a:cubicBezTo>
                  <a:cubicBezTo>
                    <a:pt x="511175" y="1046163"/>
                    <a:pt x="539750" y="1066800"/>
                    <a:pt x="539750" y="1066800"/>
                  </a:cubicBezTo>
                  <a:lnTo>
                    <a:pt x="587375" y="1104900"/>
                  </a:lnTo>
                  <a:cubicBezTo>
                    <a:pt x="602191" y="1116542"/>
                    <a:pt x="614892" y="1127125"/>
                    <a:pt x="628650" y="1136650"/>
                  </a:cubicBezTo>
                  <a:cubicBezTo>
                    <a:pt x="642408" y="1146175"/>
                    <a:pt x="656166" y="1154112"/>
                    <a:pt x="669925" y="1162050"/>
                  </a:cubicBezTo>
                </a:path>
              </a:pathLst>
            </a:custGeom>
            <a:noFill/>
            <a:ln w="38100">
              <a:solidFill>
                <a:srgbClr val="0074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8CFB8EA2-A26F-AFB6-1D75-3FC7784451A8}"/>
                </a:ext>
              </a:extLst>
            </p:cNvPr>
            <p:cNvSpPr/>
            <p:nvPr/>
          </p:nvSpPr>
          <p:spPr>
            <a:xfrm>
              <a:off x="9959975" y="4613275"/>
              <a:ext cx="314325" cy="549275"/>
            </a:xfrm>
            <a:custGeom>
              <a:avLst/>
              <a:gdLst>
                <a:gd name="connsiteX0" fmla="*/ 0 w 314325"/>
                <a:gd name="connsiteY0" fmla="*/ 0 h 549275"/>
                <a:gd name="connsiteX1" fmla="*/ 6350 w 314325"/>
                <a:gd name="connsiteY1" fmla="*/ 76200 h 549275"/>
                <a:gd name="connsiteX2" fmla="*/ 12700 w 314325"/>
                <a:gd name="connsiteY2" fmla="*/ 117475 h 549275"/>
                <a:gd name="connsiteX3" fmla="*/ 25400 w 314325"/>
                <a:gd name="connsiteY3" fmla="*/ 158750 h 549275"/>
                <a:gd name="connsiteX4" fmla="*/ 41275 w 314325"/>
                <a:gd name="connsiteY4" fmla="*/ 209550 h 549275"/>
                <a:gd name="connsiteX5" fmla="*/ 66675 w 314325"/>
                <a:gd name="connsiteY5" fmla="*/ 266700 h 549275"/>
                <a:gd name="connsiteX6" fmla="*/ 95250 w 314325"/>
                <a:gd name="connsiteY6" fmla="*/ 327025 h 549275"/>
                <a:gd name="connsiteX7" fmla="*/ 142875 w 314325"/>
                <a:gd name="connsiteY7" fmla="*/ 387350 h 549275"/>
                <a:gd name="connsiteX8" fmla="*/ 177800 w 314325"/>
                <a:gd name="connsiteY8" fmla="*/ 431800 h 549275"/>
                <a:gd name="connsiteX9" fmla="*/ 209550 w 314325"/>
                <a:gd name="connsiteY9" fmla="*/ 466725 h 549275"/>
                <a:gd name="connsiteX10" fmla="*/ 254000 w 314325"/>
                <a:gd name="connsiteY10" fmla="*/ 504825 h 549275"/>
                <a:gd name="connsiteX11" fmla="*/ 292100 w 314325"/>
                <a:gd name="connsiteY11" fmla="*/ 533400 h 549275"/>
                <a:gd name="connsiteX12" fmla="*/ 314325 w 314325"/>
                <a:gd name="connsiteY12" fmla="*/ 549275 h 54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325" h="549275">
                  <a:moveTo>
                    <a:pt x="0" y="0"/>
                  </a:moveTo>
                  <a:cubicBezTo>
                    <a:pt x="2116" y="28310"/>
                    <a:pt x="4233" y="56621"/>
                    <a:pt x="6350" y="76200"/>
                  </a:cubicBezTo>
                  <a:cubicBezTo>
                    <a:pt x="8467" y="95779"/>
                    <a:pt x="9525" y="103717"/>
                    <a:pt x="12700" y="117475"/>
                  </a:cubicBezTo>
                  <a:cubicBezTo>
                    <a:pt x="15875" y="131233"/>
                    <a:pt x="20637" y="143404"/>
                    <a:pt x="25400" y="158750"/>
                  </a:cubicBezTo>
                  <a:cubicBezTo>
                    <a:pt x="30163" y="174096"/>
                    <a:pt x="34396" y="191558"/>
                    <a:pt x="41275" y="209550"/>
                  </a:cubicBezTo>
                  <a:cubicBezTo>
                    <a:pt x="48154" y="227542"/>
                    <a:pt x="57679" y="247121"/>
                    <a:pt x="66675" y="266700"/>
                  </a:cubicBezTo>
                  <a:cubicBezTo>
                    <a:pt x="75671" y="286279"/>
                    <a:pt x="82550" y="306917"/>
                    <a:pt x="95250" y="327025"/>
                  </a:cubicBezTo>
                  <a:cubicBezTo>
                    <a:pt x="107950" y="347133"/>
                    <a:pt x="142875" y="387350"/>
                    <a:pt x="142875" y="387350"/>
                  </a:cubicBezTo>
                  <a:cubicBezTo>
                    <a:pt x="156633" y="404812"/>
                    <a:pt x="166688" y="418571"/>
                    <a:pt x="177800" y="431800"/>
                  </a:cubicBezTo>
                  <a:cubicBezTo>
                    <a:pt x="188912" y="445029"/>
                    <a:pt x="196850" y="454554"/>
                    <a:pt x="209550" y="466725"/>
                  </a:cubicBezTo>
                  <a:cubicBezTo>
                    <a:pt x="222250" y="478896"/>
                    <a:pt x="240242" y="493712"/>
                    <a:pt x="254000" y="504825"/>
                  </a:cubicBezTo>
                  <a:cubicBezTo>
                    <a:pt x="267758" y="515938"/>
                    <a:pt x="282046" y="525992"/>
                    <a:pt x="292100" y="533400"/>
                  </a:cubicBezTo>
                  <a:cubicBezTo>
                    <a:pt x="302154" y="540808"/>
                    <a:pt x="308239" y="545041"/>
                    <a:pt x="314325" y="549275"/>
                  </a:cubicBezTo>
                </a:path>
              </a:pathLst>
            </a:custGeom>
            <a:noFill/>
            <a:ln w="38100">
              <a:solidFill>
                <a:srgbClr val="3C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398AE0A-1D08-B49B-589C-7C89DC12D72B}"/>
                </a:ext>
              </a:extLst>
            </p:cNvPr>
            <p:cNvSpPr txBox="1"/>
            <p:nvPr/>
          </p:nvSpPr>
          <p:spPr>
            <a:xfrm>
              <a:off x="10087739" y="4623043"/>
              <a:ext cx="483280" cy="461665"/>
            </a:xfrm>
            <a:prstGeom prst="rect">
              <a:avLst/>
            </a:prstGeom>
            <a:noFill/>
          </p:spPr>
          <p:txBody>
            <a:bodyPr wrap="square">
              <a:spAutoFit/>
            </a:bodyPr>
            <a:lstStyle/>
            <a:p>
              <a:pPr algn="just"/>
              <a:r>
                <a:rPr lang="en-US" sz="2400" i="1" dirty="0">
                  <a:solidFill>
                    <a:srgbClr val="FFC000"/>
                  </a:solidFill>
                  <a:latin typeface="Symbol" pitchFamily="2" charset="2"/>
                </a:rPr>
                <a:t>q</a:t>
              </a:r>
              <a:endParaRPr lang="en-US" sz="2400" b="1" dirty="0">
                <a:solidFill>
                  <a:srgbClr val="FFC000"/>
                </a:solidFill>
                <a:latin typeface="Times" pitchFamily="2" charset="0"/>
              </a:endParaRPr>
            </a:p>
          </p:txBody>
        </p:sp>
        <p:sp>
          <p:nvSpPr>
            <p:cNvPr id="22" name="TextBox 21">
              <a:extLst>
                <a:ext uri="{FF2B5EF4-FFF2-40B4-BE49-F238E27FC236}">
                  <a16:creationId xmlns:a16="http://schemas.microsoft.com/office/drawing/2014/main" id="{AB632BD2-2BBC-4FA5-411C-CD546F67F723}"/>
                </a:ext>
              </a:extLst>
            </p:cNvPr>
            <p:cNvSpPr txBox="1"/>
            <p:nvPr/>
          </p:nvSpPr>
          <p:spPr>
            <a:xfrm>
              <a:off x="9655939" y="4626218"/>
              <a:ext cx="483280" cy="400110"/>
            </a:xfrm>
            <a:prstGeom prst="rect">
              <a:avLst/>
            </a:prstGeom>
            <a:noFill/>
          </p:spPr>
          <p:txBody>
            <a:bodyPr wrap="square">
              <a:spAutoFit/>
            </a:bodyPr>
            <a:lstStyle/>
            <a:p>
              <a:pPr algn="just"/>
              <a:r>
                <a:rPr lang="en-US" sz="2000" i="1" dirty="0" err="1">
                  <a:solidFill>
                    <a:srgbClr val="3C32FF"/>
                  </a:solidFill>
                  <a:latin typeface="Times" pitchFamily="2" charset="0"/>
                </a:rPr>
                <a:t>s</a:t>
              </a:r>
              <a:r>
                <a:rPr lang="en-US" sz="2000" baseline="-25000" dirty="0" err="1">
                  <a:solidFill>
                    <a:srgbClr val="3C32FF"/>
                  </a:solidFill>
                  <a:latin typeface="Times" pitchFamily="2" charset="0"/>
                </a:rPr>
                <a:t>A</a:t>
              </a:r>
              <a:endParaRPr lang="en-US" sz="2000" b="1" dirty="0">
                <a:solidFill>
                  <a:srgbClr val="3C32FF"/>
                </a:solidFill>
                <a:latin typeface="Times" pitchFamily="2" charset="0"/>
              </a:endParaRPr>
            </a:p>
          </p:txBody>
        </p:sp>
        <p:sp>
          <p:nvSpPr>
            <p:cNvPr id="23" name="TextBox 22">
              <a:extLst>
                <a:ext uri="{FF2B5EF4-FFF2-40B4-BE49-F238E27FC236}">
                  <a16:creationId xmlns:a16="http://schemas.microsoft.com/office/drawing/2014/main" id="{D86E354B-2906-4F63-1D55-CFF20A01889D}"/>
                </a:ext>
              </a:extLst>
            </p:cNvPr>
            <p:cNvSpPr txBox="1"/>
            <p:nvPr/>
          </p:nvSpPr>
          <p:spPr>
            <a:xfrm>
              <a:off x="8972396" y="4847549"/>
              <a:ext cx="483280" cy="400110"/>
            </a:xfrm>
            <a:prstGeom prst="rect">
              <a:avLst/>
            </a:prstGeom>
            <a:noFill/>
          </p:spPr>
          <p:txBody>
            <a:bodyPr wrap="square">
              <a:spAutoFit/>
            </a:bodyPr>
            <a:lstStyle/>
            <a:p>
              <a:pPr algn="just"/>
              <a:r>
                <a:rPr lang="en-US" sz="2000" i="1" dirty="0" err="1">
                  <a:solidFill>
                    <a:srgbClr val="007440"/>
                  </a:solidFill>
                  <a:latin typeface="Times" pitchFamily="2" charset="0"/>
                </a:rPr>
                <a:t>s</a:t>
              </a:r>
              <a:r>
                <a:rPr lang="en-US" sz="2000" baseline="-25000" dirty="0" err="1">
                  <a:solidFill>
                    <a:srgbClr val="007440"/>
                  </a:solidFill>
                  <a:latin typeface="Times" pitchFamily="2" charset="0"/>
                </a:rPr>
                <a:t>B</a:t>
              </a:r>
              <a:endParaRPr lang="en-US" sz="2000" b="1" dirty="0">
                <a:solidFill>
                  <a:srgbClr val="007440"/>
                </a:solidFill>
                <a:latin typeface="Times" pitchFamily="2" charset="0"/>
              </a:endParaRPr>
            </a:p>
          </p:txBody>
        </p:sp>
      </p:grpSp>
    </p:spTree>
    <p:extLst>
      <p:ext uri="{BB962C8B-B14F-4D97-AF65-F5344CB8AC3E}">
        <p14:creationId xmlns:p14="http://schemas.microsoft.com/office/powerpoint/2010/main" val="309132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36D02-856C-7281-EC5D-8D12F7648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7AD19-095F-4449-01EC-15BB48139615}"/>
              </a:ext>
            </a:extLst>
          </p:cNvPr>
          <p:cNvSpPr>
            <a:spLocks noGrp="1"/>
          </p:cNvSpPr>
          <p:nvPr>
            <p:ph type="title"/>
          </p:nvPr>
        </p:nvSpPr>
        <p:spPr>
          <a:xfrm>
            <a:off x="672552" y="107574"/>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8.1</a:t>
            </a:r>
            <a:r>
              <a:rPr lang="en-US" dirty="0">
                <a:latin typeface="Times New Roman" panose="02020603050405020304" pitchFamily="18" charset="0"/>
                <a:ea typeface="Calibri" charset="0"/>
                <a:cs typeface="Times New Roman" panose="02020603050405020304" pitchFamily="18" charset="0"/>
              </a:rPr>
              <a:t> Rotational Motion and Angular Displacement (6 of 9)</a:t>
            </a:r>
            <a:endParaRPr lang="en-US" sz="3000" dirty="0">
              <a:latin typeface="Times New Roman" panose="02020603050405020304" pitchFamily="18" charset="0"/>
              <a:cs typeface="Times New Roman" panose="02020603050405020304" pitchFamily="18" charset="0"/>
            </a:endParaRPr>
          </a:p>
        </p:txBody>
      </p:sp>
      <p:pic>
        <p:nvPicPr>
          <p:cNvPr id="4" name="Content Placeholder 1" descr="space station prob">
            <a:extLst>
              <a:ext uri="{FF2B5EF4-FFF2-40B4-BE49-F238E27FC236}">
                <a16:creationId xmlns:a16="http://schemas.microsoft.com/office/drawing/2014/main" id="{FBAC9849-63AF-8686-9060-3CFD5C15C5AF}"/>
              </a:ext>
            </a:extLst>
          </p:cNvPr>
          <p:cNvPicPr>
            <a:picLocks noGrp="1" noChangeAspect="1" noChangeArrowheads="1"/>
          </p:cNvPicPr>
          <p:nvPr>
            <p:ph type="pic" idx="1"/>
          </p:nvPr>
        </p:nvPicPr>
        <p:blipFill rotWithShape="1">
          <a:blip r:embed="rId3">
            <a:extLst>
              <a:ext uri="{BEBA8EAE-BF5A-486C-A8C5-ECC9F3942E4B}">
                <a14:imgProps xmlns:a14="http://schemas.microsoft.com/office/drawing/2010/main">
                  <a14:imgLayer r:embed="rId4">
                    <a14:imgEffect>
                      <a14:backgroundRemoval t="1953" b="68480" l="1311" r="99251">
                        <a14:foregroundMark x1="40637" y1="37378" x2="38577" y2="31102"/>
                        <a14:foregroundMark x1="44195" y1="27894" x2="67790" y2="26778"/>
                        <a14:foregroundMark x1="67790" y1="26778" x2="35955" y2="12552"/>
                        <a14:foregroundMark x1="35955" y1="12552" x2="70599" y2="17713"/>
                        <a14:foregroundMark x1="70599" y1="17713" x2="82959" y2="26081"/>
                        <a14:foregroundMark x1="81273" y1="40446" x2="82397" y2="26918"/>
                        <a14:foregroundMark x1="82397" y1="26918" x2="92135" y2="37657"/>
                        <a14:foregroundMark x1="92135" y1="37657" x2="95318" y2="33194"/>
                        <a14:foregroundMark x1="20974" y1="37796" x2="23596" y2="30544"/>
                        <a14:foregroundMark x1="8427" y1="48396" x2="6742" y2="25523"/>
                        <a14:foregroundMark x1="5056" y1="25523" x2="1685" y2="41144"/>
                        <a14:foregroundMark x1="1685" y1="41144" x2="5431" y2="47559"/>
                        <a14:foregroundMark x1="4307" y1="20502" x2="25655" y2="13389"/>
                        <a14:foregroundMark x1="25655" y1="13389" x2="3184" y2="17294"/>
                        <a14:foregroundMark x1="3184" y1="17294" x2="20787" y2="17155"/>
                        <a14:foregroundMark x1="20787" y1="17155" x2="20787" y2="17155"/>
                        <a14:foregroundMark x1="14794" y1="15900" x2="47566" y2="12831"/>
                        <a14:foregroundMark x1="29588" y1="12971" x2="81835" y2="19944"/>
                        <a14:foregroundMark x1="81835" y1="19944" x2="93446" y2="31939"/>
                        <a14:foregroundMark x1="93446" y1="31939" x2="93820" y2="33612"/>
                        <a14:foregroundMark x1="14045" y1="2510" x2="32772" y2="5021"/>
                        <a14:foregroundMark x1="32772" y1="5021" x2="52247" y2="5021"/>
                        <a14:foregroundMark x1="52247" y1="5021" x2="28464" y2="1953"/>
                        <a14:foregroundMark x1="28464" y1="1953" x2="23034" y2="2929"/>
                        <a14:foregroundMark x1="53558" y1="3626" x2="62547" y2="2650"/>
                        <a14:foregroundMark x1="63296" y1="4742" x2="65169" y2="6416"/>
                        <a14:foregroundMark x1="61610" y1="5579" x2="61985" y2="10042"/>
                        <a14:foregroundMark x1="62360" y1="13808" x2="86704" y2="22455"/>
                        <a14:foregroundMark x1="86704" y1="22455" x2="97004" y2="35007"/>
                        <a14:foregroundMark x1="97004" y1="35007" x2="99251" y2="45467"/>
                        <a14:foregroundMark x1="64981" y1="65411" x2="43258" y2="61646"/>
                        <a14:foregroundMark x1="43258" y1="61646" x2="25655" y2="64156"/>
                        <a14:foregroundMark x1="25655" y1="64156" x2="54682" y2="68480"/>
                        <a14:foregroundMark x1="54682" y1="68480" x2="47191" y2="61367"/>
                        <a14:foregroundMark x1="62734" y1="66806" x2="12547" y2="64854"/>
                        <a14:foregroundMark x1="57116" y1="62204" x2="57116" y2="63738"/>
                        <a14:foregroundMark x1="42322" y1="66527" x2="10674" y2="65830"/>
                        <a14:backgroundMark x1="70037" y1="2232" x2="91386" y2="16179"/>
                        <a14:backgroundMark x1="91386" y1="16179" x2="96816" y2="16736"/>
                      </a14:backgroundRemoval>
                    </a14:imgEffect>
                  </a14:imgLayer>
                </a14:imgProps>
              </a:ext>
              <a:ext uri="{28A0092B-C50C-407E-A947-70E740481C1C}">
                <a14:useLocalDpi xmlns:a14="http://schemas.microsoft.com/office/drawing/2010/main" val="0"/>
              </a:ext>
            </a:extLst>
          </a:blip>
          <a:srcRect b="26798"/>
          <a:stretch/>
        </p:blipFill>
        <p:spPr bwMode="auto">
          <a:xfrm>
            <a:off x="200430" y="811803"/>
            <a:ext cx="2836106" cy="264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Content Placeholder 8">
            <a:extLst>
              <a:ext uri="{FF2B5EF4-FFF2-40B4-BE49-F238E27FC236}">
                <a16:creationId xmlns:a16="http://schemas.microsoft.com/office/drawing/2014/main" id="{BEFF910E-0C58-1EF0-6CDD-DBBC9A3CECCE}"/>
              </a:ext>
            </a:extLst>
          </p:cNvPr>
          <p:cNvPicPr>
            <a:picLocks noGrp="1" noChangeAspect="1"/>
          </p:cNvPicPr>
          <p:nvPr>
            <p:ph type="pic" idx="8"/>
          </p:nvPr>
        </p:nvPicPr>
        <p:blipFill>
          <a:blip r:embed="rId5"/>
          <a:stretch>
            <a:fillRect/>
          </a:stretch>
        </p:blipFill>
        <p:spPr>
          <a:xfrm>
            <a:off x="82313" y="3419830"/>
            <a:ext cx="2993395" cy="2798307"/>
          </a:xfrm>
          <a:prstGeom prst="rect">
            <a:avLst/>
          </a:prstGeom>
        </p:spPr>
      </p:pic>
      <p:sp>
        <p:nvSpPr>
          <p:cNvPr id="3" name="Content Placeholder 2">
            <a:extLst>
              <a:ext uri="{FF2B5EF4-FFF2-40B4-BE49-F238E27FC236}">
                <a16:creationId xmlns:a16="http://schemas.microsoft.com/office/drawing/2014/main" id="{025E1A1E-E882-3765-B946-1C972C4C15D8}"/>
              </a:ext>
            </a:extLst>
          </p:cNvPr>
          <p:cNvSpPr txBox="1">
            <a:spLocks noGrp="1"/>
          </p:cNvSpPr>
          <p:nvPr>
            <p:ph type="body" idx="2"/>
          </p:nvPr>
        </p:nvSpPr>
        <p:spPr>
          <a:xfrm>
            <a:off x="2060452" y="622014"/>
            <a:ext cx="5945030"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Rotating Space Station</a:t>
            </a:r>
          </a:p>
        </p:txBody>
      </p:sp>
      <p:sp>
        <p:nvSpPr>
          <p:cNvPr id="8" name="Content Placeholder 3">
            <a:extLst>
              <a:ext uri="{FF2B5EF4-FFF2-40B4-BE49-F238E27FC236}">
                <a16:creationId xmlns:a16="http://schemas.microsoft.com/office/drawing/2014/main" id="{7EC7FCFF-2475-EDF3-2D1D-798E3BD42E1A}"/>
              </a:ext>
            </a:extLst>
          </p:cNvPr>
          <p:cNvSpPr txBox="1">
            <a:spLocks noGrp="1"/>
          </p:cNvSpPr>
          <p:nvPr>
            <p:ph type="body" idx="3"/>
          </p:nvPr>
        </p:nvSpPr>
        <p:spPr>
          <a:xfrm>
            <a:off x="3040664" y="1139849"/>
            <a:ext cx="8948136"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Here, we can apply Equation 8.1:</a:t>
            </a:r>
            <a:endParaRPr lang="en-US" sz="2400" b="1" dirty="0">
              <a:latin typeface="Times New Roman" panose="02020603050405020304" pitchFamily="18" charset="0"/>
              <a:cs typeface="Times New Roman" panose="02020603050405020304" pitchFamily="18" charset="0"/>
            </a:endParaRPr>
          </a:p>
        </p:txBody>
      </p:sp>
      <p:sp>
        <p:nvSpPr>
          <p:cNvPr id="48" name="Rounded Rectangle 47">
            <a:extLst>
              <a:ext uri="{FF2B5EF4-FFF2-40B4-BE49-F238E27FC236}">
                <a16:creationId xmlns:a16="http://schemas.microsoft.com/office/drawing/2014/main" id="{31E01E7C-85C0-28D2-ECCB-A8D0EF4B9795}"/>
              </a:ext>
              <a:ext uri="{C183D7F6-B498-43B3-948B-1728B52AA6E4}">
                <adec:decorative xmlns:adec="http://schemas.microsoft.com/office/drawing/2017/decorative" val="1"/>
              </a:ext>
            </a:extLst>
          </p:cNvPr>
          <p:cNvSpPr/>
          <p:nvPr/>
        </p:nvSpPr>
        <p:spPr>
          <a:xfrm>
            <a:off x="7636934" y="852170"/>
            <a:ext cx="1422399" cy="829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ontent Placeholder 4">
            <a:extLst>
              <a:ext uri="{FF2B5EF4-FFF2-40B4-BE49-F238E27FC236}">
                <a16:creationId xmlns:a16="http://schemas.microsoft.com/office/drawing/2014/main" id="{952FAD76-4755-80C9-3BAC-BF65B6512C73}"/>
              </a:ext>
            </a:extLst>
          </p:cNvPr>
          <p:cNvSpPr txBox="1">
            <a:spLocks noGrp="1"/>
          </p:cNvSpPr>
          <p:nvPr>
            <p:ph type="body" idx="4"/>
          </p:nvPr>
        </p:nvSpPr>
        <p:spPr>
          <a:xfrm>
            <a:off x="7669805" y="811803"/>
            <a:ext cx="1386354"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latin typeface="Times New Roman" panose="02020603050405020304" pitchFamily="18" charset="0"/>
                <a:cs typeface="Times New Roman" panose="02020603050405020304" pitchFamily="18" charset="0"/>
              </a:rPr>
              <a:t>s</a:t>
            </a:r>
            <a:r>
              <a:rPr lang="en-US" sz="2400" baseline="-25000" dirty="0" err="1">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 </a:t>
            </a:r>
            <a:r>
              <a:rPr lang="en-US" sz="2400" i="1" dirty="0" err="1">
                <a:latin typeface="Times New Roman" panose="02020603050405020304" pitchFamily="18" charset="0"/>
                <a:cs typeface="Times New Roman" panose="02020603050405020304" pitchFamily="18" charset="0"/>
              </a:rPr>
              <a:t>r</a:t>
            </a:r>
            <a:r>
              <a:rPr lang="en-US" sz="2400" baseline="-25000" dirty="0" err="1">
                <a:latin typeface="Times New Roman" panose="02020603050405020304" pitchFamily="18" charset="0"/>
                <a:cs typeface="Times New Roman" panose="02020603050405020304" pitchFamily="18" charset="0"/>
              </a:rPr>
              <a:t>A</a:t>
            </a:r>
            <a:r>
              <a:rPr lang="el-GR" sz="2400" i="1" dirty="0">
                <a:latin typeface="Times New Roman" panose="02020603050405020304" pitchFamily="18" charset="0"/>
                <a:cs typeface="Times New Roman" panose="02020603050405020304" pitchFamily="18" charset="0"/>
              </a:rPr>
              <a:t>θ</a:t>
            </a:r>
            <a:endParaRPr lang="en-US" sz="2400" i="1" dirty="0">
              <a:latin typeface="Times New Roman" panose="02020603050405020304" pitchFamily="18" charset="0"/>
              <a:cs typeface="Times New Roman" panose="02020603050405020304" pitchFamily="18" charset="0"/>
            </a:endParaRPr>
          </a:p>
        </p:txBody>
      </p:sp>
      <p:sp>
        <p:nvSpPr>
          <p:cNvPr id="50" name="Content Placeholder 5">
            <a:extLst>
              <a:ext uri="{FF2B5EF4-FFF2-40B4-BE49-F238E27FC236}">
                <a16:creationId xmlns:a16="http://schemas.microsoft.com/office/drawing/2014/main" id="{F7669B80-1165-13EC-7B39-ABE9A69FE8E9}"/>
              </a:ext>
            </a:extLst>
          </p:cNvPr>
          <p:cNvSpPr txBox="1">
            <a:spLocks noGrp="1"/>
          </p:cNvSpPr>
          <p:nvPr>
            <p:ph type="body" idx="5"/>
          </p:nvPr>
        </p:nvSpPr>
        <p:spPr>
          <a:xfrm>
            <a:off x="7663454" y="1170578"/>
            <a:ext cx="1386354"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latin typeface="Times New Roman" panose="02020603050405020304" pitchFamily="18" charset="0"/>
                <a:cs typeface="Times New Roman" panose="02020603050405020304" pitchFamily="18" charset="0"/>
              </a:rPr>
              <a:t>s</a:t>
            </a:r>
            <a:r>
              <a:rPr lang="en-US" sz="2400" baseline="-25000" dirty="0" err="1">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 </a:t>
            </a:r>
            <a:r>
              <a:rPr lang="en-US" sz="2400" i="1" dirty="0" err="1">
                <a:latin typeface="Times New Roman" panose="02020603050405020304" pitchFamily="18" charset="0"/>
                <a:cs typeface="Times New Roman" panose="02020603050405020304" pitchFamily="18" charset="0"/>
              </a:rPr>
              <a:t>r</a:t>
            </a:r>
            <a:r>
              <a:rPr lang="en-US" sz="2400" baseline="-25000" dirty="0" err="1">
                <a:latin typeface="Times New Roman" panose="02020603050405020304" pitchFamily="18" charset="0"/>
                <a:cs typeface="Times New Roman" panose="02020603050405020304" pitchFamily="18" charset="0"/>
              </a:rPr>
              <a:t>B</a:t>
            </a:r>
            <a:r>
              <a:rPr lang="el-GR" sz="2400" i="1" dirty="0">
                <a:latin typeface="Times New Roman" panose="02020603050405020304" pitchFamily="18" charset="0"/>
                <a:cs typeface="Times New Roman" panose="02020603050405020304" pitchFamily="18" charset="0"/>
              </a:rPr>
              <a:t>θ</a:t>
            </a:r>
            <a:endParaRPr lang="en-US" sz="2400" i="1" dirty="0">
              <a:latin typeface="Times New Roman" panose="02020603050405020304" pitchFamily="18" charset="0"/>
              <a:cs typeface="Times New Roman" panose="02020603050405020304" pitchFamily="18" charset="0"/>
            </a:endParaRPr>
          </a:p>
        </p:txBody>
      </p:sp>
      <p:sp>
        <p:nvSpPr>
          <p:cNvPr id="51" name="Content Placeholder 6">
            <a:extLst>
              <a:ext uri="{FF2B5EF4-FFF2-40B4-BE49-F238E27FC236}">
                <a16:creationId xmlns:a16="http://schemas.microsoft.com/office/drawing/2014/main" id="{E9739C50-5174-A1B9-6E78-10B08B30D436}"/>
              </a:ext>
            </a:extLst>
          </p:cNvPr>
          <p:cNvSpPr txBox="1">
            <a:spLocks noGrp="1"/>
          </p:cNvSpPr>
          <p:nvPr>
            <p:ph type="body" idx="6"/>
          </p:nvPr>
        </p:nvSpPr>
        <p:spPr>
          <a:xfrm>
            <a:off x="3043434" y="1757759"/>
            <a:ext cx="894813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stress again that the </a:t>
            </a:r>
            <a:r>
              <a:rPr lang="en-US" sz="2400" u="sng" dirty="0">
                <a:latin typeface="Times New Roman" panose="02020603050405020304" pitchFamily="18" charset="0"/>
                <a:cs typeface="Times New Roman" panose="02020603050405020304" pitchFamily="18" charset="0"/>
              </a:rPr>
              <a:t>angular displacement (</a:t>
            </a:r>
            <a:r>
              <a:rPr lang="el-GR" sz="2400" i="1" u="sng" dirty="0">
                <a:latin typeface="Times New Roman" panose="02020603050405020304" pitchFamily="18" charset="0"/>
                <a:cs typeface="Times New Roman" panose="02020603050405020304" pitchFamily="18" charset="0"/>
              </a:rPr>
              <a:t>θ</a:t>
            </a:r>
            <a:r>
              <a:rPr lang="en-US" sz="2400"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 each astronaut is the same. Thus, from above: </a:t>
            </a:r>
            <a:endParaRPr lang="en-US" sz="2400" b="1" dirty="0">
              <a:latin typeface="Times New Roman" panose="02020603050405020304" pitchFamily="18" charset="0"/>
              <a:cs typeface="Times New Roman" panose="02020603050405020304" pitchFamily="18" charset="0"/>
            </a:endParaRPr>
          </a:p>
        </p:txBody>
      </p:sp>
      <p:sp>
        <p:nvSpPr>
          <p:cNvPr id="56" name="Rounded Rectangle 55">
            <a:extLst>
              <a:ext uri="{FF2B5EF4-FFF2-40B4-BE49-F238E27FC236}">
                <a16:creationId xmlns:a16="http://schemas.microsoft.com/office/drawing/2014/main" id="{63B947F2-328E-47AB-8A4C-FF6CE98B1129}"/>
              </a:ext>
              <a:ext uri="{C183D7F6-B498-43B3-948B-1728B52AA6E4}">
                <adec:decorative xmlns:adec="http://schemas.microsoft.com/office/drawing/2017/decorative" val="1"/>
              </a:ext>
            </a:extLst>
          </p:cNvPr>
          <p:cNvSpPr/>
          <p:nvPr/>
        </p:nvSpPr>
        <p:spPr>
          <a:xfrm>
            <a:off x="68663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Object 8">
            <a:extLst>
              <a:ext uri="{FF2B5EF4-FFF2-40B4-BE49-F238E27FC236}">
                <a16:creationId xmlns:a16="http://schemas.microsoft.com/office/drawing/2014/main" id="{DA9E02AF-2692-079F-40DE-7475688E9CAD}"/>
              </a:ext>
            </a:extLst>
          </p:cNvPr>
          <p:cNvGraphicFramePr>
            <a:graphicFrameLocks noChangeAspect="1"/>
          </p:cNvGraphicFramePr>
          <p:nvPr>
            <p:extLst>
              <p:ext uri="{D42A27DB-BD31-4B8C-83A1-F6EECF244321}">
                <p14:modId xmlns:p14="http://schemas.microsoft.com/office/powerpoint/2010/main" val="2875035783"/>
              </p:ext>
            </p:extLst>
          </p:nvPr>
        </p:nvGraphicFramePr>
        <p:xfrm>
          <a:off x="7070725" y="2290763"/>
          <a:ext cx="900113" cy="747712"/>
        </p:xfrm>
        <a:graphic>
          <a:graphicData uri="http://schemas.openxmlformats.org/presentationml/2006/ole">
            <mc:AlternateContent xmlns:mc="http://schemas.openxmlformats.org/markup-compatibility/2006">
              <mc:Choice xmlns:v="urn:schemas-microsoft-com:vml" Requires="v">
                <p:oleObj name="Equation" r:id="rId6" imgW="520560" imgH="431640" progId="Equation.DSMT4">
                  <p:embed/>
                </p:oleObj>
              </mc:Choice>
              <mc:Fallback>
                <p:oleObj name="Equation" r:id="rId6" imgW="520560" imgH="431640" progId="Equation.DSMT4">
                  <p:embed/>
                  <p:pic>
                    <p:nvPicPr>
                      <p:cNvPr id="0" name=""/>
                      <p:cNvPicPr/>
                      <p:nvPr/>
                    </p:nvPicPr>
                    <p:blipFill>
                      <a:blip r:embed="rId7"/>
                      <a:stretch>
                        <a:fillRect/>
                      </a:stretch>
                    </p:blipFill>
                    <p:spPr>
                      <a:xfrm>
                        <a:off x="7070725" y="2290763"/>
                        <a:ext cx="900113" cy="747712"/>
                      </a:xfrm>
                      <a:prstGeom prst="rect">
                        <a:avLst/>
                      </a:prstGeom>
                    </p:spPr>
                  </p:pic>
                </p:oleObj>
              </mc:Fallback>
            </mc:AlternateContent>
          </a:graphicData>
        </a:graphic>
      </p:graphicFrame>
      <p:sp>
        <p:nvSpPr>
          <p:cNvPr id="57" name="Content Placeholder 7">
            <a:extLst>
              <a:ext uri="{FF2B5EF4-FFF2-40B4-BE49-F238E27FC236}">
                <a16:creationId xmlns:a16="http://schemas.microsoft.com/office/drawing/2014/main" id="{B438BDDF-A70E-35E9-734C-8850A465B8B8}"/>
              </a:ext>
            </a:extLst>
          </p:cNvPr>
          <p:cNvSpPr txBox="1">
            <a:spLocks noGrp="1"/>
          </p:cNvSpPr>
          <p:nvPr>
            <p:ph type="body" idx="7"/>
          </p:nvPr>
        </p:nvSpPr>
        <p:spPr>
          <a:xfrm>
            <a:off x="8164998" y="2408923"/>
            <a:ext cx="929125"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itchFamily="2" charset="0"/>
              </a:rPr>
              <a:t>and</a:t>
            </a:r>
            <a:endParaRPr lang="en-US" sz="2400" b="1" dirty="0">
              <a:latin typeface="Times New Roman" pitchFamily="2" charset="0"/>
            </a:endParaRPr>
          </a:p>
        </p:txBody>
      </p:sp>
      <p:sp>
        <p:nvSpPr>
          <p:cNvPr id="58" name="Rounded Rectangle 57">
            <a:extLst>
              <a:ext uri="{FF2B5EF4-FFF2-40B4-BE49-F238E27FC236}">
                <a16:creationId xmlns:a16="http://schemas.microsoft.com/office/drawing/2014/main" id="{6D41FA8A-9D3B-0FDC-BA3D-106B83863C93}"/>
              </a:ext>
              <a:ext uri="{C183D7F6-B498-43B3-948B-1728B52AA6E4}">
                <adec:decorative xmlns:adec="http://schemas.microsoft.com/office/drawing/2017/decorative" val="1"/>
              </a:ext>
            </a:extLst>
          </p:cNvPr>
          <p:cNvSpPr/>
          <p:nvPr/>
        </p:nvSpPr>
        <p:spPr>
          <a:xfrm>
            <a:off x="88475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a:extLst>
              <a:ext uri="{FF2B5EF4-FFF2-40B4-BE49-F238E27FC236}">
                <a16:creationId xmlns:a16="http://schemas.microsoft.com/office/drawing/2014/main" id="{BD211D65-9C5E-371F-3BEE-BA839591A9DD}"/>
              </a:ext>
            </a:extLst>
          </p:cNvPr>
          <p:cNvGraphicFramePr>
            <a:graphicFrameLocks noChangeAspect="1"/>
          </p:cNvGraphicFramePr>
          <p:nvPr>
            <p:extLst>
              <p:ext uri="{D42A27DB-BD31-4B8C-83A1-F6EECF244321}">
                <p14:modId xmlns:p14="http://schemas.microsoft.com/office/powerpoint/2010/main" val="2304827916"/>
              </p:ext>
            </p:extLst>
          </p:nvPr>
        </p:nvGraphicFramePr>
        <p:xfrm>
          <a:off x="9056688" y="2290763"/>
          <a:ext cx="873125" cy="725487"/>
        </p:xfrm>
        <a:graphic>
          <a:graphicData uri="http://schemas.openxmlformats.org/presentationml/2006/ole">
            <mc:AlternateContent xmlns:mc="http://schemas.openxmlformats.org/markup-compatibility/2006">
              <mc:Choice xmlns:v="urn:schemas-microsoft-com:vml" Requires="v">
                <p:oleObj name="Equation" r:id="rId8" imgW="520560" imgH="431640" progId="Equation.DSMT4">
                  <p:embed/>
                </p:oleObj>
              </mc:Choice>
              <mc:Fallback>
                <p:oleObj name="Equation" r:id="rId8" imgW="520560" imgH="431640" progId="Equation.DSMT4">
                  <p:embed/>
                  <p:pic>
                    <p:nvPicPr>
                      <p:cNvPr id="0" name=""/>
                      <p:cNvPicPr/>
                      <p:nvPr/>
                    </p:nvPicPr>
                    <p:blipFill>
                      <a:blip r:embed="rId9"/>
                      <a:stretch>
                        <a:fillRect/>
                      </a:stretch>
                    </p:blipFill>
                    <p:spPr>
                      <a:xfrm>
                        <a:off x="9056688" y="2290763"/>
                        <a:ext cx="873125" cy="725487"/>
                      </a:xfrm>
                      <a:prstGeom prst="rect">
                        <a:avLst/>
                      </a:prstGeom>
                    </p:spPr>
                  </p:pic>
                </p:oleObj>
              </mc:Fallback>
            </mc:AlternateContent>
          </a:graphicData>
        </a:graphic>
      </p:graphicFrame>
      <p:sp>
        <p:nvSpPr>
          <p:cNvPr id="60" name="Content Placeholder 9">
            <a:extLst>
              <a:ext uri="{FF2B5EF4-FFF2-40B4-BE49-F238E27FC236}">
                <a16:creationId xmlns:a16="http://schemas.microsoft.com/office/drawing/2014/main" id="{6982EF24-17E7-DFCF-34A2-D8C867003C98}"/>
              </a:ext>
            </a:extLst>
          </p:cNvPr>
          <p:cNvSpPr txBox="1">
            <a:spLocks noGrp="1"/>
          </p:cNvSpPr>
          <p:nvPr>
            <p:ph type="body" idx="9"/>
          </p:nvPr>
        </p:nvSpPr>
        <p:spPr>
          <a:xfrm>
            <a:off x="3043434" y="3323323"/>
            <a:ext cx="8145497"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can now set these two equal to each other and solve for </a:t>
            </a:r>
            <a:r>
              <a:rPr lang="en-US" sz="2400" i="1" dirty="0" err="1">
                <a:solidFill>
                  <a:srgbClr val="007440"/>
                </a:solidFill>
                <a:latin typeface="Times New Roman" panose="02020603050405020304" pitchFamily="18" charset="0"/>
                <a:cs typeface="Times New Roman" panose="02020603050405020304" pitchFamily="18" charset="0"/>
              </a:rPr>
              <a:t>s</a:t>
            </a:r>
            <a:r>
              <a:rPr lang="en-US" sz="2400" baseline="-25000" dirty="0" err="1">
                <a:solidFill>
                  <a:srgbClr val="007440"/>
                </a:solidFill>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sp>
        <p:nvSpPr>
          <p:cNvPr id="64" name="Rounded Rectangle 63">
            <a:extLst>
              <a:ext uri="{FF2B5EF4-FFF2-40B4-BE49-F238E27FC236}">
                <a16:creationId xmlns:a16="http://schemas.microsoft.com/office/drawing/2014/main" id="{438097D9-C6C3-50A2-B2BA-1D3B522D4619}"/>
              </a:ext>
              <a:ext uri="{C183D7F6-B498-43B3-948B-1728B52AA6E4}">
                <adec:decorative xmlns:adec="http://schemas.microsoft.com/office/drawing/2017/decorative" val="1"/>
              </a:ext>
            </a:extLst>
          </p:cNvPr>
          <p:cNvSpPr/>
          <p:nvPr/>
        </p:nvSpPr>
        <p:spPr>
          <a:xfrm>
            <a:off x="3175463" y="3923608"/>
            <a:ext cx="8562108" cy="10972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Object 13">
            <a:extLst>
              <a:ext uri="{FF2B5EF4-FFF2-40B4-BE49-F238E27FC236}">
                <a16:creationId xmlns:a16="http://schemas.microsoft.com/office/drawing/2014/main" id="{96EAA685-2E5C-16B9-E5BC-E071E4C167FC}"/>
              </a:ext>
            </a:extLst>
          </p:cNvPr>
          <p:cNvGraphicFramePr>
            <a:graphicFrameLocks noChangeAspect="1"/>
          </p:cNvGraphicFramePr>
          <p:nvPr>
            <p:extLst>
              <p:ext uri="{D42A27DB-BD31-4B8C-83A1-F6EECF244321}">
                <p14:modId xmlns:p14="http://schemas.microsoft.com/office/powerpoint/2010/main" val="862730148"/>
              </p:ext>
            </p:extLst>
          </p:nvPr>
        </p:nvGraphicFramePr>
        <p:xfrm>
          <a:off x="3304118" y="4065588"/>
          <a:ext cx="1138238" cy="823912"/>
        </p:xfrm>
        <a:graphic>
          <a:graphicData uri="http://schemas.openxmlformats.org/presentationml/2006/ole">
            <mc:AlternateContent xmlns:mc="http://schemas.openxmlformats.org/markup-compatibility/2006">
              <mc:Choice xmlns:v="urn:schemas-microsoft-com:vml" Requires="v">
                <p:oleObj name="Equation" r:id="rId10" imgW="596880" imgH="431640" progId="Equation.DSMT4">
                  <p:embed/>
                </p:oleObj>
              </mc:Choice>
              <mc:Fallback>
                <p:oleObj name="Equation" r:id="rId10" imgW="596880" imgH="431640" progId="Equation.DSMT4">
                  <p:embed/>
                  <p:pic>
                    <p:nvPicPr>
                      <p:cNvPr id="0" name=""/>
                      <p:cNvPicPr/>
                      <p:nvPr/>
                    </p:nvPicPr>
                    <p:blipFill>
                      <a:blip r:embed="rId11"/>
                      <a:stretch>
                        <a:fillRect/>
                      </a:stretch>
                    </p:blipFill>
                    <p:spPr>
                      <a:xfrm>
                        <a:off x="3304118" y="4065588"/>
                        <a:ext cx="1138238" cy="823912"/>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87E00B35-829F-D340-0F69-C8ADF455B97D}"/>
              </a:ext>
              <a:ext uri="{C183D7F6-B498-43B3-948B-1728B52AA6E4}">
                <adec:decorative xmlns:adec="http://schemas.microsoft.com/office/drawing/2017/decorative" val="1"/>
              </a:ext>
            </a:extLst>
          </p:cNvPr>
          <p:cNvSpPr/>
          <p:nvPr/>
        </p:nvSpPr>
        <p:spPr>
          <a:xfrm>
            <a:off x="10704480" y="4237723"/>
            <a:ext cx="814648" cy="4156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99F943F6-AF3D-1DBD-A4B0-6D028B8A8279}"/>
              </a:ext>
              <a:ext uri="{C183D7F6-B498-43B3-948B-1728B52AA6E4}">
                <adec:decorative xmlns:adec="http://schemas.microsoft.com/office/drawing/2017/decorative" val="1"/>
              </a:ext>
            </a:extLst>
          </p:cNvPr>
          <p:cNvSpPr/>
          <p:nvPr/>
        </p:nvSpPr>
        <p:spPr>
          <a:xfrm>
            <a:off x="3125585" y="5237018"/>
            <a:ext cx="8894619" cy="111390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Content Placeholder 10">
            <a:extLst>
              <a:ext uri="{FF2B5EF4-FFF2-40B4-BE49-F238E27FC236}">
                <a16:creationId xmlns:a16="http://schemas.microsoft.com/office/drawing/2014/main" id="{4E7D8EAA-F3B6-CEEF-8D3C-6317939C0930}"/>
              </a:ext>
            </a:extLst>
          </p:cNvPr>
          <p:cNvSpPr txBox="1">
            <a:spLocks noGrp="1"/>
          </p:cNvSpPr>
          <p:nvPr>
            <p:ph type="body" idx="10"/>
          </p:nvPr>
        </p:nvSpPr>
        <p:spPr>
          <a:xfrm>
            <a:off x="3129332" y="5204770"/>
            <a:ext cx="8840995"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While the astronaut’s angular displacements are equal, their linear displacements (arc lengths) are not. Astronaut B moves a greater distance because of the larger radius of chamber B.</a:t>
            </a:r>
            <a:endParaRPr lang="en-US" sz="2400" b="1" dirty="0">
              <a:latin typeface="Times New Roman" panose="02020603050405020304" pitchFamily="18" charset="0"/>
              <a:cs typeface="Times New Roman" panose="02020603050405020304" pitchFamily="18" charset="0"/>
            </a:endParaRPr>
          </a:p>
        </p:txBody>
      </p:sp>
      <p:graphicFrame>
        <p:nvGraphicFramePr>
          <p:cNvPr id="6" name="Object 5">
            <a:extLst>
              <a:ext uri="{FF2B5EF4-FFF2-40B4-BE49-F238E27FC236}">
                <a16:creationId xmlns:a16="http://schemas.microsoft.com/office/drawing/2014/main" id="{B21CA7ED-7661-DD74-42B8-B3A16883A567}"/>
              </a:ext>
            </a:extLst>
          </p:cNvPr>
          <p:cNvGraphicFramePr>
            <a:graphicFrameLocks noChangeAspect="1"/>
          </p:cNvGraphicFramePr>
          <p:nvPr>
            <p:extLst>
              <p:ext uri="{D42A27DB-BD31-4B8C-83A1-F6EECF244321}">
                <p14:modId xmlns:p14="http://schemas.microsoft.com/office/powerpoint/2010/main" val="3834183628"/>
              </p:ext>
            </p:extLst>
          </p:nvPr>
        </p:nvGraphicFramePr>
        <p:xfrm>
          <a:off x="4479922" y="3984625"/>
          <a:ext cx="5626100" cy="919163"/>
        </p:xfrm>
        <a:graphic>
          <a:graphicData uri="http://schemas.openxmlformats.org/presentationml/2006/ole">
            <mc:AlternateContent xmlns:mc="http://schemas.openxmlformats.org/markup-compatibility/2006">
              <mc:Choice xmlns:v="urn:schemas-microsoft-com:vml" Requires="v">
                <p:oleObj name="Equation" r:id="rId12" imgW="3047760" imgH="533160" progId="Equation.DSMT4">
                  <p:embed/>
                </p:oleObj>
              </mc:Choice>
              <mc:Fallback>
                <p:oleObj name="Equation" r:id="rId12" imgW="3047760" imgH="533160" progId="Equation.DSMT4">
                  <p:embed/>
                  <p:pic>
                    <p:nvPicPr>
                      <p:cNvPr id="0" name=""/>
                      <p:cNvPicPr/>
                      <p:nvPr/>
                    </p:nvPicPr>
                    <p:blipFill>
                      <a:blip r:embed="rId13"/>
                      <a:stretch>
                        <a:fillRect/>
                      </a:stretch>
                    </p:blipFill>
                    <p:spPr>
                      <a:xfrm>
                        <a:off x="4479922" y="3984625"/>
                        <a:ext cx="5626100" cy="919163"/>
                      </a:xfrm>
                      <a:prstGeom prst="rect">
                        <a:avLst/>
                      </a:prstGeom>
                    </p:spPr>
                  </p:pic>
                </p:oleObj>
              </mc:Fallback>
            </mc:AlternateContent>
          </a:graphicData>
        </a:graphic>
      </p:graphicFrame>
    </p:spTree>
    <p:extLst>
      <p:ext uri="{BB962C8B-B14F-4D97-AF65-F5344CB8AC3E}">
        <p14:creationId xmlns:p14="http://schemas.microsoft.com/office/powerpoint/2010/main" val="258717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dissolve">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dissolve">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dissolve">
                                      <p:cBhvr>
                                        <p:cTn id="21" dur="500"/>
                                        <p:tgtEl>
                                          <p:spTgt spid="5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dissolve">
                                      <p:cBhvr>
                                        <p:cTn id="26" dur="500"/>
                                        <p:tgtEl>
                                          <p:spTgt spid="5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dissolve">
                                      <p:cBhvr>
                                        <p:cTn id="31" dur="500"/>
                                        <p:tgtEl>
                                          <p:spTgt spid="5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dissolve">
                                      <p:cBhvr>
                                        <p:cTn id="34" dur="500"/>
                                        <p:tgtEl>
                                          <p:spTgt spid="5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dissolv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dissolv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dissolve">
                                      <p:cBhvr>
                                        <p:cTn id="52" dur="500"/>
                                        <p:tgtEl>
                                          <p:spTgt spid="60"/>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dissolve">
                                      <p:cBhvr>
                                        <p:cTn id="56" dur="500"/>
                                        <p:tgtEl>
                                          <p:spTgt spid="6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dissolve">
                                      <p:cBhvr>
                                        <p:cTn id="61" dur="500"/>
                                        <p:tgtEl>
                                          <p:spTgt spid="14"/>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dissolve">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dissolve">
                                      <p:cBhvr>
                                        <p:cTn id="70" dur="500"/>
                                        <p:tgtEl>
                                          <p:spTgt spid="69"/>
                                        </p:tgtEl>
                                      </p:cBhvr>
                                    </p:animEffect>
                                  </p:childTnLst>
                                </p:cTn>
                              </p:par>
                            </p:childTnLst>
                          </p:cTn>
                        </p:par>
                        <p:par>
                          <p:cTn id="71" fill="hold">
                            <p:stCondLst>
                              <p:cond delay="500"/>
                            </p:stCondLst>
                            <p:childTnLst>
                              <p:par>
                                <p:cTn id="72" presetID="9" presetClass="entr" presetSubtype="0" fill="hold" grpId="0" nodeType="afterEffect">
                                  <p:stCondLst>
                                    <p:cond delay="0"/>
                                  </p:stCondLst>
                                  <p:childTnLst>
                                    <p:set>
                                      <p:cBhvr>
                                        <p:cTn id="73" dur="1" fill="hold">
                                          <p:stCondLst>
                                            <p:cond delay="0"/>
                                          </p:stCondLst>
                                        </p:cTn>
                                        <p:tgtEl>
                                          <p:spTgt spid="70"/>
                                        </p:tgtEl>
                                        <p:attrNameLst>
                                          <p:attrName>style.visibility</p:attrName>
                                        </p:attrNameLst>
                                      </p:cBhvr>
                                      <p:to>
                                        <p:strVal val="visible"/>
                                      </p:to>
                                    </p:set>
                                    <p:animEffect transition="in" filter="dissolve">
                                      <p:cBhvr>
                                        <p:cTn id="74"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8" grpId="0" animBg="1"/>
      <p:bldP spid="49" grpId="0"/>
      <p:bldP spid="50" grpId="0"/>
      <p:bldP spid="51" grpId="0"/>
      <p:bldP spid="56" grpId="0" animBg="1"/>
      <p:bldP spid="57" grpId="0"/>
      <p:bldP spid="58" grpId="0" animBg="1"/>
      <p:bldP spid="60" grpId="0"/>
      <p:bldP spid="64" grpId="0" animBg="1"/>
      <p:bldP spid="5" grpId="0" animBg="1"/>
      <p:bldP spid="70" grpId="0" animBg="1"/>
      <p:bldP spid="6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45AED-0E27-2429-1656-0FF481666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44C89-C4D3-27C6-1BCC-BCAF6EFF386C}"/>
              </a:ext>
            </a:extLst>
          </p:cNvPr>
          <p:cNvSpPr>
            <a:spLocks noGrp="1"/>
          </p:cNvSpPr>
          <p:nvPr>
            <p:ph type="title"/>
          </p:nvPr>
        </p:nvSpPr>
        <p:spPr>
          <a:xfrm>
            <a:off x="672552" y="107574"/>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8.1</a:t>
            </a:r>
            <a:r>
              <a:rPr lang="en-US" dirty="0">
                <a:latin typeface="Times New Roman" panose="02020603050405020304" pitchFamily="18" charset="0"/>
                <a:ea typeface="Calibri" charset="0"/>
                <a:cs typeface="Times New Roman" panose="02020603050405020304" pitchFamily="18" charset="0"/>
              </a:rPr>
              <a:t> Rotational Motion and Angular Displacement (7 of 9)</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D9B15C17-DFF6-3FEE-5E22-2A4E1DCDFCCD}"/>
              </a:ext>
            </a:extLst>
          </p:cNvPr>
          <p:cNvSpPr txBox="1">
            <a:spLocks noGrp="1"/>
          </p:cNvSpPr>
          <p:nvPr>
            <p:ph type="body" idx="1"/>
          </p:nvPr>
        </p:nvSpPr>
        <p:spPr>
          <a:xfrm>
            <a:off x="767863" y="897206"/>
            <a:ext cx="10939455" cy="2246769"/>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CYU/TPS – In the figure, the flat triangular sheet </a:t>
            </a:r>
            <a:r>
              <a:rPr lang="en-US" sz="2800" i="1" dirty="0">
                <a:solidFill>
                  <a:srgbClr val="3E5891"/>
                </a:solidFill>
                <a:latin typeface="Times New Roman" panose="02020603050405020304" pitchFamily="18" charset="0"/>
                <a:cs typeface="Times New Roman" panose="02020603050405020304" pitchFamily="18" charset="0"/>
              </a:rPr>
              <a:t>ABC</a:t>
            </a:r>
            <a:r>
              <a:rPr lang="en-US" sz="2800" dirty="0">
                <a:solidFill>
                  <a:srgbClr val="3E5891"/>
                </a:solidFill>
                <a:latin typeface="Times New Roman" panose="02020603050405020304" pitchFamily="18" charset="0"/>
                <a:cs typeface="Times New Roman" panose="02020603050405020304" pitchFamily="18" charset="0"/>
              </a:rPr>
              <a:t> is lying in the plane of the paper. This sheet is going to rotate about first one axis and then another axis. Both of these axes </a:t>
            </a:r>
            <a:r>
              <a:rPr lang="en-US" sz="2800" u="sng" dirty="0">
                <a:solidFill>
                  <a:srgbClr val="3E5891"/>
                </a:solidFill>
                <a:latin typeface="Times New Roman" panose="02020603050405020304" pitchFamily="18" charset="0"/>
                <a:cs typeface="Times New Roman" panose="02020603050405020304" pitchFamily="18" charset="0"/>
              </a:rPr>
              <a:t>lie in the plane of the paper and pass through point </a:t>
            </a:r>
            <a:r>
              <a:rPr lang="en-US" sz="2800" i="1" u="sng" dirty="0">
                <a:solidFill>
                  <a:srgbClr val="3E5891"/>
                </a:solidFill>
                <a:latin typeface="Times New Roman" panose="02020603050405020304" pitchFamily="18" charset="0"/>
                <a:cs typeface="Times New Roman" panose="02020603050405020304" pitchFamily="18" charset="0"/>
              </a:rPr>
              <a:t>A</a:t>
            </a:r>
            <a:r>
              <a:rPr lang="en-US" sz="2800" dirty="0">
                <a:solidFill>
                  <a:srgbClr val="3E5891"/>
                </a:solidFill>
                <a:latin typeface="Times New Roman" panose="02020603050405020304" pitchFamily="18" charset="0"/>
                <a:cs typeface="Times New Roman" panose="02020603050405020304" pitchFamily="18" charset="0"/>
              </a:rPr>
              <a:t>. For each of the axes the points </a:t>
            </a:r>
            <a:r>
              <a:rPr lang="en-US" sz="2800" i="1" dirty="0">
                <a:solidFill>
                  <a:srgbClr val="3E5891"/>
                </a:solidFill>
                <a:latin typeface="Times New Roman" panose="02020603050405020304" pitchFamily="18" charset="0"/>
                <a:cs typeface="Times New Roman" panose="02020603050405020304" pitchFamily="18" charset="0"/>
              </a:rPr>
              <a:t>B</a:t>
            </a:r>
            <a:r>
              <a:rPr lang="en-US" sz="2800" dirty="0">
                <a:solidFill>
                  <a:srgbClr val="3E5891"/>
                </a:solidFill>
                <a:latin typeface="Times New Roman" panose="02020603050405020304" pitchFamily="18" charset="0"/>
                <a:cs typeface="Times New Roman" panose="02020603050405020304" pitchFamily="18" charset="0"/>
              </a:rPr>
              <a:t> and </a:t>
            </a:r>
            <a:r>
              <a:rPr lang="en-US" sz="2800" i="1" dirty="0">
                <a:solidFill>
                  <a:srgbClr val="3E5891"/>
                </a:solidFill>
                <a:latin typeface="Times New Roman" panose="02020603050405020304" pitchFamily="18" charset="0"/>
                <a:cs typeface="Times New Roman" panose="02020603050405020304" pitchFamily="18" charset="0"/>
              </a:rPr>
              <a:t>C</a:t>
            </a:r>
            <a:r>
              <a:rPr lang="en-US" sz="2800" dirty="0">
                <a:solidFill>
                  <a:srgbClr val="3E5891"/>
                </a:solidFill>
                <a:latin typeface="Times New Roman" panose="02020603050405020304" pitchFamily="18" charset="0"/>
                <a:cs typeface="Times New Roman" panose="02020603050405020304" pitchFamily="18" charset="0"/>
              </a:rPr>
              <a:t> will move on separate circular paths that have the same radii. Identify these two axes.</a:t>
            </a:r>
          </a:p>
        </p:txBody>
      </p:sp>
      <p:pic>
        <p:nvPicPr>
          <p:cNvPr id="75" name="Content Placeholder 2">
            <a:extLst>
              <a:ext uri="{FF2B5EF4-FFF2-40B4-BE49-F238E27FC236}">
                <a16:creationId xmlns:a16="http://schemas.microsoft.com/office/drawing/2014/main" id="{BF9CA3BB-E513-64DF-BBB2-A8B528AD1EF1}"/>
              </a:ext>
            </a:extLst>
          </p:cNvPr>
          <p:cNvPicPr>
            <a:picLocks noGrp="1" noChangeAspect="1"/>
          </p:cNvPicPr>
          <p:nvPr>
            <p:ph type="pic" idx="2"/>
          </p:nvPr>
        </p:nvPicPr>
        <p:blipFill>
          <a:blip r:embed="rId3"/>
          <a:stretch>
            <a:fillRect/>
          </a:stretch>
        </p:blipFill>
        <p:spPr>
          <a:xfrm>
            <a:off x="4286250" y="3067050"/>
            <a:ext cx="3101340" cy="1676400"/>
          </a:xfrm>
          <a:prstGeom prst="rect">
            <a:avLst/>
          </a:prstGeom>
        </p:spPr>
      </p:pic>
      <p:sp>
        <p:nvSpPr>
          <p:cNvPr id="62" name="Rounded Rectangle 61">
            <a:extLst>
              <a:ext uri="{FF2B5EF4-FFF2-40B4-BE49-F238E27FC236}">
                <a16:creationId xmlns:a16="http://schemas.microsoft.com/office/drawing/2014/main" id="{431EEE76-8CDE-E756-A862-6521C3F70D51}"/>
              </a:ext>
              <a:ext uri="{C183D7F6-B498-43B3-948B-1728B52AA6E4}">
                <adec:decorative xmlns:adec="http://schemas.microsoft.com/office/drawing/2017/decorative" val="1"/>
              </a:ext>
            </a:extLst>
          </p:cNvPr>
          <p:cNvSpPr/>
          <p:nvPr/>
        </p:nvSpPr>
        <p:spPr>
          <a:xfrm>
            <a:off x="1584899" y="5069798"/>
            <a:ext cx="8930702" cy="1197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Content Placeholder 3">
            <a:extLst>
              <a:ext uri="{FF2B5EF4-FFF2-40B4-BE49-F238E27FC236}">
                <a16:creationId xmlns:a16="http://schemas.microsoft.com/office/drawing/2014/main" id="{AB7B779E-C2F3-4E0B-BF1A-904C0F9DFCAA}"/>
              </a:ext>
            </a:extLst>
          </p:cNvPr>
          <p:cNvSpPr txBox="1">
            <a:spLocks noGrp="1"/>
          </p:cNvSpPr>
          <p:nvPr>
            <p:ph type="body" idx="3"/>
          </p:nvPr>
        </p:nvSpPr>
        <p:spPr>
          <a:xfrm>
            <a:off x="1820923" y="5229363"/>
            <a:ext cx="8542277" cy="954107"/>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To satisfy these requirements, the perpendicular distance from points B and C to each axis must be equal!</a:t>
            </a:r>
          </a:p>
        </p:txBody>
      </p:sp>
    </p:spTree>
    <p:extLst>
      <p:ext uri="{BB962C8B-B14F-4D97-AF65-F5344CB8AC3E}">
        <p14:creationId xmlns:p14="http://schemas.microsoft.com/office/powerpoint/2010/main" val="122989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dissolve">
                                      <p:cBhvr>
                                        <p:cTn id="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FB58-1DED-213B-7C1C-B1302A4B9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464DB-1636-D1AD-E1B4-79506A88D850}"/>
              </a:ext>
            </a:extLst>
          </p:cNvPr>
          <p:cNvSpPr>
            <a:spLocks noGrp="1"/>
          </p:cNvSpPr>
          <p:nvPr>
            <p:ph type="title"/>
          </p:nvPr>
        </p:nvSpPr>
        <p:spPr>
          <a:xfrm>
            <a:off x="672552" y="107574"/>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8.1</a:t>
            </a:r>
            <a:r>
              <a:rPr lang="en-US" dirty="0">
                <a:latin typeface="Times New Roman" panose="02020603050405020304" pitchFamily="18" charset="0"/>
                <a:ea typeface="Calibri" charset="0"/>
                <a:cs typeface="Times New Roman" panose="02020603050405020304" pitchFamily="18" charset="0"/>
              </a:rPr>
              <a:t> Rotational Motion and Angular Displacement (8 of 9)</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99DECB80-DC89-4069-32A7-C72CBBFB4237}"/>
              </a:ext>
            </a:extLst>
          </p:cNvPr>
          <p:cNvSpPr txBox="1">
            <a:spLocks noGrp="1"/>
          </p:cNvSpPr>
          <p:nvPr>
            <p:ph type="body" idx="1"/>
          </p:nvPr>
        </p:nvSpPr>
        <p:spPr>
          <a:xfrm>
            <a:off x="939313" y="782906"/>
            <a:ext cx="2242037" cy="523220"/>
          </a:xfrm>
          <a:prstGeom prst="rect">
            <a:avLst/>
          </a:prstGeom>
          <a:noFill/>
        </p:spPr>
        <p:txBody>
          <a:bodyPr wrap="square" rtlCol="0">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CYU/TPS</a:t>
            </a:r>
          </a:p>
        </p:txBody>
      </p:sp>
      <p:pic>
        <p:nvPicPr>
          <p:cNvPr id="5" name="Content Placeholder 2">
            <a:extLst>
              <a:ext uri="{FF2B5EF4-FFF2-40B4-BE49-F238E27FC236}">
                <a16:creationId xmlns:a16="http://schemas.microsoft.com/office/drawing/2014/main" id="{82BC34AF-E007-EB1A-47E7-E4A7560EDFA8}"/>
              </a:ext>
            </a:extLst>
          </p:cNvPr>
          <p:cNvPicPr>
            <a:picLocks noGrp="1" noChangeAspect="1"/>
          </p:cNvPicPr>
          <p:nvPr>
            <p:ph type="pic" idx="2"/>
          </p:nvPr>
        </p:nvPicPr>
        <p:blipFill>
          <a:blip r:embed="rId3"/>
          <a:stretch>
            <a:fillRect/>
          </a:stretch>
        </p:blipFill>
        <p:spPr>
          <a:xfrm>
            <a:off x="3081266" y="2029846"/>
            <a:ext cx="6029467" cy="2798307"/>
          </a:xfrm>
          <a:prstGeom prst="rect">
            <a:avLst/>
          </a:prstGeom>
        </p:spPr>
      </p:pic>
    </p:spTree>
    <p:extLst>
      <p:ext uri="{BB962C8B-B14F-4D97-AF65-F5344CB8AC3E}">
        <p14:creationId xmlns:p14="http://schemas.microsoft.com/office/powerpoint/2010/main" val="3984323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F57E-D672-F9A7-5375-59E646F4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D3FE8-8584-D5FB-7C63-BDC30C9842AE}"/>
              </a:ext>
            </a:extLst>
          </p:cNvPr>
          <p:cNvSpPr>
            <a:spLocks noGrp="1"/>
          </p:cNvSpPr>
          <p:nvPr>
            <p:ph type="title"/>
          </p:nvPr>
        </p:nvSpPr>
        <p:spPr>
          <a:xfrm>
            <a:off x="672552" y="107574"/>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8.1</a:t>
            </a:r>
            <a:r>
              <a:rPr lang="en-US" dirty="0">
                <a:latin typeface="Times New Roman" panose="02020603050405020304" pitchFamily="18" charset="0"/>
                <a:ea typeface="Calibri" charset="0"/>
                <a:cs typeface="Times New Roman" panose="02020603050405020304" pitchFamily="18" charset="0"/>
              </a:rPr>
              <a:t> Rotational Motion and Angular Displacement (9 of 9)</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B08A1EB0-9CE7-E928-09E7-0AABCEA8F958}"/>
              </a:ext>
            </a:extLst>
          </p:cNvPr>
          <p:cNvSpPr txBox="1">
            <a:spLocks noGrp="1"/>
          </p:cNvSpPr>
          <p:nvPr>
            <p:ph type="body" idx="1"/>
          </p:nvPr>
        </p:nvSpPr>
        <p:spPr>
          <a:xfrm>
            <a:off x="939313" y="782906"/>
            <a:ext cx="2242037" cy="523220"/>
          </a:xfrm>
          <a:prstGeom prst="rect">
            <a:avLst/>
          </a:prstGeom>
          <a:noFill/>
        </p:spPr>
        <p:txBody>
          <a:bodyPr wrap="square" rtlCol="0">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CYU/TPS</a:t>
            </a:r>
          </a:p>
        </p:txBody>
      </p:sp>
      <p:pic>
        <p:nvPicPr>
          <p:cNvPr id="7" name="Content Placeholder 2">
            <a:extLst>
              <a:ext uri="{FF2B5EF4-FFF2-40B4-BE49-F238E27FC236}">
                <a16:creationId xmlns:a16="http://schemas.microsoft.com/office/drawing/2014/main" id="{69FE84B8-A950-1B03-432E-E16F45B50480}"/>
              </a:ext>
            </a:extLst>
          </p:cNvPr>
          <p:cNvPicPr>
            <a:picLocks noGrp="1" noChangeAspect="1"/>
          </p:cNvPicPr>
          <p:nvPr>
            <p:ph type="pic" idx="2"/>
          </p:nvPr>
        </p:nvPicPr>
        <p:blipFill>
          <a:blip r:embed="rId3"/>
          <a:stretch>
            <a:fillRect/>
          </a:stretch>
        </p:blipFill>
        <p:spPr>
          <a:xfrm>
            <a:off x="2684992" y="630693"/>
            <a:ext cx="6822015" cy="5596613"/>
          </a:xfrm>
          <a:prstGeom prst="rect">
            <a:avLst/>
          </a:prstGeom>
        </p:spPr>
      </p:pic>
    </p:spTree>
    <p:extLst>
      <p:ext uri="{BB962C8B-B14F-4D97-AF65-F5344CB8AC3E}">
        <p14:creationId xmlns:p14="http://schemas.microsoft.com/office/powerpoint/2010/main" val="83640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98F5-B56D-37D2-1B93-F8FB2BE7B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42C34-DE73-3E86-50EE-FCCD76E00A2E}"/>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(1 of 8)</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A9712BFF-30F0-D7F3-683F-35769A21D9EA}"/>
              </a:ext>
              <a:ext uri="{C183D7F6-B498-43B3-948B-1728B52AA6E4}">
                <adec:decorative xmlns:adec="http://schemas.microsoft.com/office/drawing/2017/decorative" val="1"/>
              </a:ext>
            </a:extLst>
          </p:cNvPr>
          <p:cNvSpPr/>
          <p:nvPr/>
        </p:nvSpPr>
        <p:spPr>
          <a:xfrm>
            <a:off x="-31178" y="651180"/>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AFD4973D-C936-C78B-86F9-78A22F3AC16B}"/>
              </a:ext>
            </a:extLst>
          </p:cNvPr>
          <p:cNvSpPr txBox="1">
            <a:spLocks noGrp="1"/>
          </p:cNvSpPr>
          <p:nvPr>
            <p:ph type="body" idx="1"/>
          </p:nvPr>
        </p:nvSpPr>
        <p:spPr>
          <a:xfrm>
            <a:off x="959715" y="694896"/>
            <a:ext cx="11609129" cy="445021"/>
          </a:xfrm>
          <a:prstGeom prst="rect">
            <a:avLst/>
          </a:prstGeom>
        </p:spPr>
        <p:txBody>
          <a:bodyPr vert="horz" lIns="91440" tIns="45720" rIns="91440" bIns="45720" rtlCol="0">
            <a:normAutofit fontScale="92500" lnSpcReduction="200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8.2 </a:t>
            </a:r>
            <a:r>
              <a:rPr lang="en-US" dirty="0">
                <a:latin typeface="Times New Roman" panose="02020603050405020304" pitchFamily="18" charset="0"/>
                <a:cs typeface="Times New Roman" panose="02020603050405020304" pitchFamily="18" charset="0"/>
              </a:rPr>
              <a:t>– Define angular velocity and angular acceleration.</a:t>
            </a:r>
          </a:p>
        </p:txBody>
      </p:sp>
      <p:sp>
        <p:nvSpPr>
          <p:cNvPr id="23" name="Content Placeholder 2">
            <a:extLst>
              <a:ext uri="{FF2B5EF4-FFF2-40B4-BE49-F238E27FC236}">
                <a16:creationId xmlns:a16="http://schemas.microsoft.com/office/drawing/2014/main" id="{2016F7C0-31D0-6A88-F13C-8A5D98008EE7}"/>
              </a:ext>
            </a:extLst>
          </p:cNvPr>
          <p:cNvSpPr txBox="1">
            <a:spLocks noGrp="1"/>
          </p:cNvSpPr>
          <p:nvPr>
            <p:ph type="body" idx="2"/>
          </p:nvPr>
        </p:nvSpPr>
        <p:spPr>
          <a:xfrm>
            <a:off x="965202" y="1076200"/>
            <a:ext cx="2895600" cy="52322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007440"/>
                </a:solidFill>
                <a:latin typeface="Times New Roman" panose="02020603050405020304" pitchFamily="18" charset="0"/>
                <a:cs typeface="Times New Roman" panose="02020603050405020304" pitchFamily="18" charset="0"/>
              </a:rPr>
              <a:t>Angular Velocity</a:t>
            </a:r>
          </a:p>
        </p:txBody>
      </p:sp>
      <p:sp>
        <p:nvSpPr>
          <p:cNvPr id="17" name="Content Placeholder 3">
            <a:extLst>
              <a:ext uri="{FF2B5EF4-FFF2-40B4-BE49-F238E27FC236}">
                <a16:creationId xmlns:a16="http://schemas.microsoft.com/office/drawing/2014/main" id="{F495D8E0-11CD-F86A-5BF3-E63A861805A2}"/>
              </a:ext>
            </a:extLst>
          </p:cNvPr>
          <p:cNvSpPr txBox="1">
            <a:spLocks noGrp="1"/>
          </p:cNvSpPr>
          <p:nvPr>
            <p:ph type="body" idx="3"/>
          </p:nvPr>
        </p:nvSpPr>
        <p:spPr>
          <a:xfrm>
            <a:off x="982133" y="1516467"/>
            <a:ext cx="10803467"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that we have defined </a:t>
            </a:r>
            <a:r>
              <a:rPr lang="en-US" sz="2400" dirty="0">
                <a:solidFill>
                  <a:srgbClr val="007440"/>
                </a:solidFill>
                <a:latin typeface="Times New Roman" panose="02020603050405020304" pitchFamily="18" charset="0"/>
                <a:cs typeface="Times New Roman" panose="02020603050405020304" pitchFamily="18" charset="0"/>
              </a:rPr>
              <a:t>angular displacement</a:t>
            </a:r>
            <a:r>
              <a:rPr lang="en-US" sz="2400" dirty="0">
                <a:latin typeface="Times New Roman" panose="02020603050405020304" pitchFamily="18" charset="0"/>
                <a:cs typeface="Times New Roman" panose="02020603050405020304" pitchFamily="18" charset="0"/>
              </a:rPr>
              <a:t>, let’s allow for this quantity to change in time.</a:t>
            </a:r>
          </a:p>
        </p:txBody>
      </p:sp>
      <p:sp>
        <p:nvSpPr>
          <p:cNvPr id="7" name="Content Placeholder 4">
            <a:extLst>
              <a:ext uri="{FF2B5EF4-FFF2-40B4-BE49-F238E27FC236}">
                <a16:creationId xmlns:a16="http://schemas.microsoft.com/office/drawing/2014/main" id="{01532761-1DCB-1BA8-EC35-A10598C39BD7}"/>
              </a:ext>
            </a:extLst>
          </p:cNvPr>
          <p:cNvSpPr txBox="1">
            <a:spLocks noGrp="1"/>
          </p:cNvSpPr>
          <p:nvPr>
            <p:ph type="body" idx="4"/>
          </p:nvPr>
        </p:nvSpPr>
        <p:spPr>
          <a:xfrm>
            <a:off x="976921" y="2236629"/>
            <a:ext cx="1075904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In Chapter 02, a change in linear displacement divided by elapsed time was defined as the average linear velocity, or </a:t>
            </a:r>
          </a:p>
        </p:txBody>
      </p:sp>
      <p:sp>
        <p:nvSpPr>
          <p:cNvPr id="9" name="Rounded Rectangle 8">
            <a:extLst>
              <a:ext uri="{FF2B5EF4-FFF2-40B4-BE49-F238E27FC236}">
                <a16:creationId xmlns:a16="http://schemas.microsoft.com/office/drawing/2014/main" id="{D520EB95-5E4E-47FC-A2BD-52979758B2C6}"/>
              </a:ext>
              <a:ext uri="{C183D7F6-B498-43B3-948B-1728B52AA6E4}">
                <adec:decorative xmlns:adec="http://schemas.microsoft.com/office/drawing/2017/decorative" val="1"/>
              </a:ext>
            </a:extLst>
          </p:cNvPr>
          <p:cNvSpPr/>
          <p:nvPr/>
        </p:nvSpPr>
        <p:spPr>
          <a:xfrm>
            <a:off x="5091953" y="2697387"/>
            <a:ext cx="1165412" cy="860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3087EF7A-4EBB-618A-DCB8-EAE018F3B38D}"/>
              </a:ext>
            </a:extLst>
          </p:cNvPr>
          <p:cNvGraphicFramePr>
            <a:graphicFrameLocks noChangeAspect="1"/>
          </p:cNvGraphicFramePr>
          <p:nvPr>
            <p:extLst>
              <p:ext uri="{D42A27DB-BD31-4B8C-83A1-F6EECF244321}">
                <p14:modId xmlns:p14="http://schemas.microsoft.com/office/powerpoint/2010/main" val="2800572755"/>
              </p:ext>
            </p:extLst>
          </p:nvPr>
        </p:nvGraphicFramePr>
        <p:xfrm>
          <a:off x="5213662" y="2768978"/>
          <a:ext cx="882338" cy="719802"/>
        </p:xfrm>
        <a:graphic>
          <a:graphicData uri="http://schemas.openxmlformats.org/presentationml/2006/ole">
            <mc:AlternateContent xmlns:mc="http://schemas.openxmlformats.org/markup-compatibility/2006">
              <mc:Choice xmlns:v="urn:schemas-microsoft-com:vml" Requires="v">
                <p:oleObj name="Equation" r:id="rId3" imgW="482400" imgH="393480" progId="Equation.DSMT4">
                  <p:embed/>
                </p:oleObj>
              </mc:Choice>
              <mc:Fallback>
                <p:oleObj name="Equation" r:id="rId3" imgW="482400" imgH="393480" progId="Equation.DSMT4">
                  <p:embed/>
                  <p:pic>
                    <p:nvPicPr>
                      <p:cNvPr id="0" name=""/>
                      <p:cNvPicPr/>
                      <p:nvPr/>
                    </p:nvPicPr>
                    <p:blipFill>
                      <a:blip r:embed="rId4"/>
                      <a:stretch>
                        <a:fillRect/>
                      </a:stretch>
                    </p:blipFill>
                    <p:spPr>
                      <a:xfrm>
                        <a:off x="5213662" y="2768978"/>
                        <a:ext cx="882338" cy="719802"/>
                      </a:xfrm>
                      <a:prstGeom prst="rect">
                        <a:avLst/>
                      </a:prstGeom>
                    </p:spPr>
                  </p:pic>
                </p:oleObj>
              </mc:Fallback>
            </mc:AlternateContent>
          </a:graphicData>
        </a:graphic>
      </p:graphicFrame>
      <p:sp>
        <p:nvSpPr>
          <p:cNvPr id="10" name="Content Placeholder 5">
            <a:extLst>
              <a:ext uri="{FF2B5EF4-FFF2-40B4-BE49-F238E27FC236}">
                <a16:creationId xmlns:a16="http://schemas.microsoft.com/office/drawing/2014/main" id="{21CB58B2-CA46-6B55-64A0-929119198130}"/>
              </a:ext>
            </a:extLst>
          </p:cNvPr>
          <p:cNvSpPr txBox="1">
            <a:spLocks noGrp="1"/>
          </p:cNvSpPr>
          <p:nvPr>
            <p:ph type="body" idx="5"/>
          </p:nvPr>
        </p:nvSpPr>
        <p:spPr>
          <a:xfrm>
            <a:off x="1003815" y="3633134"/>
            <a:ext cx="1075904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Here, a change in angular velocity divided by elapsed time is defined as the </a:t>
            </a:r>
            <a:r>
              <a:rPr lang="en-US" sz="2400" dirty="0">
                <a:solidFill>
                  <a:srgbClr val="007440"/>
                </a:solidFill>
                <a:latin typeface="Times New Roman" panose="02020603050405020304" pitchFamily="18" charset="0"/>
                <a:cs typeface="Times New Roman" panose="02020603050405020304" pitchFamily="18" charset="0"/>
              </a:rPr>
              <a:t>average angular velocity</a:t>
            </a:r>
            <a:r>
              <a:rPr lang="en-US" sz="2400" dirty="0">
                <a:latin typeface="Times New Roman" panose="02020603050405020304" pitchFamily="18" charset="0"/>
                <a:cs typeface="Times New Roman" panose="02020603050405020304" pitchFamily="18" charset="0"/>
              </a:rPr>
              <a:t> – denoted by the Greek letter “omega”:</a:t>
            </a:r>
          </a:p>
        </p:txBody>
      </p:sp>
      <p:sp>
        <p:nvSpPr>
          <p:cNvPr id="13" name="Rectangle 12">
            <a:extLst>
              <a:ext uri="{FF2B5EF4-FFF2-40B4-BE49-F238E27FC236}">
                <a16:creationId xmlns:a16="http://schemas.microsoft.com/office/drawing/2014/main" id="{20B59713-CA7D-225D-4CA0-623BF94B64E8}"/>
              </a:ext>
              <a:ext uri="{C183D7F6-B498-43B3-948B-1728B52AA6E4}">
                <adec:decorative xmlns:adec="http://schemas.microsoft.com/office/drawing/2017/decorative" val="1"/>
              </a:ext>
            </a:extLst>
          </p:cNvPr>
          <p:cNvSpPr/>
          <p:nvPr/>
        </p:nvSpPr>
        <p:spPr>
          <a:xfrm>
            <a:off x="125506" y="4525384"/>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6">
            <a:extLst>
              <a:ext uri="{FF2B5EF4-FFF2-40B4-BE49-F238E27FC236}">
                <a16:creationId xmlns:a16="http://schemas.microsoft.com/office/drawing/2014/main" id="{C22BDE53-3E18-30E8-1591-B6ADA58563C0}"/>
              </a:ext>
            </a:extLst>
          </p:cNvPr>
          <p:cNvSpPr txBox="1">
            <a:spLocks noGrp="1"/>
          </p:cNvSpPr>
          <p:nvPr>
            <p:ph type="body" idx="6"/>
          </p:nvPr>
        </p:nvSpPr>
        <p:spPr>
          <a:xfrm>
            <a:off x="529784" y="4563037"/>
            <a:ext cx="11243992"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srgbClr val="C00000"/>
                </a:solidFill>
                <a:latin typeface="Times New Roman" panose="02020603050405020304" pitchFamily="18" charset="0"/>
                <a:cs typeface="Times New Roman" panose="02020603050405020304" pitchFamily="18" charset="0"/>
              </a:rPr>
              <a:t>DEFINITION OF AVERAGE ANGULAR VELOCITY</a:t>
            </a:r>
            <a:endParaRPr lang="en-US" sz="2400" dirty="0">
              <a:latin typeface="Times New Roman" panose="02020603050405020304" pitchFamily="18" charset="0"/>
              <a:cs typeface="Times New Roman" panose="02020603050405020304" pitchFamily="18" charset="0"/>
            </a:endParaRPr>
          </a:p>
        </p:txBody>
      </p:sp>
      <p:graphicFrame>
        <p:nvGraphicFramePr>
          <p:cNvPr id="4" name="Object 3">
            <a:extLst>
              <a:ext uri="{FF2B5EF4-FFF2-40B4-BE49-F238E27FC236}">
                <a16:creationId xmlns:a16="http://schemas.microsoft.com/office/drawing/2014/main" id="{2276E237-E145-261B-1DB1-353DFDF66A5E}"/>
              </a:ext>
            </a:extLst>
          </p:cNvPr>
          <p:cNvGraphicFramePr>
            <a:graphicFrameLocks noChangeAspect="1"/>
          </p:cNvGraphicFramePr>
          <p:nvPr>
            <p:extLst>
              <p:ext uri="{D42A27DB-BD31-4B8C-83A1-F6EECF244321}">
                <p14:modId xmlns:p14="http://schemas.microsoft.com/office/powerpoint/2010/main" val="3964260038"/>
              </p:ext>
            </p:extLst>
          </p:nvPr>
        </p:nvGraphicFramePr>
        <p:xfrm>
          <a:off x="237066" y="5081871"/>
          <a:ext cx="10930044" cy="910837"/>
        </p:xfrm>
        <a:graphic>
          <a:graphicData uri="http://schemas.openxmlformats.org/presentationml/2006/ole">
            <mc:AlternateContent xmlns:mc="http://schemas.openxmlformats.org/markup-compatibility/2006">
              <mc:Choice xmlns:v="urn:schemas-microsoft-com:vml" Requires="v">
                <p:oleObj name="Equation" r:id="rId5" imgW="5181480" imgH="431640" progId="Equation.DSMT4">
                  <p:embed/>
                </p:oleObj>
              </mc:Choice>
              <mc:Fallback>
                <p:oleObj name="Equation" r:id="rId5" imgW="5181480" imgH="431640" progId="Equation.DSMT4">
                  <p:embed/>
                  <p:pic>
                    <p:nvPicPr>
                      <p:cNvPr id="0" name=""/>
                      <p:cNvPicPr/>
                      <p:nvPr/>
                    </p:nvPicPr>
                    <p:blipFill>
                      <a:blip r:embed="rId6"/>
                      <a:stretch>
                        <a:fillRect/>
                      </a:stretch>
                    </p:blipFill>
                    <p:spPr>
                      <a:xfrm>
                        <a:off x="237066" y="5081871"/>
                        <a:ext cx="10930044" cy="910837"/>
                      </a:xfrm>
                      <a:prstGeom prst="rect">
                        <a:avLst/>
                      </a:prstGeom>
                    </p:spPr>
                  </p:pic>
                </p:oleObj>
              </mc:Fallback>
            </mc:AlternateContent>
          </a:graphicData>
        </a:graphic>
      </p:graphicFrame>
      <p:sp>
        <p:nvSpPr>
          <p:cNvPr id="18" name="Content Placeholder 7">
            <a:extLst>
              <a:ext uri="{FF2B5EF4-FFF2-40B4-BE49-F238E27FC236}">
                <a16:creationId xmlns:a16="http://schemas.microsoft.com/office/drawing/2014/main" id="{38E5FF34-87DE-57C8-CE6C-BBE9E5FFE2BB}"/>
              </a:ext>
            </a:extLst>
          </p:cNvPr>
          <p:cNvSpPr txBox="1">
            <a:spLocks noGrp="1"/>
          </p:cNvSpPr>
          <p:nvPr>
            <p:ph type="body" idx="7"/>
          </p:nvPr>
        </p:nvSpPr>
        <p:spPr>
          <a:xfrm>
            <a:off x="11294133" y="5151159"/>
            <a:ext cx="118473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itchFamily="2" charset="0"/>
              </a:rPr>
              <a:t>(</a:t>
            </a:r>
            <a:r>
              <a:rPr lang="en-US" sz="2400" b="1" dirty="0">
                <a:latin typeface="Times New Roman" pitchFamily="2" charset="0"/>
              </a:rPr>
              <a:t>8.2</a:t>
            </a:r>
            <a:r>
              <a:rPr lang="en-US" sz="2400" dirty="0">
                <a:latin typeface="Times New Roman" pitchFamily="2" charset="0"/>
              </a:rPr>
              <a:t>)</a:t>
            </a:r>
          </a:p>
        </p:txBody>
      </p:sp>
      <p:sp>
        <p:nvSpPr>
          <p:cNvPr id="21" name="Content Placeholder 8">
            <a:extLst>
              <a:ext uri="{FF2B5EF4-FFF2-40B4-BE49-F238E27FC236}">
                <a16:creationId xmlns:a16="http://schemas.microsoft.com/office/drawing/2014/main" id="{B593CEEB-B93F-3728-AEC9-BDD677A01F37}"/>
              </a:ext>
            </a:extLst>
          </p:cNvPr>
          <p:cNvSpPr txBox="1">
            <a:spLocks noGrp="1"/>
          </p:cNvSpPr>
          <p:nvPr>
            <p:ph type="body" idx="8"/>
          </p:nvPr>
        </p:nvSpPr>
        <p:spPr>
          <a:xfrm>
            <a:off x="380999" y="5937356"/>
            <a:ext cx="881678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rPr>
              <a:t>SI Unit of Angular Velocity: radian per second (rad/s)</a:t>
            </a:r>
          </a:p>
        </p:txBody>
      </p:sp>
    </p:spTree>
    <p:extLst>
      <p:ext uri="{BB962C8B-B14F-4D97-AF65-F5344CB8AC3E}">
        <p14:creationId xmlns:p14="http://schemas.microsoft.com/office/powerpoint/2010/main" val="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dissolv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dissolve">
                                      <p:cBhvr>
                                        <p:cTn id="39" dur="500"/>
                                        <p:tgtEl>
                                          <p:spTgt spid="4"/>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dissolv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dissolve">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7" grpId="0"/>
      <p:bldP spid="9" grpId="0" animBg="1"/>
      <p:bldP spid="10" grpId="0"/>
      <p:bldP spid="13" grpId="0" animBg="1"/>
      <p:bldP spid="12" grpId="0"/>
      <p:bldP spid="18"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5B810-F072-E456-D4C2-835FD2904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309BB-CD46-EBFA-E277-938A9CB3EB08}"/>
              </a:ext>
            </a:extLst>
          </p:cNvPr>
          <p:cNvSpPr>
            <a:spLocks noGrp="1"/>
          </p:cNvSpPr>
          <p:nvPr>
            <p:ph type="title"/>
          </p:nvPr>
        </p:nvSpPr>
        <p:spPr>
          <a:xfrm>
            <a:off x="654622" y="142995"/>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(2 of 8)</a:t>
            </a:r>
            <a:endParaRPr lang="en-US" sz="3000" dirty="0">
              <a:latin typeface="Times New Roman" panose="02020603050405020304" pitchFamily="18" charset="0"/>
              <a:cs typeface="Times New Roman" panose="02020603050405020304" pitchFamily="18" charset="0"/>
            </a:endParaRPr>
          </a:p>
        </p:txBody>
      </p:sp>
      <p:sp>
        <p:nvSpPr>
          <p:cNvPr id="17" name="Content Placeholder 1">
            <a:extLst>
              <a:ext uri="{FF2B5EF4-FFF2-40B4-BE49-F238E27FC236}">
                <a16:creationId xmlns:a16="http://schemas.microsoft.com/office/drawing/2014/main" id="{36819264-8818-24D2-B734-FC34A670AAEC}"/>
              </a:ext>
            </a:extLst>
          </p:cNvPr>
          <p:cNvSpPr txBox="1">
            <a:spLocks noGrp="1"/>
          </p:cNvSpPr>
          <p:nvPr>
            <p:ph type="body" idx="1"/>
          </p:nvPr>
        </p:nvSpPr>
        <p:spPr>
          <a:xfrm>
            <a:off x="950025" y="839134"/>
            <a:ext cx="1075904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SI unit of angular velocity is rad/s, but other units are often used, such as degrees/second or revolutions/minute (rpm).</a:t>
            </a:r>
          </a:p>
        </p:txBody>
      </p:sp>
      <p:sp>
        <p:nvSpPr>
          <p:cNvPr id="3" name="Content Placeholder 2">
            <a:extLst>
              <a:ext uri="{FF2B5EF4-FFF2-40B4-BE49-F238E27FC236}">
                <a16:creationId xmlns:a16="http://schemas.microsoft.com/office/drawing/2014/main" id="{263A1C19-A450-C9D0-4CD4-BFD1D15E5E0B}"/>
              </a:ext>
            </a:extLst>
          </p:cNvPr>
          <p:cNvSpPr txBox="1">
            <a:spLocks noGrp="1"/>
          </p:cNvSpPr>
          <p:nvPr>
            <p:ph type="body" idx="2"/>
          </p:nvPr>
        </p:nvSpPr>
        <p:spPr>
          <a:xfrm>
            <a:off x="1048637" y="2443817"/>
            <a:ext cx="6678939"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Angular velocity, like angular displacement is also a</a:t>
            </a:r>
            <a:endParaRPr lang="en-US" sz="2400" b="1" dirty="0">
              <a:latin typeface="Times New Roman" panose="02020603050405020304" pitchFamily="18" charset="0"/>
              <a:cs typeface="Times New Roman" panose="02020603050405020304" pitchFamily="18" charset="0"/>
            </a:endParaRPr>
          </a:p>
        </p:txBody>
      </p:sp>
      <p:sp>
        <p:nvSpPr>
          <p:cNvPr id="6" name="Rounded Rectangle 5">
            <a:extLst>
              <a:ext uri="{FF2B5EF4-FFF2-40B4-BE49-F238E27FC236}">
                <a16:creationId xmlns:a16="http://schemas.microsoft.com/office/drawing/2014/main" id="{7F4D310A-793E-C38E-EA59-F106FBA24508}"/>
              </a:ext>
              <a:ext uri="{C183D7F6-B498-43B3-948B-1728B52AA6E4}">
                <adec:decorative xmlns:adec="http://schemas.microsoft.com/office/drawing/2017/decorative" val="1"/>
              </a:ext>
            </a:extLst>
          </p:cNvPr>
          <p:cNvSpPr/>
          <p:nvPr/>
        </p:nvSpPr>
        <p:spPr>
          <a:xfrm>
            <a:off x="7727576" y="2384612"/>
            <a:ext cx="2510117" cy="5199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02AD7722-E8C3-885E-95E7-DA9C1F5D74D5}"/>
              </a:ext>
            </a:extLst>
          </p:cNvPr>
          <p:cNvSpPr txBox="1">
            <a:spLocks noGrp="1"/>
          </p:cNvSpPr>
          <p:nvPr>
            <p:ph type="body" idx="3"/>
          </p:nvPr>
        </p:nvSpPr>
        <p:spPr>
          <a:xfrm>
            <a:off x="7781364" y="2444533"/>
            <a:ext cx="2581835"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quantity</a:t>
            </a:r>
          </a:p>
        </p:txBody>
      </p:sp>
      <p:sp>
        <p:nvSpPr>
          <p:cNvPr id="9" name="Content Placeholder 4">
            <a:extLst>
              <a:ext uri="{FF2B5EF4-FFF2-40B4-BE49-F238E27FC236}">
                <a16:creationId xmlns:a16="http://schemas.microsoft.com/office/drawing/2014/main" id="{C6BC3BA3-CBDD-2DE6-C338-109CA706C6EF}"/>
              </a:ext>
            </a:extLst>
          </p:cNvPr>
          <p:cNvSpPr txBox="1">
            <a:spLocks noGrp="1"/>
          </p:cNvSpPr>
          <p:nvPr>
            <p:ph type="body" idx="4"/>
          </p:nvPr>
        </p:nvSpPr>
        <p:spPr>
          <a:xfrm>
            <a:off x="10221390" y="2443817"/>
            <a:ext cx="114585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 and it </a:t>
            </a:r>
            <a:endParaRPr lang="en-US" dirty="0">
              <a:latin typeface="Times New Roman" panose="02020603050405020304" pitchFamily="18" charset="0"/>
              <a:cs typeface="Times New Roman" panose="02020603050405020304" pitchFamily="18" charset="0"/>
            </a:endParaRPr>
          </a:p>
        </p:txBody>
      </p:sp>
      <p:sp>
        <p:nvSpPr>
          <p:cNvPr id="11" name="Content Placeholder 5">
            <a:extLst>
              <a:ext uri="{FF2B5EF4-FFF2-40B4-BE49-F238E27FC236}">
                <a16:creationId xmlns:a16="http://schemas.microsoft.com/office/drawing/2014/main" id="{F01B22E1-9C99-A749-6014-020C0F2601A2}"/>
              </a:ext>
            </a:extLst>
          </p:cNvPr>
          <p:cNvSpPr txBox="1">
            <a:spLocks noGrp="1"/>
          </p:cNvSpPr>
          <p:nvPr>
            <p:ph type="body" idx="5"/>
          </p:nvPr>
        </p:nvSpPr>
        <p:spPr>
          <a:xfrm>
            <a:off x="1048637" y="2856440"/>
            <a:ext cx="10364040"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follows the same sign convention as that of angular displacement – </a:t>
            </a:r>
            <a:r>
              <a:rPr lang="en-US" sz="2400" b="1" dirty="0">
                <a:latin typeface="Times New Roman" panose="02020603050405020304" pitchFamily="18" charset="0"/>
                <a:cs typeface="Times New Roman" panose="02020603050405020304" pitchFamily="18" charset="0"/>
              </a:rPr>
              <a:t>angular velocity is positive when the rotation is counterclockwise and negative when it is clockwise. </a:t>
            </a:r>
            <a:endParaRPr lang="en-US" dirty="0">
              <a:latin typeface="Times New Roman" panose="02020603050405020304" pitchFamily="18" charset="0"/>
              <a:cs typeface="Times New Roman" panose="02020603050405020304" pitchFamily="18" charset="0"/>
            </a:endParaRPr>
          </a:p>
        </p:txBody>
      </p:sp>
      <p:sp>
        <p:nvSpPr>
          <p:cNvPr id="20" name="Content Placeholder 6">
            <a:extLst>
              <a:ext uri="{FF2B5EF4-FFF2-40B4-BE49-F238E27FC236}">
                <a16:creationId xmlns:a16="http://schemas.microsoft.com/office/drawing/2014/main" id="{D3FB57EF-F18F-C571-B63D-733CF43770EE}"/>
              </a:ext>
            </a:extLst>
          </p:cNvPr>
          <p:cNvSpPr txBox="1">
            <a:spLocks noGrp="1"/>
          </p:cNvSpPr>
          <p:nvPr>
            <p:ph type="body" idx="6"/>
          </p:nvPr>
        </p:nvSpPr>
        <p:spPr>
          <a:xfrm>
            <a:off x="188026" y="4559487"/>
            <a:ext cx="963729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ct val="50000"/>
              </a:spcBef>
              <a:spcAft>
                <a:spcPts val="0"/>
              </a:spcAft>
              <a:buNone/>
            </a:pPr>
            <a:r>
              <a:rPr lang="en-US" altLang="en-US" sz="2400" dirty="0">
                <a:latin typeface="Times New Roman" pitchFamily="2" charset="0"/>
              </a:rPr>
              <a:t>And like we did for linear motion, where we defined the </a:t>
            </a:r>
            <a:r>
              <a:rPr lang="en-US" altLang="en-US" sz="2400" i="1" dirty="0">
                <a:latin typeface="Times New Roman" pitchFamily="2" charset="0"/>
              </a:rPr>
              <a:t>instantaneous velocity</a:t>
            </a:r>
            <a:r>
              <a:rPr lang="en-US" altLang="en-US" sz="2400" dirty="0">
                <a:latin typeface="Times New Roman" pitchFamily="2" charset="0"/>
              </a:rPr>
              <a:t>, we can also define the </a:t>
            </a:r>
            <a:r>
              <a:rPr lang="en-US" altLang="en-US" sz="2400" dirty="0">
                <a:solidFill>
                  <a:srgbClr val="007440"/>
                </a:solidFill>
                <a:latin typeface="Times New Roman" pitchFamily="2" charset="0"/>
              </a:rPr>
              <a:t>instantaneous angular velocity (</a:t>
            </a:r>
            <a:r>
              <a:rPr lang="el-GR" altLang="en-US" sz="2400" i="1" dirty="0">
                <a:solidFill>
                  <a:srgbClr val="007440"/>
                </a:solidFill>
                <a:latin typeface="Times New Roman" panose="02020603050405020304" pitchFamily="18" charset="0"/>
                <a:cs typeface="Times New Roman" panose="02020603050405020304" pitchFamily="18" charset="0"/>
              </a:rPr>
              <a:t>ω</a:t>
            </a:r>
            <a:r>
              <a:rPr lang="en-US" altLang="en-US" sz="2400" baseline="-25000" dirty="0">
                <a:solidFill>
                  <a:srgbClr val="007440"/>
                </a:solidFill>
                <a:latin typeface="Times New Roman" pitchFamily="2" charset="0"/>
              </a:rPr>
              <a:t>ins</a:t>
            </a:r>
            <a:r>
              <a:rPr lang="en-US" altLang="en-US" sz="2400" dirty="0">
                <a:solidFill>
                  <a:srgbClr val="007440"/>
                </a:solidFill>
                <a:latin typeface="Times New Roman" pitchFamily="2" charset="0"/>
              </a:rPr>
              <a:t>)</a:t>
            </a:r>
            <a:r>
              <a:rPr lang="en-US" altLang="en-US" sz="2400" dirty="0">
                <a:latin typeface="Times New Roman" pitchFamily="2" charset="0"/>
              </a:rPr>
              <a:t>:</a:t>
            </a:r>
          </a:p>
        </p:txBody>
      </p:sp>
      <p:graphicFrame>
        <p:nvGraphicFramePr>
          <p:cNvPr id="22" name="Object 14">
            <a:extLst>
              <a:ext uri="{FF2B5EF4-FFF2-40B4-BE49-F238E27FC236}">
                <a16:creationId xmlns:a16="http://schemas.microsoft.com/office/drawing/2014/main" id="{2B0E8DC1-1A6D-0F6D-DFF1-8CB794BCA550}"/>
              </a:ext>
            </a:extLst>
          </p:cNvPr>
          <p:cNvGraphicFramePr>
            <a:graphicFrameLocks noChangeAspect="1"/>
          </p:cNvGraphicFramePr>
          <p:nvPr>
            <p:extLst>
              <p:ext uri="{D42A27DB-BD31-4B8C-83A1-F6EECF244321}">
                <p14:modId xmlns:p14="http://schemas.microsoft.com/office/powerpoint/2010/main" val="3011109576"/>
              </p:ext>
            </p:extLst>
          </p:nvPr>
        </p:nvGraphicFramePr>
        <p:xfrm>
          <a:off x="8888507" y="4518212"/>
          <a:ext cx="2012464" cy="891522"/>
        </p:xfrm>
        <a:graphic>
          <a:graphicData uri="http://schemas.openxmlformats.org/presentationml/2006/ole">
            <mc:AlternateContent xmlns:mc="http://schemas.openxmlformats.org/markup-compatibility/2006">
              <mc:Choice xmlns:v="urn:schemas-microsoft-com:vml" Requires="v">
                <p:oleObj name="Equation" r:id="rId3" imgW="20485100" imgH="9067800" progId="Equation.3">
                  <p:embed/>
                </p:oleObj>
              </mc:Choice>
              <mc:Fallback>
                <p:oleObj name="Equation" r:id="rId3" imgW="20485100" imgH="9067800" progId="Equation.3">
                  <p:embed/>
                  <p:pic>
                    <p:nvPicPr>
                      <p:cNvPr id="10254" name="Object 14">
                        <a:extLst>
                          <a:ext uri="{FF2B5EF4-FFF2-40B4-BE49-F238E27FC236}">
                            <a16:creationId xmlns:a16="http://schemas.microsoft.com/office/drawing/2014/main" id="{65936D3B-BF4C-4537-0CDA-0E067A0F0F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8507" y="4518212"/>
                        <a:ext cx="2012464" cy="891522"/>
                      </a:xfrm>
                      <a:prstGeom prst="rect">
                        <a:avLst/>
                      </a:prstGeom>
                      <a:noFill/>
                      <a:ln>
                        <a:noFill/>
                      </a:ln>
                      <a:effectLst/>
                    </p:spPr>
                  </p:pic>
                </p:oleObj>
              </mc:Fallback>
            </mc:AlternateContent>
          </a:graphicData>
        </a:graphic>
      </p:graphicFrame>
      <p:sp>
        <p:nvSpPr>
          <p:cNvPr id="23" name="Content Placeholder 7">
            <a:extLst>
              <a:ext uri="{FF2B5EF4-FFF2-40B4-BE49-F238E27FC236}">
                <a16:creationId xmlns:a16="http://schemas.microsoft.com/office/drawing/2014/main" id="{152317ED-7EA6-F762-A60B-E8A8A74F6B1E}"/>
              </a:ext>
            </a:extLst>
          </p:cNvPr>
          <p:cNvSpPr txBox="1">
            <a:spLocks noGrp="1"/>
          </p:cNvSpPr>
          <p:nvPr>
            <p:ph type="body" idx="7"/>
          </p:nvPr>
        </p:nvSpPr>
        <p:spPr>
          <a:xfrm>
            <a:off x="11329993" y="4774641"/>
            <a:ext cx="118473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itchFamily="2" charset="0"/>
              </a:rPr>
              <a:t>(</a:t>
            </a:r>
            <a:r>
              <a:rPr lang="en-US" sz="2400" b="1" dirty="0">
                <a:latin typeface="Times New Roman" pitchFamily="2" charset="0"/>
              </a:rPr>
              <a:t>8.3</a:t>
            </a:r>
            <a:r>
              <a:rPr lang="en-US" sz="2400" dirty="0">
                <a:latin typeface="Times New Roman" pitchFamily="2" charset="0"/>
              </a:rPr>
              <a:t>)</a:t>
            </a:r>
          </a:p>
        </p:txBody>
      </p:sp>
    </p:spTree>
    <p:extLst>
      <p:ext uri="{BB962C8B-B14F-4D97-AF65-F5344CB8AC3E}">
        <p14:creationId xmlns:p14="http://schemas.microsoft.com/office/powerpoint/2010/main" val="279207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dissolv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dissolv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box(in)">
                                      <p:cBhvr>
                                        <p:cTn id="36" dur="500"/>
                                        <p:tgtEl>
                                          <p:spTgt spid="22"/>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dissolv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P spid="6" grpId="0" animBg="1"/>
      <p:bldP spid="4" grpId="0"/>
      <p:bldP spid="9" grpId="0"/>
      <p:bldP spid="11" grpId="0"/>
      <p:bldP spid="20"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D95A-580D-A3A9-3CC7-031A67A6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ED375-D5EB-3D66-299F-14110C8BF4C5}"/>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(3 of 8)</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492855AE-FC12-FEA5-034B-E6A7F515E4BE}"/>
              </a:ext>
            </a:extLst>
          </p:cNvPr>
          <p:cNvSpPr txBox="1">
            <a:spLocks noGrp="1"/>
          </p:cNvSpPr>
          <p:nvPr>
            <p:ph type="body" idx="1"/>
          </p:nvPr>
        </p:nvSpPr>
        <p:spPr>
          <a:xfrm>
            <a:off x="925576" y="574541"/>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Gymnast on a High Bar</a:t>
            </a:r>
          </a:p>
        </p:txBody>
      </p:sp>
      <p:sp>
        <p:nvSpPr>
          <p:cNvPr id="25" name="Content Placeholder 2">
            <a:extLst>
              <a:ext uri="{FF2B5EF4-FFF2-40B4-BE49-F238E27FC236}">
                <a16:creationId xmlns:a16="http://schemas.microsoft.com/office/drawing/2014/main" id="{E2B564A3-D462-B56B-33ED-8CD03A12C250}"/>
              </a:ext>
            </a:extLst>
          </p:cNvPr>
          <p:cNvSpPr txBox="1">
            <a:spLocks noGrp="1"/>
          </p:cNvSpPr>
          <p:nvPr>
            <p:ph type="body" idx="2"/>
          </p:nvPr>
        </p:nvSpPr>
        <p:spPr>
          <a:xfrm>
            <a:off x="887786" y="973808"/>
            <a:ext cx="10228729"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 gymnast on a high bar swings through two revolutions in a time of 1.90 s, as the figure suggests. Find the average angular velocity (in rad/s) of the gymnast.</a:t>
            </a:r>
          </a:p>
        </p:txBody>
      </p:sp>
      <p:pic>
        <p:nvPicPr>
          <p:cNvPr id="8" name="Content Placeholder 3">
            <a:extLst>
              <a:ext uri="{FF2B5EF4-FFF2-40B4-BE49-F238E27FC236}">
                <a16:creationId xmlns:a16="http://schemas.microsoft.com/office/drawing/2014/main" id="{D4312CB1-AB0E-71F0-182B-9E7B409B8C9D}"/>
              </a:ext>
            </a:extLst>
          </p:cNvPr>
          <p:cNvPicPr>
            <a:picLocks noGrp="1" noChangeAspect="1"/>
          </p:cNvPicPr>
          <p:nvPr>
            <p:ph type="pic" idx="3"/>
          </p:nvPr>
        </p:nvPicPr>
        <p:blipFill>
          <a:blip r:embed="rId3"/>
          <a:stretch>
            <a:fillRect/>
          </a:stretch>
        </p:blipFill>
        <p:spPr>
          <a:xfrm>
            <a:off x="0" y="2229195"/>
            <a:ext cx="3818965" cy="4186174"/>
          </a:xfrm>
          <a:prstGeom prst="rect">
            <a:avLst/>
          </a:prstGeom>
        </p:spPr>
      </p:pic>
      <p:sp>
        <p:nvSpPr>
          <p:cNvPr id="9" name="Content Placeholder 4">
            <a:extLst>
              <a:ext uri="{FF2B5EF4-FFF2-40B4-BE49-F238E27FC236}">
                <a16:creationId xmlns:a16="http://schemas.microsoft.com/office/drawing/2014/main" id="{F3B4B4E0-DAF2-DE5C-6202-1506F6EA1CE7}"/>
              </a:ext>
            </a:extLst>
          </p:cNvPr>
          <p:cNvSpPr txBox="1">
            <a:spLocks noGrp="1"/>
          </p:cNvSpPr>
          <p:nvPr>
            <p:ph type="body" idx="4"/>
          </p:nvPr>
        </p:nvSpPr>
        <p:spPr>
          <a:xfrm>
            <a:off x="3378853" y="1768306"/>
            <a:ext cx="8322610"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can use Equation 8.2 to calculate the average angular velocity of the gymnast in rad/s:</a:t>
            </a:r>
          </a:p>
        </p:txBody>
      </p:sp>
      <p:sp>
        <p:nvSpPr>
          <p:cNvPr id="11" name="Rounded Rectangle 10">
            <a:extLst>
              <a:ext uri="{FF2B5EF4-FFF2-40B4-BE49-F238E27FC236}">
                <a16:creationId xmlns:a16="http://schemas.microsoft.com/office/drawing/2014/main" id="{156FB78B-3149-8426-05E2-C08D59E7C08D}"/>
              </a:ext>
              <a:ext uri="{C183D7F6-B498-43B3-948B-1728B52AA6E4}">
                <adec:decorative xmlns:adec="http://schemas.microsoft.com/office/drawing/2017/decorative" val="1"/>
              </a:ext>
            </a:extLst>
          </p:cNvPr>
          <p:cNvSpPr/>
          <p:nvPr/>
        </p:nvSpPr>
        <p:spPr>
          <a:xfrm>
            <a:off x="6786563" y="2228848"/>
            <a:ext cx="138588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FED77861-D69D-9416-68C5-D3AF5043775A}"/>
              </a:ext>
            </a:extLst>
          </p:cNvPr>
          <p:cNvGraphicFramePr>
            <a:graphicFrameLocks noChangeAspect="1"/>
          </p:cNvGraphicFramePr>
          <p:nvPr>
            <p:extLst>
              <p:ext uri="{D42A27DB-BD31-4B8C-83A1-F6EECF244321}">
                <p14:modId xmlns:p14="http://schemas.microsoft.com/office/powerpoint/2010/main" val="2629170635"/>
              </p:ext>
            </p:extLst>
          </p:nvPr>
        </p:nvGraphicFramePr>
        <p:xfrm>
          <a:off x="6943725" y="2256221"/>
          <a:ext cx="1091565" cy="805679"/>
        </p:xfrm>
        <a:graphic>
          <a:graphicData uri="http://schemas.openxmlformats.org/presentationml/2006/ole">
            <mc:AlternateContent xmlns:mc="http://schemas.openxmlformats.org/markup-compatibility/2006">
              <mc:Choice xmlns:v="urn:schemas-microsoft-com:vml" Requires="v">
                <p:oleObj name="Equation" r:id="rId4" imgW="533160" imgH="393480" progId="Equation.DSMT4">
                  <p:embed/>
                </p:oleObj>
              </mc:Choice>
              <mc:Fallback>
                <p:oleObj name="Equation" r:id="rId4" imgW="533160" imgH="393480" progId="Equation.DSMT4">
                  <p:embed/>
                  <p:pic>
                    <p:nvPicPr>
                      <p:cNvPr id="0" name=""/>
                      <p:cNvPicPr/>
                      <p:nvPr/>
                    </p:nvPicPr>
                    <p:blipFill>
                      <a:blip r:embed="rId5"/>
                      <a:stretch>
                        <a:fillRect/>
                      </a:stretch>
                    </p:blipFill>
                    <p:spPr>
                      <a:xfrm>
                        <a:off x="6943725" y="2256221"/>
                        <a:ext cx="1091565" cy="805679"/>
                      </a:xfrm>
                      <a:prstGeom prst="rect">
                        <a:avLst/>
                      </a:prstGeom>
                    </p:spPr>
                  </p:pic>
                </p:oleObj>
              </mc:Fallback>
            </mc:AlternateContent>
          </a:graphicData>
        </a:graphic>
      </p:graphicFrame>
      <p:sp>
        <p:nvSpPr>
          <p:cNvPr id="12" name="Content Placeholder 5">
            <a:extLst>
              <a:ext uri="{FF2B5EF4-FFF2-40B4-BE49-F238E27FC236}">
                <a16:creationId xmlns:a16="http://schemas.microsoft.com/office/drawing/2014/main" id="{69F6035A-9A3E-22A3-9B7D-F8D2328731D9}"/>
              </a:ext>
            </a:extLst>
          </p:cNvPr>
          <p:cNvSpPr txBox="1">
            <a:spLocks noGrp="1"/>
          </p:cNvSpPr>
          <p:nvPr>
            <p:ph type="body" idx="5"/>
          </p:nvPr>
        </p:nvSpPr>
        <p:spPr>
          <a:xfrm>
            <a:off x="3602692" y="3063705"/>
            <a:ext cx="8322610"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To do this, we will need his angular displacement (</a:t>
            </a:r>
            <a:r>
              <a:rPr lang="en-US" sz="2400" dirty="0">
                <a:latin typeface="Times New Roman" panose="02020603050405020304" pitchFamily="18" charset="0"/>
                <a:cs typeface="Times New Roman" panose="02020603050405020304" pitchFamily="18" charset="0"/>
                <a:sym typeface="Symbol" panose="05050102010706020507" pitchFamily="18" charset="2"/>
              </a:rPr>
              <a:t> </a:t>
            </a:r>
            <a:r>
              <a:rPr lang="el-GR" sz="2400" dirty="0">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latin typeface="Times New Roman" panose="02020603050405020304" pitchFamily="18" charset="0"/>
                <a:cs typeface="Times New Roman" panose="02020603050405020304" pitchFamily="18" charset="0"/>
              </a:rPr>
              <a:t>θ</a:t>
            </a:r>
            <a:r>
              <a:rPr lang="en-US" sz="2400" dirty="0">
                <a:latin typeface="Times New Roman" panose="02020603050405020304" pitchFamily="18" charset="0"/>
                <a:cs typeface="Times New Roman" panose="02020603050405020304" pitchFamily="18" charset="0"/>
              </a:rPr>
              <a:t>) in rad.</a:t>
            </a:r>
          </a:p>
        </p:txBody>
      </p:sp>
      <p:sp>
        <p:nvSpPr>
          <p:cNvPr id="13" name="Content Placeholder 6">
            <a:extLst>
              <a:ext uri="{FF2B5EF4-FFF2-40B4-BE49-F238E27FC236}">
                <a16:creationId xmlns:a16="http://schemas.microsoft.com/office/drawing/2014/main" id="{EC9F94DA-0837-77BC-EF11-70A2F0374696}"/>
              </a:ext>
            </a:extLst>
          </p:cNvPr>
          <p:cNvSpPr txBox="1">
            <a:spLocks noGrp="1"/>
          </p:cNvSpPr>
          <p:nvPr>
            <p:ph type="body" idx="6"/>
          </p:nvPr>
        </p:nvSpPr>
        <p:spPr>
          <a:xfrm>
            <a:off x="3626504" y="3501856"/>
            <a:ext cx="8322610"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However, the problem statement tells us his displacement in revolutions, so we need to make that conversion:</a:t>
            </a:r>
          </a:p>
        </p:txBody>
      </p:sp>
      <p:sp>
        <p:nvSpPr>
          <p:cNvPr id="14" name="Rounded Rectangle 13">
            <a:extLst>
              <a:ext uri="{FF2B5EF4-FFF2-40B4-BE49-F238E27FC236}">
                <a16:creationId xmlns:a16="http://schemas.microsoft.com/office/drawing/2014/main" id="{70A894A2-24E1-04DC-27A3-1C1ADAB084F4}"/>
              </a:ext>
              <a:ext uri="{C183D7F6-B498-43B3-948B-1728B52AA6E4}">
                <adec:decorative xmlns:adec="http://schemas.microsoft.com/office/drawing/2017/decorative" val="1"/>
              </a:ext>
            </a:extLst>
          </p:cNvPr>
          <p:cNvSpPr/>
          <p:nvPr/>
        </p:nvSpPr>
        <p:spPr>
          <a:xfrm>
            <a:off x="3757612" y="4476208"/>
            <a:ext cx="7043738" cy="8858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AF197E97-C967-1BE7-5AEE-CA5798658883}"/>
              </a:ext>
              <a:ext uri="{C183D7F6-B498-43B3-948B-1728B52AA6E4}">
                <adec:decorative xmlns:adec="http://schemas.microsoft.com/office/drawing/2017/decorative" val="1"/>
              </a:ext>
            </a:extLst>
          </p:cNvPr>
          <p:cNvCxnSpPr>
            <a:cxnSpLocks/>
          </p:cNvCxnSpPr>
          <p:nvPr/>
        </p:nvCxnSpPr>
        <p:spPr>
          <a:xfrm flipV="1">
            <a:off x="5447043" y="4719097"/>
            <a:ext cx="1068060" cy="429744"/>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556D41F-C8A9-C8AF-E39E-0E765C2E3ACA}"/>
              </a:ext>
              <a:ext uri="{C183D7F6-B498-43B3-948B-1728B52AA6E4}">
                <adec:decorative xmlns:adec="http://schemas.microsoft.com/office/drawing/2017/decorative" val="1"/>
              </a:ext>
            </a:extLst>
          </p:cNvPr>
          <p:cNvCxnSpPr>
            <a:cxnSpLocks/>
          </p:cNvCxnSpPr>
          <p:nvPr/>
        </p:nvCxnSpPr>
        <p:spPr>
          <a:xfrm flipV="1">
            <a:off x="7213930" y="4928647"/>
            <a:ext cx="1068060" cy="429744"/>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E897DB11-6F35-E143-7BD7-8F046B18266D}"/>
              </a:ext>
            </a:extLst>
          </p:cNvPr>
          <p:cNvGraphicFramePr>
            <a:graphicFrameLocks noChangeAspect="1"/>
          </p:cNvGraphicFramePr>
          <p:nvPr>
            <p:extLst>
              <p:ext uri="{D42A27DB-BD31-4B8C-83A1-F6EECF244321}">
                <p14:modId xmlns:p14="http://schemas.microsoft.com/office/powerpoint/2010/main" val="1625978572"/>
              </p:ext>
            </p:extLst>
          </p:nvPr>
        </p:nvGraphicFramePr>
        <p:xfrm>
          <a:off x="3886200" y="4502403"/>
          <a:ext cx="6210300" cy="852487"/>
        </p:xfrm>
        <a:graphic>
          <a:graphicData uri="http://schemas.openxmlformats.org/presentationml/2006/ole">
            <mc:AlternateContent xmlns:mc="http://schemas.openxmlformats.org/markup-compatibility/2006">
              <mc:Choice xmlns:v="urn:schemas-microsoft-com:vml" Requires="v">
                <p:oleObj name="Equation" r:id="rId6" imgW="3149280" imgH="431640" progId="Equation.DSMT4">
                  <p:embed/>
                </p:oleObj>
              </mc:Choice>
              <mc:Fallback>
                <p:oleObj name="Equation" r:id="rId6" imgW="3149280" imgH="431640" progId="Equation.DSMT4">
                  <p:embed/>
                  <p:pic>
                    <p:nvPicPr>
                      <p:cNvPr id="0" name=""/>
                      <p:cNvPicPr/>
                      <p:nvPr/>
                    </p:nvPicPr>
                    <p:blipFill>
                      <a:blip r:embed="rId7"/>
                      <a:stretch>
                        <a:fillRect/>
                      </a:stretch>
                    </p:blipFill>
                    <p:spPr>
                      <a:xfrm>
                        <a:off x="3886200" y="4502403"/>
                        <a:ext cx="6210300" cy="852487"/>
                      </a:xfrm>
                      <a:prstGeom prst="rect">
                        <a:avLst/>
                      </a:prstGeom>
                    </p:spPr>
                  </p:pic>
                </p:oleObj>
              </mc:Fallback>
            </mc:AlternateContent>
          </a:graphicData>
        </a:graphic>
      </p:graphicFrame>
      <p:sp>
        <p:nvSpPr>
          <p:cNvPr id="29" name="Content Placeholder 7">
            <a:extLst>
              <a:ext uri="{FF2B5EF4-FFF2-40B4-BE49-F238E27FC236}">
                <a16:creationId xmlns:a16="http://schemas.microsoft.com/office/drawing/2014/main" id="{BD09B45B-20C6-9D7E-48D8-1BE95F3EF456}"/>
              </a:ext>
            </a:extLst>
          </p:cNvPr>
          <p:cNvSpPr txBox="1">
            <a:spLocks noGrp="1"/>
          </p:cNvSpPr>
          <p:nvPr>
            <p:ph type="body" idx="7"/>
          </p:nvPr>
        </p:nvSpPr>
        <p:spPr>
          <a:xfrm>
            <a:off x="3626504" y="5587831"/>
            <a:ext cx="8322610"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minus sign indicates his rotation direction is clockwise, as shown in the figure.</a:t>
            </a:r>
          </a:p>
        </p:txBody>
      </p:sp>
    </p:spTree>
    <p:extLst>
      <p:ext uri="{BB962C8B-B14F-4D97-AF65-F5344CB8AC3E}">
        <p14:creationId xmlns:p14="http://schemas.microsoft.com/office/powerpoint/2010/main" val="285307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dissolve">
                                      <p:cBhvr>
                                        <p:cTn id="26" dur="500"/>
                                        <p:tgtEl>
                                          <p:spTgt spid="13"/>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dissolv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dissolve">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dissolv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p:bldP spid="13" grpId="0"/>
      <p:bldP spid="14" grpId="0" animBg="1"/>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4FF2-115B-9C51-72CD-9B4C6F020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7047D-C0C5-073F-D04E-85B1F2592780}"/>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(4 of 8)</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6C7F1617-4A89-0378-CBE7-EC55EEA19026}"/>
              </a:ext>
            </a:extLst>
          </p:cNvPr>
          <p:cNvSpPr txBox="1">
            <a:spLocks noGrp="1"/>
          </p:cNvSpPr>
          <p:nvPr>
            <p:ph type="body" idx="1"/>
          </p:nvPr>
        </p:nvSpPr>
        <p:spPr>
          <a:xfrm>
            <a:off x="925576" y="574541"/>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Gymnast on a High Bar</a:t>
            </a:r>
          </a:p>
        </p:txBody>
      </p:sp>
      <p:sp>
        <p:nvSpPr>
          <p:cNvPr id="25" name="Content Placeholder 2">
            <a:extLst>
              <a:ext uri="{FF2B5EF4-FFF2-40B4-BE49-F238E27FC236}">
                <a16:creationId xmlns:a16="http://schemas.microsoft.com/office/drawing/2014/main" id="{BECB0C7B-BECB-521E-7330-E0764C487091}"/>
              </a:ext>
            </a:extLst>
          </p:cNvPr>
          <p:cNvSpPr txBox="1">
            <a:spLocks noGrp="1"/>
          </p:cNvSpPr>
          <p:nvPr>
            <p:ph type="body" idx="2"/>
          </p:nvPr>
        </p:nvSpPr>
        <p:spPr>
          <a:xfrm>
            <a:off x="938586" y="1109275"/>
            <a:ext cx="10228729"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can now calculate his average angular velocity in rad/s:</a:t>
            </a:r>
          </a:p>
        </p:txBody>
      </p:sp>
      <p:sp>
        <p:nvSpPr>
          <p:cNvPr id="11" name="Rounded Rectangle 10">
            <a:extLst>
              <a:ext uri="{FF2B5EF4-FFF2-40B4-BE49-F238E27FC236}">
                <a16:creationId xmlns:a16="http://schemas.microsoft.com/office/drawing/2014/main" id="{5C4D73E6-AC6B-6C00-67E7-29F4C739050D}"/>
              </a:ext>
              <a:ext uri="{C183D7F6-B498-43B3-948B-1728B52AA6E4}">
                <adec:decorative xmlns:adec="http://schemas.microsoft.com/office/drawing/2017/decorative" val="1"/>
              </a:ext>
            </a:extLst>
          </p:cNvPr>
          <p:cNvSpPr/>
          <p:nvPr/>
        </p:nvSpPr>
        <p:spPr>
          <a:xfrm>
            <a:off x="3721630" y="1703914"/>
            <a:ext cx="494823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Object 6">
            <a:extLst>
              <a:ext uri="{FF2B5EF4-FFF2-40B4-BE49-F238E27FC236}">
                <a16:creationId xmlns:a16="http://schemas.microsoft.com/office/drawing/2014/main" id="{5A83326F-A7DB-E5D8-B573-9D82BD6DFFBE}"/>
              </a:ext>
            </a:extLst>
          </p:cNvPr>
          <p:cNvGraphicFramePr>
            <a:graphicFrameLocks noChangeAspect="1"/>
          </p:cNvGraphicFramePr>
          <p:nvPr>
            <p:extLst>
              <p:ext uri="{D42A27DB-BD31-4B8C-83A1-F6EECF244321}">
                <p14:modId xmlns:p14="http://schemas.microsoft.com/office/powerpoint/2010/main" val="3340072532"/>
              </p:ext>
            </p:extLst>
          </p:nvPr>
        </p:nvGraphicFramePr>
        <p:xfrm>
          <a:off x="4090954" y="1798568"/>
          <a:ext cx="4343400" cy="787400"/>
        </p:xfrm>
        <a:graphic>
          <a:graphicData uri="http://schemas.openxmlformats.org/presentationml/2006/ole">
            <mc:AlternateContent xmlns:mc="http://schemas.openxmlformats.org/markup-compatibility/2006">
              <mc:Choice xmlns:v="urn:schemas-microsoft-com:vml" Requires="v">
                <p:oleObj name="Equation" r:id="rId3" imgW="2171520" imgH="393480" progId="Equation.DSMT4">
                  <p:embed/>
                </p:oleObj>
              </mc:Choice>
              <mc:Fallback>
                <p:oleObj name="Equation" r:id="rId3" imgW="2171520" imgH="393480" progId="Equation.DSMT4">
                  <p:embed/>
                  <p:pic>
                    <p:nvPicPr>
                      <p:cNvPr id="0" name=""/>
                      <p:cNvPicPr/>
                      <p:nvPr/>
                    </p:nvPicPr>
                    <p:blipFill>
                      <a:blip r:embed="rId4"/>
                      <a:stretch>
                        <a:fillRect/>
                      </a:stretch>
                    </p:blipFill>
                    <p:spPr>
                      <a:xfrm>
                        <a:off x="4090954" y="1798568"/>
                        <a:ext cx="4343400" cy="787400"/>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54DC16A-5704-E790-E03F-EF5A86008E18}"/>
              </a:ext>
              <a:ext uri="{C183D7F6-B498-43B3-948B-1728B52AA6E4}">
                <adec:decorative xmlns:adec="http://schemas.microsoft.com/office/drawing/2017/decorative" val="1"/>
              </a:ext>
            </a:extLst>
          </p:cNvPr>
          <p:cNvSpPr/>
          <p:nvPr/>
        </p:nvSpPr>
        <p:spPr>
          <a:xfrm>
            <a:off x="6976533" y="1963371"/>
            <a:ext cx="1540934" cy="4233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3">
            <a:extLst>
              <a:ext uri="{FF2B5EF4-FFF2-40B4-BE49-F238E27FC236}">
                <a16:creationId xmlns:a16="http://schemas.microsoft.com/office/drawing/2014/main" id="{14B4A906-2128-1BCD-60C8-6CBFAFD8C0DE}"/>
              </a:ext>
            </a:extLst>
          </p:cNvPr>
          <p:cNvPicPr>
            <a:picLocks noGrp="1" noChangeAspect="1"/>
          </p:cNvPicPr>
          <p:nvPr>
            <p:ph type="pic" idx="3"/>
          </p:nvPr>
        </p:nvPicPr>
        <p:blipFill>
          <a:blip r:embed="rId5"/>
          <a:stretch>
            <a:fillRect/>
          </a:stretch>
        </p:blipFill>
        <p:spPr>
          <a:xfrm>
            <a:off x="2190" y="2247899"/>
            <a:ext cx="3719440" cy="4077079"/>
          </a:xfrm>
          <a:prstGeom prst="rect">
            <a:avLst/>
          </a:prstGeom>
        </p:spPr>
      </p:pic>
    </p:spTree>
    <p:extLst>
      <p:ext uri="{BB962C8B-B14F-4D97-AF65-F5344CB8AC3E}">
        <p14:creationId xmlns:p14="http://schemas.microsoft.com/office/powerpoint/2010/main" val="36325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552C-17CA-043E-8B88-0A1BD568B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C07B9-DADA-E364-38E5-6FDEF7246097}"/>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(5 of 8)</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DFB7A072-57AD-22A6-AEBB-8D3283430246}"/>
              </a:ext>
            </a:extLst>
          </p:cNvPr>
          <p:cNvSpPr txBox="1">
            <a:spLocks noGrp="1"/>
          </p:cNvSpPr>
          <p:nvPr>
            <p:ph type="body" idx="1"/>
          </p:nvPr>
        </p:nvSpPr>
        <p:spPr>
          <a:xfrm>
            <a:off x="931335" y="602067"/>
            <a:ext cx="4063998" cy="52322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007440"/>
                </a:solidFill>
                <a:latin typeface="Times New Roman" panose="02020603050405020304" pitchFamily="18" charset="0"/>
                <a:cs typeface="Times New Roman" panose="02020603050405020304" pitchFamily="18" charset="0"/>
              </a:rPr>
              <a:t>Angular Acceleration</a:t>
            </a:r>
          </a:p>
        </p:txBody>
      </p:sp>
      <p:sp>
        <p:nvSpPr>
          <p:cNvPr id="9" name="Content Placeholder 2">
            <a:extLst>
              <a:ext uri="{FF2B5EF4-FFF2-40B4-BE49-F238E27FC236}">
                <a16:creationId xmlns:a16="http://schemas.microsoft.com/office/drawing/2014/main" id="{EC8BD9A6-3F67-E604-0CDB-05F36F0564F9}"/>
              </a:ext>
            </a:extLst>
          </p:cNvPr>
          <p:cNvSpPr txBox="1">
            <a:spLocks noGrp="1"/>
          </p:cNvSpPr>
          <p:nvPr>
            <p:ph type="body" idx="2"/>
          </p:nvPr>
        </p:nvSpPr>
        <p:spPr>
          <a:xfrm>
            <a:off x="948267" y="1083733"/>
            <a:ext cx="10634133"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In Chapter 05, we studied uniform circular motion, in which an object moved along a circular path at constant angular velocity (i.e. constant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a:t>
            </a:r>
          </a:p>
        </p:txBody>
      </p:sp>
      <p:sp>
        <p:nvSpPr>
          <p:cNvPr id="12" name="Content Placeholder 3">
            <a:extLst>
              <a:ext uri="{FF2B5EF4-FFF2-40B4-BE49-F238E27FC236}">
                <a16:creationId xmlns:a16="http://schemas.microsoft.com/office/drawing/2014/main" id="{3DD2D2A2-691B-4154-D7F9-907F2485F1F7}"/>
              </a:ext>
            </a:extLst>
          </p:cNvPr>
          <p:cNvSpPr txBox="1">
            <a:spLocks noGrp="1"/>
          </p:cNvSpPr>
          <p:nvPr>
            <p:ph type="body" idx="3"/>
          </p:nvPr>
        </p:nvSpPr>
        <p:spPr>
          <a:xfrm>
            <a:off x="220134" y="1896532"/>
            <a:ext cx="12192000"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Although its speed remained constant, its direction was continually changing, so the object was accelerating. We called this inward acceleration the</a:t>
            </a:r>
          </a:p>
        </p:txBody>
      </p:sp>
      <p:sp>
        <p:nvSpPr>
          <p:cNvPr id="13" name="Rounded Rectangle 12">
            <a:extLst>
              <a:ext uri="{FF2B5EF4-FFF2-40B4-BE49-F238E27FC236}">
                <a16:creationId xmlns:a16="http://schemas.microsoft.com/office/drawing/2014/main" id="{8D1ED149-BE7B-5586-497F-2939F7103F89}"/>
              </a:ext>
              <a:ext uri="{C183D7F6-B498-43B3-948B-1728B52AA6E4}">
                <adec:decorative xmlns:adec="http://schemas.microsoft.com/office/drawing/2017/decorative" val="1"/>
              </a:ext>
            </a:extLst>
          </p:cNvPr>
          <p:cNvSpPr/>
          <p:nvPr/>
        </p:nvSpPr>
        <p:spPr>
          <a:xfrm>
            <a:off x="6688666" y="2302931"/>
            <a:ext cx="3572934" cy="3894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4">
            <a:extLst>
              <a:ext uri="{FF2B5EF4-FFF2-40B4-BE49-F238E27FC236}">
                <a16:creationId xmlns:a16="http://schemas.microsoft.com/office/drawing/2014/main" id="{D290E82C-7E07-C7DC-6C0E-B8C80EB61CE3}"/>
              </a:ext>
            </a:extLst>
          </p:cNvPr>
          <p:cNvSpPr txBox="1">
            <a:spLocks noGrp="1"/>
          </p:cNvSpPr>
          <p:nvPr>
            <p:ph type="body" idx="4"/>
          </p:nvPr>
        </p:nvSpPr>
        <p:spPr>
          <a:xfrm>
            <a:off x="6688666" y="2292923"/>
            <a:ext cx="3674532"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centripetal acceleration</a:t>
            </a:r>
          </a:p>
        </p:txBody>
      </p:sp>
      <p:sp>
        <p:nvSpPr>
          <p:cNvPr id="4" name="Content Placeholder 5">
            <a:extLst>
              <a:ext uri="{FF2B5EF4-FFF2-40B4-BE49-F238E27FC236}">
                <a16:creationId xmlns:a16="http://schemas.microsoft.com/office/drawing/2014/main" id="{193C830A-A7EA-5566-3D98-3DEB930D8F45}"/>
              </a:ext>
            </a:extLst>
          </p:cNvPr>
          <p:cNvSpPr txBox="1">
            <a:spLocks noGrp="1"/>
          </p:cNvSpPr>
          <p:nvPr>
            <p:ph type="body" idx="5"/>
          </p:nvPr>
        </p:nvSpPr>
        <p:spPr>
          <a:xfrm>
            <a:off x="10278536" y="2286853"/>
            <a:ext cx="291442" cy="47454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endParaRPr lang="en-US" dirty="0">
              <a:latin typeface="Times New Roman"/>
            </a:endParaRPr>
          </a:p>
        </p:txBody>
      </p:sp>
      <p:sp>
        <p:nvSpPr>
          <p:cNvPr id="16" name="Content Placeholder 6">
            <a:extLst>
              <a:ext uri="{FF2B5EF4-FFF2-40B4-BE49-F238E27FC236}">
                <a16:creationId xmlns:a16="http://schemas.microsoft.com/office/drawing/2014/main" id="{4177EEDA-90E1-9CFE-CA7E-80B4743A5C1D}"/>
              </a:ext>
            </a:extLst>
          </p:cNvPr>
          <p:cNvSpPr txBox="1">
            <a:spLocks noGrp="1"/>
          </p:cNvSpPr>
          <p:nvPr>
            <p:ph type="body" idx="6"/>
          </p:nvPr>
        </p:nvSpPr>
        <p:spPr>
          <a:xfrm>
            <a:off x="1016002" y="2743205"/>
            <a:ext cx="10634133"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we remove the requirement that the angular velocity remains constant, i.e. the object may spin faster or slower as it rotates.</a:t>
            </a:r>
          </a:p>
        </p:txBody>
      </p:sp>
      <p:sp>
        <p:nvSpPr>
          <p:cNvPr id="17" name="Content Placeholder 7">
            <a:extLst>
              <a:ext uri="{FF2B5EF4-FFF2-40B4-BE49-F238E27FC236}">
                <a16:creationId xmlns:a16="http://schemas.microsoft.com/office/drawing/2014/main" id="{51A4867E-B581-D419-6961-205B6A2504FB}"/>
              </a:ext>
            </a:extLst>
          </p:cNvPr>
          <p:cNvSpPr txBox="1">
            <a:spLocks noGrp="1"/>
          </p:cNvSpPr>
          <p:nvPr>
            <p:ph type="body" idx="7"/>
          </p:nvPr>
        </p:nvSpPr>
        <p:spPr>
          <a:xfrm>
            <a:off x="254002" y="3505207"/>
            <a:ext cx="12191998"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 change in </a:t>
            </a:r>
            <a:r>
              <a:rPr lang="en-US" sz="2400" dirty="0">
                <a:solidFill>
                  <a:srgbClr val="007440"/>
                </a:solidFill>
                <a:latin typeface="Times New Roman" panose="02020603050405020304" pitchFamily="18" charset="0"/>
                <a:cs typeface="Times New Roman" panose="02020603050405020304" pitchFamily="18" charset="0"/>
              </a:rPr>
              <a:t>angular velocity </a:t>
            </a:r>
            <a:r>
              <a:rPr lang="en-US" sz="2400" dirty="0">
                <a:latin typeface="Times New Roman" panose="02020603050405020304" pitchFamily="18" charset="0"/>
                <a:cs typeface="Times New Roman" panose="02020603050405020304" pitchFamily="18" charset="0"/>
              </a:rPr>
              <a:t>gives rise to a new quantity called the</a:t>
            </a:r>
          </a:p>
        </p:txBody>
      </p:sp>
      <p:sp>
        <p:nvSpPr>
          <p:cNvPr id="19" name="Rounded Rectangle 18">
            <a:extLst>
              <a:ext uri="{FF2B5EF4-FFF2-40B4-BE49-F238E27FC236}">
                <a16:creationId xmlns:a16="http://schemas.microsoft.com/office/drawing/2014/main" id="{3A0A0F84-249B-B937-6891-B296B3BCDEA1}"/>
              </a:ext>
              <a:ext uri="{C183D7F6-B498-43B3-948B-1728B52AA6E4}">
                <adec:decorative xmlns:adec="http://schemas.microsoft.com/office/drawing/2017/decorative" val="1"/>
              </a:ext>
            </a:extLst>
          </p:cNvPr>
          <p:cNvSpPr/>
          <p:nvPr/>
        </p:nvSpPr>
        <p:spPr>
          <a:xfrm>
            <a:off x="8529088" y="3539071"/>
            <a:ext cx="3171845" cy="440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8">
            <a:extLst>
              <a:ext uri="{FF2B5EF4-FFF2-40B4-BE49-F238E27FC236}">
                <a16:creationId xmlns:a16="http://schemas.microsoft.com/office/drawing/2014/main" id="{A18AC9D9-090A-1AFB-C1CF-3651D169A77F}"/>
              </a:ext>
            </a:extLst>
          </p:cNvPr>
          <p:cNvSpPr txBox="1">
            <a:spLocks noGrp="1"/>
          </p:cNvSpPr>
          <p:nvPr>
            <p:ph type="body" idx="8"/>
          </p:nvPr>
        </p:nvSpPr>
        <p:spPr>
          <a:xfrm>
            <a:off x="8531757" y="3533131"/>
            <a:ext cx="3234266"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angular acceleration</a:t>
            </a:r>
          </a:p>
        </p:txBody>
      </p:sp>
      <p:sp>
        <p:nvSpPr>
          <p:cNvPr id="6" name="Content Placeholder 9">
            <a:extLst>
              <a:ext uri="{FF2B5EF4-FFF2-40B4-BE49-F238E27FC236}">
                <a16:creationId xmlns:a16="http://schemas.microsoft.com/office/drawing/2014/main" id="{4F976F81-879F-3184-6B41-0145B4D7CFB2}"/>
              </a:ext>
            </a:extLst>
          </p:cNvPr>
          <p:cNvSpPr txBox="1">
            <a:spLocks noGrp="1"/>
          </p:cNvSpPr>
          <p:nvPr>
            <p:ph type="body" idx="9"/>
          </p:nvPr>
        </p:nvSpPr>
        <p:spPr>
          <a:xfrm>
            <a:off x="11700933" y="3539075"/>
            <a:ext cx="2317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2" name="Content Placeholder 10">
            <a:extLst>
              <a:ext uri="{FF2B5EF4-FFF2-40B4-BE49-F238E27FC236}">
                <a16:creationId xmlns:a16="http://schemas.microsoft.com/office/drawing/2014/main" id="{58EF3DFE-1E46-200B-8D68-173F9135C395}"/>
              </a:ext>
            </a:extLst>
          </p:cNvPr>
          <p:cNvSpPr txBox="1">
            <a:spLocks noGrp="1"/>
          </p:cNvSpPr>
          <p:nvPr>
            <p:ph type="body" idx="10"/>
          </p:nvPr>
        </p:nvSpPr>
        <p:spPr>
          <a:xfrm>
            <a:off x="1828802" y="4013207"/>
            <a:ext cx="9414931"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a:t>
            </a:r>
            <a:r>
              <a:rPr lang="en-US" sz="2400" dirty="0">
                <a:solidFill>
                  <a:srgbClr val="007440"/>
                </a:solidFill>
                <a:latin typeface="Times New Roman" panose="02020603050405020304" pitchFamily="18" charset="0"/>
                <a:cs typeface="Times New Roman" panose="02020603050405020304" pitchFamily="18" charset="0"/>
              </a:rPr>
              <a:t>angular acceleration </a:t>
            </a:r>
            <a:r>
              <a:rPr lang="en-US" sz="2400" dirty="0">
                <a:latin typeface="Times New Roman" panose="02020603050405020304" pitchFamily="18" charset="0"/>
                <a:cs typeface="Times New Roman" panose="02020603050405020304" pitchFamily="18" charset="0"/>
              </a:rPr>
              <a:t>is denoted by the Greek letter “alpha” (</a:t>
            </a:r>
            <a:r>
              <a:rPr lang="en-US" sz="2400"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a:t>
            </a:r>
          </a:p>
        </p:txBody>
      </p:sp>
      <p:sp>
        <p:nvSpPr>
          <p:cNvPr id="26" name="Rectangle 25">
            <a:extLst>
              <a:ext uri="{FF2B5EF4-FFF2-40B4-BE49-F238E27FC236}">
                <a16:creationId xmlns:a16="http://schemas.microsoft.com/office/drawing/2014/main" id="{E5DD5244-58D7-7236-BF54-0C2E452792B5}"/>
              </a:ext>
              <a:ext uri="{C183D7F6-B498-43B3-948B-1728B52AA6E4}">
                <adec:decorative xmlns:adec="http://schemas.microsoft.com/office/drawing/2017/decorative" val="1"/>
              </a:ext>
            </a:extLst>
          </p:cNvPr>
          <p:cNvSpPr/>
          <p:nvPr/>
        </p:nvSpPr>
        <p:spPr>
          <a:xfrm>
            <a:off x="125506" y="4525384"/>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ntent Placeholder 11">
            <a:extLst>
              <a:ext uri="{FF2B5EF4-FFF2-40B4-BE49-F238E27FC236}">
                <a16:creationId xmlns:a16="http://schemas.microsoft.com/office/drawing/2014/main" id="{D742425F-CCA4-6424-F769-5F7A3552D212}"/>
              </a:ext>
            </a:extLst>
          </p:cNvPr>
          <p:cNvSpPr txBox="1">
            <a:spLocks noGrp="1"/>
          </p:cNvSpPr>
          <p:nvPr>
            <p:ph type="body" idx="11"/>
          </p:nvPr>
        </p:nvSpPr>
        <p:spPr>
          <a:xfrm>
            <a:off x="208057" y="4563037"/>
            <a:ext cx="11243992"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srgbClr val="C00000"/>
                </a:solidFill>
                <a:latin typeface="Times New Roman" panose="02020603050405020304" pitchFamily="18" charset="0"/>
                <a:cs typeface="Times New Roman" panose="02020603050405020304" pitchFamily="18" charset="0"/>
              </a:rPr>
              <a:t>DEFINITION OF AVERAGE ANGULAR ACCELERATION</a:t>
            </a:r>
            <a:r>
              <a:rPr lang="en-US" sz="2400" dirty="0">
                <a:latin typeface="Times New Roman" panose="02020603050405020304" pitchFamily="18" charset="0"/>
                <a:cs typeface="Times New Roman" panose="02020603050405020304" pitchFamily="18" charset="0"/>
              </a:rPr>
              <a:t>	</a:t>
            </a:r>
          </a:p>
        </p:txBody>
      </p:sp>
      <p:graphicFrame>
        <p:nvGraphicFramePr>
          <p:cNvPr id="8" name="Object 7">
            <a:extLst>
              <a:ext uri="{FF2B5EF4-FFF2-40B4-BE49-F238E27FC236}">
                <a16:creationId xmlns:a16="http://schemas.microsoft.com/office/drawing/2014/main" id="{ED18A053-9ADD-503B-695B-DD397648DAAC}"/>
              </a:ext>
            </a:extLst>
          </p:cNvPr>
          <p:cNvGraphicFramePr>
            <a:graphicFrameLocks noChangeAspect="1"/>
          </p:cNvGraphicFramePr>
          <p:nvPr>
            <p:extLst>
              <p:ext uri="{D42A27DB-BD31-4B8C-83A1-F6EECF244321}">
                <p14:modId xmlns:p14="http://schemas.microsoft.com/office/powerpoint/2010/main" val="2366544440"/>
              </p:ext>
            </p:extLst>
          </p:nvPr>
        </p:nvGraphicFramePr>
        <p:xfrm>
          <a:off x="241299" y="5000625"/>
          <a:ext cx="11002433" cy="918734"/>
        </p:xfrm>
        <a:graphic>
          <a:graphicData uri="http://schemas.openxmlformats.org/presentationml/2006/ole">
            <mc:AlternateContent xmlns:mc="http://schemas.openxmlformats.org/markup-compatibility/2006">
              <mc:Choice xmlns:v="urn:schemas-microsoft-com:vml" Requires="v">
                <p:oleObj name="Equation" r:id="rId3" imgW="5168880" imgH="431640" progId="Equation.DSMT4">
                  <p:embed/>
                </p:oleObj>
              </mc:Choice>
              <mc:Fallback>
                <p:oleObj name="Equation" r:id="rId3" imgW="5168880" imgH="431640" progId="Equation.DSMT4">
                  <p:embed/>
                  <p:pic>
                    <p:nvPicPr>
                      <p:cNvPr id="0" name=""/>
                      <p:cNvPicPr/>
                      <p:nvPr/>
                    </p:nvPicPr>
                    <p:blipFill>
                      <a:blip r:embed="rId4"/>
                      <a:stretch>
                        <a:fillRect/>
                      </a:stretch>
                    </p:blipFill>
                    <p:spPr>
                      <a:xfrm>
                        <a:off x="241299" y="5000625"/>
                        <a:ext cx="11002433" cy="918734"/>
                      </a:xfrm>
                      <a:prstGeom prst="rect">
                        <a:avLst/>
                      </a:prstGeom>
                    </p:spPr>
                  </p:pic>
                </p:oleObj>
              </mc:Fallback>
            </mc:AlternateContent>
          </a:graphicData>
        </a:graphic>
      </p:graphicFrame>
      <p:sp>
        <p:nvSpPr>
          <p:cNvPr id="28" name="Content Placeholder 12">
            <a:extLst>
              <a:ext uri="{FF2B5EF4-FFF2-40B4-BE49-F238E27FC236}">
                <a16:creationId xmlns:a16="http://schemas.microsoft.com/office/drawing/2014/main" id="{4D51700E-BEB2-365C-79FE-5BA60C39E71F}"/>
              </a:ext>
            </a:extLst>
          </p:cNvPr>
          <p:cNvSpPr txBox="1">
            <a:spLocks noGrp="1"/>
          </p:cNvSpPr>
          <p:nvPr>
            <p:ph type="body" idx="12"/>
          </p:nvPr>
        </p:nvSpPr>
        <p:spPr>
          <a:xfrm>
            <a:off x="11340339" y="5151159"/>
            <a:ext cx="118473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itchFamily="2" charset="0"/>
              </a:rPr>
              <a:t>(</a:t>
            </a:r>
            <a:r>
              <a:rPr lang="en-US" sz="2400" b="1" dirty="0">
                <a:latin typeface="Times New Roman" pitchFamily="2" charset="0"/>
              </a:rPr>
              <a:t>8.4</a:t>
            </a:r>
            <a:r>
              <a:rPr lang="en-US" sz="2400" dirty="0">
                <a:latin typeface="Times New Roman" pitchFamily="2" charset="0"/>
              </a:rPr>
              <a:t>)</a:t>
            </a:r>
          </a:p>
        </p:txBody>
      </p:sp>
      <p:sp>
        <p:nvSpPr>
          <p:cNvPr id="29" name="Content Placeholder 13">
            <a:extLst>
              <a:ext uri="{FF2B5EF4-FFF2-40B4-BE49-F238E27FC236}">
                <a16:creationId xmlns:a16="http://schemas.microsoft.com/office/drawing/2014/main" id="{C0370C0A-38D2-8414-5845-00232F138CDF}"/>
              </a:ext>
            </a:extLst>
          </p:cNvPr>
          <p:cNvSpPr txBox="1">
            <a:spLocks noGrp="1"/>
          </p:cNvSpPr>
          <p:nvPr>
            <p:ph type="body" idx="13"/>
          </p:nvPr>
        </p:nvSpPr>
        <p:spPr>
          <a:xfrm>
            <a:off x="380999" y="5937356"/>
            <a:ext cx="10439401"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rPr>
              <a:t>SI Unit of Angular Acceleration: radian per second squared (rad/s</a:t>
            </a:r>
            <a:r>
              <a:rPr lang="en-US" sz="2400" b="1" baseline="30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8768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dissolv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dissolv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dissolve">
                                      <p:cBhvr>
                                        <p:cTn id="33" dur="500"/>
                                        <p:tgtEl>
                                          <p:spTgt spid="17"/>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dissolve">
                                      <p:cBhvr>
                                        <p:cTn id="36" dur="500"/>
                                        <p:tgtEl>
                                          <p:spTgt spid="6"/>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dissolv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dissolv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dissolve">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dissolve">
                                      <p:cBhvr>
                                        <p:cTn id="54" dur="500"/>
                                        <p:tgtEl>
                                          <p:spTgt spid="26"/>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dissolve">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dissolve">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dissolv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dissolve">
                                      <p:cBhvr>
                                        <p:cTn id="7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animBg="1"/>
      <p:bldP spid="14" grpId="0"/>
      <p:bldP spid="4" grpId="0"/>
      <p:bldP spid="16" grpId="0"/>
      <p:bldP spid="17" grpId="0"/>
      <p:bldP spid="19" grpId="0" animBg="1"/>
      <p:bldP spid="18" grpId="0"/>
      <p:bldP spid="6" grpId="0"/>
      <p:bldP spid="32" grpId="0"/>
      <p:bldP spid="26" grpId="0" animBg="1"/>
      <p:bldP spid="24" grpId="0"/>
      <p:bldP spid="28"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C442F-A872-5CE5-B339-0AE71CF10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EAC6A-6EF0-88BD-7256-2DDB20044F29}"/>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(6 of 8)</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2D16C735-1D10-80CD-1459-39FAB3F69ED2}"/>
              </a:ext>
            </a:extLst>
          </p:cNvPr>
          <p:cNvSpPr txBox="1">
            <a:spLocks noGrp="1"/>
          </p:cNvSpPr>
          <p:nvPr>
            <p:ph type="body" idx="1"/>
          </p:nvPr>
        </p:nvSpPr>
        <p:spPr>
          <a:xfrm>
            <a:off x="948267" y="846666"/>
            <a:ext cx="1063413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In Chapters 02 and 03, we assumed that the linear acceleration (</a:t>
            </a:r>
            <a:r>
              <a:rPr lang="en-US" sz="2400" b="1"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was constant.</a:t>
            </a:r>
          </a:p>
        </p:txBody>
      </p:sp>
      <p:sp>
        <p:nvSpPr>
          <p:cNvPr id="4" name="Content Placeholder 2">
            <a:extLst>
              <a:ext uri="{FF2B5EF4-FFF2-40B4-BE49-F238E27FC236}">
                <a16:creationId xmlns:a16="http://schemas.microsoft.com/office/drawing/2014/main" id="{A20A41F5-9DD8-EFB1-9D0D-FB433442AC77}"/>
              </a:ext>
            </a:extLst>
          </p:cNvPr>
          <p:cNvSpPr txBox="1">
            <a:spLocks noGrp="1"/>
          </p:cNvSpPr>
          <p:nvPr>
            <p:ph type="body" idx="2"/>
          </p:nvPr>
        </p:nvSpPr>
        <p:spPr>
          <a:xfrm>
            <a:off x="948267" y="1710266"/>
            <a:ext cx="10634133"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Here, we assume a similar condition and only consider motion with constant angular acceleration (</a:t>
            </a:r>
            <a:r>
              <a:rPr lang="en-US" sz="2400" b="1"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 </a:t>
            </a:r>
          </a:p>
        </p:txBody>
      </p:sp>
      <p:sp>
        <p:nvSpPr>
          <p:cNvPr id="5" name="Content Placeholder 3">
            <a:extLst>
              <a:ext uri="{FF2B5EF4-FFF2-40B4-BE49-F238E27FC236}">
                <a16:creationId xmlns:a16="http://schemas.microsoft.com/office/drawing/2014/main" id="{5ECB6290-CE49-5CEE-CDB9-D6284CB4A4AD}"/>
              </a:ext>
            </a:extLst>
          </p:cNvPr>
          <p:cNvSpPr txBox="1">
            <a:spLocks noGrp="1"/>
          </p:cNvSpPr>
          <p:nvPr>
            <p:ph type="body" idx="3"/>
          </p:nvPr>
        </p:nvSpPr>
        <p:spPr>
          <a:xfrm>
            <a:off x="950026" y="3035487"/>
            <a:ext cx="10225974"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ct val="50000"/>
              </a:spcBef>
              <a:spcAft>
                <a:spcPts val="0"/>
              </a:spcAft>
              <a:buNone/>
            </a:pPr>
            <a:r>
              <a:rPr lang="en-US" altLang="en-US" sz="2400" dirty="0">
                <a:latin typeface="Times New Roman" panose="02020603050405020304" pitchFamily="18" charset="0"/>
                <a:cs typeface="Times New Roman" panose="02020603050405020304" pitchFamily="18" charset="0"/>
              </a:rPr>
              <a:t>And like we did for linear motion, where we defined the </a:t>
            </a:r>
            <a:r>
              <a:rPr lang="en-US" altLang="en-US" sz="2400" i="1" dirty="0">
                <a:latin typeface="Times New Roman" panose="02020603050405020304" pitchFamily="18" charset="0"/>
                <a:cs typeface="Times New Roman" panose="02020603050405020304" pitchFamily="18" charset="0"/>
              </a:rPr>
              <a:t>instantaneous acceleration</a:t>
            </a:r>
            <a:r>
              <a:rPr lang="en-US" altLang="en-US" sz="2400" dirty="0">
                <a:latin typeface="Times New Roman" panose="02020603050405020304" pitchFamily="18" charset="0"/>
                <a:cs typeface="Times New Roman" panose="02020603050405020304" pitchFamily="18" charset="0"/>
              </a:rPr>
              <a:t>, we can also define the </a:t>
            </a:r>
            <a:r>
              <a:rPr lang="en-US" altLang="en-US" sz="2400" dirty="0">
                <a:solidFill>
                  <a:srgbClr val="007440"/>
                </a:solidFill>
                <a:latin typeface="Times New Roman" panose="02020603050405020304" pitchFamily="18" charset="0"/>
                <a:cs typeface="Times New Roman" panose="02020603050405020304" pitchFamily="18" charset="0"/>
              </a:rPr>
              <a:t>instantaneous angular acceleration (</a:t>
            </a:r>
            <a:r>
              <a:rPr lang="en-US" sz="2400" i="1" dirty="0">
                <a:solidFill>
                  <a:srgbClr val="007440"/>
                </a:solidFill>
                <a:latin typeface="Times New Roman" panose="02020603050405020304" pitchFamily="18" charset="0"/>
                <a:cs typeface="Times New Roman" panose="02020603050405020304" pitchFamily="18" charset="0"/>
              </a:rPr>
              <a:t>α</a:t>
            </a:r>
            <a:r>
              <a:rPr lang="en-US" altLang="en-US" sz="2400" baseline="-25000" dirty="0">
                <a:solidFill>
                  <a:srgbClr val="007440"/>
                </a:solidFill>
                <a:latin typeface="Times New Roman" panose="02020603050405020304" pitchFamily="18" charset="0"/>
                <a:cs typeface="Times New Roman" panose="02020603050405020304" pitchFamily="18" charset="0"/>
              </a:rPr>
              <a:t>ins</a:t>
            </a:r>
            <a:r>
              <a:rPr lang="en-US" altLang="en-US" sz="2400" dirty="0">
                <a:solidFill>
                  <a:srgbClr val="007440"/>
                </a:solidFill>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a:t>
            </a:r>
          </a:p>
        </p:txBody>
      </p:sp>
      <p:graphicFrame>
        <p:nvGraphicFramePr>
          <p:cNvPr id="10" name="Object 14">
            <a:extLst>
              <a:ext uri="{FF2B5EF4-FFF2-40B4-BE49-F238E27FC236}">
                <a16:creationId xmlns:a16="http://schemas.microsoft.com/office/drawing/2014/main" id="{6DC2577A-7CA3-70DB-6303-3466AD890CB9}"/>
              </a:ext>
            </a:extLst>
          </p:cNvPr>
          <p:cNvGraphicFramePr>
            <a:graphicFrameLocks noChangeAspect="1"/>
          </p:cNvGraphicFramePr>
          <p:nvPr>
            <p:extLst>
              <p:ext uri="{D42A27DB-BD31-4B8C-83A1-F6EECF244321}">
                <p14:modId xmlns:p14="http://schemas.microsoft.com/office/powerpoint/2010/main" val="1817663866"/>
              </p:ext>
            </p:extLst>
          </p:nvPr>
        </p:nvGraphicFramePr>
        <p:xfrm>
          <a:off x="4902200" y="4047065"/>
          <a:ext cx="1969744" cy="872597"/>
        </p:xfrm>
        <a:graphic>
          <a:graphicData uri="http://schemas.openxmlformats.org/presentationml/2006/ole">
            <mc:AlternateContent xmlns:mc="http://schemas.openxmlformats.org/markup-compatibility/2006">
              <mc:Choice xmlns:v="urn:schemas-microsoft-com:vml" Requires="v">
                <p:oleObj name="Microsoft Equation 3.0" r:id="rId3" imgW="20485100" imgH="9067800" progId="Equation.DSMT4">
                  <p:embed/>
                </p:oleObj>
              </mc:Choice>
              <mc:Fallback>
                <p:oleObj name="Microsoft Equation 3.0" r:id="rId3" imgW="20485100" imgH="9067800" progId="Equation.DSMT4">
                  <p:embed/>
                  <p:pic>
                    <p:nvPicPr>
                      <p:cNvPr id="12302" name="Object 14">
                        <a:extLst>
                          <a:ext uri="{FF2B5EF4-FFF2-40B4-BE49-F238E27FC236}">
                            <a16:creationId xmlns:a16="http://schemas.microsoft.com/office/drawing/2014/main" id="{9DDF7678-5F62-0FEE-BCB6-579DAC865F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2200" y="4047065"/>
                        <a:ext cx="1969744" cy="87259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9343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par>
                          <p:cTn id="18" fill="hold">
                            <p:stCondLst>
                              <p:cond delay="500"/>
                            </p:stCondLst>
                            <p:childTnLst>
                              <p:par>
                                <p:cTn id="19" presetID="4"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B639-8218-A05B-222F-CBAA54A28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4A53F-A084-3F3B-D8CD-DF9EED516310}"/>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(7 of 8)</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C8D6B7C5-3DE7-0673-339A-407402715478}"/>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Jet Revving Its Engines</a:t>
            </a:r>
          </a:p>
        </p:txBody>
      </p:sp>
      <p:pic>
        <p:nvPicPr>
          <p:cNvPr id="9" name="Content Placeholder 2">
            <a:extLst>
              <a:ext uri="{FF2B5EF4-FFF2-40B4-BE49-F238E27FC236}">
                <a16:creationId xmlns:a16="http://schemas.microsoft.com/office/drawing/2014/main" id="{5F22C1FF-BE16-15FB-3B6A-CCEC2DAB16FA}"/>
              </a:ext>
            </a:extLst>
          </p:cNvPr>
          <p:cNvPicPr>
            <a:picLocks noGrp="1" noChangeAspect="1"/>
          </p:cNvPicPr>
          <p:nvPr>
            <p:ph type="pic" idx="2"/>
          </p:nvPr>
        </p:nvPicPr>
        <p:blipFill>
          <a:blip r:embed="rId3"/>
          <a:stretch>
            <a:fillRect/>
          </a:stretch>
        </p:blipFill>
        <p:spPr>
          <a:xfrm>
            <a:off x="198966" y="1507068"/>
            <a:ext cx="3735084" cy="2216150"/>
          </a:xfrm>
          <a:prstGeom prst="rect">
            <a:avLst/>
          </a:prstGeom>
        </p:spPr>
      </p:pic>
      <p:sp>
        <p:nvSpPr>
          <p:cNvPr id="6" name="Content Placeholder 3">
            <a:extLst>
              <a:ext uri="{FF2B5EF4-FFF2-40B4-BE49-F238E27FC236}">
                <a16:creationId xmlns:a16="http://schemas.microsoft.com/office/drawing/2014/main" id="{2C239198-84F0-52CC-1A4E-AE4CAA46394A}"/>
              </a:ext>
            </a:extLst>
          </p:cNvPr>
          <p:cNvSpPr txBox="1">
            <a:spLocks noGrp="1"/>
          </p:cNvSpPr>
          <p:nvPr>
            <p:ph type="body" idx="3"/>
          </p:nvPr>
        </p:nvSpPr>
        <p:spPr>
          <a:xfrm>
            <a:off x="4080933" y="1210875"/>
            <a:ext cx="7949982" cy="3046988"/>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 jet awaiting clearance for takeoff is momentarily stopped on the runway. As seen from the front of one engine, the fan blades are rotating with an angular velocity of −110 rad/s, where the negative sign indicates a clockwise rotation, as in the figure. As the plane takes off, the angular velocity of the blades reaches −330 rad/s in a time of 14 s. Find the angular acceleration of the blades during this time, assuming it to be constant.</a:t>
            </a:r>
          </a:p>
        </p:txBody>
      </p:sp>
      <p:sp>
        <p:nvSpPr>
          <p:cNvPr id="11" name="Content Placeholder 4">
            <a:extLst>
              <a:ext uri="{FF2B5EF4-FFF2-40B4-BE49-F238E27FC236}">
                <a16:creationId xmlns:a16="http://schemas.microsoft.com/office/drawing/2014/main" id="{8A7565D1-0F13-1F6A-3ECA-7A52DFAFB8E1}"/>
              </a:ext>
            </a:extLst>
          </p:cNvPr>
          <p:cNvSpPr txBox="1">
            <a:spLocks noGrp="1"/>
          </p:cNvSpPr>
          <p:nvPr>
            <p:ph type="body" idx="4"/>
          </p:nvPr>
        </p:nvSpPr>
        <p:spPr>
          <a:xfrm>
            <a:off x="389466" y="4292741"/>
            <a:ext cx="11802534"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Since we know the initial and final angular velocities and the time, we can use Equation 8.4: </a:t>
            </a:r>
          </a:p>
        </p:txBody>
      </p:sp>
      <p:sp>
        <p:nvSpPr>
          <p:cNvPr id="13" name="Rounded Rectangle 12">
            <a:extLst>
              <a:ext uri="{FF2B5EF4-FFF2-40B4-BE49-F238E27FC236}">
                <a16:creationId xmlns:a16="http://schemas.microsoft.com/office/drawing/2014/main" id="{78254606-D7E0-7EE6-AC46-69B3055149A9}"/>
              </a:ext>
              <a:ext uri="{C183D7F6-B498-43B3-948B-1728B52AA6E4}">
                <adec:decorative xmlns:adec="http://schemas.microsoft.com/office/drawing/2017/decorative" val="1"/>
              </a:ext>
            </a:extLst>
          </p:cNvPr>
          <p:cNvSpPr/>
          <p:nvPr/>
        </p:nvSpPr>
        <p:spPr>
          <a:xfrm>
            <a:off x="2184400" y="4758265"/>
            <a:ext cx="7823200" cy="846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 name="Object 2">
            <a:extLst>
              <a:ext uri="{FF2B5EF4-FFF2-40B4-BE49-F238E27FC236}">
                <a16:creationId xmlns:a16="http://schemas.microsoft.com/office/drawing/2014/main" id="{7B9151AD-664D-4FD2-85B3-8A5A6A314D36}"/>
              </a:ext>
            </a:extLst>
          </p:cNvPr>
          <p:cNvGraphicFramePr>
            <a:graphicFrameLocks noChangeAspect="1"/>
          </p:cNvGraphicFramePr>
          <p:nvPr>
            <p:extLst>
              <p:ext uri="{D42A27DB-BD31-4B8C-83A1-F6EECF244321}">
                <p14:modId xmlns:p14="http://schemas.microsoft.com/office/powerpoint/2010/main" val="1363966770"/>
              </p:ext>
            </p:extLst>
          </p:nvPr>
        </p:nvGraphicFramePr>
        <p:xfrm>
          <a:off x="2988462" y="4827386"/>
          <a:ext cx="6509868" cy="750200"/>
        </p:xfrm>
        <a:graphic>
          <a:graphicData uri="http://schemas.openxmlformats.org/presentationml/2006/ole">
            <mc:AlternateContent xmlns:mc="http://schemas.openxmlformats.org/markup-compatibility/2006">
              <mc:Choice xmlns:v="urn:schemas-microsoft-com:vml" Requires="v">
                <p:oleObj name="Equation" r:id="rId4" imgW="3416040" imgH="431640" progId="Equation.DSMT4">
                  <p:embed/>
                </p:oleObj>
              </mc:Choice>
              <mc:Fallback>
                <p:oleObj name="Equation" r:id="rId4" imgW="3416040" imgH="431640" progId="Equation.DSMT4">
                  <p:embed/>
                  <p:pic>
                    <p:nvPicPr>
                      <p:cNvPr id="0" name=""/>
                      <p:cNvPicPr/>
                      <p:nvPr/>
                    </p:nvPicPr>
                    <p:blipFill>
                      <a:blip r:embed="rId5"/>
                      <a:stretch>
                        <a:fillRect/>
                      </a:stretch>
                    </p:blipFill>
                    <p:spPr>
                      <a:xfrm>
                        <a:off x="2988462" y="4827386"/>
                        <a:ext cx="6509868" cy="750200"/>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F58CC06-8E68-8339-8C89-928E50A1B032}"/>
              </a:ext>
              <a:ext uri="{C183D7F6-B498-43B3-948B-1728B52AA6E4}">
                <adec:decorative xmlns:adec="http://schemas.microsoft.com/office/drawing/2017/decorative" val="1"/>
              </a:ext>
            </a:extLst>
          </p:cNvPr>
          <p:cNvSpPr/>
          <p:nvPr/>
        </p:nvSpPr>
        <p:spPr>
          <a:xfrm>
            <a:off x="8179436" y="4934462"/>
            <a:ext cx="1388533" cy="3894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5">
            <a:extLst>
              <a:ext uri="{FF2B5EF4-FFF2-40B4-BE49-F238E27FC236}">
                <a16:creationId xmlns:a16="http://schemas.microsoft.com/office/drawing/2014/main" id="{1A81EAC4-31BB-978D-ADF3-B147126CE0AC}"/>
              </a:ext>
            </a:extLst>
          </p:cNvPr>
          <p:cNvSpPr txBox="1">
            <a:spLocks noGrp="1"/>
          </p:cNvSpPr>
          <p:nvPr>
            <p:ph type="body" idx="5"/>
          </p:nvPr>
        </p:nvSpPr>
        <p:spPr>
          <a:xfrm>
            <a:off x="2675471" y="5696634"/>
            <a:ext cx="7078134" cy="707886"/>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000" dirty="0">
                <a:latin typeface="Times New Roman" panose="02020603050405020304" pitchFamily="18" charset="0"/>
                <a:cs typeface="Times New Roman" panose="02020603050405020304" pitchFamily="18" charset="0"/>
              </a:rPr>
              <a:t>*The negative sign in the answer indicates that the direction of the angular acceleration is also in the</a:t>
            </a:r>
          </a:p>
        </p:txBody>
      </p:sp>
      <p:sp>
        <p:nvSpPr>
          <p:cNvPr id="20" name="Rounded Rectangle 19">
            <a:extLst>
              <a:ext uri="{FF2B5EF4-FFF2-40B4-BE49-F238E27FC236}">
                <a16:creationId xmlns:a16="http://schemas.microsoft.com/office/drawing/2014/main" id="{F836D796-7048-6B72-AF28-CD9639713B6B}"/>
              </a:ext>
              <a:ext uri="{C183D7F6-B498-43B3-948B-1728B52AA6E4}">
                <adec:decorative xmlns:adec="http://schemas.microsoft.com/office/drawing/2017/decorative" val="1"/>
              </a:ext>
            </a:extLst>
          </p:cNvPr>
          <p:cNvSpPr/>
          <p:nvPr/>
        </p:nvSpPr>
        <p:spPr>
          <a:xfrm>
            <a:off x="6214538" y="6045199"/>
            <a:ext cx="2709333" cy="338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6">
            <a:extLst>
              <a:ext uri="{FF2B5EF4-FFF2-40B4-BE49-F238E27FC236}">
                <a16:creationId xmlns:a16="http://schemas.microsoft.com/office/drawing/2014/main" id="{CFB64FA6-32AE-755D-1C16-B35C60BC68B9}"/>
              </a:ext>
            </a:extLst>
          </p:cNvPr>
          <p:cNvSpPr txBox="1">
            <a:spLocks noGrp="1"/>
          </p:cNvSpPr>
          <p:nvPr>
            <p:ph type="body" idx="6"/>
          </p:nvPr>
        </p:nvSpPr>
        <p:spPr>
          <a:xfrm>
            <a:off x="6216507" y="6014534"/>
            <a:ext cx="3366927" cy="413842"/>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1800" dirty="0">
                <a:solidFill>
                  <a:srgbClr val="007440"/>
                </a:solidFill>
                <a:latin typeface="Times New Roman" panose="02020603050405020304" pitchFamily="18" charset="0"/>
                <a:cs typeface="Times New Roman" panose="02020603050405020304" pitchFamily="18" charset="0"/>
              </a:rPr>
              <a:t>clockwise direction</a:t>
            </a:r>
          </a:p>
        </p:txBody>
      </p:sp>
      <p:sp>
        <p:nvSpPr>
          <p:cNvPr id="8" name="Content Placeholder 8">
            <a:extLst>
              <a:ext uri="{FF2B5EF4-FFF2-40B4-BE49-F238E27FC236}">
                <a16:creationId xmlns:a16="http://schemas.microsoft.com/office/drawing/2014/main" id="{BE48ECAF-4B7D-A3C9-A745-59F42DEC2591}"/>
              </a:ext>
            </a:extLst>
          </p:cNvPr>
          <p:cNvSpPr txBox="1">
            <a:spLocks noGrp="1"/>
          </p:cNvSpPr>
          <p:nvPr>
            <p:ph type="body" idx="8"/>
          </p:nvPr>
        </p:nvSpPr>
        <p:spPr>
          <a:xfrm>
            <a:off x="8895608" y="6028266"/>
            <a:ext cx="231457"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latin typeface="Times New Roman" panose="02020603050405020304" pitchFamily="18" charset="0"/>
                <a:cs typeface="Times New Roman" panose="02020603050405020304" pitchFamily="18" charset="0"/>
              </a:rPr>
              <a:t>.</a:t>
            </a:r>
            <a:endParaRPr lang="en-US" dirty="0">
              <a:latin typeface="Times New Roman"/>
            </a:endParaRPr>
          </a:p>
        </p:txBody>
      </p:sp>
    </p:spTree>
    <p:extLst>
      <p:ext uri="{BB962C8B-B14F-4D97-AF65-F5344CB8AC3E}">
        <p14:creationId xmlns:p14="http://schemas.microsoft.com/office/powerpoint/2010/main" val="18127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dissolve">
                                      <p:cBhvr>
                                        <p:cTn id="24" dur="500"/>
                                        <p:tgtEl>
                                          <p:spTgt spid="1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dissolv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dissolve">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4" grpId="0" animBg="1"/>
      <p:bldP spid="19" grpId="0"/>
      <p:bldP spid="20" grpId="0" animBg="1"/>
      <p:bldP spid="21"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276D-C5C7-EC19-72FC-4E1A882EAE72}"/>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25F907E-1DAF-0145-C83C-E090AD9811BB}"/>
              </a:ext>
              <a:ext uri="{C183D7F6-B498-43B3-948B-1728B52AA6E4}">
                <adec:decorative xmlns:adec="http://schemas.microsoft.com/office/drawing/2017/decorative" val="1"/>
              </a:ext>
            </a:extLst>
          </p:cNvPr>
          <p:cNvSpPr/>
          <p:nvPr/>
        </p:nvSpPr>
        <p:spPr>
          <a:xfrm>
            <a:off x="931333" y="3708400"/>
            <a:ext cx="4402667" cy="372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27874-8581-CED4-8272-63DE17C87086}"/>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8.2</a:t>
            </a:r>
            <a:r>
              <a:rPr lang="en-US" dirty="0">
                <a:latin typeface="Times New Roman" panose="02020603050405020304" pitchFamily="18" charset="0"/>
                <a:ea typeface="Calibri" charset="0"/>
                <a:cs typeface="Times New Roman" panose="02020603050405020304" pitchFamily="18" charset="0"/>
              </a:rPr>
              <a:t> Angular Velocity and Angular Acceleration (8 of 8)</a:t>
            </a:r>
            <a:endParaRPr lang="en-US" sz="3000" dirty="0">
              <a:latin typeface="Times New Roman" panose="02020603050405020304" pitchFamily="18" charset="0"/>
              <a:cs typeface="Times New Roman" panose="02020603050405020304" pitchFamily="18" charset="0"/>
            </a:endParaRPr>
          </a:p>
        </p:txBody>
      </p:sp>
      <p:sp>
        <p:nvSpPr>
          <p:cNvPr id="4" name="Content Placeholder 1">
            <a:extLst>
              <a:ext uri="{FF2B5EF4-FFF2-40B4-BE49-F238E27FC236}">
                <a16:creationId xmlns:a16="http://schemas.microsoft.com/office/drawing/2014/main" id="{B871F3C2-DE75-44A7-24A1-AE8E5CFDD343}"/>
              </a:ext>
            </a:extLst>
          </p:cNvPr>
          <p:cNvSpPr txBox="1">
            <a:spLocks noGrp="1"/>
          </p:cNvSpPr>
          <p:nvPr>
            <p:ph type="body" idx="1"/>
          </p:nvPr>
        </p:nvSpPr>
        <p:spPr>
          <a:xfrm>
            <a:off x="948266" y="739970"/>
            <a:ext cx="10634133" cy="3785652"/>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2800"/>
              </a:spcAft>
              <a:buNone/>
            </a:pPr>
            <a:r>
              <a:rPr lang="en-US" sz="2400" dirty="0">
                <a:solidFill>
                  <a:srgbClr val="3E5891"/>
                </a:solidFill>
                <a:latin typeface="Times New Roman" panose="02020603050405020304" pitchFamily="18" charset="0"/>
                <a:cs typeface="Times New Roman" panose="02020603050405020304" pitchFamily="18" charset="0"/>
              </a:rPr>
              <a:t>CYU/TPS </a:t>
            </a:r>
            <a:r>
              <a:rPr lang="en-US" sz="1800" dirty="0">
                <a:solidFill>
                  <a:srgbClr val="3E5891"/>
                </a:solidFill>
                <a:latin typeface="Times New Roman" panose="02020603050405020304" pitchFamily="18" charset="0"/>
                <a:cs typeface="Times New Roman" panose="02020603050405020304" pitchFamily="18" charset="0"/>
              </a:rPr>
              <a:t>– </a:t>
            </a:r>
            <a:r>
              <a:rPr lang="en-US" sz="2400" dirty="0">
                <a:solidFill>
                  <a:srgbClr val="3E5891"/>
                </a:solidFill>
                <a:latin typeface="Times New Roman" panose="02020603050405020304" pitchFamily="18" charset="0"/>
                <a:cs typeface="Times New Roman" panose="02020603050405020304" pitchFamily="18" charset="0"/>
              </a:rPr>
              <a:t>An electric clock is hanging on a wall. As you are watching the second hand rotate, the clock’s battery stops functioning, and the second hand comes to a halt over a brief period of time. Which one of the following statements correctly describes the angular velocity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dirty="0">
                <a:solidFill>
                  <a:srgbClr val="3E5891"/>
                </a:solidFill>
                <a:latin typeface="Times New Roman" panose="02020603050405020304" pitchFamily="18" charset="0"/>
                <a:cs typeface="Times New Roman" panose="02020603050405020304" pitchFamily="18" charset="0"/>
              </a:rPr>
              <a:t> and angular acceleration </a:t>
            </a:r>
            <a:r>
              <a:rPr lang="en-US" sz="2400" i="1" dirty="0">
                <a:solidFill>
                  <a:srgbClr val="3E5891"/>
                </a:solidFill>
                <a:latin typeface="Times New Roman" panose="02020603050405020304" pitchFamily="18" charset="0"/>
                <a:cs typeface="Times New Roman" panose="02020603050405020304" pitchFamily="18" charset="0"/>
              </a:rPr>
              <a:t>a</a:t>
            </a:r>
            <a:r>
              <a:rPr lang="en-US" sz="2400" dirty="0">
                <a:solidFill>
                  <a:srgbClr val="3E5891"/>
                </a:solidFill>
                <a:latin typeface="Times New Roman" panose="02020603050405020304" pitchFamily="18" charset="0"/>
                <a:cs typeface="Times New Roman" panose="02020603050405020304" pitchFamily="18" charset="0"/>
              </a:rPr>
              <a:t> of the second hand as it slows down?</a:t>
            </a:r>
          </a:p>
          <a:p>
            <a:pPr marL="361950" indent="-361950" algn="just">
              <a:buClr>
                <a:srgbClr val="3E5891"/>
              </a:buClr>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i="1" dirty="0">
                <a:solidFill>
                  <a:srgbClr val="3E5891"/>
                </a:solidFill>
                <a:latin typeface="Times New Roman" panose="02020603050405020304" pitchFamily="18" charset="0"/>
                <a:cs typeface="Times New Roman" panose="02020603050405020304" pitchFamily="18" charset="0"/>
              </a:rPr>
              <a:t> </a:t>
            </a:r>
            <a:r>
              <a:rPr lang="en-US" sz="2400" dirty="0">
                <a:solidFill>
                  <a:srgbClr val="3E5891"/>
                </a:solidFill>
                <a:latin typeface="Times New Roman" panose="02020603050405020304" pitchFamily="18" charset="0"/>
                <a:cs typeface="Times New Roman" panose="02020603050405020304" pitchFamily="18" charset="0"/>
              </a:rPr>
              <a:t>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are both negative.</a:t>
            </a:r>
          </a:p>
          <a:p>
            <a:pPr marL="361950" indent="-361950" algn="just">
              <a:buClr>
                <a:srgbClr val="3E5891"/>
              </a:buClr>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 </a:t>
            </a:r>
            <a:r>
              <a:rPr lang="en-US" sz="2400" dirty="0">
                <a:solidFill>
                  <a:srgbClr val="3E5891"/>
                </a:solidFill>
                <a:latin typeface="Times New Roman" panose="02020603050405020304" pitchFamily="18" charset="0"/>
                <a:cs typeface="Times New Roman" panose="02020603050405020304" pitchFamily="18" charset="0"/>
              </a:rPr>
              <a:t>is positive 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is negative.</a:t>
            </a:r>
          </a:p>
          <a:p>
            <a:pPr marL="361950" indent="-361950" algn="just">
              <a:buClr>
                <a:srgbClr val="3E5891"/>
              </a:buClr>
              <a:buFont typeface="Arial" panose="020B0604020202020204" pitchFamily="34" charset="0"/>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dirty="0">
                <a:solidFill>
                  <a:srgbClr val="3E5891"/>
                </a:solidFill>
                <a:latin typeface="Times New Roman" panose="02020603050405020304" pitchFamily="18" charset="0"/>
                <a:cs typeface="Times New Roman" panose="02020603050405020304" pitchFamily="18" charset="0"/>
              </a:rPr>
              <a:t> is negative 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is positive.</a:t>
            </a:r>
          </a:p>
          <a:p>
            <a:pPr marL="361950" indent="-361950" algn="just">
              <a:buClr>
                <a:srgbClr val="3E5891"/>
              </a:buClr>
              <a:buFont typeface="Arial" panose="020B0604020202020204" pitchFamily="34" charset="0"/>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dirty="0">
                <a:solidFill>
                  <a:srgbClr val="3E5891"/>
                </a:solidFill>
                <a:latin typeface="Times New Roman" panose="02020603050405020304" pitchFamily="18" charset="0"/>
                <a:cs typeface="Times New Roman" panose="02020603050405020304" pitchFamily="18" charset="0"/>
              </a:rPr>
              <a:t> 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are both positive.</a:t>
            </a:r>
          </a:p>
        </p:txBody>
      </p:sp>
      <p:sp>
        <p:nvSpPr>
          <p:cNvPr id="8" name="Content Placeholder 2">
            <a:extLst>
              <a:ext uri="{FF2B5EF4-FFF2-40B4-BE49-F238E27FC236}">
                <a16:creationId xmlns:a16="http://schemas.microsoft.com/office/drawing/2014/main" id="{DEBC7A4D-A4CE-E65D-3DC4-12F7F8FE9A33}"/>
              </a:ext>
            </a:extLst>
          </p:cNvPr>
          <p:cNvSpPr txBox="1">
            <a:spLocks noGrp="1"/>
          </p:cNvSpPr>
          <p:nvPr>
            <p:ph type="body" idx="2"/>
          </p:nvPr>
        </p:nvSpPr>
        <p:spPr>
          <a:xfrm rot="2431060">
            <a:off x="5814308" y="3782523"/>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Explain!</a:t>
            </a:r>
          </a:p>
        </p:txBody>
      </p:sp>
      <p:pic>
        <p:nvPicPr>
          <p:cNvPr id="24578" name="Content Placeholder 3">
            <a:extLst>
              <a:ext uri="{FF2B5EF4-FFF2-40B4-BE49-F238E27FC236}">
                <a16:creationId xmlns:a16="http://schemas.microsoft.com/office/drawing/2014/main" id="{9767869B-7EB5-3511-46A2-26F767EA7329}"/>
              </a:ext>
            </a:extLst>
          </p:cNvPr>
          <p:cNvPicPr>
            <a:picLocks noGrp="1" noChangeAspect="1" noChangeArrowheads="1"/>
          </p:cNvPicPr>
          <p:nvPr>
            <p:ph type="pic" idx="3"/>
          </p:nvPr>
        </p:nvPicPr>
        <p:blipFill>
          <a:blip r:embed="rId3">
            <a:extLst>
              <a:ext uri="{28A0092B-C50C-407E-A947-70E740481C1C}">
                <a14:useLocalDpi xmlns:a14="http://schemas.microsoft.com/office/drawing/2010/main" val="0"/>
              </a:ext>
            </a:extLst>
          </a:blip>
          <a:srcRect/>
          <a:stretch>
            <a:fillRect/>
          </a:stretch>
        </p:blipFill>
        <p:spPr bwMode="auto">
          <a:xfrm>
            <a:off x="7679265" y="2556933"/>
            <a:ext cx="2506133" cy="2506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86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A8A4-CC4E-E2CB-3A94-E1380956D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FA3D0-6D68-961A-E249-8CD21E94F217}"/>
              </a:ext>
            </a:extLst>
          </p:cNvPr>
          <p:cNvSpPr>
            <a:spLocks noGrp="1"/>
          </p:cNvSpPr>
          <p:nvPr>
            <p:ph type="title"/>
          </p:nvPr>
        </p:nvSpPr>
        <p:spPr>
          <a:xfrm>
            <a:off x="654622" y="53787"/>
            <a:ext cx="10820401" cy="849312"/>
          </a:xfrm>
        </p:spPr>
        <p:txBody>
          <a:bodyPr/>
          <a:lstStyle/>
          <a:p>
            <a:r>
              <a:rPr lang="en-US" b="1" dirty="0">
                <a:latin typeface="Times New Roman" panose="02020603050405020304" pitchFamily="18" charset="0"/>
                <a:ea typeface="Calibri" charset="0"/>
                <a:cs typeface="Times New Roman" panose="02020603050405020304" pitchFamily="18" charset="0"/>
              </a:rPr>
              <a:t>8.3</a:t>
            </a:r>
            <a:r>
              <a:rPr lang="en-US" dirty="0">
                <a:latin typeface="Times New Roman" panose="02020603050405020304" pitchFamily="18" charset="0"/>
                <a:ea typeface="Calibri" charset="0"/>
                <a:cs typeface="Times New Roman" panose="02020603050405020304" pitchFamily="18" charset="0"/>
              </a:rPr>
              <a:t> The Equations of Rotational Kinematics (1 of 7)</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36CBDA43-3B49-FD79-F8AD-7508F3CB2175}"/>
              </a:ext>
              <a:ext uri="{C183D7F6-B498-43B3-948B-1728B52AA6E4}">
                <adec:decorative xmlns:adec="http://schemas.microsoft.com/office/drawing/2017/decorative" val="1"/>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88E7BA05-E371-707F-DA48-0A3905EF7FC9}"/>
              </a:ext>
            </a:extLst>
          </p:cNvPr>
          <p:cNvSpPr txBox="1">
            <a:spLocks noGrp="1"/>
          </p:cNvSpPr>
          <p:nvPr>
            <p:ph type="body" idx="1"/>
          </p:nvPr>
        </p:nvSpPr>
        <p:spPr>
          <a:xfrm>
            <a:off x="959715" y="718024"/>
            <a:ext cx="11609129" cy="491921"/>
          </a:xfrm>
          <a:prstGeom prst="rect">
            <a:avLst/>
          </a:prstGeom>
        </p:spPr>
        <p:txBody>
          <a:bodyPr vert="horz" lIns="91440" tIns="45720" rIns="91440" bIns="45720" rtlCol="0">
            <a:normAutofit lnSpcReduction="100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8.3 </a:t>
            </a:r>
            <a:r>
              <a:rPr lang="en-US" dirty="0">
                <a:latin typeface="Times New Roman" panose="02020603050405020304" pitchFamily="18" charset="0"/>
                <a:cs typeface="Times New Roman" panose="02020603050405020304" pitchFamily="18" charset="0"/>
              </a:rPr>
              <a:t>– Solve rotational kinematics problems.</a:t>
            </a:r>
          </a:p>
        </p:txBody>
      </p:sp>
      <p:sp>
        <p:nvSpPr>
          <p:cNvPr id="4" name="Content Placeholder 2">
            <a:extLst>
              <a:ext uri="{FF2B5EF4-FFF2-40B4-BE49-F238E27FC236}">
                <a16:creationId xmlns:a16="http://schemas.microsoft.com/office/drawing/2014/main" id="{10E38056-EC0A-3B13-A600-47E1520332BE}"/>
              </a:ext>
            </a:extLst>
          </p:cNvPr>
          <p:cNvSpPr txBox="1">
            <a:spLocks noGrp="1"/>
          </p:cNvSpPr>
          <p:nvPr>
            <p:ph type="body" idx="2"/>
          </p:nvPr>
        </p:nvSpPr>
        <p:spPr>
          <a:xfrm>
            <a:off x="447238" y="1426811"/>
            <a:ext cx="11490762"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now apply the vector concepts of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displacement</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velocity</a:t>
            </a:r>
            <a:r>
              <a:rPr lang="en-US" sz="2400" dirty="0">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acceleration</a:t>
            </a:r>
            <a:r>
              <a:rPr lang="en-US" sz="2400" dirty="0">
                <a:latin typeface="Times New Roman" panose="02020603050405020304" pitchFamily="18" charset="0"/>
                <a:cs typeface="Times New Roman" panose="02020603050405020304" pitchFamily="18" charset="0"/>
              </a:rPr>
              <a:t> to develop a set of equations known as. </a:t>
            </a:r>
          </a:p>
        </p:txBody>
      </p:sp>
      <p:sp>
        <p:nvSpPr>
          <p:cNvPr id="19" name="Rounded Rectangle 18">
            <a:extLst>
              <a:ext uri="{FF2B5EF4-FFF2-40B4-BE49-F238E27FC236}">
                <a16:creationId xmlns:a16="http://schemas.microsoft.com/office/drawing/2014/main" id="{A87D50ED-3DA1-6FF3-9FE2-899B26BA74FD}"/>
              </a:ext>
              <a:ext uri="{C183D7F6-B498-43B3-948B-1728B52AA6E4}">
                <adec:decorative xmlns:adec="http://schemas.microsoft.com/office/drawing/2017/decorative" val="1"/>
              </a:ext>
            </a:extLst>
          </p:cNvPr>
          <p:cNvSpPr/>
          <p:nvPr/>
        </p:nvSpPr>
        <p:spPr>
          <a:xfrm>
            <a:off x="6899834" y="1811866"/>
            <a:ext cx="3294033" cy="4492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ntent Placeholder 3">
            <a:extLst>
              <a:ext uri="{FF2B5EF4-FFF2-40B4-BE49-F238E27FC236}">
                <a16:creationId xmlns:a16="http://schemas.microsoft.com/office/drawing/2014/main" id="{D8F27847-7B71-10F6-2B70-5A54AD807497}"/>
              </a:ext>
            </a:extLst>
          </p:cNvPr>
          <p:cNvSpPr txBox="1">
            <a:spLocks noGrp="1"/>
          </p:cNvSpPr>
          <p:nvPr>
            <p:ph type="body" idx="3"/>
          </p:nvPr>
        </p:nvSpPr>
        <p:spPr>
          <a:xfrm>
            <a:off x="6900546" y="1836425"/>
            <a:ext cx="3335866"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kinematics</a:t>
            </a:r>
          </a:p>
        </p:txBody>
      </p:sp>
      <p:sp>
        <p:nvSpPr>
          <p:cNvPr id="8" name="Content Placeholder 4">
            <a:extLst>
              <a:ext uri="{FF2B5EF4-FFF2-40B4-BE49-F238E27FC236}">
                <a16:creationId xmlns:a16="http://schemas.microsoft.com/office/drawing/2014/main" id="{7A4E5006-0F5A-FA08-531D-94C4847D7506}"/>
              </a:ext>
            </a:extLst>
          </p:cNvPr>
          <p:cNvSpPr txBox="1">
            <a:spLocks noGrp="1"/>
          </p:cNvSpPr>
          <p:nvPr>
            <p:ph type="body" idx="4"/>
          </p:nvPr>
        </p:nvSpPr>
        <p:spPr>
          <a:xfrm>
            <a:off x="10179242" y="1805648"/>
            <a:ext cx="2106085"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 To simplify </a:t>
            </a:r>
            <a:endParaRPr lang="en-US" dirty="0">
              <a:latin typeface="Times New Roman"/>
            </a:endParaRPr>
          </a:p>
        </p:txBody>
      </p:sp>
      <p:sp>
        <p:nvSpPr>
          <p:cNvPr id="10" name="Content Placeholder 5">
            <a:extLst>
              <a:ext uri="{FF2B5EF4-FFF2-40B4-BE49-F238E27FC236}">
                <a16:creationId xmlns:a16="http://schemas.microsoft.com/office/drawing/2014/main" id="{90ECDBA5-D0F4-9E1A-791F-C84A947D6422}"/>
              </a:ext>
            </a:extLst>
          </p:cNvPr>
          <p:cNvSpPr txBox="1">
            <a:spLocks noGrp="1"/>
          </p:cNvSpPr>
          <p:nvPr>
            <p:ph type="body" idx="5"/>
          </p:nvPr>
        </p:nvSpPr>
        <p:spPr>
          <a:xfrm>
            <a:off x="447238" y="2185167"/>
            <a:ext cx="11405672"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our analysis, we will again restrict ourselves to problems where the magnitude of the angular acceleration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is </a:t>
            </a:r>
            <a:endParaRPr lang="en-US" dirty="0">
              <a:latin typeface="Times New Roman" panose="02020603050405020304" pitchFamily="18" charset="0"/>
              <a:cs typeface="Times New Roman" panose="02020603050405020304" pitchFamily="18" charset="0"/>
            </a:endParaRPr>
          </a:p>
        </p:txBody>
      </p:sp>
      <p:sp>
        <p:nvSpPr>
          <p:cNvPr id="6" name="Rounded Rectangle 5">
            <a:extLst>
              <a:ext uri="{FF2B5EF4-FFF2-40B4-BE49-F238E27FC236}">
                <a16:creationId xmlns:a16="http://schemas.microsoft.com/office/drawing/2014/main" id="{3F73B953-2309-5DBA-1E5B-9C99B38EC392}"/>
              </a:ext>
              <a:ext uri="{C183D7F6-B498-43B3-948B-1728B52AA6E4}">
                <adec:decorative xmlns:adec="http://schemas.microsoft.com/office/drawing/2017/decorative" val="1"/>
              </a:ext>
            </a:extLst>
          </p:cNvPr>
          <p:cNvSpPr/>
          <p:nvPr/>
        </p:nvSpPr>
        <p:spPr>
          <a:xfrm>
            <a:off x="3788087" y="2573866"/>
            <a:ext cx="1461248" cy="4223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6">
            <a:extLst>
              <a:ext uri="{FF2B5EF4-FFF2-40B4-BE49-F238E27FC236}">
                <a16:creationId xmlns:a16="http://schemas.microsoft.com/office/drawing/2014/main" id="{67B831AD-64A4-ECB0-6F5A-73EECF6EC1EE}"/>
              </a:ext>
            </a:extLst>
          </p:cNvPr>
          <p:cNvSpPr txBox="1">
            <a:spLocks noGrp="1"/>
          </p:cNvSpPr>
          <p:nvPr>
            <p:ph type="body" idx="6"/>
          </p:nvPr>
        </p:nvSpPr>
        <p:spPr>
          <a:xfrm>
            <a:off x="3823012" y="2566305"/>
            <a:ext cx="1642532"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constant</a:t>
            </a:r>
          </a:p>
        </p:txBody>
      </p:sp>
      <p:sp>
        <p:nvSpPr>
          <p:cNvPr id="12" name="Content Placeholder 7">
            <a:extLst>
              <a:ext uri="{FF2B5EF4-FFF2-40B4-BE49-F238E27FC236}">
                <a16:creationId xmlns:a16="http://schemas.microsoft.com/office/drawing/2014/main" id="{0E2E273C-307D-B1C2-067E-7F091D14E178}"/>
              </a:ext>
            </a:extLst>
          </p:cNvPr>
          <p:cNvSpPr txBox="1">
            <a:spLocks noGrp="1"/>
          </p:cNvSpPr>
          <p:nvPr>
            <p:ph type="body" idx="7"/>
          </p:nvPr>
        </p:nvSpPr>
        <p:spPr>
          <a:xfrm>
            <a:off x="5249335" y="2581225"/>
            <a:ext cx="3429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endParaRPr lang="en-US" dirty="0">
              <a:latin typeface="Times New Roman"/>
            </a:endParaRPr>
          </a:p>
        </p:txBody>
      </p:sp>
      <p:sp>
        <p:nvSpPr>
          <p:cNvPr id="26" name="Content Placeholder 8">
            <a:extLst>
              <a:ext uri="{FF2B5EF4-FFF2-40B4-BE49-F238E27FC236}">
                <a16:creationId xmlns:a16="http://schemas.microsoft.com/office/drawing/2014/main" id="{29920B0D-ECE5-AC21-B11D-7DD198883FB1}"/>
              </a:ext>
            </a:extLst>
          </p:cNvPr>
          <p:cNvSpPr txBox="1">
            <a:spLocks noGrp="1"/>
          </p:cNvSpPr>
          <p:nvPr>
            <p:ph type="body" idx="8"/>
          </p:nvPr>
        </p:nvSpPr>
        <p:spPr>
          <a:xfrm>
            <a:off x="469899" y="3356801"/>
            <a:ext cx="11501967"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In Chapter 02 we asked the following question: An object starts from rest at </a:t>
            </a:r>
            <a:r>
              <a:rPr lang="en-US" sz="2400" i="1" dirty="0">
                <a:latin typeface="Times New Roman" panose="02020603050405020304" pitchFamily="18" charset="0"/>
                <a:cs typeface="Times New Roman" panose="02020603050405020304" pitchFamily="18" charset="0"/>
              </a:rPr>
              <a:t>t</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0 s and at </a:t>
            </a:r>
            <a:r>
              <a:rPr lang="en-US" sz="2400" i="1"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0 m and undergoes a constant acceleration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for a time </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rPr>
              <a:t>How far </a:t>
            </a:r>
            <a:r>
              <a:rPr lang="en-US" sz="2400" dirty="0">
                <a:latin typeface="Times New Roman" panose="02020603050405020304" pitchFamily="18" charset="0"/>
                <a:cs typeface="Times New Roman" panose="02020603050405020304" pitchFamily="18" charset="0"/>
              </a:rPr>
              <a:t>does the object travel in that time?</a:t>
            </a:r>
          </a:p>
        </p:txBody>
      </p:sp>
      <p:sp>
        <p:nvSpPr>
          <p:cNvPr id="27" name="Content Placeholder 9">
            <a:extLst>
              <a:ext uri="{FF2B5EF4-FFF2-40B4-BE49-F238E27FC236}">
                <a16:creationId xmlns:a16="http://schemas.microsoft.com/office/drawing/2014/main" id="{6F130B04-AF81-C047-F759-7A2DBC110F60}"/>
              </a:ext>
            </a:extLst>
          </p:cNvPr>
          <p:cNvSpPr txBox="1">
            <a:spLocks noGrp="1"/>
          </p:cNvSpPr>
          <p:nvPr>
            <p:ph type="body" idx="9"/>
          </p:nvPr>
        </p:nvSpPr>
        <p:spPr>
          <a:xfrm>
            <a:off x="469899" y="4880801"/>
            <a:ext cx="11501967"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we ask the same question, but in the context of </a:t>
            </a:r>
            <a:r>
              <a:rPr lang="en-US" sz="2400" dirty="0">
                <a:solidFill>
                  <a:srgbClr val="007440"/>
                </a:solidFill>
                <a:latin typeface="Times New Roman" panose="02020603050405020304" pitchFamily="18" charset="0"/>
                <a:cs typeface="Times New Roman" panose="02020603050405020304" pitchFamily="18" charset="0"/>
              </a:rPr>
              <a:t>rotational motion</a:t>
            </a:r>
            <a:r>
              <a:rPr lang="en-US" sz="2400" dirty="0">
                <a:latin typeface="Times New Roman" panose="02020603050405020304" pitchFamily="18" charset="0"/>
                <a:cs typeface="Times New Roman" panose="02020603050405020304" pitchFamily="18" charset="0"/>
              </a:rPr>
              <a:t>: An object starts from rest at </a:t>
            </a:r>
            <a:r>
              <a:rPr lang="en-US" sz="2400" i="1" dirty="0">
                <a:latin typeface="Times New Roman" panose="02020603050405020304" pitchFamily="18" charset="0"/>
                <a:cs typeface="Times New Roman" panose="02020603050405020304" pitchFamily="18" charset="0"/>
              </a:rPr>
              <a:t>t</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0 s and at </a:t>
            </a:r>
            <a:r>
              <a:rPr lang="en-US" sz="2400" i="1" dirty="0">
                <a:latin typeface="Times New Roman" panose="02020603050405020304" pitchFamily="18" charset="0"/>
                <a:cs typeface="Times New Roman" panose="02020603050405020304" pitchFamily="18" charset="0"/>
              </a:rPr>
              <a:t>ω</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0 rad/s and undergoes a constant angular acceleration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for a time </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rPr>
              <a:t>How far</a:t>
            </a:r>
            <a:r>
              <a:rPr lang="en-US" sz="2400" dirty="0">
                <a:latin typeface="Times New Roman" panose="02020603050405020304" pitchFamily="18" charset="0"/>
                <a:cs typeface="Times New Roman" panose="02020603050405020304" pitchFamily="18" charset="0"/>
              </a:rPr>
              <a:t> (angular displacement) does the object travel in that time?</a:t>
            </a:r>
          </a:p>
        </p:txBody>
      </p:sp>
    </p:spTree>
    <p:extLst>
      <p:ext uri="{BB962C8B-B14F-4D97-AF65-F5344CB8AC3E}">
        <p14:creationId xmlns:p14="http://schemas.microsoft.com/office/powerpoint/2010/main" val="24233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dissolv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animBg="1"/>
      <p:bldP spid="22" grpId="0"/>
      <p:bldP spid="8" grpId="0"/>
      <p:bldP spid="10" grpId="0"/>
      <p:bldP spid="6" grpId="0" animBg="1"/>
      <p:bldP spid="20" grpId="0"/>
      <p:bldP spid="12" grpId="0"/>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90A1-E76C-0580-0B99-7A2E36A83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091D6-D7A3-5AF8-C29B-ECEA7708A4B6}"/>
              </a:ext>
            </a:extLst>
          </p:cNvPr>
          <p:cNvSpPr>
            <a:spLocks noGrp="1"/>
          </p:cNvSpPr>
          <p:nvPr>
            <p:ph type="title"/>
          </p:nvPr>
        </p:nvSpPr>
        <p:spPr>
          <a:xfrm>
            <a:off x="654622" y="53787"/>
            <a:ext cx="10820401" cy="849312"/>
          </a:xfrm>
        </p:spPr>
        <p:txBody>
          <a:bodyPr/>
          <a:lstStyle/>
          <a:p>
            <a:r>
              <a:rPr lang="en-US" b="1" dirty="0">
                <a:latin typeface="Times New Roman" panose="02020603050405020304" pitchFamily="18" charset="0"/>
                <a:ea typeface="Calibri" charset="0"/>
                <a:cs typeface="Times New Roman" panose="02020603050405020304" pitchFamily="18" charset="0"/>
              </a:rPr>
              <a:t>8.3</a:t>
            </a:r>
            <a:r>
              <a:rPr lang="en-US" dirty="0">
                <a:latin typeface="Times New Roman" panose="02020603050405020304" pitchFamily="18" charset="0"/>
                <a:ea typeface="Calibri" charset="0"/>
                <a:cs typeface="Times New Roman" panose="02020603050405020304" pitchFamily="18" charset="0"/>
              </a:rPr>
              <a:t> The Equations of Rotational Kinematics (2 of 7)</a:t>
            </a:r>
            <a:endParaRPr lang="en-US" sz="3000"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CBE46CF0-B580-5EAA-0A1E-A41D3F3F1223}"/>
              </a:ext>
            </a:extLst>
          </p:cNvPr>
          <p:cNvGrpSpPr/>
          <p:nvPr/>
        </p:nvGrpSpPr>
        <p:grpSpPr>
          <a:xfrm>
            <a:off x="1066800" y="867653"/>
            <a:ext cx="3738034" cy="419695"/>
            <a:chOff x="1066800" y="1388533"/>
            <a:chExt cx="3738034" cy="461665"/>
          </a:xfrm>
        </p:grpSpPr>
        <p:sp>
          <p:nvSpPr>
            <p:cNvPr id="7" name="TextBox 6">
              <a:extLst>
                <a:ext uri="{FF2B5EF4-FFF2-40B4-BE49-F238E27FC236}">
                  <a16:creationId xmlns:a16="http://schemas.microsoft.com/office/drawing/2014/main" id="{BADF728E-6966-1B9F-8DFF-F8B8CCB9CF98}"/>
                </a:ext>
              </a:extLst>
            </p:cNvPr>
            <p:cNvSpPr txBox="1"/>
            <p:nvPr/>
          </p:nvSpPr>
          <p:spPr>
            <a:xfrm>
              <a:off x="1066800" y="1388533"/>
              <a:ext cx="2726267" cy="461665"/>
            </a:xfrm>
            <a:prstGeom prst="rect">
              <a:avLst/>
            </a:prstGeom>
            <a:noFill/>
          </p:spPr>
          <p:txBody>
            <a:bodyPr wrap="square" rtlCol="0">
              <a:spAutoFit/>
            </a:bodyPr>
            <a:lstStyle/>
            <a:p>
              <a:r>
                <a:rPr lang="en-US" sz="2400" dirty="0">
                  <a:latin typeface="Times" pitchFamily="2" charset="0"/>
                </a:rPr>
                <a:t>From Equation 8.2:  </a:t>
              </a:r>
            </a:p>
          </p:txBody>
        </p:sp>
        <p:pic>
          <p:nvPicPr>
            <p:cNvPr id="10" name="Picture 9">
              <a:extLst>
                <a:ext uri="{FF2B5EF4-FFF2-40B4-BE49-F238E27FC236}">
                  <a16:creationId xmlns:a16="http://schemas.microsoft.com/office/drawing/2014/main" id="{CC6723D6-2331-E8BC-F7C6-2E5BA9220567}"/>
                </a:ext>
              </a:extLst>
            </p:cNvPr>
            <p:cNvPicPr>
              <a:picLocks noChangeAspect="1"/>
            </p:cNvPicPr>
            <p:nvPr/>
          </p:nvPicPr>
          <p:blipFill>
            <a:blip r:embed="rId3"/>
            <a:stretch>
              <a:fillRect/>
            </a:stretch>
          </p:blipFill>
          <p:spPr>
            <a:xfrm>
              <a:off x="3763434" y="1509183"/>
              <a:ext cx="1041400" cy="215900"/>
            </a:xfrm>
            <a:prstGeom prst="rect">
              <a:avLst/>
            </a:prstGeom>
          </p:spPr>
        </p:pic>
      </p:grpSp>
      <p:sp>
        <p:nvSpPr>
          <p:cNvPr id="13" name="TextBox 12">
            <a:extLst>
              <a:ext uri="{FF2B5EF4-FFF2-40B4-BE49-F238E27FC236}">
                <a16:creationId xmlns:a16="http://schemas.microsoft.com/office/drawing/2014/main" id="{0FE14D6D-9F29-2A24-5DD5-256FFB08A069}"/>
              </a:ext>
            </a:extLst>
          </p:cNvPr>
          <p:cNvSpPr txBox="1"/>
          <p:nvPr/>
        </p:nvSpPr>
        <p:spPr>
          <a:xfrm>
            <a:off x="1076848" y="1888347"/>
            <a:ext cx="2726267" cy="461665"/>
          </a:xfrm>
          <a:prstGeom prst="rect">
            <a:avLst/>
          </a:prstGeom>
          <a:noFill/>
        </p:spPr>
        <p:txBody>
          <a:bodyPr wrap="square" rtlCol="0">
            <a:spAutoFit/>
          </a:bodyPr>
          <a:lstStyle/>
          <a:p>
            <a:r>
              <a:rPr lang="en-US" sz="2400" dirty="0">
                <a:latin typeface="Times" pitchFamily="2" charset="0"/>
              </a:rPr>
              <a:t>From Equation 8.4:  </a:t>
            </a:r>
          </a:p>
        </p:txBody>
      </p:sp>
      <p:sp>
        <p:nvSpPr>
          <p:cNvPr id="15" name="TextBox 14">
            <a:extLst>
              <a:ext uri="{FF2B5EF4-FFF2-40B4-BE49-F238E27FC236}">
                <a16:creationId xmlns:a16="http://schemas.microsoft.com/office/drawing/2014/main" id="{064EFECC-04DB-1383-2CAD-18CCAA6DD6B5}"/>
              </a:ext>
            </a:extLst>
          </p:cNvPr>
          <p:cNvSpPr txBox="1"/>
          <p:nvPr/>
        </p:nvSpPr>
        <p:spPr>
          <a:xfrm>
            <a:off x="5063066" y="863601"/>
            <a:ext cx="2726267" cy="461665"/>
          </a:xfrm>
          <a:prstGeom prst="rect">
            <a:avLst/>
          </a:prstGeom>
          <a:noFill/>
        </p:spPr>
        <p:txBody>
          <a:bodyPr wrap="square" rtlCol="0">
            <a:spAutoFit/>
          </a:bodyPr>
          <a:lstStyle/>
          <a:p>
            <a:r>
              <a:rPr lang="en-US" sz="2400" dirty="0">
                <a:latin typeface="Times" pitchFamily="2" charset="0"/>
              </a:rPr>
              <a:t>And...</a:t>
            </a:r>
          </a:p>
        </p:txBody>
      </p:sp>
      <p:pic>
        <p:nvPicPr>
          <p:cNvPr id="16" name="Picture 15">
            <a:extLst>
              <a:ext uri="{FF2B5EF4-FFF2-40B4-BE49-F238E27FC236}">
                <a16:creationId xmlns:a16="http://schemas.microsoft.com/office/drawing/2014/main" id="{F5313E25-B24E-2064-16E8-9E3542C03876}"/>
              </a:ext>
            </a:extLst>
          </p:cNvPr>
          <p:cNvPicPr>
            <a:picLocks noChangeAspect="1"/>
          </p:cNvPicPr>
          <p:nvPr/>
        </p:nvPicPr>
        <p:blipFill>
          <a:blip r:embed="rId4"/>
          <a:stretch>
            <a:fillRect/>
          </a:stretch>
        </p:blipFill>
        <p:spPr>
          <a:xfrm>
            <a:off x="6129866" y="797985"/>
            <a:ext cx="1524000" cy="622300"/>
          </a:xfrm>
          <a:prstGeom prst="rect">
            <a:avLst/>
          </a:prstGeom>
        </p:spPr>
      </p:pic>
      <p:grpSp>
        <p:nvGrpSpPr>
          <p:cNvPr id="23" name="Group 22">
            <a:extLst>
              <a:ext uri="{FF2B5EF4-FFF2-40B4-BE49-F238E27FC236}">
                <a16:creationId xmlns:a16="http://schemas.microsoft.com/office/drawing/2014/main" id="{D95DF231-694F-8A76-5D54-B5AC963ABC59}"/>
              </a:ext>
            </a:extLst>
          </p:cNvPr>
          <p:cNvGrpSpPr/>
          <p:nvPr/>
        </p:nvGrpSpPr>
        <p:grpSpPr>
          <a:xfrm>
            <a:off x="6710082" y="563035"/>
            <a:ext cx="484468" cy="535641"/>
            <a:chOff x="6710082" y="1104900"/>
            <a:chExt cx="484468" cy="535641"/>
          </a:xfrm>
        </p:grpSpPr>
        <p:cxnSp>
          <p:nvCxnSpPr>
            <p:cNvPr id="18" name="Straight Connector 17">
              <a:extLst>
                <a:ext uri="{FF2B5EF4-FFF2-40B4-BE49-F238E27FC236}">
                  <a16:creationId xmlns:a16="http://schemas.microsoft.com/office/drawing/2014/main" id="{67B1DDF3-45E3-4BD8-462C-D24B802C0611}"/>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6A7A0E-CD67-495F-6CDE-ED9E30B4B434}"/>
                </a:ext>
              </a:extLst>
            </p:cNvPr>
            <p:cNvSpPr txBox="1"/>
            <p:nvPr/>
          </p:nvSpPr>
          <p:spPr>
            <a:xfrm>
              <a:off x="6956425" y="1104900"/>
              <a:ext cx="238125" cy="369332"/>
            </a:xfrm>
            <a:prstGeom prst="rect">
              <a:avLst/>
            </a:prstGeom>
            <a:noFill/>
          </p:spPr>
          <p:txBody>
            <a:bodyPr wrap="square" rtlCol="0">
              <a:spAutoFit/>
            </a:bodyPr>
            <a:lstStyle/>
            <a:p>
              <a:r>
                <a:rPr lang="en-US" dirty="0">
                  <a:solidFill>
                    <a:srgbClr val="FF0000"/>
                  </a:solidFill>
                  <a:latin typeface="Times" pitchFamily="2" charset="0"/>
                </a:rPr>
                <a:t>0</a:t>
              </a:r>
            </a:p>
          </p:txBody>
        </p:sp>
      </p:grpSp>
      <p:pic>
        <p:nvPicPr>
          <p:cNvPr id="24" name="Picture 23">
            <a:extLst>
              <a:ext uri="{FF2B5EF4-FFF2-40B4-BE49-F238E27FC236}">
                <a16:creationId xmlns:a16="http://schemas.microsoft.com/office/drawing/2014/main" id="{DB3B9AB2-0517-CCC1-E159-50ED779FADB2}"/>
              </a:ext>
            </a:extLst>
          </p:cNvPr>
          <p:cNvPicPr>
            <a:picLocks noChangeAspect="1"/>
          </p:cNvPicPr>
          <p:nvPr/>
        </p:nvPicPr>
        <p:blipFill>
          <a:blip r:embed="rId5"/>
          <a:stretch>
            <a:fillRect/>
          </a:stretch>
        </p:blipFill>
        <p:spPr>
          <a:xfrm>
            <a:off x="7800313" y="764630"/>
            <a:ext cx="711200" cy="647700"/>
          </a:xfrm>
          <a:prstGeom prst="rect">
            <a:avLst/>
          </a:prstGeom>
        </p:spPr>
      </p:pic>
      <p:pic>
        <p:nvPicPr>
          <p:cNvPr id="28" name="Picture 27">
            <a:extLst>
              <a:ext uri="{FF2B5EF4-FFF2-40B4-BE49-F238E27FC236}">
                <a16:creationId xmlns:a16="http://schemas.microsoft.com/office/drawing/2014/main" id="{C63EDC9D-DC6C-F1EA-21F5-2BD030B5A2FA}"/>
              </a:ext>
            </a:extLst>
          </p:cNvPr>
          <p:cNvPicPr>
            <a:picLocks noChangeAspect="1"/>
          </p:cNvPicPr>
          <p:nvPr/>
        </p:nvPicPr>
        <p:blipFill>
          <a:blip r:embed="rId6"/>
          <a:stretch>
            <a:fillRect/>
          </a:stretch>
        </p:blipFill>
        <p:spPr>
          <a:xfrm>
            <a:off x="3710005" y="2031908"/>
            <a:ext cx="1054100" cy="203200"/>
          </a:xfrm>
          <a:prstGeom prst="rect">
            <a:avLst/>
          </a:prstGeom>
        </p:spPr>
      </p:pic>
      <p:pic>
        <p:nvPicPr>
          <p:cNvPr id="29" name="Picture 28">
            <a:extLst>
              <a:ext uri="{FF2B5EF4-FFF2-40B4-BE49-F238E27FC236}">
                <a16:creationId xmlns:a16="http://schemas.microsoft.com/office/drawing/2014/main" id="{CD2763AB-C9C6-E48A-9A6E-6A9009DB7432}"/>
              </a:ext>
            </a:extLst>
          </p:cNvPr>
          <p:cNvPicPr>
            <a:picLocks noChangeAspect="1"/>
          </p:cNvPicPr>
          <p:nvPr/>
        </p:nvPicPr>
        <p:blipFill>
          <a:blip r:embed="rId7"/>
          <a:stretch>
            <a:fillRect/>
          </a:stretch>
        </p:blipFill>
        <p:spPr>
          <a:xfrm>
            <a:off x="4986424" y="2073149"/>
            <a:ext cx="1917700" cy="241300"/>
          </a:xfrm>
          <a:prstGeom prst="rect">
            <a:avLst/>
          </a:prstGeom>
        </p:spPr>
      </p:pic>
      <p:grpSp>
        <p:nvGrpSpPr>
          <p:cNvPr id="30" name="Group 29">
            <a:extLst>
              <a:ext uri="{FF2B5EF4-FFF2-40B4-BE49-F238E27FC236}">
                <a16:creationId xmlns:a16="http://schemas.microsoft.com/office/drawing/2014/main" id="{1A791E8A-E846-E8B9-234B-789C1CA38604}"/>
              </a:ext>
            </a:extLst>
          </p:cNvPr>
          <p:cNvGrpSpPr/>
          <p:nvPr/>
        </p:nvGrpSpPr>
        <p:grpSpPr>
          <a:xfrm>
            <a:off x="5938034" y="1830802"/>
            <a:ext cx="484468" cy="535641"/>
            <a:chOff x="6710082" y="1104900"/>
            <a:chExt cx="484468" cy="535641"/>
          </a:xfrm>
        </p:grpSpPr>
        <p:cxnSp>
          <p:nvCxnSpPr>
            <p:cNvPr id="31" name="Straight Connector 30">
              <a:extLst>
                <a:ext uri="{FF2B5EF4-FFF2-40B4-BE49-F238E27FC236}">
                  <a16:creationId xmlns:a16="http://schemas.microsoft.com/office/drawing/2014/main" id="{8130BF91-0AB7-1A3F-5B54-29C344E410A3}"/>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FB12ADC-8972-48B6-E9C8-ABE4D2654280}"/>
                </a:ext>
              </a:extLst>
            </p:cNvPr>
            <p:cNvSpPr txBox="1"/>
            <p:nvPr/>
          </p:nvSpPr>
          <p:spPr>
            <a:xfrm>
              <a:off x="6956425" y="1104900"/>
              <a:ext cx="238125" cy="369332"/>
            </a:xfrm>
            <a:prstGeom prst="rect">
              <a:avLst/>
            </a:prstGeom>
            <a:noFill/>
          </p:spPr>
          <p:txBody>
            <a:bodyPr wrap="square" rtlCol="0">
              <a:spAutoFit/>
            </a:bodyPr>
            <a:lstStyle/>
            <a:p>
              <a:r>
                <a:rPr lang="en-US" dirty="0">
                  <a:solidFill>
                    <a:srgbClr val="FF0000"/>
                  </a:solidFill>
                  <a:latin typeface="Times" pitchFamily="2" charset="0"/>
                </a:rPr>
                <a:t>0</a:t>
              </a:r>
            </a:p>
          </p:txBody>
        </p:sp>
      </p:grpSp>
      <p:pic>
        <p:nvPicPr>
          <p:cNvPr id="33" name="Picture 32">
            <a:extLst>
              <a:ext uri="{FF2B5EF4-FFF2-40B4-BE49-F238E27FC236}">
                <a16:creationId xmlns:a16="http://schemas.microsoft.com/office/drawing/2014/main" id="{444EF001-EF52-9A19-E7E1-486D3017CC3A}"/>
              </a:ext>
            </a:extLst>
          </p:cNvPr>
          <p:cNvPicPr>
            <a:picLocks noChangeAspect="1"/>
          </p:cNvPicPr>
          <p:nvPr/>
        </p:nvPicPr>
        <p:blipFill>
          <a:blip r:embed="rId8"/>
          <a:stretch>
            <a:fillRect/>
          </a:stretch>
        </p:blipFill>
        <p:spPr>
          <a:xfrm>
            <a:off x="7068736" y="2084802"/>
            <a:ext cx="1270000" cy="177800"/>
          </a:xfrm>
          <a:prstGeom prst="rect">
            <a:avLst/>
          </a:prstGeom>
        </p:spPr>
      </p:pic>
      <p:pic>
        <p:nvPicPr>
          <p:cNvPr id="40" name="Picture 39">
            <a:extLst>
              <a:ext uri="{FF2B5EF4-FFF2-40B4-BE49-F238E27FC236}">
                <a16:creationId xmlns:a16="http://schemas.microsoft.com/office/drawing/2014/main" id="{3449A011-3893-F7D0-A1D7-F88064578943}"/>
              </a:ext>
            </a:extLst>
          </p:cNvPr>
          <p:cNvPicPr>
            <a:picLocks noChangeAspect="1"/>
          </p:cNvPicPr>
          <p:nvPr/>
        </p:nvPicPr>
        <p:blipFill>
          <a:blip r:embed="rId9"/>
          <a:stretch>
            <a:fillRect/>
          </a:stretch>
        </p:blipFill>
        <p:spPr>
          <a:xfrm>
            <a:off x="8643236" y="766383"/>
            <a:ext cx="774700" cy="647700"/>
          </a:xfrm>
          <a:prstGeom prst="rect">
            <a:avLst/>
          </a:prstGeom>
        </p:spPr>
      </p:pic>
      <p:grpSp>
        <p:nvGrpSpPr>
          <p:cNvPr id="41" name="Group 40">
            <a:extLst>
              <a:ext uri="{FF2B5EF4-FFF2-40B4-BE49-F238E27FC236}">
                <a16:creationId xmlns:a16="http://schemas.microsoft.com/office/drawing/2014/main" id="{1EA565E9-AFAB-7DE3-1A39-566102550B28}"/>
              </a:ext>
            </a:extLst>
          </p:cNvPr>
          <p:cNvGrpSpPr/>
          <p:nvPr/>
        </p:nvGrpSpPr>
        <p:grpSpPr>
          <a:xfrm>
            <a:off x="4553339" y="1480166"/>
            <a:ext cx="4879589" cy="134170"/>
            <a:chOff x="3688558" y="2879724"/>
            <a:chExt cx="4879589" cy="134170"/>
          </a:xfrm>
        </p:grpSpPr>
        <p:sp>
          <p:nvSpPr>
            <p:cNvPr id="42" name="Left Brace 41">
              <a:extLst>
                <a:ext uri="{FF2B5EF4-FFF2-40B4-BE49-F238E27FC236}">
                  <a16:creationId xmlns:a16="http://schemas.microsoft.com/office/drawing/2014/main" id="{7F8E58A0-8F1B-B22D-BE01-2D155DCE92CD}"/>
                </a:ext>
              </a:extLst>
            </p:cNvPr>
            <p:cNvSpPr/>
            <p:nvPr/>
          </p:nvSpPr>
          <p:spPr>
            <a:xfrm rot="16200000">
              <a:off x="8253173" y="2697578"/>
              <a:ext cx="132827" cy="49712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A61FA39C-1848-CA36-FD29-E2BF1EAFF930}"/>
                </a:ext>
              </a:extLst>
            </p:cNvPr>
            <p:cNvCxnSpPr>
              <a:cxnSpLocks/>
            </p:cNvCxnSpPr>
            <p:nvPr/>
          </p:nvCxnSpPr>
          <p:spPr>
            <a:xfrm>
              <a:off x="3688558" y="3013894"/>
              <a:ext cx="4641461"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BF7A44DD-593B-F7CE-E689-4041FBB76248}"/>
              </a:ext>
            </a:extLst>
          </p:cNvPr>
          <p:cNvGrpSpPr/>
          <p:nvPr/>
        </p:nvGrpSpPr>
        <p:grpSpPr>
          <a:xfrm>
            <a:off x="8071027" y="1236135"/>
            <a:ext cx="555448" cy="1241425"/>
            <a:chOff x="8071027" y="1778000"/>
            <a:chExt cx="555448" cy="1241425"/>
          </a:xfrm>
        </p:grpSpPr>
        <p:sp>
          <p:nvSpPr>
            <p:cNvPr id="34" name="Left Brace 33">
              <a:extLst>
                <a:ext uri="{FF2B5EF4-FFF2-40B4-BE49-F238E27FC236}">
                  <a16:creationId xmlns:a16="http://schemas.microsoft.com/office/drawing/2014/main" id="{0F43877E-CB61-3502-9408-B563705A5073}"/>
                </a:ext>
              </a:extLst>
            </p:cNvPr>
            <p:cNvSpPr/>
            <p:nvPr/>
          </p:nvSpPr>
          <p:spPr>
            <a:xfrm rot="16200000">
              <a:off x="8139464" y="2811287"/>
              <a:ext cx="132827" cy="2697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D1BA4DF3-1573-2C76-21C4-1A7812B67132}"/>
                </a:ext>
              </a:extLst>
            </p:cNvPr>
            <p:cNvCxnSpPr/>
            <p:nvPr/>
          </p:nvCxnSpPr>
          <p:spPr>
            <a:xfrm>
              <a:off x="8197952" y="3013894"/>
              <a:ext cx="4277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859E670-FCF6-939F-2ED2-9F1A9B8751CB}"/>
                </a:ext>
              </a:extLst>
            </p:cNvPr>
            <p:cNvCxnSpPr/>
            <p:nvPr/>
          </p:nvCxnSpPr>
          <p:spPr>
            <a:xfrm flipH="1" flipV="1">
              <a:off x="8435975" y="1778000"/>
              <a:ext cx="190500" cy="1241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D740EA9E-90E6-D3C9-F216-3E41075E749F}"/>
              </a:ext>
            </a:extLst>
          </p:cNvPr>
          <p:cNvCxnSpPr>
            <a:cxnSpLocks/>
          </p:cNvCxnSpPr>
          <p:nvPr/>
        </p:nvCxnSpPr>
        <p:spPr>
          <a:xfrm flipV="1">
            <a:off x="4554115" y="1240636"/>
            <a:ext cx="0" cy="382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3B0911-80A1-2638-21DC-BA829D058911}"/>
              </a:ext>
            </a:extLst>
          </p:cNvPr>
          <p:cNvSpPr txBox="1">
            <a:spLocks noGrp="1"/>
          </p:cNvSpPr>
          <p:nvPr>
            <p:ph type="body" idx="2"/>
          </p:nvPr>
        </p:nvSpPr>
        <p:spPr>
          <a:xfrm>
            <a:off x="1074870" y="2710823"/>
            <a:ext cx="6323458"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After making theses two substitutions, we see that</a:t>
            </a:r>
          </a:p>
        </p:txBody>
      </p:sp>
      <p:sp>
        <p:nvSpPr>
          <p:cNvPr id="6" name="Rounded Rectangle 5">
            <a:extLst>
              <a:ext uri="{FF2B5EF4-FFF2-40B4-BE49-F238E27FC236}">
                <a16:creationId xmlns:a16="http://schemas.microsoft.com/office/drawing/2014/main" id="{86E6FDB9-6488-9950-108B-3839FD7906D0}"/>
              </a:ext>
              <a:ext uri="{C183D7F6-B498-43B3-948B-1728B52AA6E4}">
                <adec:decorative xmlns:adec="http://schemas.microsoft.com/office/drawing/2017/decorative" val="1"/>
              </a:ext>
            </a:extLst>
          </p:cNvPr>
          <p:cNvSpPr/>
          <p:nvPr/>
        </p:nvSpPr>
        <p:spPr>
          <a:xfrm>
            <a:off x="7398327" y="2527874"/>
            <a:ext cx="1650670"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Object 19">
            <a:extLst>
              <a:ext uri="{FF2B5EF4-FFF2-40B4-BE49-F238E27FC236}">
                <a16:creationId xmlns:a16="http://schemas.microsoft.com/office/drawing/2014/main" id="{765A701F-BB26-2816-3F11-C5555473F47F}"/>
              </a:ext>
            </a:extLst>
          </p:cNvPr>
          <p:cNvGraphicFramePr>
            <a:graphicFrameLocks noChangeAspect="1"/>
          </p:cNvGraphicFramePr>
          <p:nvPr>
            <p:extLst>
              <p:ext uri="{D42A27DB-BD31-4B8C-83A1-F6EECF244321}">
                <p14:modId xmlns:p14="http://schemas.microsoft.com/office/powerpoint/2010/main" val="1488471361"/>
              </p:ext>
            </p:extLst>
          </p:nvPr>
        </p:nvGraphicFramePr>
        <p:xfrm>
          <a:off x="7557770" y="2631071"/>
          <a:ext cx="1243330" cy="653275"/>
        </p:xfrm>
        <a:graphic>
          <a:graphicData uri="http://schemas.openxmlformats.org/presentationml/2006/ole">
            <mc:AlternateContent xmlns:mc="http://schemas.openxmlformats.org/markup-compatibility/2006">
              <mc:Choice xmlns:v="urn:schemas-microsoft-com:vml" Requires="v">
                <p:oleObj name="Equation" r:id="rId10" imgW="749160" imgH="393480" progId="Equation.DSMT4">
                  <p:embed/>
                </p:oleObj>
              </mc:Choice>
              <mc:Fallback>
                <p:oleObj name="Equation" r:id="rId10" imgW="749160" imgH="393480" progId="Equation.DSMT4">
                  <p:embed/>
                  <p:pic>
                    <p:nvPicPr>
                      <p:cNvPr id="0" name=""/>
                      <p:cNvPicPr/>
                      <p:nvPr/>
                    </p:nvPicPr>
                    <p:blipFill>
                      <a:blip r:embed="rId11"/>
                      <a:stretch>
                        <a:fillRect/>
                      </a:stretch>
                    </p:blipFill>
                    <p:spPr>
                      <a:xfrm>
                        <a:off x="7557770" y="2631071"/>
                        <a:ext cx="1243330" cy="653275"/>
                      </a:xfrm>
                      <a:prstGeom prst="rect">
                        <a:avLst/>
                      </a:prstGeom>
                    </p:spPr>
                  </p:pic>
                </p:oleObj>
              </mc:Fallback>
            </mc:AlternateContent>
          </a:graphicData>
        </a:graphic>
      </p:graphicFrame>
      <p:sp>
        <p:nvSpPr>
          <p:cNvPr id="5" name="Content Placeholder 9">
            <a:extLst>
              <a:ext uri="{FF2B5EF4-FFF2-40B4-BE49-F238E27FC236}">
                <a16:creationId xmlns:a16="http://schemas.microsoft.com/office/drawing/2014/main" id="{08996AB1-6511-0F91-2A06-B8F86D8A9361}"/>
              </a:ext>
            </a:extLst>
          </p:cNvPr>
          <p:cNvSpPr txBox="1">
            <a:spLocks noGrp="1"/>
          </p:cNvSpPr>
          <p:nvPr>
            <p:ph type="body" idx="9"/>
          </p:nvPr>
        </p:nvSpPr>
        <p:spPr>
          <a:xfrm>
            <a:off x="9028642" y="2777189"/>
            <a:ext cx="28860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endParaRPr lang="en-US" dirty="0">
              <a:latin typeface="Times New Roman"/>
            </a:endParaRPr>
          </a:p>
        </p:txBody>
      </p:sp>
      <p:sp>
        <p:nvSpPr>
          <p:cNvPr id="9" name="Content Placeholder 3">
            <a:extLst>
              <a:ext uri="{FF2B5EF4-FFF2-40B4-BE49-F238E27FC236}">
                <a16:creationId xmlns:a16="http://schemas.microsoft.com/office/drawing/2014/main" id="{A24E7D08-3268-0165-88F0-982390388646}"/>
              </a:ext>
            </a:extLst>
          </p:cNvPr>
          <p:cNvSpPr txBox="1">
            <a:spLocks noGrp="1"/>
          </p:cNvSpPr>
          <p:nvPr>
            <p:ph type="body" idx="3"/>
          </p:nvPr>
        </p:nvSpPr>
        <p:spPr>
          <a:xfrm>
            <a:off x="685403" y="3659090"/>
            <a:ext cx="10880064" cy="1200329"/>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Here is what this equation tells us: Take an object initially at rest, let it begin to rotate at a constant angular acceleration </a:t>
            </a:r>
            <a:r>
              <a:rPr lang="en-US" sz="2400"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 then </a:t>
            </a:r>
            <a:r>
              <a:rPr lang="el-GR" sz="2400" dirty="0">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latin typeface="Times New Roman" panose="02020603050405020304" pitchFamily="18" charset="0"/>
                <a:cs typeface="Times New Roman" panose="02020603050405020304" pitchFamily="18" charset="0"/>
              </a:rPr>
              <a:t>θ</a:t>
            </a:r>
            <a:r>
              <a:rPr lang="en-US" sz="2400" dirty="0">
                <a:latin typeface="Times New Roman" panose="02020603050405020304" pitchFamily="18" charset="0"/>
                <a:cs typeface="Times New Roman" panose="02020603050405020304" pitchFamily="18" charset="0"/>
              </a:rPr>
              <a:t> is the angle it rotates through (angular displacement) in a time </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p>
        </p:txBody>
      </p:sp>
      <p:sp>
        <p:nvSpPr>
          <p:cNvPr id="12" name="Content Placeholder 4">
            <a:extLst>
              <a:ext uri="{FF2B5EF4-FFF2-40B4-BE49-F238E27FC236}">
                <a16:creationId xmlns:a16="http://schemas.microsoft.com/office/drawing/2014/main" id="{99E14E32-6C59-3057-CFA8-D7B6B77B3A20}"/>
              </a:ext>
            </a:extLst>
          </p:cNvPr>
          <p:cNvSpPr txBox="1">
            <a:spLocks noGrp="1"/>
          </p:cNvSpPr>
          <p:nvPr>
            <p:ph type="body" idx="4"/>
          </p:nvPr>
        </p:nvSpPr>
        <p:spPr>
          <a:xfrm>
            <a:off x="702337" y="4962956"/>
            <a:ext cx="10880064"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But what if the object is already rotating, i.e. what if </a:t>
            </a:r>
            <a:r>
              <a:rPr lang="en-US" sz="2400" i="1" dirty="0">
                <a:latin typeface="Times New Roman" panose="02020603050405020304" pitchFamily="18" charset="0"/>
                <a:cs typeface="Times New Roman" panose="02020603050405020304" pitchFamily="18" charset="0"/>
              </a:rPr>
              <a:t>ω</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0?</a:t>
            </a:r>
          </a:p>
        </p:txBody>
      </p:sp>
      <p:sp>
        <p:nvSpPr>
          <p:cNvPr id="14" name="Content Placeholder 5">
            <a:extLst>
              <a:ext uri="{FF2B5EF4-FFF2-40B4-BE49-F238E27FC236}">
                <a16:creationId xmlns:a16="http://schemas.microsoft.com/office/drawing/2014/main" id="{16F90525-9B62-5B44-58FD-C8A6B04D4BFD}"/>
              </a:ext>
            </a:extLst>
          </p:cNvPr>
          <p:cNvSpPr txBox="1">
            <a:spLocks noGrp="1"/>
          </p:cNvSpPr>
          <p:nvPr>
            <p:ph type="body" idx="5"/>
          </p:nvPr>
        </p:nvSpPr>
        <p:spPr>
          <a:xfrm>
            <a:off x="702337" y="5538689"/>
            <a:ext cx="920379"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Then</a:t>
            </a:r>
          </a:p>
        </p:txBody>
      </p:sp>
      <p:sp>
        <p:nvSpPr>
          <p:cNvPr id="19" name="Rounded Rectangle 18">
            <a:extLst>
              <a:ext uri="{FF2B5EF4-FFF2-40B4-BE49-F238E27FC236}">
                <a16:creationId xmlns:a16="http://schemas.microsoft.com/office/drawing/2014/main" id="{DB82AC4F-B29A-9A0C-37A6-12695816A752}"/>
              </a:ext>
              <a:ext uri="{C183D7F6-B498-43B3-948B-1728B52AA6E4}">
                <adec:decorative xmlns:adec="http://schemas.microsoft.com/office/drawing/2017/decorative" val="1"/>
              </a:ext>
            </a:extLst>
          </p:cNvPr>
          <p:cNvSpPr/>
          <p:nvPr/>
        </p:nvSpPr>
        <p:spPr>
          <a:xfrm>
            <a:off x="1490133" y="5554133"/>
            <a:ext cx="1253067" cy="4233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ntent Placeholder 6">
            <a:extLst>
              <a:ext uri="{FF2B5EF4-FFF2-40B4-BE49-F238E27FC236}">
                <a16:creationId xmlns:a16="http://schemas.microsoft.com/office/drawing/2014/main" id="{09B3C01A-26BB-694D-5053-AC4CDF418AC9}"/>
              </a:ext>
            </a:extLst>
          </p:cNvPr>
          <p:cNvSpPr txBox="1">
            <a:spLocks noGrp="1"/>
          </p:cNvSpPr>
          <p:nvPr>
            <p:ph type="body" idx="6"/>
          </p:nvPr>
        </p:nvSpPr>
        <p:spPr>
          <a:xfrm>
            <a:off x="1451941" y="5545978"/>
            <a:ext cx="135466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l-GR" sz="2400" dirty="0">
                <a:latin typeface="Times New Roman" panose="02020603050405020304" pitchFamily="18" charset="0"/>
                <a:cs typeface="Times New Roman" panose="02020603050405020304" pitchFamily="18" charset="0"/>
                <a:sym typeface="Symbol" panose="05050102010706020507" pitchFamily="18" charset="2"/>
              </a:rPr>
              <a:t>Δ</a:t>
            </a:r>
            <a:r>
              <a:rPr lang="el-GR" sz="2400" i="1" dirty="0">
                <a:latin typeface="Times New Roman" panose="02020603050405020304" pitchFamily="18" charset="0"/>
                <a:cs typeface="Times New Roman" panose="02020603050405020304" pitchFamily="18" charset="0"/>
                <a:sym typeface="Symbol" panose="05050102010706020507" pitchFamily="18" charset="2"/>
              </a:rPr>
              <a:t>θ</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ω</a:t>
            </a:r>
            <a:r>
              <a:rPr lang="en-US" sz="2400" baseline="-25000" dirty="0">
                <a:latin typeface="Times New Roman" panose="02020603050405020304" pitchFamily="18" charset="0"/>
                <a:cs typeface="Times New Roman" panose="02020603050405020304" pitchFamily="18" charset="0"/>
              </a:rPr>
              <a:t>0</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t>
            </a:r>
          </a:p>
        </p:txBody>
      </p:sp>
      <p:sp>
        <p:nvSpPr>
          <p:cNvPr id="27" name="Content Placeholder 7">
            <a:extLst>
              <a:ext uri="{FF2B5EF4-FFF2-40B4-BE49-F238E27FC236}">
                <a16:creationId xmlns:a16="http://schemas.microsoft.com/office/drawing/2014/main" id="{E6A409FE-2789-A99E-7B0F-09644BE4A914}"/>
              </a:ext>
            </a:extLst>
          </p:cNvPr>
          <p:cNvSpPr txBox="1">
            <a:spLocks noGrp="1"/>
          </p:cNvSpPr>
          <p:nvPr>
            <p:ph type="body" idx="7"/>
          </p:nvPr>
        </p:nvSpPr>
        <p:spPr>
          <a:xfrm>
            <a:off x="2789873" y="5538689"/>
            <a:ext cx="8792528"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gives us the displacement that would result if the angular acceleration </a:t>
            </a:r>
            <a:endParaRPr lang="en-US" dirty="0">
              <a:latin typeface="Times New Roman" panose="02020603050405020304" pitchFamily="18" charset="0"/>
              <a:cs typeface="Times New Roman" panose="02020603050405020304" pitchFamily="18" charset="0"/>
            </a:endParaRPr>
          </a:p>
        </p:txBody>
      </p:sp>
      <p:sp>
        <p:nvSpPr>
          <p:cNvPr id="37" name="Content Placeholder 8">
            <a:extLst>
              <a:ext uri="{FF2B5EF4-FFF2-40B4-BE49-F238E27FC236}">
                <a16:creationId xmlns:a16="http://schemas.microsoft.com/office/drawing/2014/main" id="{94517339-CF98-98CA-BD0C-E69B1064E468}"/>
              </a:ext>
            </a:extLst>
          </p:cNvPr>
          <p:cNvSpPr txBox="1">
            <a:spLocks noGrp="1"/>
          </p:cNvSpPr>
          <p:nvPr>
            <p:ph type="body" idx="8"/>
          </p:nvPr>
        </p:nvSpPr>
        <p:spPr>
          <a:xfrm>
            <a:off x="702337" y="5928479"/>
            <a:ext cx="9866947"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were zero, and the angular velocity remained constant at its initial value of </a:t>
            </a:r>
            <a:r>
              <a:rPr lang="en-US" sz="2400" i="1" dirty="0">
                <a:latin typeface="Times New Roman" panose="02020603050405020304" pitchFamily="18" charset="0"/>
                <a:cs typeface="Times New Roman" panose="02020603050405020304" pitchFamily="18" charset="0"/>
              </a:rPr>
              <a:t>ω</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375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dissolv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dissolv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dissolv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dissolv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dissolve">
                                      <p:cBhvr>
                                        <p:cTn id="55" dur="500"/>
                                        <p:tgtEl>
                                          <p:spTgt spid="39"/>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dissolve">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dissolve">
                                      <p:cBhvr>
                                        <p:cTn id="65" dur="500"/>
                                        <p:tgtEl>
                                          <p:spTgt spid="41"/>
                                        </p:tgtEl>
                                      </p:cBhvr>
                                    </p:animEffect>
                                  </p:childTnLst>
                                </p:cTn>
                              </p:par>
                            </p:childTnLst>
                          </p:cTn>
                        </p:par>
                        <p:par>
                          <p:cTn id="66" fill="hold">
                            <p:stCondLst>
                              <p:cond delay="500"/>
                            </p:stCondLst>
                            <p:childTnLst>
                              <p:par>
                                <p:cTn id="67" presetID="9" presetClass="entr" presetSubtype="0" fill="hold" nodeType="after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dissolve">
                                      <p:cBhvr>
                                        <p:cTn id="69" dur="500"/>
                                        <p:tgtEl>
                                          <p:spTgt spid="48"/>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dissolve">
                                      <p:cBhvr>
                                        <p:cTn id="74" dur="500"/>
                                        <p:tgtEl>
                                          <p:spTgt spid="3"/>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6"/>
                                        </p:tgtEl>
                                        <p:attrNameLst>
                                          <p:attrName>style.visibility</p:attrName>
                                        </p:attrNameLst>
                                      </p:cBhvr>
                                      <p:to>
                                        <p:strVal val="visible"/>
                                      </p:to>
                                    </p:set>
                                    <p:animEffect transition="in" filter="dissolve">
                                      <p:cBhvr>
                                        <p:cTn id="77" dur="500"/>
                                        <p:tgtEl>
                                          <p:spTgt spid="6"/>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dissolve">
                                      <p:cBhvr>
                                        <p:cTn id="80" dur="500"/>
                                        <p:tgtEl>
                                          <p:spTgt spid="5"/>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dissolve">
                                      <p:cBhvr>
                                        <p:cTn id="85" dur="500"/>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dissolve">
                                      <p:cBhvr>
                                        <p:cTn id="90" dur="500"/>
                                        <p:tgtEl>
                                          <p:spTgt spid="9"/>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12"/>
                                        </p:tgtEl>
                                        <p:attrNameLst>
                                          <p:attrName>style.visibility</p:attrName>
                                        </p:attrNameLst>
                                      </p:cBhvr>
                                      <p:to>
                                        <p:strVal val="visible"/>
                                      </p:to>
                                    </p:set>
                                    <p:animEffect transition="in" filter="dissolve">
                                      <p:cBhvr>
                                        <p:cTn id="95" dur="500"/>
                                        <p:tgtEl>
                                          <p:spTgt spid="12"/>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14"/>
                                        </p:tgtEl>
                                        <p:attrNameLst>
                                          <p:attrName>style.visibility</p:attrName>
                                        </p:attrNameLst>
                                      </p:cBhvr>
                                      <p:to>
                                        <p:strVal val="visible"/>
                                      </p:to>
                                    </p:set>
                                    <p:animEffect transition="in" filter="dissolve">
                                      <p:cBhvr>
                                        <p:cTn id="100" dur="500"/>
                                        <p:tgtEl>
                                          <p:spTgt spid="14"/>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dissolve">
                                      <p:cBhvr>
                                        <p:cTn id="103" dur="500"/>
                                        <p:tgtEl>
                                          <p:spTgt spid="27"/>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dissolve">
                                      <p:cBhvr>
                                        <p:cTn id="106" dur="500"/>
                                        <p:tgtEl>
                                          <p:spTgt spid="37"/>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dissolve">
                                      <p:cBhvr>
                                        <p:cTn id="109" dur="500"/>
                                        <p:tgtEl>
                                          <p:spTgt spid="19"/>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dissolve">
                                      <p:cBhvr>
                                        <p:cTn id="11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3" grpId="0"/>
      <p:bldP spid="6" grpId="0" animBg="1"/>
      <p:bldP spid="5" grpId="0"/>
      <p:bldP spid="9" grpId="0"/>
      <p:bldP spid="12" grpId="0"/>
      <p:bldP spid="14" grpId="0"/>
      <p:bldP spid="19" grpId="0" animBg="1"/>
      <p:bldP spid="22" grpId="0"/>
      <p:bldP spid="27" grpId="0"/>
      <p:bldP spid="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16EF-3BD6-9CBD-B1E7-90463FDF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272A2-AD6D-7378-1B53-81F576B86CF9}"/>
              </a:ext>
            </a:extLst>
          </p:cNvPr>
          <p:cNvSpPr>
            <a:spLocks noGrp="1"/>
          </p:cNvSpPr>
          <p:nvPr>
            <p:ph type="title"/>
          </p:nvPr>
        </p:nvSpPr>
        <p:spPr>
          <a:xfrm>
            <a:off x="654622" y="53787"/>
            <a:ext cx="10820401" cy="849312"/>
          </a:xfrm>
        </p:spPr>
        <p:txBody>
          <a:bodyPr/>
          <a:lstStyle/>
          <a:p>
            <a:r>
              <a:rPr lang="en-US" b="1" dirty="0">
                <a:latin typeface="Times New Roman" panose="02020603050405020304" pitchFamily="18" charset="0"/>
                <a:ea typeface="Calibri" charset="0"/>
                <a:cs typeface="Times New Roman" panose="02020603050405020304" pitchFamily="18" charset="0"/>
              </a:rPr>
              <a:t>8.3</a:t>
            </a:r>
            <a:r>
              <a:rPr lang="en-US" dirty="0">
                <a:latin typeface="Times New Roman" panose="02020603050405020304" pitchFamily="18" charset="0"/>
                <a:ea typeface="Calibri" charset="0"/>
                <a:cs typeface="Times New Roman" panose="02020603050405020304" pitchFamily="18" charset="0"/>
              </a:rPr>
              <a:t> The Equations of Rotational Kinematics (3 of 7)</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7280102E-F06C-4C5F-A3B9-0F83CD1D6B19}"/>
              </a:ext>
            </a:extLst>
          </p:cNvPr>
          <p:cNvSpPr txBox="1">
            <a:spLocks noGrp="1"/>
          </p:cNvSpPr>
          <p:nvPr>
            <p:ph type="body" idx="1"/>
          </p:nvPr>
        </p:nvSpPr>
        <p:spPr>
          <a:xfrm>
            <a:off x="363669" y="780424"/>
            <a:ext cx="8492464" cy="461665"/>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total angular displacement is just the sum of these two terms:</a:t>
            </a:r>
          </a:p>
        </p:txBody>
      </p:sp>
      <p:sp>
        <p:nvSpPr>
          <p:cNvPr id="20" name="Rounded Rectangle 19">
            <a:extLst>
              <a:ext uri="{FF2B5EF4-FFF2-40B4-BE49-F238E27FC236}">
                <a16:creationId xmlns:a16="http://schemas.microsoft.com/office/drawing/2014/main" id="{9D04D1C0-786A-2005-E783-131BE5F0B6BC}"/>
              </a:ext>
              <a:ext uri="{C183D7F6-B498-43B3-948B-1728B52AA6E4}">
                <adec:decorative xmlns:adec="http://schemas.microsoft.com/office/drawing/2017/decorative" val="1"/>
              </a:ext>
            </a:extLst>
          </p:cNvPr>
          <p:cNvSpPr/>
          <p:nvPr/>
        </p:nvSpPr>
        <p:spPr>
          <a:xfrm>
            <a:off x="8652933" y="609601"/>
            <a:ext cx="2387600" cy="8466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D2B483BF-28A0-6D09-B53A-BA63E9F2BC15}"/>
              </a:ext>
            </a:extLst>
          </p:cNvPr>
          <p:cNvGraphicFramePr>
            <a:graphicFrameLocks noChangeAspect="1"/>
          </p:cNvGraphicFramePr>
          <p:nvPr>
            <p:extLst>
              <p:ext uri="{D42A27DB-BD31-4B8C-83A1-F6EECF244321}">
                <p14:modId xmlns:p14="http://schemas.microsoft.com/office/powerpoint/2010/main" val="3771549063"/>
              </p:ext>
            </p:extLst>
          </p:nvPr>
        </p:nvGraphicFramePr>
        <p:xfrm>
          <a:off x="8836025" y="646113"/>
          <a:ext cx="1912938" cy="658812"/>
        </p:xfrm>
        <a:graphic>
          <a:graphicData uri="http://schemas.openxmlformats.org/presentationml/2006/ole">
            <mc:AlternateContent xmlns:mc="http://schemas.openxmlformats.org/markup-compatibility/2006">
              <mc:Choice xmlns:v="urn:schemas-microsoft-com:vml" Requires="v">
                <p:oleObj name="Equation" r:id="rId3" imgW="1143000" imgH="393480" progId="Equation.DSMT4">
                  <p:embed/>
                </p:oleObj>
              </mc:Choice>
              <mc:Fallback>
                <p:oleObj name="Equation" r:id="rId3" imgW="1143000" imgH="393480" progId="Equation.DSMT4">
                  <p:embed/>
                  <p:pic>
                    <p:nvPicPr>
                      <p:cNvPr id="0" name=""/>
                      <p:cNvPicPr/>
                      <p:nvPr/>
                    </p:nvPicPr>
                    <p:blipFill>
                      <a:blip r:embed="rId4"/>
                      <a:stretch>
                        <a:fillRect/>
                      </a:stretch>
                    </p:blipFill>
                    <p:spPr>
                      <a:xfrm>
                        <a:off x="8836025" y="646113"/>
                        <a:ext cx="1912938" cy="658812"/>
                      </a:xfrm>
                      <a:prstGeom prst="rect">
                        <a:avLst/>
                      </a:prstGeom>
                    </p:spPr>
                  </p:pic>
                </p:oleObj>
              </mc:Fallback>
            </mc:AlternateContent>
          </a:graphicData>
        </a:graphic>
      </p:graphicFrame>
      <p:sp>
        <p:nvSpPr>
          <p:cNvPr id="27" name="Content Placeholder 2">
            <a:extLst>
              <a:ext uri="{FF2B5EF4-FFF2-40B4-BE49-F238E27FC236}">
                <a16:creationId xmlns:a16="http://schemas.microsoft.com/office/drawing/2014/main" id="{EBC54D82-4ECB-FB36-35F5-69B599885952}"/>
              </a:ext>
            </a:extLst>
          </p:cNvPr>
          <p:cNvSpPr txBox="1">
            <a:spLocks noGrp="1"/>
          </p:cNvSpPr>
          <p:nvPr>
            <p:ph type="body" idx="2"/>
          </p:nvPr>
        </p:nvSpPr>
        <p:spPr>
          <a:xfrm>
            <a:off x="11184069" y="814290"/>
            <a:ext cx="1007931" cy="461665"/>
          </a:xfrm>
          <a:prstGeom prst="rect">
            <a:avLst/>
          </a:prstGeom>
          <a:noFill/>
        </p:spPr>
        <p:txBody>
          <a:bodyPr wrap="square" rtlCol="0">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itchFamily="2" charset="0"/>
              </a:rPr>
              <a:t>(</a:t>
            </a:r>
            <a:r>
              <a:rPr lang="en-US" sz="2400" b="1" dirty="0">
                <a:latin typeface="Times New Roman" pitchFamily="2" charset="0"/>
              </a:rPr>
              <a:t>8.7</a:t>
            </a:r>
            <a:r>
              <a:rPr lang="en-US" sz="2400" dirty="0">
                <a:latin typeface="Times New Roman" pitchFamily="2" charset="0"/>
              </a:rPr>
              <a:t>)</a:t>
            </a:r>
          </a:p>
        </p:txBody>
      </p:sp>
      <p:sp>
        <p:nvSpPr>
          <p:cNvPr id="35" name="Content Placeholder 3">
            <a:extLst>
              <a:ext uri="{FF2B5EF4-FFF2-40B4-BE49-F238E27FC236}">
                <a16:creationId xmlns:a16="http://schemas.microsoft.com/office/drawing/2014/main" id="{4C79B4D6-A6E4-F8EA-B2B3-D36E0F212B65}"/>
              </a:ext>
            </a:extLst>
          </p:cNvPr>
          <p:cNvSpPr txBox="1">
            <a:spLocks noGrp="1"/>
          </p:cNvSpPr>
          <p:nvPr>
            <p:ph type="body" idx="3"/>
          </p:nvPr>
        </p:nvSpPr>
        <p:spPr>
          <a:xfrm>
            <a:off x="634602" y="1644024"/>
            <a:ext cx="11252598" cy="461665"/>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refer to Equation 8.7 as </a:t>
            </a:r>
            <a:r>
              <a:rPr lang="en-US" sz="2400" i="1" dirty="0">
                <a:solidFill>
                  <a:srgbClr val="007440"/>
                </a:solidFill>
                <a:latin typeface="Times New Roman" panose="02020603050405020304" pitchFamily="18" charset="0"/>
                <a:cs typeface="Times New Roman" panose="02020603050405020304" pitchFamily="18" charset="0"/>
              </a:rPr>
              <a:t>the equation for motion with constant angular acceleration</a:t>
            </a:r>
            <a:r>
              <a:rPr lang="en-US" sz="2400" dirty="0">
                <a:latin typeface="Times New Roman" panose="02020603050405020304" pitchFamily="18" charset="0"/>
                <a:cs typeface="Times New Roman" panose="02020603050405020304" pitchFamily="18" charset="0"/>
              </a:rPr>
              <a:t>.</a:t>
            </a:r>
          </a:p>
        </p:txBody>
      </p:sp>
      <p:sp>
        <p:nvSpPr>
          <p:cNvPr id="37" name="Content Placeholder 4">
            <a:extLst>
              <a:ext uri="{FF2B5EF4-FFF2-40B4-BE49-F238E27FC236}">
                <a16:creationId xmlns:a16="http://schemas.microsoft.com/office/drawing/2014/main" id="{0DE14923-14FF-4B13-8D5B-A8C6DED9A354}"/>
              </a:ext>
            </a:extLst>
          </p:cNvPr>
          <p:cNvSpPr txBox="1">
            <a:spLocks noGrp="1"/>
          </p:cNvSpPr>
          <p:nvPr>
            <p:ph type="body" idx="4"/>
          </p:nvPr>
        </p:nvSpPr>
        <p:spPr>
          <a:xfrm>
            <a:off x="651536" y="2253624"/>
            <a:ext cx="11252598" cy="830997"/>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It should look strikingly familiar, since it has the same mathematical form as the equation of motion for constant linear acceleration that we derived in Chapter 02.</a:t>
            </a:r>
          </a:p>
        </p:txBody>
      </p:sp>
      <p:sp>
        <p:nvSpPr>
          <p:cNvPr id="45" name="Content Placeholder 5">
            <a:extLst>
              <a:ext uri="{FF2B5EF4-FFF2-40B4-BE49-F238E27FC236}">
                <a16:creationId xmlns:a16="http://schemas.microsoft.com/office/drawing/2014/main" id="{A90C5E79-969B-94BF-A889-CEC5B88D0A49}"/>
              </a:ext>
            </a:extLst>
          </p:cNvPr>
          <p:cNvSpPr txBox="1">
            <a:spLocks noGrp="1"/>
          </p:cNvSpPr>
          <p:nvPr>
            <p:ph type="body" idx="5"/>
          </p:nvPr>
        </p:nvSpPr>
        <p:spPr>
          <a:xfrm>
            <a:off x="634999" y="3119734"/>
            <a:ext cx="11167533"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This similarity reflects the close analogy between linear and rotational motion.</a:t>
            </a:r>
          </a:p>
        </p:txBody>
      </p:sp>
      <p:sp>
        <p:nvSpPr>
          <p:cNvPr id="46" name="Content Placeholder 6">
            <a:extLst>
              <a:ext uri="{FF2B5EF4-FFF2-40B4-BE49-F238E27FC236}">
                <a16:creationId xmlns:a16="http://schemas.microsoft.com/office/drawing/2014/main" id="{EAB0BB0E-3608-E65F-5AC0-F2FE6D27957C}"/>
              </a:ext>
            </a:extLst>
          </p:cNvPr>
          <p:cNvSpPr txBox="1">
            <a:spLocks noGrp="1"/>
          </p:cNvSpPr>
          <p:nvPr>
            <p:ph type="body" idx="6"/>
          </p:nvPr>
        </p:nvSpPr>
        <p:spPr>
          <a:xfrm>
            <a:off x="651932" y="3797067"/>
            <a:ext cx="1116753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In fact, there is a beautiful one-to-one correspondence between the variables describing linear motion and those describing rotational motion.</a:t>
            </a:r>
          </a:p>
        </p:txBody>
      </p:sp>
      <p:sp>
        <p:nvSpPr>
          <p:cNvPr id="50" name="Rectangle 49">
            <a:extLst>
              <a:ext uri="{FF2B5EF4-FFF2-40B4-BE49-F238E27FC236}">
                <a16:creationId xmlns:a16="http://schemas.microsoft.com/office/drawing/2014/main" id="{BB65E922-8450-35C3-D10C-35A7C02BE7E3}"/>
              </a:ext>
              <a:ext uri="{C183D7F6-B498-43B3-948B-1728B52AA6E4}">
                <adec:decorative xmlns:adec="http://schemas.microsoft.com/office/drawing/2017/decorative" val="1"/>
              </a:ext>
            </a:extLst>
          </p:cNvPr>
          <p:cNvSpPr/>
          <p:nvPr/>
        </p:nvSpPr>
        <p:spPr>
          <a:xfrm>
            <a:off x="440270" y="4859867"/>
            <a:ext cx="11294534" cy="125306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ontent Placeholder 7">
            <a:extLst>
              <a:ext uri="{FF2B5EF4-FFF2-40B4-BE49-F238E27FC236}">
                <a16:creationId xmlns:a16="http://schemas.microsoft.com/office/drawing/2014/main" id="{F3F616C2-F6F1-840A-E0BF-DBCC43F44331}"/>
              </a:ext>
            </a:extLst>
          </p:cNvPr>
          <p:cNvSpPr txBox="1">
            <a:spLocks noGrp="1"/>
          </p:cNvSpPr>
          <p:nvPr>
            <p:ph type="body" idx="7"/>
          </p:nvPr>
        </p:nvSpPr>
        <p:spPr>
          <a:xfrm>
            <a:off x="453290" y="4891469"/>
            <a:ext cx="11302999"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variables of linear motion have direct angular counterparts: displacement (</a:t>
            </a:r>
            <a:r>
              <a:rPr lang="en-US" sz="2400" i="1" dirty="0">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 is replaced by angular displacement (</a:t>
            </a:r>
          </a:p>
        </p:txBody>
      </p:sp>
      <p:sp>
        <p:nvSpPr>
          <p:cNvPr id="52" name="Rounded Rectangle 51">
            <a:extLst>
              <a:ext uri="{FF2B5EF4-FFF2-40B4-BE49-F238E27FC236}">
                <a16:creationId xmlns:a16="http://schemas.microsoft.com/office/drawing/2014/main" id="{903C2DDF-D33D-7981-AE0E-0985925DE525}"/>
              </a:ext>
              <a:ext uri="{C183D7F6-B498-43B3-948B-1728B52AA6E4}">
                <adec:decorative xmlns:adec="http://schemas.microsoft.com/office/drawing/2017/decorative" val="1"/>
              </a:ext>
            </a:extLst>
          </p:cNvPr>
          <p:cNvSpPr/>
          <p:nvPr/>
        </p:nvSpPr>
        <p:spPr>
          <a:xfrm>
            <a:off x="478992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ontent Placeholder 8">
            <a:extLst>
              <a:ext uri="{FF2B5EF4-FFF2-40B4-BE49-F238E27FC236}">
                <a16:creationId xmlns:a16="http://schemas.microsoft.com/office/drawing/2014/main" id="{34F34927-2B5D-4E67-9BCA-80F39C705857}"/>
              </a:ext>
            </a:extLst>
          </p:cNvPr>
          <p:cNvSpPr txBox="1">
            <a:spLocks noGrp="1"/>
          </p:cNvSpPr>
          <p:nvPr>
            <p:ph type="body" idx="8"/>
          </p:nvPr>
        </p:nvSpPr>
        <p:spPr>
          <a:xfrm>
            <a:off x="4736776" y="5272461"/>
            <a:ext cx="496956"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θ</a:t>
            </a:r>
          </a:p>
        </p:txBody>
      </p:sp>
      <p:sp>
        <p:nvSpPr>
          <p:cNvPr id="10" name="Content Placeholder 9">
            <a:extLst>
              <a:ext uri="{FF2B5EF4-FFF2-40B4-BE49-F238E27FC236}">
                <a16:creationId xmlns:a16="http://schemas.microsoft.com/office/drawing/2014/main" id="{70A40BEA-742B-08B2-4FAB-DEDD61D75274}"/>
              </a:ext>
            </a:extLst>
          </p:cNvPr>
          <p:cNvSpPr txBox="1">
            <a:spLocks noGrp="1"/>
          </p:cNvSpPr>
          <p:nvPr>
            <p:ph type="body" idx="9"/>
          </p:nvPr>
        </p:nvSpPr>
        <p:spPr>
          <a:xfrm>
            <a:off x="4905507" y="5249378"/>
            <a:ext cx="4522413"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 velocity (</a:t>
            </a:r>
            <a:r>
              <a:rPr lang="en-US" sz="2400" i="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 by angular velocity (</a:t>
            </a:r>
            <a:endParaRPr lang="en-US" dirty="0">
              <a:latin typeface="Times New Roman" panose="02020603050405020304" pitchFamily="18" charset="0"/>
              <a:cs typeface="Times New Roman" panose="02020603050405020304" pitchFamily="18" charset="0"/>
            </a:endParaRPr>
          </a:p>
        </p:txBody>
      </p:sp>
      <p:sp>
        <p:nvSpPr>
          <p:cNvPr id="53" name="Rounded Rectangle 52">
            <a:extLst>
              <a:ext uri="{FF2B5EF4-FFF2-40B4-BE49-F238E27FC236}">
                <a16:creationId xmlns:a16="http://schemas.microsoft.com/office/drawing/2014/main" id="{4B0B0FEB-AEBB-69F0-BF3B-C9CFDB44AECC}"/>
              </a:ext>
              <a:ext uri="{C183D7F6-B498-43B3-948B-1728B52AA6E4}">
                <adec:decorative xmlns:adec="http://schemas.microsoft.com/office/drawing/2017/decorative" val="1"/>
              </a:ext>
            </a:extLst>
          </p:cNvPr>
          <p:cNvSpPr/>
          <p:nvPr/>
        </p:nvSpPr>
        <p:spPr>
          <a:xfrm>
            <a:off x="922857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Content Placeholder 10">
            <a:extLst>
              <a:ext uri="{FF2B5EF4-FFF2-40B4-BE49-F238E27FC236}">
                <a16:creationId xmlns:a16="http://schemas.microsoft.com/office/drawing/2014/main" id="{0125CEDD-5E4D-9F49-7F40-4D5D65119A9E}"/>
              </a:ext>
            </a:extLst>
          </p:cNvPr>
          <p:cNvSpPr txBox="1">
            <a:spLocks noGrp="1"/>
          </p:cNvSpPr>
          <p:nvPr>
            <p:ph type="body" idx="10"/>
          </p:nvPr>
        </p:nvSpPr>
        <p:spPr>
          <a:xfrm>
            <a:off x="9131259" y="5238270"/>
            <a:ext cx="496956"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ω</a:t>
            </a:r>
          </a:p>
        </p:txBody>
      </p:sp>
      <p:sp>
        <p:nvSpPr>
          <p:cNvPr id="12" name="Content Placeholder 11">
            <a:extLst>
              <a:ext uri="{FF2B5EF4-FFF2-40B4-BE49-F238E27FC236}">
                <a16:creationId xmlns:a16="http://schemas.microsoft.com/office/drawing/2014/main" id="{2151550E-ED8E-9488-53AF-AB987EEE9513}"/>
              </a:ext>
            </a:extLst>
          </p:cNvPr>
          <p:cNvSpPr txBox="1">
            <a:spLocks noGrp="1"/>
          </p:cNvSpPr>
          <p:nvPr>
            <p:ph type="body" idx="11"/>
          </p:nvPr>
        </p:nvSpPr>
        <p:spPr>
          <a:xfrm>
            <a:off x="9352138" y="5247009"/>
            <a:ext cx="2551996"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 and acceleration</a:t>
            </a:r>
            <a:endParaRPr lang="en-US" dirty="0">
              <a:latin typeface="Times New Roman" panose="02020603050405020304" pitchFamily="18" charset="0"/>
              <a:cs typeface="Times New Roman" panose="02020603050405020304" pitchFamily="18" charset="0"/>
            </a:endParaRPr>
          </a:p>
        </p:txBody>
      </p:sp>
      <p:sp>
        <p:nvSpPr>
          <p:cNvPr id="14" name="Content Placeholder 12">
            <a:extLst>
              <a:ext uri="{FF2B5EF4-FFF2-40B4-BE49-F238E27FC236}">
                <a16:creationId xmlns:a16="http://schemas.microsoft.com/office/drawing/2014/main" id="{873CECBC-152B-EB1A-68DF-1E72FF3A092F}"/>
              </a:ext>
            </a:extLst>
          </p:cNvPr>
          <p:cNvSpPr txBox="1">
            <a:spLocks noGrp="1"/>
          </p:cNvSpPr>
          <p:nvPr>
            <p:ph type="body" idx="12"/>
          </p:nvPr>
        </p:nvSpPr>
        <p:spPr>
          <a:xfrm>
            <a:off x="423331" y="5611089"/>
            <a:ext cx="372522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by angular acceleration (</a:t>
            </a:r>
            <a:endParaRPr lang="en-US" dirty="0">
              <a:latin typeface="Times New Roman" panose="02020603050405020304" pitchFamily="18" charset="0"/>
              <a:cs typeface="Times New Roman" panose="02020603050405020304" pitchFamily="18" charset="0"/>
            </a:endParaRPr>
          </a:p>
        </p:txBody>
      </p:sp>
      <p:sp>
        <p:nvSpPr>
          <p:cNvPr id="54" name="Rounded Rectangle 53">
            <a:extLst>
              <a:ext uri="{FF2B5EF4-FFF2-40B4-BE49-F238E27FC236}">
                <a16:creationId xmlns:a16="http://schemas.microsoft.com/office/drawing/2014/main" id="{68E8099C-903A-29CE-7743-553A36FE1B72}"/>
              </a:ext>
              <a:ext uri="{C183D7F6-B498-43B3-948B-1728B52AA6E4}">
                <adec:decorative xmlns:adec="http://schemas.microsoft.com/office/drawing/2017/decorative" val="1"/>
              </a:ext>
            </a:extLst>
          </p:cNvPr>
          <p:cNvSpPr/>
          <p:nvPr/>
        </p:nvSpPr>
        <p:spPr>
          <a:xfrm>
            <a:off x="3961245" y="5720195"/>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ontent Placeholder 13">
            <a:extLst>
              <a:ext uri="{FF2B5EF4-FFF2-40B4-BE49-F238E27FC236}">
                <a16:creationId xmlns:a16="http://schemas.microsoft.com/office/drawing/2014/main" id="{ED2B91AE-DDC7-8A5C-9E52-B2C499196D5D}"/>
              </a:ext>
            </a:extLst>
          </p:cNvPr>
          <p:cNvSpPr txBox="1">
            <a:spLocks noGrp="1"/>
          </p:cNvSpPr>
          <p:nvPr>
            <p:ph type="body" idx="13"/>
          </p:nvPr>
        </p:nvSpPr>
        <p:spPr>
          <a:xfrm>
            <a:off x="3906977" y="5594028"/>
            <a:ext cx="496956"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α</a:t>
            </a:r>
          </a:p>
        </p:txBody>
      </p:sp>
      <p:sp>
        <p:nvSpPr>
          <p:cNvPr id="16" name="Content Placeholder 14">
            <a:extLst>
              <a:ext uri="{FF2B5EF4-FFF2-40B4-BE49-F238E27FC236}">
                <a16:creationId xmlns:a16="http://schemas.microsoft.com/office/drawing/2014/main" id="{E6E6DB1C-FABA-CB11-49DB-587F8D52843D}"/>
              </a:ext>
            </a:extLst>
          </p:cNvPr>
          <p:cNvSpPr txBox="1">
            <a:spLocks noGrp="1"/>
          </p:cNvSpPr>
          <p:nvPr>
            <p:ph type="body" idx="14"/>
          </p:nvPr>
        </p:nvSpPr>
        <p:spPr>
          <a:xfrm>
            <a:off x="4083182" y="5602549"/>
            <a:ext cx="7100887"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 Swapping out for Greek letters is all that’s required!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82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dissolv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dissolv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dissolv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dissolve">
                                      <p:cBhvr>
                                        <p:cTn id="30" dur="500"/>
                                        <p:tgtEl>
                                          <p:spTgt spid="37"/>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dissolve">
                                      <p:cBhvr>
                                        <p:cTn id="35" dur="500"/>
                                        <p:tgtEl>
                                          <p:spTgt spid="4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dissolve">
                                      <p:cBhvr>
                                        <p:cTn id="40" dur="500"/>
                                        <p:tgtEl>
                                          <p:spTgt spid="46"/>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dissolve">
                                      <p:cBhvr>
                                        <p:cTn id="45" dur="500"/>
                                        <p:tgtEl>
                                          <p:spTgt spid="49"/>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dissolve">
                                      <p:cBhvr>
                                        <p:cTn id="48" dur="500"/>
                                        <p:tgtEl>
                                          <p:spTgt spid="10"/>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dissolve">
                                      <p:cBhvr>
                                        <p:cTn id="51" dur="500"/>
                                        <p:tgtEl>
                                          <p:spTgt spid="12"/>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dissolve">
                                      <p:cBhvr>
                                        <p:cTn id="54" dur="500"/>
                                        <p:tgtEl>
                                          <p:spTgt spid="14"/>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dissolve">
                                      <p:cBhvr>
                                        <p:cTn id="57" dur="500"/>
                                        <p:tgtEl>
                                          <p:spTgt spid="16"/>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dissolve">
                                      <p:cBhvr>
                                        <p:cTn id="60" dur="500"/>
                                        <p:tgtEl>
                                          <p:spTgt spid="50"/>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animEffect transition="in" filter="dissolve">
                                      <p:cBhvr>
                                        <p:cTn id="63" dur="500"/>
                                        <p:tgtEl>
                                          <p:spTgt spid="52"/>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dissolve">
                                      <p:cBhvr>
                                        <p:cTn id="66" dur="500"/>
                                        <p:tgtEl>
                                          <p:spTgt spid="53"/>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dissolve">
                                      <p:cBhvr>
                                        <p:cTn id="69" dur="500"/>
                                        <p:tgtEl>
                                          <p:spTgt spid="54"/>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dissolve">
                                      <p:cBhvr>
                                        <p:cTn id="74" dur="500"/>
                                        <p:tgtEl>
                                          <p:spTgt spid="56"/>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dissolve">
                                      <p:cBhvr>
                                        <p:cTn id="79" dur="500"/>
                                        <p:tgtEl>
                                          <p:spTgt spid="57"/>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58"/>
                                        </p:tgtEl>
                                        <p:attrNameLst>
                                          <p:attrName>style.visibility</p:attrName>
                                        </p:attrNameLst>
                                      </p:cBhvr>
                                      <p:to>
                                        <p:strVal val="visible"/>
                                      </p:to>
                                    </p:set>
                                    <p:animEffect transition="in" filter="dissolve">
                                      <p:cBhvr>
                                        <p:cTn id="8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animBg="1"/>
      <p:bldP spid="27" grpId="0"/>
      <p:bldP spid="35" grpId="0"/>
      <p:bldP spid="37" grpId="0"/>
      <p:bldP spid="45" grpId="0"/>
      <p:bldP spid="46" grpId="0"/>
      <p:bldP spid="50" grpId="0" animBg="1"/>
      <p:bldP spid="49" grpId="0"/>
      <p:bldP spid="52" grpId="0" animBg="1"/>
      <p:bldP spid="56" grpId="0"/>
      <p:bldP spid="10" grpId="0"/>
      <p:bldP spid="53" grpId="0" animBg="1"/>
      <p:bldP spid="57" grpId="0"/>
      <p:bldP spid="12" grpId="0"/>
      <p:bldP spid="14" grpId="0"/>
      <p:bldP spid="54" grpId="0" animBg="1"/>
      <p:bldP spid="58"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0C5D-90A3-A6EC-2410-5FD78FC8D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5043E-950A-1205-38D0-5CB44F91E006}"/>
              </a:ext>
            </a:extLst>
          </p:cNvPr>
          <p:cNvSpPr>
            <a:spLocks noGrp="1"/>
          </p:cNvSpPr>
          <p:nvPr>
            <p:ph type="title"/>
          </p:nvPr>
        </p:nvSpPr>
        <p:spPr>
          <a:xfrm>
            <a:off x="654622" y="53787"/>
            <a:ext cx="10820401" cy="849312"/>
          </a:xfrm>
        </p:spPr>
        <p:txBody>
          <a:bodyPr/>
          <a:lstStyle/>
          <a:p>
            <a:r>
              <a:rPr lang="en-US" b="1" dirty="0">
                <a:latin typeface="Times New Roman" panose="02020603050405020304" pitchFamily="18" charset="0"/>
                <a:ea typeface="Calibri" charset="0"/>
                <a:cs typeface="Times New Roman" panose="02020603050405020304" pitchFamily="18" charset="0"/>
              </a:rPr>
              <a:t>8.3</a:t>
            </a:r>
            <a:r>
              <a:rPr lang="en-US" dirty="0">
                <a:latin typeface="Times New Roman" panose="02020603050405020304" pitchFamily="18" charset="0"/>
                <a:ea typeface="Calibri" charset="0"/>
                <a:cs typeface="Times New Roman" panose="02020603050405020304" pitchFamily="18" charset="0"/>
              </a:rPr>
              <a:t> The Equations of Rotational Kinematics (4 of 7)</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F7AB6FDF-C3BD-2A24-7F27-DC41A4B25B78}"/>
              </a:ext>
            </a:extLst>
          </p:cNvPr>
          <p:cNvSpPr txBox="1">
            <a:spLocks noGrp="1"/>
          </p:cNvSpPr>
          <p:nvPr>
            <p:ph type="body" idx="1"/>
          </p:nvPr>
        </p:nvSpPr>
        <p:spPr>
          <a:xfrm>
            <a:off x="1185333" y="660405"/>
            <a:ext cx="9076267" cy="830997"/>
          </a:xfrm>
          <a:prstGeom prst="rect">
            <a:avLst/>
          </a:prstGeom>
          <a:noFill/>
        </p:spPr>
        <p:txBody>
          <a:bodyPr wrap="square" rtlCol="0">
            <a:noAutofit/>
          </a:bodyPr>
          <a:lstStyle>
            <a:lvl1pPr algn="l">
              <a:lnSpc>
                <a:spcPct val="100000"/>
              </a:lnSpc>
              <a:spcBef>
                <a:spcPts val="0"/>
              </a:spcBef>
            </a:lvl1pPr>
          </a:lstStyle>
          <a:p>
            <a:pPr marL="0" indent="0">
              <a:buNone/>
            </a:pPr>
            <a:r>
              <a:rPr lang="en-US" sz="2400" dirty="0">
                <a:latin typeface="Times New Roman" panose="02020603050405020304" pitchFamily="18" charset="0"/>
                <a:cs typeface="Times New Roman" panose="02020603050405020304" pitchFamily="18" charset="0"/>
              </a:rPr>
              <a:t>By making these substitutions, we obtain the complete set of equations for, </a:t>
            </a:r>
          </a:p>
        </p:txBody>
      </p:sp>
      <p:sp>
        <p:nvSpPr>
          <p:cNvPr id="3" name="Rounded Rectangle 2">
            <a:extLst>
              <a:ext uri="{FF2B5EF4-FFF2-40B4-BE49-F238E27FC236}">
                <a16:creationId xmlns:a16="http://schemas.microsoft.com/office/drawing/2014/main" id="{BA6AA9C0-87F3-D9C6-D76A-ABD057CFE858}"/>
              </a:ext>
              <a:ext uri="{C183D7F6-B498-43B3-948B-1728B52AA6E4}">
                <adec:decorative xmlns:adec="http://schemas.microsoft.com/office/drawing/2017/decorative" val="1"/>
              </a:ext>
            </a:extLst>
          </p:cNvPr>
          <p:cNvSpPr/>
          <p:nvPr/>
        </p:nvSpPr>
        <p:spPr>
          <a:xfrm>
            <a:off x="1744132" y="1083737"/>
            <a:ext cx="3251200" cy="3725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ntent Placeholder 2">
            <a:extLst>
              <a:ext uri="{FF2B5EF4-FFF2-40B4-BE49-F238E27FC236}">
                <a16:creationId xmlns:a16="http://schemas.microsoft.com/office/drawing/2014/main" id="{DBC0A95C-88DD-ABF0-CB84-6990B8F477E1}"/>
              </a:ext>
            </a:extLst>
          </p:cNvPr>
          <p:cNvSpPr txBox="1">
            <a:spLocks noGrp="1"/>
          </p:cNvSpPr>
          <p:nvPr>
            <p:ph type="body" idx="2"/>
          </p:nvPr>
        </p:nvSpPr>
        <p:spPr>
          <a:xfrm>
            <a:off x="1744132" y="1048038"/>
            <a:ext cx="3454400" cy="396333"/>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kinematics</a:t>
            </a:r>
          </a:p>
        </p:txBody>
      </p:sp>
      <p:sp>
        <p:nvSpPr>
          <p:cNvPr id="5" name="Content Placeholder 3">
            <a:extLst>
              <a:ext uri="{FF2B5EF4-FFF2-40B4-BE49-F238E27FC236}">
                <a16:creationId xmlns:a16="http://schemas.microsoft.com/office/drawing/2014/main" id="{A658E1A2-16CF-FC19-FD31-A0769548C0AD}"/>
              </a:ext>
            </a:extLst>
          </p:cNvPr>
          <p:cNvSpPr txBox="1">
            <a:spLocks noGrp="1"/>
          </p:cNvSpPr>
          <p:nvPr>
            <p:ph type="body" idx="3"/>
          </p:nvPr>
        </p:nvSpPr>
        <p:spPr>
          <a:xfrm>
            <a:off x="4995332" y="1039172"/>
            <a:ext cx="4628728"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which have the same mathematical </a:t>
            </a:r>
            <a:endParaRPr lang="en-US" dirty="0">
              <a:latin typeface="Times New Roman" panose="02020603050405020304" pitchFamily="18" charset="0"/>
              <a:cs typeface="Times New Roman" panose="02020603050405020304" pitchFamily="18" charset="0"/>
            </a:endParaRPr>
          </a:p>
        </p:txBody>
      </p:sp>
      <p:sp>
        <p:nvSpPr>
          <p:cNvPr id="12" name="Content Placeholder 4">
            <a:extLst>
              <a:ext uri="{FF2B5EF4-FFF2-40B4-BE49-F238E27FC236}">
                <a16:creationId xmlns:a16="http://schemas.microsoft.com/office/drawing/2014/main" id="{0BCB493F-3399-FEDB-A43D-0A8ADE6DBD7C}"/>
              </a:ext>
            </a:extLst>
          </p:cNvPr>
          <p:cNvSpPr txBox="1">
            <a:spLocks noGrp="1"/>
          </p:cNvSpPr>
          <p:nvPr>
            <p:ph type="body" idx="4"/>
          </p:nvPr>
        </p:nvSpPr>
        <p:spPr>
          <a:xfrm>
            <a:off x="1185333" y="1426843"/>
            <a:ext cx="6097904"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structure as the equations for linear motion.</a:t>
            </a:r>
          </a:p>
        </p:txBody>
      </p:sp>
      <p:pic>
        <p:nvPicPr>
          <p:cNvPr id="9" name="Content Placeholder 5">
            <a:extLst>
              <a:ext uri="{FF2B5EF4-FFF2-40B4-BE49-F238E27FC236}">
                <a16:creationId xmlns:a16="http://schemas.microsoft.com/office/drawing/2014/main" id="{A12E0E5A-43DD-533E-8CA2-DB80A295EF64}"/>
              </a:ext>
            </a:extLst>
          </p:cNvPr>
          <p:cNvPicPr>
            <a:picLocks noGrp="1" noChangeAspect="1"/>
          </p:cNvPicPr>
          <p:nvPr>
            <p:ph type="pic" idx="5"/>
          </p:nvPr>
        </p:nvPicPr>
        <p:blipFill>
          <a:blip r:embed="rId3"/>
          <a:srcRect l="30522" t="50581" r="34967" b="26180"/>
          <a:stretch/>
        </p:blipFill>
        <p:spPr>
          <a:xfrm>
            <a:off x="1303867" y="1783131"/>
            <a:ext cx="9597812" cy="3635536"/>
          </a:xfrm>
          <a:prstGeom prst="rect">
            <a:avLst/>
          </a:prstGeom>
        </p:spPr>
      </p:pic>
      <p:sp>
        <p:nvSpPr>
          <p:cNvPr id="10" name="Content Placeholder 6">
            <a:extLst>
              <a:ext uri="{FF2B5EF4-FFF2-40B4-BE49-F238E27FC236}">
                <a16:creationId xmlns:a16="http://schemas.microsoft.com/office/drawing/2014/main" id="{6F55AD14-742B-690F-FD7D-89818DAAAD8C}"/>
              </a:ext>
            </a:extLst>
          </p:cNvPr>
          <p:cNvSpPr txBox="1">
            <a:spLocks noGrp="1"/>
          </p:cNvSpPr>
          <p:nvPr>
            <p:ph type="body" idx="6"/>
          </p:nvPr>
        </p:nvSpPr>
        <p:spPr>
          <a:xfrm>
            <a:off x="516467" y="5507335"/>
            <a:ext cx="1116753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bottom equation in the left column relates the initial and final angular velocities, the angular displacement, and the angular acceleration, without the need for time.</a:t>
            </a:r>
          </a:p>
        </p:txBody>
      </p:sp>
    </p:spTree>
    <p:extLst>
      <p:ext uri="{BB962C8B-B14F-4D97-AF65-F5344CB8AC3E}">
        <p14:creationId xmlns:p14="http://schemas.microsoft.com/office/powerpoint/2010/main" val="211856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dissolv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animBg="1"/>
      <p:bldP spid="6" grpId="0"/>
      <p:bldP spid="5" grpId="0"/>
      <p:bldP spid="12"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C22D-9DBB-019B-DD06-DCCD34EB8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564C1-56C5-12C8-72E7-C8EE32F3918E}"/>
              </a:ext>
            </a:extLst>
          </p:cNvPr>
          <p:cNvSpPr>
            <a:spLocks noGrp="1"/>
          </p:cNvSpPr>
          <p:nvPr>
            <p:ph type="title"/>
          </p:nvPr>
        </p:nvSpPr>
        <p:spPr>
          <a:xfrm>
            <a:off x="654622" y="65217"/>
            <a:ext cx="10820401" cy="849312"/>
          </a:xfrm>
        </p:spPr>
        <p:txBody>
          <a:bodyPr/>
          <a:lstStyle/>
          <a:p>
            <a:r>
              <a:rPr lang="en-US" b="1" dirty="0">
                <a:latin typeface="Times New Roman" panose="02020603050405020304" pitchFamily="18" charset="0"/>
                <a:ea typeface="Calibri" charset="0"/>
                <a:cs typeface="Times New Roman" panose="02020603050405020304" pitchFamily="18" charset="0"/>
              </a:rPr>
              <a:t>8.3</a:t>
            </a:r>
            <a:r>
              <a:rPr lang="en-US" dirty="0">
                <a:latin typeface="Times New Roman" panose="02020603050405020304" pitchFamily="18" charset="0"/>
                <a:ea typeface="Calibri" charset="0"/>
                <a:cs typeface="Times New Roman" panose="02020603050405020304" pitchFamily="18" charset="0"/>
              </a:rPr>
              <a:t> The Equations of Rotational Kinematics (5 of 7)</a:t>
            </a:r>
            <a:endParaRPr lang="en-US" sz="3000"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31868AF8-4400-F2EA-F364-69564FAF6FC8}"/>
              </a:ext>
              <a:ext uri="{C183D7F6-B498-43B3-948B-1728B52AA6E4}">
                <adec:decorative xmlns:adec="http://schemas.microsoft.com/office/drawing/2017/decorative" val="1"/>
              </a:ext>
            </a:extLst>
          </p:cNvPr>
          <p:cNvSpPr/>
          <p:nvPr/>
        </p:nvSpPr>
        <p:spPr>
          <a:xfrm>
            <a:off x="229250" y="677334"/>
            <a:ext cx="11711353" cy="5689600"/>
          </a:xfrm>
          <a:prstGeom prst="rect">
            <a:avLst/>
          </a:prstGeom>
          <a:noFill/>
          <a:ln w="38100">
            <a:solidFill>
              <a:srgbClr val="7A6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1">
            <a:extLst>
              <a:ext uri="{FF2B5EF4-FFF2-40B4-BE49-F238E27FC236}">
                <a16:creationId xmlns:a16="http://schemas.microsoft.com/office/drawing/2014/main" id="{4427A106-E6D1-2113-F56C-FABB39E53737}"/>
              </a:ext>
            </a:extLst>
          </p:cNvPr>
          <p:cNvSpPr txBox="1">
            <a:spLocks noGrp="1"/>
          </p:cNvSpPr>
          <p:nvPr>
            <p:ph type="body" idx="1"/>
          </p:nvPr>
        </p:nvSpPr>
        <p:spPr>
          <a:xfrm>
            <a:off x="1255452" y="676864"/>
            <a:ext cx="9111343"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b="1" dirty="0">
                <a:solidFill>
                  <a:srgbClr val="7A6630"/>
                </a:solidFill>
                <a:latin typeface="Times New Roman" panose="02020603050405020304" pitchFamily="18" charset="0"/>
                <a:cs typeface="Times New Roman" panose="02020603050405020304" pitchFamily="18" charset="0"/>
              </a:rPr>
              <a:t>REASONING STRATEGY </a:t>
            </a:r>
            <a:r>
              <a:rPr lang="en-US" sz="2000" b="1" dirty="0">
                <a:latin typeface="Times New Roman" panose="02020603050405020304" pitchFamily="18" charset="0"/>
                <a:cs typeface="Times New Roman" panose="02020603050405020304" pitchFamily="18" charset="0"/>
              </a:rPr>
              <a:t>– Applying the Equations of Rotational Kinematics</a:t>
            </a:r>
          </a:p>
        </p:txBody>
      </p:sp>
      <p:pic>
        <p:nvPicPr>
          <p:cNvPr id="27" name="Content Placeholder 2">
            <a:extLst>
              <a:ext uri="{FF2B5EF4-FFF2-40B4-BE49-F238E27FC236}">
                <a16:creationId xmlns:a16="http://schemas.microsoft.com/office/drawing/2014/main" id="{059D1384-7FDA-6673-D274-752252249742}"/>
              </a:ext>
            </a:extLst>
          </p:cNvPr>
          <p:cNvPicPr>
            <a:picLocks noGrp="1" noChangeAspect="1"/>
          </p:cNvPicPr>
          <p:nvPr>
            <p:ph type="pic" idx="2"/>
          </p:nvPr>
        </p:nvPicPr>
        <p:blipFill>
          <a:blip r:embed="rId3"/>
          <a:srcRect l="9491" t="3369" r="74667" b="71210"/>
          <a:stretch/>
        </p:blipFill>
        <p:spPr>
          <a:xfrm>
            <a:off x="580530" y="864304"/>
            <a:ext cx="567827" cy="607444"/>
          </a:xfrm>
          <a:prstGeom prst="rect">
            <a:avLst/>
          </a:prstGeom>
        </p:spPr>
      </p:pic>
      <p:sp>
        <p:nvSpPr>
          <p:cNvPr id="5" name="Content Placeholder 3">
            <a:extLst>
              <a:ext uri="{FF2B5EF4-FFF2-40B4-BE49-F238E27FC236}">
                <a16:creationId xmlns:a16="http://schemas.microsoft.com/office/drawing/2014/main" id="{AFCF3DD5-4E99-7C6B-51C7-B706878C9CDF}"/>
              </a:ext>
            </a:extLst>
          </p:cNvPr>
          <p:cNvSpPr txBox="1">
            <a:spLocks noGrp="1" noChangeArrowheads="1"/>
          </p:cNvSpPr>
          <p:nvPr>
            <p:ph type="body" idx="3"/>
          </p:nvPr>
        </p:nvSpPr>
        <p:spPr bwMode="auto">
          <a:xfrm>
            <a:off x="1269966" y="1094272"/>
            <a:ext cx="101600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36538" indent="-65088">
              <a:spcBef>
                <a:spcPct val="50000"/>
              </a:spcBef>
              <a:buClrTx/>
              <a:buFont typeface="+mj-lt"/>
              <a:buAutoNum type="arabicPeriod"/>
            </a:pPr>
            <a:r>
              <a:rPr lang="en-US" altLang="en-US" sz="2000" dirty="0">
                <a:latin typeface="Times New Roman" panose="02020603050405020304" pitchFamily="18" charset="0"/>
                <a:cs typeface="Times New Roman" panose="02020603050405020304" pitchFamily="18" charset="0"/>
              </a:rPr>
              <a:t> Make a drawing to represent the situation being studied, showing the direction of rotation.</a:t>
            </a:r>
          </a:p>
        </p:txBody>
      </p:sp>
      <p:grpSp>
        <p:nvGrpSpPr>
          <p:cNvPr id="6" name="Group 5">
            <a:extLst>
              <a:ext uri="{FF2B5EF4-FFF2-40B4-BE49-F238E27FC236}">
                <a16:creationId xmlns:a16="http://schemas.microsoft.com/office/drawing/2014/main" id="{F3D847BA-FE05-B198-5B31-05D702CA841D}"/>
              </a:ext>
            </a:extLst>
          </p:cNvPr>
          <p:cNvGrpSpPr/>
          <p:nvPr/>
        </p:nvGrpSpPr>
        <p:grpSpPr>
          <a:xfrm>
            <a:off x="490651" y="1654506"/>
            <a:ext cx="668510" cy="636453"/>
            <a:chOff x="395115" y="1695450"/>
            <a:chExt cx="668510" cy="636453"/>
          </a:xfrm>
        </p:grpSpPr>
        <p:pic>
          <p:nvPicPr>
            <p:cNvPr id="7" name="Picture 6">
              <a:extLst>
                <a:ext uri="{FF2B5EF4-FFF2-40B4-BE49-F238E27FC236}">
                  <a16:creationId xmlns:a16="http://schemas.microsoft.com/office/drawing/2014/main" id="{E6CAD59D-D0D8-D3CD-F4AE-66859D6B67D7}"/>
                </a:ext>
              </a:extLst>
            </p:cNvPr>
            <p:cNvPicPr>
              <a:picLocks noChangeAspect="1"/>
            </p:cNvPicPr>
            <p:nvPr/>
          </p:nvPicPr>
          <p:blipFill>
            <a:blip r:embed="rId3"/>
            <a:srcRect l="39948" t="5763" r="42982" b="70658"/>
            <a:stretch/>
          </p:blipFill>
          <p:spPr>
            <a:xfrm>
              <a:off x="395115" y="1716298"/>
              <a:ext cx="668510" cy="615605"/>
            </a:xfrm>
            <a:prstGeom prst="rect">
              <a:avLst/>
            </a:prstGeom>
          </p:spPr>
        </p:pic>
        <p:sp>
          <p:nvSpPr>
            <p:cNvPr id="8" name="Rectangle 7">
              <a:extLst>
                <a:ext uri="{FF2B5EF4-FFF2-40B4-BE49-F238E27FC236}">
                  <a16:creationId xmlns:a16="http://schemas.microsoft.com/office/drawing/2014/main" id="{08F489B4-98B8-C26C-BE2C-893125AB17F3}"/>
                </a:ext>
              </a:extLst>
            </p:cNvPr>
            <p:cNvSpPr/>
            <p:nvPr/>
          </p:nvSpPr>
          <p:spPr>
            <a:xfrm rot="19100339">
              <a:off x="527051" y="1695450"/>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8">
              <a:extLst>
                <a:ext uri="{FF2B5EF4-FFF2-40B4-BE49-F238E27FC236}">
                  <a16:creationId xmlns:a16="http://schemas.microsoft.com/office/drawing/2014/main" id="{61E0CDB9-7A78-84F5-74F0-950D97525B5B}"/>
                </a:ext>
              </a:extLst>
            </p:cNvPr>
            <p:cNvSpPr/>
            <p:nvPr/>
          </p:nvSpPr>
          <p:spPr>
            <a:xfrm rot="13233024">
              <a:off x="497729" y="1709501"/>
              <a:ext cx="315314" cy="462740"/>
            </a:xfrm>
            <a:prstGeom prst="arc">
              <a:avLst>
                <a:gd name="adj1" fmla="val 18231884"/>
                <a:gd name="adj2" fmla="val 597148"/>
              </a:avLst>
            </a:prstGeom>
            <a:ln>
              <a:solidFill>
                <a:srgbClr val="007440"/>
              </a:solidFill>
              <a:headEnd type="non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riangle 37">
              <a:extLst>
                <a:ext uri="{FF2B5EF4-FFF2-40B4-BE49-F238E27FC236}">
                  <a16:creationId xmlns:a16="http://schemas.microsoft.com/office/drawing/2014/main" id="{D5D79175-FF40-DB4C-543E-7796A2B7D098}"/>
                </a:ext>
              </a:extLst>
            </p:cNvPr>
            <p:cNvSpPr/>
            <p:nvPr/>
          </p:nvSpPr>
          <p:spPr>
            <a:xfrm rot="10800000">
              <a:off x="441325" y="1984375"/>
              <a:ext cx="45719" cy="45719"/>
            </a:xfrm>
            <a:prstGeom prst="triangle">
              <a:avLst/>
            </a:prstGeom>
            <a:solidFill>
              <a:srgbClr val="007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Content Placeholder 8">
            <a:extLst>
              <a:ext uri="{FF2B5EF4-FFF2-40B4-BE49-F238E27FC236}">
                <a16:creationId xmlns:a16="http://schemas.microsoft.com/office/drawing/2014/main" id="{681CF1E2-1FB9-B14F-BEFD-3AB15616BE25}"/>
              </a:ext>
            </a:extLst>
          </p:cNvPr>
          <p:cNvSpPr txBox="1">
            <a:spLocks noGrp="1" noChangeArrowheads="1"/>
          </p:cNvSpPr>
          <p:nvPr>
            <p:ph type="body" idx="8"/>
          </p:nvPr>
        </p:nvSpPr>
        <p:spPr bwMode="auto">
          <a:xfrm>
            <a:off x="1269966" y="1483330"/>
            <a:ext cx="1051563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lgn="just">
              <a:spcBef>
                <a:spcPct val="50000"/>
              </a:spcBef>
              <a:buClr>
                <a:schemeClr val="tx1"/>
              </a:buClr>
              <a:buFont typeface="+mj-lt"/>
              <a:buAutoNum type="arabicPeriod" startAt="2"/>
            </a:pPr>
            <a:r>
              <a:rPr lang="en-US" altLang="en-US" sz="2000" dirty="0">
                <a:latin typeface="Times New Roman" panose="02020603050405020304" pitchFamily="18" charset="0"/>
                <a:cs typeface="Times New Roman" panose="02020603050405020304" pitchFamily="18" charset="0"/>
              </a:rPr>
              <a:t> Decide which direction of rotation is to be called positive (+) and which direction is to be called negative (−). In this text we choose the counterclockwise direction to be positive and the clockwise direction to be negative, but this is arbitrary. But once chosen, don’t change it.</a:t>
            </a:r>
          </a:p>
        </p:txBody>
      </p:sp>
      <p:pic>
        <p:nvPicPr>
          <p:cNvPr id="25" name="Content Placeholder 9">
            <a:extLst>
              <a:ext uri="{FF2B5EF4-FFF2-40B4-BE49-F238E27FC236}">
                <a16:creationId xmlns:a16="http://schemas.microsoft.com/office/drawing/2014/main" id="{4815CFFA-B10F-671D-1A03-093C96C9063F}"/>
              </a:ext>
            </a:extLst>
          </p:cNvPr>
          <p:cNvPicPr>
            <a:picLocks noGrp="1" noChangeAspect="1"/>
          </p:cNvPicPr>
          <p:nvPr>
            <p:ph type="pic" idx="9"/>
          </p:nvPr>
        </p:nvPicPr>
        <p:blipFill>
          <a:blip r:embed="rId3"/>
          <a:srcRect l="70772" t="6500" r="6017" b="71579"/>
          <a:stretch/>
        </p:blipFill>
        <p:spPr>
          <a:xfrm>
            <a:off x="342963" y="2823854"/>
            <a:ext cx="933556" cy="587796"/>
          </a:xfrm>
          <a:prstGeom prst="rect">
            <a:avLst/>
          </a:prstGeom>
        </p:spPr>
      </p:pic>
      <p:sp>
        <p:nvSpPr>
          <p:cNvPr id="13" name="Content Placeholder 10">
            <a:extLst>
              <a:ext uri="{FF2B5EF4-FFF2-40B4-BE49-F238E27FC236}">
                <a16:creationId xmlns:a16="http://schemas.microsoft.com/office/drawing/2014/main" id="{219E4835-AAA5-3143-1EA9-3D892169E549}"/>
              </a:ext>
            </a:extLst>
          </p:cNvPr>
          <p:cNvSpPr txBox="1">
            <a:spLocks noGrp="1" noChangeArrowheads="1"/>
          </p:cNvSpPr>
          <p:nvPr>
            <p:ph type="body" idx="10"/>
          </p:nvPr>
        </p:nvSpPr>
        <p:spPr bwMode="auto">
          <a:xfrm>
            <a:off x="1286898" y="2468352"/>
            <a:ext cx="104479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lgn="just">
              <a:spcBef>
                <a:spcPct val="50000"/>
              </a:spcBef>
              <a:buClrTx/>
              <a:buFont typeface="+mj-lt"/>
              <a:buAutoNum type="arabicPeriod" startAt="3"/>
            </a:pPr>
            <a:r>
              <a:rPr lang="en-US" altLang="en-US" sz="2000" dirty="0">
                <a:latin typeface="Times New Roman" panose="02020603050405020304" pitchFamily="18" charset="0"/>
                <a:cs typeface="Times New Roman" panose="02020603050405020304" pitchFamily="18" charset="0"/>
              </a:rPr>
              <a:t> write down the values (with appropriate + and − signs) that are given for any of the five rotational kinematic variables. Be on the alert for implied data, such as the phrase “starts from rest,” which means that the value of the initial angular velocity is </a:t>
            </a:r>
            <a:r>
              <a:rPr lang="en-US" altLang="en-US" sz="2000" i="1" dirty="0">
                <a:latin typeface="Times New Roman" panose="02020603050405020304" pitchFamily="18" charset="0"/>
                <a:cs typeface="Times New Roman" panose="02020603050405020304" pitchFamily="18" charset="0"/>
              </a:rPr>
              <a:t>ω</a:t>
            </a:r>
            <a:r>
              <a:rPr lang="en-US" altLang="en-US" sz="2000" baseline="-25000" dirty="0">
                <a:latin typeface="Times New Roman" panose="02020603050405020304" pitchFamily="18" charset="0"/>
                <a:cs typeface="Times New Roman" panose="02020603050405020304" pitchFamily="18" charset="0"/>
              </a:rPr>
              <a:t>0</a:t>
            </a:r>
            <a:r>
              <a:rPr lang="en-US" altLang="en-US" sz="2000" dirty="0">
                <a:latin typeface="Times New Roman" panose="02020603050405020304" pitchFamily="18" charset="0"/>
                <a:cs typeface="Times New Roman" panose="02020603050405020304" pitchFamily="18" charset="0"/>
              </a:rPr>
              <a:t> = 0 rad/s . In addition, identify the variable(s) that you are being asked to determine.</a:t>
            </a:r>
          </a:p>
        </p:txBody>
      </p:sp>
      <p:pic>
        <p:nvPicPr>
          <p:cNvPr id="4" name="Content Placeholder 11">
            <a:extLst>
              <a:ext uri="{FF2B5EF4-FFF2-40B4-BE49-F238E27FC236}">
                <a16:creationId xmlns:a16="http://schemas.microsoft.com/office/drawing/2014/main" id="{1D1C89DC-66AD-C582-F37C-F7F8FDBDFAB0}"/>
              </a:ext>
            </a:extLst>
          </p:cNvPr>
          <p:cNvPicPr>
            <a:picLocks noGrp="1" noChangeAspect="1"/>
          </p:cNvPicPr>
          <p:nvPr>
            <p:ph type="pic" idx="11"/>
          </p:nvPr>
        </p:nvPicPr>
        <p:blipFill>
          <a:blip r:embed="rId4"/>
          <a:stretch>
            <a:fillRect/>
          </a:stretch>
        </p:blipFill>
        <p:spPr>
          <a:xfrm>
            <a:off x="376480" y="3996224"/>
            <a:ext cx="938865" cy="627942"/>
          </a:xfrm>
          <a:prstGeom prst="rect">
            <a:avLst/>
          </a:prstGeom>
        </p:spPr>
      </p:pic>
      <p:sp>
        <p:nvSpPr>
          <p:cNvPr id="14" name="Content Placeholder 12">
            <a:extLst>
              <a:ext uri="{FF2B5EF4-FFF2-40B4-BE49-F238E27FC236}">
                <a16:creationId xmlns:a16="http://schemas.microsoft.com/office/drawing/2014/main" id="{FB5A970F-47F3-D009-9FCB-6B0C0AF77B19}"/>
              </a:ext>
            </a:extLst>
          </p:cNvPr>
          <p:cNvSpPr txBox="1">
            <a:spLocks noGrp="1" noChangeArrowheads="1"/>
          </p:cNvSpPr>
          <p:nvPr>
            <p:ph type="body" idx="12"/>
          </p:nvPr>
        </p:nvSpPr>
        <p:spPr bwMode="auto">
          <a:xfrm>
            <a:off x="1286899" y="3787849"/>
            <a:ext cx="1048176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36538" indent="49213" algn="just">
              <a:spcBef>
                <a:spcPct val="50000"/>
              </a:spcBef>
              <a:buClrTx/>
              <a:buFont typeface="+mj-lt"/>
              <a:buAutoNum type="arabicPeriod" startAt="4"/>
            </a:pPr>
            <a:r>
              <a:rPr lang="en-US" altLang="en-US" sz="2000" dirty="0">
                <a:latin typeface="Times New Roman" panose="02020603050405020304" pitchFamily="18" charset="0"/>
                <a:cs typeface="Times New Roman" panose="02020603050405020304" pitchFamily="18" charset="0"/>
              </a:rPr>
              <a:t> Verify that the given information contains values for at least three of the five kinematic variables. Once the three variables are identified for which values are known, the appropriate relation from Table 8.1 can be selected.</a:t>
            </a:r>
          </a:p>
        </p:txBody>
      </p:sp>
      <p:grpSp>
        <p:nvGrpSpPr>
          <p:cNvPr id="12" name="Group 11">
            <a:extLst>
              <a:ext uri="{FF2B5EF4-FFF2-40B4-BE49-F238E27FC236}">
                <a16:creationId xmlns:a16="http://schemas.microsoft.com/office/drawing/2014/main" id="{68E103A1-879F-8CBA-0686-139E1D0536D4}"/>
              </a:ext>
            </a:extLst>
          </p:cNvPr>
          <p:cNvGrpSpPr/>
          <p:nvPr/>
        </p:nvGrpSpPr>
        <p:grpSpPr>
          <a:xfrm>
            <a:off x="368300" y="4975225"/>
            <a:ext cx="993438" cy="536307"/>
            <a:chOff x="368300" y="4975225"/>
            <a:chExt cx="993438" cy="536307"/>
          </a:xfrm>
        </p:grpSpPr>
        <p:pic>
          <p:nvPicPr>
            <p:cNvPr id="19" name="Picture 18">
              <a:extLst>
                <a:ext uri="{FF2B5EF4-FFF2-40B4-BE49-F238E27FC236}">
                  <a16:creationId xmlns:a16="http://schemas.microsoft.com/office/drawing/2014/main" id="{8C7F9C8E-E101-FED1-8021-C10AEA0FCB30}"/>
                </a:ext>
              </a:extLst>
            </p:cNvPr>
            <p:cNvPicPr>
              <a:picLocks noChangeAspect="1"/>
            </p:cNvPicPr>
            <p:nvPr/>
          </p:nvPicPr>
          <p:blipFill>
            <a:blip r:embed="rId3"/>
            <a:srcRect l="36263" t="51447" r="37579" b="27000"/>
            <a:stretch/>
          </p:blipFill>
          <p:spPr>
            <a:xfrm>
              <a:off x="408503" y="4987925"/>
              <a:ext cx="953235" cy="523607"/>
            </a:xfrm>
            <a:prstGeom prst="rect">
              <a:avLst/>
            </a:prstGeom>
          </p:spPr>
        </p:pic>
        <p:sp>
          <p:nvSpPr>
            <p:cNvPr id="20" name="Rectangle 19">
              <a:extLst>
                <a:ext uri="{FF2B5EF4-FFF2-40B4-BE49-F238E27FC236}">
                  <a16:creationId xmlns:a16="http://schemas.microsoft.com/office/drawing/2014/main" id="{D360CEDD-9141-D50E-5B59-0D9556B9482B}"/>
                </a:ext>
              </a:extLst>
            </p:cNvPr>
            <p:cNvSpPr/>
            <p:nvPr/>
          </p:nvSpPr>
          <p:spPr>
            <a:xfrm>
              <a:off x="368300" y="4975225"/>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Content Placeholder 15">
            <a:extLst>
              <a:ext uri="{FF2B5EF4-FFF2-40B4-BE49-F238E27FC236}">
                <a16:creationId xmlns:a16="http://schemas.microsoft.com/office/drawing/2014/main" id="{6EF07826-FAED-9806-7782-545BE83C8B27}"/>
              </a:ext>
            </a:extLst>
          </p:cNvPr>
          <p:cNvSpPr txBox="1">
            <a:spLocks noGrp="1" noChangeArrowheads="1"/>
          </p:cNvSpPr>
          <p:nvPr>
            <p:ph type="body" idx="15"/>
          </p:nvPr>
        </p:nvSpPr>
        <p:spPr bwMode="auto">
          <a:xfrm>
            <a:off x="1303833" y="4864421"/>
            <a:ext cx="1063742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spcBef>
                <a:spcPct val="50000"/>
              </a:spcBef>
              <a:buClrTx/>
              <a:buFont typeface="+mj-lt"/>
              <a:buAutoNum type="arabicPeriod" startAt="5"/>
            </a:pPr>
            <a:r>
              <a:rPr lang="en-US" altLang="en-US" sz="2000" dirty="0">
                <a:latin typeface="Times New Roman" panose="02020603050405020304" pitchFamily="18" charset="0"/>
                <a:cs typeface="Times New Roman" panose="02020603050405020304" pitchFamily="18" charset="0"/>
              </a:rPr>
              <a:t> When the rotational motion is divided into segments, the final angular velocity of one segment is the initial angular velocity for the next segment.</a:t>
            </a:r>
          </a:p>
        </p:txBody>
      </p:sp>
      <p:pic>
        <p:nvPicPr>
          <p:cNvPr id="22" name="Content Placeholder 16">
            <a:extLst>
              <a:ext uri="{FF2B5EF4-FFF2-40B4-BE49-F238E27FC236}">
                <a16:creationId xmlns:a16="http://schemas.microsoft.com/office/drawing/2014/main" id="{BC6CF4A7-C48F-793E-E4E2-4A4A64D15054}"/>
              </a:ext>
            </a:extLst>
          </p:cNvPr>
          <p:cNvPicPr>
            <a:picLocks noGrp="1" noChangeAspect="1"/>
          </p:cNvPicPr>
          <p:nvPr>
            <p:ph type="pic" idx="16"/>
          </p:nvPr>
        </p:nvPicPr>
        <p:blipFill>
          <a:blip r:embed="rId3"/>
          <a:srcRect l="69912" t="50342" r="4544" b="23131"/>
          <a:stretch/>
        </p:blipFill>
        <p:spPr>
          <a:xfrm>
            <a:off x="427132" y="5702300"/>
            <a:ext cx="888213" cy="614917"/>
          </a:xfrm>
          <a:prstGeom prst="rect">
            <a:avLst/>
          </a:prstGeom>
        </p:spPr>
      </p:pic>
      <p:sp>
        <p:nvSpPr>
          <p:cNvPr id="16" name="Content Placeholder 17">
            <a:extLst>
              <a:ext uri="{FF2B5EF4-FFF2-40B4-BE49-F238E27FC236}">
                <a16:creationId xmlns:a16="http://schemas.microsoft.com/office/drawing/2014/main" id="{E4C77DAF-C7F1-4A78-B59C-3AD578D44A52}"/>
              </a:ext>
            </a:extLst>
          </p:cNvPr>
          <p:cNvSpPr txBox="1">
            <a:spLocks noGrp="1" noChangeArrowheads="1"/>
          </p:cNvSpPr>
          <p:nvPr>
            <p:ph type="body" idx="17"/>
          </p:nvPr>
        </p:nvSpPr>
        <p:spPr bwMode="auto">
          <a:xfrm>
            <a:off x="1303832" y="5642057"/>
            <a:ext cx="103033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spcBef>
                <a:spcPct val="50000"/>
              </a:spcBef>
              <a:buClrTx/>
              <a:buFont typeface="+mj-lt"/>
              <a:buAutoNum type="arabicPeriod" startAt="6"/>
            </a:pPr>
            <a:r>
              <a:rPr lang="en-US" altLang="en-US" sz="2000" dirty="0">
                <a:latin typeface="Times New Roman" panose="02020603050405020304" pitchFamily="18" charset="0"/>
                <a:cs typeface="Times New Roman" panose="02020603050405020304" pitchFamily="18" charset="0"/>
              </a:rPr>
              <a:t> Keep in mind that there may be two possible answers to a kinematics problem. Try to visualize the different physical situations to which the answers correspond.</a:t>
            </a:r>
          </a:p>
        </p:txBody>
      </p:sp>
    </p:spTree>
    <p:extLst>
      <p:ext uri="{BB962C8B-B14F-4D97-AF65-F5344CB8AC3E}">
        <p14:creationId xmlns:p14="http://schemas.microsoft.com/office/powerpoint/2010/main" val="222283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ox(in)">
                                      <p:cBhvr>
                                        <p:cTn id="25" dur="500"/>
                                        <p:tgtEl>
                                          <p:spTgt spid="1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ox(in)">
                                      <p:cBhvr>
                                        <p:cTn id="34" dur="500"/>
                                        <p:tgtEl>
                                          <p:spTgt spid="14"/>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dissolve">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ox(in)">
                                      <p:cBhvr>
                                        <p:cTn id="43" dur="500"/>
                                        <p:tgtEl>
                                          <p:spTgt spid="15"/>
                                        </p:tgtEl>
                                      </p:cBhvr>
                                    </p:animEffect>
                                  </p:childTnLst>
                                </p:cTn>
                              </p:par>
                            </p:childTnLst>
                          </p:cTn>
                        </p:par>
                        <p:par>
                          <p:cTn id="44" fill="hold">
                            <p:stCondLst>
                              <p:cond delay="500"/>
                            </p:stCondLst>
                            <p:childTnLst>
                              <p:par>
                                <p:cTn id="45" presetID="9" presetClass="entr" presetSubtype="0"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dissolv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box(in)">
                                      <p:cBhvr>
                                        <p:cTn id="52" dur="500"/>
                                        <p:tgtEl>
                                          <p:spTgt spid="16"/>
                                        </p:tgtEl>
                                      </p:cBhvr>
                                    </p:animEffect>
                                  </p:childTnLst>
                                </p:cTn>
                              </p:par>
                            </p:childTnLst>
                          </p:cTn>
                        </p:par>
                        <p:par>
                          <p:cTn id="53" fill="hold">
                            <p:stCondLst>
                              <p:cond delay="500"/>
                            </p:stCondLst>
                            <p:childTnLst>
                              <p:par>
                                <p:cTn id="54" presetID="9" presetClass="entr" presetSubtype="0"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dissolve">
                                      <p:cBhvr>
                                        <p:cTn id="5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3" grpId="0"/>
      <p:bldP spid="14" grpId="0"/>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4BCB-B1F7-03B5-6188-DAA94D3D2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03CB9-8104-3F44-AF4B-D16D18436CC8}"/>
              </a:ext>
            </a:extLst>
          </p:cNvPr>
          <p:cNvSpPr>
            <a:spLocks noGrp="1"/>
          </p:cNvSpPr>
          <p:nvPr>
            <p:ph type="title"/>
          </p:nvPr>
        </p:nvSpPr>
        <p:spPr>
          <a:xfrm>
            <a:off x="654622" y="53787"/>
            <a:ext cx="10820401" cy="849312"/>
          </a:xfrm>
        </p:spPr>
        <p:txBody>
          <a:bodyPr/>
          <a:lstStyle/>
          <a:p>
            <a:r>
              <a:rPr lang="en-US" b="1" dirty="0">
                <a:latin typeface="Times New Roman" panose="02020603050405020304" pitchFamily="18" charset="0"/>
                <a:ea typeface="Calibri" charset="0"/>
                <a:cs typeface="Times New Roman" panose="02020603050405020304" pitchFamily="18" charset="0"/>
              </a:rPr>
              <a:t>8.3</a:t>
            </a:r>
            <a:r>
              <a:rPr lang="en-US" dirty="0">
                <a:latin typeface="Times New Roman" panose="02020603050405020304" pitchFamily="18" charset="0"/>
                <a:ea typeface="Calibri" charset="0"/>
                <a:cs typeface="Times New Roman" panose="02020603050405020304" pitchFamily="18" charset="0"/>
              </a:rPr>
              <a:t> The Equations of Rotational Kinematics (6 of 7)</a:t>
            </a:r>
            <a:endParaRPr lang="en-US" sz="3000" dirty="0">
              <a:latin typeface="Times New Roman" panose="02020603050405020304" pitchFamily="18" charset="0"/>
              <a:cs typeface="Times New Roman" panose="02020603050405020304" pitchFamily="18" charset="0"/>
            </a:endParaRPr>
          </a:p>
        </p:txBody>
      </p:sp>
      <p:sp>
        <p:nvSpPr>
          <p:cNvPr id="6" name="Content Placeholder 1">
            <a:extLst>
              <a:ext uri="{FF2B5EF4-FFF2-40B4-BE49-F238E27FC236}">
                <a16:creationId xmlns:a16="http://schemas.microsoft.com/office/drawing/2014/main" id="{B0524C7F-9181-0462-DEEE-E5D685FB63C0}"/>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Blending with a Blender</a:t>
            </a:r>
          </a:p>
        </p:txBody>
      </p:sp>
      <p:sp>
        <p:nvSpPr>
          <p:cNvPr id="4" name="Content Placeholder 2">
            <a:extLst>
              <a:ext uri="{FF2B5EF4-FFF2-40B4-BE49-F238E27FC236}">
                <a16:creationId xmlns:a16="http://schemas.microsoft.com/office/drawing/2014/main" id="{D87E0B58-9EF9-CCAA-C8EF-7E0765F88D11}"/>
              </a:ext>
            </a:extLst>
          </p:cNvPr>
          <p:cNvSpPr txBox="1">
            <a:spLocks noGrp="1"/>
          </p:cNvSpPr>
          <p:nvPr>
            <p:ph type="body" idx="2"/>
          </p:nvPr>
        </p:nvSpPr>
        <p:spPr>
          <a:xfrm>
            <a:off x="931333" y="1309765"/>
            <a:ext cx="8856133" cy="3046988"/>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blades of an electric blender are whirling with an angular velocity of +375 rad/s while the “puree” button is pushed in, as the figure shows. When the “blend” button is pressed, the blades accelerate and reach a greater angular velocity after the blades have rotated through an angular displacement of +44.0 rad. The angular acceleration has a constant value of +1740 rad/s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Find the final angular velocity of the blades.</a:t>
            </a:r>
          </a:p>
        </p:txBody>
      </p:sp>
      <p:pic>
        <p:nvPicPr>
          <p:cNvPr id="8" name="Content Placeholder 3">
            <a:extLst>
              <a:ext uri="{FF2B5EF4-FFF2-40B4-BE49-F238E27FC236}">
                <a16:creationId xmlns:a16="http://schemas.microsoft.com/office/drawing/2014/main" id="{8B867C34-E81F-17C5-4426-66E898C31F4F}"/>
              </a:ext>
            </a:extLst>
          </p:cNvPr>
          <p:cNvPicPr>
            <a:picLocks noGrp="1" noChangeAspect="1"/>
          </p:cNvPicPr>
          <p:nvPr>
            <p:ph type="pic" idx="3"/>
          </p:nvPr>
        </p:nvPicPr>
        <p:blipFill>
          <a:blip r:embed="rId3"/>
          <a:stretch>
            <a:fillRect/>
          </a:stretch>
        </p:blipFill>
        <p:spPr>
          <a:xfrm>
            <a:off x="10006717" y="637627"/>
            <a:ext cx="2076450" cy="3124028"/>
          </a:xfrm>
          <a:prstGeom prst="rect">
            <a:avLst/>
          </a:prstGeom>
        </p:spPr>
      </p:pic>
      <p:sp>
        <p:nvSpPr>
          <p:cNvPr id="9" name="Content Placeholder 4">
            <a:extLst>
              <a:ext uri="{FF2B5EF4-FFF2-40B4-BE49-F238E27FC236}">
                <a16:creationId xmlns:a16="http://schemas.microsoft.com/office/drawing/2014/main" id="{E260E3FF-1FA2-66D4-FC87-81DDAA53FB53}"/>
              </a:ext>
            </a:extLst>
          </p:cNvPr>
          <p:cNvSpPr txBox="1">
            <a:spLocks noGrp="1"/>
          </p:cNvSpPr>
          <p:nvPr>
            <p:ph type="body" idx="4"/>
          </p:nvPr>
        </p:nvSpPr>
        <p:spPr>
          <a:xfrm>
            <a:off x="931333" y="4032873"/>
            <a:ext cx="8856133"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are looking for the final angular velocity, or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a:t>
            </a:r>
          </a:p>
        </p:txBody>
      </p:sp>
      <p:sp>
        <p:nvSpPr>
          <p:cNvPr id="10" name="Content Placeholder 5">
            <a:extLst>
              <a:ext uri="{FF2B5EF4-FFF2-40B4-BE49-F238E27FC236}">
                <a16:creationId xmlns:a16="http://schemas.microsoft.com/office/drawing/2014/main" id="{149303E3-F12A-9A5E-7C35-D8CB3BB4E096}"/>
              </a:ext>
            </a:extLst>
          </p:cNvPr>
          <p:cNvSpPr txBox="1">
            <a:spLocks noGrp="1"/>
          </p:cNvSpPr>
          <p:nvPr>
            <p:ph type="body" idx="5"/>
          </p:nvPr>
        </p:nvSpPr>
        <p:spPr>
          <a:xfrm>
            <a:off x="948266" y="4574739"/>
            <a:ext cx="8856133"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are given the following: </a:t>
            </a:r>
            <a:r>
              <a:rPr lang="en-US" sz="2400" i="1" dirty="0">
                <a:latin typeface="Times New Roman" panose="02020603050405020304" pitchFamily="18" charset="0"/>
                <a:cs typeface="Times New Roman" panose="02020603050405020304" pitchFamily="18" charset="0"/>
              </a:rPr>
              <a:t>ω</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latin typeface="Times New Roman" panose="02020603050405020304" pitchFamily="18" charset="0"/>
                <a:cs typeface="Times New Roman" panose="02020603050405020304" pitchFamily="18" charset="0"/>
              </a:rPr>
              <a:t>θ</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α.</a:t>
            </a:r>
          </a:p>
        </p:txBody>
      </p:sp>
      <p:sp>
        <p:nvSpPr>
          <p:cNvPr id="12" name="Content Placeholder 6">
            <a:extLst>
              <a:ext uri="{FF2B5EF4-FFF2-40B4-BE49-F238E27FC236}">
                <a16:creationId xmlns:a16="http://schemas.microsoft.com/office/drawing/2014/main" id="{5BDC9EB0-7C43-495A-F97F-57F01617F6A1}"/>
              </a:ext>
            </a:extLst>
          </p:cNvPr>
          <p:cNvSpPr txBox="1">
            <a:spLocks noGrp="1"/>
          </p:cNvSpPr>
          <p:nvPr>
            <p:ph type="body" idx="6"/>
          </p:nvPr>
        </p:nvSpPr>
        <p:spPr>
          <a:xfrm>
            <a:off x="6350000" y="4574740"/>
            <a:ext cx="3556000"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itchFamily="2" charset="0"/>
              </a:rPr>
              <a:t>We can use Equation 8.8:</a:t>
            </a:r>
            <a:endParaRPr lang="en-US" sz="2400" i="1" dirty="0">
              <a:latin typeface="Times New Roman" pitchFamily="2" charset="2"/>
            </a:endParaRPr>
          </a:p>
        </p:txBody>
      </p:sp>
      <p:sp>
        <p:nvSpPr>
          <p:cNvPr id="20" name="Rounded Rectangle 19">
            <a:extLst>
              <a:ext uri="{FF2B5EF4-FFF2-40B4-BE49-F238E27FC236}">
                <a16:creationId xmlns:a16="http://schemas.microsoft.com/office/drawing/2014/main" id="{707C20A1-6707-4AE7-BD2D-1E377E3FD1E9}"/>
              </a:ext>
              <a:ext uri="{C183D7F6-B498-43B3-948B-1728B52AA6E4}">
                <adec:decorative xmlns:adec="http://schemas.microsoft.com/office/drawing/2017/decorative" val="1"/>
              </a:ext>
            </a:extLst>
          </p:cNvPr>
          <p:cNvSpPr/>
          <p:nvPr/>
        </p:nvSpPr>
        <p:spPr>
          <a:xfrm>
            <a:off x="9736666" y="4538133"/>
            <a:ext cx="2184400"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6A458477-787E-6261-1DCE-3F3463A34AFC}"/>
              </a:ext>
            </a:extLst>
          </p:cNvPr>
          <p:cNvGraphicFramePr>
            <a:graphicFrameLocks noChangeAspect="1"/>
          </p:cNvGraphicFramePr>
          <p:nvPr>
            <p:extLst>
              <p:ext uri="{D42A27DB-BD31-4B8C-83A1-F6EECF244321}">
                <p14:modId xmlns:p14="http://schemas.microsoft.com/office/powerpoint/2010/main" val="3954918071"/>
              </p:ext>
            </p:extLst>
          </p:nvPr>
        </p:nvGraphicFramePr>
        <p:xfrm>
          <a:off x="9804399" y="4492886"/>
          <a:ext cx="2077940" cy="557496"/>
        </p:xfrm>
        <a:graphic>
          <a:graphicData uri="http://schemas.openxmlformats.org/presentationml/2006/ole">
            <mc:AlternateContent xmlns:mc="http://schemas.openxmlformats.org/markup-compatibility/2006">
              <mc:Choice xmlns:v="urn:schemas-microsoft-com:vml" Requires="v">
                <p:oleObj name="Equation" r:id="rId4" imgW="1041120" imgH="279360" progId="Equation.DSMT4">
                  <p:embed/>
                </p:oleObj>
              </mc:Choice>
              <mc:Fallback>
                <p:oleObj name="Equation" r:id="rId4" imgW="1041120" imgH="279360" progId="Equation.DSMT4">
                  <p:embed/>
                  <p:pic>
                    <p:nvPicPr>
                      <p:cNvPr id="0" name=""/>
                      <p:cNvPicPr/>
                      <p:nvPr/>
                    </p:nvPicPr>
                    <p:blipFill>
                      <a:blip r:embed="rId5"/>
                      <a:stretch>
                        <a:fillRect/>
                      </a:stretch>
                    </p:blipFill>
                    <p:spPr>
                      <a:xfrm>
                        <a:off x="9804399" y="4492886"/>
                        <a:ext cx="2077940" cy="557496"/>
                      </a:xfrm>
                      <a:prstGeom prst="rect">
                        <a:avLst/>
                      </a:prstGeom>
                    </p:spPr>
                  </p:pic>
                </p:oleObj>
              </mc:Fallback>
            </mc:AlternateContent>
          </a:graphicData>
        </a:graphic>
      </p:graphicFrame>
      <p:sp>
        <p:nvSpPr>
          <p:cNvPr id="21" name="Rounded Rectangle 20">
            <a:extLst>
              <a:ext uri="{FF2B5EF4-FFF2-40B4-BE49-F238E27FC236}">
                <a16:creationId xmlns:a16="http://schemas.microsoft.com/office/drawing/2014/main" id="{46690D70-B8A3-6D5B-EBC5-1CF18A1978D6}"/>
              </a:ext>
              <a:ext uri="{C183D7F6-B498-43B3-948B-1728B52AA6E4}">
                <adec:decorative xmlns:adec="http://schemas.microsoft.com/office/drawing/2017/decorative" val="1"/>
              </a:ext>
            </a:extLst>
          </p:cNvPr>
          <p:cNvSpPr/>
          <p:nvPr/>
        </p:nvSpPr>
        <p:spPr>
          <a:xfrm>
            <a:off x="1049865" y="5334000"/>
            <a:ext cx="9048292"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a:extLst>
              <a:ext uri="{FF2B5EF4-FFF2-40B4-BE49-F238E27FC236}">
                <a16:creationId xmlns:a16="http://schemas.microsoft.com/office/drawing/2014/main" id="{77CD96FE-1446-88AD-1AB4-F223D1FCC07E}"/>
              </a:ext>
            </a:extLst>
          </p:cNvPr>
          <p:cNvGraphicFramePr>
            <a:graphicFrameLocks noChangeAspect="1"/>
          </p:cNvGraphicFramePr>
          <p:nvPr>
            <p:extLst>
              <p:ext uri="{D42A27DB-BD31-4B8C-83A1-F6EECF244321}">
                <p14:modId xmlns:p14="http://schemas.microsoft.com/office/powerpoint/2010/main" val="1897630749"/>
              </p:ext>
            </p:extLst>
          </p:nvPr>
        </p:nvGraphicFramePr>
        <p:xfrm>
          <a:off x="1301133" y="5313337"/>
          <a:ext cx="8545756" cy="579737"/>
        </p:xfrm>
        <a:graphic>
          <a:graphicData uri="http://schemas.openxmlformats.org/presentationml/2006/ole">
            <mc:AlternateContent xmlns:mc="http://schemas.openxmlformats.org/markup-compatibility/2006">
              <mc:Choice xmlns:v="urn:schemas-microsoft-com:vml" Requires="v">
                <p:oleObj name="Equation" r:id="rId6" imgW="5054400" imgH="342720" progId="Equation.DSMT4">
                  <p:embed/>
                </p:oleObj>
              </mc:Choice>
              <mc:Fallback>
                <p:oleObj name="Equation" r:id="rId6" imgW="5054400" imgH="342720" progId="Equation.DSMT4">
                  <p:embed/>
                  <p:pic>
                    <p:nvPicPr>
                      <p:cNvPr id="0" name=""/>
                      <p:cNvPicPr/>
                      <p:nvPr/>
                    </p:nvPicPr>
                    <p:blipFill>
                      <a:blip r:embed="rId7"/>
                      <a:stretch>
                        <a:fillRect/>
                      </a:stretch>
                    </p:blipFill>
                    <p:spPr>
                      <a:xfrm>
                        <a:off x="1301133" y="5313337"/>
                        <a:ext cx="8545756" cy="579737"/>
                      </a:xfrm>
                      <a:prstGeom prst="rect">
                        <a:avLst/>
                      </a:prstGeom>
                    </p:spPr>
                  </p:pic>
                </p:oleObj>
              </mc:Fallback>
            </mc:AlternateContent>
          </a:graphicData>
        </a:graphic>
      </p:graphicFrame>
      <p:sp>
        <p:nvSpPr>
          <p:cNvPr id="27" name="Rectangle 26">
            <a:extLst>
              <a:ext uri="{FF2B5EF4-FFF2-40B4-BE49-F238E27FC236}">
                <a16:creationId xmlns:a16="http://schemas.microsoft.com/office/drawing/2014/main" id="{77C4F30A-373E-5037-4CDB-D986E9A25DA9}"/>
              </a:ext>
              <a:ext uri="{C183D7F6-B498-43B3-948B-1728B52AA6E4}">
                <adec:decorative xmlns:adec="http://schemas.microsoft.com/office/drawing/2017/decorative" val="1"/>
              </a:ext>
            </a:extLst>
          </p:cNvPr>
          <p:cNvSpPr/>
          <p:nvPr/>
        </p:nvSpPr>
        <p:spPr>
          <a:xfrm>
            <a:off x="8568267" y="5452533"/>
            <a:ext cx="1337733" cy="3386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129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dissolv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par>
                                <p:cTn id="27" presetID="9" presetClass="entr" presetSubtype="0" fill="hold" grpId="0" nodeType="withEffect">
                                  <p:stCondLst>
                                    <p:cond delay="500"/>
                                  </p:stCondLst>
                                  <p:childTnLst>
                                    <p:set>
                                      <p:cBhvr>
                                        <p:cTn id="28" dur="1" fill="hold">
                                          <p:stCondLst>
                                            <p:cond delay="0"/>
                                          </p:stCondLst>
                                        </p:cTn>
                                        <p:tgtEl>
                                          <p:spTgt spid="21"/>
                                        </p:tgtEl>
                                        <p:attrNameLst>
                                          <p:attrName>style.visibility</p:attrName>
                                        </p:attrNameLst>
                                      </p:cBhvr>
                                      <p:to>
                                        <p:strVal val="visible"/>
                                      </p:to>
                                    </p:set>
                                    <p:animEffect transition="in" filter="dissolv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dissolve">
                                      <p:cBhvr>
                                        <p:cTn id="3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20" grpId="0" animBg="1"/>
      <p:bldP spid="21"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FC87-B08A-B479-9DEA-0465E0EF4CD6}"/>
            </a:ext>
          </a:extLst>
        </p:cNvPr>
        <p:cNvGrpSpPr/>
        <p:nvPr/>
      </p:nvGrpSpPr>
      <p:grpSpPr>
        <a:xfrm>
          <a:off x="0" y="0"/>
          <a:ext cx="0" cy="0"/>
          <a:chOff x="0" y="0"/>
          <a:chExt cx="0" cy="0"/>
        </a:xfrm>
      </p:grpSpPr>
      <p:sp>
        <p:nvSpPr>
          <p:cNvPr id="6" name="Rounded Rectangle 12">
            <a:extLst>
              <a:ext uri="{FF2B5EF4-FFF2-40B4-BE49-F238E27FC236}">
                <a16:creationId xmlns:a16="http://schemas.microsoft.com/office/drawing/2014/main" id="{BE6EA0F2-8505-5E89-19AC-5C9F26B58DBB}"/>
              </a:ext>
              <a:ext uri="{C183D7F6-B498-43B3-948B-1728B52AA6E4}">
                <adec:decorative xmlns:adec="http://schemas.microsoft.com/office/drawing/2017/decorative" val="1"/>
              </a:ext>
            </a:extLst>
          </p:cNvPr>
          <p:cNvSpPr/>
          <p:nvPr/>
        </p:nvSpPr>
        <p:spPr>
          <a:xfrm>
            <a:off x="880533" y="3352800"/>
            <a:ext cx="2065867" cy="4233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632E1B-0EC3-3942-1E34-A1A7B6EB5343}"/>
              </a:ext>
            </a:extLst>
          </p:cNvPr>
          <p:cNvSpPr>
            <a:spLocks noGrp="1"/>
          </p:cNvSpPr>
          <p:nvPr>
            <p:ph type="title"/>
          </p:nvPr>
        </p:nvSpPr>
        <p:spPr>
          <a:xfrm>
            <a:off x="654622" y="53787"/>
            <a:ext cx="10820401" cy="849312"/>
          </a:xfrm>
        </p:spPr>
        <p:txBody>
          <a:bodyPr/>
          <a:lstStyle/>
          <a:p>
            <a:r>
              <a:rPr lang="en-US" b="1" dirty="0">
                <a:latin typeface="Times New Roman" panose="02020603050405020304" pitchFamily="18" charset="0"/>
                <a:ea typeface="Calibri" charset="0"/>
                <a:cs typeface="Times New Roman" panose="02020603050405020304" pitchFamily="18" charset="0"/>
              </a:rPr>
              <a:t>8.3</a:t>
            </a:r>
            <a:r>
              <a:rPr lang="en-US" dirty="0">
                <a:latin typeface="Times New Roman" panose="02020603050405020304" pitchFamily="18" charset="0"/>
                <a:ea typeface="Calibri" charset="0"/>
                <a:cs typeface="Times New Roman" panose="02020603050405020304" pitchFamily="18" charset="0"/>
              </a:rPr>
              <a:t> The Equations of Rotational Kinematics (7 of 7)</a:t>
            </a:r>
            <a:endParaRPr lang="en-US"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9834CD-51F2-B0B1-22F5-97CC1CFCE96D}"/>
              </a:ext>
            </a:extLst>
          </p:cNvPr>
          <p:cNvSpPr txBox="1">
            <a:spLocks noGrp="1"/>
          </p:cNvSpPr>
          <p:nvPr>
            <p:ph type="body" idx="2"/>
          </p:nvPr>
        </p:nvSpPr>
        <p:spPr>
          <a:xfrm>
            <a:off x="894631" y="727937"/>
            <a:ext cx="10382969" cy="4832092"/>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3400"/>
              </a:spcAft>
              <a:buNone/>
            </a:pPr>
            <a:r>
              <a:rPr lang="en-US" sz="2800" dirty="0">
                <a:solidFill>
                  <a:srgbClr val="3E5891"/>
                </a:solidFill>
                <a:latin typeface="Times New Roman" panose="02020603050405020304" pitchFamily="18" charset="0"/>
                <a:cs typeface="Times New Roman" panose="02020603050405020304" pitchFamily="18" charset="0"/>
              </a:rPr>
              <a:t>CYU/TPS – The blades of a ceiling fan start from rest and, after two revolutions, have an angular speed of </a:t>
            </a:r>
            <a:r>
              <a:rPr lang="el-GR"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 The angular acceleration of the blades is constant. What is the angular speed after eight revolutions?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2</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4</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8</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p:txBody>
      </p:sp>
      <p:sp>
        <p:nvSpPr>
          <p:cNvPr id="14" name="Content Placeholder 4">
            <a:extLst>
              <a:ext uri="{FF2B5EF4-FFF2-40B4-BE49-F238E27FC236}">
                <a16:creationId xmlns:a16="http://schemas.microsoft.com/office/drawing/2014/main" id="{146EA644-3D76-ECB1-9318-1E62260EB931}"/>
              </a:ext>
            </a:extLst>
          </p:cNvPr>
          <p:cNvSpPr txBox="1">
            <a:spLocks noGrp="1"/>
          </p:cNvSpPr>
          <p:nvPr>
            <p:ph type="body" idx="4"/>
          </p:nvPr>
        </p:nvSpPr>
        <p:spPr>
          <a:xfrm rot="2431060">
            <a:off x="3968574" y="3596255"/>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Discuss!</a:t>
            </a:r>
          </a:p>
        </p:txBody>
      </p:sp>
    </p:spTree>
    <p:extLst>
      <p:ext uri="{BB962C8B-B14F-4D97-AF65-F5344CB8AC3E}">
        <p14:creationId xmlns:p14="http://schemas.microsoft.com/office/powerpoint/2010/main" val="32284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CF4B-FAE2-B968-762D-959CB71B4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4E940-DEC2-37E3-80FB-E1EAF4A49D83}"/>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8.4</a:t>
            </a:r>
            <a:r>
              <a:rPr lang="en-US" dirty="0">
                <a:latin typeface="Times New Roman" panose="02020603050405020304" pitchFamily="18" charset="0"/>
                <a:ea typeface="Calibri" charset="0"/>
                <a:cs typeface="Times New Roman" panose="02020603050405020304" pitchFamily="18" charset="0"/>
              </a:rPr>
              <a:t> Angular Variables and Tangential Variables (1 of 6)</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F2C49D09-A619-3000-0A9E-062043C07B2E}"/>
              </a:ext>
              <a:ext uri="{C183D7F6-B498-43B3-948B-1728B52AA6E4}">
                <adec:decorative xmlns:adec="http://schemas.microsoft.com/office/drawing/2017/decorative" val="1"/>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9CCBF115-A9F5-6EF0-D609-909127D4D138}"/>
              </a:ext>
            </a:extLst>
          </p:cNvPr>
          <p:cNvSpPr txBox="1">
            <a:spLocks noGrp="1"/>
          </p:cNvSpPr>
          <p:nvPr>
            <p:ph type="body" idx="1"/>
          </p:nvPr>
        </p:nvSpPr>
        <p:spPr>
          <a:xfrm>
            <a:off x="959715" y="718025"/>
            <a:ext cx="11609129" cy="483358"/>
          </a:xfrm>
          <a:prstGeom prst="rect">
            <a:avLst/>
          </a:prstGeom>
        </p:spPr>
        <p:txBody>
          <a:bodyPr vert="horz" lIns="91440" tIns="45720" rIns="91440" bIns="45720" rtlCol="0">
            <a:normAutofit lnSpcReduction="100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8.4 </a:t>
            </a:r>
            <a:r>
              <a:rPr lang="en-US" dirty="0">
                <a:latin typeface="Times New Roman" panose="02020603050405020304" pitchFamily="18" charset="0"/>
                <a:cs typeface="Times New Roman" panose="02020603050405020304" pitchFamily="18" charset="0"/>
              </a:rPr>
              <a:t>– Relate angular and tangential variables.</a:t>
            </a:r>
          </a:p>
        </p:txBody>
      </p:sp>
      <p:pic>
        <p:nvPicPr>
          <p:cNvPr id="7" name="Content Placeholder 2">
            <a:extLst>
              <a:ext uri="{FF2B5EF4-FFF2-40B4-BE49-F238E27FC236}">
                <a16:creationId xmlns:a16="http://schemas.microsoft.com/office/drawing/2014/main" id="{6D684FB3-D85E-38B8-CF50-9CDD5C19F80E}"/>
              </a:ext>
            </a:extLst>
          </p:cNvPr>
          <p:cNvPicPr>
            <a:picLocks noGrp="1" noChangeAspect="1"/>
          </p:cNvPicPr>
          <p:nvPr>
            <p:ph type="pic" idx="2"/>
          </p:nvPr>
        </p:nvPicPr>
        <p:blipFill>
          <a:blip r:embed="rId3"/>
          <a:stretch>
            <a:fillRect/>
          </a:stretch>
        </p:blipFill>
        <p:spPr>
          <a:xfrm>
            <a:off x="238654" y="1452650"/>
            <a:ext cx="3778998" cy="1597831"/>
          </a:xfrm>
          <a:prstGeom prst="rect">
            <a:avLst/>
          </a:prstGeom>
        </p:spPr>
      </p:pic>
      <p:sp>
        <p:nvSpPr>
          <p:cNvPr id="26" name="Content Placeholder 3">
            <a:extLst>
              <a:ext uri="{FF2B5EF4-FFF2-40B4-BE49-F238E27FC236}">
                <a16:creationId xmlns:a16="http://schemas.microsoft.com/office/drawing/2014/main" id="{22D95097-1016-677B-BA5A-1AC0713F0841}"/>
              </a:ext>
            </a:extLst>
          </p:cNvPr>
          <p:cNvSpPr txBox="1">
            <a:spLocks noGrp="1"/>
          </p:cNvSpPr>
          <p:nvPr>
            <p:ph type="body" idx="3"/>
          </p:nvPr>
        </p:nvSpPr>
        <p:spPr>
          <a:xfrm>
            <a:off x="4224954" y="1241518"/>
            <a:ext cx="4452516"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Let’s revisit our rotating disc...</a:t>
            </a:r>
          </a:p>
        </p:txBody>
      </p:sp>
      <p:sp>
        <p:nvSpPr>
          <p:cNvPr id="8" name="Content Placeholder 4">
            <a:extLst>
              <a:ext uri="{FF2B5EF4-FFF2-40B4-BE49-F238E27FC236}">
                <a16:creationId xmlns:a16="http://schemas.microsoft.com/office/drawing/2014/main" id="{B884DDBC-75FD-02D5-3989-CDA9B7863BF3}"/>
              </a:ext>
            </a:extLst>
          </p:cNvPr>
          <p:cNvSpPr txBox="1">
            <a:spLocks noGrp="1"/>
          </p:cNvSpPr>
          <p:nvPr>
            <p:ph type="body" idx="4"/>
          </p:nvPr>
        </p:nvSpPr>
        <p:spPr>
          <a:xfrm>
            <a:off x="4228064" y="1748481"/>
            <a:ext cx="7659136"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As the disc rotates through some angle </a:t>
            </a:r>
            <a:r>
              <a:rPr lang="en-US" sz="2400" i="1" dirty="0">
                <a:latin typeface="Times New Roman" panose="02020603050405020304" pitchFamily="18" charset="0"/>
                <a:cs typeface="Times New Roman" panose="02020603050405020304" pitchFamily="18" charset="0"/>
              </a:rPr>
              <a:t>θ</a:t>
            </a:r>
            <a:r>
              <a:rPr lang="en-US" sz="2400" dirty="0">
                <a:latin typeface="Times New Roman" panose="02020603050405020304" pitchFamily="18" charset="0"/>
                <a:cs typeface="Times New Roman" panose="02020603050405020304" pitchFamily="18" charset="0"/>
              </a:rPr>
              <a:t>, point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 moves an arc length distance </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and Equation 8.1 says that</a:t>
            </a:r>
          </a:p>
        </p:txBody>
      </p:sp>
      <p:sp>
        <p:nvSpPr>
          <p:cNvPr id="11" name="Rounded Rectangle 10">
            <a:extLst>
              <a:ext uri="{FF2B5EF4-FFF2-40B4-BE49-F238E27FC236}">
                <a16:creationId xmlns:a16="http://schemas.microsoft.com/office/drawing/2014/main" id="{B2FA0E90-AC34-D373-202F-3D89AD85D012}"/>
              </a:ext>
              <a:ext uri="{C183D7F6-B498-43B3-948B-1728B52AA6E4}">
                <adec:decorative xmlns:adec="http://schemas.microsoft.com/office/drawing/2017/decorative" val="1"/>
              </a:ext>
            </a:extLst>
          </p:cNvPr>
          <p:cNvSpPr/>
          <p:nvPr/>
        </p:nvSpPr>
        <p:spPr>
          <a:xfrm>
            <a:off x="10243316" y="2139256"/>
            <a:ext cx="877077" cy="3545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5">
            <a:extLst>
              <a:ext uri="{FF2B5EF4-FFF2-40B4-BE49-F238E27FC236}">
                <a16:creationId xmlns:a16="http://schemas.microsoft.com/office/drawing/2014/main" id="{CBEEE018-4A42-C591-FFB7-B6D0B055F953}"/>
              </a:ext>
            </a:extLst>
          </p:cNvPr>
          <p:cNvSpPr txBox="1">
            <a:spLocks noGrp="1"/>
          </p:cNvSpPr>
          <p:nvPr>
            <p:ph type="body" idx="5"/>
          </p:nvPr>
        </p:nvSpPr>
        <p:spPr>
          <a:xfrm>
            <a:off x="10210799" y="2090944"/>
            <a:ext cx="104887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itchFamily="2" charset="0"/>
              </a:rPr>
              <a:t>s</a:t>
            </a:r>
            <a:r>
              <a:rPr lang="en-US" sz="2400" dirty="0">
                <a:latin typeface="Times New Roman" pitchFamily="2" charset="0"/>
              </a:rPr>
              <a:t> = </a:t>
            </a:r>
            <a:r>
              <a:rPr lang="en-US" sz="2400" i="1" dirty="0" err="1">
                <a:latin typeface="Times New Roman" pitchFamily="2" charset="0"/>
              </a:rPr>
              <a:t>r</a:t>
            </a:r>
            <a:r>
              <a:rPr lang="en-US" sz="2400" i="1" dirty="0" err="1">
                <a:latin typeface="Times New Roman" panose="02020603050405020304" pitchFamily="18" charset="0"/>
                <a:cs typeface="Times New Roman" panose="02020603050405020304" pitchFamily="18" charset="0"/>
              </a:rPr>
              <a:t>θ</a:t>
            </a:r>
            <a:endParaRPr lang="en-US" sz="2400" i="1" dirty="0">
              <a:latin typeface="Times New Roman" panose="02020603050405020304" pitchFamily="18" charset="0"/>
              <a:cs typeface="Times New Roman" panose="02020603050405020304" pitchFamily="18" charset="0"/>
            </a:endParaRPr>
          </a:p>
        </p:txBody>
      </p:sp>
      <p:sp>
        <p:nvSpPr>
          <p:cNvPr id="4" name="Content Placeholder 6">
            <a:extLst>
              <a:ext uri="{FF2B5EF4-FFF2-40B4-BE49-F238E27FC236}">
                <a16:creationId xmlns:a16="http://schemas.microsoft.com/office/drawing/2014/main" id="{53F02A11-CD13-4728-A653-546E379A7D8C}"/>
              </a:ext>
            </a:extLst>
          </p:cNvPr>
          <p:cNvSpPr txBox="1">
            <a:spLocks noGrp="1"/>
          </p:cNvSpPr>
          <p:nvPr>
            <p:ph type="body" idx="6"/>
          </p:nvPr>
        </p:nvSpPr>
        <p:spPr>
          <a:xfrm>
            <a:off x="11100647" y="2088174"/>
            <a:ext cx="37719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cs typeface="Times New Roman" panose="02020603050405020304" pitchFamily="18" charset="0"/>
              </a:rPr>
              <a:t>.</a:t>
            </a:r>
            <a:endParaRPr lang="en-US" dirty="0">
              <a:latin typeface="Times New Roman"/>
            </a:endParaRPr>
          </a:p>
        </p:txBody>
      </p:sp>
      <p:sp>
        <p:nvSpPr>
          <p:cNvPr id="13" name="Content Placeholder 7">
            <a:extLst>
              <a:ext uri="{FF2B5EF4-FFF2-40B4-BE49-F238E27FC236}">
                <a16:creationId xmlns:a16="http://schemas.microsoft.com/office/drawing/2014/main" id="{30C075EF-999F-4491-6FA8-A4D680E49CDD}"/>
              </a:ext>
            </a:extLst>
          </p:cNvPr>
          <p:cNvSpPr txBox="1">
            <a:spLocks noGrp="1"/>
          </p:cNvSpPr>
          <p:nvPr>
            <p:ph type="body" idx="7"/>
          </p:nvPr>
        </p:nvSpPr>
        <p:spPr>
          <a:xfrm>
            <a:off x="3890466" y="2628952"/>
            <a:ext cx="8301534"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Let’s hold </a:t>
            </a:r>
            <a:r>
              <a:rPr lang="en-US" sz="2400" i="1" dirty="0">
                <a:latin typeface="Times New Roman" panose="02020603050405020304" pitchFamily="18" charset="0"/>
                <a:cs typeface="Times New Roman" panose="02020603050405020304" pitchFamily="18" charset="0"/>
              </a:rPr>
              <a:t>r </a:t>
            </a:r>
            <a:r>
              <a:rPr lang="en-US" sz="2400" dirty="0">
                <a:latin typeface="Times New Roman" panose="02020603050405020304" pitchFamily="18" charset="0"/>
                <a:cs typeface="Times New Roman" panose="02020603050405020304" pitchFamily="18" charset="0"/>
              </a:rPr>
              <a:t>constant and divide both sides of this equation by </a:t>
            </a:r>
            <a:r>
              <a:rPr 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p>
        </p:txBody>
      </p:sp>
      <p:sp>
        <p:nvSpPr>
          <p:cNvPr id="15" name="Rounded Rectangle 14">
            <a:extLst>
              <a:ext uri="{FF2B5EF4-FFF2-40B4-BE49-F238E27FC236}">
                <a16:creationId xmlns:a16="http://schemas.microsoft.com/office/drawing/2014/main" id="{B3372D81-D197-4D92-F02D-F713F14E5E8F}"/>
              </a:ext>
              <a:ext uri="{C183D7F6-B498-43B3-948B-1728B52AA6E4}">
                <adec:decorative xmlns:adec="http://schemas.microsoft.com/office/drawing/2017/decorative" val="1"/>
              </a:ext>
            </a:extLst>
          </p:cNvPr>
          <p:cNvSpPr/>
          <p:nvPr/>
        </p:nvSpPr>
        <p:spPr>
          <a:xfrm>
            <a:off x="118753" y="3289465"/>
            <a:ext cx="1555667"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78B16767-CC2B-3158-9D80-DBC0CF7FDF07}"/>
              </a:ext>
            </a:extLst>
          </p:cNvPr>
          <p:cNvGraphicFramePr>
            <a:graphicFrameLocks noChangeAspect="1"/>
          </p:cNvGraphicFramePr>
          <p:nvPr>
            <p:extLst>
              <p:ext uri="{D42A27DB-BD31-4B8C-83A1-F6EECF244321}">
                <p14:modId xmlns:p14="http://schemas.microsoft.com/office/powerpoint/2010/main" val="1063433646"/>
              </p:ext>
            </p:extLst>
          </p:nvPr>
        </p:nvGraphicFramePr>
        <p:xfrm>
          <a:off x="338195" y="3332610"/>
          <a:ext cx="1116782" cy="678828"/>
        </p:xfrm>
        <a:graphic>
          <a:graphicData uri="http://schemas.openxmlformats.org/presentationml/2006/ole">
            <mc:AlternateContent xmlns:mc="http://schemas.openxmlformats.org/markup-compatibility/2006">
              <mc:Choice xmlns:v="urn:schemas-microsoft-com:vml" Requires="v">
                <p:oleObj name="Equation" r:id="rId4" imgW="647640" imgH="393480" progId="Equation.DSMT4">
                  <p:embed/>
                </p:oleObj>
              </mc:Choice>
              <mc:Fallback>
                <p:oleObj name="Equation" r:id="rId4" imgW="647640" imgH="393480" progId="Equation.DSMT4">
                  <p:embed/>
                  <p:pic>
                    <p:nvPicPr>
                      <p:cNvPr id="0" name=""/>
                      <p:cNvPicPr/>
                      <p:nvPr/>
                    </p:nvPicPr>
                    <p:blipFill>
                      <a:blip r:embed="rId5"/>
                      <a:stretch>
                        <a:fillRect/>
                      </a:stretch>
                    </p:blipFill>
                    <p:spPr>
                      <a:xfrm>
                        <a:off x="338195" y="3332610"/>
                        <a:ext cx="1116782" cy="678828"/>
                      </a:xfrm>
                      <a:prstGeom prst="rect">
                        <a:avLst/>
                      </a:prstGeom>
                    </p:spPr>
                  </p:pic>
                </p:oleObj>
              </mc:Fallback>
            </mc:AlternateContent>
          </a:graphicData>
        </a:graphic>
      </p:graphicFrame>
      <p:sp>
        <p:nvSpPr>
          <p:cNvPr id="17" name="Content Placeholder 8">
            <a:extLst>
              <a:ext uri="{FF2B5EF4-FFF2-40B4-BE49-F238E27FC236}">
                <a16:creationId xmlns:a16="http://schemas.microsoft.com/office/drawing/2014/main" id="{7B9C40F3-90E9-43D4-661F-8DE78249AD84}"/>
              </a:ext>
            </a:extLst>
          </p:cNvPr>
          <p:cNvSpPr txBox="1">
            <a:spLocks noGrp="1"/>
          </p:cNvSpPr>
          <p:nvPr>
            <p:ph type="body" idx="8"/>
          </p:nvPr>
        </p:nvSpPr>
        <p:spPr>
          <a:xfrm>
            <a:off x="1857806" y="3446370"/>
            <a:ext cx="3533591"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cs typeface="Times New Roman" panose="02020603050405020304" pitchFamily="18" charset="0"/>
              </a:rPr>
              <a:t>In words, this equation is:</a:t>
            </a:r>
            <a:endParaRPr lang="en-US" sz="2400" dirty="0">
              <a:latin typeface="Times New Roman" pitchFamily="2" charset="0"/>
            </a:endParaRPr>
          </a:p>
        </p:txBody>
      </p:sp>
      <p:sp>
        <p:nvSpPr>
          <p:cNvPr id="23" name="Content Placeholder 10">
            <a:extLst>
              <a:ext uri="{FF2B5EF4-FFF2-40B4-BE49-F238E27FC236}">
                <a16:creationId xmlns:a16="http://schemas.microsoft.com/office/drawing/2014/main" id="{BB20EED5-AC92-8DE1-F037-B5275734A416}"/>
              </a:ext>
            </a:extLst>
          </p:cNvPr>
          <p:cNvSpPr txBox="1">
            <a:spLocks noGrp="1"/>
          </p:cNvSpPr>
          <p:nvPr>
            <p:ph type="body" idx="10"/>
          </p:nvPr>
        </p:nvSpPr>
        <p:spPr>
          <a:xfrm>
            <a:off x="-1" y="4240038"/>
            <a:ext cx="5367647"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left side is linear velocity (</a:t>
            </a:r>
            <a:r>
              <a:rPr lang="en-US" sz="2400" i="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 and the right side is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times angular velocity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a:t>
            </a:r>
          </a:p>
        </p:txBody>
      </p:sp>
      <p:sp>
        <p:nvSpPr>
          <p:cNvPr id="30" name="Content Placeholder 11">
            <a:extLst>
              <a:ext uri="{FF2B5EF4-FFF2-40B4-BE49-F238E27FC236}">
                <a16:creationId xmlns:a16="http://schemas.microsoft.com/office/drawing/2014/main" id="{8A71F8DE-AA9C-244C-B294-3D33E608E22A}"/>
              </a:ext>
            </a:extLst>
          </p:cNvPr>
          <p:cNvSpPr txBox="1">
            <a:spLocks noGrp="1"/>
          </p:cNvSpPr>
          <p:nvPr>
            <p:ph type="body" idx="11"/>
          </p:nvPr>
        </p:nvSpPr>
        <p:spPr>
          <a:xfrm>
            <a:off x="0" y="5128708"/>
            <a:ext cx="10210799"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direction of the linear velocity of point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 is tangent to its circular trajectory:</a:t>
            </a:r>
          </a:p>
        </p:txBody>
      </p:sp>
      <p:sp>
        <p:nvSpPr>
          <p:cNvPr id="58" name="Content Placeholder 12">
            <a:extLst>
              <a:ext uri="{FF2B5EF4-FFF2-40B4-BE49-F238E27FC236}">
                <a16:creationId xmlns:a16="http://schemas.microsoft.com/office/drawing/2014/main" id="{09F3E0B8-5953-6FE1-3EF9-1E932AD68A5C}"/>
              </a:ext>
            </a:extLst>
          </p:cNvPr>
          <p:cNvSpPr txBox="1">
            <a:spLocks noGrp="1"/>
          </p:cNvSpPr>
          <p:nvPr>
            <p:ph type="body" idx="12"/>
          </p:nvPr>
        </p:nvSpPr>
        <p:spPr>
          <a:xfrm>
            <a:off x="235526" y="5585908"/>
            <a:ext cx="9864437" cy="707886"/>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000" dirty="0">
                <a:latin typeface="Times New Roman" panose="02020603050405020304" pitchFamily="18" charset="0"/>
                <a:cs typeface="Times New Roman" panose="02020603050405020304" pitchFamily="18" charset="0"/>
              </a:rPr>
              <a:t>*Note: This is the same linear velocity (</a:t>
            </a:r>
            <a:r>
              <a:rPr lang="en-US" sz="2000" i="1" dirty="0">
                <a:latin typeface="Times New Roman" panose="02020603050405020304" pitchFamily="18" charset="0"/>
                <a:cs typeface="Times New Roman" panose="02020603050405020304" pitchFamily="18" charset="0"/>
              </a:rPr>
              <a:t>v</a:t>
            </a:r>
            <a:r>
              <a:rPr lang="en-US" sz="2000" dirty="0">
                <a:latin typeface="Times New Roman" panose="02020603050405020304" pitchFamily="18" charset="0"/>
                <a:cs typeface="Times New Roman" panose="02020603050405020304" pitchFamily="18" charset="0"/>
              </a:rPr>
              <a:t>) objects had in Chapter 05, when </a:t>
            </a:r>
            <a:r>
              <a:rPr lang="en-US" sz="2000" dirty="0">
                <a:solidFill>
                  <a:srgbClr val="007440"/>
                </a:solidFill>
                <a:latin typeface="Times New Roman" panose="02020603050405020304" pitchFamily="18" charset="0"/>
                <a:cs typeface="Times New Roman" panose="02020603050405020304" pitchFamily="18" charset="0"/>
              </a:rPr>
              <a:t>undergoing uniform circular motion</a:t>
            </a:r>
            <a:r>
              <a:rPr lang="en-US" sz="2000" dirty="0">
                <a:latin typeface="Times New Roman" panose="02020603050405020304" pitchFamily="18" charset="0"/>
                <a:cs typeface="Times New Roman" panose="02020603050405020304" pitchFamily="18" charset="0"/>
              </a:rPr>
              <a:t>. The subscript “T” is to further clarify that the direction is tangential.</a:t>
            </a:r>
          </a:p>
        </p:txBody>
      </p:sp>
      <p:pic>
        <p:nvPicPr>
          <p:cNvPr id="18" name="Picture 17">
            <a:extLst>
              <a:ext uri="{FF2B5EF4-FFF2-40B4-BE49-F238E27FC236}">
                <a16:creationId xmlns:a16="http://schemas.microsoft.com/office/drawing/2014/main" id="{47B2FAAF-8DB7-FDCE-233C-6CA61959AAD5}"/>
              </a:ext>
            </a:extLst>
          </p:cNvPr>
          <p:cNvPicPr>
            <a:picLocks noChangeAspect="1"/>
          </p:cNvPicPr>
          <p:nvPr/>
        </p:nvPicPr>
        <p:blipFill>
          <a:blip r:embed="rId6"/>
          <a:stretch>
            <a:fillRect/>
          </a:stretch>
        </p:blipFill>
        <p:spPr>
          <a:xfrm>
            <a:off x="5488621" y="3414729"/>
            <a:ext cx="5377295" cy="590801"/>
          </a:xfrm>
          <a:prstGeom prst="rect">
            <a:avLst/>
          </a:prstGeom>
        </p:spPr>
      </p:pic>
      <p:grpSp>
        <p:nvGrpSpPr>
          <p:cNvPr id="29" name="Group 28">
            <a:extLst>
              <a:ext uri="{FF2B5EF4-FFF2-40B4-BE49-F238E27FC236}">
                <a16:creationId xmlns:a16="http://schemas.microsoft.com/office/drawing/2014/main" id="{2A578833-73D0-A2C4-B9FE-915AF2B4D2D9}"/>
              </a:ext>
            </a:extLst>
          </p:cNvPr>
          <p:cNvGrpSpPr/>
          <p:nvPr/>
        </p:nvGrpSpPr>
        <p:grpSpPr>
          <a:xfrm>
            <a:off x="5557648" y="4061360"/>
            <a:ext cx="5118268" cy="754392"/>
            <a:chOff x="5343898" y="4061360"/>
            <a:chExt cx="5118268" cy="754392"/>
          </a:xfrm>
        </p:grpSpPr>
        <p:sp>
          <p:nvSpPr>
            <p:cNvPr id="21" name="Left Brace 20">
              <a:extLst>
                <a:ext uri="{FF2B5EF4-FFF2-40B4-BE49-F238E27FC236}">
                  <a16:creationId xmlns:a16="http://schemas.microsoft.com/office/drawing/2014/main" id="{4F4E9286-B95D-FDCA-F0A9-7F0669283518}"/>
                </a:ext>
              </a:extLst>
            </p:cNvPr>
            <p:cNvSpPr/>
            <p:nvPr/>
          </p:nvSpPr>
          <p:spPr>
            <a:xfrm rot="16200000">
              <a:off x="6234546" y="3170712"/>
              <a:ext cx="344385" cy="212568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Left Brace 23">
              <a:extLst>
                <a:ext uri="{FF2B5EF4-FFF2-40B4-BE49-F238E27FC236}">
                  <a16:creationId xmlns:a16="http://schemas.microsoft.com/office/drawing/2014/main" id="{CC74BB43-A7C3-08B9-D9D4-10897B41122D}"/>
                </a:ext>
              </a:extLst>
            </p:cNvPr>
            <p:cNvSpPr/>
            <p:nvPr/>
          </p:nvSpPr>
          <p:spPr>
            <a:xfrm rot="16200000">
              <a:off x="9166765" y="3110345"/>
              <a:ext cx="344385" cy="2246416"/>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8114835E-576F-A30D-E584-8BE0AB05CBAA}"/>
                </a:ext>
              </a:extLst>
            </p:cNvPr>
            <p:cNvSpPr txBox="1"/>
            <p:nvPr/>
          </p:nvSpPr>
          <p:spPr>
            <a:xfrm>
              <a:off x="5593278" y="4415642"/>
              <a:ext cx="2042556" cy="400110"/>
            </a:xfrm>
            <a:prstGeom prst="rect">
              <a:avLst/>
            </a:prstGeom>
            <a:noFill/>
          </p:spPr>
          <p:txBody>
            <a:bodyPr wrap="square" rtlCol="0">
              <a:spAutoFit/>
            </a:bodyPr>
            <a:lstStyle/>
            <a:p>
              <a:r>
                <a:rPr lang="en-US" sz="2000" dirty="0">
                  <a:latin typeface="Times" pitchFamily="2" charset="0"/>
                </a:rPr>
                <a:t>Linear velocity</a:t>
              </a:r>
            </a:p>
          </p:txBody>
        </p:sp>
        <p:sp>
          <p:nvSpPr>
            <p:cNvPr id="28" name="TextBox 27">
              <a:extLst>
                <a:ext uri="{FF2B5EF4-FFF2-40B4-BE49-F238E27FC236}">
                  <a16:creationId xmlns:a16="http://schemas.microsoft.com/office/drawing/2014/main" id="{AC3EF3D5-7F2B-40B2-51F5-A64B53B73E31}"/>
                </a:ext>
              </a:extLst>
            </p:cNvPr>
            <p:cNvSpPr txBox="1"/>
            <p:nvPr/>
          </p:nvSpPr>
          <p:spPr>
            <a:xfrm>
              <a:off x="8405752" y="4415642"/>
              <a:ext cx="2042556" cy="400110"/>
            </a:xfrm>
            <a:prstGeom prst="rect">
              <a:avLst/>
            </a:prstGeom>
            <a:noFill/>
          </p:spPr>
          <p:txBody>
            <a:bodyPr wrap="square" rtlCol="0">
              <a:spAutoFit/>
            </a:bodyPr>
            <a:lstStyle/>
            <a:p>
              <a:r>
                <a:rPr lang="en-US" sz="2000" dirty="0">
                  <a:latin typeface="Times" pitchFamily="2" charset="0"/>
                </a:rPr>
                <a:t>Angular velocity</a:t>
              </a:r>
            </a:p>
          </p:txBody>
        </p:sp>
      </p:grpSp>
      <p:grpSp>
        <p:nvGrpSpPr>
          <p:cNvPr id="60" name="Group 59">
            <a:extLst>
              <a:ext uri="{FF2B5EF4-FFF2-40B4-BE49-F238E27FC236}">
                <a16:creationId xmlns:a16="http://schemas.microsoft.com/office/drawing/2014/main" id="{2E69864A-1889-6935-E960-897A8A03C66C}"/>
              </a:ext>
            </a:extLst>
          </p:cNvPr>
          <p:cNvGrpSpPr/>
          <p:nvPr/>
        </p:nvGrpSpPr>
        <p:grpSpPr>
          <a:xfrm>
            <a:off x="10266997" y="4720359"/>
            <a:ext cx="1925003" cy="1616413"/>
            <a:chOff x="10266997" y="4720359"/>
            <a:chExt cx="1925003" cy="1616413"/>
          </a:xfrm>
        </p:grpSpPr>
        <p:grpSp>
          <p:nvGrpSpPr>
            <p:cNvPr id="57" name="Group 56">
              <a:extLst>
                <a:ext uri="{FF2B5EF4-FFF2-40B4-BE49-F238E27FC236}">
                  <a16:creationId xmlns:a16="http://schemas.microsoft.com/office/drawing/2014/main" id="{64A7A89D-56C5-7F8A-69B1-5730000DD143}"/>
                </a:ext>
              </a:extLst>
            </p:cNvPr>
            <p:cNvGrpSpPr/>
            <p:nvPr/>
          </p:nvGrpSpPr>
          <p:grpSpPr>
            <a:xfrm>
              <a:off x="10266997" y="4720359"/>
              <a:ext cx="1925003" cy="1616413"/>
              <a:chOff x="6168072" y="4692650"/>
              <a:chExt cx="1925003" cy="1616413"/>
            </a:xfrm>
          </p:grpSpPr>
          <p:sp>
            <p:nvSpPr>
              <p:cNvPr id="10" name="Oval 9">
                <a:extLst>
                  <a:ext uri="{FF2B5EF4-FFF2-40B4-BE49-F238E27FC236}">
                    <a16:creationId xmlns:a16="http://schemas.microsoft.com/office/drawing/2014/main" id="{308A2CA9-BDF8-0996-BAD7-3C5CFB5BC422}"/>
                  </a:ext>
                </a:extLst>
              </p:cNvPr>
              <p:cNvSpPr/>
              <p:nvPr/>
            </p:nvSpPr>
            <p:spPr>
              <a:xfrm>
                <a:off x="6168072" y="4848973"/>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129D1DC1-4A06-53C1-1388-162609AC1AF6}"/>
                  </a:ext>
                </a:extLst>
              </p:cNvPr>
              <p:cNvCxnSpPr>
                <a:cxnSpLocks/>
                <a:endCxn id="10" idx="6"/>
              </p:cNvCxnSpPr>
              <p:nvPr/>
            </p:nvCxnSpPr>
            <p:spPr>
              <a:xfrm>
                <a:off x="6886575" y="5578475"/>
                <a:ext cx="741587" cy="543"/>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79087E6-72F4-0800-571E-B1CE537872AB}"/>
                  </a:ext>
                </a:extLst>
              </p:cNvPr>
              <p:cNvCxnSpPr>
                <a:cxnSpLocks/>
                <a:endCxn id="10" idx="7"/>
              </p:cNvCxnSpPr>
              <p:nvPr/>
            </p:nvCxnSpPr>
            <p:spPr>
              <a:xfrm flipV="1">
                <a:off x="6886575" y="5062798"/>
                <a:ext cx="527762" cy="515677"/>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F5CB31D-8C83-FFDF-BA51-56A319D08EDB}"/>
                  </a:ext>
                </a:extLst>
              </p:cNvPr>
              <p:cNvSpPr/>
              <p:nvPr/>
            </p:nvSpPr>
            <p:spPr>
              <a:xfrm>
                <a:off x="6873875" y="5568950"/>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43">
                <a:extLst>
                  <a:ext uri="{FF2B5EF4-FFF2-40B4-BE49-F238E27FC236}">
                    <a16:creationId xmlns:a16="http://schemas.microsoft.com/office/drawing/2014/main" id="{5C2765E2-B2EF-D3CA-A13D-6B071B79AE27}"/>
                  </a:ext>
                </a:extLst>
              </p:cNvPr>
              <p:cNvSpPr/>
              <p:nvPr/>
            </p:nvSpPr>
            <p:spPr>
              <a:xfrm>
                <a:off x="7112000" y="5378450"/>
                <a:ext cx="65943" cy="190500"/>
              </a:xfrm>
              <a:custGeom>
                <a:avLst/>
                <a:gdLst>
                  <a:gd name="connsiteX0" fmla="*/ 63500 w 65943"/>
                  <a:gd name="connsiteY0" fmla="*/ 190500 h 190500"/>
                  <a:gd name="connsiteX1" fmla="*/ 63500 w 65943"/>
                  <a:gd name="connsiteY1" fmla="*/ 114300 h 190500"/>
                  <a:gd name="connsiteX2" fmla="*/ 38100 w 65943"/>
                  <a:gd name="connsiteY2" fmla="*/ 47625 h 190500"/>
                  <a:gd name="connsiteX3" fmla="*/ 0 w 65943"/>
                  <a:gd name="connsiteY3" fmla="*/ 0 h 190500"/>
                </a:gdLst>
                <a:ahLst/>
                <a:cxnLst>
                  <a:cxn ang="0">
                    <a:pos x="connsiteX0" y="connsiteY0"/>
                  </a:cxn>
                  <a:cxn ang="0">
                    <a:pos x="connsiteX1" y="connsiteY1"/>
                  </a:cxn>
                  <a:cxn ang="0">
                    <a:pos x="connsiteX2" y="connsiteY2"/>
                  </a:cxn>
                  <a:cxn ang="0">
                    <a:pos x="connsiteX3" y="connsiteY3"/>
                  </a:cxn>
                </a:cxnLst>
                <a:rect l="l" t="t" r="r" b="b"/>
                <a:pathLst>
                  <a:path w="65943" h="190500">
                    <a:moveTo>
                      <a:pt x="63500" y="190500"/>
                    </a:moveTo>
                    <a:cubicBezTo>
                      <a:pt x="65616" y="164306"/>
                      <a:pt x="67733" y="138112"/>
                      <a:pt x="63500" y="114300"/>
                    </a:cubicBezTo>
                    <a:cubicBezTo>
                      <a:pt x="59267" y="90488"/>
                      <a:pt x="48683" y="66675"/>
                      <a:pt x="38100" y="47625"/>
                    </a:cubicBezTo>
                    <a:cubicBezTo>
                      <a:pt x="27517" y="28575"/>
                      <a:pt x="13758" y="14287"/>
                      <a:pt x="0" y="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B8170B2-E975-7537-8A48-33F3A8F35545}"/>
                  </a:ext>
                </a:extLst>
              </p:cNvPr>
              <p:cNvSpPr txBox="1"/>
              <p:nvPr/>
            </p:nvSpPr>
            <p:spPr>
              <a:xfrm>
                <a:off x="6927850" y="5337175"/>
                <a:ext cx="301625" cy="307777"/>
              </a:xfrm>
              <a:prstGeom prst="rect">
                <a:avLst/>
              </a:prstGeom>
              <a:noFill/>
            </p:spPr>
            <p:txBody>
              <a:bodyPr wrap="square" rtlCol="0">
                <a:spAutoFit/>
              </a:bodyPr>
              <a:lstStyle/>
              <a:p>
                <a:r>
                  <a:rPr lang="en-US" sz="1400" i="1" dirty="0">
                    <a:latin typeface="Symbol" pitchFamily="2" charset="2"/>
                  </a:rPr>
                  <a:t>q</a:t>
                </a:r>
              </a:p>
            </p:txBody>
          </p:sp>
          <p:sp>
            <p:nvSpPr>
              <p:cNvPr id="32" name="TextBox 31">
                <a:extLst>
                  <a:ext uri="{FF2B5EF4-FFF2-40B4-BE49-F238E27FC236}">
                    <a16:creationId xmlns:a16="http://schemas.microsoft.com/office/drawing/2014/main" id="{C0D57D69-7F60-5AF6-7EC7-4D574C30830C}"/>
                  </a:ext>
                </a:extLst>
              </p:cNvPr>
              <p:cNvSpPr txBox="1"/>
              <p:nvPr/>
            </p:nvSpPr>
            <p:spPr>
              <a:xfrm>
                <a:off x="7150100" y="5489575"/>
                <a:ext cx="301625" cy="307777"/>
              </a:xfrm>
              <a:prstGeom prst="rect">
                <a:avLst/>
              </a:prstGeom>
              <a:noFill/>
            </p:spPr>
            <p:txBody>
              <a:bodyPr wrap="square" rtlCol="0">
                <a:spAutoFit/>
              </a:bodyPr>
              <a:lstStyle/>
              <a:p>
                <a:r>
                  <a:rPr lang="en-US" sz="1400" i="1" dirty="0">
                    <a:latin typeface="Times" pitchFamily="2" charset="0"/>
                  </a:rPr>
                  <a:t>r</a:t>
                </a:r>
              </a:p>
            </p:txBody>
          </p:sp>
          <p:sp>
            <p:nvSpPr>
              <p:cNvPr id="33" name="TextBox 32">
                <a:extLst>
                  <a:ext uri="{FF2B5EF4-FFF2-40B4-BE49-F238E27FC236}">
                    <a16:creationId xmlns:a16="http://schemas.microsoft.com/office/drawing/2014/main" id="{4CB51826-5190-A89B-AFA5-35C930E021CC}"/>
                  </a:ext>
                </a:extLst>
              </p:cNvPr>
              <p:cNvSpPr txBox="1"/>
              <p:nvPr/>
            </p:nvSpPr>
            <p:spPr>
              <a:xfrm>
                <a:off x="7404100" y="5178425"/>
                <a:ext cx="301625" cy="307777"/>
              </a:xfrm>
              <a:prstGeom prst="rect">
                <a:avLst/>
              </a:prstGeom>
              <a:noFill/>
            </p:spPr>
            <p:txBody>
              <a:bodyPr wrap="square" rtlCol="0">
                <a:spAutoFit/>
              </a:bodyPr>
              <a:lstStyle/>
              <a:p>
                <a:r>
                  <a:rPr lang="en-US" sz="1400" i="1" dirty="0">
                    <a:latin typeface="Times" pitchFamily="2" charset="0"/>
                  </a:rPr>
                  <a:t>s</a:t>
                </a:r>
              </a:p>
            </p:txBody>
          </p:sp>
          <p:sp>
            <p:nvSpPr>
              <p:cNvPr id="35" name="TextBox 34">
                <a:extLst>
                  <a:ext uri="{FF2B5EF4-FFF2-40B4-BE49-F238E27FC236}">
                    <a16:creationId xmlns:a16="http://schemas.microsoft.com/office/drawing/2014/main" id="{D49EA159-2A03-AE08-B85D-B8F2BC7BC080}"/>
                  </a:ext>
                </a:extLst>
              </p:cNvPr>
              <p:cNvSpPr txBox="1"/>
              <p:nvPr/>
            </p:nvSpPr>
            <p:spPr>
              <a:xfrm>
                <a:off x="7585878" y="5437321"/>
                <a:ext cx="301625" cy="307777"/>
              </a:xfrm>
              <a:prstGeom prst="rect">
                <a:avLst/>
              </a:prstGeom>
              <a:noFill/>
            </p:spPr>
            <p:txBody>
              <a:bodyPr wrap="square" rtlCol="0">
                <a:spAutoFit/>
              </a:bodyPr>
              <a:lstStyle/>
              <a:p>
                <a:r>
                  <a:rPr lang="en-US" sz="1400" i="1" dirty="0">
                    <a:latin typeface="Times" pitchFamily="2" charset="0"/>
                  </a:rPr>
                  <a:t>P</a:t>
                </a:r>
              </a:p>
            </p:txBody>
          </p:sp>
          <p:sp>
            <p:nvSpPr>
              <p:cNvPr id="36" name="Oval 35">
                <a:extLst>
                  <a:ext uri="{FF2B5EF4-FFF2-40B4-BE49-F238E27FC236}">
                    <a16:creationId xmlns:a16="http://schemas.microsoft.com/office/drawing/2014/main" id="{1CFD5B19-4469-E949-F1B2-6B8782322510}"/>
                  </a:ext>
                </a:extLst>
              </p:cNvPr>
              <p:cNvSpPr/>
              <p:nvPr/>
            </p:nvSpPr>
            <p:spPr>
              <a:xfrm>
                <a:off x="7602424" y="5556441"/>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Arc 36">
                <a:extLst>
                  <a:ext uri="{FF2B5EF4-FFF2-40B4-BE49-F238E27FC236}">
                    <a16:creationId xmlns:a16="http://schemas.microsoft.com/office/drawing/2014/main" id="{E5BEA9FB-6B48-4EE8-F287-395571F10D31}"/>
                  </a:ext>
                </a:extLst>
              </p:cNvPr>
              <p:cNvSpPr/>
              <p:nvPr/>
            </p:nvSpPr>
            <p:spPr>
              <a:xfrm rot="488443">
                <a:off x="6608408" y="4970813"/>
                <a:ext cx="1016767" cy="1300362"/>
              </a:xfrm>
              <a:prstGeom prst="arc">
                <a:avLst>
                  <a:gd name="adj1" fmla="val 17448689"/>
                  <a:gd name="adj2" fmla="val 20702140"/>
                </a:avLst>
              </a:prstGeom>
              <a:ln w="25400">
                <a:solidFill>
                  <a:srgbClr val="B91F1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208CD6B6-C3EA-59E9-1D65-0A6D5C59304D}"/>
                  </a:ext>
                </a:extLst>
              </p:cNvPr>
              <p:cNvCxnSpPr>
                <a:cxnSpLocks/>
                <a:stCxn id="36" idx="0"/>
              </p:cNvCxnSpPr>
              <p:nvPr/>
            </p:nvCxnSpPr>
            <p:spPr>
              <a:xfrm flipH="1" flipV="1">
                <a:off x="7626350" y="4911725"/>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A2CA02A-F46C-59B2-3A51-E1134C777082}"/>
                  </a:ext>
                </a:extLst>
              </p:cNvPr>
              <p:cNvSpPr txBox="1"/>
              <p:nvPr/>
            </p:nvSpPr>
            <p:spPr>
              <a:xfrm>
                <a:off x="7578725" y="4692650"/>
                <a:ext cx="514350" cy="369332"/>
              </a:xfrm>
              <a:prstGeom prst="rect">
                <a:avLst/>
              </a:prstGeom>
              <a:noFill/>
            </p:spPr>
            <p:txBody>
              <a:bodyPr wrap="square" rtlCol="0">
                <a:spAutoFit/>
              </a:bodyPr>
              <a:lstStyle/>
              <a:p>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dirty="0">
                  <a:solidFill>
                    <a:srgbClr val="3C32FF"/>
                  </a:solidFill>
                  <a:latin typeface="Times" pitchFamily="2" charset="0"/>
                </a:endParaRPr>
              </a:p>
            </p:txBody>
          </p:sp>
        </p:grpSp>
        <p:sp>
          <p:nvSpPr>
            <p:cNvPr id="3" name="Arc 2">
              <a:extLst>
                <a:ext uri="{FF2B5EF4-FFF2-40B4-BE49-F238E27FC236}">
                  <a16:creationId xmlns:a16="http://schemas.microsoft.com/office/drawing/2014/main" id="{6B7BF80C-0462-6724-2373-2E2E9344AFB4}"/>
                </a:ext>
              </a:extLst>
            </p:cNvPr>
            <p:cNvSpPr/>
            <p:nvPr/>
          </p:nvSpPr>
          <p:spPr>
            <a:xfrm rot="11988207">
              <a:off x="10480355" y="5433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10252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dissolve">
                                      <p:cBhvr>
                                        <p:cTn id="32" dur="500"/>
                                        <p:tgtEl>
                                          <p:spTgt spid="13"/>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dissolv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dissolve">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dissolve">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dissolve">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dissolve">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dissolve">
                                      <p:cBhvr>
                                        <p:cTn id="66" dur="500"/>
                                        <p:tgtEl>
                                          <p:spTgt spid="30"/>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dissolve">
                                      <p:cBhvr>
                                        <p:cTn id="71" dur="500"/>
                                        <p:tgtEl>
                                          <p:spTgt spid="60"/>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58"/>
                                        </p:tgtEl>
                                        <p:attrNameLst>
                                          <p:attrName>style.visibility</p:attrName>
                                        </p:attrNameLst>
                                      </p:cBhvr>
                                      <p:to>
                                        <p:strVal val="visible"/>
                                      </p:to>
                                    </p:set>
                                    <p:animEffect transition="in" filter="dissolve">
                                      <p:cBhvr>
                                        <p:cTn id="7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8" grpId="0"/>
      <p:bldP spid="11" grpId="0" animBg="1"/>
      <p:bldP spid="9" grpId="0"/>
      <p:bldP spid="4" grpId="0"/>
      <p:bldP spid="13" grpId="0"/>
      <p:bldP spid="15" grpId="0" animBg="1"/>
      <p:bldP spid="17" grpId="0"/>
      <p:bldP spid="23" grpId="0"/>
      <p:bldP spid="30" grpId="0"/>
      <p:bldP spid="5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0750-BA4B-E26E-F6DE-7712201DD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59F46-6A24-2525-C05F-DE0389401DB9}"/>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8.4</a:t>
            </a:r>
            <a:r>
              <a:rPr lang="en-US" dirty="0">
                <a:latin typeface="Times New Roman" panose="02020603050405020304" pitchFamily="18" charset="0"/>
                <a:ea typeface="Calibri" charset="0"/>
                <a:cs typeface="Times New Roman" panose="02020603050405020304" pitchFamily="18" charset="0"/>
              </a:rPr>
              <a:t> Angular Variables and Tangential Variables (2 of 6)</a:t>
            </a:r>
            <a:endParaRPr lang="en-US" sz="3000" dirty="0">
              <a:latin typeface="Times New Roman" panose="02020603050405020304" pitchFamily="18" charset="0"/>
              <a:cs typeface="Times New Roman" panose="02020603050405020304" pitchFamily="18" charset="0"/>
            </a:endParaRPr>
          </a:p>
        </p:txBody>
      </p:sp>
      <p:sp>
        <p:nvSpPr>
          <p:cNvPr id="26" name="Content Placeholder 1">
            <a:extLst>
              <a:ext uri="{FF2B5EF4-FFF2-40B4-BE49-F238E27FC236}">
                <a16:creationId xmlns:a16="http://schemas.microsoft.com/office/drawing/2014/main" id="{D3AC0FA6-3362-BE69-57F5-8B37F8707237}"/>
              </a:ext>
            </a:extLst>
          </p:cNvPr>
          <p:cNvSpPr txBox="1">
            <a:spLocks noGrp="1"/>
          </p:cNvSpPr>
          <p:nvPr>
            <p:ph type="body" idx="1"/>
          </p:nvPr>
        </p:nvSpPr>
        <p:spPr>
          <a:xfrm>
            <a:off x="179427" y="973525"/>
            <a:ext cx="581959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Thus, Equation 8.1 becomes the following:</a:t>
            </a:r>
          </a:p>
        </p:txBody>
      </p:sp>
      <p:graphicFrame>
        <p:nvGraphicFramePr>
          <p:cNvPr id="5" name="Object 4">
            <a:extLst>
              <a:ext uri="{FF2B5EF4-FFF2-40B4-BE49-F238E27FC236}">
                <a16:creationId xmlns:a16="http://schemas.microsoft.com/office/drawing/2014/main" id="{6C922CB4-2495-2AA3-369D-C2D4A1A47F5F}"/>
              </a:ext>
            </a:extLst>
          </p:cNvPr>
          <p:cNvGraphicFramePr>
            <a:graphicFrameLocks noChangeAspect="1"/>
          </p:cNvGraphicFramePr>
          <p:nvPr>
            <p:extLst>
              <p:ext uri="{D42A27DB-BD31-4B8C-83A1-F6EECF244321}">
                <p14:modId xmlns:p14="http://schemas.microsoft.com/office/powerpoint/2010/main" val="4085813778"/>
              </p:ext>
            </p:extLst>
          </p:nvPr>
        </p:nvGraphicFramePr>
        <p:xfrm>
          <a:off x="5811733" y="864815"/>
          <a:ext cx="1251423" cy="760669"/>
        </p:xfrm>
        <a:graphic>
          <a:graphicData uri="http://schemas.openxmlformats.org/presentationml/2006/ole">
            <mc:AlternateContent xmlns:mc="http://schemas.openxmlformats.org/markup-compatibility/2006">
              <mc:Choice xmlns:v="urn:schemas-microsoft-com:vml" Requires="v">
                <p:oleObj name="Equation" r:id="rId3" imgW="647640" imgH="393480" progId="Equation.DSMT4">
                  <p:embed/>
                </p:oleObj>
              </mc:Choice>
              <mc:Fallback>
                <p:oleObj name="Equation" r:id="rId3" imgW="647640" imgH="393480" progId="Equation.DSMT4">
                  <p:embed/>
                  <p:pic>
                    <p:nvPicPr>
                      <p:cNvPr id="0" name=""/>
                      <p:cNvPicPr/>
                      <p:nvPr/>
                    </p:nvPicPr>
                    <p:blipFill>
                      <a:blip r:embed="rId4"/>
                      <a:stretch>
                        <a:fillRect/>
                      </a:stretch>
                    </p:blipFill>
                    <p:spPr>
                      <a:xfrm>
                        <a:off x="5811733" y="864815"/>
                        <a:ext cx="1251423" cy="760669"/>
                      </a:xfrm>
                      <a:prstGeom prst="rect">
                        <a:avLst/>
                      </a:prstGeom>
                    </p:spPr>
                  </p:pic>
                </p:oleObj>
              </mc:Fallback>
            </mc:AlternateContent>
          </a:graphicData>
        </a:graphic>
      </p:graphicFrame>
      <p:sp>
        <p:nvSpPr>
          <p:cNvPr id="13" name="Content Placeholder 2">
            <a:extLst>
              <a:ext uri="{FF2B5EF4-FFF2-40B4-BE49-F238E27FC236}">
                <a16:creationId xmlns:a16="http://schemas.microsoft.com/office/drawing/2014/main" id="{6533352B-50B2-0157-C4CD-D3DB825436D4}"/>
              </a:ext>
            </a:extLst>
          </p:cNvPr>
          <p:cNvSpPr txBox="1">
            <a:spLocks noGrp="1"/>
          </p:cNvSpPr>
          <p:nvPr>
            <p:ph type="body" idx="2"/>
          </p:nvPr>
        </p:nvSpPr>
        <p:spPr>
          <a:xfrm>
            <a:off x="7395666" y="1017068"/>
            <a:ext cx="79237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p>
        </p:txBody>
      </p:sp>
      <p:sp>
        <p:nvSpPr>
          <p:cNvPr id="15" name="Rounded Rectangle 14">
            <a:extLst>
              <a:ext uri="{FF2B5EF4-FFF2-40B4-BE49-F238E27FC236}">
                <a16:creationId xmlns:a16="http://schemas.microsoft.com/office/drawing/2014/main" id="{43BB16E5-5AB4-8D81-3673-C019B2AD1DE6}"/>
              </a:ext>
              <a:ext uri="{C183D7F6-B498-43B3-948B-1728B52AA6E4}">
                <adec:decorative xmlns:adec="http://schemas.microsoft.com/office/drawing/2017/decorative" val="1"/>
              </a:ext>
            </a:extLst>
          </p:cNvPr>
          <p:cNvSpPr/>
          <p:nvPr/>
        </p:nvSpPr>
        <p:spPr>
          <a:xfrm>
            <a:off x="7946569" y="998708"/>
            <a:ext cx="1017321" cy="4789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4C0843B9-7BAF-2CC2-CDFB-66427D96354E}"/>
              </a:ext>
            </a:extLst>
          </p:cNvPr>
          <p:cNvSpPr txBox="1">
            <a:spLocks noGrp="1"/>
          </p:cNvSpPr>
          <p:nvPr>
            <p:ph type="body" idx="3"/>
          </p:nvPr>
        </p:nvSpPr>
        <p:spPr>
          <a:xfrm>
            <a:off x="7902923" y="954271"/>
            <a:ext cx="138613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t>
            </a:r>
            <a:r>
              <a:rPr lang="en-US" sz="2400" i="1" dirty="0" err="1">
                <a:latin typeface="Times New Roman" panose="02020603050405020304" pitchFamily="18" charset="0"/>
                <a:cs typeface="Times New Roman" panose="02020603050405020304" pitchFamily="18" charset="0"/>
              </a:rPr>
              <a:t>rω</a:t>
            </a:r>
            <a:endParaRPr lang="en-US" sz="2400" i="1" dirty="0">
              <a:latin typeface="Times New Roman" panose="02020603050405020304" pitchFamily="18" charset="0"/>
              <a:cs typeface="Times New Roman" panose="02020603050405020304" pitchFamily="18" charset="0"/>
            </a:endParaRPr>
          </a:p>
        </p:txBody>
      </p:sp>
      <p:sp>
        <p:nvSpPr>
          <p:cNvPr id="6" name="Content Placeholder 4">
            <a:extLst>
              <a:ext uri="{FF2B5EF4-FFF2-40B4-BE49-F238E27FC236}">
                <a16:creationId xmlns:a16="http://schemas.microsoft.com/office/drawing/2014/main" id="{8FCF3A51-8F75-1985-E2D2-5EA37765F8D2}"/>
              </a:ext>
            </a:extLst>
          </p:cNvPr>
          <p:cNvSpPr txBox="1">
            <a:spLocks noGrp="1"/>
          </p:cNvSpPr>
          <p:nvPr>
            <p:ph type="body" idx="4"/>
          </p:nvPr>
        </p:nvSpPr>
        <p:spPr>
          <a:xfrm>
            <a:off x="9448118" y="1015088"/>
            <a:ext cx="274388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8.9</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in rad/s)</a:t>
            </a:r>
          </a:p>
        </p:txBody>
      </p:sp>
      <p:sp>
        <p:nvSpPr>
          <p:cNvPr id="10" name="Content Placeholder 5">
            <a:extLst>
              <a:ext uri="{FF2B5EF4-FFF2-40B4-BE49-F238E27FC236}">
                <a16:creationId xmlns:a16="http://schemas.microsoft.com/office/drawing/2014/main" id="{3D20D27A-464E-8777-8B31-A8D17D0FFA26}"/>
              </a:ext>
            </a:extLst>
          </p:cNvPr>
          <p:cNvSpPr txBox="1">
            <a:spLocks noGrp="1"/>
          </p:cNvSpPr>
          <p:nvPr>
            <p:ph type="body" idx="5"/>
          </p:nvPr>
        </p:nvSpPr>
        <p:spPr>
          <a:xfrm>
            <a:off x="179219" y="1749794"/>
            <a:ext cx="11638501"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Equation 8.9 is the relationship between linear (tangential) speed and angular speed.</a:t>
            </a:r>
          </a:p>
        </p:txBody>
      </p:sp>
      <p:sp>
        <p:nvSpPr>
          <p:cNvPr id="16" name="Content Placeholder 6">
            <a:extLst>
              <a:ext uri="{FF2B5EF4-FFF2-40B4-BE49-F238E27FC236}">
                <a16:creationId xmlns:a16="http://schemas.microsoft.com/office/drawing/2014/main" id="{719DCECC-E67F-64A2-0E39-6BDC4EC6E87A}"/>
              </a:ext>
            </a:extLst>
          </p:cNvPr>
          <p:cNvSpPr txBox="1">
            <a:spLocks noGrp="1"/>
          </p:cNvSpPr>
          <p:nvPr>
            <p:ph type="body" idx="6"/>
          </p:nvPr>
        </p:nvSpPr>
        <p:spPr>
          <a:xfrm>
            <a:off x="151923" y="2549636"/>
            <a:ext cx="459152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Notice that the tangential speed is</a:t>
            </a:r>
          </a:p>
        </p:txBody>
      </p:sp>
      <p:sp>
        <p:nvSpPr>
          <p:cNvPr id="20" name="Rounded Rectangle 19">
            <a:extLst>
              <a:ext uri="{FF2B5EF4-FFF2-40B4-BE49-F238E27FC236}">
                <a16:creationId xmlns:a16="http://schemas.microsoft.com/office/drawing/2014/main" id="{2ED943D0-B697-4558-2E02-5C5FFD674B9E}"/>
              </a:ext>
              <a:ext uri="{C183D7F6-B498-43B3-948B-1728B52AA6E4}">
                <adec:decorative xmlns:adec="http://schemas.microsoft.com/office/drawing/2017/decorative" val="1"/>
              </a:ext>
            </a:extLst>
          </p:cNvPr>
          <p:cNvSpPr/>
          <p:nvPr/>
        </p:nvSpPr>
        <p:spPr>
          <a:xfrm>
            <a:off x="4405952" y="2541173"/>
            <a:ext cx="3241964" cy="4294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7">
            <a:extLst>
              <a:ext uri="{FF2B5EF4-FFF2-40B4-BE49-F238E27FC236}">
                <a16:creationId xmlns:a16="http://schemas.microsoft.com/office/drawing/2014/main" id="{82B59FC0-B63A-FF1D-89C3-6D62C0619966}"/>
              </a:ext>
            </a:extLst>
          </p:cNvPr>
          <p:cNvSpPr txBox="1">
            <a:spLocks noGrp="1"/>
          </p:cNvSpPr>
          <p:nvPr>
            <p:ph type="body" idx="7"/>
          </p:nvPr>
        </p:nvSpPr>
        <p:spPr>
          <a:xfrm>
            <a:off x="4437673" y="2555988"/>
            <a:ext cx="3450465"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directly proportional</a:t>
            </a:r>
          </a:p>
        </p:txBody>
      </p:sp>
      <p:sp>
        <p:nvSpPr>
          <p:cNvPr id="8" name="Content Placeholder 8">
            <a:extLst>
              <a:ext uri="{FF2B5EF4-FFF2-40B4-BE49-F238E27FC236}">
                <a16:creationId xmlns:a16="http://schemas.microsoft.com/office/drawing/2014/main" id="{8402AB70-A672-4142-E9C0-59080642918D}"/>
              </a:ext>
            </a:extLst>
          </p:cNvPr>
          <p:cNvSpPr txBox="1">
            <a:spLocks noGrp="1"/>
          </p:cNvSpPr>
          <p:nvPr>
            <p:ph type="body" idx="8"/>
          </p:nvPr>
        </p:nvSpPr>
        <p:spPr>
          <a:xfrm>
            <a:off x="7651842" y="2503157"/>
            <a:ext cx="3823181"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to the radius of the circular </a:t>
            </a:r>
            <a:endParaRPr lang="en-US" dirty="0">
              <a:latin typeface="Times New Roman" panose="02020603050405020304" pitchFamily="18" charset="0"/>
              <a:cs typeface="Times New Roman" panose="02020603050405020304" pitchFamily="18" charset="0"/>
            </a:endParaRPr>
          </a:p>
        </p:txBody>
      </p:sp>
      <p:sp>
        <p:nvSpPr>
          <p:cNvPr id="11" name="Content Placeholder 9">
            <a:extLst>
              <a:ext uri="{FF2B5EF4-FFF2-40B4-BE49-F238E27FC236}">
                <a16:creationId xmlns:a16="http://schemas.microsoft.com/office/drawing/2014/main" id="{E6520D61-99DF-B858-D5DF-2885AD725695}"/>
              </a:ext>
            </a:extLst>
          </p:cNvPr>
          <p:cNvSpPr txBox="1">
            <a:spLocks noGrp="1"/>
          </p:cNvSpPr>
          <p:nvPr>
            <p:ph type="body" idx="9"/>
          </p:nvPr>
        </p:nvSpPr>
        <p:spPr>
          <a:xfrm>
            <a:off x="179219" y="2921886"/>
            <a:ext cx="11022974"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motion, i.e. how far the point is located from the axis of rotation.</a:t>
            </a:r>
            <a:endParaRPr lang="en-US" dirty="0">
              <a:latin typeface="Times New Roman" panose="02020603050405020304" pitchFamily="18" charset="0"/>
              <a:cs typeface="Times New Roman" panose="02020603050405020304" pitchFamily="18" charset="0"/>
            </a:endParaRPr>
          </a:p>
        </p:txBody>
      </p:sp>
      <p:sp>
        <p:nvSpPr>
          <p:cNvPr id="63" name="Rectangle 62">
            <a:extLst>
              <a:ext uri="{FF2B5EF4-FFF2-40B4-BE49-F238E27FC236}">
                <a16:creationId xmlns:a16="http://schemas.microsoft.com/office/drawing/2014/main" id="{1695BE1F-6F34-0F42-48EF-2EAB0C85E7D1}"/>
              </a:ext>
              <a:ext uri="{C183D7F6-B498-43B3-948B-1728B52AA6E4}">
                <adec:decorative xmlns:adec="http://schemas.microsoft.com/office/drawing/2017/decorative" val="1"/>
              </a:ext>
            </a:extLst>
          </p:cNvPr>
          <p:cNvSpPr/>
          <p:nvPr/>
        </p:nvSpPr>
        <p:spPr>
          <a:xfrm>
            <a:off x="166996" y="3492310"/>
            <a:ext cx="11912600"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Content Placeholder 10">
            <a:extLst>
              <a:ext uri="{FF2B5EF4-FFF2-40B4-BE49-F238E27FC236}">
                <a16:creationId xmlns:a16="http://schemas.microsoft.com/office/drawing/2014/main" id="{10D870E1-15A2-39D3-69B4-89C745B801E0}"/>
              </a:ext>
            </a:extLst>
          </p:cNvPr>
          <p:cNvSpPr txBox="1">
            <a:spLocks noGrp="1"/>
          </p:cNvSpPr>
          <p:nvPr>
            <p:ph type="body" idx="10"/>
          </p:nvPr>
        </p:nvSpPr>
        <p:spPr>
          <a:xfrm>
            <a:off x="179768" y="3487732"/>
            <a:ext cx="11638501" cy="830997"/>
          </a:xfrm>
          <a:prstGeom prst="rect">
            <a:avLst/>
          </a:prstGeom>
          <a:noFill/>
        </p:spPr>
        <p:txBody>
          <a:bodyPr wrap="square">
            <a:noAutofit/>
          </a:bodyPr>
          <a:lstStyle>
            <a:lvl1pPr algn="l">
              <a:lnSpc>
                <a:spcPct val="100000"/>
              </a:lnSpc>
              <a:spcBef>
                <a:spcPts val="0"/>
              </a:spcBef>
            </a:lvl1pPr>
          </a:lstStyle>
          <a:p>
            <a:pPr marL="50800" indent="-5080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As the object rotates, like our disc, for example, </a:t>
            </a:r>
            <a:r>
              <a:rPr lang="en-US" sz="2400" b="1" dirty="0">
                <a:solidFill>
                  <a:srgbClr val="007440"/>
                </a:solidFill>
                <a:latin typeface="Times New Roman" panose="02020603050405020304" pitchFamily="18" charset="0"/>
                <a:cs typeface="Times New Roman" panose="02020603050405020304" pitchFamily="18" charset="0"/>
              </a:rPr>
              <a:t>every point on the disc has the same </a:t>
            </a:r>
            <a:r>
              <a:rPr lang="en-US" sz="2400" b="1" i="1" dirty="0">
                <a:solidFill>
                  <a:srgbClr val="007440"/>
                </a:solidFill>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i.e. each point sweeps out the same angle in the same time.</a:t>
            </a:r>
          </a:p>
        </p:txBody>
      </p:sp>
      <p:sp>
        <p:nvSpPr>
          <p:cNvPr id="61" name="Content Placeholder 11">
            <a:extLst>
              <a:ext uri="{FF2B5EF4-FFF2-40B4-BE49-F238E27FC236}">
                <a16:creationId xmlns:a16="http://schemas.microsoft.com/office/drawing/2014/main" id="{BE4DAB6A-23AF-059C-6DDD-A27D643D59A8}"/>
              </a:ext>
            </a:extLst>
          </p:cNvPr>
          <p:cNvSpPr txBox="1">
            <a:spLocks noGrp="1"/>
          </p:cNvSpPr>
          <p:nvPr>
            <p:ph type="body" idx="11"/>
          </p:nvPr>
        </p:nvSpPr>
        <p:spPr>
          <a:xfrm>
            <a:off x="7147850" y="3842455"/>
            <a:ext cx="2896284"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But </a:t>
            </a:r>
            <a:r>
              <a:rPr lang="en-US" sz="2400" i="1"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varies with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a:t>
            </a:r>
          </a:p>
        </p:txBody>
      </p:sp>
      <p:sp>
        <p:nvSpPr>
          <p:cNvPr id="96" name="Content Placeholder 13">
            <a:extLst>
              <a:ext uri="{FF2B5EF4-FFF2-40B4-BE49-F238E27FC236}">
                <a16:creationId xmlns:a16="http://schemas.microsoft.com/office/drawing/2014/main" id="{B3A97F70-ACFD-F93B-13B3-61E0C9C6BA1E}"/>
              </a:ext>
            </a:extLst>
          </p:cNvPr>
          <p:cNvSpPr txBox="1">
            <a:spLocks noGrp="1"/>
          </p:cNvSpPr>
          <p:nvPr>
            <p:ph type="body" idx="13"/>
          </p:nvPr>
        </p:nvSpPr>
        <p:spPr>
          <a:xfrm>
            <a:off x="2225766" y="4983460"/>
            <a:ext cx="7831702"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Points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all have the same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but their tangential speeds are different, because their </a:t>
            </a:r>
            <a:r>
              <a:rPr lang="en-US" sz="2400" i="1" dirty="0" err="1">
                <a:latin typeface="Times New Roman" panose="02020603050405020304" pitchFamily="18" charset="0"/>
                <a:cs typeface="Times New Roman" panose="02020603050405020304" pitchFamily="18" charset="0"/>
              </a:rPr>
              <a:t>r</a:t>
            </a:r>
            <a:r>
              <a:rPr lang="en-US" sz="2400" dirty="0" err="1">
                <a:latin typeface="Times New Roman" panose="02020603050405020304" pitchFamily="18" charset="0"/>
                <a:cs typeface="Times New Roman" panose="02020603050405020304" pitchFamily="18" charset="0"/>
              </a:rPr>
              <a:t>-values</a:t>
            </a:r>
            <a:r>
              <a:rPr lang="en-US" sz="2400" dirty="0">
                <a:latin typeface="Times New Roman" panose="02020603050405020304" pitchFamily="18" charset="0"/>
                <a:cs typeface="Times New Roman" panose="02020603050405020304" pitchFamily="18" charset="0"/>
              </a:rPr>
              <a:t> are different:</a:t>
            </a:r>
          </a:p>
        </p:txBody>
      </p:sp>
      <p:sp>
        <p:nvSpPr>
          <p:cNvPr id="107" name="Rounded Rectangle 106">
            <a:extLst>
              <a:ext uri="{FF2B5EF4-FFF2-40B4-BE49-F238E27FC236}">
                <a16:creationId xmlns:a16="http://schemas.microsoft.com/office/drawing/2014/main" id="{9253DDC6-70AE-E6D6-9933-98E689DEC009}"/>
              </a:ext>
              <a:ext uri="{C183D7F6-B498-43B3-948B-1728B52AA6E4}">
                <adec:decorative xmlns:adec="http://schemas.microsoft.com/office/drawing/2017/decorative" val="1"/>
              </a:ext>
            </a:extLst>
          </p:cNvPr>
          <p:cNvSpPr/>
          <p:nvPr/>
        </p:nvSpPr>
        <p:spPr>
          <a:xfrm>
            <a:off x="9954227" y="4602920"/>
            <a:ext cx="1493134" cy="1597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14">
            <a:extLst>
              <a:ext uri="{FF2B5EF4-FFF2-40B4-BE49-F238E27FC236}">
                <a16:creationId xmlns:a16="http://schemas.microsoft.com/office/drawing/2014/main" id="{8AC224F8-563A-8D5F-2D1E-3E53E8530A2F}"/>
              </a:ext>
            </a:extLst>
          </p:cNvPr>
          <p:cNvSpPr txBox="1">
            <a:spLocks noGrp="1"/>
          </p:cNvSpPr>
          <p:nvPr>
            <p:ph type="body" idx="14"/>
          </p:nvPr>
        </p:nvSpPr>
        <p:spPr>
          <a:xfrm>
            <a:off x="10003215" y="4533487"/>
            <a:ext cx="1418590" cy="1569660"/>
          </a:xfrm>
          <a:prstGeom prst="rect">
            <a:avLst/>
          </a:prstGeom>
          <a:noFill/>
        </p:spPr>
        <p:txBody>
          <a:bodyPr wrap="square">
            <a:noAutofit/>
          </a:bodyPr>
          <a:lstStyle>
            <a:lvl1pPr algn="l">
              <a:lnSpc>
                <a:spcPct val="100000"/>
              </a:lnSpc>
              <a:spcBef>
                <a:spcPts val="0"/>
              </a:spcBef>
            </a:lvl1pPr>
          </a:lstStyle>
          <a:p>
            <a:pPr algn="l">
              <a:lnSpc>
                <a:spcPct val="150000"/>
              </a:lnSpc>
              <a:spcBef>
                <a:spcPts val="0"/>
              </a:spcBef>
              <a:spcAft>
                <a:spcPts val="0"/>
              </a:spcAft>
              <a:buNone/>
            </a:pPr>
            <a:r>
              <a:rPr lang="en-US" sz="2400" i="1" dirty="0" err="1">
                <a:solidFill>
                  <a:srgbClr val="3C33FF"/>
                </a:solidFill>
                <a:latin typeface="Times New Roman" panose="02020603050405020304" pitchFamily="18" charset="0"/>
                <a:cs typeface="Times New Roman" panose="02020603050405020304" pitchFamily="18" charset="0"/>
              </a:rPr>
              <a:t>v</a:t>
            </a:r>
            <a:r>
              <a:rPr lang="en-US" sz="2400" baseline="-25000" dirty="0" err="1">
                <a:solidFill>
                  <a:srgbClr val="3C33FF"/>
                </a:solidFill>
                <a:latin typeface="Times New Roman" panose="02020603050405020304" pitchFamily="18" charset="0"/>
                <a:cs typeface="Times New Roman" panose="02020603050405020304" pitchFamily="18" charset="0"/>
              </a:rPr>
              <a:t>T</a:t>
            </a:r>
            <a:r>
              <a:rPr lang="en-US" sz="2400" i="1" baseline="-50000" dirty="0" err="1">
                <a:solidFill>
                  <a:srgbClr val="3C33FF"/>
                </a:solidFill>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 </a:t>
            </a:r>
            <a:r>
              <a:rPr lang="en-US" sz="2400" i="1" dirty="0" err="1">
                <a:solidFill>
                  <a:srgbClr val="3C33FF"/>
                </a:solidFill>
                <a:latin typeface="Times New Roman" panose="02020603050405020304" pitchFamily="18" charset="0"/>
                <a:cs typeface="Times New Roman" panose="02020603050405020304" pitchFamily="18" charset="0"/>
              </a:rPr>
              <a:t>r</a:t>
            </a:r>
            <a:r>
              <a:rPr lang="en-US" sz="2400" i="1" baseline="-25000" dirty="0" err="1">
                <a:solidFill>
                  <a:srgbClr val="3C33FF"/>
                </a:solidFill>
                <a:latin typeface="Times New Roman" panose="02020603050405020304" pitchFamily="18" charset="0"/>
                <a:cs typeface="Times New Roman" panose="02020603050405020304" pitchFamily="18" charset="0"/>
              </a:rPr>
              <a:t>A</a:t>
            </a:r>
            <a:r>
              <a:rPr lang="el-GR" sz="2400" i="1" dirty="0">
                <a:latin typeface="Times New Roman" panose="02020603050405020304" pitchFamily="18" charset="0"/>
                <a:cs typeface="Times New Roman" panose="02020603050405020304" pitchFamily="18" charset="0"/>
              </a:rPr>
              <a:t>ω</a:t>
            </a:r>
            <a:endParaRPr lang="en-US" sz="2400" i="1" dirty="0">
              <a:latin typeface="Times New Roman" panose="02020603050405020304" pitchFamily="18" charset="0"/>
              <a:cs typeface="Times New Roman" panose="02020603050405020304" pitchFamily="18" charset="0"/>
            </a:endParaRPr>
          </a:p>
          <a:p>
            <a:pPr algn="l">
              <a:lnSpc>
                <a:spcPct val="150000"/>
              </a:lnSpc>
              <a:spcBef>
                <a:spcPts val="0"/>
              </a:spcBef>
              <a:spcAft>
                <a:spcPts val="0"/>
              </a:spcAft>
              <a:buNone/>
            </a:pPr>
            <a:r>
              <a:rPr lang="en-US" sz="2400" i="1" dirty="0" err="1">
                <a:solidFill>
                  <a:srgbClr val="007440"/>
                </a:solidFill>
                <a:latin typeface="Times New Roman" panose="02020603050405020304" pitchFamily="18" charset="0"/>
                <a:cs typeface="Times New Roman" panose="02020603050405020304" pitchFamily="18" charset="0"/>
              </a:rPr>
              <a:t>v</a:t>
            </a:r>
            <a:r>
              <a:rPr lang="en-US" sz="2400" baseline="-25000" dirty="0" err="1">
                <a:solidFill>
                  <a:srgbClr val="007440"/>
                </a:solidFill>
                <a:latin typeface="Times New Roman" panose="02020603050405020304" pitchFamily="18" charset="0"/>
                <a:cs typeface="Times New Roman" panose="02020603050405020304" pitchFamily="18" charset="0"/>
              </a:rPr>
              <a:t>T</a:t>
            </a:r>
            <a:r>
              <a:rPr lang="en-US" sz="2400" i="1" baseline="-50000" dirty="0" err="1">
                <a:solidFill>
                  <a:srgbClr val="007440"/>
                </a:solidFill>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 </a:t>
            </a:r>
            <a:r>
              <a:rPr lang="en-US" sz="2400" i="1" dirty="0" err="1">
                <a:solidFill>
                  <a:srgbClr val="007440"/>
                </a:solidFill>
                <a:latin typeface="Times New Roman" panose="02020603050405020304" pitchFamily="18" charset="0"/>
                <a:cs typeface="Times New Roman" panose="02020603050405020304" pitchFamily="18" charset="0"/>
              </a:rPr>
              <a:t>r</a:t>
            </a:r>
            <a:r>
              <a:rPr lang="en-US" sz="2400" i="1" baseline="-25000" dirty="0" err="1">
                <a:solidFill>
                  <a:srgbClr val="007440"/>
                </a:solidFill>
                <a:latin typeface="Times New Roman" panose="02020603050405020304" pitchFamily="18" charset="0"/>
                <a:cs typeface="Times New Roman" panose="02020603050405020304" pitchFamily="18" charset="0"/>
              </a:rPr>
              <a:t>B</a:t>
            </a:r>
            <a:r>
              <a:rPr lang="el-GR" sz="2400" i="1" dirty="0">
                <a:latin typeface="Times New Roman" panose="02020603050405020304" pitchFamily="18" charset="0"/>
                <a:cs typeface="Times New Roman" panose="02020603050405020304" pitchFamily="18" charset="0"/>
              </a:rPr>
              <a:t>ω</a:t>
            </a:r>
            <a:endParaRPr lang="en-US" sz="2400" i="1" dirty="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buNone/>
            </a:pPr>
            <a:r>
              <a:rPr lang="en-US" sz="2400" i="1" dirty="0" err="1">
                <a:solidFill>
                  <a:srgbClr val="FF0000"/>
                </a:solidFill>
                <a:latin typeface="Times New Roman" panose="02020603050405020304" pitchFamily="18" charset="0"/>
                <a:cs typeface="Times New Roman" panose="02020603050405020304" pitchFamily="18" charset="0"/>
              </a:rPr>
              <a:t>v</a:t>
            </a:r>
            <a:r>
              <a:rPr lang="en-US" sz="2400" baseline="-25000" dirty="0" err="1">
                <a:solidFill>
                  <a:srgbClr val="FF0000"/>
                </a:solidFill>
                <a:latin typeface="Times New Roman" panose="02020603050405020304" pitchFamily="18" charset="0"/>
                <a:cs typeface="Times New Roman" panose="02020603050405020304" pitchFamily="18" charset="0"/>
              </a:rPr>
              <a:t>T</a:t>
            </a:r>
            <a:r>
              <a:rPr lang="en-US" sz="2400" i="1" baseline="-50000" dirty="0" err="1">
                <a:solidFill>
                  <a:srgbClr val="FF0000"/>
                </a:solidFill>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 </a:t>
            </a:r>
            <a:r>
              <a:rPr lang="en-US" sz="2400" i="1" dirty="0" err="1">
                <a:solidFill>
                  <a:srgbClr val="FF0000"/>
                </a:solidFill>
                <a:latin typeface="Times New Roman" panose="02020603050405020304" pitchFamily="18" charset="0"/>
                <a:cs typeface="Times New Roman" panose="02020603050405020304" pitchFamily="18" charset="0"/>
              </a:rPr>
              <a:t>r</a:t>
            </a:r>
            <a:r>
              <a:rPr lang="en-US" sz="2400" i="1" baseline="-25000" dirty="0" err="1">
                <a:solidFill>
                  <a:srgbClr val="FF0000"/>
                </a:solidFill>
                <a:latin typeface="Times New Roman" panose="02020603050405020304" pitchFamily="18" charset="0"/>
                <a:cs typeface="Times New Roman" panose="02020603050405020304" pitchFamily="18" charset="0"/>
              </a:rPr>
              <a:t>C</a:t>
            </a:r>
            <a:r>
              <a:rPr lang="el-GR" sz="2400" i="1" dirty="0">
                <a:latin typeface="Times New Roman" panose="02020603050405020304" pitchFamily="18" charset="0"/>
                <a:cs typeface="Times New Roman" panose="02020603050405020304" pitchFamily="18" charset="0"/>
              </a:rPr>
              <a:t>ω</a:t>
            </a:r>
            <a:endParaRPr lang="en-US" sz="2400" i="1" dirty="0">
              <a:latin typeface="Times New Roman" panose="02020603050405020304" pitchFamily="18" charset="0"/>
              <a:cs typeface="Times New Roman" panose="02020603050405020304" pitchFamily="18" charset="0"/>
            </a:endParaRPr>
          </a:p>
        </p:txBody>
      </p:sp>
      <p:grpSp>
        <p:nvGrpSpPr>
          <p:cNvPr id="95" name="Group 94">
            <a:extLst>
              <a:ext uri="{FF2B5EF4-FFF2-40B4-BE49-F238E27FC236}">
                <a16:creationId xmlns:a16="http://schemas.microsoft.com/office/drawing/2014/main" id="{393D4CDC-AB71-EDEE-8C6F-33F13F91B230}"/>
              </a:ext>
            </a:extLst>
          </p:cNvPr>
          <p:cNvGrpSpPr/>
          <p:nvPr/>
        </p:nvGrpSpPr>
        <p:grpSpPr>
          <a:xfrm>
            <a:off x="201617" y="4486444"/>
            <a:ext cx="2116694" cy="1651338"/>
            <a:chOff x="194742" y="4546888"/>
            <a:chExt cx="2116694" cy="1651338"/>
          </a:xfrm>
        </p:grpSpPr>
        <p:sp>
          <p:nvSpPr>
            <p:cNvPr id="32" name="Oval 31">
              <a:extLst>
                <a:ext uri="{FF2B5EF4-FFF2-40B4-BE49-F238E27FC236}">
                  <a16:creationId xmlns:a16="http://schemas.microsoft.com/office/drawing/2014/main" id="{D6108D96-5406-3B8E-5A42-8A1A3A089DFB}"/>
                </a:ext>
              </a:extLst>
            </p:cNvPr>
            <p:cNvSpPr/>
            <p:nvPr/>
          </p:nvSpPr>
          <p:spPr>
            <a:xfrm>
              <a:off x="194742" y="4738136"/>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72EE17B-777E-4832-B9DE-246DED8CA7F5}"/>
                </a:ext>
              </a:extLst>
            </p:cNvPr>
            <p:cNvSpPr txBox="1"/>
            <p:nvPr/>
          </p:nvSpPr>
          <p:spPr>
            <a:xfrm>
              <a:off x="1176770" y="5378738"/>
              <a:ext cx="484152" cy="307777"/>
            </a:xfrm>
            <a:prstGeom prst="rect">
              <a:avLst/>
            </a:prstGeom>
            <a:noFill/>
          </p:spPr>
          <p:txBody>
            <a:bodyPr wrap="square" rtlCol="0">
              <a:spAutoFit/>
            </a:bodyPr>
            <a:lstStyle/>
            <a:p>
              <a:r>
                <a:rPr lang="en-US" sz="1400" i="1" dirty="0" err="1">
                  <a:solidFill>
                    <a:srgbClr val="3C32FF"/>
                  </a:solidFill>
                  <a:latin typeface="Times" pitchFamily="2" charset="0"/>
                </a:rPr>
                <a:t>r</a:t>
              </a:r>
              <a:r>
                <a:rPr lang="en-US" sz="1400" i="1" baseline="-25000" dirty="0" err="1">
                  <a:solidFill>
                    <a:srgbClr val="3C32FF"/>
                  </a:solidFill>
                  <a:latin typeface="Times" pitchFamily="2" charset="0"/>
                </a:rPr>
                <a:t>A</a:t>
              </a:r>
              <a:endParaRPr lang="en-US" sz="1400" i="1" dirty="0">
                <a:solidFill>
                  <a:srgbClr val="3C32FF"/>
                </a:solidFill>
                <a:latin typeface="Times" pitchFamily="2" charset="0"/>
              </a:endParaRPr>
            </a:p>
          </p:txBody>
        </p:sp>
        <p:sp>
          <p:nvSpPr>
            <p:cNvPr id="42" name="TextBox 41">
              <a:extLst>
                <a:ext uri="{FF2B5EF4-FFF2-40B4-BE49-F238E27FC236}">
                  <a16:creationId xmlns:a16="http://schemas.microsoft.com/office/drawing/2014/main" id="{26CE51B7-E3A1-8241-93D8-8F836ED6BFC2}"/>
                </a:ext>
              </a:extLst>
            </p:cNvPr>
            <p:cNvSpPr txBox="1"/>
            <p:nvPr/>
          </p:nvSpPr>
          <p:spPr>
            <a:xfrm>
              <a:off x="1612548" y="5326484"/>
              <a:ext cx="301625" cy="307777"/>
            </a:xfrm>
            <a:prstGeom prst="rect">
              <a:avLst/>
            </a:prstGeom>
            <a:noFill/>
          </p:spPr>
          <p:txBody>
            <a:bodyPr wrap="square" rtlCol="0">
              <a:spAutoFit/>
            </a:bodyPr>
            <a:lstStyle/>
            <a:p>
              <a:r>
                <a:rPr lang="en-US" sz="1400" i="1" dirty="0">
                  <a:latin typeface="Times" pitchFamily="2" charset="0"/>
                </a:rPr>
                <a:t>A</a:t>
              </a:r>
            </a:p>
          </p:txBody>
        </p:sp>
        <p:sp>
          <p:nvSpPr>
            <p:cNvPr id="51" name="Oval 50">
              <a:extLst>
                <a:ext uri="{FF2B5EF4-FFF2-40B4-BE49-F238E27FC236}">
                  <a16:creationId xmlns:a16="http://schemas.microsoft.com/office/drawing/2014/main" id="{5F064650-E0E6-C3C2-CEC1-49D264B93C27}"/>
                </a:ext>
              </a:extLst>
            </p:cNvPr>
            <p:cNvSpPr/>
            <p:nvPr/>
          </p:nvSpPr>
          <p:spPr>
            <a:xfrm>
              <a:off x="1629094" y="54456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Straight Arrow Connector 53">
              <a:extLst>
                <a:ext uri="{FF2B5EF4-FFF2-40B4-BE49-F238E27FC236}">
                  <a16:creationId xmlns:a16="http://schemas.microsoft.com/office/drawing/2014/main" id="{7AD0E4E6-C60C-0F55-9918-54B0271D2A6B}"/>
                </a:ext>
              </a:extLst>
            </p:cNvPr>
            <p:cNvCxnSpPr>
              <a:stCxn id="51" idx="0"/>
            </p:cNvCxnSpPr>
            <p:nvPr/>
          </p:nvCxnSpPr>
          <p:spPr>
            <a:xfrm flipH="1" flipV="1">
              <a:off x="1653020" y="4800888"/>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62" name="Arc 61">
              <a:extLst>
                <a:ext uri="{FF2B5EF4-FFF2-40B4-BE49-F238E27FC236}">
                  <a16:creationId xmlns:a16="http://schemas.microsoft.com/office/drawing/2014/main" id="{B3B38E2A-8479-9FEE-2A33-D6F91FC14B61}"/>
                </a:ext>
              </a:extLst>
            </p:cNvPr>
            <p:cNvSpPr/>
            <p:nvPr/>
          </p:nvSpPr>
          <p:spPr>
            <a:xfrm rot="11664800">
              <a:off x="396555" y="5306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6" name="Group 65">
              <a:extLst>
                <a:ext uri="{FF2B5EF4-FFF2-40B4-BE49-F238E27FC236}">
                  <a16:creationId xmlns:a16="http://schemas.microsoft.com/office/drawing/2014/main" id="{C0178EDA-88DC-81FF-5A87-7876EF95D6AD}"/>
                </a:ext>
              </a:extLst>
            </p:cNvPr>
            <p:cNvGrpSpPr/>
            <p:nvPr/>
          </p:nvGrpSpPr>
          <p:grpSpPr>
            <a:xfrm>
              <a:off x="1605395" y="4581813"/>
              <a:ext cx="706041" cy="462916"/>
              <a:chOff x="1605395" y="4581813"/>
              <a:chExt cx="706041" cy="462916"/>
            </a:xfrm>
          </p:grpSpPr>
          <p:sp>
            <p:nvSpPr>
              <p:cNvPr id="59" name="TextBox 58">
                <a:extLst>
                  <a:ext uri="{FF2B5EF4-FFF2-40B4-BE49-F238E27FC236}">
                    <a16:creationId xmlns:a16="http://schemas.microsoft.com/office/drawing/2014/main" id="{7EBEA8CC-59DC-2BC2-D841-A66925E60540}"/>
                  </a:ext>
                </a:extLst>
              </p:cNvPr>
              <p:cNvSpPr txBox="1"/>
              <p:nvPr/>
            </p:nvSpPr>
            <p:spPr>
              <a:xfrm>
                <a:off x="1605395" y="4581813"/>
                <a:ext cx="514350" cy="369332"/>
              </a:xfrm>
              <a:prstGeom prst="rect">
                <a:avLst/>
              </a:prstGeom>
              <a:noFill/>
            </p:spPr>
            <p:txBody>
              <a:bodyPr wrap="square" rtlCol="0">
                <a:spAutoFit/>
              </a:bodyPr>
              <a:lstStyle/>
              <a:p>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sz="1000" dirty="0">
                  <a:solidFill>
                    <a:srgbClr val="3C32FF"/>
                  </a:solidFill>
                  <a:latin typeface="Times" pitchFamily="2" charset="0"/>
                </a:endParaRPr>
              </a:p>
            </p:txBody>
          </p:sp>
          <p:sp>
            <p:nvSpPr>
              <p:cNvPr id="65" name="TextBox 64">
                <a:extLst>
                  <a:ext uri="{FF2B5EF4-FFF2-40B4-BE49-F238E27FC236}">
                    <a16:creationId xmlns:a16="http://schemas.microsoft.com/office/drawing/2014/main" id="{1480F235-4968-F644-9B58-D25C137D93F8}"/>
                  </a:ext>
                </a:extLst>
              </p:cNvPr>
              <p:cNvSpPr txBox="1"/>
              <p:nvPr/>
            </p:nvSpPr>
            <p:spPr>
              <a:xfrm>
                <a:off x="1797086" y="4798508"/>
                <a:ext cx="514350" cy="246221"/>
              </a:xfrm>
              <a:prstGeom prst="rect">
                <a:avLst/>
              </a:prstGeom>
              <a:noFill/>
            </p:spPr>
            <p:txBody>
              <a:bodyPr wrap="square" rtlCol="0">
                <a:spAutoFit/>
              </a:bodyPr>
              <a:lstStyle/>
              <a:p>
                <a:r>
                  <a:rPr lang="en-US" sz="1000" i="1" dirty="0">
                    <a:solidFill>
                      <a:srgbClr val="3C32FF"/>
                    </a:solidFill>
                    <a:latin typeface="Times" pitchFamily="2" charset="0"/>
                  </a:rPr>
                  <a:t>A</a:t>
                </a:r>
                <a:endParaRPr lang="en-US" sz="1000" dirty="0">
                  <a:solidFill>
                    <a:srgbClr val="3C32FF"/>
                  </a:solidFill>
                  <a:latin typeface="Times" pitchFamily="2" charset="0"/>
                </a:endParaRPr>
              </a:p>
            </p:txBody>
          </p:sp>
        </p:grpSp>
        <p:cxnSp>
          <p:nvCxnSpPr>
            <p:cNvPr id="68" name="Straight Connector 67">
              <a:extLst>
                <a:ext uri="{FF2B5EF4-FFF2-40B4-BE49-F238E27FC236}">
                  <a16:creationId xmlns:a16="http://schemas.microsoft.com/office/drawing/2014/main" id="{7C23EA54-56EE-231F-1DFA-C658267D8863}"/>
                </a:ext>
              </a:extLst>
            </p:cNvPr>
            <p:cNvCxnSpPr>
              <a:cxnSpLocks/>
            </p:cNvCxnSpPr>
            <p:nvPr/>
          </p:nvCxnSpPr>
          <p:spPr>
            <a:xfrm>
              <a:off x="923960" y="5470812"/>
              <a:ext cx="712490" cy="4891"/>
            </a:xfrm>
            <a:prstGeom prst="line">
              <a:avLst/>
            </a:prstGeom>
            <a:ln w="12700">
              <a:solidFill>
                <a:srgbClr val="3C32FF"/>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70F3F874-CAE2-8A75-7C26-1363C94F0AF9}"/>
                </a:ext>
              </a:extLst>
            </p:cNvPr>
            <p:cNvSpPr txBox="1"/>
            <p:nvPr/>
          </p:nvSpPr>
          <p:spPr>
            <a:xfrm>
              <a:off x="1358548" y="5120109"/>
              <a:ext cx="301625" cy="307777"/>
            </a:xfrm>
            <a:prstGeom prst="rect">
              <a:avLst/>
            </a:prstGeom>
            <a:noFill/>
          </p:spPr>
          <p:txBody>
            <a:bodyPr wrap="square" rtlCol="0">
              <a:spAutoFit/>
            </a:bodyPr>
            <a:lstStyle/>
            <a:p>
              <a:r>
                <a:rPr lang="en-US" sz="1400" i="1" dirty="0">
                  <a:latin typeface="Times" pitchFamily="2" charset="0"/>
                </a:rPr>
                <a:t>B</a:t>
              </a:r>
            </a:p>
          </p:txBody>
        </p:sp>
        <p:cxnSp>
          <p:nvCxnSpPr>
            <p:cNvPr id="71" name="Straight Arrow Connector 70">
              <a:extLst>
                <a:ext uri="{FF2B5EF4-FFF2-40B4-BE49-F238E27FC236}">
                  <a16:creationId xmlns:a16="http://schemas.microsoft.com/office/drawing/2014/main" id="{27394657-A70A-DE2A-DB23-41F52E24905F}"/>
                </a:ext>
              </a:extLst>
            </p:cNvPr>
            <p:cNvCxnSpPr>
              <a:cxnSpLocks/>
            </p:cNvCxnSpPr>
            <p:nvPr/>
          </p:nvCxnSpPr>
          <p:spPr>
            <a:xfrm flipH="1" flipV="1">
              <a:off x="1219200" y="4765675"/>
              <a:ext cx="244508" cy="403704"/>
            </a:xfrm>
            <a:prstGeom prst="straightConnector1">
              <a:avLst/>
            </a:prstGeom>
            <a:ln w="22225">
              <a:solidFill>
                <a:srgbClr val="007440"/>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E36089-BB8E-6CB4-17C1-74C7F4C511C3}"/>
                </a:ext>
              </a:extLst>
            </p:cNvPr>
            <p:cNvCxnSpPr>
              <a:cxnSpLocks/>
            </p:cNvCxnSpPr>
            <p:nvPr/>
          </p:nvCxnSpPr>
          <p:spPr>
            <a:xfrm flipV="1">
              <a:off x="908085" y="5175250"/>
              <a:ext cx="546065" cy="295562"/>
            </a:xfrm>
            <a:prstGeom prst="line">
              <a:avLst/>
            </a:prstGeom>
            <a:ln w="12700">
              <a:solidFill>
                <a:srgbClr val="007440"/>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AC24A307-021C-0823-6FE9-4B1C2EFC3791}"/>
                </a:ext>
              </a:extLst>
            </p:cNvPr>
            <p:cNvSpPr/>
            <p:nvPr/>
          </p:nvSpPr>
          <p:spPr>
            <a:xfrm>
              <a:off x="1429069" y="5150329"/>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D9BDFBB6-3A5A-2D66-5FCE-C0DAF6A65CBD}"/>
                </a:ext>
              </a:extLst>
            </p:cNvPr>
            <p:cNvSpPr/>
            <p:nvPr/>
          </p:nvSpPr>
          <p:spPr>
            <a:xfrm>
              <a:off x="1577975" y="53975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B279B00-07B6-C528-D9D2-90405FCBA387}"/>
                </a:ext>
              </a:extLst>
            </p:cNvPr>
            <p:cNvSpPr/>
            <p:nvPr/>
          </p:nvSpPr>
          <p:spPr>
            <a:xfrm rot="19821823">
              <a:off x="1368425" y="51181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1936FEEE-D428-5481-CE7F-EE403C3A1FF3}"/>
                </a:ext>
              </a:extLst>
            </p:cNvPr>
            <p:cNvGrpSpPr/>
            <p:nvPr/>
          </p:nvGrpSpPr>
          <p:grpSpPr>
            <a:xfrm>
              <a:off x="1189470" y="4546888"/>
              <a:ext cx="706041" cy="462916"/>
              <a:chOff x="1605395" y="4581813"/>
              <a:chExt cx="706041" cy="462916"/>
            </a:xfrm>
          </p:grpSpPr>
          <p:sp>
            <p:nvSpPr>
              <p:cNvPr id="81" name="TextBox 80">
                <a:extLst>
                  <a:ext uri="{FF2B5EF4-FFF2-40B4-BE49-F238E27FC236}">
                    <a16:creationId xmlns:a16="http://schemas.microsoft.com/office/drawing/2014/main" id="{07CD555D-FB69-7E9C-BC2D-B04697641633}"/>
                  </a:ext>
                </a:extLst>
              </p:cNvPr>
              <p:cNvSpPr txBox="1"/>
              <p:nvPr/>
            </p:nvSpPr>
            <p:spPr>
              <a:xfrm>
                <a:off x="1605395" y="4581813"/>
                <a:ext cx="514350" cy="369332"/>
              </a:xfrm>
              <a:prstGeom prst="rect">
                <a:avLst/>
              </a:prstGeom>
              <a:noFill/>
            </p:spPr>
            <p:txBody>
              <a:bodyPr wrap="square" rtlCol="0">
                <a:spAutoFit/>
              </a:bodyPr>
              <a:lstStyle/>
              <a:p>
                <a:r>
                  <a:rPr lang="en-US" i="1" dirty="0" err="1">
                    <a:solidFill>
                      <a:srgbClr val="007440"/>
                    </a:solidFill>
                    <a:latin typeface="Times" pitchFamily="2" charset="0"/>
                  </a:rPr>
                  <a:t>v</a:t>
                </a:r>
                <a:r>
                  <a:rPr lang="en-US" baseline="-25000" dirty="0" err="1">
                    <a:solidFill>
                      <a:srgbClr val="007440"/>
                    </a:solidFill>
                    <a:latin typeface="Times" pitchFamily="2" charset="0"/>
                  </a:rPr>
                  <a:t>T</a:t>
                </a:r>
                <a:endParaRPr lang="en-US" sz="1000" dirty="0">
                  <a:solidFill>
                    <a:srgbClr val="007440"/>
                  </a:solidFill>
                  <a:latin typeface="Times" pitchFamily="2" charset="0"/>
                </a:endParaRPr>
              </a:p>
            </p:txBody>
          </p:sp>
          <p:sp>
            <p:nvSpPr>
              <p:cNvPr id="82" name="TextBox 81">
                <a:extLst>
                  <a:ext uri="{FF2B5EF4-FFF2-40B4-BE49-F238E27FC236}">
                    <a16:creationId xmlns:a16="http://schemas.microsoft.com/office/drawing/2014/main" id="{BEA8F02F-AC29-007D-F3BF-9C308C235408}"/>
                  </a:ext>
                </a:extLst>
              </p:cNvPr>
              <p:cNvSpPr txBox="1"/>
              <p:nvPr/>
            </p:nvSpPr>
            <p:spPr>
              <a:xfrm>
                <a:off x="1797086" y="4798508"/>
                <a:ext cx="514350" cy="246221"/>
              </a:xfrm>
              <a:prstGeom prst="rect">
                <a:avLst/>
              </a:prstGeom>
              <a:noFill/>
            </p:spPr>
            <p:txBody>
              <a:bodyPr wrap="square" rtlCol="0">
                <a:spAutoFit/>
              </a:bodyPr>
              <a:lstStyle/>
              <a:p>
                <a:r>
                  <a:rPr lang="en-US" sz="1000" i="1" dirty="0">
                    <a:solidFill>
                      <a:srgbClr val="007440"/>
                    </a:solidFill>
                    <a:latin typeface="Times" pitchFamily="2" charset="0"/>
                  </a:rPr>
                  <a:t>B</a:t>
                </a:r>
                <a:endParaRPr lang="en-US" sz="1000" dirty="0">
                  <a:solidFill>
                    <a:srgbClr val="007440"/>
                  </a:solidFill>
                  <a:latin typeface="Times" pitchFamily="2" charset="0"/>
                </a:endParaRPr>
              </a:p>
            </p:txBody>
          </p:sp>
        </p:grpSp>
        <p:sp>
          <p:nvSpPr>
            <p:cNvPr id="83" name="Oval 82">
              <a:extLst>
                <a:ext uri="{FF2B5EF4-FFF2-40B4-BE49-F238E27FC236}">
                  <a16:creationId xmlns:a16="http://schemas.microsoft.com/office/drawing/2014/main" id="{5EF9E9A2-528A-C03E-A04C-CDB26C76B93C}"/>
                </a:ext>
              </a:extLst>
            </p:cNvPr>
            <p:cNvSpPr/>
            <p:nvPr/>
          </p:nvSpPr>
          <p:spPr>
            <a:xfrm>
              <a:off x="1038544" y="51789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4" name="Straight Connector 83">
              <a:extLst>
                <a:ext uri="{FF2B5EF4-FFF2-40B4-BE49-F238E27FC236}">
                  <a16:creationId xmlns:a16="http://schemas.microsoft.com/office/drawing/2014/main" id="{189F9404-9B2A-8287-B842-93B77442F5BA}"/>
                </a:ext>
              </a:extLst>
            </p:cNvPr>
            <p:cNvCxnSpPr>
              <a:cxnSpLocks/>
            </p:cNvCxnSpPr>
            <p:nvPr/>
          </p:nvCxnSpPr>
          <p:spPr>
            <a:xfrm flipV="1">
              <a:off x="911260" y="5219700"/>
              <a:ext cx="142840" cy="25111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F2462B1B-E726-79ED-398A-F6527FE5AA0E}"/>
                </a:ext>
              </a:extLst>
            </p:cNvPr>
            <p:cNvSpPr txBox="1"/>
            <p:nvPr/>
          </p:nvSpPr>
          <p:spPr>
            <a:xfrm>
              <a:off x="1164070" y="5175538"/>
              <a:ext cx="484152" cy="307777"/>
            </a:xfrm>
            <a:prstGeom prst="rect">
              <a:avLst/>
            </a:prstGeom>
            <a:noFill/>
          </p:spPr>
          <p:txBody>
            <a:bodyPr wrap="square" rtlCol="0">
              <a:spAutoFit/>
            </a:bodyPr>
            <a:lstStyle/>
            <a:p>
              <a:r>
                <a:rPr lang="en-US" sz="1400" i="1" dirty="0" err="1">
                  <a:solidFill>
                    <a:srgbClr val="007440"/>
                  </a:solidFill>
                  <a:latin typeface="Times" pitchFamily="2" charset="0"/>
                </a:rPr>
                <a:t>r</a:t>
              </a:r>
              <a:r>
                <a:rPr lang="en-US" sz="1400" i="1" baseline="-25000" dirty="0" err="1">
                  <a:solidFill>
                    <a:srgbClr val="007440"/>
                  </a:solidFill>
                  <a:latin typeface="Times" pitchFamily="2" charset="0"/>
                </a:rPr>
                <a:t>B</a:t>
              </a:r>
              <a:endParaRPr lang="en-US" sz="1400" i="1" dirty="0">
                <a:solidFill>
                  <a:srgbClr val="007440"/>
                </a:solidFill>
                <a:latin typeface="Times" pitchFamily="2" charset="0"/>
              </a:endParaRPr>
            </a:p>
          </p:txBody>
        </p:sp>
        <p:sp>
          <p:nvSpPr>
            <p:cNvPr id="87" name="TextBox 86">
              <a:extLst>
                <a:ext uri="{FF2B5EF4-FFF2-40B4-BE49-F238E27FC236}">
                  <a16:creationId xmlns:a16="http://schemas.microsoft.com/office/drawing/2014/main" id="{88538A53-3567-216D-966A-5D2C94D9F084}"/>
                </a:ext>
              </a:extLst>
            </p:cNvPr>
            <p:cNvSpPr txBox="1"/>
            <p:nvPr/>
          </p:nvSpPr>
          <p:spPr>
            <a:xfrm>
              <a:off x="955323" y="4951834"/>
              <a:ext cx="301625" cy="307777"/>
            </a:xfrm>
            <a:prstGeom prst="rect">
              <a:avLst/>
            </a:prstGeom>
            <a:noFill/>
          </p:spPr>
          <p:txBody>
            <a:bodyPr wrap="square" rtlCol="0">
              <a:spAutoFit/>
            </a:bodyPr>
            <a:lstStyle/>
            <a:p>
              <a:r>
                <a:rPr lang="en-US" sz="1400" i="1" dirty="0">
                  <a:latin typeface="Times" pitchFamily="2" charset="0"/>
                </a:rPr>
                <a:t>C</a:t>
              </a:r>
            </a:p>
          </p:txBody>
        </p:sp>
        <p:sp>
          <p:nvSpPr>
            <p:cNvPr id="88" name="TextBox 87">
              <a:extLst>
                <a:ext uri="{FF2B5EF4-FFF2-40B4-BE49-F238E27FC236}">
                  <a16:creationId xmlns:a16="http://schemas.microsoft.com/office/drawing/2014/main" id="{26E51B88-37C1-B3E7-0EC9-A2BBE412E2A4}"/>
                </a:ext>
              </a:extLst>
            </p:cNvPr>
            <p:cNvSpPr txBox="1"/>
            <p:nvPr/>
          </p:nvSpPr>
          <p:spPr>
            <a:xfrm>
              <a:off x="719570" y="5108863"/>
              <a:ext cx="484152" cy="307777"/>
            </a:xfrm>
            <a:prstGeom prst="rect">
              <a:avLst/>
            </a:prstGeom>
            <a:noFill/>
          </p:spPr>
          <p:txBody>
            <a:bodyPr wrap="square" rtlCol="0">
              <a:spAutoFit/>
            </a:bodyPr>
            <a:lstStyle/>
            <a:p>
              <a:r>
                <a:rPr lang="en-US" sz="1400" i="1" dirty="0" err="1">
                  <a:solidFill>
                    <a:srgbClr val="FF0000"/>
                  </a:solidFill>
                  <a:latin typeface="Times" pitchFamily="2" charset="0"/>
                </a:rPr>
                <a:t>r</a:t>
              </a:r>
              <a:r>
                <a:rPr lang="en-US" sz="1400" i="1" baseline="-25000" dirty="0" err="1">
                  <a:solidFill>
                    <a:srgbClr val="FF0000"/>
                  </a:solidFill>
                  <a:latin typeface="Times" pitchFamily="2" charset="0"/>
                </a:rPr>
                <a:t>C</a:t>
              </a:r>
              <a:endParaRPr lang="en-US" sz="1400" i="1" dirty="0">
                <a:solidFill>
                  <a:srgbClr val="FF0000"/>
                </a:solidFill>
                <a:latin typeface="Times" pitchFamily="2" charset="0"/>
              </a:endParaRPr>
            </a:p>
          </p:txBody>
        </p:sp>
        <p:sp>
          <p:nvSpPr>
            <p:cNvPr id="36" name="Oval 35">
              <a:extLst>
                <a:ext uri="{FF2B5EF4-FFF2-40B4-BE49-F238E27FC236}">
                  <a16:creationId xmlns:a16="http://schemas.microsoft.com/office/drawing/2014/main" id="{AAC3A0B9-258F-7EBE-51C9-8F1C2C166677}"/>
                </a:ext>
              </a:extLst>
            </p:cNvPr>
            <p:cNvSpPr/>
            <p:nvPr/>
          </p:nvSpPr>
          <p:spPr>
            <a:xfrm>
              <a:off x="900545" y="5458113"/>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a:extLst>
                <a:ext uri="{FF2B5EF4-FFF2-40B4-BE49-F238E27FC236}">
                  <a16:creationId xmlns:a16="http://schemas.microsoft.com/office/drawing/2014/main" id="{13F4C6E1-A331-5DA0-BB74-B0564F605791}"/>
                </a:ext>
              </a:extLst>
            </p:cNvPr>
            <p:cNvCxnSpPr>
              <a:cxnSpLocks/>
            </p:cNvCxnSpPr>
            <p:nvPr/>
          </p:nvCxnSpPr>
          <p:spPr>
            <a:xfrm flipH="1" flipV="1">
              <a:off x="790575" y="5067300"/>
              <a:ext cx="254033" cy="124304"/>
            </a:xfrm>
            <a:prstGeom prst="straightConnector1">
              <a:avLst/>
            </a:prstGeom>
            <a:ln w="22225">
              <a:solidFill>
                <a:srgbClr val="FF0000"/>
              </a:solidFill>
              <a:tailEnd type="stealth" w="med" len="med"/>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9C07FEDB-996C-0156-DB33-7466911093D1}"/>
                </a:ext>
              </a:extLst>
            </p:cNvPr>
            <p:cNvSpPr/>
            <p:nvPr/>
          </p:nvSpPr>
          <p:spPr>
            <a:xfrm rot="17807022">
              <a:off x="968376" y="5191126"/>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91">
              <a:extLst>
                <a:ext uri="{FF2B5EF4-FFF2-40B4-BE49-F238E27FC236}">
                  <a16:creationId xmlns:a16="http://schemas.microsoft.com/office/drawing/2014/main" id="{E781107F-4657-FB40-E7BA-A4C4FA39E789}"/>
                </a:ext>
              </a:extLst>
            </p:cNvPr>
            <p:cNvGrpSpPr/>
            <p:nvPr/>
          </p:nvGrpSpPr>
          <p:grpSpPr>
            <a:xfrm>
              <a:off x="595745" y="4692938"/>
              <a:ext cx="706041" cy="462916"/>
              <a:chOff x="1605395" y="4581813"/>
              <a:chExt cx="706041" cy="462916"/>
            </a:xfrm>
          </p:grpSpPr>
          <p:sp>
            <p:nvSpPr>
              <p:cNvPr id="93" name="TextBox 92">
                <a:extLst>
                  <a:ext uri="{FF2B5EF4-FFF2-40B4-BE49-F238E27FC236}">
                    <a16:creationId xmlns:a16="http://schemas.microsoft.com/office/drawing/2014/main" id="{478BA4BB-CCD2-17D5-10A4-E96E2412DAF5}"/>
                  </a:ext>
                </a:extLst>
              </p:cNvPr>
              <p:cNvSpPr txBox="1"/>
              <p:nvPr/>
            </p:nvSpPr>
            <p:spPr>
              <a:xfrm>
                <a:off x="1605395" y="4581813"/>
                <a:ext cx="514350" cy="369332"/>
              </a:xfrm>
              <a:prstGeom prst="rect">
                <a:avLst/>
              </a:prstGeom>
              <a:noFill/>
            </p:spPr>
            <p:txBody>
              <a:bodyPr wrap="square" rtlCol="0">
                <a:spAutoFit/>
              </a:bodyPr>
              <a:lstStyle/>
              <a:p>
                <a:r>
                  <a:rPr lang="en-US" i="1" dirty="0" err="1">
                    <a:solidFill>
                      <a:srgbClr val="FF0000"/>
                    </a:solidFill>
                    <a:latin typeface="Times" pitchFamily="2" charset="0"/>
                  </a:rPr>
                  <a:t>v</a:t>
                </a:r>
                <a:r>
                  <a:rPr lang="en-US" baseline="-25000" dirty="0" err="1">
                    <a:solidFill>
                      <a:srgbClr val="FF0000"/>
                    </a:solidFill>
                    <a:latin typeface="Times" pitchFamily="2" charset="0"/>
                  </a:rPr>
                  <a:t>T</a:t>
                </a:r>
                <a:endParaRPr lang="en-US" sz="1000" dirty="0">
                  <a:solidFill>
                    <a:srgbClr val="FF0000"/>
                  </a:solidFill>
                  <a:latin typeface="Times" pitchFamily="2" charset="0"/>
                </a:endParaRPr>
              </a:p>
            </p:txBody>
          </p:sp>
          <p:sp>
            <p:nvSpPr>
              <p:cNvPr id="94" name="TextBox 93">
                <a:extLst>
                  <a:ext uri="{FF2B5EF4-FFF2-40B4-BE49-F238E27FC236}">
                    <a16:creationId xmlns:a16="http://schemas.microsoft.com/office/drawing/2014/main" id="{703F9152-383A-0FF4-3C02-F0E87F9EE8C2}"/>
                  </a:ext>
                </a:extLst>
              </p:cNvPr>
              <p:cNvSpPr txBox="1"/>
              <p:nvPr/>
            </p:nvSpPr>
            <p:spPr>
              <a:xfrm>
                <a:off x="1797086" y="4798508"/>
                <a:ext cx="514350" cy="246221"/>
              </a:xfrm>
              <a:prstGeom prst="rect">
                <a:avLst/>
              </a:prstGeom>
              <a:noFill/>
            </p:spPr>
            <p:txBody>
              <a:bodyPr wrap="square" rtlCol="0">
                <a:spAutoFit/>
              </a:bodyPr>
              <a:lstStyle/>
              <a:p>
                <a:r>
                  <a:rPr lang="en-US" sz="1000" i="1" dirty="0">
                    <a:solidFill>
                      <a:srgbClr val="FF0000"/>
                    </a:solidFill>
                    <a:latin typeface="Times" pitchFamily="2" charset="0"/>
                  </a:rPr>
                  <a:t>C</a:t>
                </a:r>
                <a:endParaRPr lang="en-US" sz="1000" dirty="0">
                  <a:solidFill>
                    <a:srgbClr val="FF0000"/>
                  </a:solidFill>
                  <a:latin typeface="Times" pitchFamily="2" charset="0"/>
                </a:endParaRPr>
              </a:p>
            </p:txBody>
          </p:sp>
        </p:grpSp>
      </p:grpSp>
    </p:spTree>
    <p:extLst>
      <p:ext uri="{BB962C8B-B14F-4D97-AF65-F5344CB8AC3E}">
        <p14:creationId xmlns:p14="http://schemas.microsoft.com/office/powerpoint/2010/main" val="125777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par>
                                <p:cTn id="14" presetID="9" presetClass="entr" presetSubtype="0" fill="hold" grpId="0" nodeType="withEffect">
                                  <p:stCondLst>
                                    <p:cond delay="500"/>
                                  </p:stCondLst>
                                  <p:childTnLst>
                                    <p:set>
                                      <p:cBhvr>
                                        <p:cTn id="15" dur="1" fill="hold">
                                          <p:stCondLst>
                                            <p:cond delay="0"/>
                                          </p:stCondLst>
                                        </p:cTn>
                                        <p:tgtEl>
                                          <p:spTgt spid="15"/>
                                        </p:tgtEl>
                                        <p:attrNameLst>
                                          <p:attrName>style.visibility</p:attrName>
                                        </p:attrNameLst>
                                      </p:cBhvr>
                                      <p:to>
                                        <p:strVal val="visible"/>
                                      </p:to>
                                    </p:set>
                                    <p:animEffect transition="in" filter="dissolv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dissolve">
                                      <p:cBhvr>
                                        <p:cTn id="35" dur="500"/>
                                        <p:tgtEl>
                                          <p:spTgt spid="16"/>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dissolve">
                                      <p:cBhvr>
                                        <p:cTn id="38" dur="500"/>
                                        <p:tgtEl>
                                          <p:spTgt spid="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dissolve">
                                      <p:cBhvr>
                                        <p:cTn id="41" dur="500"/>
                                        <p:tgtEl>
                                          <p:spTgt spid="11"/>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dissolv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dissolve">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dissolve">
                                      <p:cBhvr>
                                        <p:cTn id="54" dur="500"/>
                                        <p:tgtEl>
                                          <p:spTgt spid="60"/>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dissolve">
                                      <p:cBhvr>
                                        <p:cTn id="57" dur="500"/>
                                        <p:tgtEl>
                                          <p:spTgt spid="6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dissolve">
                                      <p:cBhvr>
                                        <p:cTn id="62" dur="500"/>
                                        <p:tgtEl>
                                          <p:spTgt spid="61"/>
                                        </p:tgtEl>
                                      </p:cBhvr>
                                    </p:animEffect>
                                  </p:childTnLst>
                                </p:cTn>
                              </p:par>
                            </p:childTnLst>
                          </p:cTn>
                        </p:par>
                        <p:par>
                          <p:cTn id="63" fill="hold">
                            <p:stCondLst>
                              <p:cond delay="500"/>
                            </p:stCondLst>
                            <p:childTnLst>
                              <p:par>
                                <p:cTn id="64" presetID="9" presetClass="entr" presetSubtype="0" fill="hold" nodeType="afterEffect">
                                  <p:stCondLst>
                                    <p:cond delay="0"/>
                                  </p:stCondLst>
                                  <p:childTnLst>
                                    <p:set>
                                      <p:cBhvr>
                                        <p:cTn id="65" dur="1" fill="hold">
                                          <p:stCondLst>
                                            <p:cond delay="0"/>
                                          </p:stCondLst>
                                        </p:cTn>
                                        <p:tgtEl>
                                          <p:spTgt spid="95"/>
                                        </p:tgtEl>
                                        <p:attrNameLst>
                                          <p:attrName>style.visibility</p:attrName>
                                        </p:attrNameLst>
                                      </p:cBhvr>
                                      <p:to>
                                        <p:strVal val="visible"/>
                                      </p:to>
                                    </p:set>
                                    <p:animEffect transition="in" filter="dissolve">
                                      <p:cBhvr>
                                        <p:cTn id="66" dur="500"/>
                                        <p:tgtEl>
                                          <p:spTgt spid="95"/>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96"/>
                                        </p:tgtEl>
                                        <p:attrNameLst>
                                          <p:attrName>style.visibility</p:attrName>
                                        </p:attrNameLst>
                                      </p:cBhvr>
                                      <p:to>
                                        <p:strVal val="visible"/>
                                      </p:to>
                                    </p:set>
                                    <p:animEffect transition="in" filter="dissolve">
                                      <p:cBhvr>
                                        <p:cTn id="71" dur="500"/>
                                        <p:tgtEl>
                                          <p:spTgt spid="96"/>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107"/>
                                        </p:tgtEl>
                                        <p:attrNameLst>
                                          <p:attrName>style.visibility</p:attrName>
                                        </p:attrNameLst>
                                      </p:cBhvr>
                                      <p:to>
                                        <p:strVal val="visible"/>
                                      </p:to>
                                    </p:set>
                                    <p:animEffect transition="in" filter="dissolve">
                                      <p:cBhvr>
                                        <p:cTn id="74" dur="500"/>
                                        <p:tgtEl>
                                          <p:spTgt spid="107"/>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animEffect transition="in" filter="dissolve">
                                      <p:cBhvr>
                                        <p:cTn id="7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3" grpId="0"/>
      <p:bldP spid="15" grpId="0" animBg="1"/>
      <p:bldP spid="4" grpId="0"/>
      <p:bldP spid="6" grpId="0"/>
      <p:bldP spid="10" grpId="0"/>
      <p:bldP spid="16" grpId="0"/>
      <p:bldP spid="20" grpId="0" animBg="1"/>
      <p:bldP spid="19" grpId="0"/>
      <p:bldP spid="8" grpId="0"/>
      <p:bldP spid="11" grpId="0"/>
      <p:bldP spid="63" grpId="0" animBg="1"/>
      <p:bldP spid="60" grpId="0"/>
      <p:bldP spid="61" grpId="0"/>
      <p:bldP spid="96" grpId="0"/>
      <p:bldP spid="107" grpId="0" animBg="1"/>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AD39A-5980-591E-BBE9-FDFF586D8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19211-8D0A-9B63-1FE1-89266117B08E}"/>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8.4</a:t>
            </a:r>
            <a:r>
              <a:rPr lang="en-US" dirty="0">
                <a:latin typeface="Times New Roman" panose="02020603050405020304" pitchFamily="18" charset="0"/>
                <a:ea typeface="Calibri" charset="0"/>
                <a:cs typeface="Times New Roman" panose="02020603050405020304" pitchFamily="18" charset="0"/>
              </a:rPr>
              <a:t> Angular Variables and Tangential Variables (3 of 6)</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8C10AA90-6914-CA8E-1435-35B8D319EDF3}"/>
              </a:ext>
            </a:extLst>
          </p:cNvPr>
          <p:cNvSpPr txBox="1">
            <a:spLocks noGrp="1"/>
          </p:cNvSpPr>
          <p:nvPr>
            <p:ph type="body" idx="1"/>
          </p:nvPr>
        </p:nvSpPr>
        <p:spPr>
          <a:xfrm>
            <a:off x="891287" y="897133"/>
            <a:ext cx="6728714"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let’s divide both sides of Equation 8.9 by </a:t>
            </a:r>
            <a:r>
              <a:rPr lang="el-GR" sz="2400" dirty="0">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p>
        </p:txBody>
      </p:sp>
      <p:sp>
        <p:nvSpPr>
          <p:cNvPr id="11" name="Content Placeholder 3">
            <a:extLst>
              <a:ext uri="{FF2B5EF4-FFF2-40B4-BE49-F238E27FC236}">
                <a16:creationId xmlns:a16="http://schemas.microsoft.com/office/drawing/2014/main" id="{4ED694B2-B1A6-7589-296C-9FC8BE2AC203}"/>
              </a:ext>
            </a:extLst>
          </p:cNvPr>
          <p:cNvSpPr txBox="1">
            <a:spLocks noGrp="1"/>
          </p:cNvSpPr>
          <p:nvPr>
            <p:ph type="body" idx="3"/>
          </p:nvPr>
        </p:nvSpPr>
        <p:spPr>
          <a:xfrm>
            <a:off x="259914" y="2341305"/>
            <a:ext cx="11670829"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term on the left we recognize as the linear acceleration </a:t>
            </a:r>
            <a:r>
              <a:rPr lang="en-US" sz="2400" i="1" dirty="0" err="1">
                <a:latin typeface="Times New Roman" panose="02020603050405020304" pitchFamily="18" charset="0"/>
                <a:cs typeface="Times New Roman" panose="02020603050405020304" pitchFamily="18" charset="0"/>
              </a:rPr>
              <a:t>a</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(subscript T again, because it’s tangential).</a:t>
            </a:r>
          </a:p>
        </p:txBody>
      </p:sp>
      <p:sp>
        <p:nvSpPr>
          <p:cNvPr id="12" name="Content Placeholder 4">
            <a:extLst>
              <a:ext uri="{FF2B5EF4-FFF2-40B4-BE49-F238E27FC236}">
                <a16:creationId xmlns:a16="http://schemas.microsoft.com/office/drawing/2014/main" id="{CAC2887C-1459-635C-998F-A50C24163390}"/>
              </a:ext>
            </a:extLst>
          </p:cNvPr>
          <p:cNvSpPr txBox="1">
            <a:spLocks noGrp="1"/>
          </p:cNvSpPr>
          <p:nvPr>
            <p:ph type="body" idx="4"/>
          </p:nvPr>
        </p:nvSpPr>
        <p:spPr>
          <a:xfrm>
            <a:off x="1802728" y="2710637"/>
            <a:ext cx="8216429"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And the term on the right is </a:t>
            </a:r>
            <a:r>
              <a:rPr lang="en-US" sz="2400" i="1" dirty="0">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times the angular acceleration, </a:t>
            </a:r>
            <a:r>
              <a:rPr lang="en-US" sz="2400"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a:t>
            </a:r>
          </a:p>
        </p:txBody>
      </p:sp>
      <p:sp>
        <p:nvSpPr>
          <p:cNvPr id="27" name="Content Placeholder 5">
            <a:extLst>
              <a:ext uri="{FF2B5EF4-FFF2-40B4-BE49-F238E27FC236}">
                <a16:creationId xmlns:a16="http://schemas.microsoft.com/office/drawing/2014/main" id="{D861AB3D-BDB0-ABB3-A783-7B1275EC37DB}"/>
              </a:ext>
            </a:extLst>
          </p:cNvPr>
          <p:cNvSpPr txBox="1">
            <a:spLocks noGrp="1"/>
          </p:cNvSpPr>
          <p:nvPr>
            <p:ph type="body" idx="5"/>
          </p:nvPr>
        </p:nvSpPr>
        <p:spPr>
          <a:xfrm>
            <a:off x="267171" y="3386335"/>
            <a:ext cx="11697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Thus:</a:t>
            </a:r>
          </a:p>
        </p:txBody>
      </p:sp>
      <p:sp>
        <p:nvSpPr>
          <p:cNvPr id="28" name="Rounded Rectangle 27">
            <a:extLst>
              <a:ext uri="{FF2B5EF4-FFF2-40B4-BE49-F238E27FC236}">
                <a16:creationId xmlns:a16="http://schemas.microsoft.com/office/drawing/2014/main" id="{F451B2CE-B1A7-E94D-98FC-321B38617B42}"/>
              </a:ext>
              <a:ext uri="{C183D7F6-B498-43B3-948B-1728B52AA6E4}">
                <adec:decorative xmlns:adec="http://schemas.microsoft.com/office/drawing/2017/decorative" val="1"/>
              </a:ext>
            </a:extLst>
          </p:cNvPr>
          <p:cNvSpPr/>
          <p:nvPr/>
        </p:nvSpPr>
        <p:spPr>
          <a:xfrm>
            <a:off x="1161143" y="3352800"/>
            <a:ext cx="1088571" cy="522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ntent Placeholder 6">
            <a:extLst>
              <a:ext uri="{FF2B5EF4-FFF2-40B4-BE49-F238E27FC236}">
                <a16:creationId xmlns:a16="http://schemas.microsoft.com/office/drawing/2014/main" id="{92610D92-9B1B-E488-4A23-1F11573C6EF6}"/>
              </a:ext>
            </a:extLst>
          </p:cNvPr>
          <p:cNvSpPr txBox="1">
            <a:spLocks noGrp="1"/>
          </p:cNvSpPr>
          <p:nvPr>
            <p:ph type="body" idx="6"/>
          </p:nvPr>
        </p:nvSpPr>
        <p:spPr>
          <a:xfrm>
            <a:off x="1167057" y="3371820"/>
            <a:ext cx="12713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latin typeface="Times New Roman" panose="02020603050405020304" pitchFamily="18" charset="0"/>
                <a:cs typeface="Times New Roman" panose="02020603050405020304" pitchFamily="18" charset="0"/>
              </a:rPr>
              <a:t>a</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rα</a:t>
            </a:r>
            <a:endParaRPr lang="en-US" sz="2400" dirty="0">
              <a:latin typeface="Times New Roman" panose="02020603050405020304" pitchFamily="18" charset="0"/>
              <a:cs typeface="Times New Roman" panose="02020603050405020304" pitchFamily="18" charset="0"/>
            </a:endParaRPr>
          </a:p>
        </p:txBody>
      </p:sp>
      <p:sp>
        <p:nvSpPr>
          <p:cNvPr id="31" name="Content Placeholder 7">
            <a:extLst>
              <a:ext uri="{FF2B5EF4-FFF2-40B4-BE49-F238E27FC236}">
                <a16:creationId xmlns:a16="http://schemas.microsoft.com/office/drawing/2014/main" id="{060FCD34-D1AF-72F6-B6B5-C949D66798D2}"/>
              </a:ext>
            </a:extLst>
          </p:cNvPr>
          <p:cNvSpPr txBox="1">
            <a:spLocks noGrp="1"/>
          </p:cNvSpPr>
          <p:nvPr>
            <p:ph type="body" idx="7"/>
          </p:nvPr>
        </p:nvSpPr>
        <p:spPr>
          <a:xfrm>
            <a:off x="2365147" y="3386333"/>
            <a:ext cx="274388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8.10</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 in rad/s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p>
        </p:txBody>
      </p:sp>
      <p:sp>
        <p:nvSpPr>
          <p:cNvPr id="30" name="Content Placeholder 8">
            <a:extLst>
              <a:ext uri="{FF2B5EF4-FFF2-40B4-BE49-F238E27FC236}">
                <a16:creationId xmlns:a16="http://schemas.microsoft.com/office/drawing/2014/main" id="{ED5A3FF4-E57C-2C22-5B0B-B15795AC4CEB}"/>
              </a:ext>
            </a:extLst>
          </p:cNvPr>
          <p:cNvSpPr txBox="1">
            <a:spLocks noGrp="1"/>
          </p:cNvSpPr>
          <p:nvPr>
            <p:ph type="body" idx="8"/>
          </p:nvPr>
        </p:nvSpPr>
        <p:spPr>
          <a:xfrm>
            <a:off x="4992914" y="3241190"/>
            <a:ext cx="6473372"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This is the relationship between the </a:t>
            </a:r>
            <a:r>
              <a:rPr lang="en-US" sz="2400" dirty="0">
                <a:solidFill>
                  <a:srgbClr val="007440"/>
                </a:solidFill>
                <a:latin typeface="Times New Roman" panose="02020603050405020304" pitchFamily="18" charset="0"/>
                <a:cs typeface="Times New Roman" panose="02020603050405020304" pitchFamily="18" charset="0"/>
              </a:rPr>
              <a:t>tangential acceleration </a:t>
            </a:r>
            <a:r>
              <a:rPr lang="en-US" sz="2400" dirty="0">
                <a:latin typeface="Times New Roman" panose="02020603050405020304" pitchFamily="18" charset="0"/>
                <a:cs typeface="Times New Roman" panose="02020603050405020304" pitchFamily="18" charset="0"/>
              </a:rPr>
              <a:t>and the </a:t>
            </a:r>
            <a:r>
              <a:rPr lang="en-US" sz="2400" dirty="0">
                <a:solidFill>
                  <a:srgbClr val="007440"/>
                </a:solidFill>
                <a:latin typeface="Times New Roman" panose="02020603050405020304" pitchFamily="18" charset="0"/>
                <a:cs typeface="Times New Roman" panose="02020603050405020304" pitchFamily="18" charset="0"/>
              </a:rPr>
              <a:t>angular acceleration</a:t>
            </a:r>
            <a:r>
              <a:rPr lang="en-US" sz="2400" dirty="0">
                <a:latin typeface="Times New Roman" panose="02020603050405020304" pitchFamily="18" charset="0"/>
                <a:cs typeface="Times New Roman" panose="02020603050405020304" pitchFamily="18" charset="0"/>
              </a:rPr>
              <a:t>.</a:t>
            </a:r>
          </a:p>
        </p:txBody>
      </p:sp>
      <p:sp>
        <p:nvSpPr>
          <p:cNvPr id="34" name="Content Placeholder 9">
            <a:extLst>
              <a:ext uri="{FF2B5EF4-FFF2-40B4-BE49-F238E27FC236}">
                <a16:creationId xmlns:a16="http://schemas.microsoft.com/office/drawing/2014/main" id="{AE9DB939-4A87-2512-2107-9E36EA3275FF}"/>
              </a:ext>
            </a:extLst>
          </p:cNvPr>
          <p:cNvSpPr txBox="1">
            <a:spLocks noGrp="1"/>
          </p:cNvSpPr>
          <p:nvPr>
            <p:ph type="body" idx="9"/>
          </p:nvPr>
        </p:nvSpPr>
        <p:spPr>
          <a:xfrm>
            <a:off x="276367" y="4547063"/>
            <a:ext cx="5564874"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*Notice that the linear variables of displacement, velocity, and acceleration are related to their rotational counterparts by a simple factor:</a:t>
            </a:r>
          </a:p>
        </p:txBody>
      </p:sp>
      <p:sp>
        <p:nvSpPr>
          <p:cNvPr id="47" name="Rounded Rectangle 46">
            <a:extLst>
              <a:ext uri="{FF2B5EF4-FFF2-40B4-BE49-F238E27FC236}">
                <a16:creationId xmlns:a16="http://schemas.microsoft.com/office/drawing/2014/main" id="{FC6C8C72-E8C5-163B-6ACB-D6FF47FDBDEB}"/>
              </a:ext>
              <a:ext uri="{C183D7F6-B498-43B3-948B-1728B52AA6E4}">
                <adec:decorative xmlns:adec="http://schemas.microsoft.com/office/drawing/2017/decorative" val="1"/>
              </a:ext>
            </a:extLst>
          </p:cNvPr>
          <p:cNvSpPr/>
          <p:nvPr/>
        </p:nvSpPr>
        <p:spPr>
          <a:xfrm>
            <a:off x="2074459" y="5691116"/>
            <a:ext cx="1610436" cy="3821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ontent Placeholder 10">
            <a:extLst>
              <a:ext uri="{FF2B5EF4-FFF2-40B4-BE49-F238E27FC236}">
                <a16:creationId xmlns:a16="http://schemas.microsoft.com/office/drawing/2014/main" id="{19F697FE-29AB-1AE3-ECF4-CF454F907A97}"/>
              </a:ext>
            </a:extLst>
          </p:cNvPr>
          <p:cNvSpPr txBox="1">
            <a:spLocks noGrp="1"/>
          </p:cNvSpPr>
          <p:nvPr>
            <p:ph type="body" idx="10"/>
          </p:nvPr>
        </p:nvSpPr>
        <p:spPr>
          <a:xfrm>
            <a:off x="2074459" y="5687094"/>
            <a:ext cx="1986886" cy="40011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the radius</a:t>
            </a:r>
          </a:p>
        </p:txBody>
      </p:sp>
      <p:sp>
        <p:nvSpPr>
          <p:cNvPr id="13" name="Content Placeholder 11">
            <a:extLst>
              <a:ext uri="{FF2B5EF4-FFF2-40B4-BE49-F238E27FC236}">
                <a16:creationId xmlns:a16="http://schemas.microsoft.com/office/drawing/2014/main" id="{B545B39B-25C3-5ADE-D7D2-25857D661776}"/>
              </a:ext>
            </a:extLst>
          </p:cNvPr>
          <p:cNvSpPr txBox="1">
            <a:spLocks noGrp="1"/>
          </p:cNvSpPr>
          <p:nvPr>
            <p:ph type="body" idx="11"/>
          </p:nvPr>
        </p:nvSpPr>
        <p:spPr>
          <a:xfrm>
            <a:off x="3684895" y="5678619"/>
            <a:ext cx="28860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endParaRPr lang="en-US" dirty="0">
              <a:latin typeface="Times New Roman"/>
            </a:endParaRPr>
          </a:p>
        </p:txBody>
      </p:sp>
      <p:sp>
        <p:nvSpPr>
          <p:cNvPr id="9" name="Rounded Rectangle 8">
            <a:extLst>
              <a:ext uri="{FF2B5EF4-FFF2-40B4-BE49-F238E27FC236}">
                <a16:creationId xmlns:a16="http://schemas.microsoft.com/office/drawing/2014/main" id="{856649F1-1658-1E0A-9C27-D7B3F910ECB2}"/>
              </a:ext>
            </a:extLst>
          </p:cNvPr>
          <p:cNvSpPr/>
          <p:nvPr/>
        </p:nvSpPr>
        <p:spPr>
          <a:xfrm>
            <a:off x="7257143" y="609600"/>
            <a:ext cx="1582057" cy="111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39">
            <a:extLst>
              <a:ext uri="{FF2B5EF4-FFF2-40B4-BE49-F238E27FC236}">
                <a16:creationId xmlns:a16="http://schemas.microsoft.com/office/drawing/2014/main" id="{6D113AEB-7CB5-FEC8-D96B-7FFC2F04B1F9}"/>
              </a:ext>
            </a:extLst>
          </p:cNvPr>
          <p:cNvGraphicFramePr>
            <a:graphicFrameLocks noChangeAspect="1"/>
          </p:cNvGraphicFramePr>
          <p:nvPr>
            <p:extLst>
              <p:ext uri="{D42A27DB-BD31-4B8C-83A1-F6EECF244321}">
                <p14:modId xmlns:p14="http://schemas.microsoft.com/office/powerpoint/2010/main" val="544055819"/>
              </p:ext>
            </p:extLst>
          </p:nvPr>
        </p:nvGraphicFramePr>
        <p:xfrm>
          <a:off x="7355116" y="678543"/>
          <a:ext cx="1438275" cy="893763"/>
        </p:xfrm>
        <a:graphic>
          <a:graphicData uri="http://schemas.openxmlformats.org/presentationml/2006/ole">
            <mc:AlternateContent xmlns:mc="http://schemas.openxmlformats.org/markup-compatibility/2006">
              <mc:Choice xmlns:v="urn:schemas-microsoft-com:vml" Requires="v">
                <p:oleObj name="Equation" r:id="rId3" imgW="14630400" imgH="9067800" progId="Equation.3">
                  <p:embed/>
                </p:oleObj>
              </mc:Choice>
              <mc:Fallback>
                <p:oleObj name="Equation" r:id="rId3" imgW="14630400" imgH="9067800" progId="Equation.3">
                  <p:embed/>
                  <p:pic>
                    <p:nvPicPr>
                      <p:cNvPr id="8" name="Object 39">
                        <a:extLst>
                          <a:ext uri="{FF2B5EF4-FFF2-40B4-BE49-F238E27FC236}">
                            <a16:creationId xmlns:a16="http://schemas.microsoft.com/office/drawing/2014/main" id="{6D113AEB-7CB5-FEC8-D96B-7FFC2F04B1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5116" y="678543"/>
                        <a:ext cx="1438275" cy="89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1" name="Group 20">
            <a:extLst>
              <a:ext uri="{FF2B5EF4-FFF2-40B4-BE49-F238E27FC236}">
                <a16:creationId xmlns:a16="http://schemas.microsoft.com/office/drawing/2014/main" id="{3B21C760-E70A-F037-9BDB-CFC8F2406DDA}"/>
              </a:ext>
            </a:extLst>
          </p:cNvPr>
          <p:cNvGrpSpPr/>
          <p:nvPr/>
        </p:nvGrpSpPr>
        <p:grpSpPr>
          <a:xfrm>
            <a:off x="7402286" y="1799770"/>
            <a:ext cx="682171" cy="559769"/>
            <a:chOff x="7402286" y="1799770"/>
            <a:chExt cx="682171" cy="559769"/>
          </a:xfrm>
        </p:grpSpPr>
        <p:sp>
          <p:nvSpPr>
            <p:cNvPr id="17" name="Left Brace 16">
              <a:extLst>
                <a:ext uri="{FF2B5EF4-FFF2-40B4-BE49-F238E27FC236}">
                  <a16:creationId xmlns:a16="http://schemas.microsoft.com/office/drawing/2014/main" id="{F25B68AB-0B61-02DC-49E2-7E90D2F6DF70}"/>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C6B4AE79-0B6E-78C6-65CB-3A9E0EB1C2A9}"/>
                </a:ext>
              </a:extLst>
            </p:cNvPr>
            <p:cNvSpPr txBox="1"/>
            <p:nvPr/>
          </p:nvSpPr>
          <p:spPr>
            <a:xfrm>
              <a:off x="7416800" y="1959429"/>
              <a:ext cx="667657" cy="400110"/>
            </a:xfrm>
            <a:prstGeom prst="rect">
              <a:avLst/>
            </a:prstGeom>
            <a:noFill/>
          </p:spPr>
          <p:txBody>
            <a:bodyPr wrap="square" rtlCol="0">
              <a:spAutoFit/>
            </a:bodyPr>
            <a:lstStyle/>
            <a:p>
              <a:r>
                <a:rPr lang="en-US" sz="2000" i="1" dirty="0" err="1">
                  <a:latin typeface="Times" pitchFamily="2" charset="0"/>
                </a:rPr>
                <a:t>a</a:t>
              </a:r>
              <a:r>
                <a:rPr lang="en-US" sz="2000" baseline="-25000" dirty="0" err="1">
                  <a:latin typeface="Times" pitchFamily="2" charset="0"/>
                </a:rPr>
                <a:t>T</a:t>
              </a:r>
              <a:endParaRPr lang="en-US" sz="2000" baseline="-25000" dirty="0">
                <a:latin typeface="Times" pitchFamily="2" charset="0"/>
              </a:endParaRPr>
            </a:p>
          </p:txBody>
        </p:sp>
      </p:grpSp>
      <p:grpSp>
        <p:nvGrpSpPr>
          <p:cNvPr id="23" name="Group 22">
            <a:extLst>
              <a:ext uri="{FF2B5EF4-FFF2-40B4-BE49-F238E27FC236}">
                <a16:creationId xmlns:a16="http://schemas.microsoft.com/office/drawing/2014/main" id="{F37F2B7B-7D37-89F8-BFB7-C87F816C90C2}"/>
              </a:ext>
            </a:extLst>
          </p:cNvPr>
          <p:cNvGrpSpPr/>
          <p:nvPr/>
        </p:nvGrpSpPr>
        <p:grpSpPr>
          <a:xfrm>
            <a:off x="8338458" y="1807027"/>
            <a:ext cx="682171" cy="559769"/>
            <a:chOff x="7402286" y="1799770"/>
            <a:chExt cx="682171" cy="559769"/>
          </a:xfrm>
        </p:grpSpPr>
        <p:sp>
          <p:nvSpPr>
            <p:cNvPr id="24" name="Left Brace 23">
              <a:extLst>
                <a:ext uri="{FF2B5EF4-FFF2-40B4-BE49-F238E27FC236}">
                  <a16:creationId xmlns:a16="http://schemas.microsoft.com/office/drawing/2014/main" id="{7ADB8190-A27E-E65B-0A55-CB18EF2F0B5B}"/>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6C565F84-DB25-8A5B-06D7-45BD4BADAA62}"/>
                </a:ext>
              </a:extLst>
            </p:cNvPr>
            <p:cNvSpPr txBox="1"/>
            <p:nvPr/>
          </p:nvSpPr>
          <p:spPr>
            <a:xfrm>
              <a:off x="7416800" y="1959429"/>
              <a:ext cx="667657" cy="400110"/>
            </a:xfrm>
            <a:prstGeom prst="rect">
              <a:avLst/>
            </a:prstGeom>
            <a:noFill/>
          </p:spPr>
          <p:txBody>
            <a:bodyPr wrap="square" rtlCol="0">
              <a:spAutoFit/>
            </a:bodyPr>
            <a:lstStyle/>
            <a:p>
              <a:r>
                <a:rPr lang="en-US" sz="2000" i="1" dirty="0">
                  <a:latin typeface="Symbol" pitchFamily="2" charset="2"/>
                </a:rPr>
                <a:t>a</a:t>
              </a:r>
              <a:endParaRPr lang="en-US" sz="2000" baseline="-25000" dirty="0">
                <a:latin typeface="Symbol" pitchFamily="2" charset="2"/>
              </a:endParaRPr>
            </a:p>
          </p:txBody>
        </p:sp>
      </p:grpSp>
      <p:grpSp>
        <p:nvGrpSpPr>
          <p:cNvPr id="52" name="Group 51">
            <a:extLst>
              <a:ext uri="{FF2B5EF4-FFF2-40B4-BE49-F238E27FC236}">
                <a16:creationId xmlns:a16="http://schemas.microsoft.com/office/drawing/2014/main" id="{289A4B3F-A89C-FEA0-B44D-DE2376C861DD}"/>
              </a:ext>
            </a:extLst>
          </p:cNvPr>
          <p:cNvGrpSpPr/>
          <p:nvPr/>
        </p:nvGrpSpPr>
        <p:grpSpPr>
          <a:xfrm>
            <a:off x="7246961" y="4176215"/>
            <a:ext cx="4408226" cy="2183642"/>
            <a:chOff x="7246961" y="4176215"/>
            <a:chExt cx="4408226" cy="2183642"/>
          </a:xfrm>
        </p:grpSpPr>
        <p:sp>
          <p:nvSpPr>
            <p:cNvPr id="38" name="Rectangle 37">
              <a:extLst>
                <a:ext uri="{FF2B5EF4-FFF2-40B4-BE49-F238E27FC236}">
                  <a16:creationId xmlns:a16="http://schemas.microsoft.com/office/drawing/2014/main" id="{7FCDEC91-2CE7-5E1C-4743-4D6EB0FC3AC6}"/>
                </a:ext>
              </a:extLst>
            </p:cNvPr>
            <p:cNvSpPr/>
            <p:nvPr/>
          </p:nvSpPr>
          <p:spPr>
            <a:xfrm>
              <a:off x="7246961" y="4176215"/>
              <a:ext cx="4339988" cy="4776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370A0C8-CB4C-E4EA-2626-F14A805760D9}"/>
                </a:ext>
              </a:extLst>
            </p:cNvPr>
            <p:cNvSpPr/>
            <p:nvPr/>
          </p:nvSpPr>
          <p:spPr>
            <a:xfrm>
              <a:off x="7246961" y="4176215"/>
              <a:ext cx="4367284" cy="2183642"/>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99B03F9-290F-18B2-A618-87D2C67FF6AD}"/>
                </a:ext>
              </a:extLst>
            </p:cNvPr>
            <p:cNvSpPr txBox="1"/>
            <p:nvPr/>
          </p:nvSpPr>
          <p:spPr>
            <a:xfrm>
              <a:off x="7328847" y="4217157"/>
              <a:ext cx="4326340" cy="400110"/>
            </a:xfrm>
            <a:prstGeom prst="rect">
              <a:avLst/>
            </a:prstGeom>
            <a:noFill/>
          </p:spPr>
          <p:txBody>
            <a:bodyPr wrap="square" rtlCol="0">
              <a:spAutoFit/>
            </a:bodyPr>
            <a:lstStyle/>
            <a:p>
              <a:r>
                <a:rPr lang="en-US" sz="2000" b="1" dirty="0"/>
                <a:t>Linear variable = </a:t>
              </a:r>
              <a:r>
                <a:rPr lang="en-US" sz="2000" b="1" i="1" dirty="0">
                  <a:latin typeface="Times" pitchFamily="2" charset="0"/>
                </a:rPr>
                <a:t>r</a:t>
              </a:r>
              <a:r>
                <a:rPr lang="en-US" sz="2000" b="1" dirty="0"/>
                <a:t>(Rotational variable)</a:t>
              </a:r>
            </a:p>
          </p:txBody>
        </p:sp>
        <p:sp>
          <p:nvSpPr>
            <p:cNvPr id="40" name="TextBox 39">
              <a:extLst>
                <a:ext uri="{FF2B5EF4-FFF2-40B4-BE49-F238E27FC236}">
                  <a16:creationId xmlns:a16="http://schemas.microsoft.com/office/drawing/2014/main" id="{74E1ADB8-D6EE-15E9-3E0C-186E2CA8A359}"/>
                </a:ext>
              </a:extLst>
            </p:cNvPr>
            <p:cNvSpPr txBox="1"/>
            <p:nvPr/>
          </p:nvSpPr>
          <p:spPr>
            <a:xfrm>
              <a:off x="8147713" y="4694829"/>
              <a:ext cx="2852382" cy="461665"/>
            </a:xfrm>
            <a:prstGeom prst="rect">
              <a:avLst/>
            </a:prstGeom>
            <a:noFill/>
          </p:spPr>
          <p:txBody>
            <a:bodyPr wrap="square" rtlCol="0">
              <a:spAutoFit/>
            </a:bodyPr>
            <a:lstStyle/>
            <a:p>
              <a:r>
                <a:rPr lang="en-US" sz="2400" dirty="0"/>
                <a:t>Displacement:  </a:t>
              </a:r>
              <a:r>
                <a:rPr lang="en-US" sz="2400" i="1" dirty="0">
                  <a:latin typeface="Times" pitchFamily="2" charset="0"/>
                </a:rPr>
                <a:t>s</a:t>
              </a:r>
              <a:r>
                <a:rPr lang="en-US" sz="2400" dirty="0">
                  <a:latin typeface="Times" pitchFamily="2" charset="0"/>
                </a:rPr>
                <a:t> =</a:t>
              </a:r>
              <a:r>
                <a:rPr lang="en-US" sz="2400" i="1" dirty="0" err="1">
                  <a:latin typeface="Times" pitchFamily="2" charset="0"/>
                </a:rPr>
                <a:t>r</a:t>
              </a:r>
              <a:r>
                <a:rPr lang="en-US" sz="2400" i="1" dirty="0" err="1">
                  <a:latin typeface="Symbol" pitchFamily="2" charset="2"/>
                </a:rPr>
                <a:t>q</a:t>
              </a:r>
              <a:endParaRPr lang="en-US" sz="2400" i="1" dirty="0">
                <a:latin typeface="Symbol" pitchFamily="2" charset="2"/>
              </a:endParaRPr>
            </a:p>
          </p:txBody>
        </p:sp>
        <p:sp>
          <p:nvSpPr>
            <p:cNvPr id="41" name="TextBox 40">
              <a:extLst>
                <a:ext uri="{FF2B5EF4-FFF2-40B4-BE49-F238E27FC236}">
                  <a16:creationId xmlns:a16="http://schemas.microsoft.com/office/drawing/2014/main" id="{29FCA241-913E-1836-82C8-8EB1EEC51F86}"/>
                </a:ext>
              </a:extLst>
            </p:cNvPr>
            <p:cNvSpPr txBox="1"/>
            <p:nvPr/>
          </p:nvSpPr>
          <p:spPr>
            <a:xfrm>
              <a:off x="8379729" y="5236191"/>
              <a:ext cx="2483893" cy="461665"/>
            </a:xfrm>
            <a:prstGeom prst="rect">
              <a:avLst/>
            </a:prstGeom>
            <a:noFill/>
          </p:spPr>
          <p:txBody>
            <a:bodyPr wrap="square" rtlCol="0">
              <a:spAutoFit/>
            </a:bodyPr>
            <a:lstStyle/>
            <a:p>
              <a:r>
                <a:rPr lang="en-US" sz="2400" dirty="0"/>
                <a:t>Velocity:  </a:t>
              </a:r>
              <a:r>
                <a:rPr lang="en-US" sz="2400" i="1" dirty="0" err="1">
                  <a:latin typeface="Times" pitchFamily="2" charset="0"/>
                </a:rPr>
                <a:t>v</a:t>
              </a:r>
              <a:r>
                <a:rPr lang="en-US" sz="2400" baseline="-25000" dirty="0" err="1">
                  <a:latin typeface="Times" pitchFamily="2" charset="0"/>
                </a:rPr>
                <a:t>T</a:t>
              </a:r>
              <a:r>
                <a:rPr lang="en-US" sz="2400" dirty="0">
                  <a:latin typeface="Times" pitchFamily="2" charset="0"/>
                </a:rPr>
                <a:t> =</a:t>
              </a:r>
              <a:r>
                <a:rPr lang="en-US" sz="2400" i="1" dirty="0" err="1">
                  <a:latin typeface="Times" pitchFamily="2" charset="0"/>
                </a:rPr>
                <a:t>r</a:t>
              </a:r>
              <a:r>
                <a:rPr lang="en-US" sz="2400" i="1" dirty="0" err="1">
                  <a:latin typeface="Symbol" pitchFamily="2" charset="2"/>
                </a:rPr>
                <a:t>w</a:t>
              </a:r>
              <a:endParaRPr lang="en-US" sz="2400" i="1" dirty="0">
                <a:latin typeface="Symbol" pitchFamily="2" charset="2"/>
              </a:endParaRPr>
            </a:p>
          </p:txBody>
        </p:sp>
        <p:sp>
          <p:nvSpPr>
            <p:cNvPr id="43" name="TextBox 42">
              <a:extLst>
                <a:ext uri="{FF2B5EF4-FFF2-40B4-BE49-F238E27FC236}">
                  <a16:creationId xmlns:a16="http://schemas.microsoft.com/office/drawing/2014/main" id="{FE348E33-F110-8134-FAD4-024FFF389B37}"/>
                </a:ext>
              </a:extLst>
            </p:cNvPr>
            <p:cNvSpPr txBox="1"/>
            <p:nvPr/>
          </p:nvSpPr>
          <p:spPr>
            <a:xfrm>
              <a:off x="8129518" y="5832145"/>
              <a:ext cx="3134436" cy="461665"/>
            </a:xfrm>
            <a:prstGeom prst="rect">
              <a:avLst/>
            </a:prstGeom>
            <a:noFill/>
          </p:spPr>
          <p:txBody>
            <a:bodyPr wrap="square" rtlCol="0">
              <a:spAutoFit/>
            </a:bodyPr>
            <a:lstStyle/>
            <a:p>
              <a:r>
                <a:rPr lang="en-US" sz="2400" dirty="0"/>
                <a:t>Acceleration:  </a:t>
              </a:r>
              <a:r>
                <a:rPr lang="en-US" sz="2400" i="1" dirty="0" err="1">
                  <a:latin typeface="Times" pitchFamily="2" charset="0"/>
                </a:rPr>
                <a:t>a</a:t>
              </a:r>
              <a:r>
                <a:rPr lang="en-US" sz="2400" baseline="-25000" dirty="0" err="1">
                  <a:latin typeface="Times" pitchFamily="2" charset="0"/>
                </a:rPr>
                <a:t>T</a:t>
              </a:r>
              <a:r>
                <a:rPr lang="en-US" sz="2400" dirty="0">
                  <a:latin typeface="Times" pitchFamily="2" charset="0"/>
                </a:rPr>
                <a:t> =</a:t>
              </a:r>
              <a:r>
                <a:rPr lang="en-US" sz="2400" i="1" dirty="0" err="1">
                  <a:latin typeface="Times" pitchFamily="2" charset="0"/>
                </a:rPr>
                <a:t>r</a:t>
              </a:r>
              <a:r>
                <a:rPr lang="en-US" sz="2400" i="1" dirty="0" err="1">
                  <a:latin typeface="Symbol" pitchFamily="2" charset="2"/>
                </a:rPr>
                <a:t>a</a:t>
              </a:r>
              <a:endParaRPr lang="en-US" sz="2400" i="1" dirty="0">
                <a:latin typeface="Symbol" pitchFamily="2" charset="2"/>
              </a:endParaRPr>
            </a:p>
          </p:txBody>
        </p:sp>
        <p:cxnSp>
          <p:nvCxnSpPr>
            <p:cNvPr id="45" name="Straight Connector 44">
              <a:extLst>
                <a:ext uri="{FF2B5EF4-FFF2-40B4-BE49-F238E27FC236}">
                  <a16:creationId xmlns:a16="http://schemas.microsoft.com/office/drawing/2014/main" id="{980A1A67-34C0-C3A5-6FDA-CE0562393506}"/>
                </a:ext>
              </a:extLst>
            </p:cNvPr>
            <p:cNvCxnSpPr/>
            <p:nvPr/>
          </p:nvCxnSpPr>
          <p:spPr>
            <a:xfrm>
              <a:off x="7260609" y="5732060"/>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762498-6BAB-33F1-A225-5F07721B8CC3}"/>
                </a:ext>
              </a:extLst>
            </p:cNvPr>
            <p:cNvCxnSpPr/>
            <p:nvPr/>
          </p:nvCxnSpPr>
          <p:spPr>
            <a:xfrm>
              <a:off x="7262884" y="5188425"/>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589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ox(in)">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dissolv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ssolve">
                                      <p:cBhvr>
                                        <p:cTn id="30" dur="500"/>
                                        <p:tgtEl>
                                          <p:spTgt spid="12"/>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dissolv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dissolve">
                                      <p:cBhvr>
                                        <p:cTn id="39" dur="500"/>
                                        <p:tgtEl>
                                          <p:spTgt spid="27"/>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dissolv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dissolve">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dissolve">
                                      <p:cBhvr>
                                        <p:cTn id="62" dur="500"/>
                                        <p:tgtEl>
                                          <p:spTgt spid="34"/>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dissolve">
                                      <p:cBhvr>
                                        <p:cTn id="65" dur="500"/>
                                        <p:tgtEl>
                                          <p:spTgt spid="13"/>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dissolve">
                                      <p:cBhvr>
                                        <p:cTn id="68" dur="500"/>
                                        <p:tgtEl>
                                          <p:spTgt spid="47"/>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dissolve">
                                      <p:cBhvr>
                                        <p:cTn id="73" dur="500"/>
                                        <p:tgtEl>
                                          <p:spTgt spid="4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dissolve">
                                      <p:cBhvr>
                                        <p:cTn id="7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27" grpId="0"/>
      <p:bldP spid="28" grpId="0" animBg="1"/>
      <p:bldP spid="29" grpId="0"/>
      <p:bldP spid="31" grpId="0"/>
      <p:bldP spid="30" grpId="0"/>
      <p:bldP spid="34" grpId="0"/>
      <p:bldP spid="47" grpId="0" animBg="1"/>
      <p:bldP spid="48" grpId="0"/>
      <p:bldP spid="13" grpId="0"/>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08D6-ED5F-152C-FC4A-F44A641E8E29}"/>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79ADBB6A-E93D-1D92-B913-26B5756B05EF}"/>
              </a:ext>
              <a:ext uri="{C183D7F6-B498-43B3-948B-1728B52AA6E4}">
                <adec:decorative xmlns:adec="http://schemas.microsoft.com/office/drawing/2017/decorative" val="1"/>
              </a:ext>
            </a:extLst>
          </p:cNvPr>
          <p:cNvSpPr/>
          <p:nvPr/>
        </p:nvSpPr>
        <p:spPr>
          <a:xfrm>
            <a:off x="518616" y="5042848"/>
            <a:ext cx="5131558"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E095F-36DC-76E1-E4CF-CE108DAF1783}"/>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8.4</a:t>
            </a:r>
            <a:r>
              <a:rPr lang="en-US" dirty="0">
                <a:latin typeface="Times New Roman" panose="02020603050405020304" pitchFamily="18" charset="0"/>
                <a:ea typeface="Calibri" charset="0"/>
                <a:cs typeface="Times New Roman" panose="02020603050405020304" pitchFamily="18" charset="0"/>
              </a:rPr>
              <a:t> Angular Variables and Tangential Variables (4 of 6)</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358DF29F-F824-0F71-AE26-9A84AC7DCCD6}"/>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Helicopter Blade</a:t>
            </a:r>
          </a:p>
        </p:txBody>
      </p:sp>
      <p:sp>
        <p:nvSpPr>
          <p:cNvPr id="7" name="Content Placeholder 2">
            <a:extLst>
              <a:ext uri="{FF2B5EF4-FFF2-40B4-BE49-F238E27FC236}">
                <a16:creationId xmlns:a16="http://schemas.microsoft.com/office/drawing/2014/main" id="{F05C4ABB-5F5B-EC6E-8AF9-300B4DEFE87C}"/>
              </a:ext>
            </a:extLst>
          </p:cNvPr>
          <p:cNvSpPr txBox="1">
            <a:spLocks noGrp="1"/>
          </p:cNvSpPr>
          <p:nvPr>
            <p:ph type="body" idx="2"/>
          </p:nvPr>
        </p:nvSpPr>
        <p:spPr>
          <a:xfrm>
            <a:off x="932231" y="1279270"/>
            <a:ext cx="7406552" cy="1938992"/>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 helicopter blade has an angular speed of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 6.50 rev/s and has an angular acceleration of </a:t>
            </a:r>
            <a:r>
              <a:rPr lang="en-US" sz="2400"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 = 1.30 rev/s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For points 1 and 2 on the blade in the figure, find the magnitudes of (</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the tangential speeds and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the tangential accelerations.</a:t>
            </a:r>
          </a:p>
        </p:txBody>
      </p:sp>
      <p:pic>
        <p:nvPicPr>
          <p:cNvPr id="5" name="Content Placeholder 3">
            <a:extLst>
              <a:ext uri="{FF2B5EF4-FFF2-40B4-BE49-F238E27FC236}">
                <a16:creationId xmlns:a16="http://schemas.microsoft.com/office/drawing/2014/main" id="{371EDA5F-E04B-12B4-0C4B-B25D439AA71F}"/>
              </a:ext>
            </a:extLst>
          </p:cNvPr>
          <p:cNvPicPr>
            <a:picLocks noGrp="1" noChangeAspect="1"/>
          </p:cNvPicPr>
          <p:nvPr>
            <p:ph type="pic" idx="3"/>
          </p:nvPr>
        </p:nvPicPr>
        <p:blipFill>
          <a:blip r:embed="rId3"/>
          <a:stretch>
            <a:fillRect/>
          </a:stretch>
        </p:blipFill>
        <p:spPr>
          <a:xfrm>
            <a:off x="8543499" y="734704"/>
            <a:ext cx="3398292" cy="3010567"/>
          </a:xfrm>
          <a:prstGeom prst="rect">
            <a:avLst/>
          </a:prstGeom>
        </p:spPr>
      </p:pic>
      <p:sp>
        <p:nvSpPr>
          <p:cNvPr id="6" name="Content Placeholder 4">
            <a:extLst>
              <a:ext uri="{FF2B5EF4-FFF2-40B4-BE49-F238E27FC236}">
                <a16:creationId xmlns:a16="http://schemas.microsoft.com/office/drawing/2014/main" id="{607404B7-8A46-368F-9027-2EB49B03816E}"/>
              </a:ext>
            </a:extLst>
          </p:cNvPr>
          <p:cNvSpPr txBox="1">
            <a:spLocks noGrp="1"/>
          </p:cNvSpPr>
          <p:nvPr>
            <p:ph type="body" idx="4"/>
          </p:nvPr>
        </p:nvSpPr>
        <p:spPr>
          <a:xfrm>
            <a:off x="436729" y="3357349"/>
            <a:ext cx="9348716"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We can use Equation 8.9 to find the tangential speeds of the two points.</a:t>
            </a:r>
          </a:p>
        </p:txBody>
      </p:sp>
      <p:sp>
        <p:nvSpPr>
          <p:cNvPr id="10" name="Content Placeholder 5">
            <a:extLst>
              <a:ext uri="{FF2B5EF4-FFF2-40B4-BE49-F238E27FC236}">
                <a16:creationId xmlns:a16="http://schemas.microsoft.com/office/drawing/2014/main" id="{0C048065-D021-912B-80A0-224B8FA816A2}"/>
              </a:ext>
            </a:extLst>
          </p:cNvPr>
          <p:cNvSpPr txBox="1">
            <a:spLocks noGrp="1"/>
          </p:cNvSpPr>
          <p:nvPr>
            <p:ph type="body" idx="5"/>
          </p:nvPr>
        </p:nvSpPr>
        <p:spPr>
          <a:xfrm>
            <a:off x="466299" y="3932830"/>
            <a:ext cx="9348716"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will first have to convert the angular speed from rev/s to rad/s, so that our tangential speeds will have units of m/s.</a:t>
            </a:r>
          </a:p>
        </p:txBody>
      </p:sp>
      <p:graphicFrame>
        <p:nvGraphicFramePr>
          <p:cNvPr id="4" name="Object 3">
            <a:extLst>
              <a:ext uri="{FF2B5EF4-FFF2-40B4-BE49-F238E27FC236}">
                <a16:creationId xmlns:a16="http://schemas.microsoft.com/office/drawing/2014/main" id="{F2CC64FB-A96F-D666-F2B0-1CC4FE6DC3C2}"/>
              </a:ext>
            </a:extLst>
          </p:cNvPr>
          <p:cNvGraphicFramePr>
            <a:graphicFrameLocks noChangeAspect="1"/>
          </p:cNvGraphicFramePr>
          <p:nvPr>
            <p:extLst>
              <p:ext uri="{D42A27DB-BD31-4B8C-83A1-F6EECF244321}">
                <p14:modId xmlns:p14="http://schemas.microsoft.com/office/powerpoint/2010/main" val="2148862681"/>
              </p:ext>
            </p:extLst>
          </p:nvPr>
        </p:nvGraphicFramePr>
        <p:xfrm>
          <a:off x="609893" y="5072241"/>
          <a:ext cx="4989859" cy="859456"/>
        </p:xfrm>
        <a:graphic>
          <a:graphicData uri="http://schemas.openxmlformats.org/presentationml/2006/ole">
            <mc:AlternateContent xmlns:mc="http://schemas.openxmlformats.org/markup-compatibility/2006">
              <mc:Choice xmlns:v="urn:schemas-microsoft-com:vml" Requires="v">
                <p:oleObj name="Equation" r:id="rId4" imgW="2349360" imgH="431640" progId="Equation.DSMT4">
                  <p:embed/>
                </p:oleObj>
              </mc:Choice>
              <mc:Fallback>
                <p:oleObj name="Equation" r:id="rId4" imgW="2349360" imgH="431640" progId="Equation.DSMT4">
                  <p:embed/>
                  <p:pic>
                    <p:nvPicPr>
                      <p:cNvPr id="0" name=""/>
                      <p:cNvPicPr/>
                      <p:nvPr/>
                    </p:nvPicPr>
                    <p:blipFill>
                      <a:blip r:embed="rId5"/>
                      <a:stretch>
                        <a:fillRect/>
                      </a:stretch>
                    </p:blipFill>
                    <p:spPr>
                      <a:xfrm>
                        <a:off x="609893" y="5072241"/>
                        <a:ext cx="4989859" cy="859456"/>
                      </a:xfrm>
                      <a:prstGeom prst="rect">
                        <a:avLst/>
                      </a:prstGeom>
                    </p:spPr>
                  </p:pic>
                </p:oleObj>
              </mc:Fallback>
            </mc:AlternateContent>
          </a:graphicData>
        </a:graphic>
      </p:graphicFrame>
      <p:cxnSp>
        <p:nvCxnSpPr>
          <p:cNvPr id="26" name="Straight Connector 25">
            <a:extLst>
              <a:ext uri="{FF2B5EF4-FFF2-40B4-BE49-F238E27FC236}">
                <a16:creationId xmlns:a16="http://schemas.microsoft.com/office/drawing/2014/main" id="{09FE7AFE-557F-C1F3-3D0B-F86B8869BA14}"/>
              </a:ext>
              <a:ext uri="{C183D7F6-B498-43B3-948B-1728B52AA6E4}">
                <adec:decorative xmlns:adec="http://schemas.microsoft.com/office/drawing/2017/decorative" val="1"/>
              </a:ext>
            </a:extLst>
          </p:cNvPr>
          <p:cNvCxnSpPr/>
          <p:nvPr/>
        </p:nvCxnSpPr>
        <p:spPr>
          <a:xfrm flipV="1">
            <a:off x="2060812" y="5117910"/>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B2B1F04-B646-D75B-C331-36BB2CEA6FC7}"/>
              </a:ext>
              <a:ext uri="{C183D7F6-B498-43B3-948B-1728B52AA6E4}">
                <adec:decorative xmlns:adec="http://schemas.microsoft.com/office/drawing/2017/decorative" val="1"/>
              </a:ext>
            </a:extLst>
          </p:cNvPr>
          <p:cNvCxnSpPr/>
          <p:nvPr/>
        </p:nvCxnSpPr>
        <p:spPr>
          <a:xfrm flipV="1">
            <a:off x="3441511" y="5570561"/>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Content Placeholder 6">
            <a:extLst>
              <a:ext uri="{FF2B5EF4-FFF2-40B4-BE49-F238E27FC236}">
                <a16:creationId xmlns:a16="http://schemas.microsoft.com/office/drawing/2014/main" id="{F36CC623-BFAA-CCFF-9B5A-1F9DD66F7FB7}"/>
              </a:ext>
            </a:extLst>
          </p:cNvPr>
          <p:cNvSpPr txBox="1">
            <a:spLocks noGrp="1"/>
          </p:cNvSpPr>
          <p:nvPr>
            <p:ph type="body" idx="6"/>
          </p:nvPr>
        </p:nvSpPr>
        <p:spPr>
          <a:xfrm>
            <a:off x="7037695" y="4440071"/>
            <a:ext cx="5154305"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Applying Equation 8.9 to each point:</a:t>
            </a:r>
          </a:p>
        </p:txBody>
      </p:sp>
      <p:sp>
        <p:nvSpPr>
          <p:cNvPr id="42" name="Content Placeholder 7">
            <a:extLst>
              <a:ext uri="{FF2B5EF4-FFF2-40B4-BE49-F238E27FC236}">
                <a16:creationId xmlns:a16="http://schemas.microsoft.com/office/drawing/2014/main" id="{455C77CB-049F-3AFC-D80E-B0748635183A}"/>
              </a:ext>
            </a:extLst>
          </p:cNvPr>
          <p:cNvSpPr txBox="1">
            <a:spLocks noGrp="1"/>
          </p:cNvSpPr>
          <p:nvPr>
            <p:ph type="body" idx="7"/>
          </p:nvPr>
        </p:nvSpPr>
        <p:spPr>
          <a:xfrm>
            <a:off x="5675195" y="4920017"/>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Point 1: </a:t>
            </a:r>
          </a:p>
        </p:txBody>
      </p:sp>
      <p:sp>
        <p:nvSpPr>
          <p:cNvPr id="44" name="Rounded Rectangle 43">
            <a:extLst>
              <a:ext uri="{FF2B5EF4-FFF2-40B4-BE49-F238E27FC236}">
                <a16:creationId xmlns:a16="http://schemas.microsoft.com/office/drawing/2014/main" id="{87299D70-74A5-407B-EA67-7BB670CB671E}"/>
              </a:ext>
              <a:ext uri="{C183D7F6-B498-43B3-948B-1728B52AA6E4}">
                <adec:decorative xmlns:adec="http://schemas.microsoft.com/office/drawing/2017/decorative" val="1"/>
              </a:ext>
            </a:extLst>
          </p:cNvPr>
          <p:cNvSpPr/>
          <p:nvPr/>
        </p:nvSpPr>
        <p:spPr>
          <a:xfrm>
            <a:off x="6796584" y="4926841"/>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ontent Placeholder 8">
            <a:extLst>
              <a:ext uri="{FF2B5EF4-FFF2-40B4-BE49-F238E27FC236}">
                <a16:creationId xmlns:a16="http://schemas.microsoft.com/office/drawing/2014/main" id="{3A7F35DE-C4B1-D224-2E49-7F779C5C69C1}"/>
              </a:ext>
            </a:extLst>
          </p:cNvPr>
          <p:cNvSpPr txBox="1">
            <a:spLocks noGrp="1"/>
          </p:cNvSpPr>
          <p:nvPr>
            <p:ph type="body" idx="8"/>
          </p:nvPr>
        </p:nvSpPr>
        <p:spPr>
          <a:xfrm>
            <a:off x="6780099" y="4950204"/>
            <a:ext cx="543420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v</a:t>
            </a:r>
            <a:r>
              <a:rPr lang="en-US" sz="2400" baseline="-25000" dirty="0">
                <a:latin typeface="Times New Roman" panose="02020603050405020304" pitchFamily="18" charset="0"/>
                <a:cs typeface="Times New Roman" panose="02020603050405020304" pitchFamily="18" charset="0"/>
              </a:rPr>
              <a:t>T1</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r</a:t>
            </a:r>
            <a:r>
              <a:rPr lang="en-US" sz="2400" baseline="-25000" dirty="0">
                <a:latin typeface="Times New Roman" panose="02020603050405020304" pitchFamily="18" charset="0"/>
                <a:cs typeface="Times New Roman" panose="02020603050405020304" pitchFamily="18" charset="0"/>
              </a:rPr>
              <a:t>1</a:t>
            </a:r>
            <a:r>
              <a:rPr lang="en-US" sz="2400" i="1" dirty="0">
                <a:latin typeface="Times New Roman" panose="02020603050405020304" pitchFamily="18" charset="0"/>
                <a:cs typeface="Times New Roman" panose="02020603050405020304" pitchFamily="18" charset="0"/>
              </a:rPr>
              <a:t>ω </a:t>
            </a:r>
            <a:r>
              <a:rPr lang="en-US" sz="2400" dirty="0">
                <a:latin typeface="Times New Roman" panose="02020603050405020304" pitchFamily="18" charset="0"/>
                <a:cs typeface="Times New Roman" panose="02020603050405020304" pitchFamily="18" charset="0"/>
              </a:rPr>
              <a:t>= (3.00 m)(40.8 rad/s) = 122 m/s</a:t>
            </a:r>
            <a:endParaRPr lang="en-US" sz="2400" baseline="-25000" dirty="0">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858B9D47-B8BE-2B57-734A-FE554DCA3DDA}"/>
              </a:ext>
              <a:ext uri="{C183D7F6-B498-43B3-948B-1728B52AA6E4}">
                <adec:decorative xmlns:adec="http://schemas.microsoft.com/office/drawing/2017/decorative" val="1"/>
              </a:ext>
            </a:extLst>
          </p:cNvPr>
          <p:cNvSpPr/>
          <p:nvPr/>
        </p:nvSpPr>
        <p:spPr>
          <a:xfrm>
            <a:off x="11061700" y="4972050"/>
            <a:ext cx="1016000"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Content Placeholder 9">
            <a:extLst>
              <a:ext uri="{FF2B5EF4-FFF2-40B4-BE49-F238E27FC236}">
                <a16:creationId xmlns:a16="http://schemas.microsoft.com/office/drawing/2014/main" id="{628CC87E-422A-1E39-6F99-02B7E326EDC4}"/>
              </a:ext>
            </a:extLst>
          </p:cNvPr>
          <p:cNvSpPr txBox="1">
            <a:spLocks noGrp="1"/>
          </p:cNvSpPr>
          <p:nvPr>
            <p:ph type="body" idx="9"/>
          </p:nvPr>
        </p:nvSpPr>
        <p:spPr>
          <a:xfrm>
            <a:off x="5676594" y="5709980"/>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Point 2: </a:t>
            </a:r>
          </a:p>
        </p:txBody>
      </p:sp>
      <p:sp>
        <p:nvSpPr>
          <p:cNvPr id="56" name="Rounded Rectangle 55">
            <a:extLst>
              <a:ext uri="{FF2B5EF4-FFF2-40B4-BE49-F238E27FC236}">
                <a16:creationId xmlns:a16="http://schemas.microsoft.com/office/drawing/2014/main" id="{BCCBD415-E5C1-DDD5-DFFE-BD18857E6A8B}"/>
              </a:ext>
              <a:ext uri="{C183D7F6-B498-43B3-948B-1728B52AA6E4}">
                <adec:decorative xmlns:adec="http://schemas.microsoft.com/office/drawing/2017/decorative" val="1"/>
              </a:ext>
            </a:extLst>
          </p:cNvPr>
          <p:cNvSpPr/>
          <p:nvPr/>
        </p:nvSpPr>
        <p:spPr>
          <a:xfrm>
            <a:off x="6805293" y="5706259"/>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Content Placeholder 10">
            <a:extLst>
              <a:ext uri="{FF2B5EF4-FFF2-40B4-BE49-F238E27FC236}">
                <a16:creationId xmlns:a16="http://schemas.microsoft.com/office/drawing/2014/main" id="{8726C1AE-60CF-F208-9FB1-9B4F983D3451}"/>
              </a:ext>
            </a:extLst>
          </p:cNvPr>
          <p:cNvSpPr txBox="1">
            <a:spLocks noGrp="1"/>
          </p:cNvSpPr>
          <p:nvPr>
            <p:ph type="body" idx="10"/>
          </p:nvPr>
        </p:nvSpPr>
        <p:spPr>
          <a:xfrm>
            <a:off x="6788808" y="5707320"/>
            <a:ext cx="5425494"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v</a:t>
            </a:r>
            <a:r>
              <a:rPr lang="en-US" sz="2400" baseline="-25000" dirty="0">
                <a:latin typeface="Times New Roman" panose="02020603050405020304" pitchFamily="18" charset="0"/>
                <a:cs typeface="Times New Roman" panose="02020603050405020304" pitchFamily="18" charset="0"/>
              </a:rPr>
              <a:t>T2</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r</a:t>
            </a:r>
            <a:r>
              <a:rPr lang="en-US" sz="2400" baseline="-25000" dirty="0">
                <a:latin typeface="Times New Roman" panose="02020603050405020304" pitchFamily="18" charset="0"/>
                <a:cs typeface="Times New Roman" panose="02020603050405020304" pitchFamily="18" charset="0"/>
              </a:rPr>
              <a:t>2</a:t>
            </a:r>
            <a:r>
              <a:rPr lang="en-US" sz="2400" i="1" dirty="0">
                <a:latin typeface="Times New Roman" panose="02020603050405020304" pitchFamily="18" charset="0"/>
                <a:cs typeface="Times New Roman" panose="02020603050405020304" pitchFamily="18" charset="0"/>
              </a:rPr>
              <a:t>ω </a:t>
            </a:r>
            <a:r>
              <a:rPr lang="en-US" sz="2400" dirty="0">
                <a:latin typeface="Times New Roman" panose="02020603050405020304" pitchFamily="18" charset="0"/>
                <a:cs typeface="Times New Roman" panose="02020603050405020304" pitchFamily="18" charset="0"/>
              </a:rPr>
              <a:t>= (6.70 m)(40.8 rad/s) = 273 m/s</a:t>
            </a:r>
            <a:endParaRPr lang="en-US" sz="2400" baseline="-25000" dirty="0">
              <a:latin typeface="Times New Roman" panose="02020603050405020304" pitchFamily="18" charset="0"/>
              <a:cs typeface="Times New Roman" panose="02020603050405020304" pitchFamily="18" charset="0"/>
            </a:endParaRPr>
          </a:p>
        </p:txBody>
      </p:sp>
      <p:sp>
        <p:nvSpPr>
          <p:cNvPr id="60" name="Rectangle 59">
            <a:extLst>
              <a:ext uri="{FF2B5EF4-FFF2-40B4-BE49-F238E27FC236}">
                <a16:creationId xmlns:a16="http://schemas.microsoft.com/office/drawing/2014/main" id="{B8562965-E207-55F5-83BE-795C8DC0EDF5}"/>
              </a:ext>
              <a:ext uri="{C183D7F6-B498-43B3-948B-1728B52AA6E4}">
                <adec:decorative xmlns:adec="http://schemas.microsoft.com/office/drawing/2017/decorative" val="1"/>
              </a:ext>
            </a:extLst>
          </p:cNvPr>
          <p:cNvSpPr/>
          <p:nvPr/>
        </p:nvSpPr>
        <p:spPr>
          <a:xfrm>
            <a:off x="11070409" y="5751468"/>
            <a:ext cx="1016000"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339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dissolve">
                                      <p:cBhvr>
                                        <p:cTn id="25" dur="500"/>
                                        <p:tgtEl>
                                          <p:spTgt spid="26"/>
                                        </p:tgtEl>
                                      </p:cBhvr>
                                    </p:animEffect>
                                  </p:childTnLst>
                                </p:cTn>
                              </p:par>
                              <p:par>
                                <p:cTn id="26" presetID="9" presetClass="entr" presetSubtype="0"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dissolve">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dissolve">
                                      <p:cBhvr>
                                        <p:cTn id="33" dur="500"/>
                                        <p:tgtEl>
                                          <p:spTgt spid="39"/>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dissolve">
                                      <p:cBhvr>
                                        <p:cTn id="38" dur="500"/>
                                        <p:tgtEl>
                                          <p:spTgt spid="42"/>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dissolve">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dissolve">
                                      <p:cBhvr>
                                        <p:cTn id="47" dur="500"/>
                                        <p:tgtEl>
                                          <p:spTgt spid="49"/>
                                        </p:tgtEl>
                                      </p:cBhvr>
                                    </p:animEffect>
                                  </p:childTnLst>
                                </p:cTn>
                              </p:par>
                            </p:childTnLst>
                          </p:cTn>
                        </p:par>
                        <p:par>
                          <p:cTn id="48" fill="hold">
                            <p:stCondLst>
                              <p:cond delay="500"/>
                            </p:stCondLst>
                            <p:childTnLst>
                              <p:par>
                                <p:cTn id="49" presetID="9" presetClass="entr" presetSubtype="0" fill="hold" grpId="0" nodeType="after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dissolve">
                                      <p:cBhvr>
                                        <p:cTn id="51" dur="500"/>
                                        <p:tgtEl>
                                          <p:spTgt spid="54"/>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dissolve">
                                      <p:cBhvr>
                                        <p:cTn id="56" dur="500"/>
                                        <p:tgtEl>
                                          <p:spTgt spid="55"/>
                                        </p:tgtEl>
                                      </p:cBhvr>
                                    </p:animEffect>
                                  </p:childTnLst>
                                </p:cTn>
                              </p:par>
                            </p:childTnLst>
                          </p:cTn>
                        </p:par>
                        <p:par>
                          <p:cTn id="57" fill="hold">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dissolve">
                                      <p:cBhvr>
                                        <p:cTn id="60" dur="500"/>
                                        <p:tgtEl>
                                          <p:spTgt spid="56"/>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dissolve">
                                      <p:cBhvr>
                                        <p:cTn id="65" dur="500"/>
                                        <p:tgtEl>
                                          <p:spTgt spid="57"/>
                                        </p:tgtEl>
                                      </p:cBhvr>
                                    </p:animEffect>
                                  </p:childTnLst>
                                </p:cTn>
                              </p:par>
                            </p:childTnLst>
                          </p:cTn>
                        </p:par>
                        <p:par>
                          <p:cTn id="66" fill="hold">
                            <p:stCondLst>
                              <p:cond delay="500"/>
                            </p:stCondLst>
                            <p:childTnLst>
                              <p:par>
                                <p:cTn id="67" presetID="9" presetClass="entr" presetSubtype="0" fill="hold" grpId="0" nodeType="afterEffect">
                                  <p:stCondLst>
                                    <p:cond delay="0"/>
                                  </p:stCondLst>
                                  <p:childTnLst>
                                    <p:set>
                                      <p:cBhvr>
                                        <p:cTn id="68" dur="1" fill="hold">
                                          <p:stCondLst>
                                            <p:cond delay="0"/>
                                          </p:stCondLst>
                                        </p:cTn>
                                        <p:tgtEl>
                                          <p:spTgt spid="60"/>
                                        </p:tgtEl>
                                        <p:attrNameLst>
                                          <p:attrName>style.visibility</p:attrName>
                                        </p:attrNameLst>
                                      </p:cBhvr>
                                      <p:to>
                                        <p:strVal val="visible"/>
                                      </p:to>
                                    </p:set>
                                    <p:animEffect transition="in" filter="dissolve">
                                      <p:cBhvr>
                                        <p:cTn id="6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p:bldP spid="10" grpId="0"/>
      <p:bldP spid="39" grpId="0"/>
      <p:bldP spid="42" grpId="0"/>
      <p:bldP spid="44" grpId="0" animBg="1"/>
      <p:bldP spid="49" grpId="0"/>
      <p:bldP spid="54" grpId="0" animBg="1"/>
      <p:bldP spid="55" grpId="0"/>
      <p:bldP spid="56" grpId="0" animBg="1"/>
      <p:bldP spid="57" grpId="0"/>
      <p:bldP spid="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A831A-F177-47AA-E319-19699ED6E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C8415-0631-C7CF-A55F-6CD188A2154C}"/>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8.4</a:t>
            </a:r>
            <a:r>
              <a:rPr lang="en-US" dirty="0">
                <a:latin typeface="Times New Roman" panose="02020603050405020304" pitchFamily="18" charset="0"/>
                <a:ea typeface="Calibri" charset="0"/>
                <a:cs typeface="Times New Roman" panose="02020603050405020304" pitchFamily="18" charset="0"/>
              </a:rPr>
              <a:t> Angular Variables and Tangential Variables (5 of 6)</a:t>
            </a:r>
            <a:endParaRPr lang="en-US"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8C6058-0EB9-1806-B940-9048DD742F40}"/>
              </a:ext>
            </a:extLst>
          </p:cNvPr>
          <p:cNvSpPr txBox="1">
            <a:spLocks noGrp="1"/>
          </p:cNvSpPr>
          <p:nvPr>
            <p:ph type="body" idx="2"/>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Helicopter Blade</a:t>
            </a:r>
          </a:p>
        </p:txBody>
      </p:sp>
      <p:sp>
        <p:nvSpPr>
          <p:cNvPr id="7" name="Content Placeholder 1">
            <a:extLst>
              <a:ext uri="{FF2B5EF4-FFF2-40B4-BE49-F238E27FC236}">
                <a16:creationId xmlns:a16="http://schemas.microsoft.com/office/drawing/2014/main" id="{54A95D6D-72DE-93E9-F92E-E5EFD4CE7584}"/>
              </a:ext>
            </a:extLst>
          </p:cNvPr>
          <p:cNvSpPr txBox="1">
            <a:spLocks noGrp="1"/>
          </p:cNvSpPr>
          <p:nvPr>
            <p:ph type="body" idx="1"/>
          </p:nvPr>
        </p:nvSpPr>
        <p:spPr>
          <a:xfrm>
            <a:off x="932231" y="1279270"/>
            <a:ext cx="7406552" cy="1938992"/>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 helicopter blade has an angular speed of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 6.50 rev/s and has an angular acceleration of </a:t>
            </a:r>
            <a:r>
              <a:rPr lang="en-US" sz="2400"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 = 1.30 rev/s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For points 1 and 2 on the blade in the figure, find the magnitudes of (</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the tangential speeds and (</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the tangential accelerations.</a:t>
            </a:r>
          </a:p>
        </p:txBody>
      </p:sp>
      <p:pic>
        <p:nvPicPr>
          <p:cNvPr id="5" name="Content Placeholder 3">
            <a:extLst>
              <a:ext uri="{FF2B5EF4-FFF2-40B4-BE49-F238E27FC236}">
                <a16:creationId xmlns:a16="http://schemas.microsoft.com/office/drawing/2014/main" id="{38CAE671-0F1B-BBB8-D0A9-C9B7E060909B}"/>
              </a:ext>
            </a:extLst>
          </p:cNvPr>
          <p:cNvPicPr>
            <a:picLocks noGrp="1" noChangeAspect="1"/>
          </p:cNvPicPr>
          <p:nvPr>
            <p:ph type="pic" idx="3"/>
          </p:nvPr>
        </p:nvPicPr>
        <p:blipFill>
          <a:blip r:embed="rId3"/>
          <a:stretch>
            <a:fillRect/>
          </a:stretch>
        </p:blipFill>
        <p:spPr>
          <a:xfrm>
            <a:off x="8543499" y="734704"/>
            <a:ext cx="3398292" cy="3010567"/>
          </a:xfrm>
          <a:prstGeom prst="rect">
            <a:avLst/>
          </a:prstGeom>
        </p:spPr>
      </p:pic>
      <p:sp>
        <p:nvSpPr>
          <p:cNvPr id="4" name="Content Placeholder 4">
            <a:extLst>
              <a:ext uri="{FF2B5EF4-FFF2-40B4-BE49-F238E27FC236}">
                <a16:creationId xmlns:a16="http://schemas.microsoft.com/office/drawing/2014/main" id="{C6B1B955-04A8-2B67-6F07-48201EC4F34C}"/>
              </a:ext>
            </a:extLst>
          </p:cNvPr>
          <p:cNvSpPr txBox="1">
            <a:spLocks noGrp="1"/>
          </p:cNvSpPr>
          <p:nvPr>
            <p:ph type="body" idx="4"/>
          </p:nvPr>
        </p:nvSpPr>
        <p:spPr>
          <a:xfrm>
            <a:off x="436729" y="3357349"/>
            <a:ext cx="9348716"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The tangential accelerations can be found with Equation 8.10, once we convert the angular acceleration from rev/s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to rad/s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p>
        </p:txBody>
      </p:sp>
      <p:sp>
        <p:nvSpPr>
          <p:cNvPr id="25" name="Content Placeholder 5">
            <a:extLst>
              <a:ext uri="{FF2B5EF4-FFF2-40B4-BE49-F238E27FC236}">
                <a16:creationId xmlns:a16="http://schemas.microsoft.com/office/drawing/2014/main" id="{CB11F720-1329-5516-6F91-1BC47163C379}"/>
              </a:ext>
              <a:ext uri="{C183D7F6-B498-43B3-948B-1728B52AA6E4}">
                <adec:decorative xmlns:adec="http://schemas.microsoft.com/office/drawing/2017/decorative" val="1"/>
              </a:ext>
            </a:extLst>
          </p:cNvPr>
          <p:cNvSpPr>
            <a:spLocks noGrp="1"/>
          </p:cNvSpPr>
          <p:nvPr>
            <p:ph type="body" idx="5"/>
          </p:nvPr>
        </p:nvSpPr>
        <p:spPr>
          <a:xfrm>
            <a:off x="251916" y="4280848"/>
            <a:ext cx="5297984"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l">
              <a:lnSpc>
                <a:spcPct val="100000"/>
              </a:lnSpc>
              <a:spcBef>
                <a:spcPts val="0"/>
              </a:spcBef>
            </a:lvl1pPr>
          </a:lstStyle>
          <a:p>
            <a:pPr algn="ctr">
              <a:lnSpc>
                <a:spcPct val="100000"/>
              </a:lnSpc>
              <a:spcBef>
                <a:spcPts val="0"/>
              </a:spcBef>
              <a:spcAft>
                <a:spcPts val="0"/>
              </a:spcAft>
              <a:buNone/>
            </a:pPr>
            <a:r>
              <a:rPr lang="en-US" dirty="0">
                <a:latin typeface="Times New Roman"/>
              </a:rPr>
              <a:t> </a:t>
            </a:r>
          </a:p>
        </p:txBody>
      </p:sp>
      <p:graphicFrame>
        <p:nvGraphicFramePr>
          <p:cNvPr id="6" name="Object 5">
            <a:extLst>
              <a:ext uri="{FF2B5EF4-FFF2-40B4-BE49-F238E27FC236}">
                <a16:creationId xmlns:a16="http://schemas.microsoft.com/office/drawing/2014/main" id="{290BA557-8D8C-1308-1BDC-269406D52B4D}"/>
              </a:ext>
            </a:extLst>
          </p:cNvPr>
          <p:cNvGraphicFramePr>
            <a:graphicFrameLocks noChangeAspect="1"/>
          </p:cNvGraphicFramePr>
          <p:nvPr>
            <p:extLst>
              <p:ext uri="{D42A27DB-BD31-4B8C-83A1-F6EECF244321}">
                <p14:modId xmlns:p14="http://schemas.microsoft.com/office/powerpoint/2010/main" val="1470866337"/>
              </p:ext>
            </p:extLst>
          </p:nvPr>
        </p:nvGraphicFramePr>
        <p:xfrm>
          <a:off x="277259" y="4311344"/>
          <a:ext cx="5297984" cy="855605"/>
        </p:xfrm>
        <a:graphic>
          <a:graphicData uri="http://schemas.openxmlformats.org/presentationml/2006/ole">
            <mc:AlternateContent xmlns:mc="http://schemas.openxmlformats.org/markup-compatibility/2006">
              <mc:Choice xmlns:v="urn:schemas-microsoft-com:vml" Requires="v">
                <p:oleObj name="Equation" r:id="rId4" imgW="2400120" imgH="457200" progId="Equation.DSMT4">
                  <p:embed/>
                </p:oleObj>
              </mc:Choice>
              <mc:Fallback>
                <p:oleObj name="Equation" r:id="rId4" imgW="2400120" imgH="457200" progId="Equation.DSMT4">
                  <p:embed/>
                  <p:pic>
                    <p:nvPicPr>
                      <p:cNvPr id="0" name=""/>
                      <p:cNvPicPr/>
                      <p:nvPr/>
                    </p:nvPicPr>
                    <p:blipFill>
                      <a:blip r:embed="rId5"/>
                      <a:stretch>
                        <a:fillRect/>
                      </a:stretch>
                    </p:blipFill>
                    <p:spPr>
                      <a:xfrm>
                        <a:off x="277259" y="4311344"/>
                        <a:ext cx="5297984" cy="855605"/>
                      </a:xfrm>
                      <a:prstGeom prst="rect">
                        <a:avLst/>
                      </a:prstGeom>
                    </p:spPr>
                  </p:pic>
                </p:oleObj>
              </mc:Fallback>
            </mc:AlternateContent>
          </a:graphicData>
        </a:graphic>
      </p:graphicFrame>
      <p:cxnSp>
        <p:nvCxnSpPr>
          <p:cNvPr id="30" name="Straight Connector 29">
            <a:extLst>
              <a:ext uri="{FF2B5EF4-FFF2-40B4-BE49-F238E27FC236}">
                <a16:creationId xmlns:a16="http://schemas.microsoft.com/office/drawing/2014/main" id="{7636F8BA-E4E4-146B-3DD7-8ED08D7971B6}"/>
              </a:ext>
              <a:ext uri="{C183D7F6-B498-43B3-948B-1728B52AA6E4}">
                <adec:decorative xmlns:adec="http://schemas.microsoft.com/office/drawing/2017/decorative" val="1"/>
              </a:ext>
            </a:extLst>
          </p:cNvPr>
          <p:cNvCxnSpPr/>
          <p:nvPr/>
        </p:nvCxnSpPr>
        <p:spPr>
          <a:xfrm flipV="1">
            <a:off x="1794112" y="4355910"/>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7D714E3-94DB-1C2B-D845-E920730A1378}"/>
              </a:ext>
              <a:ext uri="{C183D7F6-B498-43B3-948B-1728B52AA6E4}">
                <adec:decorative xmlns:adec="http://schemas.microsoft.com/office/drawing/2017/decorative" val="1"/>
              </a:ext>
            </a:extLst>
          </p:cNvPr>
          <p:cNvCxnSpPr/>
          <p:nvPr/>
        </p:nvCxnSpPr>
        <p:spPr>
          <a:xfrm flipV="1">
            <a:off x="3174811" y="4808561"/>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Content Placeholder 6">
            <a:extLst>
              <a:ext uri="{FF2B5EF4-FFF2-40B4-BE49-F238E27FC236}">
                <a16:creationId xmlns:a16="http://schemas.microsoft.com/office/drawing/2014/main" id="{D481E344-BA26-9934-E941-26B641F92977}"/>
              </a:ext>
            </a:extLst>
          </p:cNvPr>
          <p:cNvSpPr txBox="1">
            <a:spLocks noGrp="1"/>
          </p:cNvSpPr>
          <p:nvPr>
            <p:ph type="body" idx="6"/>
          </p:nvPr>
        </p:nvSpPr>
        <p:spPr>
          <a:xfrm>
            <a:off x="6719033" y="4440078"/>
            <a:ext cx="5154305"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Applying Equation 8.10 to each point:</a:t>
            </a:r>
          </a:p>
        </p:txBody>
      </p:sp>
      <p:sp>
        <p:nvSpPr>
          <p:cNvPr id="40" name="Content Placeholder 7">
            <a:extLst>
              <a:ext uri="{FF2B5EF4-FFF2-40B4-BE49-F238E27FC236}">
                <a16:creationId xmlns:a16="http://schemas.microsoft.com/office/drawing/2014/main" id="{81E79ED2-8727-E37A-64FD-2DD4A94EB1AE}"/>
              </a:ext>
            </a:extLst>
          </p:cNvPr>
          <p:cNvSpPr txBox="1">
            <a:spLocks noGrp="1"/>
          </p:cNvSpPr>
          <p:nvPr>
            <p:ph type="body" idx="7"/>
          </p:nvPr>
        </p:nvSpPr>
        <p:spPr>
          <a:xfrm>
            <a:off x="5467370" y="5113987"/>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Point 1: </a:t>
            </a:r>
          </a:p>
        </p:txBody>
      </p:sp>
      <p:sp>
        <p:nvSpPr>
          <p:cNvPr id="41" name="Rounded Rectangle 40">
            <a:extLst>
              <a:ext uri="{FF2B5EF4-FFF2-40B4-BE49-F238E27FC236}">
                <a16:creationId xmlns:a16="http://schemas.microsoft.com/office/drawing/2014/main" id="{B46C2787-686B-87FF-CCCC-87527FDF7282}"/>
              </a:ext>
              <a:ext uri="{C183D7F6-B498-43B3-948B-1728B52AA6E4}">
                <adec:decorative xmlns:adec="http://schemas.microsoft.com/office/drawing/2017/decorative" val="1"/>
              </a:ext>
            </a:extLst>
          </p:cNvPr>
          <p:cNvSpPr/>
          <p:nvPr/>
        </p:nvSpPr>
        <p:spPr>
          <a:xfrm>
            <a:off x="6588759" y="5120811"/>
            <a:ext cx="553974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ontent Placeholder 8">
            <a:extLst>
              <a:ext uri="{FF2B5EF4-FFF2-40B4-BE49-F238E27FC236}">
                <a16:creationId xmlns:a16="http://schemas.microsoft.com/office/drawing/2014/main" id="{8928DC3C-A275-6B76-E6FB-AA4C295B4D41}"/>
              </a:ext>
            </a:extLst>
          </p:cNvPr>
          <p:cNvSpPr txBox="1">
            <a:spLocks noGrp="1"/>
          </p:cNvSpPr>
          <p:nvPr>
            <p:ph type="body" idx="8"/>
          </p:nvPr>
        </p:nvSpPr>
        <p:spPr>
          <a:xfrm>
            <a:off x="6549972" y="5077269"/>
            <a:ext cx="5805858"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T1</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r</a:t>
            </a:r>
            <a:r>
              <a:rPr lang="en-US" sz="2400" baseline="-25000" dirty="0">
                <a:latin typeface="Times New Roman" panose="02020603050405020304" pitchFamily="18" charset="0"/>
                <a:cs typeface="Times New Roman" panose="02020603050405020304" pitchFamily="18" charset="0"/>
              </a:rPr>
              <a:t>1</a:t>
            </a:r>
            <a:r>
              <a:rPr lang="en-US" sz="2400" i="1" dirty="0">
                <a:latin typeface="Times New Roman" panose="02020603050405020304" pitchFamily="18" charset="0"/>
                <a:cs typeface="Times New Roman" panose="02020603050405020304" pitchFamily="18" charset="0"/>
              </a:rPr>
              <a:t>α </a:t>
            </a:r>
            <a:r>
              <a:rPr lang="en-US" sz="2400" dirty="0">
                <a:latin typeface="Times New Roman" panose="02020603050405020304" pitchFamily="18" charset="0"/>
                <a:cs typeface="Times New Roman" panose="02020603050405020304" pitchFamily="18" charset="0"/>
              </a:rPr>
              <a:t>= (3.00 m)(8.17 rad/s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24.5 m/s</a:t>
            </a:r>
            <a:r>
              <a:rPr lang="en-US" sz="2400" baseline="30000" dirty="0">
                <a:latin typeface="Times New Roman" panose="02020603050405020304" pitchFamily="18" charset="0"/>
                <a:cs typeface="Times New Roman" panose="02020603050405020304" pitchFamily="18" charset="0"/>
              </a:rPr>
              <a:t>2</a:t>
            </a:r>
            <a:endParaRPr lang="en-US" sz="2400" baseline="-25000" dirty="0">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51C5ABDE-CB03-0E3A-A673-76387B0DD1FA}"/>
              </a:ext>
              <a:ext uri="{C183D7F6-B498-43B3-948B-1728B52AA6E4}">
                <adec:decorative xmlns:adec="http://schemas.microsoft.com/office/drawing/2017/decorative" val="1"/>
              </a:ext>
            </a:extLst>
          </p:cNvPr>
          <p:cNvSpPr/>
          <p:nvPr/>
        </p:nvSpPr>
        <p:spPr>
          <a:xfrm>
            <a:off x="10911025" y="5172370"/>
            <a:ext cx="1195250"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ontent Placeholder 9">
            <a:extLst>
              <a:ext uri="{FF2B5EF4-FFF2-40B4-BE49-F238E27FC236}">
                <a16:creationId xmlns:a16="http://schemas.microsoft.com/office/drawing/2014/main" id="{B76A51DE-977B-5A17-CCAB-559D1BE870C6}"/>
              </a:ext>
            </a:extLst>
          </p:cNvPr>
          <p:cNvSpPr txBox="1">
            <a:spLocks noGrp="1"/>
          </p:cNvSpPr>
          <p:nvPr>
            <p:ph type="body" idx="9"/>
          </p:nvPr>
        </p:nvSpPr>
        <p:spPr>
          <a:xfrm>
            <a:off x="5468769" y="5903950"/>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Point 2: </a:t>
            </a:r>
          </a:p>
        </p:txBody>
      </p:sp>
      <p:sp>
        <p:nvSpPr>
          <p:cNvPr id="50" name="Rounded Rectangle 49">
            <a:extLst>
              <a:ext uri="{FF2B5EF4-FFF2-40B4-BE49-F238E27FC236}">
                <a16:creationId xmlns:a16="http://schemas.microsoft.com/office/drawing/2014/main" id="{8EC604FD-897B-576B-2000-5F724DAF0027}"/>
              </a:ext>
              <a:ext uri="{C183D7F6-B498-43B3-948B-1728B52AA6E4}">
                <adec:decorative xmlns:adec="http://schemas.microsoft.com/office/drawing/2017/decorative" val="1"/>
              </a:ext>
            </a:extLst>
          </p:cNvPr>
          <p:cNvSpPr/>
          <p:nvPr/>
        </p:nvSpPr>
        <p:spPr>
          <a:xfrm>
            <a:off x="6597468" y="5900229"/>
            <a:ext cx="5534207"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Content Placeholder 10">
            <a:extLst>
              <a:ext uri="{FF2B5EF4-FFF2-40B4-BE49-F238E27FC236}">
                <a16:creationId xmlns:a16="http://schemas.microsoft.com/office/drawing/2014/main" id="{6EAD9225-0FE5-C9B9-B6B8-244B22017F48}"/>
              </a:ext>
            </a:extLst>
          </p:cNvPr>
          <p:cNvSpPr txBox="1">
            <a:spLocks noGrp="1"/>
          </p:cNvSpPr>
          <p:nvPr>
            <p:ph type="body" idx="10"/>
          </p:nvPr>
        </p:nvSpPr>
        <p:spPr>
          <a:xfrm>
            <a:off x="6558681" y="5856687"/>
            <a:ext cx="5805858"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T2</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r</a:t>
            </a:r>
            <a:r>
              <a:rPr lang="en-US" sz="2400" baseline="-25000" dirty="0">
                <a:latin typeface="Times New Roman" panose="02020603050405020304" pitchFamily="18" charset="0"/>
                <a:cs typeface="Times New Roman" panose="02020603050405020304" pitchFamily="18" charset="0"/>
              </a:rPr>
              <a:t>2</a:t>
            </a:r>
            <a:r>
              <a:rPr lang="en-US" sz="2400" i="1" dirty="0">
                <a:latin typeface="Times New Roman" panose="02020603050405020304" pitchFamily="18" charset="0"/>
                <a:cs typeface="Times New Roman" panose="02020603050405020304" pitchFamily="18" charset="0"/>
              </a:rPr>
              <a:t>α </a:t>
            </a:r>
            <a:r>
              <a:rPr lang="en-US" sz="2400" dirty="0">
                <a:latin typeface="Times New Roman" panose="02020603050405020304" pitchFamily="18" charset="0"/>
                <a:cs typeface="Times New Roman" panose="02020603050405020304" pitchFamily="18" charset="0"/>
              </a:rPr>
              <a:t>= (6.70 m)(8.17 rad/s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54.7 m/s</a:t>
            </a:r>
            <a:r>
              <a:rPr lang="en-US" sz="2400" baseline="30000" dirty="0">
                <a:latin typeface="Times New Roman" panose="02020603050405020304" pitchFamily="18" charset="0"/>
                <a:cs typeface="Times New Roman" panose="02020603050405020304" pitchFamily="18" charset="0"/>
              </a:rPr>
              <a:t>2</a:t>
            </a:r>
            <a:endParaRPr lang="en-US" sz="2400" baseline="-25000" dirty="0">
              <a:latin typeface="Times New Roman" panose="02020603050405020304" pitchFamily="18" charset="0"/>
              <a:cs typeface="Times New Roman" panose="02020603050405020304" pitchFamily="18" charset="0"/>
            </a:endParaRPr>
          </a:p>
        </p:txBody>
      </p:sp>
      <p:sp>
        <p:nvSpPr>
          <p:cNvPr id="63" name="Rectangle 62">
            <a:extLst>
              <a:ext uri="{FF2B5EF4-FFF2-40B4-BE49-F238E27FC236}">
                <a16:creationId xmlns:a16="http://schemas.microsoft.com/office/drawing/2014/main" id="{8E9856A3-1C25-143D-7179-E55EEF09C939}"/>
              </a:ext>
              <a:ext uri="{C183D7F6-B498-43B3-948B-1728B52AA6E4}">
                <adec:decorative xmlns:adec="http://schemas.microsoft.com/office/drawing/2017/decorative" val="1"/>
              </a:ext>
            </a:extLst>
          </p:cNvPr>
          <p:cNvSpPr/>
          <p:nvPr/>
        </p:nvSpPr>
        <p:spPr>
          <a:xfrm>
            <a:off x="10916558" y="5951788"/>
            <a:ext cx="1192891"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133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dissolve">
                                      <p:cBhvr>
                                        <p:cTn id="21" dur="500"/>
                                        <p:tgtEl>
                                          <p:spTgt spid="30"/>
                                        </p:tgtEl>
                                      </p:cBhvr>
                                    </p:animEffect>
                                  </p:childTnLst>
                                </p:cTn>
                              </p:par>
                              <p:par>
                                <p:cTn id="22" presetID="9" presetClass="entr" presetSubtype="0"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dissolve">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dissolve">
                                      <p:cBhvr>
                                        <p:cTn id="29" dur="500"/>
                                        <p:tgtEl>
                                          <p:spTgt spid="3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dissolve">
                                      <p:cBhvr>
                                        <p:cTn id="34" dur="500"/>
                                        <p:tgtEl>
                                          <p:spTgt spid="40"/>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dissolve">
                                      <p:cBhvr>
                                        <p:cTn id="38" dur="500"/>
                                        <p:tgtEl>
                                          <p:spTgt spid="41"/>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dissolve">
                                      <p:cBhvr>
                                        <p:cTn id="43" dur="500"/>
                                        <p:tgtEl>
                                          <p:spTgt spid="43"/>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dissolve">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dissolve">
                                      <p:cBhvr>
                                        <p:cTn id="52" dur="500"/>
                                        <p:tgtEl>
                                          <p:spTgt spid="48"/>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dissolve">
                                      <p:cBhvr>
                                        <p:cTn id="56" dur="500"/>
                                        <p:tgtEl>
                                          <p:spTgt spid="50"/>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dissolve">
                                      <p:cBhvr>
                                        <p:cTn id="61" dur="500"/>
                                        <p:tgtEl>
                                          <p:spTgt spid="52"/>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dissolve">
                                      <p:cBhvr>
                                        <p:cTn id="6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5" grpId="0" animBg="1"/>
      <p:bldP spid="38" grpId="0"/>
      <p:bldP spid="40" grpId="0"/>
      <p:bldP spid="41" grpId="0" animBg="1"/>
      <p:bldP spid="43" grpId="0"/>
      <p:bldP spid="47" grpId="0" animBg="1"/>
      <p:bldP spid="48" grpId="0"/>
      <p:bldP spid="50" grpId="0" animBg="1"/>
      <p:bldP spid="52" grpId="0"/>
      <p:bldP spid="6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1CBD-3B99-92A5-4155-9FD194954304}"/>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12023C0-EDDA-B00E-72E1-7A9A252DEA75}"/>
              </a:ext>
              <a:ext uri="{C183D7F6-B498-43B3-948B-1728B52AA6E4}">
                <adec:decorative xmlns:adec="http://schemas.microsoft.com/office/drawing/2017/decorative" val="1"/>
              </a:ext>
            </a:extLst>
          </p:cNvPr>
          <p:cNvSpPr/>
          <p:nvPr/>
        </p:nvSpPr>
        <p:spPr>
          <a:xfrm>
            <a:off x="884903" y="3347884"/>
            <a:ext cx="3510116" cy="412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764A4-6BF7-6FA8-C844-A4FA8FDB0F91}"/>
              </a:ext>
            </a:extLst>
          </p:cNvPr>
          <p:cNvSpPr>
            <a:spLocks noGrp="1"/>
          </p:cNvSpPr>
          <p:nvPr>
            <p:ph type="title"/>
          </p:nvPr>
        </p:nvSpPr>
        <p:spPr>
          <a:xfrm>
            <a:off x="654622" y="53787"/>
            <a:ext cx="10820401" cy="849312"/>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8.4</a:t>
            </a:r>
            <a:r>
              <a:rPr lang="en-US" dirty="0">
                <a:latin typeface="Times New Roman" panose="02020603050405020304" pitchFamily="18" charset="0"/>
                <a:ea typeface="Calibri" charset="0"/>
                <a:cs typeface="Times New Roman" panose="02020603050405020304" pitchFamily="18" charset="0"/>
              </a:rPr>
              <a:t> Angular Variables and Tangential Variables (6 of 6)</a:t>
            </a:r>
            <a:endParaRPr lang="en-US" sz="3000" dirty="0">
              <a:latin typeface="Times New Roman" panose="02020603050405020304" pitchFamily="18" charset="0"/>
              <a:cs typeface="Times New Roman" panose="02020603050405020304" pitchFamily="18" charset="0"/>
            </a:endParaRPr>
          </a:p>
        </p:txBody>
      </p:sp>
      <p:sp>
        <p:nvSpPr>
          <p:cNvPr id="6" name="Content Placeholder 1">
            <a:extLst>
              <a:ext uri="{FF2B5EF4-FFF2-40B4-BE49-F238E27FC236}">
                <a16:creationId xmlns:a16="http://schemas.microsoft.com/office/drawing/2014/main" id="{C2613A6B-A453-0D45-A4CE-49076A7BDAF5}"/>
              </a:ext>
            </a:extLst>
          </p:cNvPr>
          <p:cNvSpPr txBox="1">
            <a:spLocks noGrp="1"/>
          </p:cNvSpPr>
          <p:nvPr>
            <p:ph type="body" idx="1"/>
          </p:nvPr>
        </p:nvSpPr>
        <p:spPr>
          <a:xfrm>
            <a:off x="894631" y="727937"/>
            <a:ext cx="10382969" cy="3970318"/>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3400"/>
              </a:spcAft>
              <a:buNone/>
            </a:pPr>
            <a:r>
              <a:rPr lang="en-US" sz="2800" dirty="0">
                <a:solidFill>
                  <a:srgbClr val="3E5891"/>
                </a:solidFill>
                <a:latin typeface="Times New Roman" panose="02020603050405020304" pitchFamily="18" charset="0"/>
                <a:cs typeface="Times New Roman" panose="02020603050405020304" pitchFamily="18" charset="0"/>
              </a:rPr>
              <a:t>CYU/TPS – A building is located on the earth’s equator. As the earth rotates about its axis, which floor of the building has the greatest tangential speed?</a:t>
            </a:r>
          </a:p>
          <a:p>
            <a:pPr marL="514350" indent="-514350" algn="just">
              <a:buClr>
                <a:srgbClr val="3E5891"/>
              </a:buClr>
              <a:buAutoNum type="alphaLcParenBoth"/>
            </a:pPr>
            <a:r>
              <a:rPr lang="en-US" dirty="0">
                <a:solidFill>
                  <a:srgbClr val="3E5891"/>
                </a:solidFill>
                <a:latin typeface="Times New Roman" panose="02020603050405020304" pitchFamily="18" charset="0"/>
                <a:cs typeface="Times New Roman" panose="02020603050405020304" pitchFamily="18" charset="0"/>
              </a:rPr>
              <a:t>The first floor.</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The tenth floor.</a:t>
            </a:r>
          </a:p>
          <a:p>
            <a:pPr marL="514350" indent="-514350" algn="just">
              <a:buClr>
                <a:srgbClr val="3E5891"/>
              </a:buClr>
              <a:buAutoNum type="alphaLcParenBoth"/>
            </a:pPr>
            <a:r>
              <a:rPr lang="en-US" dirty="0">
                <a:solidFill>
                  <a:srgbClr val="3E5891"/>
                </a:solidFill>
                <a:latin typeface="Times New Roman" panose="02020603050405020304" pitchFamily="18" charset="0"/>
                <a:cs typeface="Times New Roman" panose="02020603050405020304" pitchFamily="18" charset="0"/>
              </a:rPr>
              <a:t>The twentieth floor.</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Each floor has the same tangential speed.</a:t>
            </a:r>
          </a:p>
        </p:txBody>
      </p:sp>
      <p:sp>
        <p:nvSpPr>
          <p:cNvPr id="8" name="Content Placeholder 2">
            <a:extLst>
              <a:ext uri="{FF2B5EF4-FFF2-40B4-BE49-F238E27FC236}">
                <a16:creationId xmlns:a16="http://schemas.microsoft.com/office/drawing/2014/main" id="{DCB1EE35-9EB1-031A-73D6-1564DCE7AC1F}"/>
              </a:ext>
            </a:extLst>
          </p:cNvPr>
          <p:cNvSpPr txBox="1">
            <a:spLocks noGrp="1"/>
          </p:cNvSpPr>
          <p:nvPr>
            <p:ph type="body" idx="2"/>
          </p:nvPr>
        </p:nvSpPr>
        <p:spPr>
          <a:xfrm rot="2431060">
            <a:off x="5059954" y="3006320"/>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Explain!</a:t>
            </a:r>
          </a:p>
        </p:txBody>
      </p:sp>
    </p:spTree>
    <p:extLst>
      <p:ext uri="{BB962C8B-B14F-4D97-AF65-F5344CB8AC3E}">
        <p14:creationId xmlns:p14="http://schemas.microsoft.com/office/powerpoint/2010/main" val="146500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DD46-2CA6-9F32-B0A7-50E4EEB0E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5C4FA-0E91-FEF4-14C1-E648E34E2B59}"/>
              </a:ext>
            </a:extLst>
          </p:cNvPr>
          <p:cNvSpPr>
            <a:spLocks noGrp="1"/>
          </p:cNvSpPr>
          <p:nvPr>
            <p:ph type="title"/>
          </p:nvPr>
        </p:nvSpPr>
        <p:spPr>
          <a:xfrm>
            <a:off x="133815" y="155885"/>
            <a:ext cx="12058185" cy="677755"/>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8.5</a:t>
            </a:r>
            <a:r>
              <a:rPr lang="en-US" dirty="0">
                <a:latin typeface="Times New Roman" panose="02020603050405020304" pitchFamily="18" charset="0"/>
                <a:ea typeface="Calibri" charset="0"/>
                <a:cs typeface="Times New Roman" panose="02020603050405020304" pitchFamily="18" charset="0"/>
              </a:rPr>
              <a:t> Centripetal Acceleration and Tangential Acceleration (1 of 5)</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027D081D-F983-D387-985E-ED54F3BB986D}"/>
              </a:ext>
              <a:ext uri="{C183D7F6-B498-43B3-948B-1728B52AA6E4}">
                <adec:decorative xmlns:adec="http://schemas.microsoft.com/office/drawing/2017/decorative" val="1"/>
              </a:ext>
            </a:extLst>
          </p:cNvPr>
          <p:cNvSpPr/>
          <p:nvPr/>
        </p:nvSpPr>
        <p:spPr>
          <a:xfrm>
            <a:off x="0" y="667765"/>
            <a:ext cx="12192000" cy="895563"/>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A82A4E73-66DD-7A88-890F-D5269A9408C3}"/>
              </a:ext>
            </a:extLst>
          </p:cNvPr>
          <p:cNvSpPr txBox="1">
            <a:spLocks noGrp="1"/>
          </p:cNvSpPr>
          <p:nvPr>
            <p:ph type="body" idx="1"/>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8.5 </a:t>
            </a:r>
            <a:r>
              <a:rPr lang="en-US" dirty="0">
                <a:latin typeface="Times New Roman" panose="02020603050405020304" pitchFamily="18" charset="0"/>
                <a:cs typeface="Times New Roman" panose="02020603050405020304" pitchFamily="18" charset="0"/>
              </a:rPr>
              <a:t>– Distinguish between centripetal and tangential accelerations.</a:t>
            </a:r>
          </a:p>
        </p:txBody>
      </p:sp>
      <p:sp>
        <p:nvSpPr>
          <p:cNvPr id="26" name="Content Placeholder 2">
            <a:extLst>
              <a:ext uri="{FF2B5EF4-FFF2-40B4-BE49-F238E27FC236}">
                <a16:creationId xmlns:a16="http://schemas.microsoft.com/office/drawing/2014/main" id="{23924AFC-CEB3-300D-DF41-5921B179135B}"/>
              </a:ext>
            </a:extLst>
          </p:cNvPr>
          <p:cNvSpPr txBox="1">
            <a:spLocks noGrp="1"/>
          </p:cNvSpPr>
          <p:nvPr>
            <p:ph type="body" idx="2"/>
          </p:nvPr>
        </p:nvSpPr>
        <p:spPr>
          <a:xfrm>
            <a:off x="921313" y="1698717"/>
            <a:ext cx="1089214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In Chapter 05, we studied </a:t>
            </a:r>
            <a:r>
              <a:rPr lang="en-US" sz="2400" dirty="0">
                <a:solidFill>
                  <a:srgbClr val="007440"/>
                </a:solidFill>
                <a:latin typeface="Times New Roman" panose="02020603050405020304" pitchFamily="18" charset="0"/>
                <a:cs typeface="Times New Roman" panose="02020603050405020304" pitchFamily="18" charset="0"/>
              </a:rPr>
              <a:t>uniform circular motion</a:t>
            </a:r>
            <a:r>
              <a:rPr lang="en-US" sz="2400" dirty="0">
                <a:latin typeface="Times New Roman" panose="02020603050405020304" pitchFamily="18" charset="0"/>
                <a:cs typeface="Times New Roman" panose="02020603050405020304" pitchFamily="18" charset="0"/>
              </a:rPr>
              <a:t>, where an object moved along a circular path at constant speed.</a:t>
            </a:r>
          </a:p>
        </p:txBody>
      </p:sp>
      <p:sp>
        <p:nvSpPr>
          <p:cNvPr id="20" name="Content Placeholder 4">
            <a:extLst>
              <a:ext uri="{FF2B5EF4-FFF2-40B4-BE49-F238E27FC236}">
                <a16:creationId xmlns:a16="http://schemas.microsoft.com/office/drawing/2014/main" id="{C471D0FD-71C4-057C-9912-81936F45B907}"/>
              </a:ext>
            </a:extLst>
          </p:cNvPr>
          <p:cNvSpPr txBox="1">
            <a:spLocks noGrp="1"/>
          </p:cNvSpPr>
          <p:nvPr>
            <p:ph type="body" idx="4"/>
          </p:nvPr>
        </p:nvSpPr>
        <p:spPr>
          <a:xfrm>
            <a:off x="3895936" y="2562317"/>
            <a:ext cx="8025132"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found that, even though the speed of the object (magnitude of the tangential velocity) was constant, an acceleration was present. We called this</a:t>
            </a:r>
          </a:p>
        </p:txBody>
      </p:sp>
      <p:sp>
        <p:nvSpPr>
          <p:cNvPr id="22" name="Rounded Rectangle 21">
            <a:extLst>
              <a:ext uri="{FF2B5EF4-FFF2-40B4-BE49-F238E27FC236}">
                <a16:creationId xmlns:a16="http://schemas.microsoft.com/office/drawing/2014/main" id="{E79CE880-EFA7-77A1-7639-C30991653D64}"/>
              </a:ext>
              <a:ext uri="{C183D7F6-B498-43B3-948B-1728B52AA6E4}">
                <adec:decorative xmlns:adec="http://schemas.microsoft.com/office/drawing/2017/decorative" val="1"/>
              </a:ext>
            </a:extLst>
          </p:cNvPr>
          <p:cNvSpPr/>
          <p:nvPr/>
        </p:nvSpPr>
        <p:spPr>
          <a:xfrm>
            <a:off x="6852355" y="3341512"/>
            <a:ext cx="3589867" cy="372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ntent Placeholder 5">
            <a:extLst>
              <a:ext uri="{FF2B5EF4-FFF2-40B4-BE49-F238E27FC236}">
                <a16:creationId xmlns:a16="http://schemas.microsoft.com/office/drawing/2014/main" id="{71850153-E1BD-7DC4-54BF-23A6B654024C}"/>
              </a:ext>
            </a:extLst>
          </p:cNvPr>
          <p:cNvSpPr txBox="1">
            <a:spLocks noGrp="1"/>
          </p:cNvSpPr>
          <p:nvPr>
            <p:ph type="body" idx="5"/>
          </p:nvPr>
        </p:nvSpPr>
        <p:spPr>
          <a:xfrm>
            <a:off x="6836692" y="3322601"/>
            <a:ext cx="3684552" cy="40011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centripetal acceleration</a:t>
            </a:r>
          </a:p>
        </p:txBody>
      </p:sp>
      <p:sp>
        <p:nvSpPr>
          <p:cNvPr id="35" name="Content Placeholder 6">
            <a:extLst>
              <a:ext uri="{FF2B5EF4-FFF2-40B4-BE49-F238E27FC236}">
                <a16:creationId xmlns:a16="http://schemas.microsoft.com/office/drawing/2014/main" id="{60B64759-4035-C58E-E6CC-BDD611E9129A}"/>
              </a:ext>
            </a:extLst>
          </p:cNvPr>
          <p:cNvSpPr txBox="1">
            <a:spLocks noGrp="1"/>
          </p:cNvSpPr>
          <p:nvPr>
            <p:ph type="body" idx="6"/>
          </p:nvPr>
        </p:nvSpPr>
        <p:spPr>
          <a:xfrm>
            <a:off x="10522514" y="3262228"/>
            <a:ext cx="935708"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itchFamily="2" charset="0"/>
                <a:cs typeface="Times New Roman" panose="02020603050405020304" pitchFamily="18" charset="0"/>
              </a:rPr>
              <a:t>or </a:t>
            </a:r>
            <a:r>
              <a:rPr lang="en-US" sz="2400" i="1" dirty="0">
                <a:latin typeface="Times New Roman" pitchFamily="2" charset="0"/>
                <a:cs typeface="Times New Roman" panose="02020603050405020304" pitchFamily="18" charset="0"/>
              </a:rPr>
              <a:t>a</a:t>
            </a:r>
            <a:r>
              <a:rPr lang="en-US" sz="2400" baseline="-25000" dirty="0">
                <a:latin typeface="Times New Roman" pitchFamily="2" charset="0"/>
                <a:cs typeface="Times New Roman" panose="02020603050405020304" pitchFamily="18" charset="0"/>
              </a:rPr>
              <a:t>c</a:t>
            </a:r>
            <a:r>
              <a:rPr lang="en-US" sz="2400" dirty="0">
                <a:latin typeface="Times New Roman" pitchFamily="2" charset="0"/>
                <a:cs typeface="Times New Roman" panose="02020603050405020304" pitchFamily="18" charset="0"/>
              </a:rPr>
              <a:t>.</a:t>
            </a:r>
            <a:endParaRPr lang="en-US" sz="2400" dirty="0">
              <a:latin typeface="Times New Roman" pitchFamily="2" charset="0"/>
            </a:endParaRPr>
          </a:p>
        </p:txBody>
      </p:sp>
      <p:sp>
        <p:nvSpPr>
          <p:cNvPr id="33" name="Content Placeholder 7">
            <a:extLst>
              <a:ext uri="{FF2B5EF4-FFF2-40B4-BE49-F238E27FC236}">
                <a16:creationId xmlns:a16="http://schemas.microsoft.com/office/drawing/2014/main" id="{A2838816-856B-4572-FAE5-2C646B58897A}"/>
              </a:ext>
            </a:extLst>
          </p:cNvPr>
          <p:cNvSpPr txBox="1">
            <a:spLocks noGrp="1"/>
          </p:cNvSpPr>
          <p:nvPr>
            <p:ph type="body" idx="7"/>
          </p:nvPr>
        </p:nvSpPr>
        <p:spPr>
          <a:xfrm>
            <a:off x="3901581" y="3921877"/>
            <a:ext cx="8025132"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magnitude of </a:t>
            </a:r>
            <a:r>
              <a:rPr lang="en-US" sz="2400" b="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is found using Equation 5.2:</a:t>
            </a:r>
          </a:p>
        </p:txBody>
      </p:sp>
      <p:sp>
        <p:nvSpPr>
          <p:cNvPr id="37" name="Rounded Rectangle 36">
            <a:extLst>
              <a:ext uri="{FF2B5EF4-FFF2-40B4-BE49-F238E27FC236}">
                <a16:creationId xmlns:a16="http://schemas.microsoft.com/office/drawing/2014/main" id="{6AFDBFB4-2AF3-7A5E-C03A-A4C4957E4012}"/>
              </a:ext>
              <a:ext uri="{C183D7F6-B498-43B3-948B-1728B52AA6E4}">
                <adec:decorative xmlns:adec="http://schemas.microsoft.com/office/drawing/2017/decorative" val="1"/>
              </a:ext>
            </a:extLst>
          </p:cNvPr>
          <p:cNvSpPr/>
          <p:nvPr/>
        </p:nvSpPr>
        <p:spPr>
          <a:xfrm>
            <a:off x="10103556" y="3802776"/>
            <a:ext cx="1241778" cy="857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Object 8">
            <a:extLst>
              <a:ext uri="{FF2B5EF4-FFF2-40B4-BE49-F238E27FC236}">
                <a16:creationId xmlns:a16="http://schemas.microsoft.com/office/drawing/2014/main" id="{916F6A09-E9EA-9D4F-8DCE-142E816222A7}"/>
              </a:ext>
            </a:extLst>
          </p:cNvPr>
          <p:cNvGraphicFramePr>
            <a:graphicFrameLocks noChangeAspect="1"/>
          </p:cNvGraphicFramePr>
          <p:nvPr>
            <p:extLst>
              <p:ext uri="{D42A27DB-BD31-4B8C-83A1-F6EECF244321}">
                <p14:modId xmlns:p14="http://schemas.microsoft.com/office/powerpoint/2010/main" val="647400555"/>
              </p:ext>
            </p:extLst>
          </p:nvPr>
        </p:nvGraphicFramePr>
        <p:xfrm>
          <a:off x="10192214" y="3824628"/>
          <a:ext cx="1153119" cy="823657"/>
        </p:xfrm>
        <a:graphic>
          <a:graphicData uri="http://schemas.openxmlformats.org/presentationml/2006/ole">
            <mc:AlternateContent xmlns:mc="http://schemas.openxmlformats.org/markup-compatibility/2006">
              <mc:Choice xmlns:v="urn:schemas-microsoft-com:vml" Requires="v">
                <p:oleObj name="Equation" r:id="rId3" imgW="622080" imgH="444240" progId="Equation.DSMT4">
                  <p:embed/>
                </p:oleObj>
              </mc:Choice>
              <mc:Fallback>
                <p:oleObj name="Equation" r:id="rId3" imgW="622080" imgH="444240" progId="Equation.DSMT4">
                  <p:embed/>
                  <p:pic>
                    <p:nvPicPr>
                      <p:cNvPr id="0" name=""/>
                      <p:cNvPicPr/>
                      <p:nvPr/>
                    </p:nvPicPr>
                    <p:blipFill>
                      <a:blip r:embed="rId4"/>
                      <a:stretch>
                        <a:fillRect/>
                      </a:stretch>
                    </p:blipFill>
                    <p:spPr>
                      <a:xfrm>
                        <a:off x="10192214" y="3824628"/>
                        <a:ext cx="1153119" cy="823657"/>
                      </a:xfrm>
                      <a:prstGeom prst="rect">
                        <a:avLst/>
                      </a:prstGeom>
                    </p:spPr>
                  </p:pic>
                </p:oleObj>
              </mc:Fallback>
            </mc:AlternateContent>
          </a:graphicData>
        </a:graphic>
      </p:graphicFrame>
      <p:sp>
        <p:nvSpPr>
          <p:cNvPr id="39" name="Content Placeholder 8">
            <a:extLst>
              <a:ext uri="{FF2B5EF4-FFF2-40B4-BE49-F238E27FC236}">
                <a16:creationId xmlns:a16="http://schemas.microsoft.com/office/drawing/2014/main" id="{0649D8B6-B3A6-B6D7-67F0-618E920ED404}"/>
              </a:ext>
            </a:extLst>
          </p:cNvPr>
          <p:cNvSpPr txBox="1">
            <a:spLocks noGrp="1"/>
          </p:cNvSpPr>
          <p:nvPr>
            <p:ph type="body" idx="8"/>
          </p:nvPr>
        </p:nvSpPr>
        <p:spPr>
          <a:xfrm>
            <a:off x="2942024" y="4362481"/>
            <a:ext cx="7071771"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And the direction of </a:t>
            </a:r>
            <a:r>
              <a:rPr lang="en-US" sz="2400" b="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always points </a:t>
            </a:r>
            <a:r>
              <a:rPr lang="en-US" sz="2400" dirty="0">
                <a:solidFill>
                  <a:srgbClr val="007440"/>
                </a:solidFill>
                <a:latin typeface="Times New Roman" panose="02020603050405020304" pitchFamily="18" charset="0"/>
                <a:cs typeface="Times New Roman" panose="02020603050405020304" pitchFamily="18" charset="0"/>
              </a:rPr>
              <a:t>in toward the center of the circular motion</a:t>
            </a:r>
            <a:r>
              <a:rPr lang="en-US" sz="2400" dirty="0">
                <a:latin typeface="Times New Roman" panose="02020603050405020304" pitchFamily="18" charset="0"/>
                <a:cs typeface="Times New Roman" panose="02020603050405020304" pitchFamily="18" charset="0"/>
              </a:rPr>
              <a:t>.</a:t>
            </a:r>
          </a:p>
        </p:txBody>
      </p:sp>
      <p:pic>
        <p:nvPicPr>
          <p:cNvPr id="12" name="Content Placeholder 9">
            <a:extLst>
              <a:ext uri="{FF2B5EF4-FFF2-40B4-BE49-F238E27FC236}">
                <a16:creationId xmlns:a16="http://schemas.microsoft.com/office/drawing/2014/main" id="{B961A1F3-3B6C-C3CD-755D-1BCB64C25235}"/>
              </a:ext>
            </a:extLst>
          </p:cNvPr>
          <p:cNvPicPr>
            <a:picLocks noGrp="1" noChangeAspect="1"/>
          </p:cNvPicPr>
          <p:nvPr>
            <p:ph type="pic" idx="9"/>
          </p:nvPr>
        </p:nvPicPr>
        <p:blipFill>
          <a:blip r:embed="rId5"/>
          <a:stretch>
            <a:fillRect/>
          </a:stretch>
        </p:blipFill>
        <p:spPr>
          <a:xfrm>
            <a:off x="9312353" y="3933183"/>
            <a:ext cx="2420322" cy="1329043"/>
          </a:xfrm>
          <a:prstGeom prst="rect">
            <a:avLst/>
          </a:prstGeom>
        </p:spPr>
      </p:pic>
      <p:sp>
        <p:nvSpPr>
          <p:cNvPr id="42" name="Content Placeholder 10">
            <a:extLst>
              <a:ext uri="{FF2B5EF4-FFF2-40B4-BE49-F238E27FC236}">
                <a16:creationId xmlns:a16="http://schemas.microsoft.com/office/drawing/2014/main" id="{8B3043AE-A1A8-D0B2-A6E9-918A7F29A33E}"/>
              </a:ext>
            </a:extLst>
          </p:cNvPr>
          <p:cNvSpPr txBox="1">
            <a:spLocks noGrp="1"/>
          </p:cNvSpPr>
          <p:nvPr>
            <p:ph type="body" idx="10"/>
          </p:nvPr>
        </p:nvSpPr>
        <p:spPr>
          <a:xfrm>
            <a:off x="133815" y="5155362"/>
            <a:ext cx="10058400"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can write Equation 5.2 purely in terms of angular variables, since</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T</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rω</a:t>
            </a:r>
            <a:r>
              <a:rPr lang="en-US" sz="2400" dirty="0">
                <a:latin typeface="Times New Roman" panose="02020603050405020304" pitchFamily="18" charset="0"/>
                <a:cs typeface="Times New Roman" panose="02020603050405020304" pitchFamily="18" charset="0"/>
              </a:rPr>
              <a:t>:</a:t>
            </a:r>
          </a:p>
        </p:txBody>
      </p:sp>
      <p:sp>
        <p:nvSpPr>
          <p:cNvPr id="69" name="Rounded Rectangle 68">
            <a:extLst>
              <a:ext uri="{FF2B5EF4-FFF2-40B4-BE49-F238E27FC236}">
                <a16:creationId xmlns:a16="http://schemas.microsoft.com/office/drawing/2014/main" id="{36706FD8-9918-7A6C-6853-7BF03F3B3735}"/>
              </a:ext>
              <a:ext uri="{C183D7F6-B498-43B3-948B-1728B52AA6E4}">
                <adec:decorative xmlns:adec="http://schemas.microsoft.com/office/drawing/2017/decorative" val="1"/>
              </a:ext>
            </a:extLst>
          </p:cNvPr>
          <p:cNvSpPr/>
          <p:nvPr/>
        </p:nvSpPr>
        <p:spPr>
          <a:xfrm>
            <a:off x="2766645" y="5580184"/>
            <a:ext cx="4431323" cy="8323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Object 12">
            <a:extLst>
              <a:ext uri="{FF2B5EF4-FFF2-40B4-BE49-F238E27FC236}">
                <a16:creationId xmlns:a16="http://schemas.microsoft.com/office/drawing/2014/main" id="{8A319852-D6A9-1CE1-81F4-C97820B67BB3}"/>
              </a:ext>
            </a:extLst>
          </p:cNvPr>
          <p:cNvGraphicFramePr>
            <a:graphicFrameLocks noChangeAspect="1"/>
          </p:cNvGraphicFramePr>
          <p:nvPr>
            <p:extLst>
              <p:ext uri="{D42A27DB-BD31-4B8C-83A1-F6EECF244321}">
                <p14:modId xmlns:p14="http://schemas.microsoft.com/office/powerpoint/2010/main" val="1020308952"/>
              </p:ext>
            </p:extLst>
          </p:nvPr>
        </p:nvGraphicFramePr>
        <p:xfrm>
          <a:off x="2815676" y="5557746"/>
          <a:ext cx="4234541" cy="786497"/>
        </p:xfrm>
        <a:graphic>
          <a:graphicData uri="http://schemas.openxmlformats.org/presentationml/2006/ole">
            <mc:AlternateContent xmlns:mc="http://schemas.openxmlformats.org/markup-compatibility/2006">
              <mc:Choice xmlns:v="urn:schemas-microsoft-com:vml" Requires="v">
                <p:oleObj name="Equation" r:id="rId6" imgW="2019240" imgH="444240" progId="Equation.DSMT4">
                  <p:embed/>
                </p:oleObj>
              </mc:Choice>
              <mc:Fallback>
                <p:oleObj name="Equation" r:id="rId6" imgW="2019240" imgH="444240" progId="Equation.DSMT4">
                  <p:embed/>
                  <p:pic>
                    <p:nvPicPr>
                      <p:cNvPr id="0" name=""/>
                      <p:cNvPicPr/>
                      <p:nvPr/>
                    </p:nvPicPr>
                    <p:blipFill>
                      <a:blip r:embed="rId7"/>
                      <a:stretch>
                        <a:fillRect/>
                      </a:stretch>
                    </p:blipFill>
                    <p:spPr>
                      <a:xfrm>
                        <a:off x="2815676" y="5557746"/>
                        <a:ext cx="4234541" cy="786497"/>
                      </a:xfrm>
                      <a:prstGeom prst="rect">
                        <a:avLst/>
                      </a:prstGeom>
                    </p:spPr>
                  </p:pic>
                </p:oleObj>
              </mc:Fallback>
            </mc:AlternateContent>
          </a:graphicData>
        </a:graphic>
      </p:graphicFrame>
      <p:cxnSp>
        <p:nvCxnSpPr>
          <p:cNvPr id="72" name="Straight Connector 71">
            <a:extLst>
              <a:ext uri="{FF2B5EF4-FFF2-40B4-BE49-F238E27FC236}">
                <a16:creationId xmlns:a16="http://schemas.microsoft.com/office/drawing/2014/main" id="{D595817D-D4E5-F06B-39DB-121B60736AC4}"/>
              </a:ext>
              <a:ext uri="{C183D7F6-B498-43B3-948B-1728B52AA6E4}">
                <adec:decorative xmlns:adec="http://schemas.microsoft.com/office/drawing/2017/decorative" val="1"/>
              </a:ext>
            </a:extLst>
          </p:cNvPr>
          <p:cNvCxnSpPr/>
          <p:nvPr/>
        </p:nvCxnSpPr>
        <p:spPr>
          <a:xfrm flipV="1">
            <a:off x="4800600" y="6196263"/>
            <a:ext cx="228600" cy="15641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8DD66B8-D254-B2BF-CB76-296C5F44CD3B}"/>
              </a:ext>
              <a:ext uri="{C183D7F6-B498-43B3-948B-1728B52AA6E4}">
                <adec:decorative xmlns:adec="http://schemas.microsoft.com/office/drawing/2017/decorative" val="1"/>
              </a:ext>
            </a:extLst>
          </p:cNvPr>
          <p:cNvCxnSpPr>
            <a:cxnSpLocks/>
          </p:cNvCxnSpPr>
          <p:nvPr/>
        </p:nvCxnSpPr>
        <p:spPr>
          <a:xfrm flipV="1">
            <a:off x="4744453" y="5650832"/>
            <a:ext cx="188494" cy="1042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97E1B6C3-3BC5-DA80-9EC7-EC25FB0ED08F}"/>
              </a:ext>
              <a:ext uri="{C183D7F6-B498-43B3-948B-1728B52AA6E4}">
                <adec:decorative xmlns:adec="http://schemas.microsoft.com/office/drawing/2017/decorative" val="1"/>
              </a:ext>
            </a:extLst>
          </p:cNvPr>
          <p:cNvSpPr/>
          <p:nvPr/>
        </p:nvSpPr>
        <p:spPr>
          <a:xfrm>
            <a:off x="5778550" y="5772072"/>
            <a:ext cx="1265024" cy="4291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11">
            <a:extLst>
              <a:ext uri="{FF2B5EF4-FFF2-40B4-BE49-F238E27FC236}">
                <a16:creationId xmlns:a16="http://schemas.microsoft.com/office/drawing/2014/main" id="{C5643C73-4A64-B916-B676-40F7FA0AB81F}"/>
              </a:ext>
            </a:extLst>
          </p:cNvPr>
          <p:cNvSpPr txBox="1">
            <a:spLocks noGrp="1"/>
          </p:cNvSpPr>
          <p:nvPr>
            <p:ph type="body" idx="11"/>
          </p:nvPr>
        </p:nvSpPr>
        <p:spPr>
          <a:xfrm>
            <a:off x="7244080" y="5795442"/>
            <a:ext cx="3627120"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in rad/s)	(</a:t>
            </a:r>
            <a:r>
              <a:rPr lang="en-US" sz="2400" b="1" dirty="0">
                <a:latin typeface="Times New Roman" panose="02020603050405020304" pitchFamily="18" charset="0"/>
                <a:cs typeface="Times New Roman" panose="02020603050405020304" pitchFamily="18" charset="0"/>
              </a:rPr>
              <a:t>8.11</a:t>
            </a:r>
            <a:r>
              <a:rPr lang="en-US" sz="2400" dirty="0">
                <a:latin typeface="Times New Roman" panose="02020603050405020304" pitchFamily="18" charset="0"/>
                <a:cs typeface="Times New Roman" panose="02020603050405020304" pitchFamily="18" charset="0"/>
              </a:rPr>
              <a:t>)</a:t>
            </a:r>
          </a:p>
        </p:txBody>
      </p:sp>
      <p:grpSp>
        <p:nvGrpSpPr>
          <p:cNvPr id="19" name="Group 18">
            <a:extLst>
              <a:ext uri="{FF2B5EF4-FFF2-40B4-BE49-F238E27FC236}">
                <a16:creationId xmlns:a16="http://schemas.microsoft.com/office/drawing/2014/main" id="{505F5F63-758D-9DCF-E89A-D55491B0D2A0}"/>
              </a:ext>
            </a:extLst>
          </p:cNvPr>
          <p:cNvGrpSpPr/>
          <p:nvPr/>
        </p:nvGrpSpPr>
        <p:grpSpPr>
          <a:xfrm>
            <a:off x="394285" y="2572884"/>
            <a:ext cx="2716906" cy="2574978"/>
            <a:chOff x="550401" y="2956027"/>
            <a:chExt cx="3305319" cy="3092752"/>
          </a:xfrm>
        </p:grpSpPr>
        <p:pic>
          <p:nvPicPr>
            <p:cNvPr id="4" name="Picture 3">
              <a:extLst>
                <a:ext uri="{FF2B5EF4-FFF2-40B4-BE49-F238E27FC236}">
                  <a16:creationId xmlns:a16="http://schemas.microsoft.com/office/drawing/2014/main" id="{246FC45A-B782-4E4D-0D72-990AABF56B7F}"/>
                </a:ext>
              </a:extLst>
            </p:cNvPr>
            <p:cNvPicPr>
              <a:picLocks noChangeAspect="1"/>
            </p:cNvPicPr>
            <p:nvPr/>
          </p:nvPicPr>
          <p:blipFill>
            <a:blip r:embed="rId8"/>
            <a:srcRect b="52337"/>
            <a:stretch/>
          </p:blipFill>
          <p:spPr>
            <a:xfrm>
              <a:off x="550401" y="2956027"/>
              <a:ext cx="3033457" cy="3092752"/>
            </a:xfrm>
            <a:prstGeom prst="rect">
              <a:avLst/>
            </a:prstGeom>
          </p:spPr>
        </p:pic>
        <p:cxnSp>
          <p:nvCxnSpPr>
            <p:cNvPr id="10" name="Straight Arrow Connector 9">
              <a:extLst>
                <a:ext uri="{FF2B5EF4-FFF2-40B4-BE49-F238E27FC236}">
                  <a16:creationId xmlns:a16="http://schemas.microsoft.com/office/drawing/2014/main" id="{FE6ABEE8-BD10-B7C8-FB30-1B6926F6C4E4}"/>
                </a:ext>
              </a:extLst>
            </p:cNvPr>
            <p:cNvCxnSpPr/>
            <p:nvPr/>
          </p:nvCxnSpPr>
          <p:spPr>
            <a:xfrm flipV="1">
              <a:off x="3322320" y="3525520"/>
              <a:ext cx="0" cy="6807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6089F72-8677-6900-0F76-347C2D85551F}"/>
                </a:ext>
              </a:extLst>
            </p:cNvPr>
            <p:cNvSpPr txBox="1"/>
            <p:nvPr/>
          </p:nvSpPr>
          <p:spPr>
            <a:xfrm>
              <a:off x="3317240" y="3302000"/>
              <a:ext cx="538480" cy="400110"/>
            </a:xfrm>
            <a:prstGeom prst="rect">
              <a:avLst/>
            </a:prstGeom>
            <a:noFill/>
          </p:spPr>
          <p:txBody>
            <a:bodyPr wrap="square" rtlCol="0">
              <a:spAutoFit/>
            </a:bodyPr>
            <a:lstStyle/>
            <a:p>
              <a:r>
                <a:rPr lang="en-US" sz="2000" i="1" dirty="0" err="1">
                  <a:latin typeface="Times" pitchFamily="2" charset="0"/>
                </a:rPr>
                <a:t>v</a:t>
              </a:r>
              <a:r>
                <a:rPr lang="en-US" sz="2000" baseline="-25000" dirty="0" err="1">
                  <a:latin typeface="Times" pitchFamily="2" charset="0"/>
                </a:rPr>
                <a:t>T</a:t>
              </a:r>
              <a:endParaRPr lang="en-US" sz="2000" baseline="-25000" dirty="0">
                <a:latin typeface="Times" pitchFamily="2" charset="0"/>
              </a:endParaRPr>
            </a:p>
          </p:txBody>
        </p:sp>
      </p:grpSp>
    </p:spTree>
    <p:extLst>
      <p:ext uri="{BB962C8B-B14F-4D97-AF65-F5344CB8AC3E}">
        <p14:creationId xmlns:p14="http://schemas.microsoft.com/office/powerpoint/2010/main" val="252561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dissolve">
                                      <p:cBhvr>
                                        <p:cTn id="24" dur="500"/>
                                        <p:tgtEl>
                                          <p:spTgt spid="27"/>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dissolv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dissolve">
                                      <p:cBhvr>
                                        <p:cTn id="33" dur="500"/>
                                        <p:tgtEl>
                                          <p:spTgt spid="33"/>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dissolve">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dissolv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dissolve">
                                      <p:cBhvr>
                                        <p:cTn id="46" dur="500"/>
                                        <p:tgtEl>
                                          <p:spTgt spid="39"/>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dissolve">
                                      <p:cBhvr>
                                        <p:cTn id="51" dur="500"/>
                                        <p:tgtEl>
                                          <p:spTgt spid="4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dissolve">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dissolve">
                                      <p:cBhvr>
                                        <p:cTn id="61" dur="500"/>
                                        <p:tgtEl>
                                          <p:spTgt spid="69"/>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dissolve">
                                      <p:cBhvr>
                                        <p:cTn id="66" dur="500"/>
                                        <p:tgtEl>
                                          <p:spTgt spid="13"/>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77"/>
                                        </p:tgtEl>
                                        <p:attrNameLst>
                                          <p:attrName>style.visibility</p:attrName>
                                        </p:attrNameLst>
                                      </p:cBhvr>
                                      <p:to>
                                        <p:strVal val="visible"/>
                                      </p:to>
                                    </p:set>
                                    <p:animEffect transition="in" filter="dissolve">
                                      <p:cBhvr>
                                        <p:cTn id="70" dur="500"/>
                                        <p:tgtEl>
                                          <p:spTgt spid="77"/>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72"/>
                                        </p:tgtEl>
                                        <p:attrNameLst>
                                          <p:attrName>style.visibility</p:attrName>
                                        </p:attrNameLst>
                                      </p:cBhvr>
                                      <p:to>
                                        <p:strVal val="visible"/>
                                      </p:to>
                                    </p:set>
                                    <p:animEffect transition="in" filter="dissolve">
                                      <p:cBhvr>
                                        <p:cTn id="75" dur="500"/>
                                        <p:tgtEl>
                                          <p:spTgt spid="72"/>
                                        </p:tgtEl>
                                      </p:cBhvr>
                                    </p:animEffect>
                                  </p:childTnLst>
                                </p:cTn>
                              </p:par>
                              <p:par>
                                <p:cTn id="76" presetID="9" presetClass="entr" presetSubtype="0" fill="hold" nodeType="withEffect">
                                  <p:stCondLst>
                                    <p:cond delay="0"/>
                                  </p:stCondLst>
                                  <p:childTnLst>
                                    <p:set>
                                      <p:cBhvr>
                                        <p:cTn id="77" dur="1" fill="hold">
                                          <p:stCondLst>
                                            <p:cond delay="0"/>
                                          </p:stCondLst>
                                        </p:cTn>
                                        <p:tgtEl>
                                          <p:spTgt spid="73"/>
                                        </p:tgtEl>
                                        <p:attrNameLst>
                                          <p:attrName>style.visibility</p:attrName>
                                        </p:attrNameLst>
                                      </p:cBhvr>
                                      <p:to>
                                        <p:strVal val="visible"/>
                                      </p:to>
                                    </p:set>
                                    <p:animEffect transition="in" filter="dissolve">
                                      <p:cBhvr>
                                        <p:cTn id="78" dur="500"/>
                                        <p:tgtEl>
                                          <p:spTgt spid="73"/>
                                        </p:tgtEl>
                                      </p:cBhvr>
                                    </p:animEffect>
                                  </p:childTnLst>
                                </p:cTn>
                              </p:par>
                            </p:childTnLst>
                          </p:cTn>
                        </p:par>
                        <p:par>
                          <p:cTn id="79" fill="hold">
                            <p:stCondLst>
                              <p:cond delay="500"/>
                            </p:stCondLst>
                            <p:childTnLst>
                              <p:par>
                                <p:cTn id="80" presetID="9" presetClass="entr" presetSubtype="0" fill="hold" grpId="0" nodeType="afterEffect">
                                  <p:stCondLst>
                                    <p:cond delay="0"/>
                                  </p:stCondLst>
                                  <p:childTnLst>
                                    <p:set>
                                      <p:cBhvr>
                                        <p:cTn id="81" dur="1" fill="hold">
                                          <p:stCondLst>
                                            <p:cond delay="0"/>
                                          </p:stCondLst>
                                        </p:cTn>
                                        <p:tgtEl>
                                          <p:spTgt spid="78"/>
                                        </p:tgtEl>
                                        <p:attrNameLst>
                                          <p:attrName>style.visibility</p:attrName>
                                        </p:attrNameLst>
                                      </p:cBhvr>
                                      <p:to>
                                        <p:strVal val="visible"/>
                                      </p:to>
                                    </p:set>
                                    <p:animEffect transition="in" filter="dissolve">
                                      <p:cBhvr>
                                        <p:cTn id="8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0" grpId="0"/>
      <p:bldP spid="22" grpId="0" animBg="1"/>
      <p:bldP spid="27" grpId="0"/>
      <p:bldP spid="35" grpId="0"/>
      <p:bldP spid="33" grpId="0"/>
      <p:bldP spid="37" grpId="0" animBg="1"/>
      <p:bldP spid="39" grpId="0"/>
      <p:bldP spid="42" grpId="0"/>
      <p:bldP spid="69" grpId="0" animBg="1"/>
      <p:bldP spid="77" grpId="0" animBg="1"/>
      <p:bldP spid="7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8CC74-A4A4-F22D-4EB4-6957C9D9A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43B78-EA2C-818D-467F-4DE6EF0D74F8}"/>
              </a:ext>
            </a:extLst>
          </p:cNvPr>
          <p:cNvSpPr>
            <a:spLocks noGrp="1"/>
          </p:cNvSpPr>
          <p:nvPr>
            <p:ph type="title"/>
          </p:nvPr>
        </p:nvSpPr>
        <p:spPr>
          <a:xfrm>
            <a:off x="28472" y="195704"/>
            <a:ext cx="12287456" cy="574644"/>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8.5</a:t>
            </a:r>
            <a:r>
              <a:rPr lang="en-US" dirty="0">
                <a:latin typeface="Times New Roman" panose="02020603050405020304" pitchFamily="18" charset="0"/>
                <a:ea typeface="Calibri" charset="0"/>
                <a:cs typeface="Times New Roman" panose="02020603050405020304" pitchFamily="18" charset="0"/>
              </a:rPr>
              <a:t> Centripetal Acceleration and Tangential Acceleration (2 of 5)</a:t>
            </a:r>
            <a:endParaRPr lang="en-US" sz="3000" dirty="0">
              <a:latin typeface="Times New Roman" panose="02020603050405020304" pitchFamily="18" charset="0"/>
              <a:cs typeface="Times New Roman" panose="02020603050405020304" pitchFamily="18" charset="0"/>
            </a:endParaRPr>
          </a:p>
        </p:txBody>
      </p:sp>
      <p:pic>
        <p:nvPicPr>
          <p:cNvPr id="6" name="Content Placeholder 1">
            <a:extLst>
              <a:ext uri="{FF2B5EF4-FFF2-40B4-BE49-F238E27FC236}">
                <a16:creationId xmlns:a16="http://schemas.microsoft.com/office/drawing/2014/main" id="{1D2A7EDE-A47E-31E1-1BB6-E0409453D5C9}"/>
              </a:ext>
            </a:extLst>
          </p:cNvPr>
          <p:cNvPicPr>
            <a:picLocks noGrp="1" noChangeAspect="1"/>
          </p:cNvPicPr>
          <p:nvPr>
            <p:ph type="pic" idx="1"/>
          </p:nvPr>
        </p:nvPicPr>
        <p:blipFill>
          <a:blip r:embed="rId3"/>
          <a:srcRect t="51495"/>
          <a:stretch/>
        </p:blipFill>
        <p:spPr>
          <a:xfrm>
            <a:off x="184057" y="652472"/>
            <a:ext cx="2635250" cy="2734215"/>
          </a:xfrm>
          <a:prstGeom prst="rect">
            <a:avLst/>
          </a:prstGeom>
        </p:spPr>
      </p:pic>
      <p:sp>
        <p:nvSpPr>
          <p:cNvPr id="7" name="Content Placeholder 2">
            <a:extLst>
              <a:ext uri="{FF2B5EF4-FFF2-40B4-BE49-F238E27FC236}">
                <a16:creationId xmlns:a16="http://schemas.microsoft.com/office/drawing/2014/main" id="{B637790C-6CD1-557D-CD57-921F9E4DA7C7}"/>
              </a:ext>
            </a:extLst>
          </p:cNvPr>
          <p:cNvSpPr txBox="1">
            <a:spLocks noGrp="1"/>
          </p:cNvSpPr>
          <p:nvPr>
            <p:ph type="body" idx="2"/>
          </p:nvPr>
        </p:nvSpPr>
        <p:spPr>
          <a:xfrm>
            <a:off x="2914494" y="692000"/>
            <a:ext cx="873068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we want to allow for the possibility that the magnitude of </a:t>
            </a:r>
            <a:r>
              <a:rPr lang="en-US" sz="2400" i="1"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can change, i.e. the object is speeding up or slowing down...</a:t>
            </a:r>
          </a:p>
        </p:txBody>
      </p:sp>
      <p:sp>
        <p:nvSpPr>
          <p:cNvPr id="8" name="Content Placeholder 3">
            <a:extLst>
              <a:ext uri="{FF2B5EF4-FFF2-40B4-BE49-F238E27FC236}">
                <a16:creationId xmlns:a16="http://schemas.microsoft.com/office/drawing/2014/main" id="{863EEB32-BCC4-42FD-C2DD-17CD55849332}"/>
              </a:ext>
            </a:extLst>
          </p:cNvPr>
          <p:cNvSpPr txBox="1">
            <a:spLocks noGrp="1"/>
          </p:cNvSpPr>
          <p:nvPr>
            <p:ph type="body" idx="3"/>
          </p:nvPr>
        </p:nvSpPr>
        <p:spPr>
          <a:xfrm>
            <a:off x="2929734" y="1542746"/>
            <a:ext cx="8730686"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This produces an additional component of acceleration, </a:t>
            </a:r>
            <a:r>
              <a:rPr lang="en-US" sz="2400" b="1" dirty="0" err="1">
                <a:latin typeface="Times New Roman" panose="02020603050405020304" pitchFamily="18" charset="0"/>
                <a:cs typeface="Times New Roman" panose="02020603050405020304" pitchFamily="18" charset="0"/>
              </a:rPr>
              <a:t>a</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p>
        </p:txBody>
      </p:sp>
      <p:sp>
        <p:nvSpPr>
          <p:cNvPr id="9" name="Content Placeholder 4">
            <a:extLst>
              <a:ext uri="{FF2B5EF4-FFF2-40B4-BE49-F238E27FC236}">
                <a16:creationId xmlns:a16="http://schemas.microsoft.com/office/drawing/2014/main" id="{E44EACF7-3E58-A3A7-1CDC-9D39FE239562}"/>
              </a:ext>
            </a:extLst>
          </p:cNvPr>
          <p:cNvSpPr txBox="1">
            <a:spLocks noGrp="1"/>
          </p:cNvSpPr>
          <p:nvPr>
            <p:ph type="body" idx="4"/>
          </p:nvPr>
        </p:nvSpPr>
        <p:spPr>
          <a:xfrm>
            <a:off x="2944974" y="2060907"/>
            <a:ext cx="5364636"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total acceleration will be equal to the</a:t>
            </a:r>
          </a:p>
        </p:txBody>
      </p:sp>
      <p:sp>
        <p:nvSpPr>
          <p:cNvPr id="11" name="Rounded Rectangle 10">
            <a:extLst>
              <a:ext uri="{FF2B5EF4-FFF2-40B4-BE49-F238E27FC236}">
                <a16:creationId xmlns:a16="http://schemas.microsoft.com/office/drawing/2014/main" id="{8DCF4DF9-AB58-5879-E7AF-A42E42A843F6}"/>
              </a:ext>
              <a:ext uri="{C183D7F6-B498-43B3-948B-1728B52AA6E4}">
                <adec:decorative xmlns:adec="http://schemas.microsoft.com/office/drawing/2017/decorative" val="1"/>
              </a:ext>
            </a:extLst>
          </p:cNvPr>
          <p:cNvSpPr/>
          <p:nvPr/>
        </p:nvSpPr>
        <p:spPr>
          <a:xfrm>
            <a:off x="8199213" y="2114550"/>
            <a:ext cx="1691640"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5">
            <a:extLst>
              <a:ext uri="{FF2B5EF4-FFF2-40B4-BE49-F238E27FC236}">
                <a16:creationId xmlns:a16="http://schemas.microsoft.com/office/drawing/2014/main" id="{37A50A86-9551-0A03-FBCE-03EE8DE15061}"/>
              </a:ext>
            </a:extLst>
          </p:cNvPr>
          <p:cNvSpPr txBox="1">
            <a:spLocks noGrp="1"/>
          </p:cNvSpPr>
          <p:nvPr>
            <p:ph type="body" idx="5"/>
          </p:nvPr>
        </p:nvSpPr>
        <p:spPr>
          <a:xfrm>
            <a:off x="8198100" y="2091684"/>
            <a:ext cx="1931670"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sum</a:t>
            </a:r>
          </a:p>
        </p:txBody>
      </p:sp>
      <p:sp>
        <p:nvSpPr>
          <p:cNvPr id="4" name="Content Placeholder 6">
            <a:extLst>
              <a:ext uri="{FF2B5EF4-FFF2-40B4-BE49-F238E27FC236}">
                <a16:creationId xmlns:a16="http://schemas.microsoft.com/office/drawing/2014/main" id="{B7883F3F-F68D-4EED-62BA-D55B55C14C99}"/>
              </a:ext>
            </a:extLst>
          </p:cNvPr>
          <p:cNvSpPr txBox="1">
            <a:spLocks noGrp="1"/>
          </p:cNvSpPr>
          <p:nvPr>
            <p:ph type="body" idx="6"/>
          </p:nvPr>
        </p:nvSpPr>
        <p:spPr>
          <a:xfrm>
            <a:off x="9890856" y="2049173"/>
            <a:ext cx="2231931"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of </a:t>
            </a:r>
            <a:r>
              <a:rPr lang="en-US" sz="2400" b="1" dirty="0" err="1">
                <a:latin typeface="Times New Roman" panose="02020603050405020304" pitchFamily="18" charset="0"/>
                <a:cs typeface="Times New Roman" panose="02020603050405020304" pitchFamily="18" charset="0"/>
              </a:rPr>
              <a:t>a</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as </a:t>
            </a:r>
            <a:endParaRPr lang="en-US" dirty="0">
              <a:latin typeface="Times New Roman" panose="02020603050405020304" pitchFamily="18" charset="0"/>
              <a:cs typeface="Times New Roman" panose="02020603050405020304" pitchFamily="18" charset="0"/>
            </a:endParaRPr>
          </a:p>
        </p:txBody>
      </p:sp>
      <p:sp>
        <p:nvSpPr>
          <p:cNvPr id="10" name="Content Placeholder 7">
            <a:extLst>
              <a:ext uri="{FF2B5EF4-FFF2-40B4-BE49-F238E27FC236}">
                <a16:creationId xmlns:a16="http://schemas.microsoft.com/office/drawing/2014/main" id="{A561CAAB-5A7B-583B-EC9C-61A57EA0E9B9}"/>
              </a:ext>
            </a:extLst>
          </p:cNvPr>
          <p:cNvSpPr txBox="1">
            <a:spLocks noGrp="1"/>
          </p:cNvSpPr>
          <p:nvPr>
            <p:ph type="body" idx="7"/>
          </p:nvPr>
        </p:nvSpPr>
        <p:spPr>
          <a:xfrm>
            <a:off x="2997836" y="2506693"/>
            <a:ext cx="6143624"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shown in the figure.</a:t>
            </a:r>
            <a:endParaRPr lang="en-US" dirty="0">
              <a:latin typeface="Times New Roman" panose="02020603050405020304" pitchFamily="18" charset="0"/>
              <a:cs typeface="Times New Roman" panose="02020603050405020304" pitchFamily="18" charset="0"/>
            </a:endParaRPr>
          </a:p>
        </p:txBody>
      </p:sp>
      <p:sp>
        <p:nvSpPr>
          <p:cNvPr id="14" name="Content Placeholder 8">
            <a:extLst>
              <a:ext uri="{FF2B5EF4-FFF2-40B4-BE49-F238E27FC236}">
                <a16:creationId xmlns:a16="http://schemas.microsoft.com/office/drawing/2014/main" id="{4B194A9E-D9B1-AB40-EB4F-CB9B6E9BCDFF}"/>
              </a:ext>
            </a:extLst>
          </p:cNvPr>
          <p:cNvSpPr txBox="1">
            <a:spLocks noGrp="1"/>
          </p:cNvSpPr>
          <p:nvPr>
            <p:ph type="body" idx="8"/>
          </p:nvPr>
        </p:nvSpPr>
        <p:spPr>
          <a:xfrm>
            <a:off x="2944974" y="2921966"/>
            <a:ext cx="924702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Since </a:t>
            </a:r>
            <a:r>
              <a:rPr lang="en-US" sz="2400" b="1" dirty="0" err="1">
                <a:latin typeface="Times New Roman" panose="02020603050405020304" pitchFamily="18" charset="0"/>
                <a:cs typeface="Times New Roman" panose="02020603050405020304" pitchFamily="18" charset="0"/>
              </a:rPr>
              <a:t>a</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c </a:t>
            </a:r>
            <a:r>
              <a:rPr lang="en-US" sz="2400" dirty="0">
                <a:latin typeface="Times New Roman" panose="02020603050405020304" pitchFamily="18" charset="0"/>
                <a:cs typeface="Times New Roman" panose="02020603050405020304" pitchFamily="18" charset="0"/>
              </a:rPr>
              <a:t>are perpendicular to each other, we can find their vector sum using the Pythagorean theorem:</a:t>
            </a:r>
          </a:p>
        </p:txBody>
      </p:sp>
      <p:sp>
        <p:nvSpPr>
          <p:cNvPr id="17" name="Rounded Rectangle 16">
            <a:extLst>
              <a:ext uri="{FF2B5EF4-FFF2-40B4-BE49-F238E27FC236}">
                <a16:creationId xmlns:a16="http://schemas.microsoft.com/office/drawing/2014/main" id="{45AA336B-8CA1-3B84-6CB0-A2D79754E049}"/>
              </a:ext>
              <a:ext uri="{C183D7F6-B498-43B3-948B-1728B52AA6E4}">
                <adec:decorative xmlns:adec="http://schemas.microsoft.com/office/drawing/2017/decorative" val="1"/>
              </a:ext>
            </a:extLst>
          </p:cNvPr>
          <p:cNvSpPr/>
          <p:nvPr/>
        </p:nvSpPr>
        <p:spPr>
          <a:xfrm>
            <a:off x="7669530" y="3303270"/>
            <a:ext cx="2023110" cy="6743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Object 19">
            <a:extLst>
              <a:ext uri="{FF2B5EF4-FFF2-40B4-BE49-F238E27FC236}">
                <a16:creationId xmlns:a16="http://schemas.microsoft.com/office/drawing/2014/main" id="{02489BFE-91A8-29EB-48FC-958B8CA70409}"/>
              </a:ext>
            </a:extLst>
          </p:cNvPr>
          <p:cNvGraphicFramePr>
            <a:graphicFrameLocks noChangeAspect="1"/>
          </p:cNvGraphicFramePr>
          <p:nvPr>
            <p:extLst>
              <p:ext uri="{D42A27DB-BD31-4B8C-83A1-F6EECF244321}">
                <p14:modId xmlns:p14="http://schemas.microsoft.com/office/powerpoint/2010/main" val="3165769229"/>
              </p:ext>
            </p:extLst>
          </p:nvPr>
        </p:nvGraphicFramePr>
        <p:xfrm>
          <a:off x="7788275" y="3335338"/>
          <a:ext cx="1643063" cy="642937"/>
        </p:xfrm>
        <a:graphic>
          <a:graphicData uri="http://schemas.openxmlformats.org/presentationml/2006/ole">
            <mc:AlternateContent xmlns:mc="http://schemas.openxmlformats.org/markup-compatibility/2006">
              <mc:Choice xmlns:v="urn:schemas-microsoft-com:vml" Requires="v">
                <p:oleObj name="Equation" r:id="rId4" imgW="876240" imgH="342720" progId="Equation.DSMT4">
                  <p:embed/>
                </p:oleObj>
              </mc:Choice>
              <mc:Fallback>
                <p:oleObj name="Equation" r:id="rId4" imgW="876240" imgH="342720" progId="Equation.DSMT4">
                  <p:embed/>
                  <p:pic>
                    <p:nvPicPr>
                      <p:cNvPr id="0" name=""/>
                      <p:cNvPicPr/>
                      <p:nvPr/>
                    </p:nvPicPr>
                    <p:blipFill>
                      <a:blip r:embed="rId5"/>
                      <a:stretch>
                        <a:fillRect/>
                      </a:stretch>
                    </p:blipFill>
                    <p:spPr>
                      <a:xfrm>
                        <a:off x="7788275" y="3335338"/>
                        <a:ext cx="1643063" cy="642937"/>
                      </a:xfrm>
                      <a:prstGeom prst="rect">
                        <a:avLst/>
                      </a:prstGeom>
                    </p:spPr>
                  </p:pic>
                </p:oleObj>
              </mc:Fallback>
            </mc:AlternateContent>
          </a:graphicData>
        </a:graphic>
      </p:graphicFrame>
      <p:sp>
        <p:nvSpPr>
          <p:cNvPr id="21" name="Content Placeholder 9">
            <a:extLst>
              <a:ext uri="{FF2B5EF4-FFF2-40B4-BE49-F238E27FC236}">
                <a16:creationId xmlns:a16="http://schemas.microsoft.com/office/drawing/2014/main" id="{85113A7E-7BD3-F4DF-D841-650A6160F954}"/>
              </a:ext>
            </a:extLst>
          </p:cNvPr>
          <p:cNvSpPr txBox="1">
            <a:spLocks noGrp="1"/>
          </p:cNvSpPr>
          <p:nvPr>
            <p:ph type="body" idx="9"/>
          </p:nvPr>
        </p:nvSpPr>
        <p:spPr>
          <a:xfrm>
            <a:off x="788514" y="4251656"/>
            <a:ext cx="9052716"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angle </a:t>
            </a:r>
            <a:r>
              <a:rPr lang="el-GR" sz="2400" i="1" dirty="0">
                <a:latin typeface="Times New Roman" panose="02020603050405020304" pitchFamily="18" charset="0"/>
                <a:cs typeface="Times New Roman" panose="02020603050405020304" pitchFamily="18" charset="0"/>
              </a:rPr>
              <a:t>ϕ</a:t>
            </a:r>
            <a:r>
              <a:rPr lang="en-US" sz="2400" dirty="0">
                <a:latin typeface="Times New Roman" panose="02020603050405020304" pitchFamily="18" charset="0"/>
                <a:cs typeface="Times New Roman" panose="02020603050405020304" pitchFamily="18" charset="0"/>
              </a:rPr>
              <a:t> in the figure can be determined using the tangent function:</a:t>
            </a:r>
          </a:p>
        </p:txBody>
      </p:sp>
      <p:sp>
        <p:nvSpPr>
          <p:cNvPr id="24" name="Rounded Rectangle 23">
            <a:extLst>
              <a:ext uri="{FF2B5EF4-FFF2-40B4-BE49-F238E27FC236}">
                <a16:creationId xmlns:a16="http://schemas.microsoft.com/office/drawing/2014/main" id="{B35F0170-3B0D-1542-909C-DE196DA0ACB7}"/>
              </a:ext>
              <a:ext uri="{C183D7F6-B498-43B3-948B-1728B52AA6E4}">
                <adec:decorative xmlns:adec="http://schemas.microsoft.com/office/drawing/2017/decorative" val="1"/>
              </a:ext>
            </a:extLst>
          </p:cNvPr>
          <p:cNvSpPr/>
          <p:nvPr/>
        </p:nvSpPr>
        <p:spPr>
          <a:xfrm>
            <a:off x="9566910" y="4091940"/>
            <a:ext cx="154305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Object 15">
            <a:extLst>
              <a:ext uri="{FF2B5EF4-FFF2-40B4-BE49-F238E27FC236}">
                <a16:creationId xmlns:a16="http://schemas.microsoft.com/office/drawing/2014/main" id="{E37A31F5-3C61-0458-C24B-6DDB713C8740}"/>
              </a:ext>
            </a:extLst>
          </p:cNvPr>
          <p:cNvGraphicFramePr>
            <a:graphicFrameLocks noChangeAspect="1"/>
          </p:cNvGraphicFramePr>
          <p:nvPr>
            <p:extLst>
              <p:ext uri="{D42A27DB-BD31-4B8C-83A1-F6EECF244321}">
                <p14:modId xmlns:p14="http://schemas.microsoft.com/office/powerpoint/2010/main" val="3833265719"/>
              </p:ext>
            </p:extLst>
          </p:nvPr>
        </p:nvGraphicFramePr>
        <p:xfrm>
          <a:off x="9767888" y="4152900"/>
          <a:ext cx="1139825" cy="690563"/>
        </p:xfrm>
        <a:graphic>
          <a:graphicData uri="http://schemas.openxmlformats.org/presentationml/2006/ole">
            <mc:AlternateContent xmlns:mc="http://schemas.openxmlformats.org/markup-compatibility/2006">
              <mc:Choice xmlns:v="urn:schemas-microsoft-com:vml" Requires="v">
                <p:oleObj name="Equation" r:id="rId6" imgW="711000" imgH="431640" progId="Equation.DSMT4">
                  <p:embed/>
                </p:oleObj>
              </mc:Choice>
              <mc:Fallback>
                <p:oleObj name="Equation" r:id="rId6" imgW="711000" imgH="431640" progId="Equation.DSMT4">
                  <p:embed/>
                  <p:pic>
                    <p:nvPicPr>
                      <p:cNvPr id="0" name=""/>
                      <p:cNvPicPr/>
                      <p:nvPr/>
                    </p:nvPicPr>
                    <p:blipFill>
                      <a:blip r:embed="rId7"/>
                      <a:stretch>
                        <a:fillRect/>
                      </a:stretch>
                    </p:blipFill>
                    <p:spPr>
                      <a:xfrm>
                        <a:off x="9767888" y="4152900"/>
                        <a:ext cx="1139825" cy="690563"/>
                      </a:xfrm>
                      <a:prstGeom prst="rect">
                        <a:avLst/>
                      </a:prstGeom>
                    </p:spPr>
                  </p:pic>
                </p:oleObj>
              </mc:Fallback>
            </mc:AlternateContent>
          </a:graphicData>
        </a:graphic>
      </p:graphicFrame>
      <p:sp>
        <p:nvSpPr>
          <p:cNvPr id="28" name="Content Placeholder 10">
            <a:extLst>
              <a:ext uri="{FF2B5EF4-FFF2-40B4-BE49-F238E27FC236}">
                <a16:creationId xmlns:a16="http://schemas.microsoft.com/office/drawing/2014/main" id="{A319BA1E-4BCA-2F1A-8B50-43611631DFD3}"/>
              </a:ext>
            </a:extLst>
          </p:cNvPr>
          <p:cNvSpPr txBox="1">
            <a:spLocks noGrp="1"/>
          </p:cNvSpPr>
          <p:nvPr>
            <p:ph type="body" idx="10"/>
          </p:nvPr>
        </p:nvSpPr>
        <p:spPr>
          <a:xfrm>
            <a:off x="95094" y="4826966"/>
            <a:ext cx="501411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can write each of these equations purely in terms of angular variables:</a:t>
            </a:r>
          </a:p>
        </p:txBody>
      </p:sp>
      <p:sp>
        <p:nvSpPr>
          <p:cNvPr id="45" name="Rounded Rectangle 44">
            <a:extLst>
              <a:ext uri="{FF2B5EF4-FFF2-40B4-BE49-F238E27FC236}">
                <a16:creationId xmlns:a16="http://schemas.microsoft.com/office/drawing/2014/main" id="{81F17A25-4C81-1FC5-93E4-B7F69173AECB}"/>
              </a:ext>
              <a:ext uri="{C183D7F6-B498-43B3-948B-1728B52AA6E4}">
                <adec:decorative xmlns:adec="http://schemas.microsoft.com/office/drawing/2017/decorative" val="1"/>
              </a:ext>
            </a:extLst>
          </p:cNvPr>
          <p:cNvSpPr/>
          <p:nvPr/>
        </p:nvSpPr>
        <p:spPr>
          <a:xfrm>
            <a:off x="6736080" y="4781550"/>
            <a:ext cx="281940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Object 21">
            <a:extLst>
              <a:ext uri="{FF2B5EF4-FFF2-40B4-BE49-F238E27FC236}">
                <a16:creationId xmlns:a16="http://schemas.microsoft.com/office/drawing/2014/main" id="{D4E96B94-06E6-0A12-C4FD-44F1589B6CAD}"/>
              </a:ext>
            </a:extLst>
          </p:cNvPr>
          <p:cNvGraphicFramePr>
            <a:graphicFrameLocks noChangeAspect="1"/>
          </p:cNvGraphicFramePr>
          <p:nvPr>
            <p:extLst>
              <p:ext uri="{D42A27DB-BD31-4B8C-83A1-F6EECF244321}">
                <p14:modId xmlns:p14="http://schemas.microsoft.com/office/powerpoint/2010/main" val="1550517939"/>
              </p:ext>
            </p:extLst>
          </p:nvPr>
        </p:nvGraphicFramePr>
        <p:xfrm>
          <a:off x="5332491" y="4729645"/>
          <a:ext cx="4256722" cy="854104"/>
        </p:xfrm>
        <a:graphic>
          <a:graphicData uri="http://schemas.openxmlformats.org/presentationml/2006/ole">
            <mc:AlternateContent xmlns:mc="http://schemas.openxmlformats.org/markup-compatibility/2006">
              <mc:Choice xmlns:v="urn:schemas-microsoft-com:vml" Requires="v">
                <p:oleObj name="Equation" r:id="rId8" imgW="2057400" imgH="431640" progId="Equation.DSMT4">
                  <p:embed/>
                </p:oleObj>
              </mc:Choice>
              <mc:Fallback>
                <p:oleObj name="Equation" r:id="rId8" imgW="2057400" imgH="431640" progId="Equation.DSMT4">
                  <p:embed/>
                  <p:pic>
                    <p:nvPicPr>
                      <p:cNvPr id="0" name=""/>
                      <p:cNvPicPr/>
                      <p:nvPr/>
                    </p:nvPicPr>
                    <p:blipFill>
                      <a:blip r:embed="rId9"/>
                      <a:stretch>
                        <a:fillRect/>
                      </a:stretch>
                    </p:blipFill>
                    <p:spPr>
                      <a:xfrm>
                        <a:off x="5332491" y="4729645"/>
                        <a:ext cx="4256722" cy="854104"/>
                      </a:xfrm>
                      <a:prstGeom prst="rect">
                        <a:avLst/>
                      </a:prstGeom>
                    </p:spPr>
                  </p:pic>
                </p:oleObj>
              </mc:Fallback>
            </mc:AlternateContent>
          </a:graphicData>
        </a:graphic>
      </p:graphicFrame>
      <p:sp>
        <p:nvSpPr>
          <p:cNvPr id="47" name="Rectangle 46">
            <a:extLst>
              <a:ext uri="{FF2B5EF4-FFF2-40B4-BE49-F238E27FC236}">
                <a16:creationId xmlns:a16="http://schemas.microsoft.com/office/drawing/2014/main" id="{DDDA29FA-3BBF-17C4-1895-F874650FDDDD}"/>
              </a:ext>
              <a:ext uri="{C183D7F6-B498-43B3-948B-1728B52AA6E4}">
                <adec:decorative xmlns:adec="http://schemas.microsoft.com/office/drawing/2017/decorative" val="1"/>
              </a:ext>
            </a:extLst>
          </p:cNvPr>
          <p:cNvSpPr/>
          <p:nvPr/>
        </p:nvSpPr>
        <p:spPr>
          <a:xfrm>
            <a:off x="8096250" y="4838700"/>
            <a:ext cx="1424940" cy="6819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C031AD15-F232-759D-06C6-9C11A64EB240}"/>
              </a:ext>
              <a:ext uri="{C183D7F6-B498-43B3-948B-1728B52AA6E4}">
                <adec:decorative xmlns:adec="http://schemas.microsoft.com/office/drawing/2017/decorative" val="1"/>
              </a:ext>
            </a:extLst>
          </p:cNvPr>
          <p:cNvSpPr/>
          <p:nvPr/>
        </p:nvSpPr>
        <p:spPr>
          <a:xfrm>
            <a:off x="2320290" y="5657850"/>
            <a:ext cx="5109210" cy="7543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Object 25">
            <a:extLst>
              <a:ext uri="{FF2B5EF4-FFF2-40B4-BE49-F238E27FC236}">
                <a16:creationId xmlns:a16="http://schemas.microsoft.com/office/drawing/2014/main" id="{E7D3AC90-32F7-AFD7-2F85-12D3D9C318B0}"/>
              </a:ext>
            </a:extLst>
          </p:cNvPr>
          <p:cNvGraphicFramePr>
            <a:graphicFrameLocks noChangeAspect="1"/>
          </p:cNvGraphicFramePr>
          <p:nvPr>
            <p:extLst>
              <p:ext uri="{D42A27DB-BD31-4B8C-83A1-F6EECF244321}">
                <p14:modId xmlns:p14="http://schemas.microsoft.com/office/powerpoint/2010/main" val="216687169"/>
              </p:ext>
            </p:extLst>
          </p:nvPr>
        </p:nvGraphicFramePr>
        <p:xfrm>
          <a:off x="525574" y="5741621"/>
          <a:ext cx="6698186" cy="678757"/>
        </p:xfrm>
        <a:graphic>
          <a:graphicData uri="http://schemas.openxmlformats.org/presentationml/2006/ole">
            <mc:AlternateContent xmlns:mc="http://schemas.openxmlformats.org/markup-compatibility/2006">
              <mc:Choice xmlns:v="urn:schemas-microsoft-com:vml" Requires="v">
                <p:oleObj name="Equation" r:id="rId10" imgW="3200400" imgH="342720" progId="Equation.DSMT4">
                  <p:embed/>
                </p:oleObj>
              </mc:Choice>
              <mc:Fallback>
                <p:oleObj name="Equation" r:id="rId10" imgW="3200400" imgH="342720" progId="Equation.DSMT4">
                  <p:embed/>
                  <p:pic>
                    <p:nvPicPr>
                      <p:cNvPr id="0" name=""/>
                      <p:cNvPicPr/>
                      <p:nvPr/>
                    </p:nvPicPr>
                    <p:blipFill>
                      <a:blip r:embed="rId11"/>
                      <a:stretch>
                        <a:fillRect/>
                      </a:stretch>
                    </p:blipFill>
                    <p:spPr>
                      <a:xfrm>
                        <a:off x="525574" y="5741621"/>
                        <a:ext cx="6698186" cy="678757"/>
                      </a:xfrm>
                      <a:prstGeom prst="rect">
                        <a:avLst/>
                      </a:prstGeom>
                    </p:spPr>
                  </p:pic>
                </p:oleObj>
              </mc:Fallback>
            </mc:AlternateContent>
          </a:graphicData>
        </a:graphic>
      </p:graphicFrame>
      <p:sp>
        <p:nvSpPr>
          <p:cNvPr id="43" name="Rectangle 42">
            <a:extLst>
              <a:ext uri="{FF2B5EF4-FFF2-40B4-BE49-F238E27FC236}">
                <a16:creationId xmlns:a16="http://schemas.microsoft.com/office/drawing/2014/main" id="{68258E2C-7B16-B706-3C97-1EFA3BA17A2D}"/>
              </a:ext>
              <a:ext uri="{C183D7F6-B498-43B3-948B-1728B52AA6E4}">
                <adec:decorative xmlns:adec="http://schemas.microsoft.com/office/drawing/2017/decorative" val="1"/>
              </a:ext>
            </a:extLst>
          </p:cNvPr>
          <p:cNvSpPr/>
          <p:nvPr/>
        </p:nvSpPr>
        <p:spPr>
          <a:xfrm>
            <a:off x="5120640" y="5749290"/>
            <a:ext cx="2103120" cy="5372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655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ssolve">
                                      <p:cBhvr>
                                        <p:cTn id="24" dur="500"/>
                                        <p:tgtEl>
                                          <p:spTgt spid="4"/>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dissolve">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dissolve">
                                      <p:cBhvr>
                                        <p:cTn id="53" dur="500"/>
                                        <p:tgtEl>
                                          <p:spTgt spid="21"/>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dissolve">
                                      <p:cBhvr>
                                        <p:cTn id="56" dur="50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dissolve">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dissolve">
                                      <p:cBhvr>
                                        <p:cTn id="70" dur="500"/>
                                        <p:tgtEl>
                                          <p:spTgt spid="45"/>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dissolve">
                                      <p:cBhvr>
                                        <p:cTn id="75" dur="500"/>
                                        <p:tgtEl>
                                          <p:spTgt spid="22"/>
                                        </p:tgtEl>
                                      </p:cBhvr>
                                    </p:animEffect>
                                  </p:childTnLst>
                                </p:cTn>
                              </p:par>
                            </p:childTnLst>
                          </p:cTn>
                        </p:par>
                        <p:par>
                          <p:cTn id="76" fill="hold">
                            <p:stCondLst>
                              <p:cond delay="500"/>
                            </p:stCondLst>
                            <p:childTnLst>
                              <p:par>
                                <p:cTn id="77" presetID="9" presetClass="entr" presetSubtype="0" fill="hold" grpId="0" nodeType="after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dissolve">
                                      <p:cBhvr>
                                        <p:cTn id="79" dur="500"/>
                                        <p:tgtEl>
                                          <p:spTgt spid="47"/>
                                        </p:tgtEl>
                                      </p:cBhvr>
                                    </p:animEffect>
                                  </p:childTnLst>
                                </p:cTn>
                              </p:par>
                            </p:childTnLst>
                          </p:cTn>
                        </p:par>
                        <p:par>
                          <p:cTn id="80" fill="hold">
                            <p:stCondLst>
                              <p:cond delay="1000"/>
                            </p:stCondLst>
                            <p:childTnLst>
                              <p:par>
                                <p:cTn id="81" presetID="9" presetClass="entr" presetSubtype="0" fill="hold" grpId="0"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dissolve">
                                      <p:cBhvr>
                                        <p:cTn id="83" dur="500"/>
                                        <p:tgtEl>
                                          <p:spTgt spid="42"/>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nodeType="click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dissolve">
                                      <p:cBhvr>
                                        <p:cTn id="88" dur="500"/>
                                        <p:tgtEl>
                                          <p:spTgt spid="26"/>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dissolve">
                                      <p:cBhvr>
                                        <p:cTn id="9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animBg="1"/>
      <p:bldP spid="12" grpId="0"/>
      <p:bldP spid="4" grpId="0"/>
      <p:bldP spid="10" grpId="0"/>
      <p:bldP spid="14" grpId="0"/>
      <p:bldP spid="17" grpId="0" animBg="1"/>
      <p:bldP spid="21" grpId="0"/>
      <p:bldP spid="24" grpId="0" animBg="1"/>
      <p:bldP spid="28" grpId="0"/>
      <p:bldP spid="45" grpId="0" animBg="1"/>
      <p:bldP spid="47" grpId="0" animBg="1"/>
      <p:bldP spid="42" grpId="0" animBg="1"/>
      <p:bldP spid="4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A2F8-55D2-3C3B-F1D9-12EC49671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2FF2E-4A54-795A-A144-536A02B3044B}"/>
              </a:ext>
            </a:extLst>
          </p:cNvPr>
          <p:cNvSpPr>
            <a:spLocks noGrp="1"/>
          </p:cNvSpPr>
          <p:nvPr>
            <p:ph type="title"/>
          </p:nvPr>
        </p:nvSpPr>
        <p:spPr>
          <a:xfrm>
            <a:off x="214608" y="197275"/>
            <a:ext cx="12164081" cy="653131"/>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8.5</a:t>
            </a:r>
            <a:r>
              <a:rPr lang="en-US" dirty="0">
                <a:latin typeface="Times New Roman" panose="02020603050405020304" pitchFamily="18" charset="0"/>
                <a:ea typeface="Calibri" charset="0"/>
                <a:cs typeface="Times New Roman" panose="02020603050405020304" pitchFamily="18" charset="0"/>
              </a:rPr>
              <a:t> Centripetal Acceleration and Tangential Acceleration (3 of 5)</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9BC37DB7-06BB-4239-EF3D-D72A9F98E98E}"/>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Race Car</a:t>
            </a:r>
          </a:p>
        </p:txBody>
      </p:sp>
      <p:sp>
        <p:nvSpPr>
          <p:cNvPr id="5" name="Content Placeholder 2">
            <a:extLst>
              <a:ext uri="{FF2B5EF4-FFF2-40B4-BE49-F238E27FC236}">
                <a16:creationId xmlns:a16="http://schemas.microsoft.com/office/drawing/2014/main" id="{4DA9DDB5-9B0A-A21F-D747-BC08319F6BCB}"/>
              </a:ext>
            </a:extLst>
          </p:cNvPr>
          <p:cNvSpPr txBox="1">
            <a:spLocks noGrp="1"/>
          </p:cNvSpPr>
          <p:nvPr>
            <p:ph type="body" idx="2"/>
          </p:nvPr>
        </p:nvSpPr>
        <p:spPr>
          <a:xfrm>
            <a:off x="922973" y="1180237"/>
            <a:ext cx="7752398" cy="2677656"/>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altLang="en-US" sz="2400" dirty="0">
                <a:latin typeface="Times New Roman" panose="02020603050405020304" pitchFamily="18" charset="0"/>
                <a:cs typeface="Times New Roman" panose="02020603050405020304" pitchFamily="18"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What is the magnitude of the total acceleration? (</a:t>
            </a:r>
            <a:r>
              <a:rPr lang="en-US" altLang="en-US" sz="2400" b="1" dirty="0">
                <a:latin typeface="Times New Roman" panose="02020603050405020304" pitchFamily="18" charset="0"/>
                <a:cs typeface="Times New Roman" panose="02020603050405020304" pitchFamily="18" charset="0"/>
              </a:rPr>
              <a:t>b</a:t>
            </a:r>
            <a:r>
              <a:rPr lang="en-US" altLang="en-US" sz="2400" dirty="0">
                <a:latin typeface="Times New Roman" panose="02020603050405020304" pitchFamily="18" charset="0"/>
                <a:cs typeface="Times New Roman" panose="02020603050405020304" pitchFamily="18" charset="0"/>
              </a:rPr>
              <a:t>) What is the magnitude of the angular acceleration? </a:t>
            </a:r>
            <a:endParaRPr lang="en-US" sz="2400" dirty="0">
              <a:latin typeface="Times New Roman" panose="02020603050405020304" pitchFamily="18" charset="0"/>
              <a:cs typeface="Times New Roman" panose="02020603050405020304" pitchFamily="18" charset="0"/>
            </a:endParaRPr>
          </a:p>
        </p:txBody>
      </p:sp>
      <p:sp>
        <p:nvSpPr>
          <p:cNvPr id="49" name="Content Placeholder 4">
            <a:extLst>
              <a:ext uri="{FF2B5EF4-FFF2-40B4-BE49-F238E27FC236}">
                <a16:creationId xmlns:a16="http://schemas.microsoft.com/office/drawing/2014/main" id="{7BA15E38-EF93-A16C-D832-B4FB324CAFEB}"/>
              </a:ext>
            </a:extLst>
          </p:cNvPr>
          <p:cNvSpPr txBox="1">
            <a:spLocks noGrp="1"/>
          </p:cNvSpPr>
          <p:nvPr>
            <p:ph type="body" idx="4"/>
          </p:nvPr>
        </p:nvSpPr>
        <p:spPr>
          <a:xfrm>
            <a:off x="899651" y="3982065"/>
            <a:ext cx="10825317"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From the figure, we see that the total acceleration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corresponds to the hypotenuse of a right triangle containing </a:t>
            </a:r>
            <a:r>
              <a:rPr lang="en-US" sz="2400" i="1" dirty="0" err="1">
                <a:latin typeface="Times New Roman" panose="02020603050405020304" pitchFamily="18" charset="0"/>
                <a:cs typeface="Times New Roman" panose="02020603050405020304" pitchFamily="18" charset="0"/>
              </a:rPr>
              <a:t>a</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a:t>
            </a:r>
          </a:p>
        </p:txBody>
      </p:sp>
      <p:sp>
        <p:nvSpPr>
          <p:cNvPr id="50" name="Content Placeholder 5">
            <a:extLst>
              <a:ext uri="{FF2B5EF4-FFF2-40B4-BE49-F238E27FC236}">
                <a16:creationId xmlns:a16="http://schemas.microsoft.com/office/drawing/2014/main" id="{5E3B994D-4A95-8811-3051-A520F68A131D}"/>
              </a:ext>
            </a:extLst>
          </p:cNvPr>
          <p:cNvSpPr txBox="1">
            <a:spLocks noGrp="1"/>
          </p:cNvSpPr>
          <p:nvPr>
            <p:ph type="body" idx="5"/>
          </p:nvPr>
        </p:nvSpPr>
        <p:spPr>
          <a:xfrm>
            <a:off x="904567" y="4886633"/>
            <a:ext cx="10825317"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Let’s write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in terms of </a:t>
            </a:r>
            <a:r>
              <a:rPr lang="en-US" sz="2400" i="1"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since we know </a:t>
            </a:r>
            <a:r>
              <a:rPr lang="el-GR"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a:t>
            </a:r>
          </a:p>
        </p:txBody>
      </p:sp>
      <p:sp>
        <p:nvSpPr>
          <p:cNvPr id="51" name="Rounded Rectangle 50">
            <a:extLst>
              <a:ext uri="{FF2B5EF4-FFF2-40B4-BE49-F238E27FC236}">
                <a16:creationId xmlns:a16="http://schemas.microsoft.com/office/drawing/2014/main" id="{F2D3A4AB-3E75-C1E1-A34C-5ABF6125E436}"/>
              </a:ext>
              <a:ext uri="{C183D7F6-B498-43B3-948B-1728B52AA6E4}">
                <adec:decorative xmlns:adec="http://schemas.microsoft.com/office/drawing/2017/decorative" val="1"/>
              </a:ext>
            </a:extLst>
          </p:cNvPr>
          <p:cNvSpPr/>
          <p:nvPr/>
        </p:nvSpPr>
        <p:spPr>
          <a:xfrm>
            <a:off x="6695768" y="4778477"/>
            <a:ext cx="5220929"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Object 3">
            <a:extLst>
              <a:ext uri="{FF2B5EF4-FFF2-40B4-BE49-F238E27FC236}">
                <a16:creationId xmlns:a16="http://schemas.microsoft.com/office/drawing/2014/main" id="{8CB8ADAC-C774-C0CD-4BB0-6A8E12D91A6D}"/>
              </a:ext>
            </a:extLst>
          </p:cNvPr>
          <p:cNvGraphicFramePr>
            <a:graphicFrameLocks noChangeAspect="1"/>
          </p:cNvGraphicFramePr>
          <p:nvPr>
            <p:extLst>
              <p:ext uri="{D42A27DB-BD31-4B8C-83A1-F6EECF244321}">
                <p14:modId xmlns:p14="http://schemas.microsoft.com/office/powerpoint/2010/main" val="1908854650"/>
              </p:ext>
            </p:extLst>
          </p:nvPr>
        </p:nvGraphicFramePr>
        <p:xfrm>
          <a:off x="7107861" y="4760472"/>
          <a:ext cx="4352414" cy="846302"/>
        </p:xfrm>
        <a:graphic>
          <a:graphicData uri="http://schemas.openxmlformats.org/presentationml/2006/ole">
            <mc:AlternateContent xmlns:mc="http://schemas.openxmlformats.org/markup-compatibility/2006">
              <mc:Choice xmlns:v="urn:schemas-microsoft-com:vml" Requires="v">
                <p:oleObj name="Equation" r:id="rId3" imgW="2286000" imgH="444240" progId="Equation.DSMT4">
                  <p:embed/>
                </p:oleObj>
              </mc:Choice>
              <mc:Fallback>
                <p:oleObj name="Equation" r:id="rId3" imgW="2286000" imgH="444240" progId="Equation.DSMT4">
                  <p:embed/>
                  <p:pic>
                    <p:nvPicPr>
                      <p:cNvPr id="0" name=""/>
                      <p:cNvPicPr/>
                      <p:nvPr/>
                    </p:nvPicPr>
                    <p:blipFill>
                      <a:blip r:embed="rId4"/>
                      <a:stretch>
                        <a:fillRect/>
                      </a:stretch>
                    </p:blipFill>
                    <p:spPr>
                      <a:xfrm>
                        <a:off x="7107861" y="4760472"/>
                        <a:ext cx="4352414" cy="846302"/>
                      </a:xfrm>
                      <a:prstGeom prst="rect">
                        <a:avLst/>
                      </a:prstGeom>
                    </p:spPr>
                  </p:pic>
                </p:oleObj>
              </mc:Fallback>
            </mc:AlternateContent>
          </a:graphicData>
        </a:graphic>
      </p:graphicFrame>
      <p:sp>
        <p:nvSpPr>
          <p:cNvPr id="55" name="Rounded Rectangle 54">
            <a:extLst>
              <a:ext uri="{FF2B5EF4-FFF2-40B4-BE49-F238E27FC236}">
                <a16:creationId xmlns:a16="http://schemas.microsoft.com/office/drawing/2014/main" id="{9FE606CC-1EFC-4997-6B00-74FC7A519648}"/>
              </a:ext>
              <a:ext uri="{C183D7F6-B498-43B3-948B-1728B52AA6E4}">
                <adec:decorative xmlns:adec="http://schemas.microsoft.com/office/drawing/2017/decorative" val="1"/>
              </a:ext>
            </a:extLst>
          </p:cNvPr>
          <p:cNvSpPr/>
          <p:nvPr/>
        </p:nvSpPr>
        <p:spPr>
          <a:xfrm>
            <a:off x="993059" y="5461819"/>
            <a:ext cx="4729316"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Object 6">
            <a:extLst>
              <a:ext uri="{FF2B5EF4-FFF2-40B4-BE49-F238E27FC236}">
                <a16:creationId xmlns:a16="http://schemas.microsoft.com/office/drawing/2014/main" id="{EE8ADD34-98EB-F899-A4FA-EA7242C8300D}"/>
              </a:ext>
            </a:extLst>
          </p:cNvPr>
          <p:cNvGraphicFramePr>
            <a:graphicFrameLocks noChangeAspect="1"/>
          </p:cNvGraphicFramePr>
          <p:nvPr>
            <p:extLst>
              <p:ext uri="{D42A27DB-BD31-4B8C-83A1-F6EECF244321}">
                <p14:modId xmlns:p14="http://schemas.microsoft.com/office/powerpoint/2010/main" val="2076320670"/>
              </p:ext>
            </p:extLst>
          </p:nvPr>
        </p:nvGraphicFramePr>
        <p:xfrm>
          <a:off x="1251220" y="5544932"/>
          <a:ext cx="4212994" cy="733425"/>
        </p:xfrm>
        <a:graphic>
          <a:graphicData uri="http://schemas.openxmlformats.org/presentationml/2006/ole">
            <mc:AlternateContent xmlns:mc="http://schemas.openxmlformats.org/markup-compatibility/2006">
              <mc:Choice xmlns:v="urn:schemas-microsoft-com:vml" Requires="v">
                <p:oleObj name="Equation" r:id="rId5" imgW="2438280" imgH="444240" progId="Equation.DSMT4">
                  <p:embed/>
                </p:oleObj>
              </mc:Choice>
              <mc:Fallback>
                <p:oleObj name="Equation" r:id="rId5" imgW="2438280" imgH="444240" progId="Equation.DSMT4">
                  <p:embed/>
                  <p:pic>
                    <p:nvPicPr>
                      <p:cNvPr id="0" name=""/>
                      <p:cNvPicPr/>
                      <p:nvPr/>
                    </p:nvPicPr>
                    <p:blipFill>
                      <a:blip r:embed="rId6"/>
                      <a:stretch>
                        <a:fillRect/>
                      </a:stretch>
                    </p:blipFill>
                    <p:spPr>
                      <a:xfrm>
                        <a:off x="1251220" y="5544932"/>
                        <a:ext cx="4212994" cy="733425"/>
                      </a:xfrm>
                      <a:prstGeom prst="rect">
                        <a:avLst/>
                      </a:prstGeom>
                    </p:spPr>
                  </p:pic>
                </p:oleObj>
              </mc:Fallback>
            </mc:AlternateContent>
          </a:graphicData>
        </a:graphic>
      </p:graphicFrame>
      <p:sp>
        <p:nvSpPr>
          <p:cNvPr id="58" name="Rectangle 57">
            <a:extLst>
              <a:ext uri="{FF2B5EF4-FFF2-40B4-BE49-F238E27FC236}">
                <a16:creationId xmlns:a16="http://schemas.microsoft.com/office/drawing/2014/main" id="{FC325713-6FBF-C410-F276-6E1FA0D45983}"/>
              </a:ext>
              <a:ext uri="{C183D7F6-B498-43B3-948B-1728B52AA6E4}">
                <adec:decorative xmlns:adec="http://schemas.microsoft.com/office/drawing/2017/decorative" val="1"/>
              </a:ext>
            </a:extLst>
          </p:cNvPr>
          <p:cNvSpPr/>
          <p:nvPr/>
        </p:nvSpPr>
        <p:spPr>
          <a:xfrm>
            <a:off x="4306529" y="5707626"/>
            <a:ext cx="1253613" cy="4277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9BF0365A-047D-035B-2BC5-F4E8614BC1B4}"/>
              </a:ext>
            </a:extLst>
          </p:cNvPr>
          <p:cNvGrpSpPr/>
          <p:nvPr/>
        </p:nvGrpSpPr>
        <p:grpSpPr>
          <a:xfrm>
            <a:off x="9342120" y="1383030"/>
            <a:ext cx="2328863" cy="1838325"/>
            <a:chOff x="9342120" y="1383030"/>
            <a:chExt cx="2328863" cy="1838325"/>
          </a:xfrm>
        </p:grpSpPr>
        <p:grpSp>
          <p:nvGrpSpPr>
            <p:cNvPr id="40" name="Group 39">
              <a:extLst>
                <a:ext uri="{FF2B5EF4-FFF2-40B4-BE49-F238E27FC236}">
                  <a16:creationId xmlns:a16="http://schemas.microsoft.com/office/drawing/2014/main" id="{BFC570C4-AE1A-42BC-8968-05573E40CBDD}"/>
                </a:ext>
              </a:extLst>
            </p:cNvPr>
            <p:cNvGrpSpPr/>
            <p:nvPr/>
          </p:nvGrpSpPr>
          <p:grpSpPr>
            <a:xfrm>
              <a:off x="9342120" y="1383030"/>
              <a:ext cx="2328863" cy="1838325"/>
              <a:chOff x="9342120" y="1383030"/>
              <a:chExt cx="2328863" cy="1838325"/>
            </a:xfrm>
          </p:grpSpPr>
          <p:grpSp>
            <p:nvGrpSpPr>
              <p:cNvPr id="10" name="Group 9">
                <a:extLst>
                  <a:ext uri="{FF2B5EF4-FFF2-40B4-BE49-F238E27FC236}">
                    <a16:creationId xmlns:a16="http://schemas.microsoft.com/office/drawing/2014/main" id="{59BA69A7-D72B-2E4B-E939-2F200A64900E}"/>
                  </a:ext>
                </a:extLst>
              </p:cNvPr>
              <p:cNvGrpSpPr/>
              <p:nvPr/>
            </p:nvGrpSpPr>
            <p:grpSpPr>
              <a:xfrm>
                <a:off x="9342120" y="1383030"/>
                <a:ext cx="2328863" cy="1838325"/>
                <a:chOff x="152400" y="1828800"/>
                <a:chExt cx="2328863" cy="1838325"/>
              </a:xfrm>
            </p:grpSpPr>
            <p:sp>
              <p:nvSpPr>
                <p:cNvPr id="16" name="Rectangle 5">
                  <a:extLst>
                    <a:ext uri="{FF2B5EF4-FFF2-40B4-BE49-F238E27FC236}">
                      <a16:creationId xmlns:a16="http://schemas.microsoft.com/office/drawing/2014/main" id="{6DA8B147-3285-4C1B-BB8A-12F4C7B9C43F}"/>
                    </a:ext>
                  </a:extLst>
                </p:cNvPr>
                <p:cNvSpPr>
                  <a:spLocks noChangeArrowheads="1"/>
                </p:cNvSpPr>
                <p:nvPr/>
              </p:nvSpPr>
              <p:spPr bwMode="auto">
                <a:xfrm>
                  <a:off x="1447800" y="2066925"/>
                  <a:ext cx="533400" cy="7620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 name="Oval 6">
                  <a:extLst>
                    <a:ext uri="{FF2B5EF4-FFF2-40B4-BE49-F238E27FC236}">
                      <a16:creationId xmlns:a16="http://schemas.microsoft.com/office/drawing/2014/main" id="{7FB718A3-77EF-007B-0BB6-82A4639C88B4}"/>
                    </a:ext>
                  </a:extLst>
                </p:cNvPr>
                <p:cNvSpPr>
                  <a:spLocks noChangeArrowheads="1"/>
                </p:cNvSpPr>
                <p:nvPr/>
              </p:nvSpPr>
              <p:spPr bwMode="auto">
                <a:xfrm>
                  <a:off x="152400" y="1838325"/>
                  <a:ext cx="1828800" cy="1828800"/>
                </a:xfrm>
                <a:prstGeom prst="ellipse">
                  <a:avLst/>
                </a:prstGeom>
                <a:noFill/>
                <a:ln w="254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0" name="Line 7">
                  <a:extLst>
                    <a:ext uri="{FF2B5EF4-FFF2-40B4-BE49-F238E27FC236}">
                      <a16:creationId xmlns:a16="http://schemas.microsoft.com/office/drawing/2014/main" id="{59489EB2-6773-8E08-53AF-12895A7C1878}"/>
                    </a:ext>
                  </a:extLst>
                </p:cNvPr>
                <p:cNvSpPr>
                  <a:spLocks noChangeShapeType="1"/>
                </p:cNvSpPr>
                <p:nvPr/>
              </p:nvSpPr>
              <p:spPr bwMode="auto">
                <a:xfrm>
                  <a:off x="990600" y="282892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10">
                  <a:extLst>
                    <a:ext uri="{FF2B5EF4-FFF2-40B4-BE49-F238E27FC236}">
                      <a16:creationId xmlns:a16="http://schemas.microsoft.com/office/drawing/2014/main" id="{83E0919B-BA5E-8653-7FCE-B5FACAC16E3C}"/>
                    </a:ext>
                  </a:extLst>
                </p:cNvPr>
                <p:cNvSpPr>
                  <a:spLocks noChangeShapeType="1"/>
                </p:cNvSpPr>
                <p:nvPr/>
              </p:nvSpPr>
              <p:spPr bwMode="auto">
                <a:xfrm flipV="1">
                  <a:off x="1981200" y="2066925"/>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Line 12">
                  <a:extLst>
                    <a:ext uri="{FF2B5EF4-FFF2-40B4-BE49-F238E27FC236}">
                      <a16:creationId xmlns:a16="http://schemas.microsoft.com/office/drawing/2014/main" id="{9D072E98-CB1D-6511-1048-F1108B76D0FE}"/>
                    </a:ext>
                  </a:extLst>
                </p:cNvPr>
                <p:cNvSpPr>
                  <a:spLocks noChangeShapeType="1"/>
                </p:cNvSpPr>
                <p:nvPr/>
              </p:nvSpPr>
              <p:spPr bwMode="auto">
                <a:xfrm flipH="1">
                  <a:off x="1371600" y="2828925"/>
                  <a:ext cx="609600" cy="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dirty="0"/>
                </a:p>
              </p:txBody>
            </p:sp>
            <p:sp>
              <p:nvSpPr>
                <p:cNvPr id="31" name="Text Box 13">
                  <a:extLst>
                    <a:ext uri="{FF2B5EF4-FFF2-40B4-BE49-F238E27FC236}">
                      <a16:creationId xmlns:a16="http://schemas.microsoft.com/office/drawing/2014/main" id="{DE02178F-023E-DAFE-2985-E16E3D966026}"/>
                    </a:ext>
                  </a:extLst>
                </p:cNvPr>
                <p:cNvSpPr txBox="1">
                  <a:spLocks noChangeArrowheads="1"/>
                </p:cNvSpPr>
                <p:nvPr/>
              </p:nvSpPr>
              <p:spPr bwMode="auto">
                <a:xfrm>
                  <a:off x="1290638" y="2786063"/>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latin typeface="Times New Roman" panose="02020603050405020304" pitchFamily="18" charset="0"/>
                    </a:rPr>
                    <a:t>a</a:t>
                  </a:r>
                  <a:r>
                    <a:rPr lang="en-US" altLang="en-US" sz="1800" b="1" i="1" baseline="-25000" dirty="0">
                      <a:latin typeface="Times New Roman" panose="02020603050405020304" pitchFamily="18" charset="0"/>
                    </a:rPr>
                    <a:t>c</a:t>
                  </a:r>
                  <a:endParaRPr lang="en-US" altLang="en-US" sz="1800" b="1" i="1" dirty="0">
                    <a:latin typeface="Times New Roman" panose="02020603050405020304" pitchFamily="18" charset="0"/>
                  </a:endParaRPr>
                </a:p>
              </p:txBody>
            </p:sp>
            <p:sp>
              <p:nvSpPr>
                <p:cNvPr id="32" name="Line 14">
                  <a:extLst>
                    <a:ext uri="{FF2B5EF4-FFF2-40B4-BE49-F238E27FC236}">
                      <a16:creationId xmlns:a16="http://schemas.microsoft.com/office/drawing/2014/main" id="{3A33AF28-EC41-B757-963D-D9357B25E187}"/>
                    </a:ext>
                  </a:extLst>
                </p:cNvPr>
                <p:cNvSpPr>
                  <a:spLocks noChangeShapeType="1"/>
                </p:cNvSpPr>
                <p:nvPr/>
              </p:nvSpPr>
              <p:spPr bwMode="auto">
                <a:xfrm flipV="1">
                  <a:off x="1981200" y="2066925"/>
                  <a:ext cx="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
              <p:nvSpPr>
                <p:cNvPr id="33" name="Text Box 15">
                  <a:extLst>
                    <a:ext uri="{FF2B5EF4-FFF2-40B4-BE49-F238E27FC236}">
                      <a16:creationId xmlns:a16="http://schemas.microsoft.com/office/drawing/2014/main" id="{3CCF3E40-6A62-124F-4ED9-91CF0D3B1279}"/>
                    </a:ext>
                  </a:extLst>
                </p:cNvPr>
                <p:cNvSpPr txBox="1">
                  <a:spLocks noChangeArrowheads="1"/>
                </p:cNvSpPr>
                <p:nvPr/>
              </p:nvSpPr>
              <p:spPr bwMode="auto">
                <a:xfrm>
                  <a:off x="1947863" y="1828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a:latin typeface="Times New Roman" panose="02020603050405020304" pitchFamily="18" charset="0"/>
                    </a:rPr>
                    <a:t>a</a:t>
                  </a:r>
                  <a:r>
                    <a:rPr lang="en-US" altLang="en-US" sz="1800" b="1" baseline="-25000"/>
                    <a:t>T</a:t>
                  </a:r>
                </a:p>
              </p:txBody>
            </p:sp>
            <p:sp>
              <p:nvSpPr>
                <p:cNvPr id="35" name="Line 16">
                  <a:extLst>
                    <a:ext uri="{FF2B5EF4-FFF2-40B4-BE49-F238E27FC236}">
                      <a16:creationId xmlns:a16="http://schemas.microsoft.com/office/drawing/2014/main" id="{AAEC60C1-8CBA-984D-D8AF-31ACA6E09DFE}"/>
                    </a:ext>
                  </a:extLst>
                </p:cNvPr>
                <p:cNvSpPr>
                  <a:spLocks noChangeShapeType="1"/>
                </p:cNvSpPr>
                <p:nvPr/>
              </p:nvSpPr>
              <p:spPr bwMode="auto">
                <a:xfrm flipH="1" flipV="1">
                  <a:off x="1447800" y="2066925"/>
                  <a:ext cx="53340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
              <p:nvSpPr>
                <p:cNvPr id="36" name="Text Box 17">
                  <a:extLst>
                    <a:ext uri="{FF2B5EF4-FFF2-40B4-BE49-F238E27FC236}">
                      <a16:creationId xmlns:a16="http://schemas.microsoft.com/office/drawing/2014/main" id="{181C8BE5-775D-4792-C494-8F4D7A02A543}"/>
                    </a:ext>
                  </a:extLst>
                </p:cNvPr>
                <p:cNvSpPr txBox="1">
                  <a:spLocks noChangeArrowheads="1"/>
                </p:cNvSpPr>
                <p:nvPr/>
              </p:nvSpPr>
              <p:spPr bwMode="auto">
                <a:xfrm>
                  <a:off x="1181100" y="1854518"/>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latin typeface="Times New Roman" panose="02020603050405020304" pitchFamily="18" charset="0"/>
                    </a:rPr>
                    <a:t>a</a:t>
                  </a:r>
                </a:p>
              </p:txBody>
            </p:sp>
            <p:sp>
              <p:nvSpPr>
                <p:cNvPr id="38" name="Text Box 19">
                  <a:extLst>
                    <a:ext uri="{FF2B5EF4-FFF2-40B4-BE49-F238E27FC236}">
                      <a16:creationId xmlns:a16="http://schemas.microsoft.com/office/drawing/2014/main" id="{5F615FF4-DDBC-43F5-2748-07D4453A8561}"/>
                    </a:ext>
                  </a:extLst>
                </p:cNvPr>
                <p:cNvSpPr txBox="1">
                  <a:spLocks noChangeArrowheads="1"/>
                </p:cNvSpPr>
                <p:nvPr/>
              </p:nvSpPr>
              <p:spPr bwMode="auto">
                <a:xfrm>
                  <a:off x="1406862" y="2529920"/>
                  <a:ext cx="51585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200" dirty="0"/>
                    <a:t>35</a:t>
                  </a:r>
                  <a:r>
                    <a:rPr lang="en-US" altLang="en-US" sz="1200" baseline="30000" dirty="0"/>
                    <a:t>o</a:t>
                  </a:r>
                  <a:endParaRPr lang="en-US" altLang="en-US" sz="1200" dirty="0"/>
                </a:p>
              </p:txBody>
            </p:sp>
          </p:grpSp>
          <p:sp>
            <p:nvSpPr>
              <p:cNvPr id="39" name="Freeform 38">
                <a:extLst>
                  <a:ext uri="{FF2B5EF4-FFF2-40B4-BE49-F238E27FC236}">
                    <a16:creationId xmlns:a16="http://schemas.microsoft.com/office/drawing/2014/main" id="{1FF668BB-0DA4-D3EA-BF64-5FA3A5BA1AD9}"/>
                  </a:ext>
                </a:extLst>
              </p:cNvPr>
              <p:cNvSpPr/>
              <p:nvPr/>
            </p:nvSpPr>
            <p:spPr>
              <a:xfrm>
                <a:off x="10936066" y="2166633"/>
                <a:ext cx="59256" cy="202699"/>
              </a:xfrm>
              <a:custGeom>
                <a:avLst/>
                <a:gdLst>
                  <a:gd name="connsiteX0" fmla="*/ 59256 w 59256"/>
                  <a:gd name="connsiteY0" fmla="*/ 0 h 202699"/>
                  <a:gd name="connsiteX1" fmla="*/ 699 w 59256"/>
                  <a:gd name="connsiteY1" fmla="*/ 103601 h 202699"/>
                  <a:gd name="connsiteX2" fmla="*/ 32230 w 59256"/>
                  <a:gd name="connsiteY2" fmla="*/ 202699 h 202699"/>
                </a:gdLst>
                <a:ahLst/>
                <a:cxnLst>
                  <a:cxn ang="0">
                    <a:pos x="connsiteX0" y="connsiteY0"/>
                  </a:cxn>
                  <a:cxn ang="0">
                    <a:pos x="connsiteX1" y="connsiteY1"/>
                  </a:cxn>
                  <a:cxn ang="0">
                    <a:pos x="connsiteX2" y="connsiteY2"/>
                  </a:cxn>
                </a:cxnLst>
                <a:rect l="l" t="t" r="r" b="b"/>
                <a:pathLst>
                  <a:path w="59256" h="202699">
                    <a:moveTo>
                      <a:pt x="59256" y="0"/>
                    </a:moveTo>
                    <a:cubicBezTo>
                      <a:pt x="32229" y="34909"/>
                      <a:pt x="5203" y="69818"/>
                      <a:pt x="699" y="103601"/>
                    </a:cubicBezTo>
                    <a:cubicBezTo>
                      <a:pt x="-3805" y="137384"/>
                      <a:pt x="14212" y="170041"/>
                      <a:pt x="32230" y="20269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386" name="Picture 2">
              <a:extLst>
                <a:ext uri="{FF2B5EF4-FFF2-40B4-BE49-F238E27FC236}">
                  <a16:creationId xmlns:a16="http://schemas.microsoft.com/office/drawing/2014/main" id="{37107E12-8DD7-DFA8-4E30-C145FF198913}"/>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8142" b="93451" l="4286" r="94405">
                          <a14:foregroundMark x1="83810" y1="29027" x2="83810" y2="29027"/>
                          <a14:foregroundMark x1="83571" y1="15575" x2="83571" y2="15575"/>
                          <a14:foregroundMark x1="74524" y1="11504" x2="74524" y2="11504"/>
                          <a14:foregroundMark x1="67976" y1="11858" x2="67976" y2="11858"/>
                          <a14:foregroundMark x1="65952" y1="19823" x2="65952" y2="19823"/>
                          <a14:foregroundMark x1="66190" y1="28496" x2="66190" y2="28496"/>
                          <a14:foregroundMark x1="70833" y1="29381" x2="70833" y2="29381"/>
                          <a14:foregroundMark x1="76905" y1="29204" x2="76905" y2="29204"/>
                          <a14:foregroundMark x1="81429" y1="30088" x2="81429" y2="30088"/>
                          <a14:foregroundMark x1="24167" y1="9381" x2="24167" y2="9381"/>
                          <a14:foregroundMark x1="66667" y1="75221" x2="66667" y2="75221"/>
                          <a14:foregroundMark x1="66667" y1="82301" x2="66667" y2="82301"/>
                          <a14:foregroundMark x1="67024" y1="87788" x2="67024" y2="87788"/>
                          <a14:foregroundMark x1="74643" y1="88496" x2="74643" y2="88496"/>
                          <a14:foregroundMark x1="79762" y1="88673" x2="79762" y2="88673"/>
                          <a14:foregroundMark x1="83690" y1="88496" x2="83690" y2="88496"/>
                          <a14:foregroundMark x1="84762" y1="83540" x2="84762" y2="83540"/>
                          <a14:foregroundMark x1="84405" y1="78407" x2="84405" y2="78407"/>
                          <a14:foregroundMark x1="84048" y1="73982" x2="84048" y2="73982"/>
                          <a14:foregroundMark x1="79524" y1="73628" x2="79524" y2="73628"/>
                          <a14:foregroundMark x1="74405" y1="73451" x2="74405" y2="73451"/>
                          <a14:foregroundMark x1="71310" y1="73628" x2="71310" y2="73628"/>
                          <a14:foregroundMark x1="67024" y1="73628" x2="67024" y2="73628"/>
                          <a14:foregroundMark x1="66429" y1="76991" x2="66429" y2="76991"/>
                          <a14:foregroundMark x1="66190" y1="82301" x2="66190" y2="82301"/>
                          <a14:foregroundMark x1="66429" y1="86372" x2="66429" y2="86372"/>
                          <a14:foregroundMark x1="66429" y1="89204" x2="66429" y2="89204"/>
                          <a14:foregroundMark x1="82024" y1="91504" x2="82024" y2="91504"/>
                          <a14:foregroundMark x1="76429" y1="91150" x2="76429" y2="91150"/>
                          <a14:foregroundMark x1="71786" y1="91504" x2="71786" y2="91504"/>
                          <a14:foregroundMark x1="69048" y1="91504" x2="69048" y2="91504"/>
                          <a14:foregroundMark x1="67500" y1="91504" x2="67500" y2="91504"/>
                          <a14:foregroundMark x1="66429" y1="84779" x2="66429" y2="84779"/>
                          <a14:foregroundMark x1="66190" y1="79823" x2="66190" y2="79823"/>
                          <a14:foregroundMark x1="66429" y1="76460" x2="66429" y2="76460"/>
                          <a14:foregroundMark x1="68690" y1="73451" x2="68690" y2="73451"/>
                          <a14:foregroundMark x1="75119" y1="73274" x2="75119" y2="73274"/>
                          <a14:foregroundMark x1="80119" y1="72920" x2="80119" y2="72920"/>
                          <a14:foregroundMark x1="83929" y1="73451" x2="83929" y2="73451"/>
                          <a14:foregroundMark x1="84643" y1="75575" x2="84643" y2="75575"/>
                          <a14:foregroundMark x1="84762" y1="80354" x2="84762" y2="80354"/>
                          <a14:foregroundMark x1="79643" y1="29912" x2="79643" y2="29912"/>
                          <a14:foregroundMark x1="74762" y1="29912" x2="74762" y2="29912"/>
                          <a14:foregroundMark x1="68690" y1="29735" x2="68690" y2="29735"/>
                          <a14:foregroundMark x1="66786" y1="27788" x2="66786" y2="27788"/>
                          <a14:foregroundMark x1="66190" y1="24248" x2="66190" y2="24248"/>
                          <a14:foregroundMark x1="66190" y1="19115" x2="66190" y2="19115"/>
                          <a14:foregroundMark x1="66429" y1="16106" x2="66429" y2="16106"/>
                          <a14:foregroundMark x1="66548" y1="12389" x2="66548" y2="12389"/>
                          <a14:foregroundMark x1="69405" y1="11327" x2="69405" y2="11327"/>
                          <a14:foregroundMark x1="73929" y1="11504" x2="73929" y2="11504"/>
                          <a14:foregroundMark x1="77262" y1="11504" x2="77262" y2="11504"/>
                          <a14:foregroundMark x1="79048" y1="11504" x2="79048" y2="11504"/>
                          <a14:foregroundMark x1="80476" y1="11504" x2="80476" y2="11504"/>
                          <a14:foregroundMark x1="83095" y1="11681" x2="83095" y2="11681"/>
                          <a14:foregroundMark x1="84167" y1="12212" x2="84167" y2="12212"/>
                          <a14:foregroundMark x1="84762" y1="15044" x2="84762" y2="15044"/>
                          <a14:foregroundMark x1="84881" y1="20354" x2="84881" y2="20354"/>
                          <a14:foregroundMark x1="84762" y1="24602" x2="84762" y2="24602"/>
                          <a14:foregroundMark x1="15476" y1="18053" x2="15476" y2="18053"/>
                          <a14:foregroundMark x1="12143" y1="18053" x2="12143" y2="18053"/>
                          <a14:foregroundMark x1="10714" y1="17522" x2="10714" y2="17522"/>
                          <a14:foregroundMark x1="10952" y1="12566" x2="10952" y2="12566"/>
                          <a14:foregroundMark x1="11548" y1="9381" x2="11548" y2="9381"/>
                          <a14:foregroundMark x1="14762" y1="8142" x2="14762" y2="8142"/>
                          <a14:foregroundMark x1="28333" y1="94159" x2="28333" y2="94159"/>
                          <a14:foregroundMark x1="8810" y1="20708" x2="8810" y2="20708"/>
                          <a14:foregroundMark x1="4286" y1="20354" x2="4286" y2="20354"/>
                          <a14:foregroundMark x1="88214" y1="43186" x2="88214" y2="43186"/>
                          <a14:foregroundMark x1="87976" y1="34690" x2="87976" y2="34690"/>
                          <a14:foregroundMark x1="88333" y1="25841" x2="88333" y2="25841"/>
                          <a14:foregroundMark x1="88095" y1="20885" x2="88095" y2="20885"/>
                          <a14:foregroundMark x1="91429" y1="20177" x2="91429" y2="20177"/>
                          <a14:foregroundMark x1="94405" y1="20177" x2="94405" y2="20177"/>
                        </a14:backgroundRemoval>
                      </a14:imgEffect>
                    </a14:imgLayer>
                  </a14:imgProps>
                </a:ext>
                <a:ext uri="{28A0092B-C50C-407E-A947-70E740481C1C}">
                  <a14:useLocalDpi xmlns:a14="http://schemas.microsoft.com/office/drawing/2010/main" val="0"/>
                </a:ext>
              </a:extLst>
            </a:blip>
            <a:srcRect/>
            <a:stretch>
              <a:fillRect/>
            </a:stretch>
          </p:blipFill>
          <p:spPr bwMode="auto">
            <a:xfrm rot="16200000" flipV="1">
              <a:off x="11062496" y="2300170"/>
              <a:ext cx="219245" cy="14746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7574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dissolve">
                                      <p:cBhvr>
                                        <p:cTn id="16" dur="500"/>
                                        <p:tgtEl>
                                          <p:spTgt spid="5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dissolve">
                                      <p:cBhvr>
                                        <p:cTn id="25" dur="500"/>
                                        <p:tgtEl>
                                          <p:spTgt spid="5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dissolve">
                                      <p:cBhvr>
                                        <p:cTn id="3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animBg="1"/>
      <p:bldP spid="55" grpId="0" animBg="1"/>
      <p:bldP spid="5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94980-2AA9-2A6B-0758-2CD9E0B16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C1727-3FA8-8D0E-9BEC-0BF13942E4E3}"/>
              </a:ext>
            </a:extLst>
          </p:cNvPr>
          <p:cNvSpPr>
            <a:spLocks noGrp="1"/>
          </p:cNvSpPr>
          <p:nvPr>
            <p:ph type="title"/>
          </p:nvPr>
        </p:nvSpPr>
        <p:spPr>
          <a:xfrm>
            <a:off x="171244" y="242338"/>
            <a:ext cx="12104576" cy="604890"/>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8.5</a:t>
            </a:r>
            <a:r>
              <a:rPr lang="en-US" dirty="0">
                <a:latin typeface="Times New Roman" panose="02020603050405020304" pitchFamily="18" charset="0"/>
                <a:ea typeface="Calibri" charset="0"/>
                <a:cs typeface="Times New Roman" panose="02020603050405020304" pitchFamily="18" charset="0"/>
              </a:rPr>
              <a:t> Centripetal Acceleration and Tangential Acceleration (4 of 5)</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A6969C33-4AC6-0943-05D9-C2B3C0B37C79}"/>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Race Car</a:t>
            </a:r>
          </a:p>
        </p:txBody>
      </p:sp>
      <p:sp>
        <p:nvSpPr>
          <p:cNvPr id="5" name="Content Placeholder 2">
            <a:extLst>
              <a:ext uri="{FF2B5EF4-FFF2-40B4-BE49-F238E27FC236}">
                <a16:creationId xmlns:a16="http://schemas.microsoft.com/office/drawing/2014/main" id="{3F608279-DC3B-EC30-FD96-8948C1A2ABD2}"/>
              </a:ext>
            </a:extLst>
          </p:cNvPr>
          <p:cNvSpPr txBox="1">
            <a:spLocks noGrp="1"/>
          </p:cNvSpPr>
          <p:nvPr>
            <p:ph type="body" idx="2"/>
          </p:nvPr>
        </p:nvSpPr>
        <p:spPr>
          <a:xfrm>
            <a:off x="922973" y="1180237"/>
            <a:ext cx="7752398" cy="2677656"/>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altLang="en-US" sz="2400" dirty="0">
                <a:latin typeface="Times New Roman" panose="02020603050405020304" pitchFamily="18" charset="0"/>
                <a:cs typeface="Times New Roman" panose="02020603050405020304" pitchFamily="18"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What is the magnitude of the total acceleration? (</a:t>
            </a:r>
            <a:r>
              <a:rPr lang="en-US" altLang="en-US" sz="2400" b="1" dirty="0">
                <a:latin typeface="Times New Roman" panose="02020603050405020304" pitchFamily="18" charset="0"/>
                <a:cs typeface="Times New Roman" panose="02020603050405020304" pitchFamily="18" charset="0"/>
              </a:rPr>
              <a:t>b</a:t>
            </a:r>
            <a:r>
              <a:rPr lang="en-US" altLang="en-US" sz="2400" dirty="0">
                <a:latin typeface="Times New Roman" panose="02020603050405020304" pitchFamily="18" charset="0"/>
                <a:cs typeface="Times New Roman" panose="02020603050405020304" pitchFamily="18" charset="0"/>
              </a:rPr>
              <a:t>) What is the magnitude of the angular acceleration? </a:t>
            </a:r>
            <a:endParaRPr lang="en-US" sz="2400" dirty="0">
              <a:latin typeface="Times New Roman" panose="02020603050405020304" pitchFamily="18" charset="0"/>
              <a:cs typeface="Times New Roman" panose="02020603050405020304" pitchFamily="18" charset="0"/>
            </a:endParaRPr>
          </a:p>
        </p:txBody>
      </p:sp>
      <p:pic>
        <p:nvPicPr>
          <p:cNvPr id="14" name="Content Placeholder 3">
            <a:extLst>
              <a:ext uri="{FF2B5EF4-FFF2-40B4-BE49-F238E27FC236}">
                <a16:creationId xmlns:a16="http://schemas.microsoft.com/office/drawing/2014/main" id="{9B681384-E194-65C9-C3D4-9FA846046807}"/>
              </a:ext>
            </a:extLst>
          </p:cNvPr>
          <p:cNvPicPr>
            <a:picLocks noGrp="1" noChangeAspect="1"/>
          </p:cNvPicPr>
          <p:nvPr>
            <p:ph type="pic" idx="3"/>
          </p:nvPr>
        </p:nvPicPr>
        <p:blipFill>
          <a:blip r:embed="rId3"/>
          <a:stretch>
            <a:fillRect/>
          </a:stretch>
        </p:blipFill>
        <p:spPr>
          <a:xfrm>
            <a:off x="9249173" y="1369700"/>
            <a:ext cx="2341067" cy="1871634"/>
          </a:xfrm>
          <a:prstGeom prst="rect">
            <a:avLst/>
          </a:prstGeom>
        </p:spPr>
      </p:pic>
      <p:sp>
        <p:nvSpPr>
          <p:cNvPr id="49" name="Content Placeholder 4">
            <a:extLst>
              <a:ext uri="{FF2B5EF4-FFF2-40B4-BE49-F238E27FC236}">
                <a16:creationId xmlns:a16="http://schemas.microsoft.com/office/drawing/2014/main" id="{EA7041FD-DFBC-A85A-9FD9-149122B2D19F}"/>
              </a:ext>
            </a:extLst>
          </p:cNvPr>
          <p:cNvSpPr txBox="1">
            <a:spLocks noGrp="1"/>
          </p:cNvSpPr>
          <p:nvPr>
            <p:ph type="body" idx="4"/>
          </p:nvPr>
        </p:nvSpPr>
        <p:spPr>
          <a:xfrm>
            <a:off x="899651" y="3982065"/>
            <a:ext cx="10825317"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We can use Equation 8.10 to calculate the </a:t>
            </a:r>
            <a:r>
              <a:rPr lang="en-US" sz="2400" dirty="0">
                <a:solidFill>
                  <a:srgbClr val="007440"/>
                </a:solidFill>
                <a:latin typeface="Times New Roman" panose="02020603050405020304" pitchFamily="18" charset="0"/>
                <a:cs typeface="Times New Roman" panose="02020603050405020304" pitchFamily="18" charset="0"/>
              </a:rPr>
              <a:t>angular acceleration</a:t>
            </a:r>
            <a:r>
              <a:rPr lang="en-US" sz="2400" dirty="0">
                <a:latin typeface="Times New Roman" panose="02020603050405020304" pitchFamily="18" charset="0"/>
                <a:cs typeface="Times New Roman" panose="02020603050405020304" pitchFamily="18" charset="0"/>
              </a:rPr>
              <a:t>: </a:t>
            </a:r>
          </a:p>
        </p:txBody>
      </p:sp>
      <p:sp>
        <p:nvSpPr>
          <p:cNvPr id="4" name="Content Placeholder 5">
            <a:extLst>
              <a:ext uri="{FF2B5EF4-FFF2-40B4-BE49-F238E27FC236}">
                <a16:creationId xmlns:a16="http://schemas.microsoft.com/office/drawing/2014/main" id="{8A36A095-DEB5-B1D2-0E12-2B3157A40AC7}"/>
              </a:ext>
            </a:extLst>
          </p:cNvPr>
          <p:cNvSpPr txBox="1">
            <a:spLocks noGrp="1"/>
          </p:cNvSpPr>
          <p:nvPr>
            <p:ph type="body" idx="5"/>
          </p:nvPr>
        </p:nvSpPr>
        <p:spPr>
          <a:xfrm>
            <a:off x="9249173" y="3976504"/>
            <a:ext cx="12713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latin typeface="Times New Roman" pitchFamily="2" charset="0"/>
                <a:cs typeface="Times New Roman" panose="02020603050405020304" pitchFamily="18" charset="0"/>
              </a:rPr>
              <a:t>a</a:t>
            </a:r>
            <a:r>
              <a:rPr lang="en-US" sz="2400" baseline="-25000" dirty="0" err="1">
                <a:latin typeface="Times New Roman" pitchFamily="2" charset="0"/>
                <a:cs typeface="Times New Roman" panose="02020603050405020304" pitchFamily="18" charset="0"/>
              </a:rPr>
              <a:t>T</a:t>
            </a:r>
            <a:r>
              <a:rPr lang="en-US" sz="2400" dirty="0">
                <a:latin typeface="Times New Roman" pitchFamily="2" charset="0"/>
                <a:cs typeface="Times New Roman" panose="02020603050405020304" pitchFamily="18" charset="0"/>
              </a:rPr>
              <a:t> = </a:t>
            </a:r>
            <a:r>
              <a:rPr lang="en-US" sz="2400" i="1" dirty="0">
                <a:latin typeface="Times New Roman" pitchFamily="2" charset="0"/>
                <a:cs typeface="Times New Roman" panose="02020603050405020304" pitchFamily="18" charset="0"/>
              </a:rPr>
              <a:t>r</a:t>
            </a:r>
            <a:r>
              <a:rPr lang="en-US" sz="2400" i="1" dirty="0">
                <a:latin typeface="Times New Roman" panose="02020603050405020304" pitchFamily="18" charset="0"/>
                <a:cs typeface="Times New Roman" panose="02020603050405020304" pitchFamily="18" charset="0"/>
              </a:rPr>
              <a:t>α</a:t>
            </a:r>
            <a:endParaRPr lang="en-US" sz="2400" dirty="0">
              <a:latin typeface="Times New Roman" panose="02020603050405020304" pitchFamily="18" charset="0"/>
              <a:cs typeface="Times New Roman" panose="02020603050405020304" pitchFamily="18" charset="0"/>
            </a:endParaRPr>
          </a:p>
        </p:txBody>
      </p:sp>
      <p:sp>
        <p:nvSpPr>
          <p:cNvPr id="57" name="Content Placeholder 6">
            <a:extLst>
              <a:ext uri="{FF2B5EF4-FFF2-40B4-BE49-F238E27FC236}">
                <a16:creationId xmlns:a16="http://schemas.microsoft.com/office/drawing/2014/main" id="{00FDC726-C0FD-D801-85DD-B7794A2FAE5F}"/>
              </a:ext>
            </a:extLst>
          </p:cNvPr>
          <p:cNvSpPr txBox="1">
            <a:spLocks noGrp="1"/>
          </p:cNvSpPr>
          <p:nvPr>
            <p:ph type="body" idx="6"/>
          </p:nvPr>
        </p:nvSpPr>
        <p:spPr>
          <a:xfrm>
            <a:off x="1071716" y="4611331"/>
            <a:ext cx="50636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 </a:t>
            </a:r>
          </a:p>
        </p:txBody>
      </p:sp>
      <p:sp>
        <p:nvSpPr>
          <p:cNvPr id="55" name="Rounded Rectangle 54">
            <a:extLst>
              <a:ext uri="{FF2B5EF4-FFF2-40B4-BE49-F238E27FC236}">
                <a16:creationId xmlns:a16="http://schemas.microsoft.com/office/drawing/2014/main" id="{444FA2D1-50E2-F999-E34B-4AF476ECD199}"/>
              </a:ext>
              <a:ext uri="{C183D7F6-B498-43B3-948B-1728B52AA6E4}">
                <adec:decorative xmlns:adec="http://schemas.microsoft.com/office/drawing/2017/decorative" val="1"/>
              </a:ext>
            </a:extLst>
          </p:cNvPr>
          <p:cNvSpPr/>
          <p:nvPr/>
        </p:nvSpPr>
        <p:spPr>
          <a:xfrm>
            <a:off x="1524001" y="4429432"/>
            <a:ext cx="1115960"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Object 17">
            <a:extLst>
              <a:ext uri="{FF2B5EF4-FFF2-40B4-BE49-F238E27FC236}">
                <a16:creationId xmlns:a16="http://schemas.microsoft.com/office/drawing/2014/main" id="{4B8D659D-346C-E21C-EBCE-5FE6C0AD9828}"/>
              </a:ext>
            </a:extLst>
          </p:cNvPr>
          <p:cNvGraphicFramePr>
            <a:graphicFrameLocks noChangeAspect="1"/>
          </p:cNvGraphicFramePr>
          <p:nvPr>
            <p:extLst>
              <p:ext uri="{D42A27DB-BD31-4B8C-83A1-F6EECF244321}">
                <p14:modId xmlns:p14="http://schemas.microsoft.com/office/powerpoint/2010/main" val="1493770940"/>
              </p:ext>
            </p:extLst>
          </p:nvPr>
        </p:nvGraphicFramePr>
        <p:xfrm>
          <a:off x="1578077" y="4485312"/>
          <a:ext cx="970540" cy="752169"/>
        </p:xfrm>
        <a:graphic>
          <a:graphicData uri="http://schemas.openxmlformats.org/presentationml/2006/ole">
            <mc:AlternateContent xmlns:mc="http://schemas.openxmlformats.org/markup-compatibility/2006">
              <mc:Choice xmlns:v="urn:schemas-microsoft-com:vml" Requires="v">
                <p:oleObj name="Equation" r:id="rId4" imgW="507960" imgH="393480" progId="Equation.DSMT4">
                  <p:embed/>
                </p:oleObj>
              </mc:Choice>
              <mc:Fallback>
                <p:oleObj name="Equation" r:id="rId4" imgW="507960" imgH="393480" progId="Equation.DSMT4">
                  <p:embed/>
                  <p:pic>
                    <p:nvPicPr>
                      <p:cNvPr id="0" name=""/>
                      <p:cNvPicPr/>
                      <p:nvPr/>
                    </p:nvPicPr>
                    <p:blipFill>
                      <a:blip r:embed="rId5"/>
                      <a:stretch>
                        <a:fillRect/>
                      </a:stretch>
                    </p:blipFill>
                    <p:spPr>
                      <a:xfrm>
                        <a:off x="1578077" y="4485312"/>
                        <a:ext cx="970540" cy="752169"/>
                      </a:xfrm>
                      <a:prstGeom prst="rect">
                        <a:avLst/>
                      </a:prstGeom>
                    </p:spPr>
                  </p:pic>
                </p:oleObj>
              </mc:Fallback>
            </mc:AlternateContent>
          </a:graphicData>
        </a:graphic>
      </p:graphicFrame>
      <p:sp>
        <p:nvSpPr>
          <p:cNvPr id="7" name="Content Placeholder 7">
            <a:extLst>
              <a:ext uri="{FF2B5EF4-FFF2-40B4-BE49-F238E27FC236}">
                <a16:creationId xmlns:a16="http://schemas.microsoft.com/office/drawing/2014/main" id="{30885525-FCF9-DE41-C0A4-C8F0B7CF1D50}"/>
              </a:ext>
            </a:extLst>
          </p:cNvPr>
          <p:cNvSpPr txBox="1">
            <a:spLocks noGrp="1"/>
          </p:cNvSpPr>
          <p:nvPr>
            <p:ph type="body" idx="7"/>
          </p:nvPr>
        </p:nvSpPr>
        <p:spPr>
          <a:xfrm>
            <a:off x="2718619" y="4635910"/>
            <a:ext cx="10825317"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From the figure, notice that sin35</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 </a:t>
            </a:r>
            <a:r>
              <a:rPr lang="en-US" sz="2400" i="1" dirty="0" err="1">
                <a:latin typeface="Times New Roman" panose="02020603050405020304" pitchFamily="18" charset="0"/>
                <a:cs typeface="Times New Roman" panose="02020603050405020304" pitchFamily="18" charset="0"/>
              </a:rPr>
              <a:t>a</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a:t>
            </a:r>
          </a:p>
        </p:txBody>
      </p:sp>
      <p:sp>
        <p:nvSpPr>
          <p:cNvPr id="8" name="Content Placeholder 8">
            <a:extLst>
              <a:ext uri="{FF2B5EF4-FFF2-40B4-BE49-F238E27FC236}">
                <a16:creationId xmlns:a16="http://schemas.microsoft.com/office/drawing/2014/main" id="{59D200BD-313A-7BCB-AA01-390FC308F019}"/>
              </a:ext>
            </a:extLst>
          </p:cNvPr>
          <p:cNvSpPr txBox="1">
            <a:spLocks noGrp="1"/>
          </p:cNvSpPr>
          <p:nvPr>
            <p:ph type="body" idx="8"/>
          </p:nvPr>
        </p:nvSpPr>
        <p:spPr>
          <a:xfrm>
            <a:off x="8096865" y="4734234"/>
            <a:ext cx="50636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 </a:t>
            </a:r>
          </a:p>
        </p:txBody>
      </p:sp>
      <p:sp>
        <p:nvSpPr>
          <p:cNvPr id="9" name="Rounded Rectangle 8">
            <a:extLst>
              <a:ext uri="{FF2B5EF4-FFF2-40B4-BE49-F238E27FC236}">
                <a16:creationId xmlns:a16="http://schemas.microsoft.com/office/drawing/2014/main" id="{E6F6DC37-64F6-A025-0458-412748536A83}"/>
              </a:ext>
              <a:ext uri="{C183D7F6-B498-43B3-948B-1728B52AA6E4}">
                <adec:decorative xmlns:adec="http://schemas.microsoft.com/office/drawing/2017/decorative" val="1"/>
              </a:ext>
            </a:extLst>
          </p:cNvPr>
          <p:cNvSpPr/>
          <p:nvPr/>
        </p:nvSpPr>
        <p:spPr>
          <a:xfrm>
            <a:off x="8696632" y="4478593"/>
            <a:ext cx="167148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Object 20">
            <a:extLst>
              <a:ext uri="{FF2B5EF4-FFF2-40B4-BE49-F238E27FC236}">
                <a16:creationId xmlns:a16="http://schemas.microsoft.com/office/drawing/2014/main" id="{3EAD0E4F-D72B-8A44-7E07-2352021A1D38}"/>
              </a:ext>
            </a:extLst>
          </p:cNvPr>
          <p:cNvGraphicFramePr>
            <a:graphicFrameLocks noChangeAspect="1"/>
          </p:cNvGraphicFramePr>
          <p:nvPr>
            <p:extLst>
              <p:ext uri="{D42A27DB-BD31-4B8C-83A1-F6EECF244321}">
                <p14:modId xmlns:p14="http://schemas.microsoft.com/office/powerpoint/2010/main" val="3523937871"/>
              </p:ext>
            </p:extLst>
          </p:nvPr>
        </p:nvGraphicFramePr>
        <p:xfrm>
          <a:off x="8787806" y="4584110"/>
          <a:ext cx="1538009" cy="744974"/>
        </p:xfrm>
        <a:graphic>
          <a:graphicData uri="http://schemas.openxmlformats.org/presentationml/2006/ole">
            <mc:AlternateContent xmlns:mc="http://schemas.openxmlformats.org/markup-compatibility/2006">
              <mc:Choice xmlns:v="urn:schemas-microsoft-com:vml" Requires="v">
                <p:oleObj name="Equation" r:id="rId6" imgW="812520" imgH="393480" progId="Equation.DSMT4">
                  <p:embed/>
                </p:oleObj>
              </mc:Choice>
              <mc:Fallback>
                <p:oleObj name="Equation" r:id="rId6" imgW="812520" imgH="393480" progId="Equation.DSMT4">
                  <p:embed/>
                  <p:pic>
                    <p:nvPicPr>
                      <p:cNvPr id="0" name=""/>
                      <p:cNvPicPr/>
                      <p:nvPr/>
                    </p:nvPicPr>
                    <p:blipFill>
                      <a:blip r:embed="rId7"/>
                      <a:stretch>
                        <a:fillRect/>
                      </a:stretch>
                    </p:blipFill>
                    <p:spPr>
                      <a:xfrm>
                        <a:off x="8787806" y="4584110"/>
                        <a:ext cx="1538009" cy="744974"/>
                      </a:xfrm>
                      <a:prstGeom prst="rect">
                        <a:avLst/>
                      </a:prstGeom>
                    </p:spPr>
                  </p:pic>
                </p:oleObj>
              </mc:Fallback>
            </mc:AlternateContent>
          </a:graphicData>
        </a:graphic>
      </p:graphicFrame>
      <p:sp>
        <p:nvSpPr>
          <p:cNvPr id="13" name="Rounded Rectangle 12">
            <a:extLst>
              <a:ext uri="{FF2B5EF4-FFF2-40B4-BE49-F238E27FC236}">
                <a16:creationId xmlns:a16="http://schemas.microsoft.com/office/drawing/2014/main" id="{398F1EAD-ABA0-23AC-461A-0DE243458374}"/>
              </a:ext>
              <a:ext uri="{C183D7F6-B498-43B3-948B-1728B52AA6E4}">
                <adec:decorative xmlns:adec="http://schemas.microsoft.com/office/drawing/2017/decorative" val="1"/>
              </a:ext>
            </a:extLst>
          </p:cNvPr>
          <p:cNvSpPr/>
          <p:nvPr/>
        </p:nvSpPr>
        <p:spPr>
          <a:xfrm>
            <a:off x="1533832" y="5501148"/>
            <a:ext cx="445401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89F440F6-5BFC-3A8D-0C27-12D1439CA718}"/>
              </a:ext>
            </a:extLst>
          </p:cNvPr>
          <p:cNvGraphicFramePr>
            <a:graphicFrameLocks noChangeAspect="1"/>
          </p:cNvGraphicFramePr>
          <p:nvPr>
            <p:extLst>
              <p:ext uri="{D42A27DB-BD31-4B8C-83A1-F6EECF244321}">
                <p14:modId xmlns:p14="http://schemas.microsoft.com/office/powerpoint/2010/main" val="2312916989"/>
              </p:ext>
            </p:extLst>
          </p:nvPr>
        </p:nvGraphicFramePr>
        <p:xfrm>
          <a:off x="1742059" y="5602432"/>
          <a:ext cx="4037557" cy="692467"/>
        </p:xfrm>
        <a:graphic>
          <a:graphicData uri="http://schemas.openxmlformats.org/presentationml/2006/ole">
            <mc:AlternateContent xmlns:mc="http://schemas.openxmlformats.org/markup-compatibility/2006">
              <mc:Choice xmlns:v="urn:schemas-microsoft-com:vml" Requires="v">
                <p:oleObj name="Equation" r:id="rId8" imgW="2311200" imgH="444240" progId="Equation.DSMT4">
                  <p:embed/>
                </p:oleObj>
              </mc:Choice>
              <mc:Fallback>
                <p:oleObj name="Equation" r:id="rId8" imgW="2311200" imgH="444240" progId="Equation.DSMT4">
                  <p:embed/>
                  <p:pic>
                    <p:nvPicPr>
                      <p:cNvPr id="0" name=""/>
                      <p:cNvPicPr/>
                      <p:nvPr/>
                    </p:nvPicPr>
                    <p:blipFill>
                      <a:blip r:embed="rId9"/>
                      <a:stretch>
                        <a:fillRect/>
                      </a:stretch>
                    </p:blipFill>
                    <p:spPr>
                      <a:xfrm>
                        <a:off x="1742059" y="5602432"/>
                        <a:ext cx="4037557" cy="692467"/>
                      </a:xfrm>
                      <a:prstGeom prst="rect">
                        <a:avLst/>
                      </a:prstGeom>
                    </p:spPr>
                  </p:pic>
                </p:oleObj>
              </mc:Fallback>
            </mc:AlternateContent>
          </a:graphicData>
        </a:graphic>
      </p:graphicFrame>
      <p:sp>
        <p:nvSpPr>
          <p:cNvPr id="58" name="Rectangle 57">
            <a:extLst>
              <a:ext uri="{FF2B5EF4-FFF2-40B4-BE49-F238E27FC236}">
                <a16:creationId xmlns:a16="http://schemas.microsoft.com/office/drawing/2014/main" id="{BFD121EC-4752-4225-11BE-4B5C0012494F}"/>
              </a:ext>
              <a:ext uri="{C183D7F6-B498-43B3-948B-1728B52AA6E4}">
                <adec:decorative xmlns:adec="http://schemas.microsoft.com/office/drawing/2017/decorative" val="1"/>
              </a:ext>
            </a:extLst>
          </p:cNvPr>
          <p:cNvSpPr/>
          <p:nvPr/>
        </p:nvSpPr>
        <p:spPr>
          <a:xfrm>
            <a:off x="4277032" y="5766620"/>
            <a:ext cx="1563329" cy="4277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488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dissolve">
                                      <p:cBhvr>
                                        <p:cTn id="16" dur="500"/>
                                        <p:tgtEl>
                                          <p:spTgt spid="57"/>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dissolve">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dissolv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dissolve">
                                      <p:cBhvr>
                                        <p:cTn id="34" dur="500"/>
                                        <p:tgtEl>
                                          <p:spTgt spid="8"/>
                                        </p:tgtEl>
                                      </p:cBhvr>
                                    </p:animEffect>
                                  </p:childTnLst>
                                </p:cTn>
                              </p:par>
                            </p:childTnLst>
                          </p:cTn>
                        </p:par>
                        <p:par>
                          <p:cTn id="35" fill="hold">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dissolve">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dissolve">
                                      <p:cBhvr>
                                        <p:cTn id="43" dur="500"/>
                                        <p:tgtEl>
                                          <p:spTgt spid="21"/>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dissolve">
                                      <p:cBhvr>
                                        <p:cTn id="52" dur="500"/>
                                        <p:tgtEl>
                                          <p:spTgt spid="6"/>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58"/>
                                        </p:tgtEl>
                                        <p:attrNameLst>
                                          <p:attrName>style.visibility</p:attrName>
                                        </p:attrNameLst>
                                      </p:cBhvr>
                                      <p:to>
                                        <p:strVal val="visible"/>
                                      </p:to>
                                    </p:set>
                                    <p:animEffect transition="in" filter="dissolve">
                                      <p:cBhvr>
                                        <p:cTn id="5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 grpId="0"/>
      <p:bldP spid="57" grpId="0"/>
      <p:bldP spid="55" grpId="0" animBg="1"/>
      <p:bldP spid="7" grpId="0"/>
      <p:bldP spid="8" grpId="0"/>
      <p:bldP spid="9" grpId="0" animBg="1"/>
      <p:bldP spid="13" grpId="0" animBg="1"/>
      <p:bldP spid="5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5231-50F3-917B-6CE9-8A6F94DF2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0BD67-748A-3F46-3484-C6857BA52A95}"/>
              </a:ext>
            </a:extLst>
          </p:cNvPr>
          <p:cNvSpPr>
            <a:spLocks noGrp="1"/>
          </p:cNvSpPr>
          <p:nvPr>
            <p:ph type="title"/>
          </p:nvPr>
        </p:nvSpPr>
        <p:spPr>
          <a:xfrm>
            <a:off x="166082" y="219660"/>
            <a:ext cx="12166888" cy="526667"/>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8.5</a:t>
            </a:r>
            <a:r>
              <a:rPr lang="en-US" dirty="0">
                <a:latin typeface="Times New Roman" panose="02020603050405020304" pitchFamily="18" charset="0"/>
                <a:ea typeface="Calibri" charset="0"/>
                <a:cs typeface="Times New Roman" panose="02020603050405020304" pitchFamily="18" charset="0"/>
              </a:rPr>
              <a:t> Centripetal Acceleration and Tangential Acceleration (5 of 5)</a:t>
            </a:r>
            <a:endParaRPr lang="en-US" sz="3000" dirty="0">
              <a:latin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F5144327-F595-A07F-747F-6F66B3D3FFAA}"/>
              </a:ext>
              <a:ext uri="{C183D7F6-B498-43B3-948B-1728B52AA6E4}">
                <adec:decorative xmlns:adec="http://schemas.microsoft.com/office/drawing/2017/decorative" val="1"/>
              </a:ext>
            </a:extLst>
          </p:cNvPr>
          <p:cNvSpPr/>
          <p:nvPr/>
        </p:nvSpPr>
        <p:spPr>
          <a:xfrm>
            <a:off x="943897" y="5073446"/>
            <a:ext cx="2374490" cy="412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1">
            <a:extLst>
              <a:ext uri="{FF2B5EF4-FFF2-40B4-BE49-F238E27FC236}">
                <a16:creationId xmlns:a16="http://schemas.microsoft.com/office/drawing/2014/main" id="{3E9D4363-67FD-C9AC-9DAB-5CF9D3E582E4}"/>
              </a:ext>
            </a:extLst>
          </p:cNvPr>
          <p:cNvSpPr txBox="1">
            <a:spLocks noGrp="1"/>
          </p:cNvSpPr>
          <p:nvPr>
            <p:ph type="body" idx="1"/>
          </p:nvPr>
        </p:nvSpPr>
        <p:spPr>
          <a:xfrm>
            <a:off x="894631" y="727937"/>
            <a:ext cx="10382969" cy="4832092"/>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3400"/>
              </a:spcAft>
              <a:buNone/>
            </a:pPr>
            <a:r>
              <a:rPr lang="en-US" sz="2800" dirty="0">
                <a:solidFill>
                  <a:srgbClr val="3E5891"/>
                </a:solidFill>
                <a:latin typeface="Times New Roman" panose="02020603050405020304" pitchFamily="18" charset="0"/>
                <a:cs typeface="Times New Roman" panose="02020603050405020304" pitchFamily="18" charset="0"/>
              </a:rPr>
              <a:t>CYU/TPS – Section 5.6 discusses how the uniform circular motion of a space station can be used to create artificial gravity. This can be done by adjusting the angular speed of the space station, so the centripetal acceleration at an astronaut’s feet equals </a:t>
            </a:r>
            <a:r>
              <a:rPr lang="en-US" sz="2800" i="1" dirty="0">
                <a:solidFill>
                  <a:srgbClr val="3E5891"/>
                </a:solidFill>
                <a:latin typeface="Times New Roman" panose="02020603050405020304" pitchFamily="18" charset="0"/>
                <a:cs typeface="Times New Roman" panose="02020603050405020304" pitchFamily="18" charset="0"/>
              </a:rPr>
              <a:t>g</a:t>
            </a:r>
            <a:r>
              <a:rPr lang="en-US" sz="2800" dirty="0">
                <a:solidFill>
                  <a:srgbClr val="3E5891"/>
                </a:solidFill>
                <a:latin typeface="Times New Roman" panose="02020603050405020304" pitchFamily="18" charset="0"/>
                <a:cs typeface="Times New Roman" panose="02020603050405020304" pitchFamily="18" charset="0"/>
              </a:rPr>
              <a:t>, the magnitude of the acceleration due to the earth’s gravity. If such an adjustment is made, the acceleration at the astronaut’s head due to the artificial gravity will be...</a:t>
            </a:r>
          </a:p>
          <a:p>
            <a:pPr marL="514350" indent="-514350" algn="just">
              <a:buClr>
                <a:srgbClr val="3E5891"/>
              </a:buClr>
              <a:buAutoNum type="alphaLcParenBoth"/>
            </a:pPr>
            <a:r>
              <a:rPr lang="en-US" dirty="0">
                <a:solidFill>
                  <a:srgbClr val="3E5891"/>
                </a:solidFill>
                <a:latin typeface="Times New Roman" panose="02020603050405020304" pitchFamily="18" charset="0"/>
                <a:cs typeface="Times New Roman" panose="02020603050405020304" pitchFamily="18" charset="0"/>
              </a:rPr>
              <a:t>greater than </a:t>
            </a:r>
            <a:r>
              <a:rPr lang="en-US" i="1" dirty="0">
                <a:solidFill>
                  <a:srgbClr val="3E5891"/>
                </a:solidFill>
                <a:latin typeface="Times New Roman" panose="02020603050405020304" pitchFamily="18" charset="0"/>
                <a:cs typeface="Times New Roman" panose="02020603050405020304" pitchFamily="18" charset="0"/>
              </a:rPr>
              <a:t>g</a:t>
            </a:r>
            <a:r>
              <a:rPr lang="en-US" dirty="0">
                <a:solidFill>
                  <a:srgbClr val="3E5891"/>
                </a:solidFill>
                <a:latin typeface="Times New Roman" panose="02020603050405020304" pitchFamily="18" charset="0"/>
                <a:cs typeface="Times New Roman" panose="02020603050405020304" pitchFamily="18" charset="0"/>
              </a:rPr>
              <a:t>.</a:t>
            </a:r>
          </a:p>
          <a:p>
            <a:pPr marL="514350" indent="-514350" algn="just">
              <a:buClr>
                <a:srgbClr val="3E5891"/>
              </a:buClr>
              <a:buFont typeface="Arial" panose="020B0604020202020204" pitchFamily="34" charset="0"/>
              <a:buAutoNum type="alphaLcParenBoth"/>
            </a:pPr>
            <a:r>
              <a:rPr lang="en-US" dirty="0">
                <a:solidFill>
                  <a:srgbClr val="3E5891"/>
                </a:solidFill>
                <a:latin typeface="Times New Roman" panose="02020603050405020304" pitchFamily="18" charset="0"/>
                <a:cs typeface="Times New Roman" panose="02020603050405020304" pitchFamily="18" charset="0"/>
              </a:rPr>
              <a:t>equal to </a:t>
            </a:r>
            <a:r>
              <a:rPr lang="en-US" i="1" dirty="0">
                <a:solidFill>
                  <a:srgbClr val="3E5891"/>
                </a:solidFill>
                <a:latin typeface="Times New Roman" panose="02020603050405020304" pitchFamily="18" charset="0"/>
                <a:cs typeface="Times New Roman" panose="02020603050405020304" pitchFamily="18" charset="0"/>
              </a:rPr>
              <a:t>g</a:t>
            </a:r>
            <a:r>
              <a:rPr lang="en-US" dirty="0">
                <a:solidFill>
                  <a:srgbClr val="3E5891"/>
                </a:solidFill>
                <a:latin typeface="Times New Roman" panose="02020603050405020304" pitchFamily="18" charset="0"/>
                <a:cs typeface="Times New Roman" panose="02020603050405020304" pitchFamily="18" charset="0"/>
              </a:rPr>
              <a:t>.</a:t>
            </a:r>
          </a:p>
          <a:p>
            <a:pPr marL="514350" indent="-514350" algn="just">
              <a:buClr>
                <a:srgbClr val="3E5891"/>
              </a:buClr>
              <a:buFont typeface="Arial" panose="020B0604020202020204" pitchFamily="34" charset="0"/>
              <a:buAutoNum type="alphaLcParenBoth"/>
            </a:pPr>
            <a:r>
              <a:rPr lang="en-US" dirty="0">
                <a:solidFill>
                  <a:srgbClr val="3E5891"/>
                </a:solidFill>
                <a:latin typeface="Times New Roman" panose="02020603050405020304" pitchFamily="18" charset="0"/>
                <a:cs typeface="Times New Roman" panose="02020603050405020304" pitchFamily="18" charset="0"/>
              </a:rPr>
              <a:t>less than </a:t>
            </a:r>
            <a:r>
              <a:rPr lang="en-US" i="1" dirty="0">
                <a:solidFill>
                  <a:srgbClr val="3E5891"/>
                </a:solidFill>
                <a:latin typeface="Times New Roman" panose="02020603050405020304" pitchFamily="18" charset="0"/>
                <a:cs typeface="Times New Roman" panose="02020603050405020304" pitchFamily="18" charset="0"/>
              </a:rPr>
              <a:t>g</a:t>
            </a:r>
            <a:r>
              <a:rPr lang="en-US" dirty="0">
                <a:solidFill>
                  <a:srgbClr val="3E5891"/>
                </a:solidFill>
                <a:latin typeface="Times New Roman" panose="02020603050405020304" pitchFamily="18" charset="0"/>
                <a:cs typeface="Times New Roman" panose="02020603050405020304" pitchFamily="18" charset="0"/>
              </a:rPr>
              <a:t>.</a:t>
            </a:r>
          </a:p>
        </p:txBody>
      </p:sp>
      <p:sp>
        <p:nvSpPr>
          <p:cNvPr id="22" name="Content Placeholder 2">
            <a:extLst>
              <a:ext uri="{FF2B5EF4-FFF2-40B4-BE49-F238E27FC236}">
                <a16:creationId xmlns:a16="http://schemas.microsoft.com/office/drawing/2014/main" id="{666F5956-9BA7-FC6B-FB0E-6FBBC1715179}"/>
              </a:ext>
            </a:extLst>
          </p:cNvPr>
          <p:cNvSpPr txBox="1">
            <a:spLocks noGrp="1"/>
          </p:cNvSpPr>
          <p:nvPr>
            <p:ph type="body" idx="2"/>
          </p:nvPr>
        </p:nvSpPr>
        <p:spPr>
          <a:xfrm rot="2431060">
            <a:off x="3865337" y="4820373"/>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Explain!</a:t>
            </a:r>
          </a:p>
        </p:txBody>
      </p:sp>
      <p:pic>
        <p:nvPicPr>
          <p:cNvPr id="24" name="Content Placeholder 3">
            <a:extLst>
              <a:ext uri="{FF2B5EF4-FFF2-40B4-BE49-F238E27FC236}">
                <a16:creationId xmlns:a16="http://schemas.microsoft.com/office/drawing/2014/main" id="{8F46617C-E46C-38A5-F08D-B901168D914E}"/>
              </a:ext>
            </a:extLst>
          </p:cNvPr>
          <p:cNvPicPr>
            <a:picLocks noGrp="1" noChangeAspect="1"/>
          </p:cNvPicPr>
          <p:nvPr>
            <p:ph type="pic" idx="3"/>
          </p:nvPr>
        </p:nvPicPr>
        <p:blipFill>
          <a:blip r:embed="rId3"/>
          <a:stretch>
            <a:fillRect/>
          </a:stretch>
        </p:blipFill>
        <p:spPr>
          <a:xfrm>
            <a:off x="7187174" y="3387880"/>
            <a:ext cx="2915469" cy="2896161"/>
          </a:xfrm>
          <a:prstGeom prst="rect">
            <a:avLst/>
          </a:prstGeom>
        </p:spPr>
      </p:pic>
    </p:spTree>
    <p:extLst>
      <p:ext uri="{BB962C8B-B14F-4D97-AF65-F5344CB8AC3E}">
        <p14:creationId xmlns:p14="http://schemas.microsoft.com/office/powerpoint/2010/main" val="342239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dissolve">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7653-6B62-B457-966B-D8C476A6F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FF0AB-419A-D556-602C-1F3D4A6FBBC4}"/>
              </a:ext>
            </a:extLst>
          </p:cNvPr>
          <p:cNvSpPr>
            <a:spLocks noGrp="1"/>
          </p:cNvSpPr>
          <p:nvPr>
            <p:ph type="title"/>
          </p:nvPr>
        </p:nvSpPr>
        <p:spPr>
          <a:xfrm>
            <a:off x="639874" y="142278"/>
            <a:ext cx="10820401" cy="506144"/>
          </a:xfrm>
        </p:spPr>
        <p:txBody>
          <a:bodyPr>
            <a:normAutofit fontScale="90000"/>
          </a:bodyPr>
          <a:lstStyle/>
          <a:p>
            <a:r>
              <a:rPr lang="en-US" b="1" dirty="0">
                <a:latin typeface="Times New Roman" panose="02020603050405020304" pitchFamily="18" charset="0"/>
                <a:ea typeface="Calibri" charset="0"/>
                <a:cs typeface="Times New Roman" panose="02020603050405020304" pitchFamily="18" charset="0"/>
              </a:rPr>
              <a:t>8.6</a:t>
            </a:r>
            <a:r>
              <a:rPr lang="en-US" dirty="0">
                <a:latin typeface="Times New Roman" panose="02020603050405020304" pitchFamily="18" charset="0"/>
                <a:ea typeface="Calibri" charset="0"/>
                <a:cs typeface="Times New Roman" panose="02020603050405020304" pitchFamily="18" charset="0"/>
              </a:rPr>
              <a:t> Rolling Motion (1 of 4)</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AAF9F572-A6FA-7282-D4EF-D0003B46514D}"/>
              </a:ext>
              <a:ext uri="{C183D7F6-B498-43B3-948B-1728B52AA6E4}">
                <adec:decorative xmlns:adec="http://schemas.microsoft.com/office/drawing/2017/decorative" val="1"/>
              </a:ext>
            </a:extLst>
          </p:cNvPr>
          <p:cNvSpPr/>
          <p:nvPr/>
        </p:nvSpPr>
        <p:spPr>
          <a:xfrm>
            <a:off x="0" y="667766"/>
            <a:ext cx="12192000" cy="585848"/>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BC3F01A0-BF47-3449-0B9D-B03245F75E76}"/>
              </a:ext>
            </a:extLst>
          </p:cNvPr>
          <p:cNvSpPr txBox="1">
            <a:spLocks noGrp="1"/>
          </p:cNvSpPr>
          <p:nvPr>
            <p:ph type="body" idx="1"/>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8.6 </a:t>
            </a:r>
            <a:r>
              <a:rPr lang="en-US" dirty="0">
                <a:latin typeface="Times New Roman" panose="02020603050405020304" pitchFamily="18" charset="0"/>
                <a:cs typeface="Times New Roman" panose="02020603050405020304" pitchFamily="18" charset="0"/>
              </a:rPr>
              <a:t>– Analyze rolling motion.</a:t>
            </a:r>
          </a:p>
        </p:txBody>
      </p:sp>
      <p:sp>
        <p:nvSpPr>
          <p:cNvPr id="26" name="Content Placeholder 2">
            <a:extLst>
              <a:ext uri="{FF2B5EF4-FFF2-40B4-BE49-F238E27FC236}">
                <a16:creationId xmlns:a16="http://schemas.microsoft.com/office/drawing/2014/main" id="{68AC3A18-6885-C68E-3FE0-C73B58F171AD}"/>
              </a:ext>
            </a:extLst>
          </p:cNvPr>
          <p:cNvSpPr txBox="1">
            <a:spLocks noGrp="1"/>
          </p:cNvSpPr>
          <p:nvPr>
            <p:ph type="body" idx="2"/>
          </p:nvPr>
        </p:nvSpPr>
        <p:spPr>
          <a:xfrm>
            <a:off x="390372" y="1315259"/>
            <a:ext cx="10892143"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One very familiar rotation is the rolling motion of a wheel.</a:t>
            </a:r>
          </a:p>
        </p:txBody>
      </p:sp>
      <p:sp>
        <p:nvSpPr>
          <p:cNvPr id="3" name="Content Placeholder 3">
            <a:extLst>
              <a:ext uri="{FF2B5EF4-FFF2-40B4-BE49-F238E27FC236}">
                <a16:creationId xmlns:a16="http://schemas.microsoft.com/office/drawing/2014/main" id="{8C15BE2D-854E-510D-5469-03B94F2D94ED}"/>
              </a:ext>
            </a:extLst>
          </p:cNvPr>
          <p:cNvSpPr txBox="1">
            <a:spLocks noGrp="1"/>
          </p:cNvSpPr>
          <p:nvPr>
            <p:ph type="body" idx="3"/>
          </p:nvPr>
        </p:nvSpPr>
        <p:spPr>
          <a:xfrm>
            <a:off x="410037" y="1836369"/>
            <a:ext cx="10892143"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Here, we assume that the wheel rolls along some surface </a:t>
            </a:r>
            <a:r>
              <a:rPr lang="en-US" sz="2400" u="sng" dirty="0">
                <a:latin typeface="Times New Roman" panose="02020603050405020304" pitchFamily="18" charset="0"/>
                <a:cs typeface="Times New Roman" panose="02020603050405020304" pitchFamily="18" charset="0"/>
              </a:rPr>
              <a:t>without slipping.</a:t>
            </a:r>
          </a:p>
        </p:txBody>
      </p:sp>
      <p:sp>
        <p:nvSpPr>
          <p:cNvPr id="9" name="Content Placeholder 4">
            <a:extLst>
              <a:ext uri="{FF2B5EF4-FFF2-40B4-BE49-F238E27FC236}">
                <a16:creationId xmlns:a16="http://schemas.microsoft.com/office/drawing/2014/main" id="{D273E126-B1C9-85F2-5A5A-AF40BC9AAD5A}"/>
              </a:ext>
            </a:extLst>
          </p:cNvPr>
          <p:cNvSpPr txBox="1">
            <a:spLocks noGrp="1"/>
          </p:cNvSpPr>
          <p:nvPr>
            <p:ph type="body" idx="4"/>
          </p:nvPr>
        </p:nvSpPr>
        <p:spPr>
          <a:xfrm>
            <a:off x="400204" y="2608202"/>
            <a:ext cx="775565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As you drive in a car at constant speed, for example, the car moves forward, and at the same time, the wheels rotate.</a:t>
            </a:r>
            <a:endParaRPr lang="en-US" sz="2400" u="sng" dirty="0">
              <a:latin typeface="Times New Roman" panose="02020603050405020304" pitchFamily="18" charset="0"/>
              <a:cs typeface="Times New Roman" panose="02020603050405020304" pitchFamily="18" charset="0"/>
            </a:endParaRPr>
          </a:p>
        </p:txBody>
      </p:sp>
      <p:sp>
        <p:nvSpPr>
          <p:cNvPr id="11" name="Content Placeholder 5">
            <a:extLst>
              <a:ext uri="{FF2B5EF4-FFF2-40B4-BE49-F238E27FC236}">
                <a16:creationId xmlns:a16="http://schemas.microsoft.com/office/drawing/2014/main" id="{147E9902-4993-A079-C0B5-84240E55655D}"/>
              </a:ext>
            </a:extLst>
          </p:cNvPr>
          <p:cNvSpPr txBox="1">
            <a:spLocks noGrp="1"/>
          </p:cNvSpPr>
          <p:nvPr>
            <p:ph type="body" idx="5"/>
          </p:nvPr>
        </p:nvSpPr>
        <p:spPr>
          <a:xfrm>
            <a:off x="419869" y="3778241"/>
            <a:ext cx="7357448"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label the velocity of the car </a:t>
            </a:r>
            <a:r>
              <a:rPr lang="en-US" sz="2400" i="1"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cm</a:t>
            </a:r>
            <a:r>
              <a:rPr lang="en-US" sz="2400" dirty="0">
                <a:latin typeface="Times New Roman" panose="02020603050405020304" pitchFamily="18" charset="0"/>
                <a:cs typeface="Times New Roman" panose="02020603050405020304" pitchFamily="18" charset="0"/>
              </a:rPr>
              <a:t>, since that represents the linear speed of the </a:t>
            </a:r>
            <a:r>
              <a:rPr lang="en-US" sz="2400" dirty="0">
                <a:solidFill>
                  <a:srgbClr val="007440"/>
                </a:solidFill>
                <a:latin typeface="Times New Roman" panose="02020603050405020304" pitchFamily="18" charset="0"/>
                <a:cs typeface="Times New Roman" panose="02020603050405020304" pitchFamily="18" charset="0"/>
              </a:rPr>
              <a:t>center of mass </a:t>
            </a:r>
            <a:r>
              <a:rPr lang="en-US" sz="2400" dirty="0">
                <a:latin typeface="Times New Roman" panose="02020603050405020304" pitchFamily="18" charset="0"/>
                <a:cs typeface="Times New Roman" panose="02020603050405020304" pitchFamily="18" charset="0"/>
              </a:rPr>
              <a:t>of the car. </a:t>
            </a:r>
            <a:endParaRPr lang="en-US" sz="2400" u="sng" dirty="0">
              <a:latin typeface="Times New Roman" panose="02020603050405020304" pitchFamily="18" charset="0"/>
              <a:cs typeface="Times New Roman" panose="02020603050405020304" pitchFamily="18" charset="0"/>
            </a:endParaRPr>
          </a:p>
        </p:txBody>
      </p:sp>
      <p:sp>
        <p:nvSpPr>
          <p:cNvPr id="12" name="Content Placeholder 6">
            <a:extLst>
              <a:ext uri="{FF2B5EF4-FFF2-40B4-BE49-F238E27FC236}">
                <a16:creationId xmlns:a16="http://schemas.microsoft.com/office/drawing/2014/main" id="{C349A893-2C6B-FAE1-7391-DFA6296C2BE1}"/>
              </a:ext>
            </a:extLst>
          </p:cNvPr>
          <p:cNvSpPr txBox="1">
            <a:spLocks noGrp="1"/>
          </p:cNvSpPr>
          <p:nvPr>
            <p:ph type="body" idx="6"/>
          </p:nvPr>
        </p:nvSpPr>
        <p:spPr>
          <a:xfrm>
            <a:off x="557521" y="5184253"/>
            <a:ext cx="7357448"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let’s consider different points on the car’s wheels...</a:t>
            </a:r>
            <a:endParaRPr lang="en-US" sz="2400" u="sng"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79821044-2583-88EB-8F0C-87B5C298B954}"/>
              </a:ext>
            </a:extLst>
          </p:cNvPr>
          <p:cNvPicPr>
            <a:picLocks noGrp="1" noChangeAspect="1"/>
          </p:cNvPicPr>
          <p:nvPr>
            <p:ph type="pic" idx="7"/>
          </p:nvPr>
        </p:nvPicPr>
        <p:blipFill>
          <a:blip r:embed="rId3"/>
          <a:srcRect l="1929" r="68776" b="35541"/>
          <a:stretch/>
        </p:blipFill>
        <p:spPr>
          <a:xfrm>
            <a:off x="8023124" y="2315497"/>
            <a:ext cx="3864916" cy="4073726"/>
          </a:xfrm>
          <a:prstGeom prst="rect">
            <a:avLst/>
          </a:prstGeom>
        </p:spPr>
      </p:pic>
    </p:spTree>
    <p:extLst>
      <p:ext uri="{BB962C8B-B14F-4D97-AF65-F5344CB8AC3E}">
        <p14:creationId xmlns:p14="http://schemas.microsoft.com/office/powerpoint/2010/main" val="230087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dissolv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9" grpId="0"/>
      <p:bldP spid="11"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F2324-1C65-9BFA-A26C-2AFF1F556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DEADE-AD75-411D-2541-825677B28CA8}"/>
              </a:ext>
            </a:extLst>
          </p:cNvPr>
          <p:cNvSpPr>
            <a:spLocks noGrp="1"/>
          </p:cNvSpPr>
          <p:nvPr>
            <p:ph type="title"/>
          </p:nvPr>
        </p:nvSpPr>
        <p:spPr>
          <a:xfrm>
            <a:off x="639874" y="142278"/>
            <a:ext cx="10820401" cy="849312"/>
          </a:xfrm>
        </p:spPr>
        <p:txBody>
          <a:bodyPr>
            <a:normAutofit/>
          </a:bodyPr>
          <a:lstStyle/>
          <a:p>
            <a:r>
              <a:rPr lang="en-US" b="1" dirty="0">
                <a:latin typeface="Times New Roman" panose="02020603050405020304" pitchFamily="18" charset="0"/>
                <a:ea typeface="Calibri" charset="0"/>
                <a:cs typeface="Times New Roman" panose="02020603050405020304" pitchFamily="18" charset="0"/>
              </a:rPr>
              <a:t>8.6</a:t>
            </a:r>
            <a:r>
              <a:rPr lang="en-US" dirty="0">
                <a:latin typeface="Times New Roman" panose="02020603050405020304" pitchFamily="18" charset="0"/>
                <a:ea typeface="Calibri" charset="0"/>
                <a:cs typeface="Times New Roman" panose="02020603050405020304" pitchFamily="18" charset="0"/>
              </a:rPr>
              <a:t> Rolling Motion (2 of 4)</a:t>
            </a:r>
            <a:endParaRPr lang="en-US" sz="3000" dirty="0">
              <a:latin typeface="Times New Roman" panose="02020603050405020304" pitchFamily="18" charset="0"/>
              <a:cs typeface="Times New Roman" panose="02020603050405020304" pitchFamily="18" charset="0"/>
            </a:endParaRPr>
          </a:p>
        </p:txBody>
      </p:sp>
      <p:sp>
        <p:nvSpPr>
          <p:cNvPr id="26" name="Content Placeholder 1">
            <a:extLst>
              <a:ext uri="{FF2B5EF4-FFF2-40B4-BE49-F238E27FC236}">
                <a16:creationId xmlns:a16="http://schemas.microsoft.com/office/drawing/2014/main" id="{F061017B-9350-EEE3-793A-48707DCA0F7F}"/>
              </a:ext>
            </a:extLst>
          </p:cNvPr>
          <p:cNvSpPr txBox="1">
            <a:spLocks noGrp="1"/>
          </p:cNvSpPr>
          <p:nvPr>
            <p:ph type="body" idx="1"/>
          </p:nvPr>
        </p:nvSpPr>
        <p:spPr>
          <a:xfrm>
            <a:off x="921313" y="828563"/>
            <a:ext cx="10892143"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If the wheel did not rotate as the car moved forward, i.e. if the wheels were “locked up” and sliding, for example, then each point on the wheel would have the same linear speed – a speed equal to the CM of the car.</a:t>
            </a:r>
          </a:p>
        </p:txBody>
      </p:sp>
      <p:sp>
        <p:nvSpPr>
          <p:cNvPr id="43" name="Content Placeholder 2">
            <a:extLst>
              <a:ext uri="{FF2B5EF4-FFF2-40B4-BE49-F238E27FC236}">
                <a16:creationId xmlns:a16="http://schemas.microsoft.com/office/drawing/2014/main" id="{D35BD1A5-7837-9F74-1366-BBBD802BD71E}"/>
              </a:ext>
            </a:extLst>
          </p:cNvPr>
          <p:cNvSpPr txBox="1">
            <a:spLocks noGrp="1"/>
          </p:cNvSpPr>
          <p:nvPr>
            <p:ph type="body" idx="2"/>
          </p:nvPr>
        </p:nvSpPr>
        <p:spPr>
          <a:xfrm>
            <a:off x="6255313" y="1577310"/>
            <a:ext cx="168853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cs typeface="Times New Roman" panose="02020603050405020304" pitchFamily="18" charset="0"/>
              </a:rPr>
              <a:t>This is pure</a:t>
            </a:r>
            <a:endParaRPr lang="en-US" sz="2400" dirty="0">
              <a:latin typeface="Times New Roman" pitchFamily="2" charset="0"/>
            </a:endParaRPr>
          </a:p>
        </p:txBody>
      </p:sp>
      <p:sp>
        <p:nvSpPr>
          <p:cNvPr id="44" name="Rounded Rectangle 43">
            <a:extLst>
              <a:ext uri="{FF2B5EF4-FFF2-40B4-BE49-F238E27FC236}">
                <a16:creationId xmlns:a16="http://schemas.microsoft.com/office/drawing/2014/main" id="{6587FE0E-90BF-4871-D5B6-C4D1C0D3DF03}"/>
              </a:ext>
              <a:ext uri="{C183D7F6-B498-43B3-948B-1728B52AA6E4}">
                <adec:decorative xmlns:adec="http://schemas.microsoft.com/office/drawing/2017/decorative" val="1"/>
              </a:ext>
            </a:extLst>
          </p:cNvPr>
          <p:cNvSpPr/>
          <p:nvPr/>
        </p:nvSpPr>
        <p:spPr>
          <a:xfrm>
            <a:off x="7832034" y="1630017"/>
            <a:ext cx="3180522"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ontent Placeholder 3">
            <a:extLst>
              <a:ext uri="{FF2B5EF4-FFF2-40B4-BE49-F238E27FC236}">
                <a16:creationId xmlns:a16="http://schemas.microsoft.com/office/drawing/2014/main" id="{F56009F4-B06C-C40E-E9A7-C4FB9B5FD77B}"/>
              </a:ext>
            </a:extLst>
          </p:cNvPr>
          <p:cNvSpPr txBox="1">
            <a:spLocks noGrp="1"/>
          </p:cNvSpPr>
          <p:nvPr>
            <p:ph type="body" idx="3"/>
          </p:nvPr>
        </p:nvSpPr>
        <p:spPr>
          <a:xfrm>
            <a:off x="7807287" y="1623374"/>
            <a:ext cx="3412148"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translational motion</a:t>
            </a:r>
          </a:p>
        </p:txBody>
      </p:sp>
      <p:sp>
        <p:nvSpPr>
          <p:cNvPr id="4" name="Content Placeholder 4">
            <a:extLst>
              <a:ext uri="{FF2B5EF4-FFF2-40B4-BE49-F238E27FC236}">
                <a16:creationId xmlns:a16="http://schemas.microsoft.com/office/drawing/2014/main" id="{D6B47BB0-DA7B-66A9-A26A-7859EBF6F409}"/>
              </a:ext>
            </a:extLst>
          </p:cNvPr>
          <p:cNvSpPr txBox="1">
            <a:spLocks noGrp="1"/>
          </p:cNvSpPr>
          <p:nvPr>
            <p:ph type="body" idx="4"/>
          </p:nvPr>
        </p:nvSpPr>
        <p:spPr>
          <a:xfrm>
            <a:off x="10979433" y="1529047"/>
            <a:ext cx="24000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cs typeface="Times New Roman" panose="02020603050405020304" pitchFamily="18" charset="0"/>
              </a:rPr>
              <a:t>.</a:t>
            </a:r>
            <a:endParaRPr lang="en-US" dirty="0">
              <a:latin typeface="Times New Roman"/>
            </a:endParaRPr>
          </a:p>
        </p:txBody>
      </p:sp>
      <p:sp>
        <p:nvSpPr>
          <p:cNvPr id="47" name="Content Placeholder 6">
            <a:extLst>
              <a:ext uri="{FF2B5EF4-FFF2-40B4-BE49-F238E27FC236}">
                <a16:creationId xmlns:a16="http://schemas.microsoft.com/office/drawing/2014/main" id="{4DC2918E-EEBA-32C4-E648-F96EEAD3F6B0}"/>
              </a:ext>
            </a:extLst>
          </p:cNvPr>
          <p:cNvSpPr txBox="1">
            <a:spLocks noGrp="1"/>
          </p:cNvSpPr>
          <p:nvPr>
            <p:ph type="body" idx="6"/>
          </p:nvPr>
        </p:nvSpPr>
        <p:spPr>
          <a:xfrm>
            <a:off x="4094547" y="2429425"/>
            <a:ext cx="4302694"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Now consider if the wheel was only rotating and not moving translationally.</a:t>
            </a:r>
          </a:p>
        </p:txBody>
      </p:sp>
      <p:sp>
        <p:nvSpPr>
          <p:cNvPr id="48" name="Content Placeholder 7">
            <a:extLst>
              <a:ext uri="{FF2B5EF4-FFF2-40B4-BE49-F238E27FC236}">
                <a16:creationId xmlns:a16="http://schemas.microsoft.com/office/drawing/2014/main" id="{7E66244F-82AA-8A38-3935-CA520A397E59}"/>
              </a:ext>
            </a:extLst>
          </p:cNvPr>
          <p:cNvSpPr txBox="1">
            <a:spLocks noGrp="1"/>
          </p:cNvSpPr>
          <p:nvPr>
            <p:ph type="body" idx="7"/>
          </p:nvPr>
        </p:nvSpPr>
        <p:spPr>
          <a:xfrm>
            <a:off x="4057440" y="3960714"/>
            <a:ext cx="4587774"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...And rotating with an angular velocity </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such that </a:t>
            </a:r>
            <a:r>
              <a:rPr lang="en-US" sz="2400" i="1"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cm</a:t>
            </a:r>
            <a:r>
              <a:rPr lang="en-US" sz="2400" dirty="0">
                <a:latin typeface="Times New Roman" panose="02020603050405020304" pitchFamily="18" charset="0"/>
                <a:cs typeface="Times New Roman" panose="02020603050405020304" pitchFamily="18" charset="0"/>
              </a:rPr>
              <a:t> = </a:t>
            </a:r>
            <a:r>
              <a:rPr lang="en-US" sz="2400" i="1" dirty="0" err="1">
                <a:latin typeface="Times New Roman" panose="02020603050405020304" pitchFamily="18" charset="0"/>
                <a:cs typeface="Times New Roman" panose="02020603050405020304" pitchFamily="18" charset="0"/>
              </a:rPr>
              <a:t>rω</a:t>
            </a:r>
            <a:r>
              <a:rPr lang="en-US" sz="2400" dirty="0">
                <a:latin typeface="Times New Roman" panose="02020603050405020304" pitchFamily="18" charset="0"/>
                <a:cs typeface="Times New Roman" panose="02020603050405020304" pitchFamily="18" charset="0"/>
              </a:rPr>
              <a:t>.</a:t>
            </a:r>
          </a:p>
        </p:txBody>
      </p:sp>
      <p:sp>
        <p:nvSpPr>
          <p:cNvPr id="101" name="Content Placeholder 8">
            <a:extLst>
              <a:ext uri="{FF2B5EF4-FFF2-40B4-BE49-F238E27FC236}">
                <a16:creationId xmlns:a16="http://schemas.microsoft.com/office/drawing/2014/main" id="{92782978-BAA2-B725-4FEE-843F987C6C4F}"/>
              </a:ext>
            </a:extLst>
          </p:cNvPr>
          <p:cNvSpPr txBox="1">
            <a:spLocks noGrp="1"/>
          </p:cNvSpPr>
          <p:nvPr>
            <p:ph type="body" idx="8"/>
          </p:nvPr>
        </p:nvSpPr>
        <p:spPr>
          <a:xfrm>
            <a:off x="3871225" y="5042990"/>
            <a:ext cx="16913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This is pure</a:t>
            </a:r>
          </a:p>
        </p:txBody>
      </p:sp>
      <p:sp>
        <p:nvSpPr>
          <p:cNvPr id="102" name="Rounded Rectangle 101">
            <a:extLst>
              <a:ext uri="{FF2B5EF4-FFF2-40B4-BE49-F238E27FC236}">
                <a16:creationId xmlns:a16="http://schemas.microsoft.com/office/drawing/2014/main" id="{3659DBDE-8A37-AAA7-C44B-89B1890F310D}"/>
              </a:ext>
              <a:ext uri="{C183D7F6-B498-43B3-948B-1728B52AA6E4}">
                <adec:decorative xmlns:adec="http://schemas.microsoft.com/office/drawing/2017/decorative" val="1"/>
              </a:ext>
            </a:extLst>
          </p:cNvPr>
          <p:cNvSpPr/>
          <p:nvPr/>
        </p:nvSpPr>
        <p:spPr>
          <a:xfrm>
            <a:off x="5447945" y="5095696"/>
            <a:ext cx="2735120"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ontent Placeholder 9">
            <a:extLst>
              <a:ext uri="{FF2B5EF4-FFF2-40B4-BE49-F238E27FC236}">
                <a16:creationId xmlns:a16="http://schemas.microsoft.com/office/drawing/2014/main" id="{E2A73812-0888-A004-72EC-8A73042B9F18}"/>
              </a:ext>
            </a:extLst>
          </p:cNvPr>
          <p:cNvSpPr txBox="1">
            <a:spLocks noGrp="1"/>
          </p:cNvSpPr>
          <p:nvPr>
            <p:ph type="body" idx="9"/>
          </p:nvPr>
        </p:nvSpPr>
        <p:spPr>
          <a:xfrm>
            <a:off x="5441608" y="5072061"/>
            <a:ext cx="3087693"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motion</a:t>
            </a:r>
          </a:p>
        </p:txBody>
      </p:sp>
      <p:sp>
        <p:nvSpPr>
          <p:cNvPr id="20" name="Content Placeholder 10">
            <a:extLst>
              <a:ext uri="{FF2B5EF4-FFF2-40B4-BE49-F238E27FC236}">
                <a16:creationId xmlns:a16="http://schemas.microsoft.com/office/drawing/2014/main" id="{8E97CCFB-C490-278F-81E6-F5BBFACAED6E}"/>
              </a:ext>
            </a:extLst>
          </p:cNvPr>
          <p:cNvSpPr txBox="1">
            <a:spLocks noGrp="1"/>
          </p:cNvSpPr>
          <p:nvPr>
            <p:ph type="body" idx="10"/>
          </p:nvPr>
        </p:nvSpPr>
        <p:spPr>
          <a:xfrm>
            <a:off x="8123972" y="5030906"/>
            <a:ext cx="2794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4" name="Content Placeholder 12">
            <a:extLst>
              <a:ext uri="{FF2B5EF4-FFF2-40B4-BE49-F238E27FC236}">
                <a16:creationId xmlns:a16="http://schemas.microsoft.com/office/drawing/2014/main" id="{83E60B30-C58D-9263-535F-ECC1955F06B9}"/>
              </a:ext>
            </a:extLst>
          </p:cNvPr>
          <p:cNvSpPr txBox="1">
            <a:spLocks noGrp="1"/>
          </p:cNvSpPr>
          <p:nvPr>
            <p:ph type="body" idx="12"/>
          </p:nvPr>
        </p:nvSpPr>
        <p:spPr>
          <a:xfrm>
            <a:off x="875593" y="5840551"/>
            <a:ext cx="108921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 wheel that was rolling without slipping will be the sum of these two motions...</a:t>
            </a:r>
          </a:p>
        </p:txBody>
      </p:sp>
      <p:grpSp>
        <p:nvGrpSpPr>
          <p:cNvPr id="96" name="Group 95">
            <a:extLst>
              <a:ext uri="{FF2B5EF4-FFF2-40B4-BE49-F238E27FC236}">
                <a16:creationId xmlns:a16="http://schemas.microsoft.com/office/drawing/2014/main" id="{46529E97-4AB9-8BFB-1382-6D6AEF29BD50}"/>
              </a:ext>
            </a:extLst>
          </p:cNvPr>
          <p:cNvGrpSpPr/>
          <p:nvPr/>
        </p:nvGrpSpPr>
        <p:grpSpPr>
          <a:xfrm>
            <a:off x="236293" y="2144608"/>
            <a:ext cx="4214191" cy="2824479"/>
            <a:chOff x="236293" y="2144608"/>
            <a:chExt cx="4214191" cy="2824479"/>
          </a:xfrm>
        </p:grpSpPr>
        <p:sp>
          <p:nvSpPr>
            <p:cNvPr id="40" name="TextBox 39">
              <a:extLst>
                <a:ext uri="{FF2B5EF4-FFF2-40B4-BE49-F238E27FC236}">
                  <a16:creationId xmlns:a16="http://schemas.microsoft.com/office/drawing/2014/main" id="{0D45FF95-B28C-FDDD-0A33-9DB27D1A14EE}"/>
                </a:ext>
              </a:extLst>
            </p:cNvPr>
            <p:cNvSpPr txBox="1"/>
            <p:nvPr/>
          </p:nvSpPr>
          <p:spPr>
            <a:xfrm>
              <a:off x="236293" y="2144608"/>
              <a:ext cx="4214191" cy="461665"/>
            </a:xfrm>
            <a:prstGeom prst="rect">
              <a:avLst/>
            </a:prstGeom>
            <a:noFill/>
          </p:spPr>
          <p:txBody>
            <a:bodyPr wrap="square" rtlCol="0">
              <a:spAutoFit/>
            </a:bodyPr>
            <a:lstStyle/>
            <a:p>
              <a:r>
                <a:rPr lang="en-US" sz="2400" b="1" dirty="0">
                  <a:solidFill>
                    <a:srgbClr val="002495"/>
                  </a:solidFill>
                </a:rPr>
                <a:t>Pure Translational Motion</a:t>
              </a:r>
            </a:p>
          </p:txBody>
        </p:sp>
        <p:pic>
          <p:nvPicPr>
            <p:cNvPr id="8" name="Picture 7">
              <a:extLst>
                <a:ext uri="{FF2B5EF4-FFF2-40B4-BE49-F238E27FC236}">
                  <a16:creationId xmlns:a16="http://schemas.microsoft.com/office/drawing/2014/main" id="{E81EDE62-1644-106B-775B-485AB69C901B}"/>
                </a:ext>
              </a:extLst>
            </p:cNvPr>
            <p:cNvPicPr>
              <a:picLocks noChangeAspect="1"/>
            </p:cNvPicPr>
            <p:nvPr/>
          </p:nvPicPr>
          <p:blipFill>
            <a:blip r:embed="rId3"/>
            <a:srcRect l="70204" t="22205" r="9398" b="50175"/>
            <a:stretch/>
          </p:blipFill>
          <p:spPr>
            <a:xfrm>
              <a:off x="380301" y="2829330"/>
              <a:ext cx="3298677" cy="2139757"/>
            </a:xfrm>
            <a:prstGeom prst="rect">
              <a:avLst/>
            </a:prstGeom>
          </p:spPr>
        </p:pic>
        <p:sp>
          <p:nvSpPr>
            <p:cNvPr id="6" name="Rectangle 5">
              <a:extLst>
                <a:ext uri="{FF2B5EF4-FFF2-40B4-BE49-F238E27FC236}">
                  <a16:creationId xmlns:a16="http://schemas.microsoft.com/office/drawing/2014/main" id="{9CEB33CC-F9E5-DFB3-89C7-4E210799F844}"/>
                </a:ext>
              </a:extLst>
            </p:cNvPr>
            <p:cNvSpPr/>
            <p:nvPr/>
          </p:nvSpPr>
          <p:spPr>
            <a:xfrm rot="19034367">
              <a:off x="423029" y="2772818"/>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328E45-A49A-67AF-D3D4-AE3AA724EE95}"/>
                </a:ext>
              </a:extLst>
            </p:cNvPr>
            <p:cNvSpPr/>
            <p:nvPr/>
          </p:nvSpPr>
          <p:spPr>
            <a:xfrm>
              <a:off x="2506779" y="4524706"/>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7B53F49-18A4-4300-0C82-EF0FE2073382}"/>
                </a:ext>
              </a:extLst>
            </p:cNvPr>
            <p:cNvSpPr/>
            <p:nvPr/>
          </p:nvSpPr>
          <p:spPr>
            <a:xfrm>
              <a:off x="2707101" y="38719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EAEF099-F8FC-0882-7A7F-9B2881B7F3E4}"/>
                </a:ext>
              </a:extLst>
            </p:cNvPr>
            <p:cNvSpPr/>
            <p:nvPr/>
          </p:nvSpPr>
          <p:spPr>
            <a:xfrm>
              <a:off x="887826" y="386240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53FF825-548C-B922-7A37-5C2C2093DA46}"/>
                </a:ext>
              </a:extLst>
            </p:cNvPr>
            <p:cNvSpPr/>
            <p:nvPr/>
          </p:nvSpPr>
          <p:spPr>
            <a:xfrm>
              <a:off x="1770476" y="29321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ECBA5E0D-C636-36F3-5493-321E51A40208}"/>
                </a:ext>
              </a:extLst>
            </p:cNvPr>
            <p:cNvCxnSpPr>
              <a:cxnSpLocks/>
              <a:stCxn id="14" idx="6"/>
            </p:cNvCxnSpPr>
            <p:nvPr/>
          </p:nvCxnSpPr>
          <p:spPr>
            <a:xfrm>
              <a:off x="1881572" y="2987680"/>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C4F0346-5500-3788-7D97-ED092BFBA19D}"/>
                </a:ext>
              </a:extLst>
            </p:cNvPr>
            <p:cNvCxnSpPr/>
            <p:nvPr/>
          </p:nvCxnSpPr>
          <p:spPr>
            <a:xfrm flipV="1">
              <a:off x="1903797" y="4826212"/>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B2D8674-92CD-0D30-0DBA-F8D61384BEC1}"/>
                </a:ext>
              </a:extLst>
            </p:cNvPr>
            <p:cNvCxnSpPr/>
            <p:nvPr/>
          </p:nvCxnSpPr>
          <p:spPr>
            <a:xfrm flipV="1">
              <a:off x="995747" y="3914987"/>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8B60BE8-F2B8-39B8-F85A-BF35AC85C1E1}"/>
                </a:ext>
              </a:extLst>
            </p:cNvPr>
            <p:cNvSpPr txBox="1"/>
            <p:nvPr/>
          </p:nvSpPr>
          <p:spPr>
            <a:xfrm>
              <a:off x="2199576" y="249576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C69718BD-6ADE-22EA-DDEB-B7A53C0F0FB4}"/>
                </a:ext>
              </a:extLst>
            </p:cNvPr>
            <p:cNvSpPr txBox="1"/>
            <p:nvPr/>
          </p:nvSpPr>
          <p:spPr>
            <a:xfrm>
              <a:off x="450151" y="375941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29AF28EA-2DA4-34E5-F47C-089001C34704}"/>
                </a:ext>
              </a:extLst>
            </p:cNvPr>
            <p:cNvSpPr txBox="1"/>
            <p:nvPr/>
          </p:nvSpPr>
          <p:spPr>
            <a:xfrm>
              <a:off x="400621" y="2733887"/>
              <a:ext cx="1117600" cy="400110"/>
            </a:xfrm>
            <a:prstGeom prst="rect">
              <a:avLst/>
            </a:prstGeom>
            <a:noFill/>
          </p:spPr>
          <p:txBody>
            <a:bodyPr wrap="square" rtlCol="0">
              <a:spAutoFit/>
            </a:bodyPr>
            <a:lstStyle/>
            <a:p>
              <a:r>
                <a:rPr lang="en-US" sz="2000" i="1" dirty="0">
                  <a:latin typeface="Symbol" pitchFamily="2" charset="2"/>
                </a:rPr>
                <a:t>w</a:t>
              </a:r>
              <a:r>
                <a:rPr lang="en-US" sz="2000" dirty="0"/>
                <a:t> </a:t>
              </a:r>
              <a:r>
                <a:rPr lang="en-US" sz="2000" dirty="0">
                  <a:latin typeface="Times" pitchFamily="2" charset="0"/>
                </a:rPr>
                <a:t>= 0</a:t>
              </a:r>
            </a:p>
          </p:txBody>
        </p:sp>
        <p:sp>
          <p:nvSpPr>
            <p:cNvPr id="88" name="TextBox 87">
              <a:extLst>
                <a:ext uri="{FF2B5EF4-FFF2-40B4-BE49-F238E27FC236}">
                  <a16:creationId xmlns:a16="http://schemas.microsoft.com/office/drawing/2014/main" id="{CE07B826-4782-5DE8-A32B-75BC5B797336}"/>
                </a:ext>
              </a:extLst>
            </p:cNvPr>
            <p:cNvSpPr txBox="1"/>
            <p:nvPr/>
          </p:nvSpPr>
          <p:spPr>
            <a:xfrm>
              <a:off x="2538830" y="4370983"/>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grpSp>
      <p:grpSp>
        <p:nvGrpSpPr>
          <p:cNvPr id="99" name="Group 98">
            <a:extLst>
              <a:ext uri="{FF2B5EF4-FFF2-40B4-BE49-F238E27FC236}">
                <a16:creationId xmlns:a16="http://schemas.microsoft.com/office/drawing/2014/main" id="{BAA433FF-65C0-7F86-B2CA-78952262FA08}"/>
              </a:ext>
            </a:extLst>
          </p:cNvPr>
          <p:cNvGrpSpPr/>
          <p:nvPr/>
        </p:nvGrpSpPr>
        <p:grpSpPr>
          <a:xfrm>
            <a:off x="8371399" y="2210734"/>
            <a:ext cx="4353113" cy="2947420"/>
            <a:chOff x="8401879" y="2606974"/>
            <a:chExt cx="4353113" cy="2947420"/>
          </a:xfrm>
        </p:grpSpPr>
        <p:grpSp>
          <p:nvGrpSpPr>
            <p:cNvPr id="97" name="Group 96">
              <a:extLst>
                <a:ext uri="{FF2B5EF4-FFF2-40B4-BE49-F238E27FC236}">
                  <a16:creationId xmlns:a16="http://schemas.microsoft.com/office/drawing/2014/main" id="{D5A91957-D33D-DCB1-863F-6AA70BD7838C}"/>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8E05FFE6-9B52-824B-C33C-6CD1CD868AD8}"/>
                  </a:ext>
                </a:extLst>
              </p:cNvPr>
              <p:cNvGrpSpPr/>
              <p:nvPr/>
            </p:nvGrpSpPr>
            <p:grpSpPr>
              <a:xfrm>
                <a:off x="5199794" y="3493307"/>
                <a:ext cx="3790121" cy="2541534"/>
                <a:chOff x="4068418" y="3400317"/>
                <a:chExt cx="3790121" cy="2541534"/>
              </a:xfrm>
            </p:grpSpPr>
            <p:pic>
              <p:nvPicPr>
                <p:cNvPr id="27" name="Picture 26">
                  <a:extLst>
                    <a:ext uri="{FF2B5EF4-FFF2-40B4-BE49-F238E27FC236}">
                      <a16:creationId xmlns:a16="http://schemas.microsoft.com/office/drawing/2014/main" id="{74188EAB-581A-CA9C-090E-9485854197EA}"/>
                    </a:ext>
                  </a:extLst>
                </p:cNvPr>
                <p:cNvPicPr>
                  <a:picLocks noChangeAspect="1"/>
                </p:cNvPicPr>
                <p:nvPr/>
              </p:nvPicPr>
              <p:blipFill>
                <a:blip r:embed="rId3"/>
                <a:srcRect l="36577" t="22060" r="39986" b="52966"/>
                <a:stretch/>
              </p:blipFill>
              <p:spPr>
                <a:xfrm>
                  <a:off x="4068418" y="3896140"/>
                  <a:ext cx="3790121" cy="1934817"/>
                </a:xfrm>
                <a:prstGeom prst="rect">
                  <a:avLst/>
                </a:prstGeom>
              </p:spPr>
            </p:pic>
            <p:sp>
              <p:nvSpPr>
                <p:cNvPr id="67" name="Freeform 66">
                  <a:extLst>
                    <a:ext uri="{FF2B5EF4-FFF2-40B4-BE49-F238E27FC236}">
                      <a16:creationId xmlns:a16="http://schemas.microsoft.com/office/drawing/2014/main" id="{9FDA79BE-C4B5-F889-7BD1-BA6F34FD4A27}"/>
                    </a:ext>
                  </a:extLst>
                </p:cNvPr>
                <p:cNvSpPr/>
                <p:nvPr/>
              </p:nvSpPr>
              <p:spPr>
                <a:xfrm>
                  <a:off x="5489217" y="5766709"/>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856BFF47-0247-F625-ECE9-B9429BDF9CAD}"/>
                    </a:ext>
                  </a:extLst>
                </p:cNvPr>
                <p:cNvSpPr/>
                <p:nvPr/>
              </p:nvSpPr>
              <p:spPr>
                <a:xfrm rot="20726395">
                  <a:off x="6362925" y="5605434"/>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1AC1887-F259-5A1E-DCC7-D031C8CAFAA7}"/>
                    </a:ext>
                  </a:extLst>
                </p:cNvPr>
                <p:cNvSpPr/>
                <p:nvPr/>
              </p:nvSpPr>
              <p:spPr>
                <a:xfrm rot="18752524">
                  <a:off x="4408763" y="3845505"/>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7175E08E-BD3A-5B7D-EDDF-391691E9ABA5}"/>
                    </a:ext>
                  </a:extLst>
                </p:cNvPr>
                <p:cNvSpPr/>
                <p:nvPr/>
              </p:nvSpPr>
              <p:spPr>
                <a:xfrm>
                  <a:off x="5791340" y="5830756"/>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D886A20-5D28-60CE-1D87-67D92E637192}"/>
                    </a:ext>
                  </a:extLst>
                </p:cNvPr>
                <p:cNvSpPr/>
                <p:nvPr/>
              </p:nvSpPr>
              <p:spPr>
                <a:xfrm>
                  <a:off x="5802161" y="3985724"/>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F59EB7C-95EB-46AA-23D1-66B9B6B98A34}"/>
                    </a:ext>
                  </a:extLst>
                </p:cNvPr>
                <p:cNvSpPr/>
                <p:nvPr/>
              </p:nvSpPr>
              <p:spPr>
                <a:xfrm>
                  <a:off x="6690410" y="493349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DD23F9BA-C2E5-3680-1500-FCF720620AA1}"/>
                    </a:ext>
                  </a:extLst>
                </p:cNvPr>
                <p:cNvSpPr/>
                <p:nvPr/>
              </p:nvSpPr>
              <p:spPr>
                <a:xfrm>
                  <a:off x="4867020" y="494431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9D803FEC-261B-49FF-517B-732E19A322C5}"/>
                    </a:ext>
                  </a:extLst>
                </p:cNvPr>
                <p:cNvCxnSpPr>
                  <a:cxnSpLocks/>
                </p:cNvCxnSpPr>
                <p:nvPr/>
              </p:nvCxnSpPr>
              <p:spPr>
                <a:xfrm flipV="1">
                  <a:off x="4917696" y="4139148"/>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B91D609-C1B1-1A10-DFF9-8B8D29625ADC}"/>
                    </a:ext>
                  </a:extLst>
                </p:cNvPr>
                <p:cNvCxnSpPr>
                  <a:cxnSpLocks/>
                </p:cNvCxnSpPr>
                <p:nvPr/>
              </p:nvCxnSpPr>
              <p:spPr>
                <a:xfrm>
                  <a:off x="5903336" y="4043468"/>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80B8F4B4-4231-78DB-B710-517FD999CD71}"/>
                    </a:ext>
                  </a:extLst>
                </p:cNvPr>
                <p:cNvSpPr/>
                <p:nvPr/>
              </p:nvSpPr>
              <p:spPr>
                <a:xfrm>
                  <a:off x="6811994" y="467423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0860B61-63A1-0298-774C-9DF8DCEA5358}"/>
                    </a:ext>
                  </a:extLst>
                </p:cNvPr>
                <p:cNvCxnSpPr>
                  <a:cxnSpLocks/>
                </p:cNvCxnSpPr>
                <p:nvPr/>
              </p:nvCxnSpPr>
              <p:spPr>
                <a:xfrm>
                  <a:off x="6753709" y="5039929"/>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5B1D71D-BF0E-832F-F311-CFF827015BC0}"/>
                    </a:ext>
                  </a:extLst>
                </p:cNvPr>
                <p:cNvCxnSpPr>
                  <a:cxnSpLocks/>
                </p:cNvCxnSpPr>
                <p:nvPr/>
              </p:nvCxnSpPr>
              <p:spPr>
                <a:xfrm flipH="1">
                  <a:off x="4958275" y="5898511"/>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37217DFA-3160-4E71-72D4-C3F1D742D35D}"/>
                    </a:ext>
                  </a:extLst>
                </p:cNvPr>
                <p:cNvSpPr/>
                <p:nvPr/>
              </p:nvSpPr>
              <p:spPr>
                <a:xfrm rot="14793523">
                  <a:off x="4502040" y="4782468"/>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CB45FAAB-FCE3-2281-DF52-CB7FD1434521}"/>
                    </a:ext>
                  </a:extLst>
                </p:cNvPr>
                <p:cNvSpPr txBox="1"/>
                <p:nvPr/>
              </p:nvSpPr>
              <p:spPr>
                <a:xfrm>
                  <a:off x="5167172" y="3400317"/>
                  <a:ext cx="149875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r>
                    <a:rPr lang="en-US" sz="2400" dirty="0">
                      <a:latin typeface="Times" pitchFamily="2" charset="0"/>
                    </a:rPr>
                    <a:t>=</a:t>
                  </a:r>
                  <a:r>
                    <a:rPr lang="en-US" sz="2400" i="1" dirty="0">
                      <a:latin typeface="Symbol" pitchFamily="2" charset="2"/>
                    </a:rPr>
                    <a:t> </a:t>
                  </a:r>
                  <a:r>
                    <a:rPr lang="en-US" sz="2400" i="1" dirty="0" err="1">
                      <a:latin typeface="Times" pitchFamily="2" charset="0"/>
                    </a:rPr>
                    <a:t>r</a:t>
                  </a:r>
                  <a:r>
                    <a:rPr lang="en-US" sz="2400" i="1" dirty="0" err="1">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44CE427C-2617-161C-E1EF-D7F1F59B5CC8}"/>
                    </a:ext>
                  </a:extLst>
                </p:cNvPr>
                <p:cNvSpPr txBox="1"/>
                <p:nvPr/>
              </p:nvSpPr>
              <p:spPr>
                <a:xfrm>
                  <a:off x="6509915" y="3585181"/>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1" name="TextBox 90">
                  <a:extLst>
                    <a:ext uri="{FF2B5EF4-FFF2-40B4-BE49-F238E27FC236}">
                      <a16:creationId xmlns:a16="http://schemas.microsoft.com/office/drawing/2014/main" id="{7D640847-96F9-53C5-89BA-A3C1FFA2E283}"/>
                    </a:ext>
                  </a:extLst>
                </p:cNvPr>
                <p:cNvSpPr txBox="1"/>
                <p:nvPr/>
              </p:nvSpPr>
              <p:spPr>
                <a:xfrm>
                  <a:off x="6754296" y="5463579"/>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2" name="TextBox 91">
                  <a:extLst>
                    <a:ext uri="{FF2B5EF4-FFF2-40B4-BE49-F238E27FC236}">
                      <a16:creationId xmlns:a16="http://schemas.microsoft.com/office/drawing/2014/main" id="{A56222C4-B433-363C-E66D-A2A537B4DD52}"/>
                    </a:ext>
                  </a:extLst>
                </p:cNvPr>
                <p:cNvSpPr txBox="1"/>
                <p:nvPr/>
              </p:nvSpPr>
              <p:spPr>
                <a:xfrm>
                  <a:off x="4574705" y="5410374"/>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3" name="TextBox 92">
                  <a:extLst>
                    <a:ext uri="{FF2B5EF4-FFF2-40B4-BE49-F238E27FC236}">
                      <a16:creationId xmlns:a16="http://schemas.microsoft.com/office/drawing/2014/main" id="{A763EB44-CBA6-8B6F-0C89-3B3ABD0F3AA1}"/>
                    </a:ext>
                  </a:extLst>
                </p:cNvPr>
                <p:cNvSpPr txBox="1"/>
                <p:nvPr/>
              </p:nvSpPr>
              <p:spPr>
                <a:xfrm>
                  <a:off x="4352868" y="3819643"/>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grpSp>
          <p:sp>
            <p:nvSpPr>
              <p:cNvPr id="22" name="TextBox 21">
                <a:extLst>
                  <a:ext uri="{FF2B5EF4-FFF2-40B4-BE49-F238E27FC236}">
                    <a16:creationId xmlns:a16="http://schemas.microsoft.com/office/drawing/2014/main" id="{09EB3DBF-BF6D-8DC5-E397-C50D220B1F91}"/>
                  </a:ext>
                </a:extLst>
              </p:cNvPr>
              <p:cNvSpPr txBox="1"/>
              <p:nvPr/>
            </p:nvSpPr>
            <p:spPr>
              <a:xfrm>
                <a:off x="5386041" y="4615803"/>
                <a:ext cx="685800" cy="461665"/>
              </a:xfrm>
              <a:prstGeom prst="rect">
                <a:avLst/>
              </a:prstGeom>
              <a:noFill/>
            </p:spPr>
            <p:txBody>
              <a:bodyPr wrap="square" rtlCol="0">
                <a:spAutoFit/>
              </a:bodyPr>
              <a:lstStyle/>
              <a:p>
                <a:r>
                  <a:rPr lang="en-US" sz="2400" i="1" dirty="0">
                    <a:latin typeface="Symbol" pitchFamily="2" charset="2"/>
                  </a:rPr>
                  <a:t>w</a:t>
                </a:r>
              </a:p>
            </p:txBody>
          </p:sp>
        </p:grpSp>
        <p:sp>
          <p:nvSpPr>
            <p:cNvPr id="98" name="TextBox 97">
              <a:extLst>
                <a:ext uri="{FF2B5EF4-FFF2-40B4-BE49-F238E27FC236}">
                  <a16:creationId xmlns:a16="http://schemas.microsoft.com/office/drawing/2014/main" id="{375F87FD-B93E-155A-199F-452035D4FF13}"/>
                </a:ext>
              </a:extLst>
            </p:cNvPr>
            <p:cNvSpPr txBox="1"/>
            <p:nvPr/>
          </p:nvSpPr>
          <p:spPr>
            <a:xfrm>
              <a:off x="8540801" y="2606974"/>
              <a:ext cx="4214191" cy="461665"/>
            </a:xfrm>
            <a:prstGeom prst="rect">
              <a:avLst/>
            </a:prstGeom>
            <a:noFill/>
          </p:spPr>
          <p:txBody>
            <a:bodyPr wrap="square" rtlCol="0">
              <a:spAutoFit/>
            </a:bodyPr>
            <a:lstStyle/>
            <a:p>
              <a:r>
                <a:rPr lang="en-US" sz="2400" b="1" dirty="0">
                  <a:solidFill>
                    <a:srgbClr val="002495"/>
                  </a:solidFill>
                </a:rPr>
                <a:t>Pure Rotational Motion</a:t>
              </a:r>
            </a:p>
          </p:txBody>
        </p:sp>
      </p:grpSp>
    </p:spTree>
    <p:extLst>
      <p:ext uri="{BB962C8B-B14F-4D97-AF65-F5344CB8AC3E}">
        <p14:creationId xmlns:p14="http://schemas.microsoft.com/office/powerpoint/2010/main" val="356081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dissolve">
                                      <p:cBhvr>
                                        <p:cTn id="23" dur="500"/>
                                        <p:tgtEl>
                                          <p:spTgt spid="45"/>
                                        </p:tgtEl>
                                      </p:cBhvr>
                                    </p:animEffect>
                                  </p:childTnLst>
                                </p:cTn>
                              </p:par>
                            </p:childTnLst>
                          </p:cTn>
                        </p:par>
                        <p:par>
                          <p:cTn id="24" fill="hold">
                            <p:stCondLst>
                              <p:cond delay="500"/>
                            </p:stCondLst>
                            <p:childTnLst>
                              <p:par>
                                <p:cTn id="25" presetID="9" presetClass="entr" presetSubtype="0" fill="hold" nodeType="after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dissolve">
                                      <p:cBhvr>
                                        <p:cTn id="27" dur="500"/>
                                        <p:tgtEl>
                                          <p:spTgt spid="9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1"/>
                                        </p:tgtEl>
                                        <p:attrNameLst>
                                          <p:attrName>style.visibility</p:attrName>
                                        </p:attrNameLst>
                                      </p:cBhvr>
                                      <p:to>
                                        <p:strVal val="visible"/>
                                      </p:to>
                                    </p:set>
                                    <p:animEffect transition="in" filter="dissolve">
                                      <p:cBhvr>
                                        <p:cTn id="42" dur="500"/>
                                        <p:tgtEl>
                                          <p:spTgt spid="101"/>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02"/>
                                        </p:tgtEl>
                                        <p:attrNameLst>
                                          <p:attrName>style.visibility</p:attrName>
                                        </p:attrNameLst>
                                      </p:cBhvr>
                                      <p:to>
                                        <p:strVal val="visible"/>
                                      </p:to>
                                    </p:set>
                                    <p:animEffect transition="in" filter="dissolve">
                                      <p:cBhvr>
                                        <p:cTn id="48" dur="500"/>
                                        <p:tgtEl>
                                          <p:spTgt spid="102"/>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03"/>
                                        </p:tgtEl>
                                        <p:attrNameLst>
                                          <p:attrName>style.visibility</p:attrName>
                                        </p:attrNameLst>
                                      </p:cBhvr>
                                      <p:to>
                                        <p:strVal val="visible"/>
                                      </p:to>
                                    </p:set>
                                    <p:animEffect transition="in" filter="dissolve">
                                      <p:cBhvr>
                                        <p:cTn id="53" dur="500"/>
                                        <p:tgtEl>
                                          <p:spTgt spid="103"/>
                                        </p:tgtEl>
                                      </p:cBhvr>
                                    </p:animEffect>
                                  </p:childTnLst>
                                </p:cTn>
                              </p:par>
                            </p:childTnLst>
                          </p:cTn>
                        </p:par>
                        <p:par>
                          <p:cTn id="54" fill="hold">
                            <p:stCondLst>
                              <p:cond delay="500"/>
                            </p:stCondLst>
                            <p:childTnLst>
                              <p:par>
                                <p:cTn id="55" presetID="9" presetClass="entr" presetSubtype="0" fill="hold" nodeType="afterEffect">
                                  <p:stCondLst>
                                    <p:cond delay="0"/>
                                  </p:stCondLst>
                                  <p:childTnLst>
                                    <p:set>
                                      <p:cBhvr>
                                        <p:cTn id="56" dur="1" fill="hold">
                                          <p:stCondLst>
                                            <p:cond delay="0"/>
                                          </p:stCondLst>
                                        </p:cTn>
                                        <p:tgtEl>
                                          <p:spTgt spid="99"/>
                                        </p:tgtEl>
                                        <p:attrNameLst>
                                          <p:attrName>style.visibility</p:attrName>
                                        </p:attrNameLst>
                                      </p:cBhvr>
                                      <p:to>
                                        <p:strVal val="visible"/>
                                      </p:to>
                                    </p:set>
                                    <p:animEffect transition="in" filter="dissolve">
                                      <p:cBhvr>
                                        <p:cTn id="57" dur="500"/>
                                        <p:tgtEl>
                                          <p:spTgt spid="9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04"/>
                                        </p:tgtEl>
                                        <p:attrNameLst>
                                          <p:attrName>style.visibility</p:attrName>
                                        </p:attrNameLst>
                                      </p:cBhvr>
                                      <p:to>
                                        <p:strVal val="visible"/>
                                      </p:to>
                                    </p:set>
                                    <p:animEffect transition="in" filter="dissolve">
                                      <p:cBhvr>
                                        <p:cTn id="62"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3" grpId="0"/>
      <p:bldP spid="44" grpId="0" animBg="1"/>
      <p:bldP spid="45" grpId="0"/>
      <p:bldP spid="4" grpId="0"/>
      <p:bldP spid="47" grpId="0"/>
      <p:bldP spid="48" grpId="0"/>
      <p:bldP spid="101" grpId="0"/>
      <p:bldP spid="102" grpId="0" animBg="1"/>
      <p:bldP spid="103" grpId="0"/>
      <p:bldP spid="20" grpId="0"/>
      <p:bldP spid="10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F0CEF-CB75-D6C1-8AF9-7183B1FA2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A2B3E-7367-0EC1-9766-4A6A0E977509}"/>
              </a:ext>
            </a:extLst>
          </p:cNvPr>
          <p:cNvSpPr>
            <a:spLocks noGrp="1"/>
          </p:cNvSpPr>
          <p:nvPr>
            <p:ph type="title"/>
          </p:nvPr>
        </p:nvSpPr>
        <p:spPr>
          <a:xfrm>
            <a:off x="639874" y="142278"/>
            <a:ext cx="10820401" cy="849312"/>
          </a:xfrm>
        </p:spPr>
        <p:txBody>
          <a:bodyPr>
            <a:normAutofit/>
          </a:bodyPr>
          <a:lstStyle/>
          <a:p>
            <a:r>
              <a:rPr lang="en-US" b="1" dirty="0">
                <a:latin typeface="Times New Roman" panose="02020603050405020304" pitchFamily="18" charset="0"/>
                <a:ea typeface="Calibri" charset="0"/>
                <a:cs typeface="Times New Roman" panose="02020603050405020304" pitchFamily="18" charset="0"/>
              </a:rPr>
              <a:t>8.6</a:t>
            </a:r>
            <a:r>
              <a:rPr lang="en-US" dirty="0">
                <a:latin typeface="Times New Roman" panose="02020603050405020304" pitchFamily="18" charset="0"/>
                <a:ea typeface="Calibri" charset="0"/>
                <a:cs typeface="Times New Roman" panose="02020603050405020304" pitchFamily="18" charset="0"/>
              </a:rPr>
              <a:t> Rolling Motion (3 of 4)</a:t>
            </a:r>
            <a:endParaRPr lang="en-US" sz="3000" dirty="0">
              <a:latin typeface="Times New Roman" panose="02020603050405020304" pitchFamily="18" charset="0"/>
              <a:cs typeface="Times New Roman" panose="02020603050405020304" pitchFamily="18" charset="0"/>
            </a:endParaRPr>
          </a:p>
        </p:txBody>
      </p:sp>
      <p:sp>
        <p:nvSpPr>
          <p:cNvPr id="104" name="Content Placeholder 2">
            <a:extLst>
              <a:ext uri="{FF2B5EF4-FFF2-40B4-BE49-F238E27FC236}">
                <a16:creationId xmlns:a16="http://schemas.microsoft.com/office/drawing/2014/main" id="{62CEC0BE-AB48-575B-349B-571F353978FC}"/>
              </a:ext>
            </a:extLst>
          </p:cNvPr>
          <p:cNvSpPr txBox="1">
            <a:spLocks noGrp="1"/>
          </p:cNvSpPr>
          <p:nvPr>
            <p:ph type="body" idx="2"/>
          </p:nvPr>
        </p:nvSpPr>
        <p:spPr>
          <a:xfrm>
            <a:off x="385264" y="4038256"/>
            <a:ext cx="11435676"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When pure </a:t>
            </a:r>
            <a:r>
              <a:rPr lang="en-US" sz="2400" dirty="0">
                <a:solidFill>
                  <a:srgbClr val="002495"/>
                </a:solidFill>
                <a:latin typeface="Times New Roman" panose="02020603050405020304" pitchFamily="18" charset="0"/>
                <a:cs typeface="Times New Roman" panose="02020603050405020304" pitchFamily="18" charset="0"/>
              </a:rPr>
              <a:t>translational motion </a:t>
            </a:r>
            <a:r>
              <a:rPr lang="en-US" sz="2400" dirty="0">
                <a:latin typeface="Times New Roman" panose="02020603050405020304" pitchFamily="18" charset="0"/>
                <a:cs typeface="Times New Roman" panose="02020603050405020304" pitchFamily="18" charset="0"/>
              </a:rPr>
              <a:t>and pure </a:t>
            </a:r>
            <a:r>
              <a:rPr lang="en-US" sz="2400" dirty="0">
                <a:solidFill>
                  <a:srgbClr val="002495"/>
                </a:solidFill>
                <a:latin typeface="Times New Roman" panose="02020603050405020304" pitchFamily="18" charset="0"/>
                <a:cs typeface="Times New Roman" panose="02020603050405020304" pitchFamily="18" charset="0"/>
              </a:rPr>
              <a:t>rotational motion </a:t>
            </a:r>
            <a:r>
              <a:rPr lang="en-US" sz="2400" dirty="0">
                <a:latin typeface="Times New Roman" panose="02020603050405020304" pitchFamily="18" charset="0"/>
                <a:cs typeface="Times New Roman" panose="02020603050405020304" pitchFamily="18" charset="0"/>
              </a:rPr>
              <a:t>are added together, </a:t>
            </a:r>
            <a:r>
              <a:rPr lang="en-US" sz="2400" dirty="0">
                <a:solidFill>
                  <a:srgbClr val="002495"/>
                </a:solidFill>
                <a:latin typeface="Times New Roman" panose="02020603050405020304" pitchFamily="18" charset="0"/>
                <a:cs typeface="Times New Roman" panose="02020603050405020304" pitchFamily="18" charset="0"/>
              </a:rPr>
              <a:t>rolling motion </a:t>
            </a:r>
            <a:r>
              <a:rPr lang="en-US" sz="2400" dirty="0">
                <a:latin typeface="Times New Roman" panose="02020603050405020304" pitchFamily="18" charset="0"/>
                <a:cs typeface="Times New Roman" panose="02020603050405020304" pitchFamily="18" charset="0"/>
              </a:rPr>
              <a:t>results, and the speed of each point on the wheel will correspond to the</a:t>
            </a:r>
          </a:p>
        </p:txBody>
      </p:sp>
      <p:sp>
        <p:nvSpPr>
          <p:cNvPr id="113" name="Rounded Rectangle 112">
            <a:extLst>
              <a:ext uri="{FF2B5EF4-FFF2-40B4-BE49-F238E27FC236}">
                <a16:creationId xmlns:a16="http://schemas.microsoft.com/office/drawing/2014/main" id="{11E6020C-B379-139A-0123-2A4E2470E828}"/>
              </a:ext>
              <a:ext uri="{C183D7F6-B498-43B3-948B-1728B52AA6E4}">
                <adec:decorative xmlns:adec="http://schemas.microsoft.com/office/drawing/2017/decorative" val="1"/>
              </a:ext>
            </a:extLst>
          </p:cNvPr>
          <p:cNvSpPr/>
          <p:nvPr/>
        </p:nvSpPr>
        <p:spPr>
          <a:xfrm>
            <a:off x="10111408" y="4452732"/>
            <a:ext cx="1749287"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ontent Placeholder 3">
            <a:extLst>
              <a:ext uri="{FF2B5EF4-FFF2-40B4-BE49-F238E27FC236}">
                <a16:creationId xmlns:a16="http://schemas.microsoft.com/office/drawing/2014/main" id="{0B21CFDD-DBA5-CC81-8298-708927718DBA}"/>
              </a:ext>
            </a:extLst>
          </p:cNvPr>
          <p:cNvSpPr txBox="1">
            <a:spLocks noGrp="1"/>
          </p:cNvSpPr>
          <p:nvPr>
            <p:ph type="body" idx="3"/>
          </p:nvPr>
        </p:nvSpPr>
        <p:spPr>
          <a:xfrm>
            <a:off x="10096530" y="4440413"/>
            <a:ext cx="1913989"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sum</a:t>
            </a:r>
          </a:p>
        </p:txBody>
      </p:sp>
      <p:sp>
        <p:nvSpPr>
          <p:cNvPr id="116" name="Content Placeholder 4">
            <a:extLst>
              <a:ext uri="{FF2B5EF4-FFF2-40B4-BE49-F238E27FC236}">
                <a16:creationId xmlns:a16="http://schemas.microsoft.com/office/drawing/2014/main" id="{EA13B24A-8152-5A57-F009-E9723B809102}"/>
              </a:ext>
            </a:extLst>
          </p:cNvPr>
          <p:cNvSpPr txBox="1">
            <a:spLocks noGrp="1"/>
          </p:cNvSpPr>
          <p:nvPr>
            <p:ph type="body" idx="4"/>
          </p:nvPr>
        </p:nvSpPr>
        <p:spPr>
          <a:xfrm>
            <a:off x="405142" y="4737845"/>
            <a:ext cx="11435676"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of the velocities from each type of motion.</a:t>
            </a:r>
          </a:p>
        </p:txBody>
      </p:sp>
      <p:sp>
        <p:nvSpPr>
          <p:cNvPr id="124" name="Rectangle 123">
            <a:extLst>
              <a:ext uri="{FF2B5EF4-FFF2-40B4-BE49-F238E27FC236}">
                <a16:creationId xmlns:a16="http://schemas.microsoft.com/office/drawing/2014/main" id="{118A0F25-D767-1D84-955B-BC069B5F3896}"/>
              </a:ext>
              <a:ext uri="{C183D7F6-B498-43B3-948B-1728B52AA6E4}">
                <adec:decorative xmlns:adec="http://schemas.microsoft.com/office/drawing/2017/decorative" val="1"/>
              </a:ext>
            </a:extLst>
          </p:cNvPr>
          <p:cNvSpPr/>
          <p:nvPr/>
        </p:nvSpPr>
        <p:spPr>
          <a:xfrm>
            <a:off x="583093" y="5234611"/>
            <a:ext cx="11025809" cy="109992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Content Placeholder 5">
            <a:extLst>
              <a:ext uri="{FF2B5EF4-FFF2-40B4-BE49-F238E27FC236}">
                <a16:creationId xmlns:a16="http://schemas.microsoft.com/office/drawing/2014/main" id="{9032386F-FEF6-8D02-94B2-81A3C314C3EA}"/>
              </a:ext>
            </a:extLst>
          </p:cNvPr>
          <p:cNvSpPr txBox="1">
            <a:spLocks noGrp="1"/>
          </p:cNvSpPr>
          <p:nvPr>
            <p:ph type="body" idx="5"/>
          </p:nvPr>
        </p:nvSpPr>
        <p:spPr>
          <a:xfrm>
            <a:off x="1027992" y="5211072"/>
            <a:ext cx="10580910" cy="400110"/>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000" dirty="0">
                <a:latin typeface="Times New Roman" pitchFamily="2" charset="0"/>
                <a:cs typeface="Times New Roman" panose="02020603050405020304" pitchFamily="18" charset="0"/>
              </a:rPr>
              <a:t>Notice that the top of the wheel moves at twice the velocity of the CM relative to the ground.</a:t>
            </a:r>
            <a:endParaRPr lang="en-US" sz="2000" dirty="0">
              <a:latin typeface="Times New Roman" pitchFamily="2" charset="0"/>
            </a:endParaRPr>
          </a:p>
        </p:txBody>
      </p:sp>
      <p:sp>
        <p:nvSpPr>
          <p:cNvPr id="119" name="Content Placeholder 6">
            <a:extLst>
              <a:ext uri="{FF2B5EF4-FFF2-40B4-BE49-F238E27FC236}">
                <a16:creationId xmlns:a16="http://schemas.microsoft.com/office/drawing/2014/main" id="{994F8C5F-DD05-5696-F32C-DC94ABCFC27D}"/>
              </a:ext>
            </a:extLst>
          </p:cNvPr>
          <p:cNvSpPr txBox="1">
            <a:spLocks noGrp="1"/>
          </p:cNvSpPr>
          <p:nvPr>
            <p:ph type="body" idx="6"/>
          </p:nvPr>
        </p:nvSpPr>
        <p:spPr>
          <a:xfrm>
            <a:off x="610549" y="5602012"/>
            <a:ext cx="10849726" cy="707886"/>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000" dirty="0">
                <a:latin typeface="Times New Roman" pitchFamily="2" charset="0"/>
                <a:cs typeface="Times New Roman" panose="02020603050405020304" pitchFamily="18" charset="0"/>
              </a:rPr>
              <a:t>...And, the point where the wheel contacts the ground has a net velocity of 0! That means this point is instantaneously at rest with respect to the road, i.e. rolling tires (not slipping) rely on</a:t>
            </a:r>
            <a:endParaRPr lang="en-US" sz="2000" dirty="0">
              <a:latin typeface="Times New Roman" pitchFamily="2" charset="0"/>
            </a:endParaRPr>
          </a:p>
        </p:txBody>
      </p:sp>
      <p:sp>
        <p:nvSpPr>
          <p:cNvPr id="121" name="Rounded Rectangle 120">
            <a:extLst>
              <a:ext uri="{FF2B5EF4-FFF2-40B4-BE49-F238E27FC236}">
                <a16:creationId xmlns:a16="http://schemas.microsoft.com/office/drawing/2014/main" id="{1AE0D35C-18A5-DF24-AD54-3BA393127C1E}"/>
              </a:ext>
              <a:ext uri="{C183D7F6-B498-43B3-948B-1728B52AA6E4}">
                <adec:decorative xmlns:adec="http://schemas.microsoft.com/office/drawing/2017/decorative" val="1"/>
              </a:ext>
            </a:extLst>
          </p:cNvPr>
          <p:cNvSpPr/>
          <p:nvPr/>
        </p:nvSpPr>
        <p:spPr>
          <a:xfrm>
            <a:off x="9353083" y="5921431"/>
            <a:ext cx="1857221" cy="3354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Content Placeholder 7">
            <a:extLst>
              <a:ext uri="{FF2B5EF4-FFF2-40B4-BE49-F238E27FC236}">
                <a16:creationId xmlns:a16="http://schemas.microsoft.com/office/drawing/2014/main" id="{430CA175-AC5F-EDBE-5DB7-333BC2EE591B}"/>
              </a:ext>
            </a:extLst>
          </p:cNvPr>
          <p:cNvSpPr txBox="1">
            <a:spLocks noGrp="1"/>
          </p:cNvSpPr>
          <p:nvPr>
            <p:ph type="body" idx="7"/>
          </p:nvPr>
        </p:nvSpPr>
        <p:spPr>
          <a:xfrm>
            <a:off x="9357533" y="5880261"/>
            <a:ext cx="2291675" cy="369332"/>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static friction</a:t>
            </a:r>
          </a:p>
        </p:txBody>
      </p:sp>
      <p:sp>
        <p:nvSpPr>
          <p:cNvPr id="4" name="Content Placeholder 8">
            <a:extLst>
              <a:ext uri="{FF2B5EF4-FFF2-40B4-BE49-F238E27FC236}">
                <a16:creationId xmlns:a16="http://schemas.microsoft.com/office/drawing/2014/main" id="{123C4DAF-C0CD-D26B-3CCF-26E60593BF28}"/>
              </a:ext>
            </a:extLst>
          </p:cNvPr>
          <p:cNvSpPr txBox="1">
            <a:spLocks noGrp="1"/>
          </p:cNvSpPr>
          <p:nvPr>
            <p:ph type="body" idx="8"/>
          </p:nvPr>
        </p:nvSpPr>
        <p:spPr>
          <a:xfrm>
            <a:off x="11183081" y="5904613"/>
            <a:ext cx="208597"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latin typeface="Times New Roman" pitchFamily="2" charset="0"/>
                <a:cs typeface="Times New Roman" panose="02020603050405020304" pitchFamily="18" charset="0"/>
              </a:rPr>
              <a:t>!</a:t>
            </a:r>
            <a:endParaRPr lang="en-US" dirty="0">
              <a:latin typeface="Times New Roman"/>
            </a:endParaRPr>
          </a:p>
        </p:txBody>
      </p:sp>
      <p:grpSp>
        <p:nvGrpSpPr>
          <p:cNvPr id="112" name="Group 111">
            <a:extLst>
              <a:ext uri="{FF2B5EF4-FFF2-40B4-BE49-F238E27FC236}">
                <a16:creationId xmlns:a16="http://schemas.microsoft.com/office/drawing/2014/main" id="{3332F20A-E88F-8279-A449-0023B455F0C9}"/>
              </a:ext>
            </a:extLst>
          </p:cNvPr>
          <p:cNvGrpSpPr/>
          <p:nvPr/>
        </p:nvGrpSpPr>
        <p:grpSpPr>
          <a:xfrm>
            <a:off x="221053" y="733916"/>
            <a:ext cx="11970947" cy="3399253"/>
            <a:chOff x="221053" y="879688"/>
            <a:chExt cx="11970947" cy="3399253"/>
          </a:xfrm>
        </p:grpSpPr>
        <p:grpSp>
          <p:nvGrpSpPr>
            <p:cNvPr id="96" name="Group 95">
              <a:extLst>
                <a:ext uri="{FF2B5EF4-FFF2-40B4-BE49-F238E27FC236}">
                  <a16:creationId xmlns:a16="http://schemas.microsoft.com/office/drawing/2014/main" id="{0BE289A0-BC25-BCB7-F548-EF833568A0C9}"/>
                </a:ext>
              </a:extLst>
            </p:cNvPr>
            <p:cNvGrpSpPr/>
            <p:nvPr/>
          </p:nvGrpSpPr>
          <p:grpSpPr>
            <a:xfrm>
              <a:off x="221053" y="879688"/>
              <a:ext cx="4214191" cy="3037839"/>
              <a:chOff x="236293" y="1931248"/>
              <a:chExt cx="4214191" cy="3037839"/>
            </a:xfrm>
          </p:grpSpPr>
          <p:sp>
            <p:nvSpPr>
              <p:cNvPr id="40" name="TextBox 39">
                <a:extLst>
                  <a:ext uri="{FF2B5EF4-FFF2-40B4-BE49-F238E27FC236}">
                    <a16:creationId xmlns:a16="http://schemas.microsoft.com/office/drawing/2014/main" id="{0FE36FB7-A398-5FDC-713F-978B01B7C61F}"/>
                  </a:ext>
                </a:extLst>
              </p:cNvPr>
              <p:cNvSpPr txBox="1"/>
              <p:nvPr/>
            </p:nvSpPr>
            <p:spPr>
              <a:xfrm>
                <a:off x="236293" y="1931248"/>
                <a:ext cx="4214191" cy="461665"/>
              </a:xfrm>
              <a:prstGeom prst="rect">
                <a:avLst/>
              </a:prstGeom>
              <a:noFill/>
            </p:spPr>
            <p:txBody>
              <a:bodyPr wrap="square" rtlCol="0">
                <a:spAutoFit/>
              </a:bodyPr>
              <a:lstStyle/>
              <a:p>
                <a:r>
                  <a:rPr lang="en-US" sz="2400" b="1" dirty="0">
                    <a:solidFill>
                      <a:srgbClr val="002495"/>
                    </a:solidFill>
                  </a:rPr>
                  <a:t>Pure Translational Motion</a:t>
                </a:r>
              </a:p>
            </p:txBody>
          </p:sp>
          <p:pic>
            <p:nvPicPr>
              <p:cNvPr id="8" name="Picture 7">
                <a:extLst>
                  <a:ext uri="{FF2B5EF4-FFF2-40B4-BE49-F238E27FC236}">
                    <a16:creationId xmlns:a16="http://schemas.microsoft.com/office/drawing/2014/main" id="{1DAB3AEC-6375-F9AC-CCDA-656C03282555}"/>
                  </a:ext>
                </a:extLst>
              </p:cNvPr>
              <p:cNvPicPr>
                <a:picLocks noChangeAspect="1"/>
              </p:cNvPicPr>
              <p:nvPr/>
            </p:nvPicPr>
            <p:blipFill>
              <a:blip r:embed="rId3"/>
              <a:srcRect l="70204" t="22205" r="9398" b="50175"/>
              <a:stretch/>
            </p:blipFill>
            <p:spPr>
              <a:xfrm>
                <a:off x="380301" y="2829330"/>
                <a:ext cx="3298677" cy="2139757"/>
              </a:xfrm>
              <a:prstGeom prst="rect">
                <a:avLst/>
              </a:prstGeom>
            </p:spPr>
          </p:pic>
          <p:sp>
            <p:nvSpPr>
              <p:cNvPr id="7" name="Rectangle 6">
                <a:extLst>
                  <a:ext uri="{FF2B5EF4-FFF2-40B4-BE49-F238E27FC236}">
                    <a16:creationId xmlns:a16="http://schemas.microsoft.com/office/drawing/2014/main" id="{5EE8372F-2E37-82FB-866E-85838A62D612}"/>
                  </a:ext>
                </a:extLst>
              </p:cNvPr>
              <p:cNvSpPr/>
              <p:nvPr/>
            </p:nvSpPr>
            <p:spPr>
              <a:xfrm rot="19034367">
                <a:off x="423029" y="2772818"/>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3A170D8-12D2-5CCD-C5BB-8C18D8A237AE}"/>
                  </a:ext>
                </a:extLst>
              </p:cNvPr>
              <p:cNvSpPr/>
              <p:nvPr/>
            </p:nvSpPr>
            <p:spPr>
              <a:xfrm>
                <a:off x="2506779" y="4524706"/>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C9844F1-E28D-E545-CA0F-1AA2AF5E1E85}"/>
                  </a:ext>
                </a:extLst>
              </p:cNvPr>
              <p:cNvSpPr/>
              <p:nvPr/>
            </p:nvSpPr>
            <p:spPr>
              <a:xfrm>
                <a:off x="2707101" y="38719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E3B9ED9-597F-ADB3-F0AC-936C81AD36E6}"/>
                  </a:ext>
                </a:extLst>
              </p:cNvPr>
              <p:cNvSpPr/>
              <p:nvPr/>
            </p:nvSpPr>
            <p:spPr>
              <a:xfrm>
                <a:off x="887826" y="386240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8EAC9A9-13F5-02CE-F37E-32D1559424DA}"/>
                  </a:ext>
                </a:extLst>
              </p:cNvPr>
              <p:cNvSpPr/>
              <p:nvPr/>
            </p:nvSpPr>
            <p:spPr>
              <a:xfrm>
                <a:off x="1770476" y="29321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32829165-4FDD-23F1-29DA-D7DE384B6EA0}"/>
                  </a:ext>
                </a:extLst>
              </p:cNvPr>
              <p:cNvCxnSpPr>
                <a:cxnSpLocks/>
                <a:stCxn id="14" idx="6"/>
              </p:cNvCxnSpPr>
              <p:nvPr/>
            </p:nvCxnSpPr>
            <p:spPr>
              <a:xfrm>
                <a:off x="1881572" y="2987680"/>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0B8CD9F-E44C-D507-8F26-A526F73FD986}"/>
                  </a:ext>
                </a:extLst>
              </p:cNvPr>
              <p:cNvCxnSpPr/>
              <p:nvPr/>
            </p:nvCxnSpPr>
            <p:spPr>
              <a:xfrm flipV="1">
                <a:off x="1903797" y="4826212"/>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89CC650-07D0-E0D4-A9A9-78C0DDA64CEF}"/>
                  </a:ext>
                </a:extLst>
              </p:cNvPr>
              <p:cNvCxnSpPr/>
              <p:nvPr/>
            </p:nvCxnSpPr>
            <p:spPr>
              <a:xfrm flipV="1">
                <a:off x="995747" y="3914987"/>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8B24667-5FB5-9BEF-D17B-FABDBEB5E296}"/>
                  </a:ext>
                </a:extLst>
              </p:cNvPr>
              <p:cNvSpPr txBox="1"/>
              <p:nvPr/>
            </p:nvSpPr>
            <p:spPr>
              <a:xfrm>
                <a:off x="2199576" y="249576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FC71C063-4E48-00FC-A08B-0B730D5F78F0}"/>
                  </a:ext>
                </a:extLst>
              </p:cNvPr>
              <p:cNvSpPr txBox="1"/>
              <p:nvPr/>
            </p:nvSpPr>
            <p:spPr>
              <a:xfrm>
                <a:off x="450151" y="375941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3F43BC8A-F013-FF11-1A80-2F514EAB3001}"/>
                  </a:ext>
                </a:extLst>
              </p:cNvPr>
              <p:cNvSpPr txBox="1"/>
              <p:nvPr/>
            </p:nvSpPr>
            <p:spPr>
              <a:xfrm>
                <a:off x="400621" y="2733887"/>
                <a:ext cx="1117600" cy="400110"/>
              </a:xfrm>
              <a:prstGeom prst="rect">
                <a:avLst/>
              </a:prstGeom>
              <a:noFill/>
            </p:spPr>
            <p:txBody>
              <a:bodyPr wrap="square" rtlCol="0">
                <a:spAutoFit/>
              </a:bodyPr>
              <a:lstStyle/>
              <a:p>
                <a:r>
                  <a:rPr lang="en-US" sz="2000" i="1" dirty="0">
                    <a:latin typeface="Symbol" pitchFamily="2" charset="2"/>
                  </a:rPr>
                  <a:t>w</a:t>
                </a:r>
                <a:r>
                  <a:rPr lang="en-US" sz="2000" dirty="0"/>
                  <a:t> </a:t>
                </a:r>
                <a:r>
                  <a:rPr lang="en-US" sz="2000" dirty="0">
                    <a:latin typeface="Times" pitchFamily="2" charset="0"/>
                  </a:rPr>
                  <a:t>= 0</a:t>
                </a:r>
              </a:p>
            </p:txBody>
          </p:sp>
          <p:sp>
            <p:nvSpPr>
              <p:cNvPr id="88" name="TextBox 87">
                <a:extLst>
                  <a:ext uri="{FF2B5EF4-FFF2-40B4-BE49-F238E27FC236}">
                    <a16:creationId xmlns:a16="http://schemas.microsoft.com/office/drawing/2014/main" id="{450F8B72-0218-417C-35F0-D2FD70226CC0}"/>
                  </a:ext>
                </a:extLst>
              </p:cNvPr>
              <p:cNvSpPr txBox="1"/>
              <p:nvPr/>
            </p:nvSpPr>
            <p:spPr>
              <a:xfrm>
                <a:off x="2538830" y="4370983"/>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grpSp>
        <p:grpSp>
          <p:nvGrpSpPr>
            <p:cNvPr id="99" name="Group 98">
              <a:extLst>
                <a:ext uri="{FF2B5EF4-FFF2-40B4-BE49-F238E27FC236}">
                  <a16:creationId xmlns:a16="http://schemas.microsoft.com/office/drawing/2014/main" id="{9E39926A-B280-640A-D14C-4E45B2CADD84}"/>
                </a:ext>
              </a:extLst>
            </p:cNvPr>
            <p:cNvGrpSpPr/>
            <p:nvPr/>
          </p:nvGrpSpPr>
          <p:grpSpPr>
            <a:xfrm>
              <a:off x="4591879" y="900094"/>
              <a:ext cx="4353113" cy="2947420"/>
              <a:chOff x="8401879" y="2606974"/>
              <a:chExt cx="4353113" cy="2947420"/>
            </a:xfrm>
          </p:grpSpPr>
          <p:grpSp>
            <p:nvGrpSpPr>
              <p:cNvPr id="97" name="Group 96">
                <a:extLst>
                  <a:ext uri="{FF2B5EF4-FFF2-40B4-BE49-F238E27FC236}">
                    <a16:creationId xmlns:a16="http://schemas.microsoft.com/office/drawing/2014/main" id="{6A31F061-92A0-C2F8-B733-9C092A7C009A}"/>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CE08A1D3-5D1B-796D-EE8B-5E97C189FEC4}"/>
                    </a:ext>
                  </a:extLst>
                </p:cNvPr>
                <p:cNvGrpSpPr/>
                <p:nvPr/>
              </p:nvGrpSpPr>
              <p:grpSpPr>
                <a:xfrm>
                  <a:off x="5199794" y="3493307"/>
                  <a:ext cx="3790121" cy="2541534"/>
                  <a:chOff x="4068418" y="3400317"/>
                  <a:chExt cx="3790121" cy="2541534"/>
                </a:xfrm>
              </p:grpSpPr>
              <p:pic>
                <p:nvPicPr>
                  <p:cNvPr id="27" name="Picture 26">
                    <a:extLst>
                      <a:ext uri="{FF2B5EF4-FFF2-40B4-BE49-F238E27FC236}">
                        <a16:creationId xmlns:a16="http://schemas.microsoft.com/office/drawing/2014/main" id="{56BDD352-DD96-BEF8-4128-645FB93B3C3F}"/>
                      </a:ext>
                    </a:extLst>
                  </p:cNvPr>
                  <p:cNvPicPr>
                    <a:picLocks noChangeAspect="1"/>
                  </p:cNvPicPr>
                  <p:nvPr/>
                </p:nvPicPr>
                <p:blipFill>
                  <a:blip r:embed="rId3"/>
                  <a:srcRect l="36577" t="22060" r="39986" b="52966"/>
                  <a:stretch/>
                </p:blipFill>
                <p:spPr>
                  <a:xfrm>
                    <a:off x="4068418" y="3896140"/>
                    <a:ext cx="3790121" cy="1934817"/>
                  </a:xfrm>
                  <a:prstGeom prst="rect">
                    <a:avLst/>
                  </a:prstGeom>
                </p:spPr>
              </p:pic>
              <p:sp>
                <p:nvSpPr>
                  <p:cNvPr id="67" name="Freeform 66">
                    <a:extLst>
                      <a:ext uri="{FF2B5EF4-FFF2-40B4-BE49-F238E27FC236}">
                        <a16:creationId xmlns:a16="http://schemas.microsoft.com/office/drawing/2014/main" id="{500122FB-7246-8F07-59AE-ACC7078CA6B1}"/>
                      </a:ext>
                    </a:extLst>
                  </p:cNvPr>
                  <p:cNvSpPr/>
                  <p:nvPr/>
                </p:nvSpPr>
                <p:spPr>
                  <a:xfrm>
                    <a:off x="5489217" y="5766709"/>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7A4930EF-4EF4-455B-748F-CB6843C274A3}"/>
                      </a:ext>
                    </a:extLst>
                  </p:cNvPr>
                  <p:cNvSpPr/>
                  <p:nvPr/>
                </p:nvSpPr>
                <p:spPr>
                  <a:xfrm rot="20726395">
                    <a:off x="6362925" y="5605434"/>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829BF02-E6BF-FA3E-E4C6-55A336CD7F3F}"/>
                      </a:ext>
                    </a:extLst>
                  </p:cNvPr>
                  <p:cNvSpPr/>
                  <p:nvPr/>
                </p:nvSpPr>
                <p:spPr>
                  <a:xfrm rot="18752524">
                    <a:off x="4408763" y="3845505"/>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9EF0619C-5A4E-3AB0-8945-447139CD3234}"/>
                      </a:ext>
                    </a:extLst>
                  </p:cNvPr>
                  <p:cNvSpPr/>
                  <p:nvPr/>
                </p:nvSpPr>
                <p:spPr>
                  <a:xfrm>
                    <a:off x="5791340" y="5830756"/>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C7C2749A-F395-88B8-110E-0FB75F5C3CB5}"/>
                      </a:ext>
                    </a:extLst>
                  </p:cNvPr>
                  <p:cNvSpPr/>
                  <p:nvPr/>
                </p:nvSpPr>
                <p:spPr>
                  <a:xfrm>
                    <a:off x="5802161" y="3985724"/>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AA74339-48A0-C89D-670C-E4BC2BF483F7}"/>
                      </a:ext>
                    </a:extLst>
                  </p:cNvPr>
                  <p:cNvSpPr/>
                  <p:nvPr/>
                </p:nvSpPr>
                <p:spPr>
                  <a:xfrm>
                    <a:off x="6690410" y="493349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20BFB14-6BD8-DE16-9E17-C9720FEA55C7}"/>
                      </a:ext>
                    </a:extLst>
                  </p:cNvPr>
                  <p:cNvSpPr/>
                  <p:nvPr/>
                </p:nvSpPr>
                <p:spPr>
                  <a:xfrm>
                    <a:off x="4867020" y="494431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B875E3A6-38AB-9ABE-13FC-E8FB33C22A8B}"/>
                      </a:ext>
                    </a:extLst>
                  </p:cNvPr>
                  <p:cNvCxnSpPr>
                    <a:cxnSpLocks/>
                  </p:cNvCxnSpPr>
                  <p:nvPr/>
                </p:nvCxnSpPr>
                <p:spPr>
                  <a:xfrm flipV="1">
                    <a:off x="4917696" y="4139148"/>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4AD570D-7AD8-3081-F010-69727188C974}"/>
                      </a:ext>
                    </a:extLst>
                  </p:cNvPr>
                  <p:cNvCxnSpPr>
                    <a:cxnSpLocks/>
                  </p:cNvCxnSpPr>
                  <p:nvPr/>
                </p:nvCxnSpPr>
                <p:spPr>
                  <a:xfrm>
                    <a:off x="5903336" y="4043468"/>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4D62A3F7-005F-956E-BDDD-E81D0636754F}"/>
                      </a:ext>
                    </a:extLst>
                  </p:cNvPr>
                  <p:cNvSpPr/>
                  <p:nvPr/>
                </p:nvSpPr>
                <p:spPr>
                  <a:xfrm>
                    <a:off x="6811994" y="467423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A7C6E97C-2E73-E3ED-7DE4-35FB6697B880}"/>
                      </a:ext>
                    </a:extLst>
                  </p:cNvPr>
                  <p:cNvCxnSpPr>
                    <a:cxnSpLocks/>
                  </p:cNvCxnSpPr>
                  <p:nvPr/>
                </p:nvCxnSpPr>
                <p:spPr>
                  <a:xfrm>
                    <a:off x="6753709" y="5039929"/>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DC31C36-D3F3-19EE-4863-BA5F4DF6AEED}"/>
                      </a:ext>
                    </a:extLst>
                  </p:cNvPr>
                  <p:cNvCxnSpPr>
                    <a:cxnSpLocks/>
                  </p:cNvCxnSpPr>
                  <p:nvPr/>
                </p:nvCxnSpPr>
                <p:spPr>
                  <a:xfrm flipH="1">
                    <a:off x="4958275" y="5898511"/>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85C8C01F-A398-3FA9-EF00-A0E52B255679}"/>
                      </a:ext>
                    </a:extLst>
                  </p:cNvPr>
                  <p:cNvSpPr/>
                  <p:nvPr/>
                </p:nvSpPr>
                <p:spPr>
                  <a:xfrm rot="14793523">
                    <a:off x="4502040" y="4782468"/>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7D7632EC-D9E8-358F-8014-691CD06B676F}"/>
                      </a:ext>
                    </a:extLst>
                  </p:cNvPr>
                  <p:cNvSpPr txBox="1"/>
                  <p:nvPr/>
                </p:nvSpPr>
                <p:spPr>
                  <a:xfrm>
                    <a:off x="5167172" y="3400317"/>
                    <a:ext cx="149875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r>
                      <a:rPr lang="en-US" sz="2400" dirty="0">
                        <a:latin typeface="Times" pitchFamily="2" charset="0"/>
                      </a:rPr>
                      <a:t>=</a:t>
                    </a:r>
                    <a:r>
                      <a:rPr lang="en-US" sz="2400" i="1" dirty="0">
                        <a:latin typeface="Symbol" pitchFamily="2" charset="2"/>
                      </a:rPr>
                      <a:t> </a:t>
                    </a:r>
                    <a:r>
                      <a:rPr lang="en-US" sz="2400" i="1" dirty="0" err="1">
                        <a:latin typeface="Times" pitchFamily="2" charset="0"/>
                      </a:rPr>
                      <a:t>r</a:t>
                    </a:r>
                    <a:r>
                      <a:rPr lang="en-US" sz="2400" i="1" dirty="0" err="1">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7A2AC9CE-2B75-A81E-23C3-04A2422B5661}"/>
                      </a:ext>
                    </a:extLst>
                  </p:cNvPr>
                  <p:cNvSpPr txBox="1"/>
                  <p:nvPr/>
                </p:nvSpPr>
                <p:spPr>
                  <a:xfrm>
                    <a:off x="6509915" y="3585181"/>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1" name="TextBox 90">
                    <a:extLst>
                      <a:ext uri="{FF2B5EF4-FFF2-40B4-BE49-F238E27FC236}">
                        <a16:creationId xmlns:a16="http://schemas.microsoft.com/office/drawing/2014/main" id="{5D04F091-4A86-040F-B1D9-E01DC19AD884}"/>
                      </a:ext>
                    </a:extLst>
                  </p:cNvPr>
                  <p:cNvSpPr txBox="1"/>
                  <p:nvPr/>
                </p:nvSpPr>
                <p:spPr>
                  <a:xfrm>
                    <a:off x="6754296" y="5463579"/>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2" name="TextBox 91">
                    <a:extLst>
                      <a:ext uri="{FF2B5EF4-FFF2-40B4-BE49-F238E27FC236}">
                        <a16:creationId xmlns:a16="http://schemas.microsoft.com/office/drawing/2014/main" id="{B00B3865-32A8-D9A0-212A-DFF7356B7482}"/>
                      </a:ext>
                    </a:extLst>
                  </p:cNvPr>
                  <p:cNvSpPr txBox="1"/>
                  <p:nvPr/>
                </p:nvSpPr>
                <p:spPr>
                  <a:xfrm>
                    <a:off x="4574705" y="5410374"/>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3" name="TextBox 92">
                    <a:extLst>
                      <a:ext uri="{FF2B5EF4-FFF2-40B4-BE49-F238E27FC236}">
                        <a16:creationId xmlns:a16="http://schemas.microsoft.com/office/drawing/2014/main" id="{08DD870F-3271-88EB-0694-774F9C6EF24B}"/>
                      </a:ext>
                    </a:extLst>
                  </p:cNvPr>
                  <p:cNvSpPr txBox="1"/>
                  <p:nvPr/>
                </p:nvSpPr>
                <p:spPr>
                  <a:xfrm>
                    <a:off x="4352868" y="3819643"/>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grpSp>
            <p:sp>
              <p:nvSpPr>
                <p:cNvPr id="22" name="TextBox 21">
                  <a:extLst>
                    <a:ext uri="{FF2B5EF4-FFF2-40B4-BE49-F238E27FC236}">
                      <a16:creationId xmlns:a16="http://schemas.microsoft.com/office/drawing/2014/main" id="{8CEE253A-2CD4-FD3A-53B9-9B71F85F2F29}"/>
                    </a:ext>
                  </a:extLst>
                </p:cNvPr>
                <p:cNvSpPr txBox="1"/>
                <p:nvPr/>
              </p:nvSpPr>
              <p:spPr>
                <a:xfrm>
                  <a:off x="5386041" y="4615803"/>
                  <a:ext cx="685800" cy="461665"/>
                </a:xfrm>
                <a:prstGeom prst="rect">
                  <a:avLst/>
                </a:prstGeom>
                <a:noFill/>
              </p:spPr>
              <p:txBody>
                <a:bodyPr wrap="square" rtlCol="0">
                  <a:spAutoFit/>
                </a:bodyPr>
                <a:lstStyle/>
                <a:p>
                  <a:r>
                    <a:rPr lang="en-US" sz="2400" i="1" dirty="0">
                      <a:latin typeface="Symbol" pitchFamily="2" charset="2"/>
                    </a:rPr>
                    <a:t>w</a:t>
                  </a:r>
                </a:p>
              </p:txBody>
            </p:sp>
          </p:grpSp>
          <p:sp>
            <p:nvSpPr>
              <p:cNvPr id="98" name="TextBox 97">
                <a:extLst>
                  <a:ext uri="{FF2B5EF4-FFF2-40B4-BE49-F238E27FC236}">
                    <a16:creationId xmlns:a16="http://schemas.microsoft.com/office/drawing/2014/main" id="{2DCD73DE-CB33-BD81-502B-E743F71928B1}"/>
                  </a:ext>
                </a:extLst>
              </p:cNvPr>
              <p:cNvSpPr txBox="1"/>
              <p:nvPr/>
            </p:nvSpPr>
            <p:spPr>
              <a:xfrm>
                <a:off x="8540801" y="2606974"/>
                <a:ext cx="4214191" cy="461665"/>
              </a:xfrm>
              <a:prstGeom prst="rect">
                <a:avLst/>
              </a:prstGeom>
              <a:noFill/>
            </p:spPr>
            <p:txBody>
              <a:bodyPr wrap="square" rtlCol="0">
                <a:spAutoFit/>
              </a:bodyPr>
              <a:lstStyle/>
              <a:p>
                <a:r>
                  <a:rPr lang="en-US" sz="2400" b="1" dirty="0">
                    <a:solidFill>
                      <a:srgbClr val="002495"/>
                    </a:solidFill>
                  </a:rPr>
                  <a:t>Pure Rotational Motion</a:t>
                </a:r>
              </a:p>
            </p:txBody>
          </p:sp>
        </p:grpSp>
        <p:sp>
          <p:nvSpPr>
            <p:cNvPr id="3" name="TextBox 2">
              <a:extLst>
                <a:ext uri="{FF2B5EF4-FFF2-40B4-BE49-F238E27FC236}">
                  <a16:creationId xmlns:a16="http://schemas.microsoft.com/office/drawing/2014/main" id="{4D99635A-EA70-D068-E18C-45322B30F5A3}"/>
                </a:ext>
              </a:extLst>
            </p:cNvPr>
            <p:cNvSpPr txBox="1"/>
            <p:nvPr/>
          </p:nvSpPr>
          <p:spPr>
            <a:xfrm>
              <a:off x="4023360" y="2346960"/>
              <a:ext cx="716280" cy="1015663"/>
            </a:xfrm>
            <a:prstGeom prst="rect">
              <a:avLst/>
            </a:prstGeom>
            <a:noFill/>
          </p:spPr>
          <p:txBody>
            <a:bodyPr wrap="square" rtlCol="0">
              <a:spAutoFit/>
            </a:bodyPr>
            <a:lstStyle/>
            <a:p>
              <a:r>
                <a:rPr lang="en-US" sz="6000" dirty="0">
                  <a:latin typeface="Times" pitchFamily="2" charset="0"/>
                </a:rPr>
                <a:t>+</a:t>
              </a:r>
            </a:p>
          </p:txBody>
        </p:sp>
        <p:sp>
          <p:nvSpPr>
            <p:cNvPr id="5" name="TextBox 4">
              <a:extLst>
                <a:ext uri="{FF2B5EF4-FFF2-40B4-BE49-F238E27FC236}">
                  <a16:creationId xmlns:a16="http://schemas.microsoft.com/office/drawing/2014/main" id="{55FAF3DE-0F6E-E5D1-631A-34286FE2D4EC}"/>
                </a:ext>
              </a:extLst>
            </p:cNvPr>
            <p:cNvSpPr txBox="1"/>
            <p:nvPr/>
          </p:nvSpPr>
          <p:spPr>
            <a:xfrm>
              <a:off x="8874034" y="2353180"/>
              <a:ext cx="716280" cy="1015663"/>
            </a:xfrm>
            <a:prstGeom prst="rect">
              <a:avLst/>
            </a:prstGeom>
            <a:noFill/>
          </p:spPr>
          <p:txBody>
            <a:bodyPr wrap="square" rtlCol="0">
              <a:spAutoFit/>
            </a:bodyPr>
            <a:lstStyle/>
            <a:p>
              <a:r>
                <a:rPr lang="en-US" sz="6000" dirty="0">
                  <a:latin typeface="Times" pitchFamily="2" charset="0"/>
                </a:rPr>
                <a:t>=</a:t>
              </a:r>
            </a:p>
          </p:txBody>
        </p:sp>
        <p:sp>
          <p:nvSpPr>
            <p:cNvPr id="6" name="TextBox 5">
              <a:extLst>
                <a:ext uri="{FF2B5EF4-FFF2-40B4-BE49-F238E27FC236}">
                  <a16:creationId xmlns:a16="http://schemas.microsoft.com/office/drawing/2014/main" id="{B2FD7771-0F3E-7A5C-3BA2-FE4494A4A877}"/>
                </a:ext>
              </a:extLst>
            </p:cNvPr>
            <p:cNvSpPr txBox="1"/>
            <p:nvPr/>
          </p:nvSpPr>
          <p:spPr>
            <a:xfrm>
              <a:off x="9180881" y="900094"/>
              <a:ext cx="2584399" cy="461665"/>
            </a:xfrm>
            <a:prstGeom prst="rect">
              <a:avLst/>
            </a:prstGeom>
            <a:noFill/>
          </p:spPr>
          <p:txBody>
            <a:bodyPr wrap="square" rtlCol="0">
              <a:spAutoFit/>
            </a:bodyPr>
            <a:lstStyle/>
            <a:p>
              <a:r>
                <a:rPr lang="en-US" sz="2400" b="1" dirty="0">
                  <a:solidFill>
                    <a:srgbClr val="002495"/>
                  </a:solidFill>
                </a:rPr>
                <a:t>Rolling Motion</a:t>
              </a:r>
            </a:p>
          </p:txBody>
        </p:sp>
        <p:pic>
          <p:nvPicPr>
            <p:cNvPr id="24" name="Picture 23">
              <a:extLst>
                <a:ext uri="{FF2B5EF4-FFF2-40B4-BE49-F238E27FC236}">
                  <a16:creationId xmlns:a16="http://schemas.microsoft.com/office/drawing/2014/main" id="{AC0A3ABF-7DC7-9715-6DDA-20EBCE640947}"/>
                </a:ext>
              </a:extLst>
            </p:cNvPr>
            <p:cNvPicPr>
              <a:picLocks noChangeAspect="1"/>
            </p:cNvPicPr>
            <p:nvPr/>
          </p:nvPicPr>
          <p:blipFill>
            <a:blip r:embed="rId3"/>
            <a:srcRect l="71887" t="22606" r="7286" b="49658"/>
            <a:stretch/>
          </p:blipFill>
          <p:spPr>
            <a:xfrm>
              <a:off x="8823960" y="1828799"/>
              <a:ext cx="3368040" cy="2148841"/>
            </a:xfrm>
            <a:prstGeom prst="rect">
              <a:avLst/>
            </a:prstGeom>
          </p:spPr>
        </p:pic>
        <p:sp>
          <p:nvSpPr>
            <p:cNvPr id="52" name="Arc 51">
              <a:extLst>
                <a:ext uri="{FF2B5EF4-FFF2-40B4-BE49-F238E27FC236}">
                  <a16:creationId xmlns:a16="http://schemas.microsoft.com/office/drawing/2014/main" id="{05E106FB-9A64-DD2A-E96F-3B5BB79692D9}"/>
                </a:ext>
              </a:extLst>
            </p:cNvPr>
            <p:cNvSpPr/>
            <p:nvPr/>
          </p:nvSpPr>
          <p:spPr>
            <a:xfrm rot="14793523">
              <a:off x="8713579" y="2688132"/>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AEB79658-B8F0-5930-755E-7449F302BFEE}"/>
                </a:ext>
              </a:extLst>
            </p:cNvPr>
            <p:cNvSpPr txBox="1"/>
            <p:nvPr/>
          </p:nvSpPr>
          <p:spPr>
            <a:xfrm>
              <a:off x="8481446" y="2428476"/>
              <a:ext cx="685800" cy="461665"/>
            </a:xfrm>
            <a:prstGeom prst="rect">
              <a:avLst/>
            </a:prstGeom>
            <a:noFill/>
          </p:spPr>
          <p:txBody>
            <a:bodyPr wrap="square" rtlCol="0">
              <a:spAutoFit/>
            </a:bodyPr>
            <a:lstStyle/>
            <a:p>
              <a:r>
                <a:rPr lang="en-US" sz="2400" i="1" dirty="0">
                  <a:latin typeface="Symbol" pitchFamily="2" charset="2"/>
                </a:rPr>
                <a:t>w</a:t>
              </a:r>
            </a:p>
          </p:txBody>
        </p:sp>
        <p:sp>
          <p:nvSpPr>
            <p:cNvPr id="54" name="Rectangle 53">
              <a:extLst>
                <a:ext uri="{FF2B5EF4-FFF2-40B4-BE49-F238E27FC236}">
                  <a16:creationId xmlns:a16="http://schemas.microsoft.com/office/drawing/2014/main" id="{5B7E8AC0-EA65-DDD6-DC03-B6EA2593E88C}"/>
                </a:ext>
              </a:extLst>
            </p:cNvPr>
            <p:cNvSpPr/>
            <p:nvPr/>
          </p:nvSpPr>
          <p:spPr>
            <a:xfrm rot="18752524">
              <a:off x="8605063" y="1720688"/>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0C4DB7A-E83E-C9D7-2B0C-F571DFF1E7BD}"/>
                </a:ext>
              </a:extLst>
            </p:cNvPr>
            <p:cNvSpPr/>
            <p:nvPr/>
          </p:nvSpPr>
          <p:spPr>
            <a:xfrm>
              <a:off x="10952023" y="2574128"/>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32E5BE13-2B99-E407-A252-8E3FA21F529C}"/>
                </a:ext>
              </a:extLst>
            </p:cNvPr>
            <p:cNvSpPr/>
            <p:nvPr/>
          </p:nvSpPr>
          <p:spPr>
            <a:xfrm>
              <a:off x="9048670" y="285623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24DD75D8-06B1-A025-188F-4719DF17F541}"/>
                </a:ext>
              </a:extLst>
            </p:cNvPr>
            <p:cNvSpPr/>
            <p:nvPr/>
          </p:nvSpPr>
          <p:spPr>
            <a:xfrm>
              <a:off x="9963070" y="1898289"/>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2F818C2E-8D86-405A-8A23-EEAB76177797}"/>
                </a:ext>
              </a:extLst>
            </p:cNvPr>
            <p:cNvSpPr/>
            <p:nvPr/>
          </p:nvSpPr>
          <p:spPr>
            <a:xfrm>
              <a:off x="10865029" y="283757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 name="Straight Arrow Connector 59">
              <a:extLst>
                <a:ext uri="{FF2B5EF4-FFF2-40B4-BE49-F238E27FC236}">
                  <a16:creationId xmlns:a16="http://schemas.microsoft.com/office/drawing/2014/main" id="{12972B2D-81E0-9409-08E0-985C18E23B55}"/>
                </a:ext>
              </a:extLst>
            </p:cNvPr>
            <p:cNvCxnSpPr>
              <a:cxnSpLocks/>
            </p:cNvCxnSpPr>
            <p:nvPr/>
          </p:nvCxnSpPr>
          <p:spPr>
            <a:xfrm>
              <a:off x="10043965" y="2885302"/>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80B8545-F294-49ED-CABA-8162B41AB03D}"/>
                </a:ext>
              </a:extLst>
            </p:cNvPr>
            <p:cNvSpPr txBox="1"/>
            <p:nvPr/>
          </p:nvSpPr>
          <p:spPr>
            <a:xfrm>
              <a:off x="10513694" y="2470558"/>
              <a:ext cx="675429" cy="369332"/>
            </a:xfrm>
            <a:prstGeom prst="rect">
              <a:avLst/>
            </a:prstGeom>
            <a:noFill/>
          </p:spPr>
          <p:txBody>
            <a:bodyPr wrap="square" rtlCol="0">
              <a:spAutoFit/>
            </a:bodyPr>
            <a:lstStyle/>
            <a:p>
              <a:r>
                <a:rPr lang="en-US" i="1" dirty="0" err="1">
                  <a:solidFill>
                    <a:srgbClr val="00AAE6"/>
                  </a:solidFill>
                  <a:latin typeface="Times" pitchFamily="2" charset="0"/>
                </a:rPr>
                <a:t>v</a:t>
              </a:r>
              <a:r>
                <a:rPr lang="en-US" i="1" baseline="-25000" dirty="0" err="1">
                  <a:solidFill>
                    <a:srgbClr val="00AAE6"/>
                  </a:solidFill>
                  <a:latin typeface="Times" pitchFamily="2" charset="0"/>
                </a:rPr>
                <a:t>cm</a:t>
              </a:r>
              <a:r>
                <a:rPr lang="en-US" i="1" dirty="0">
                  <a:solidFill>
                    <a:srgbClr val="00AAE6"/>
                  </a:solidFill>
                  <a:latin typeface="Symbol" pitchFamily="2" charset="2"/>
                </a:rPr>
                <a:t> </a:t>
              </a:r>
            </a:p>
          </p:txBody>
        </p:sp>
        <p:cxnSp>
          <p:nvCxnSpPr>
            <p:cNvPr id="62" name="Straight Arrow Connector 61">
              <a:extLst>
                <a:ext uri="{FF2B5EF4-FFF2-40B4-BE49-F238E27FC236}">
                  <a16:creationId xmlns:a16="http://schemas.microsoft.com/office/drawing/2014/main" id="{70581E45-C2AC-B525-B325-B812E79D4416}"/>
                </a:ext>
              </a:extLst>
            </p:cNvPr>
            <p:cNvCxnSpPr>
              <a:cxnSpLocks/>
            </p:cNvCxnSpPr>
            <p:nvPr/>
          </p:nvCxnSpPr>
          <p:spPr>
            <a:xfrm>
              <a:off x="10062625" y="1939800"/>
              <a:ext cx="14932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98A1759-BD32-12D1-8389-C44AABD31BA8}"/>
                </a:ext>
              </a:extLst>
            </p:cNvPr>
            <p:cNvSpPr txBox="1"/>
            <p:nvPr/>
          </p:nvSpPr>
          <p:spPr>
            <a:xfrm>
              <a:off x="11185498" y="1444191"/>
              <a:ext cx="1006502" cy="461665"/>
            </a:xfrm>
            <a:prstGeom prst="rect">
              <a:avLst/>
            </a:prstGeom>
            <a:noFill/>
          </p:spPr>
          <p:txBody>
            <a:bodyPr wrap="square" rtlCol="0">
              <a:spAutoFit/>
            </a:bodyPr>
            <a:lstStyle/>
            <a:p>
              <a:r>
                <a:rPr lang="en-US" sz="2400" dirty="0">
                  <a:latin typeface="Times" pitchFamily="2" charset="0"/>
                </a:rPr>
                <a:t>2</a:t>
              </a:r>
              <a:r>
                <a:rPr lang="en-US" sz="2400" i="1" dirty="0">
                  <a:latin typeface="Times" pitchFamily="2" charset="0"/>
                </a:rPr>
                <a:t>v</a:t>
              </a:r>
              <a:r>
                <a:rPr lang="en-US" sz="2400" i="1" baseline="-25000" dirty="0">
                  <a:latin typeface="Times" pitchFamily="2" charset="0"/>
                </a:rPr>
                <a:t>cm</a:t>
              </a:r>
              <a:r>
                <a:rPr lang="en-US" sz="2400" i="1" dirty="0">
                  <a:latin typeface="Symbol" pitchFamily="2" charset="2"/>
                </a:rPr>
                <a:t> </a:t>
              </a:r>
            </a:p>
          </p:txBody>
        </p:sp>
        <p:sp>
          <p:nvSpPr>
            <p:cNvPr id="77" name="Rectangle 76">
              <a:extLst>
                <a:ext uri="{FF2B5EF4-FFF2-40B4-BE49-F238E27FC236}">
                  <a16:creationId xmlns:a16="http://schemas.microsoft.com/office/drawing/2014/main" id="{6B08D021-5D60-36D7-10C8-70BE18621288}"/>
                </a:ext>
              </a:extLst>
            </p:cNvPr>
            <p:cNvSpPr/>
            <p:nvPr/>
          </p:nvSpPr>
          <p:spPr>
            <a:xfrm>
              <a:off x="10687654" y="3483429"/>
              <a:ext cx="1230647" cy="2736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960F6CE1-3970-7188-3330-A8CC12731393}"/>
                </a:ext>
              </a:extLst>
            </p:cNvPr>
            <p:cNvPicPr>
              <a:picLocks noChangeAspect="1"/>
            </p:cNvPicPr>
            <p:nvPr/>
          </p:nvPicPr>
          <p:blipFill>
            <a:blip r:embed="rId4"/>
            <a:stretch>
              <a:fillRect/>
            </a:stretch>
          </p:blipFill>
          <p:spPr>
            <a:xfrm>
              <a:off x="11364364" y="3395531"/>
              <a:ext cx="677632" cy="322682"/>
            </a:xfrm>
            <a:prstGeom prst="rect">
              <a:avLst/>
            </a:prstGeom>
          </p:spPr>
        </p:pic>
        <p:cxnSp>
          <p:nvCxnSpPr>
            <p:cNvPr id="78" name="Straight Arrow Connector 77">
              <a:extLst>
                <a:ext uri="{FF2B5EF4-FFF2-40B4-BE49-F238E27FC236}">
                  <a16:creationId xmlns:a16="http://schemas.microsoft.com/office/drawing/2014/main" id="{54C58953-8343-57B0-34EC-740655590D54}"/>
                </a:ext>
              </a:extLst>
            </p:cNvPr>
            <p:cNvCxnSpPr>
              <a:cxnSpLocks/>
              <a:stCxn id="57" idx="0"/>
            </p:cNvCxnSpPr>
            <p:nvPr/>
          </p:nvCxnSpPr>
          <p:spPr>
            <a:xfrm flipV="1">
              <a:off x="9104218" y="2001076"/>
              <a:ext cx="344582" cy="85515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pic>
          <p:nvPicPr>
            <p:cNvPr id="106" name="Picture 105">
              <a:extLst>
                <a:ext uri="{FF2B5EF4-FFF2-40B4-BE49-F238E27FC236}">
                  <a16:creationId xmlns:a16="http://schemas.microsoft.com/office/drawing/2014/main" id="{F9874670-49E9-A589-15D8-3BCA96E058F1}"/>
                </a:ext>
              </a:extLst>
            </p:cNvPr>
            <p:cNvPicPr>
              <a:picLocks noChangeAspect="1"/>
            </p:cNvPicPr>
            <p:nvPr/>
          </p:nvPicPr>
          <p:blipFill>
            <a:blip r:embed="rId4"/>
            <a:stretch>
              <a:fillRect/>
            </a:stretch>
          </p:blipFill>
          <p:spPr>
            <a:xfrm>
              <a:off x="8851640" y="1661365"/>
              <a:ext cx="683077" cy="325275"/>
            </a:xfrm>
            <a:prstGeom prst="rect">
              <a:avLst/>
            </a:prstGeom>
          </p:spPr>
        </p:pic>
        <p:sp>
          <p:nvSpPr>
            <p:cNvPr id="107" name="TextBox 106">
              <a:extLst>
                <a:ext uri="{FF2B5EF4-FFF2-40B4-BE49-F238E27FC236}">
                  <a16:creationId xmlns:a16="http://schemas.microsoft.com/office/drawing/2014/main" id="{98FF3DFA-B9BD-ED40-B421-335FC86AEDFA}"/>
                </a:ext>
              </a:extLst>
            </p:cNvPr>
            <p:cNvSpPr txBox="1"/>
            <p:nvPr/>
          </p:nvSpPr>
          <p:spPr>
            <a:xfrm>
              <a:off x="9359808" y="3817276"/>
              <a:ext cx="1948895" cy="461665"/>
            </a:xfrm>
            <a:prstGeom prst="rect">
              <a:avLst/>
            </a:prstGeom>
            <a:noFill/>
          </p:spPr>
          <p:txBody>
            <a:bodyPr wrap="square" rtlCol="0">
              <a:spAutoFit/>
            </a:bodyPr>
            <a:lstStyle/>
            <a:p>
              <a:r>
                <a:rPr lang="en-US" sz="2400" i="1" dirty="0" err="1">
                  <a:latin typeface="Times" pitchFamily="2" charset="0"/>
                </a:rPr>
                <a:t>v</a:t>
              </a:r>
              <a:r>
                <a:rPr lang="en-US" sz="2400" baseline="-25000" dirty="0" err="1">
                  <a:latin typeface="Times" pitchFamily="2" charset="0"/>
                </a:rPr>
                <a:t>contact</a:t>
              </a:r>
              <a:r>
                <a:rPr lang="en-US" sz="2400" dirty="0">
                  <a:latin typeface="Times" pitchFamily="2" charset="0"/>
                </a:rPr>
                <a:t> = 0</a:t>
              </a:r>
              <a:r>
                <a:rPr lang="en-US" sz="2400" i="1" dirty="0">
                  <a:latin typeface="Symbol" pitchFamily="2" charset="2"/>
                </a:rPr>
                <a:t> </a:t>
              </a:r>
            </a:p>
          </p:txBody>
        </p:sp>
        <p:cxnSp>
          <p:nvCxnSpPr>
            <p:cNvPr id="109" name="Straight Arrow Connector 108">
              <a:extLst>
                <a:ext uri="{FF2B5EF4-FFF2-40B4-BE49-F238E27FC236}">
                  <a16:creationId xmlns:a16="http://schemas.microsoft.com/office/drawing/2014/main" id="{50670AA0-343F-1E1F-87B2-6C82E12EFB3E}"/>
                </a:ext>
              </a:extLst>
            </p:cNvPr>
            <p:cNvCxnSpPr/>
            <p:nvPr/>
          </p:nvCxnSpPr>
          <p:spPr>
            <a:xfrm flipV="1">
              <a:off x="9778482" y="3862873"/>
              <a:ext cx="180391" cy="1741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6CF5E540-999B-A42C-D2D8-EE5CD15336B6}"/>
                </a:ext>
              </a:extLst>
            </p:cNvPr>
            <p:cNvSpPr txBox="1"/>
            <p:nvPr/>
          </p:nvSpPr>
          <p:spPr>
            <a:xfrm>
              <a:off x="7674333" y="2327082"/>
              <a:ext cx="716280" cy="1015663"/>
            </a:xfrm>
            <a:prstGeom prst="rect">
              <a:avLst/>
            </a:prstGeom>
            <a:noFill/>
          </p:spPr>
          <p:txBody>
            <a:bodyPr wrap="square" rtlCol="0">
              <a:spAutoFit/>
            </a:bodyPr>
            <a:lstStyle/>
            <a:p>
              <a:r>
                <a:rPr lang="en-US" sz="6000" dirty="0">
                  <a:latin typeface="Times" pitchFamily="2" charset="0"/>
                </a:rPr>
                <a:t>=</a:t>
              </a:r>
            </a:p>
          </p:txBody>
        </p:sp>
        <p:cxnSp>
          <p:nvCxnSpPr>
            <p:cNvPr id="65" name="Straight Arrow Connector 64">
              <a:extLst>
                <a:ext uri="{FF2B5EF4-FFF2-40B4-BE49-F238E27FC236}">
                  <a16:creationId xmlns:a16="http://schemas.microsoft.com/office/drawing/2014/main" id="{A3D3722A-47FE-D24B-3163-CC2312D359E1}"/>
                </a:ext>
              </a:extLst>
            </p:cNvPr>
            <p:cNvCxnSpPr>
              <a:cxnSpLocks/>
            </p:cNvCxnSpPr>
            <p:nvPr/>
          </p:nvCxnSpPr>
          <p:spPr>
            <a:xfrm>
              <a:off x="10950321" y="2917600"/>
              <a:ext cx="327279" cy="726746"/>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724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dissolve">
                                      <p:cBhvr>
                                        <p:cTn id="7" dur="500"/>
                                        <p:tgtEl>
                                          <p:spTgt spid="10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dissolve">
                                      <p:cBhvr>
                                        <p:cTn id="10" dur="500"/>
                                        <p:tgtEl>
                                          <p:spTgt spid="11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3"/>
                                        </p:tgtEl>
                                        <p:attrNameLst>
                                          <p:attrName>style.visibility</p:attrName>
                                        </p:attrNameLst>
                                      </p:cBhvr>
                                      <p:to>
                                        <p:strVal val="visible"/>
                                      </p:to>
                                    </p:set>
                                    <p:animEffect transition="in" filter="dissolve">
                                      <p:cBhvr>
                                        <p:cTn id="13" dur="500"/>
                                        <p:tgtEl>
                                          <p:spTgt spid="11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14"/>
                                        </p:tgtEl>
                                        <p:attrNameLst>
                                          <p:attrName>style.visibility</p:attrName>
                                        </p:attrNameLst>
                                      </p:cBhvr>
                                      <p:to>
                                        <p:strVal val="visible"/>
                                      </p:to>
                                    </p:set>
                                    <p:animEffect transition="in" filter="dissolve">
                                      <p:cBhvr>
                                        <p:cTn id="18" dur="500"/>
                                        <p:tgtEl>
                                          <p:spTgt spid="11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8"/>
                                        </p:tgtEl>
                                        <p:attrNameLst>
                                          <p:attrName>style.visibility</p:attrName>
                                        </p:attrNameLst>
                                      </p:cBhvr>
                                      <p:to>
                                        <p:strVal val="visible"/>
                                      </p:to>
                                    </p:set>
                                    <p:animEffect transition="in" filter="dissolve">
                                      <p:cBhvr>
                                        <p:cTn id="23" dur="500"/>
                                        <p:tgtEl>
                                          <p:spTgt spid="11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24"/>
                                        </p:tgtEl>
                                        <p:attrNameLst>
                                          <p:attrName>style.visibility</p:attrName>
                                        </p:attrNameLst>
                                      </p:cBhvr>
                                      <p:to>
                                        <p:strVal val="visible"/>
                                      </p:to>
                                    </p:set>
                                    <p:animEffect transition="in" filter="dissolve">
                                      <p:cBhvr>
                                        <p:cTn id="26" dur="500"/>
                                        <p:tgtEl>
                                          <p:spTgt spid="12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9"/>
                                        </p:tgtEl>
                                        <p:attrNameLst>
                                          <p:attrName>style.visibility</p:attrName>
                                        </p:attrNameLst>
                                      </p:cBhvr>
                                      <p:to>
                                        <p:strVal val="visible"/>
                                      </p:to>
                                    </p:set>
                                    <p:animEffect transition="in" filter="dissolve">
                                      <p:cBhvr>
                                        <p:cTn id="29" dur="500"/>
                                        <p:tgtEl>
                                          <p:spTgt spid="11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21"/>
                                        </p:tgtEl>
                                        <p:attrNameLst>
                                          <p:attrName>style.visibility</p:attrName>
                                        </p:attrNameLst>
                                      </p:cBhvr>
                                      <p:to>
                                        <p:strVal val="visible"/>
                                      </p:to>
                                    </p:set>
                                    <p:animEffect transition="in" filter="dissolve">
                                      <p:cBhvr>
                                        <p:cTn id="35" dur="500"/>
                                        <p:tgtEl>
                                          <p:spTgt spid="12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dissolve">
                                      <p:cBhvr>
                                        <p:cTn id="40"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13" grpId="0" animBg="1"/>
      <p:bldP spid="114" grpId="0"/>
      <p:bldP spid="116" grpId="0"/>
      <p:bldP spid="124" grpId="0" animBg="1"/>
      <p:bldP spid="118" grpId="0"/>
      <p:bldP spid="119" grpId="0"/>
      <p:bldP spid="121" grpId="0" animBg="1"/>
      <p:bldP spid="120"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CD0D-A5FE-C21F-EE75-38DAF6B35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E268A-C8A9-0254-C0A3-D8C6D1D3E3DF}"/>
              </a:ext>
            </a:extLst>
          </p:cNvPr>
          <p:cNvSpPr>
            <a:spLocks noGrp="1"/>
          </p:cNvSpPr>
          <p:nvPr>
            <p:ph type="title"/>
          </p:nvPr>
        </p:nvSpPr>
        <p:spPr>
          <a:xfrm>
            <a:off x="639874" y="142278"/>
            <a:ext cx="10820401" cy="849312"/>
          </a:xfrm>
        </p:spPr>
        <p:txBody>
          <a:bodyPr>
            <a:normAutofit/>
          </a:bodyPr>
          <a:lstStyle/>
          <a:p>
            <a:r>
              <a:rPr lang="en-US" b="1" dirty="0">
                <a:latin typeface="Times New Roman" panose="02020603050405020304" pitchFamily="18" charset="0"/>
                <a:ea typeface="Calibri" charset="0"/>
                <a:cs typeface="Times New Roman" panose="02020603050405020304" pitchFamily="18" charset="0"/>
              </a:rPr>
              <a:t>8.6</a:t>
            </a:r>
            <a:r>
              <a:rPr lang="en-US" dirty="0">
                <a:latin typeface="Times New Roman" panose="02020603050405020304" pitchFamily="18" charset="0"/>
                <a:ea typeface="Calibri" charset="0"/>
                <a:cs typeface="Times New Roman" panose="02020603050405020304" pitchFamily="18" charset="0"/>
              </a:rPr>
              <a:t> Rolling Motion (4 of 4)</a:t>
            </a:r>
            <a:endParaRPr lang="en-US" sz="3000" dirty="0">
              <a:latin typeface="Times New Roman" panose="02020603050405020304" pitchFamily="18" charset="0"/>
              <a:cs typeface="Times New Roman" panose="02020603050405020304" pitchFamily="18" charset="0"/>
            </a:endParaRPr>
          </a:p>
        </p:txBody>
      </p:sp>
      <p:sp>
        <p:nvSpPr>
          <p:cNvPr id="28" name="Content Placeholder 1">
            <a:extLst>
              <a:ext uri="{FF2B5EF4-FFF2-40B4-BE49-F238E27FC236}">
                <a16:creationId xmlns:a16="http://schemas.microsoft.com/office/drawing/2014/main" id="{4D7AE01B-2FB1-DFF5-D455-1C0D2D3EE016}"/>
              </a:ext>
            </a:extLst>
          </p:cNvPr>
          <p:cNvSpPr txBox="1">
            <a:spLocks noGrp="1"/>
          </p:cNvSpPr>
          <p:nvPr>
            <p:ph type="body" idx="1"/>
          </p:nvPr>
        </p:nvSpPr>
        <p:spPr>
          <a:xfrm>
            <a:off x="159977" y="791472"/>
            <a:ext cx="7486528"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Also, because the wheel rolls without slipping, the linear distance traveled by the car, </a:t>
            </a:r>
            <a:r>
              <a:rPr lang="en-US" sz="2400" i="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must equal the arc length, </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traced by a point on the edge of the wheel.</a:t>
            </a:r>
          </a:p>
        </p:txBody>
      </p:sp>
      <p:sp>
        <p:nvSpPr>
          <p:cNvPr id="29" name="Content Placeholder 2">
            <a:extLst>
              <a:ext uri="{FF2B5EF4-FFF2-40B4-BE49-F238E27FC236}">
                <a16:creationId xmlns:a16="http://schemas.microsoft.com/office/drawing/2014/main" id="{C7925B14-1593-4633-6D7E-702DAFAE3F5A}"/>
              </a:ext>
            </a:extLst>
          </p:cNvPr>
          <p:cNvSpPr txBox="1">
            <a:spLocks noGrp="1"/>
          </p:cNvSpPr>
          <p:nvPr>
            <p:ph type="body" idx="2"/>
          </p:nvPr>
        </p:nvSpPr>
        <p:spPr>
          <a:xfrm>
            <a:off x="153353" y="2335351"/>
            <a:ext cx="9200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Or...</a:t>
            </a:r>
          </a:p>
        </p:txBody>
      </p:sp>
      <p:sp>
        <p:nvSpPr>
          <p:cNvPr id="30" name="Rounded Rectangle 29">
            <a:extLst>
              <a:ext uri="{FF2B5EF4-FFF2-40B4-BE49-F238E27FC236}">
                <a16:creationId xmlns:a16="http://schemas.microsoft.com/office/drawing/2014/main" id="{286C404E-EDB2-683B-CBFE-74E93B861D71}"/>
              </a:ext>
              <a:ext uri="{C183D7F6-B498-43B3-948B-1728B52AA6E4}">
                <adec:decorative xmlns:adec="http://schemas.microsoft.com/office/drawing/2017/decorative" val="1"/>
              </a:ext>
            </a:extLst>
          </p:cNvPr>
          <p:cNvSpPr/>
          <p:nvPr/>
        </p:nvSpPr>
        <p:spPr>
          <a:xfrm>
            <a:off x="901150" y="2186609"/>
            <a:ext cx="4982817" cy="7951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
            <a:extLst>
              <a:ext uri="{FF2B5EF4-FFF2-40B4-BE49-F238E27FC236}">
                <a16:creationId xmlns:a16="http://schemas.microsoft.com/office/drawing/2014/main" id="{7739B850-6C6E-B43B-3259-8FC43BCDAA06}"/>
              </a:ext>
            </a:extLst>
          </p:cNvPr>
          <p:cNvSpPr txBox="1">
            <a:spLocks noGrp="1"/>
          </p:cNvSpPr>
          <p:nvPr>
            <p:ph type="body" idx="3"/>
          </p:nvPr>
        </p:nvSpPr>
        <p:spPr>
          <a:xfrm>
            <a:off x="928604" y="2328724"/>
            <a:ext cx="9200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s</a:t>
            </a:r>
          </a:p>
        </p:txBody>
      </p:sp>
      <p:graphicFrame>
        <p:nvGraphicFramePr>
          <p:cNvPr id="5" name="Object 4">
            <a:extLst>
              <a:ext uri="{FF2B5EF4-FFF2-40B4-BE49-F238E27FC236}">
                <a16:creationId xmlns:a16="http://schemas.microsoft.com/office/drawing/2014/main" id="{4394758C-E194-E056-0830-8E3F84113731}"/>
              </a:ext>
            </a:extLst>
          </p:cNvPr>
          <p:cNvGraphicFramePr>
            <a:graphicFrameLocks noChangeAspect="1"/>
          </p:cNvGraphicFramePr>
          <p:nvPr>
            <p:extLst>
              <p:ext uri="{D42A27DB-BD31-4B8C-83A1-F6EECF244321}">
                <p14:modId xmlns:p14="http://schemas.microsoft.com/office/powerpoint/2010/main" val="3467120028"/>
              </p:ext>
            </p:extLst>
          </p:nvPr>
        </p:nvGraphicFramePr>
        <p:xfrm>
          <a:off x="2081932" y="2231213"/>
          <a:ext cx="3731825" cy="721510"/>
        </p:xfrm>
        <a:graphic>
          <a:graphicData uri="http://schemas.openxmlformats.org/presentationml/2006/ole">
            <mc:AlternateContent xmlns:mc="http://schemas.openxmlformats.org/markup-compatibility/2006">
              <mc:Choice xmlns:v="urn:schemas-microsoft-com:vml" Requires="v">
                <p:oleObj name="Equation" r:id="rId3" imgW="1688760" imgH="393480" progId="Equation.DSMT4">
                  <p:embed/>
                </p:oleObj>
              </mc:Choice>
              <mc:Fallback>
                <p:oleObj name="Equation" r:id="rId3" imgW="1688760" imgH="393480" progId="Equation.DSMT4">
                  <p:embed/>
                  <p:pic>
                    <p:nvPicPr>
                      <p:cNvPr id="0" name=""/>
                      <p:cNvPicPr/>
                      <p:nvPr/>
                    </p:nvPicPr>
                    <p:blipFill>
                      <a:blip r:embed="rId4"/>
                      <a:stretch>
                        <a:fillRect/>
                      </a:stretch>
                    </p:blipFill>
                    <p:spPr>
                      <a:xfrm>
                        <a:off x="2081932" y="2231213"/>
                        <a:ext cx="3731825" cy="721510"/>
                      </a:xfrm>
                      <a:prstGeom prst="rect">
                        <a:avLst/>
                      </a:prstGeom>
                    </p:spPr>
                  </p:pic>
                </p:oleObj>
              </mc:Fallback>
            </mc:AlternateContent>
          </a:graphicData>
        </a:graphic>
      </p:graphicFrame>
      <p:sp>
        <p:nvSpPr>
          <p:cNvPr id="35" name="Rectangle 34">
            <a:extLst>
              <a:ext uri="{FF2B5EF4-FFF2-40B4-BE49-F238E27FC236}">
                <a16:creationId xmlns:a16="http://schemas.microsoft.com/office/drawing/2014/main" id="{1D281510-111B-5055-50B2-F29A3A55C8FD}"/>
              </a:ext>
              <a:ext uri="{C183D7F6-B498-43B3-948B-1728B52AA6E4}">
                <adec:decorative xmlns:adec="http://schemas.microsoft.com/office/drawing/2017/decorative" val="1"/>
              </a:ext>
            </a:extLst>
          </p:cNvPr>
          <p:cNvSpPr/>
          <p:nvPr/>
        </p:nvSpPr>
        <p:spPr>
          <a:xfrm>
            <a:off x="4081672" y="2438400"/>
            <a:ext cx="1709783" cy="358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ontent Placeholder 4">
            <a:extLst>
              <a:ext uri="{FF2B5EF4-FFF2-40B4-BE49-F238E27FC236}">
                <a16:creationId xmlns:a16="http://schemas.microsoft.com/office/drawing/2014/main" id="{85D65476-D8E9-4A32-DCD2-0278201834F3}"/>
              </a:ext>
            </a:extLst>
          </p:cNvPr>
          <p:cNvSpPr txBox="1">
            <a:spLocks noGrp="1"/>
          </p:cNvSpPr>
          <p:nvPr>
            <p:ph type="body" idx="4"/>
          </p:nvPr>
        </p:nvSpPr>
        <p:spPr>
          <a:xfrm>
            <a:off x="5898169" y="2368481"/>
            <a:ext cx="2636234" cy="461665"/>
          </a:xfrm>
          <a:prstGeom prst="rect">
            <a:avLst/>
          </a:prstGeom>
          <a:noFill/>
        </p:spPr>
        <p:txBody>
          <a:bodyPr wrap="square">
            <a:noAutofit/>
          </a:bodyPr>
          <a:lstStyle>
            <a:lvl1pPr algn="l">
              <a:lnSpc>
                <a:spcPct val="100000"/>
              </a:lnSpc>
              <a:spcBef>
                <a:spcPts val="0"/>
              </a:spcBef>
            </a:lvl1pPr>
          </a:lstStyle>
          <a:p>
            <a:pPr algn="l" defTabSz="1704975">
              <a:lnSpc>
                <a:spcPct val="100000"/>
              </a:lnSpc>
              <a:spcBef>
                <a:spcPts val="0"/>
              </a:spcBef>
              <a:spcAft>
                <a:spcPts val="0"/>
              </a:spcAft>
              <a:buNone/>
              <a:tabLst>
                <a:tab pos="1704975" algn="l"/>
                <a:tab pos="2233613" algn="l"/>
              </a:tabLst>
            </a:pP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 in rad/s) 	(</a:t>
            </a:r>
            <a:r>
              <a:rPr lang="en-US" sz="2400" b="1" dirty="0">
                <a:latin typeface="Times New Roman" panose="02020603050405020304" pitchFamily="18" charset="0"/>
                <a:cs typeface="Times New Roman" panose="02020603050405020304" pitchFamily="18" charset="0"/>
              </a:rPr>
              <a:t>8.12</a:t>
            </a:r>
            <a:r>
              <a:rPr lang="en-US" sz="2400" dirty="0">
                <a:latin typeface="Times New Roman" panose="02020603050405020304" pitchFamily="18" charset="0"/>
                <a:cs typeface="Times New Roman" panose="02020603050405020304" pitchFamily="18" charset="0"/>
              </a:rPr>
              <a:t>)</a:t>
            </a:r>
          </a:p>
        </p:txBody>
      </p:sp>
      <p:sp>
        <p:nvSpPr>
          <p:cNvPr id="37" name="Content Placeholder 6">
            <a:extLst>
              <a:ext uri="{FF2B5EF4-FFF2-40B4-BE49-F238E27FC236}">
                <a16:creationId xmlns:a16="http://schemas.microsoft.com/office/drawing/2014/main" id="{FBB56A23-F28B-0BD6-7641-780BD2C9C793}"/>
              </a:ext>
            </a:extLst>
          </p:cNvPr>
          <p:cNvSpPr txBox="1">
            <a:spLocks noGrp="1"/>
          </p:cNvSpPr>
          <p:nvPr>
            <p:ph type="body" idx="6"/>
          </p:nvPr>
        </p:nvSpPr>
        <p:spPr>
          <a:xfrm>
            <a:off x="179855" y="3501542"/>
            <a:ext cx="11435676"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Equation 8.12 shows directly that the linear speed of the car is equal to the tangential speed of a point on the edge of the wheel.</a:t>
            </a:r>
          </a:p>
        </p:txBody>
      </p:sp>
      <p:sp>
        <p:nvSpPr>
          <p:cNvPr id="38" name="Content Placeholder 7">
            <a:extLst>
              <a:ext uri="{FF2B5EF4-FFF2-40B4-BE49-F238E27FC236}">
                <a16:creationId xmlns:a16="http://schemas.microsoft.com/office/drawing/2014/main" id="{BBB53944-F55E-E68A-BE18-3749EC9BD55C}"/>
              </a:ext>
            </a:extLst>
          </p:cNvPr>
          <p:cNvSpPr txBox="1">
            <a:spLocks noGrp="1"/>
          </p:cNvSpPr>
          <p:nvPr>
            <p:ph type="body" idx="7"/>
          </p:nvPr>
        </p:nvSpPr>
        <p:spPr>
          <a:xfrm>
            <a:off x="173228" y="4449071"/>
            <a:ext cx="11435676"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If the car has a linear acceleration parallel to the ground, then with the same reasoning as above, we can show that the </a:t>
            </a:r>
            <a:r>
              <a:rPr lang="en-US" sz="2400" dirty="0">
                <a:solidFill>
                  <a:srgbClr val="007440"/>
                </a:solidFill>
                <a:latin typeface="Times New Roman" panose="02020603050405020304" pitchFamily="18" charset="0"/>
                <a:cs typeface="Times New Roman" panose="02020603050405020304" pitchFamily="18" charset="0"/>
              </a:rPr>
              <a:t>linear acceleration </a:t>
            </a:r>
            <a:r>
              <a:rPr lang="en-US" sz="2400" dirty="0">
                <a:latin typeface="Times New Roman" panose="02020603050405020304" pitchFamily="18" charset="0"/>
                <a:cs typeface="Times New Roman" panose="02020603050405020304" pitchFamily="18" charset="0"/>
              </a:rPr>
              <a:t>of the car has the same magnitude as the </a:t>
            </a:r>
            <a:r>
              <a:rPr lang="en-US" sz="2400" dirty="0">
                <a:solidFill>
                  <a:srgbClr val="007440"/>
                </a:solidFill>
                <a:latin typeface="Times New Roman" panose="02020603050405020304" pitchFamily="18" charset="0"/>
                <a:cs typeface="Times New Roman" panose="02020603050405020304" pitchFamily="18" charset="0"/>
              </a:rPr>
              <a:t>tangential acceleration </a:t>
            </a:r>
            <a:r>
              <a:rPr lang="en-US" sz="2400" dirty="0">
                <a:latin typeface="Times New Roman" panose="02020603050405020304" pitchFamily="18" charset="0"/>
                <a:cs typeface="Times New Roman" panose="02020603050405020304" pitchFamily="18" charset="0"/>
              </a:rPr>
              <a:t>of a point on the edge of the wheel:</a:t>
            </a:r>
          </a:p>
        </p:txBody>
      </p:sp>
      <p:sp>
        <p:nvSpPr>
          <p:cNvPr id="42" name="Rounded Rectangle 41">
            <a:extLst>
              <a:ext uri="{FF2B5EF4-FFF2-40B4-BE49-F238E27FC236}">
                <a16:creationId xmlns:a16="http://schemas.microsoft.com/office/drawing/2014/main" id="{30292129-8D1A-54A7-77E5-A92D9F2BB9D5}"/>
              </a:ext>
              <a:ext uri="{C183D7F6-B498-43B3-948B-1728B52AA6E4}">
                <adec:decorative xmlns:adec="http://schemas.microsoft.com/office/drawing/2017/decorative" val="1"/>
              </a:ext>
            </a:extLst>
          </p:cNvPr>
          <p:cNvSpPr/>
          <p:nvPr/>
        </p:nvSpPr>
        <p:spPr>
          <a:xfrm>
            <a:off x="4479235" y="5804452"/>
            <a:ext cx="1736034"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AD97C67C-0357-03AA-CEEB-13ABE0F7B212}"/>
              </a:ext>
            </a:extLst>
          </p:cNvPr>
          <p:cNvGraphicFramePr>
            <a:graphicFrameLocks noChangeAspect="1"/>
          </p:cNvGraphicFramePr>
          <p:nvPr>
            <p:extLst>
              <p:ext uri="{D42A27DB-BD31-4B8C-83A1-F6EECF244321}">
                <p14:modId xmlns:p14="http://schemas.microsoft.com/office/powerpoint/2010/main" val="65641626"/>
              </p:ext>
            </p:extLst>
          </p:nvPr>
        </p:nvGraphicFramePr>
        <p:xfrm>
          <a:off x="4553960" y="5842280"/>
          <a:ext cx="1512972" cy="439250"/>
        </p:xfrm>
        <a:graphic>
          <a:graphicData uri="http://schemas.openxmlformats.org/presentationml/2006/ole">
            <mc:AlternateContent xmlns:mc="http://schemas.openxmlformats.org/markup-compatibility/2006">
              <mc:Choice xmlns:v="urn:schemas-microsoft-com:vml" Requires="v">
                <p:oleObj name="Equation" r:id="rId5" imgW="787320" imgH="228600" progId="Equation.DSMT4">
                  <p:embed/>
                </p:oleObj>
              </mc:Choice>
              <mc:Fallback>
                <p:oleObj name="Equation" r:id="rId5" imgW="787320" imgH="228600" progId="Equation.DSMT4">
                  <p:embed/>
                  <p:pic>
                    <p:nvPicPr>
                      <p:cNvPr id="0" name=""/>
                      <p:cNvPicPr/>
                      <p:nvPr/>
                    </p:nvPicPr>
                    <p:blipFill>
                      <a:blip r:embed="rId6"/>
                      <a:stretch>
                        <a:fillRect/>
                      </a:stretch>
                    </p:blipFill>
                    <p:spPr>
                      <a:xfrm>
                        <a:off x="4553960" y="5842280"/>
                        <a:ext cx="1512972" cy="439250"/>
                      </a:xfrm>
                      <a:prstGeom prst="rect">
                        <a:avLst/>
                      </a:prstGeom>
                    </p:spPr>
                  </p:pic>
                </p:oleObj>
              </mc:Fallback>
            </mc:AlternateContent>
          </a:graphicData>
        </a:graphic>
      </p:graphicFrame>
      <p:sp>
        <p:nvSpPr>
          <p:cNvPr id="43" name="Content Placeholder 8">
            <a:extLst>
              <a:ext uri="{FF2B5EF4-FFF2-40B4-BE49-F238E27FC236}">
                <a16:creationId xmlns:a16="http://schemas.microsoft.com/office/drawing/2014/main" id="{37D4FA54-1838-4F65-819F-CCEA7E4F8D2D}"/>
              </a:ext>
            </a:extLst>
          </p:cNvPr>
          <p:cNvSpPr txBox="1">
            <a:spLocks noGrp="1"/>
          </p:cNvSpPr>
          <p:nvPr>
            <p:ph type="body" idx="8"/>
          </p:nvPr>
        </p:nvSpPr>
        <p:spPr>
          <a:xfrm>
            <a:off x="6342117" y="5807420"/>
            <a:ext cx="3186196" cy="461665"/>
          </a:xfrm>
          <a:prstGeom prst="rect">
            <a:avLst/>
          </a:prstGeom>
          <a:noFill/>
        </p:spPr>
        <p:txBody>
          <a:bodyPr wrap="square">
            <a:noAutofit/>
          </a:bodyPr>
          <a:lstStyle>
            <a:lvl1pPr algn="l">
              <a:lnSpc>
                <a:spcPct val="100000"/>
              </a:lnSpc>
              <a:spcBef>
                <a:spcPts val="0"/>
              </a:spcBef>
            </a:lvl1pPr>
          </a:lstStyle>
          <a:p>
            <a:pPr algn="l" defTabSz="568325">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α</a:t>
            </a:r>
            <a:r>
              <a:rPr lang="en-US" sz="2400" dirty="0">
                <a:latin typeface="Times New Roman" panose="02020603050405020304" pitchFamily="18" charset="0"/>
                <a:cs typeface="Times New Roman" panose="02020603050405020304" pitchFamily="18" charset="0"/>
              </a:rPr>
              <a:t> in rad/s</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8.13</a:t>
            </a:r>
            <a:r>
              <a:rPr lang="en-US" sz="2400" dirty="0">
                <a:latin typeface="Times New Roman" panose="02020603050405020304" pitchFamily="18" charset="0"/>
                <a:cs typeface="Times New Roman" panose="02020603050405020304" pitchFamily="18" charset="0"/>
              </a:rPr>
              <a:t>)</a:t>
            </a:r>
          </a:p>
        </p:txBody>
      </p:sp>
      <p:grpSp>
        <p:nvGrpSpPr>
          <p:cNvPr id="39" name="Group 38">
            <a:extLst>
              <a:ext uri="{FF2B5EF4-FFF2-40B4-BE49-F238E27FC236}">
                <a16:creationId xmlns:a16="http://schemas.microsoft.com/office/drawing/2014/main" id="{94BD3D0B-136C-03A5-8F56-C90F83F4441A}"/>
              </a:ext>
            </a:extLst>
          </p:cNvPr>
          <p:cNvGrpSpPr/>
          <p:nvPr/>
        </p:nvGrpSpPr>
        <p:grpSpPr>
          <a:xfrm>
            <a:off x="8144357" y="192158"/>
            <a:ext cx="3742843" cy="3531703"/>
            <a:chOff x="8144357" y="192158"/>
            <a:chExt cx="3742843" cy="3531703"/>
          </a:xfrm>
        </p:grpSpPr>
        <p:grpSp>
          <p:nvGrpSpPr>
            <p:cNvPr id="9" name="Group 7">
              <a:extLst>
                <a:ext uri="{FF2B5EF4-FFF2-40B4-BE49-F238E27FC236}">
                  <a16:creationId xmlns:a16="http://schemas.microsoft.com/office/drawing/2014/main" id="{749FAF47-683A-C335-61E9-50C71D386827}"/>
                </a:ext>
              </a:extLst>
            </p:cNvPr>
            <p:cNvGrpSpPr>
              <a:grpSpLocks/>
            </p:cNvGrpSpPr>
            <p:nvPr/>
          </p:nvGrpSpPr>
          <p:grpSpPr bwMode="auto">
            <a:xfrm>
              <a:off x="8507896" y="1603514"/>
              <a:ext cx="2729948" cy="2120347"/>
              <a:chOff x="59" y="54"/>
              <a:chExt cx="2869" cy="2202"/>
            </a:xfrm>
          </p:grpSpPr>
          <p:pic>
            <p:nvPicPr>
              <p:cNvPr id="11" name="Picture 4" descr="rolling wo slipping">
                <a:extLst>
                  <a:ext uri="{FF2B5EF4-FFF2-40B4-BE49-F238E27FC236}">
                    <a16:creationId xmlns:a16="http://schemas.microsoft.com/office/drawing/2014/main" id="{18BD32F2-E5D9-3B5E-42C0-E37CB511AC1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40179" b="8015"/>
              <a:stretch/>
            </p:blipFill>
            <p:spPr bwMode="auto">
              <a:xfrm>
                <a:off x="59" y="54"/>
                <a:ext cx="2869" cy="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6">
                <a:extLst>
                  <a:ext uri="{FF2B5EF4-FFF2-40B4-BE49-F238E27FC236}">
                    <a16:creationId xmlns:a16="http://schemas.microsoft.com/office/drawing/2014/main" id="{2A37A7B8-39C8-0DE5-6A59-EA3E93FA3C0D}"/>
                  </a:ext>
                </a:extLst>
              </p:cNvPr>
              <p:cNvSpPr>
                <a:spLocks noChangeArrowheads="1"/>
              </p:cNvSpPr>
              <p:nvPr/>
            </p:nvSpPr>
            <p:spPr bwMode="auto">
              <a:xfrm>
                <a:off x="1248" y="2064"/>
                <a:ext cx="384"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pic>
          <p:nvPicPr>
            <p:cNvPr id="25" name="Picture 4" descr="rolling wo slipping">
              <a:extLst>
                <a:ext uri="{FF2B5EF4-FFF2-40B4-BE49-F238E27FC236}">
                  <a16:creationId xmlns:a16="http://schemas.microsoft.com/office/drawing/2014/main" id="{B7222B3D-0D5E-C0EB-5E2D-F4DE7630975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69550"/>
            <a:stretch/>
          </p:blipFill>
          <p:spPr bwMode="auto">
            <a:xfrm>
              <a:off x="8144357" y="192158"/>
              <a:ext cx="3742843" cy="143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2306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dissolv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dissolve">
                                      <p:cBhvr>
                                        <p:cTn id="30" dur="500"/>
                                        <p:tgtEl>
                                          <p:spTgt spid="35"/>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dissolve">
                                      <p:cBhvr>
                                        <p:cTn id="34" dur="5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dissolve">
                                      <p:cBhvr>
                                        <p:cTn id="39" dur="500"/>
                                        <p:tgtEl>
                                          <p:spTgt spid="37"/>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dissolve">
                                      <p:cBhvr>
                                        <p:cTn id="44" dur="500"/>
                                        <p:tgtEl>
                                          <p:spTgt spid="38"/>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dissolve">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dissolve">
                                      <p:cBhvr>
                                        <p:cTn id="53" dur="500"/>
                                        <p:tgtEl>
                                          <p:spTgt spid="6"/>
                                        </p:tgtEl>
                                      </p:cBhvr>
                                    </p:animEffec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dissolve">
                                      <p:cBhvr>
                                        <p:cTn id="5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P spid="31" grpId="0"/>
      <p:bldP spid="35" grpId="0" animBg="1"/>
      <p:bldP spid="36" grpId="0"/>
      <p:bldP spid="37" grpId="0"/>
      <p:bldP spid="38" grpId="0"/>
      <p:bldP spid="42" grpId="0" animBg="1"/>
      <p:bldP spid="4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8A8B6-9EE5-8F6F-05F0-201131729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19BD6-65E6-DCD1-7429-8053EAEF99F7}"/>
              </a:ext>
            </a:extLst>
          </p:cNvPr>
          <p:cNvSpPr>
            <a:spLocks noGrp="1"/>
          </p:cNvSpPr>
          <p:nvPr>
            <p:ph type="title"/>
          </p:nvPr>
        </p:nvSpPr>
        <p:spPr>
          <a:xfrm>
            <a:off x="639874" y="115774"/>
            <a:ext cx="10820401" cy="849312"/>
          </a:xfrm>
        </p:spPr>
        <p:txBody>
          <a:bodyPr>
            <a:normAutofit/>
          </a:bodyPr>
          <a:lstStyle/>
          <a:p>
            <a:r>
              <a:rPr lang="en-US" b="1" dirty="0">
                <a:latin typeface="Times New Roman" panose="02020603050405020304" pitchFamily="18" charset="0"/>
                <a:ea typeface="Calibri" charset="0"/>
                <a:cs typeface="Times New Roman" panose="02020603050405020304" pitchFamily="18" charset="0"/>
              </a:rPr>
              <a:t>8.7</a:t>
            </a:r>
            <a:r>
              <a:rPr lang="en-US" dirty="0">
                <a:latin typeface="Times New Roman" panose="02020603050405020304" pitchFamily="18" charset="0"/>
                <a:ea typeface="Calibri" charset="0"/>
                <a:cs typeface="Times New Roman" panose="02020603050405020304" pitchFamily="18" charset="0"/>
              </a:rPr>
              <a:t> The Vector Nature of Angular Variables (1 of 2)</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9B3FED91-7F68-392F-3AB8-98425B251CAC}"/>
              </a:ext>
              <a:ext uri="{C183D7F6-B498-43B3-948B-1728B52AA6E4}">
                <adec:decorative xmlns:adec="http://schemas.microsoft.com/office/drawing/2017/decorative" val="1"/>
              </a:ext>
            </a:extLst>
          </p:cNvPr>
          <p:cNvSpPr/>
          <p:nvPr/>
        </p:nvSpPr>
        <p:spPr>
          <a:xfrm>
            <a:off x="-20526" y="735863"/>
            <a:ext cx="12192000" cy="988756"/>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DFFA183B-1D17-A799-A4C4-78EA106C605C}"/>
              </a:ext>
            </a:extLst>
          </p:cNvPr>
          <p:cNvSpPr txBox="1">
            <a:spLocks noGrp="1"/>
          </p:cNvSpPr>
          <p:nvPr>
            <p:ph type="body" idx="1"/>
          </p:nvPr>
        </p:nvSpPr>
        <p:spPr>
          <a:xfrm>
            <a:off x="914401" y="718024"/>
            <a:ext cx="10933042"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8.7 </a:t>
            </a:r>
            <a:r>
              <a:rPr lang="en-US" dirty="0">
                <a:latin typeface="Times New Roman" panose="02020603050405020304" pitchFamily="18" charset="0"/>
                <a:cs typeface="Times New Roman" panose="02020603050405020304" pitchFamily="18" charset="0"/>
              </a:rPr>
              <a:t>– Use the right-hand rule to determine the direction of angular vectors.</a:t>
            </a:r>
          </a:p>
        </p:txBody>
      </p:sp>
      <p:sp>
        <p:nvSpPr>
          <p:cNvPr id="26" name="Content Placeholder 2">
            <a:extLst>
              <a:ext uri="{FF2B5EF4-FFF2-40B4-BE49-F238E27FC236}">
                <a16:creationId xmlns:a16="http://schemas.microsoft.com/office/drawing/2014/main" id="{EF9A5586-0416-5615-AA96-4D1B48AA951A}"/>
              </a:ext>
            </a:extLst>
          </p:cNvPr>
          <p:cNvSpPr txBox="1">
            <a:spLocks noGrp="1"/>
          </p:cNvSpPr>
          <p:nvPr>
            <p:ph type="body" idx="2"/>
          </p:nvPr>
        </p:nvSpPr>
        <p:spPr>
          <a:xfrm>
            <a:off x="973467" y="1858599"/>
            <a:ext cx="1089214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As mentioned previously, </a:t>
            </a:r>
            <a:r>
              <a:rPr lang="en-US" sz="2400" dirty="0">
                <a:solidFill>
                  <a:srgbClr val="007440"/>
                </a:solidFill>
                <a:latin typeface="Times New Roman" panose="02020603050405020304" pitchFamily="18" charset="0"/>
                <a:cs typeface="Times New Roman" panose="02020603050405020304" pitchFamily="18" charset="0"/>
              </a:rPr>
              <a:t>angular displacement</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 velocity</a:t>
            </a:r>
            <a:r>
              <a:rPr lang="en-US" sz="2400" dirty="0">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 acceleration </a:t>
            </a:r>
            <a:r>
              <a:rPr lang="en-US" sz="2400" dirty="0">
                <a:latin typeface="Times New Roman" panose="02020603050405020304" pitchFamily="18" charset="0"/>
                <a:cs typeface="Times New Roman" panose="02020603050405020304" pitchFamily="18" charset="0"/>
              </a:rPr>
              <a:t>are, like their linear counterparts,</a:t>
            </a:r>
          </a:p>
        </p:txBody>
      </p:sp>
      <p:sp>
        <p:nvSpPr>
          <p:cNvPr id="4" name="Rounded Rectangle 3">
            <a:extLst>
              <a:ext uri="{FF2B5EF4-FFF2-40B4-BE49-F238E27FC236}">
                <a16:creationId xmlns:a16="http://schemas.microsoft.com/office/drawing/2014/main" id="{351A905E-43C0-3BCF-A233-6750214C40F1}"/>
              </a:ext>
              <a:ext uri="{C183D7F6-B498-43B3-948B-1728B52AA6E4}">
                <adec:decorative xmlns:adec="http://schemas.microsoft.com/office/drawing/2017/decorative" val="1"/>
              </a:ext>
            </a:extLst>
          </p:cNvPr>
          <p:cNvSpPr/>
          <p:nvPr/>
        </p:nvSpPr>
        <p:spPr>
          <a:xfrm>
            <a:off x="6705600" y="2252870"/>
            <a:ext cx="258417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3">
            <a:extLst>
              <a:ext uri="{FF2B5EF4-FFF2-40B4-BE49-F238E27FC236}">
                <a16:creationId xmlns:a16="http://schemas.microsoft.com/office/drawing/2014/main" id="{23E8FD86-A737-28A5-EA2B-6A8670BFEAF3}"/>
              </a:ext>
            </a:extLst>
          </p:cNvPr>
          <p:cNvSpPr txBox="1">
            <a:spLocks noGrp="1"/>
          </p:cNvSpPr>
          <p:nvPr>
            <p:ph type="body" idx="3"/>
          </p:nvPr>
        </p:nvSpPr>
        <p:spPr>
          <a:xfrm>
            <a:off x="6678529" y="2262339"/>
            <a:ext cx="2743767"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quantities</a:t>
            </a:r>
          </a:p>
        </p:txBody>
      </p:sp>
      <p:sp>
        <p:nvSpPr>
          <p:cNvPr id="8" name="Content Placeholder 4">
            <a:extLst>
              <a:ext uri="{FF2B5EF4-FFF2-40B4-BE49-F238E27FC236}">
                <a16:creationId xmlns:a16="http://schemas.microsoft.com/office/drawing/2014/main" id="{A9D689A3-3EF6-1180-63ED-92D8DF72C70F}"/>
              </a:ext>
            </a:extLst>
          </p:cNvPr>
          <p:cNvSpPr txBox="1">
            <a:spLocks noGrp="1"/>
          </p:cNvSpPr>
          <p:nvPr>
            <p:ph type="body" idx="4"/>
          </p:nvPr>
        </p:nvSpPr>
        <p:spPr>
          <a:xfrm>
            <a:off x="9262442" y="2200784"/>
            <a:ext cx="3175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Content Placeholder 5">
            <a:extLst>
              <a:ext uri="{FF2B5EF4-FFF2-40B4-BE49-F238E27FC236}">
                <a16:creationId xmlns:a16="http://schemas.microsoft.com/office/drawing/2014/main" id="{D03AC6AC-27B9-0F5A-2072-7A64C3C2B3A8}"/>
              </a:ext>
            </a:extLst>
          </p:cNvPr>
          <p:cNvSpPr txBox="1">
            <a:spLocks noGrp="1"/>
          </p:cNvSpPr>
          <p:nvPr>
            <p:ph type="body" idx="5"/>
          </p:nvPr>
        </p:nvSpPr>
        <p:spPr>
          <a:xfrm>
            <a:off x="940337" y="2819382"/>
            <a:ext cx="10892143"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We now turn our attention to determining the </a:t>
            </a:r>
            <a:r>
              <a:rPr lang="en-US" sz="2400" dirty="0">
                <a:solidFill>
                  <a:srgbClr val="007440"/>
                </a:solidFill>
                <a:latin typeface="Times New Roman" panose="02020603050405020304" pitchFamily="18" charset="0"/>
                <a:cs typeface="Times New Roman" panose="02020603050405020304" pitchFamily="18" charset="0"/>
              </a:rPr>
              <a:t>direction</a:t>
            </a:r>
            <a:r>
              <a:rPr lang="en-US" sz="2400" dirty="0">
                <a:latin typeface="Times New Roman" panose="02020603050405020304" pitchFamily="18" charset="0"/>
                <a:cs typeface="Times New Roman" panose="02020603050405020304" pitchFamily="18" charset="0"/>
              </a:rPr>
              <a:t> of these angular vectors.</a:t>
            </a:r>
          </a:p>
        </p:txBody>
      </p:sp>
      <p:sp>
        <p:nvSpPr>
          <p:cNvPr id="13" name="Content Placeholder 6">
            <a:extLst>
              <a:ext uri="{FF2B5EF4-FFF2-40B4-BE49-F238E27FC236}">
                <a16:creationId xmlns:a16="http://schemas.microsoft.com/office/drawing/2014/main" id="{43B041E9-7417-2EBA-4153-4C50B355CE98}"/>
              </a:ext>
            </a:extLst>
          </p:cNvPr>
          <p:cNvSpPr txBox="1">
            <a:spLocks noGrp="1"/>
          </p:cNvSpPr>
          <p:nvPr>
            <p:ph type="body" idx="6"/>
          </p:nvPr>
        </p:nvSpPr>
        <p:spPr>
          <a:xfrm>
            <a:off x="973468" y="3422356"/>
            <a:ext cx="8183784"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To do so, we use a technique known as the</a:t>
            </a:r>
          </a:p>
        </p:txBody>
      </p:sp>
      <p:sp>
        <p:nvSpPr>
          <p:cNvPr id="15" name="Rounded Rectangle 14">
            <a:extLst>
              <a:ext uri="{FF2B5EF4-FFF2-40B4-BE49-F238E27FC236}">
                <a16:creationId xmlns:a16="http://schemas.microsoft.com/office/drawing/2014/main" id="{F2687A25-C158-CC4C-F329-68E76DBFF2CA}"/>
              </a:ext>
              <a:ext uri="{C183D7F6-B498-43B3-948B-1728B52AA6E4}">
                <adec:decorative xmlns:adec="http://schemas.microsoft.com/office/drawing/2017/decorative" val="1"/>
              </a:ext>
            </a:extLst>
          </p:cNvPr>
          <p:cNvSpPr/>
          <p:nvPr/>
        </p:nvSpPr>
        <p:spPr>
          <a:xfrm>
            <a:off x="6308034" y="3405808"/>
            <a:ext cx="2425148"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7">
            <a:extLst>
              <a:ext uri="{FF2B5EF4-FFF2-40B4-BE49-F238E27FC236}">
                <a16:creationId xmlns:a16="http://schemas.microsoft.com/office/drawing/2014/main" id="{A86B91D9-0D4C-5359-9E65-CC008FB7FD03}"/>
              </a:ext>
            </a:extLst>
          </p:cNvPr>
          <p:cNvSpPr txBox="1">
            <a:spLocks noGrp="1"/>
          </p:cNvSpPr>
          <p:nvPr>
            <p:ph type="body" idx="7"/>
          </p:nvPr>
        </p:nvSpPr>
        <p:spPr>
          <a:xfrm>
            <a:off x="6308034" y="3426804"/>
            <a:ext cx="2472098"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right-hand rule</a:t>
            </a:r>
          </a:p>
        </p:txBody>
      </p:sp>
      <p:sp>
        <p:nvSpPr>
          <p:cNvPr id="11" name="Content Placeholder 8">
            <a:extLst>
              <a:ext uri="{FF2B5EF4-FFF2-40B4-BE49-F238E27FC236}">
                <a16:creationId xmlns:a16="http://schemas.microsoft.com/office/drawing/2014/main" id="{ADFEE3A0-86BA-A876-109E-069CE4C345AE}"/>
              </a:ext>
            </a:extLst>
          </p:cNvPr>
          <p:cNvSpPr txBox="1">
            <a:spLocks noGrp="1"/>
          </p:cNvSpPr>
          <p:nvPr>
            <p:ph type="body" idx="8"/>
          </p:nvPr>
        </p:nvSpPr>
        <p:spPr>
          <a:xfrm>
            <a:off x="8717722" y="3393636"/>
            <a:ext cx="2540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0E862AE9-5737-1708-0D59-5D993D178F63}"/>
              </a:ext>
              <a:ext uri="{C183D7F6-B498-43B3-948B-1728B52AA6E4}">
                <adec:decorative xmlns:adec="http://schemas.microsoft.com/office/drawing/2017/decorative" val="1"/>
              </a:ext>
            </a:extLst>
          </p:cNvPr>
          <p:cNvSpPr/>
          <p:nvPr/>
        </p:nvSpPr>
        <p:spPr>
          <a:xfrm>
            <a:off x="914400" y="4253948"/>
            <a:ext cx="10363200" cy="176253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9">
            <a:extLst>
              <a:ext uri="{FF2B5EF4-FFF2-40B4-BE49-F238E27FC236}">
                <a16:creationId xmlns:a16="http://schemas.microsoft.com/office/drawing/2014/main" id="{437BA5F0-4DF5-56F2-89C8-11685BCDAB37}"/>
              </a:ext>
            </a:extLst>
          </p:cNvPr>
          <p:cNvSpPr txBox="1">
            <a:spLocks noGrp="1"/>
          </p:cNvSpPr>
          <p:nvPr>
            <p:ph type="body" idx="9"/>
          </p:nvPr>
        </p:nvSpPr>
        <p:spPr>
          <a:xfrm>
            <a:off x="1060175" y="4280452"/>
            <a:ext cx="4015408"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C00000"/>
                </a:solidFill>
                <a:latin typeface="Times New Roman" panose="02020603050405020304" pitchFamily="18" charset="0"/>
                <a:cs typeface="Times New Roman" panose="02020603050405020304" pitchFamily="18" charset="0"/>
              </a:rPr>
              <a:t>RIGHT-HAND RULE</a:t>
            </a:r>
          </a:p>
        </p:txBody>
      </p:sp>
      <p:sp>
        <p:nvSpPr>
          <p:cNvPr id="18" name="Content Placeholder 10">
            <a:extLst>
              <a:ext uri="{FF2B5EF4-FFF2-40B4-BE49-F238E27FC236}">
                <a16:creationId xmlns:a16="http://schemas.microsoft.com/office/drawing/2014/main" id="{71FE3D80-0E66-762A-7EC3-76AA1FF15039}"/>
              </a:ext>
            </a:extLst>
          </p:cNvPr>
          <p:cNvSpPr txBox="1">
            <a:spLocks noGrp="1"/>
          </p:cNvSpPr>
          <p:nvPr>
            <p:ph type="body" idx="10"/>
          </p:nvPr>
        </p:nvSpPr>
        <p:spPr>
          <a:xfrm>
            <a:off x="1033670" y="4786847"/>
            <a:ext cx="10217425"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Grasp the axis of rotation with your right hand, with your fingers curling around the axis in the same sense as the rotation. Your extended thumb then points along the axis of rotation in the direction of the angular vector.</a:t>
            </a:r>
          </a:p>
        </p:txBody>
      </p:sp>
    </p:spTree>
    <p:extLst>
      <p:ext uri="{BB962C8B-B14F-4D97-AF65-F5344CB8AC3E}">
        <p14:creationId xmlns:p14="http://schemas.microsoft.com/office/powerpoint/2010/main" val="387739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dissolve">
                                      <p:cBhvr>
                                        <p:cTn id="28" dur="500"/>
                                        <p:tgtEl>
                                          <p:spTgt spid="1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dissolv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dissolve">
                                      <p:cBhvr>
                                        <p:cTn id="44" dur="500"/>
                                        <p:tgtEl>
                                          <p:spTgt spid="20"/>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dissolve">
                                      <p:cBhvr>
                                        <p:cTn id="47" dur="500"/>
                                        <p:tgtEl>
                                          <p:spTgt spid="19"/>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ssolve">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 grpId="0" animBg="1"/>
      <p:bldP spid="7" grpId="0"/>
      <p:bldP spid="8" grpId="0"/>
      <p:bldP spid="10" grpId="0"/>
      <p:bldP spid="13" grpId="0"/>
      <p:bldP spid="15" grpId="0" animBg="1"/>
      <p:bldP spid="14" grpId="0"/>
      <p:bldP spid="11" grpId="0"/>
      <p:bldP spid="20" grpId="0" animBg="1"/>
      <p:bldP spid="19" grpId="0"/>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963EF-B574-876B-2135-0642F071F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C4670-64E6-4E0B-E52E-F7943CDAA08A}"/>
              </a:ext>
            </a:extLst>
          </p:cNvPr>
          <p:cNvSpPr>
            <a:spLocks noGrp="1"/>
          </p:cNvSpPr>
          <p:nvPr>
            <p:ph type="title"/>
          </p:nvPr>
        </p:nvSpPr>
        <p:spPr>
          <a:xfrm>
            <a:off x="639874" y="115774"/>
            <a:ext cx="10820401" cy="849312"/>
          </a:xfrm>
        </p:spPr>
        <p:txBody>
          <a:bodyPr>
            <a:normAutofit/>
          </a:bodyPr>
          <a:lstStyle/>
          <a:p>
            <a:r>
              <a:rPr lang="en-US" b="1" dirty="0">
                <a:latin typeface="Times New Roman" panose="02020603050405020304" pitchFamily="18" charset="0"/>
                <a:ea typeface="Calibri" charset="0"/>
                <a:cs typeface="Times New Roman" panose="02020603050405020304" pitchFamily="18" charset="0"/>
              </a:rPr>
              <a:t>8.7</a:t>
            </a:r>
            <a:r>
              <a:rPr lang="en-US" dirty="0">
                <a:latin typeface="Times New Roman" panose="02020603050405020304" pitchFamily="18" charset="0"/>
                <a:ea typeface="Calibri" charset="0"/>
                <a:cs typeface="Times New Roman" panose="02020603050405020304" pitchFamily="18" charset="0"/>
              </a:rPr>
              <a:t> The Vector Nature of Angular Variables (2 of 2)</a:t>
            </a:r>
            <a:endParaRPr lang="en-US" sz="3000" dirty="0">
              <a:latin typeface="Times New Roman" panose="02020603050405020304" pitchFamily="18" charset="0"/>
              <a:cs typeface="Times New Roman" panose="02020603050405020304" pitchFamily="18" charset="0"/>
            </a:endParaRPr>
          </a:p>
        </p:txBody>
      </p:sp>
      <p:pic>
        <p:nvPicPr>
          <p:cNvPr id="8" name="Content Placeholder 1">
            <a:extLst>
              <a:ext uri="{FF2B5EF4-FFF2-40B4-BE49-F238E27FC236}">
                <a16:creationId xmlns:a16="http://schemas.microsoft.com/office/drawing/2014/main" id="{B61AE045-B954-99C3-E940-F97ECFE4A36D}"/>
              </a:ext>
            </a:extLst>
          </p:cNvPr>
          <p:cNvPicPr>
            <a:picLocks noGrp="1" noChangeAspect="1"/>
          </p:cNvPicPr>
          <p:nvPr>
            <p:ph type="pic" idx="1"/>
          </p:nvPr>
        </p:nvPicPr>
        <p:blipFill>
          <a:blip r:embed="rId3"/>
          <a:stretch>
            <a:fillRect/>
          </a:stretch>
        </p:blipFill>
        <p:spPr>
          <a:xfrm>
            <a:off x="215072" y="978176"/>
            <a:ext cx="2408858" cy="4027022"/>
          </a:xfrm>
          <a:prstGeom prst="rect">
            <a:avLst/>
          </a:prstGeom>
        </p:spPr>
      </p:pic>
      <p:sp>
        <p:nvSpPr>
          <p:cNvPr id="9" name="Content Placeholder 2">
            <a:extLst>
              <a:ext uri="{FF2B5EF4-FFF2-40B4-BE49-F238E27FC236}">
                <a16:creationId xmlns:a16="http://schemas.microsoft.com/office/drawing/2014/main" id="{89BB3CA9-3A5B-1793-0A8D-CF6643F3044E}"/>
              </a:ext>
            </a:extLst>
          </p:cNvPr>
          <p:cNvSpPr txBox="1">
            <a:spLocks noGrp="1"/>
          </p:cNvSpPr>
          <p:nvPr>
            <p:ph type="body" idx="2"/>
          </p:nvPr>
        </p:nvSpPr>
        <p:spPr>
          <a:xfrm>
            <a:off x="2968488" y="901148"/>
            <a:ext cx="8640416" cy="1200329"/>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The figure to the left demonstrates how the </a:t>
            </a:r>
            <a:r>
              <a:rPr lang="en-US" sz="2400" dirty="0">
                <a:solidFill>
                  <a:srgbClr val="007440"/>
                </a:solidFill>
                <a:latin typeface="Times New Roman" panose="02020603050405020304" pitchFamily="18" charset="0"/>
                <a:cs typeface="Times New Roman" panose="02020603050405020304" pitchFamily="18" charset="0"/>
              </a:rPr>
              <a:t>right-hand rule </a:t>
            </a:r>
            <a:r>
              <a:rPr lang="en-US" sz="2400" dirty="0">
                <a:latin typeface="Times New Roman" panose="02020603050405020304" pitchFamily="18" charset="0"/>
                <a:cs typeface="Times New Roman" panose="02020603050405020304" pitchFamily="18" charset="0"/>
              </a:rPr>
              <a:t>would be applied to a rotating disc to determine the direction of its angular velocity vector, </a:t>
            </a:r>
            <a:r>
              <a:rPr lang="en-US" sz="2400" b="1" dirty="0">
                <a:latin typeface="Times New Roman" panose="02020603050405020304" pitchFamily="18" charset="0"/>
                <a:cs typeface="Times New Roman" panose="02020603050405020304" pitchFamily="18" charset="0"/>
              </a:rPr>
              <a:t>ω</a:t>
            </a:r>
            <a:r>
              <a:rPr lang="en-US" sz="2400" dirty="0">
                <a:latin typeface="Times New Roman" panose="02020603050405020304" pitchFamily="18" charset="0"/>
                <a:cs typeface="Times New Roman" panose="02020603050405020304" pitchFamily="18" charset="0"/>
              </a:rPr>
              <a:t>.</a:t>
            </a:r>
          </a:p>
        </p:txBody>
      </p:sp>
      <p:sp>
        <p:nvSpPr>
          <p:cNvPr id="24" name="Rectangle 23">
            <a:extLst>
              <a:ext uri="{FF2B5EF4-FFF2-40B4-BE49-F238E27FC236}">
                <a16:creationId xmlns:a16="http://schemas.microsoft.com/office/drawing/2014/main" id="{031AD58A-C874-EAD4-0D3C-38E4AFB25247}"/>
              </a:ext>
              <a:ext uri="{C183D7F6-B498-43B3-948B-1728B52AA6E4}">
                <adec:decorative xmlns:adec="http://schemas.microsoft.com/office/drawing/2017/decorative" val="1"/>
              </a:ext>
            </a:extLst>
          </p:cNvPr>
          <p:cNvSpPr/>
          <p:nvPr/>
        </p:nvSpPr>
        <p:spPr>
          <a:xfrm>
            <a:off x="2981739" y="2372139"/>
            <a:ext cx="8733183" cy="1563757"/>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3">
            <a:extLst>
              <a:ext uri="{FF2B5EF4-FFF2-40B4-BE49-F238E27FC236}">
                <a16:creationId xmlns:a16="http://schemas.microsoft.com/office/drawing/2014/main" id="{A92DB14C-B90D-26FD-CEB0-DCB3DB3991A8}"/>
              </a:ext>
            </a:extLst>
          </p:cNvPr>
          <p:cNvSpPr txBox="1">
            <a:spLocks noGrp="1"/>
          </p:cNvSpPr>
          <p:nvPr>
            <p:ph type="body" idx="3"/>
          </p:nvPr>
        </p:nvSpPr>
        <p:spPr>
          <a:xfrm>
            <a:off x="2968487" y="2335193"/>
            <a:ext cx="8693426"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latin typeface="Times New Roman" panose="02020603050405020304" pitchFamily="18" charset="0"/>
                <a:cs typeface="Times New Roman" panose="02020603050405020304" pitchFamily="18" charset="0"/>
              </a:rPr>
              <a:t>It is important to recognize that the direction of an angular vector does not coincide with the direction of motion of the rotating object. Instead, </a:t>
            </a:r>
            <a:r>
              <a:rPr lang="en-US" sz="2400" dirty="0">
                <a:solidFill>
                  <a:srgbClr val="007440"/>
                </a:solidFill>
                <a:latin typeface="Times New Roman" panose="02020603050405020304" pitchFamily="18" charset="0"/>
                <a:cs typeface="Times New Roman" panose="02020603050405020304" pitchFamily="18" charset="0"/>
              </a:rPr>
              <a:t>angular displacement</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 velocity</a:t>
            </a:r>
            <a:r>
              <a:rPr lang="en-US" sz="2400" dirty="0">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 acceleration</a:t>
            </a:r>
            <a:r>
              <a:rPr lang="en-US" sz="2400" dirty="0">
                <a:latin typeface="Times New Roman" panose="02020603050405020304" pitchFamily="18" charset="0"/>
                <a:cs typeface="Times New Roman" panose="02020603050405020304" pitchFamily="18" charset="0"/>
              </a:rPr>
              <a:t> are directed</a:t>
            </a:r>
          </a:p>
        </p:txBody>
      </p:sp>
      <p:sp>
        <p:nvSpPr>
          <p:cNvPr id="17" name="Rounded Rectangle 16">
            <a:extLst>
              <a:ext uri="{FF2B5EF4-FFF2-40B4-BE49-F238E27FC236}">
                <a16:creationId xmlns:a16="http://schemas.microsoft.com/office/drawing/2014/main" id="{FD1F4081-AEFE-9C77-8B6D-81213DBFCAEB}"/>
              </a:ext>
              <a:ext uri="{C183D7F6-B498-43B3-948B-1728B52AA6E4}">
                <adec:decorative xmlns:adec="http://schemas.microsoft.com/office/drawing/2017/decorative" val="1"/>
              </a:ext>
            </a:extLst>
          </p:cNvPr>
          <p:cNvSpPr/>
          <p:nvPr/>
        </p:nvSpPr>
        <p:spPr>
          <a:xfrm>
            <a:off x="6082750" y="3485321"/>
            <a:ext cx="398890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4">
            <a:extLst>
              <a:ext uri="{FF2B5EF4-FFF2-40B4-BE49-F238E27FC236}">
                <a16:creationId xmlns:a16="http://schemas.microsoft.com/office/drawing/2014/main" id="{FE61208C-22D7-2CD1-DFFC-412C23162DA7}"/>
              </a:ext>
            </a:extLst>
          </p:cNvPr>
          <p:cNvSpPr txBox="1">
            <a:spLocks noGrp="1"/>
          </p:cNvSpPr>
          <p:nvPr>
            <p:ph type="body" idx="4"/>
          </p:nvPr>
        </p:nvSpPr>
        <p:spPr>
          <a:xfrm>
            <a:off x="6082750" y="3447485"/>
            <a:ext cx="4227443"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along the axis of rotation</a:t>
            </a:r>
          </a:p>
        </p:txBody>
      </p:sp>
      <p:sp>
        <p:nvSpPr>
          <p:cNvPr id="4" name="Content Placeholder 5">
            <a:extLst>
              <a:ext uri="{FF2B5EF4-FFF2-40B4-BE49-F238E27FC236}">
                <a16:creationId xmlns:a16="http://schemas.microsoft.com/office/drawing/2014/main" id="{49C10CDC-DE08-2129-DEFD-E2EC9C972502}"/>
              </a:ext>
            </a:extLst>
          </p:cNvPr>
          <p:cNvSpPr txBox="1">
            <a:spLocks noGrp="1"/>
          </p:cNvSpPr>
          <p:nvPr>
            <p:ph type="body" idx="5"/>
          </p:nvPr>
        </p:nvSpPr>
        <p:spPr>
          <a:xfrm>
            <a:off x="10055639" y="3385930"/>
            <a:ext cx="2413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latin typeface="Times New Roman" pitchFamily="2" charset="0"/>
              </a:rPr>
              <a:t>.</a:t>
            </a:r>
            <a:endParaRPr lang="en-US" dirty="0">
              <a:latin typeface="Times New Roman"/>
            </a:endParaRPr>
          </a:p>
        </p:txBody>
      </p:sp>
    </p:spTree>
    <p:extLst>
      <p:ext uri="{BB962C8B-B14F-4D97-AF65-F5344CB8AC3E}">
        <p14:creationId xmlns:p14="http://schemas.microsoft.com/office/powerpoint/2010/main" val="199355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dissolve">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4" grpId="0" animBg="1"/>
      <p:bldP spid="12" grpId="0"/>
      <p:bldP spid="17" grpId="0" animBg="1"/>
      <p:bldP spid="23" grpId="0"/>
      <p:bldP spid="4" grpId="0"/>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7C5D92-B12C-4291-A54E-D77170B81DF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07201A4-B1D6-4E7E-9645-D6C184C65E3B}">
  <ds:schemaRefs>
    <ds:schemaRef ds:uri="http://schemas.microsoft.com/sharepoint/v3/contenttype/forms"/>
  </ds:schemaRefs>
</ds:datastoreItem>
</file>

<file path=customXml/itemProps3.xml><?xml version="1.0" encoding="utf-8"?>
<ds:datastoreItem xmlns:ds="http://schemas.openxmlformats.org/officeDocument/2006/customXml" ds:itemID="{D4838CDE-5836-4935-A7E3-CDC3CD0AC6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e5d69-9466-47e8-8dc9-197116f7f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Wiley Green</Template>
  <TotalTime>97479</TotalTime>
  <Words>5105</Words>
  <Application>Microsoft Office PowerPoint</Application>
  <PresentationFormat>Widescreen</PresentationFormat>
  <Paragraphs>453</Paragraphs>
  <Slides>42</Slides>
  <Notes>42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42</vt:i4>
      </vt:variant>
    </vt:vector>
  </HeadingPairs>
  <TitlesOfParts>
    <vt:vector size="50" baseType="lpstr">
      <vt:lpstr>Arial</vt:lpstr>
      <vt:lpstr>Symbol</vt:lpstr>
      <vt:lpstr>Times</vt:lpstr>
      <vt:lpstr>Times New Roman</vt:lpstr>
      <vt:lpstr>Wiley Green</vt:lpstr>
      <vt:lpstr>MathType 7.0 Equation</vt:lpstr>
      <vt:lpstr>Equation</vt:lpstr>
      <vt:lpstr>Microsoft Equation 3.0</vt:lpstr>
      <vt:lpstr>Cutnell &amp; Johnson  Physics</vt:lpstr>
      <vt:lpstr>8.1 Rotational Motion and Angular Displacement (1 of 9)</vt:lpstr>
      <vt:lpstr>8.1 Rotational Motion and Angular Displacement (2 of 9)</vt:lpstr>
      <vt:lpstr>8.1 Rotational Motion and Angular Displacement (3 of 9)</vt:lpstr>
      <vt:lpstr>8.1 Rotational Motion and Angular Displacement (4 of 9)</vt:lpstr>
      <vt:lpstr>8.1 Rotational Motion and Angular Displacement (5 of 9)</vt:lpstr>
      <vt:lpstr>8.1 Rotational Motion and Angular Displacement (6 of 9)</vt:lpstr>
      <vt:lpstr>8.1 Rotational Motion and Angular Displacement (7 of 9)</vt:lpstr>
      <vt:lpstr>8.1 Rotational Motion and Angular Displacement (8 of 9)</vt:lpstr>
      <vt:lpstr>8.1 Rotational Motion and Angular Displacement (9 of 9)</vt:lpstr>
      <vt:lpstr>8.2 Angular Velocity and Angular Acceleration (1 of 8)</vt:lpstr>
      <vt:lpstr>8.2 Angular Velocity and Angular Acceleration (2 of 8)</vt:lpstr>
      <vt:lpstr>8.2 Angular Velocity and Angular Acceleration (3 of 8)</vt:lpstr>
      <vt:lpstr>8.2 Angular Velocity and Angular Acceleration (4 of 8)</vt:lpstr>
      <vt:lpstr>8.2 Angular Velocity and Angular Acceleration (5 of 8)</vt:lpstr>
      <vt:lpstr>8.2 Angular Velocity and Angular Acceleration (6 of 8)</vt:lpstr>
      <vt:lpstr>8.2 Angular Velocity and Angular Acceleration (7 of 8)</vt:lpstr>
      <vt:lpstr>8.2 Angular Velocity and Angular Acceleration (8 of 8)</vt:lpstr>
      <vt:lpstr>8.3 The Equations of Rotational Kinematics (1 of 7)</vt:lpstr>
      <vt:lpstr>8.3 The Equations of Rotational Kinematics (2 of 7)</vt:lpstr>
      <vt:lpstr>8.3 The Equations of Rotational Kinematics (3 of 7)</vt:lpstr>
      <vt:lpstr>8.3 The Equations of Rotational Kinematics (4 of 7)</vt:lpstr>
      <vt:lpstr>8.3 The Equations of Rotational Kinematics (5 of 7)</vt:lpstr>
      <vt:lpstr>8.3 The Equations of Rotational Kinematics (6 of 7)</vt:lpstr>
      <vt:lpstr>8.3 The Equations of Rotational Kinematics (7 of 7)</vt:lpstr>
      <vt:lpstr>8.4 Angular Variables and Tangential Variables (1 of 6)</vt:lpstr>
      <vt:lpstr>8.4 Angular Variables and Tangential Variables (2 of 6)</vt:lpstr>
      <vt:lpstr>8.4 Angular Variables and Tangential Variables (3 of 6)</vt:lpstr>
      <vt:lpstr>8.4 Angular Variables and Tangential Variables (4 of 6)</vt:lpstr>
      <vt:lpstr>8.4 Angular Variables and Tangential Variables (5 of 6)</vt:lpstr>
      <vt:lpstr>8.4 Angular Variables and Tangential Variables (6 of 6)</vt:lpstr>
      <vt:lpstr>8.5 Centripetal Acceleration and Tangential Acceleration (1 of 5)</vt:lpstr>
      <vt:lpstr>8.5 Centripetal Acceleration and Tangential Acceleration (2 of 5)</vt:lpstr>
      <vt:lpstr>8.5 Centripetal Acceleration and Tangential Acceleration (3 of 5)</vt:lpstr>
      <vt:lpstr>8.5 Centripetal Acceleration and Tangential Acceleration (4 of 5)</vt:lpstr>
      <vt:lpstr>8.5 Centripetal Acceleration and Tangential Acceleration (5 of 5)</vt:lpstr>
      <vt:lpstr>8.6 Rolling Motion (1 of 4)</vt:lpstr>
      <vt:lpstr>8.6 Rolling Motion (2 of 4)</vt:lpstr>
      <vt:lpstr>8.6 Rolling Motion (3 of 4)</vt:lpstr>
      <vt:lpstr>8.6 Rolling Motion (4 of 4)</vt:lpstr>
      <vt:lpstr>8.7 The Vector Nature of Angular Variables (1 of 2)</vt:lpstr>
      <vt:lpstr>8.7 The Vector Nature of Angular Variables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Gobika  S</cp:lastModifiedBy>
  <cp:revision>1346</cp:revision>
  <cp:lastPrinted>2026-04-16T02:17:59Z</cp:lastPrinted>
  <dcterms:created xsi:type="dcterms:W3CDTF">2018-08-23T13:01:59Z</dcterms:created>
  <dcterms:modified xsi:type="dcterms:W3CDTF">2026-10-08T13:19:33Z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