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Figtree Regular" pitchFamily="2" charset="0"/>
      <p:regular r:id="rId42"/>
    </p:embeddedFont>
    <p:embeddedFont>
      <p:font typeface="Figtree Bold" pitchFamily="2"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7e5e8090c20427eecedff6d1a9b82ee7635d8b66.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802d43a0c65b585aff888d6adbb8d74cbd830fa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ca80da3b18afd41843cedc7d3ac04372a6054ca3.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bcfb07b21ff8a7de9fe3bd86adb77af6db666287.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55774887e10b13c6566b926c6f74f20e3f42a01f.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2383710"/>
            <a:ext cx="12192000" cy="3031569"/>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0" y="2383710"/>
            <a:ext cx="12192000" cy="303157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410200" y="527132"/>
            <a:ext cx="1371600" cy="1371600"/>
          </a:xfrm>
          <a:prstGeom prst="rect">
            <a:avLst/>
          </a:prstGeom>
          <a:noFill/>
          <a:ln/>
        </p:spPr>
        <p:txBody>
          <a:bodyPr wrap="square" lIns="0" tIns="0" rIns="0" bIns="0" rtlCol="0" anchor="ctr"/>
          <a:lstStyle/>
          <a:p>
            <a:pPr indent="0" marL="0">
              <a:buNone/>
            </a:pPr>
            <a:endParaRPr lang="en-US" dirty="0"/>
          </a:p>
        </p:txBody>
      </p:sp>
      <p:sp>
        <p:nvSpPr>
          <p:cNvPr id="7" name="Text 5"/>
          <p:cNvSpPr/>
          <p:nvPr/>
        </p:nvSpPr>
        <p:spPr>
          <a:xfrm>
            <a:off x="1479147" y="4325655"/>
            <a:ext cx="9233707" cy="600364"/>
          </a:xfrm>
          <a:prstGeom prst="rect">
            <a:avLst/>
          </a:prstGeom>
          <a:noFill/>
          <a:ln/>
        </p:spPr>
        <p:txBody>
          <a:bodyPr wrap="square" lIns="0" tIns="0" rIns="0" bIns="0" rtlCol="0" anchor="ctr"/>
          <a:lstStyle/>
          <a:p>
            <a:pPr algn="ctr" marL="0" indent="0">
              <a:lnSpc>
                <a:spcPct val="9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How Criminals Weaponize AI - Chapter 8</a:t>
            </a:r>
            <a:endParaRPr lang="en-US" sz="1800" dirty="0"/>
          </a:p>
        </p:txBody>
      </p:sp>
      <p:sp>
        <p:nvSpPr>
          <p:cNvPr id="8" name="Text 6"/>
          <p:cNvSpPr/>
          <p:nvPr/>
        </p:nvSpPr>
        <p:spPr>
          <a:xfrm>
            <a:off x="1485497" y="2858495"/>
            <a:ext cx="9221007" cy="1314194"/>
          </a:xfrm>
          <a:prstGeom prst="rect">
            <a:avLst/>
          </a:prstGeom>
          <a:noFill/>
          <a:ln/>
        </p:spPr>
        <p:txBody>
          <a:bodyPr wrap="square" lIns="0" tIns="0" rIns="0" bIns="0" rtlCol="0" anchor="ctr"/>
          <a:lstStyle/>
          <a:p>
            <a:pPr algn="ctr"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Cyber Detective's Toolkit: Stories of AI Fighting Digital Crime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 y="6495651"/>
            <a:ext cx="493776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5" name="Text 3"/>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nvSpPr>
        <p:spPr>
          <a:xfrm>
            <a:off x="505463"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Introduction: The Dark Side of AI</a:t>
            </a:r>
            <a:endParaRPr lang="en-US" sz="2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97998" y="1757275"/>
            <a:ext cx="10998536" cy="4203631"/>
          </a:xfrm>
          <a:prstGeom prst="rect">
            <a:avLst/>
          </a:prstGeom>
          <a:noFill/>
          <a:ln/>
        </p:spPr>
        <p:txBody>
          <a:bodyPr wrap="square" lIns="0" tIns="0" rIns="0" bIns="0" rtlCol="0" anchor="t"/>
          <a:lstStyle/>
          <a:p>
            <a:pPr algn="l" marL="0" indent="0">
              <a:lnSpc>
                <a:spcPct val="10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Introduction: The Dark Side of AI</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Chapter 8 explores how criminals leverage artificial intelligence to conduct sophisticated cybercrime, transforming traditional attacks into highly automated, personalized, and scalable threats. These AI-powered crimes include voice cloning for impersonation, AI-generated phishing that achieves unprecedented success rates, and automated vulnerability discovery that outpaces human efforts.</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Real-world impacts such as the deepfake CEO fraud, where AI-generated synthetic voices deceived trusted executives into transferring large sums of money, highlight the challenges AI poses to security. The chapter emphasizes the asymmetry between attackers and defenders, as criminals exploit AI to automate and enhance their methods while defenders struggle to keep pace.</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Understanding this evolving threat landscape is crucial for developing effective defenses and maintaining trust in digital communications, as AI reshapes both the opportunities and the risks in cybersecurity.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657601" y="0"/>
            <a:ext cx="8534336"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3657600" y="447"/>
            <a:ext cx="8534336"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4003550" y="289560"/>
            <a:ext cx="768553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Case Study: The Voice on the Phone</a:t>
            </a:r>
            <a:endParaRPr lang="en-US" sz="2800" dirty="0"/>
          </a:p>
        </p:txBody>
      </p:sp>
      <p:sp>
        <p:nvSpPr>
          <p:cNvPr id="7" name="Text 5"/>
          <p:cNvSpPr/>
          <p:nvPr/>
        </p:nvSpPr>
        <p:spPr>
          <a:xfrm>
            <a:off x="4003550"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601391"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9199233"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202629"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4202629"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2" name="Text 10"/>
          <p:cNvSpPr/>
          <p:nvPr/>
        </p:nvSpPr>
        <p:spPr>
          <a:xfrm>
            <a:off x="6803078"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803078"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4" name="Text 12"/>
          <p:cNvSpPr/>
          <p:nvPr/>
        </p:nvSpPr>
        <p:spPr>
          <a:xfrm>
            <a:off x="9403527"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9403527"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6" name="Text 14"/>
          <p:cNvSpPr/>
          <p:nvPr/>
        </p:nvSpPr>
        <p:spPr>
          <a:xfrm>
            <a:off x="4003550"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7" name="Text 15"/>
          <p:cNvSpPr/>
          <p:nvPr/>
        </p:nvSpPr>
        <p:spPr>
          <a:xfrm>
            <a:off x="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4762" b="34762"/>
            </a:stretch>
          </a:blipFill>
          <a:ln/>
        </p:spPr>
        <p:txBody>
          <a:bodyPr wrap="square" lIns="0" tIns="0" rIns="0" bIns="0" rtlCol="0" anchor="ctr"/>
          <a:lstStyle/>
          <a:p>
            <a:pPr indent="0" marL="0">
              <a:buNone/>
            </a:pPr>
            <a:endParaRPr lang="en-US" dirty="0"/>
          </a:p>
        </p:txBody>
      </p:sp>
      <p:sp>
        <p:nvSpPr>
          <p:cNvPr id="18" name="Text 16"/>
          <p:cNvSpPr/>
          <p:nvPr/>
        </p:nvSpPr>
        <p:spPr>
          <a:xfrm>
            <a:off x="9403527" y="2655067"/>
            <a:ext cx="2101454" cy="3172398"/>
          </a:xfrm>
          <a:prstGeom prst="rect">
            <a:avLst/>
          </a:prstGeom>
          <a:noFill/>
          <a:ln/>
        </p:spPr>
        <p:txBody>
          <a:bodyPr wrap="square" lIns="0" tIns="0" rIns="0" bIns="0" rtlCol="0" anchor="t"/>
          <a:lstStyle/>
          <a:p>
            <a:pPr algn="l" marL="0" indent="0">
              <a:lnSpc>
                <a:spcPct val="100000"/>
              </a:lnSpc>
              <a:spcBef>
                <a:spcPts val="1276"/>
              </a:spcBef>
              <a:buNone/>
            </a:pPr>
            <a:r>
              <a:rPr lang="en-US" sz="1404" dirty="0">
                <a:solidFill>
                  <a:srgbClr val="FFFFFF"/>
                </a:solidFill>
                <a:latin typeface="Figtree Regular" pitchFamily="34" charset="0"/>
                <a:ea typeface="Figtree Regular" pitchFamily="34" charset="-122"/>
                <a:cs typeface="Figtree Regular" pitchFamily="34" charset="-120"/>
              </a:rPr>
              <a:t>The victim experienced profound betrayal of trust, as the voice had been recognized with absolute certainty. The manipulation exploited human reliance on familiar voices and disrupted confidence in personal judgment, highlighting vulnerabilities in traditional verification reliant on voice recognition.</a:t>
            </a:r>
            <a:endParaRPr lang="en-US" sz="1404" dirty="0"/>
          </a:p>
        </p:txBody>
      </p:sp>
      <p:sp>
        <p:nvSpPr>
          <p:cNvPr id="19" name="Text 17"/>
          <p:cNvSpPr/>
          <p:nvPr/>
        </p:nvSpPr>
        <p:spPr>
          <a:xfrm>
            <a:off x="9407647" y="2172664"/>
            <a:ext cx="2101454" cy="398588"/>
          </a:xfrm>
          <a:prstGeom prst="rect">
            <a:avLst/>
          </a:prstGeom>
          <a:noFill/>
          <a:ln/>
        </p:spPr>
        <p:txBody>
          <a:bodyPr wrap="square" lIns="0" tIns="0" rIns="0" bIns="0" rtlCol="0" anchor="t"/>
          <a:lstStyle/>
          <a:p>
            <a:pPr algn="l" marL="0" indent="0">
              <a:lnSpc>
                <a:spcPct val="90000"/>
              </a:lnSpc>
              <a:buNone/>
            </a:pPr>
            <a:r>
              <a:rPr lang="en-US" sz="1740" dirty="0">
                <a:solidFill>
                  <a:srgbClr val="FFFFFF"/>
                </a:solidFill>
                <a:latin typeface="Figtree Regular" pitchFamily="34" charset="0"/>
                <a:ea typeface="Figtree Regular" pitchFamily="34" charset="-122"/>
                <a:cs typeface="Figtree Regular" pitchFamily="34" charset="-120"/>
              </a:rPr>
              <a:t>Psychological Impact</a:t>
            </a:r>
            <a:endParaRPr lang="en-US" sz="1740" dirty="0"/>
          </a:p>
        </p:txBody>
      </p:sp>
      <p:sp>
        <p:nvSpPr>
          <p:cNvPr id="20" name="Text 18"/>
          <p:cNvSpPr/>
          <p:nvPr/>
        </p:nvSpPr>
        <p:spPr>
          <a:xfrm>
            <a:off x="6803078" y="2655067"/>
            <a:ext cx="2101454" cy="3172398"/>
          </a:xfrm>
          <a:prstGeom prst="rect">
            <a:avLst/>
          </a:prstGeom>
          <a:noFill/>
          <a:ln/>
        </p:spPr>
        <p:txBody>
          <a:bodyPr wrap="square" lIns="0" tIns="0" rIns="0" bIns="0" rtlCol="0" anchor="t"/>
          <a:lstStyle/>
          <a:p>
            <a:pPr algn="l" marL="0" indent="0">
              <a:lnSpc>
                <a:spcPct val="100000"/>
              </a:lnSpc>
              <a:spcBef>
                <a:spcPts val="1276"/>
              </a:spcBef>
              <a:buNone/>
            </a:pPr>
            <a:r>
              <a:rPr lang="en-US" sz="1404" dirty="0">
                <a:solidFill>
                  <a:srgbClr val="FFFFFF"/>
                </a:solidFill>
                <a:latin typeface="Figtree Regular" pitchFamily="34" charset="0"/>
                <a:ea typeface="Figtree Regular" pitchFamily="34" charset="-122"/>
                <a:cs typeface="Figtree Regular" pitchFamily="34" charset="-120"/>
              </a:rPr>
              <a:t>Criminals used AI voice synthesis software to clone the German executive's voice based on publicly available audio from presentations and interviews. This created a synthetic voice indistinguishable from the genuine one, fooling the victim without any technical intrusion or direct hacking.</a:t>
            </a:r>
            <a:endParaRPr lang="en-US" sz="1404" dirty="0"/>
          </a:p>
        </p:txBody>
      </p:sp>
      <p:sp>
        <p:nvSpPr>
          <p:cNvPr id="21" name="Text 19"/>
          <p:cNvSpPr/>
          <p:nvPr/>
        </p:nvSpPr>
        <p:spPr>
          <a:xfrm>
            <a:off x="6807198" y="2172664"/>
            <a:ext cx="2101454" cy="398588"/>
          </a:xfrm>
          <a:prstGeom prst="rect">
            <a:avLst/>
          </a:prstGeom>
          <a:noFill/>
          <a:ln/>
        </p:spPr>
        <p:txBody>
          <a:bodyPr wrap="square" lIns="0" tIns="0" rIns="0" bIns="0" rtlCol="0" anchor="t"/>
          <a:lstStyle/>
          <a:p>
            <a:pPr algn="l" marL="0" indent="0">
              <a:lnSpc>
                <a:spcPct val="90000"/>
              </a:lnSpc>
              <a:buNone/>
            </a:pPr>
            <a:r>
              <a:rPr lang="en-US" sz="1740" dirty="0">
                <a:solidFill>
                  <a:srgbClr val="FFFFFF"/>
                </a:solidFill>
                <a:latin typeface="Figtree Regular" pitchFamily="34" charset="0"/>
                <a:ea typeface="Figtree Regular" pitchFamily="34" charset="-122"/>
                <a:cs typeface="Figtree Regular" pitchFamily="34" charset="-120"/>
              </a:rPr>
              <a:t>Method of Attack</a:t>
            </a:r>
            <a:endParaRPr lang="en-US" sz="1740" dirty="0"/>
          </a:p>
        </p:txBody>
      </p:sp>
      <p:sp>
        <p:nvSpPr>
          <p:cNvPr id="22" name="Text 20"/>
          <p:cNvSpPr/>
          <p:nvPr/>
        </p:nvSpPr>
        <p:spPr>
          <a:xfrm>
            <a:off x="4202629" y="2655067"/>
            <a:ext cx="2101454" cy="3172398"/>
          </a:xfrm>
          <a:prstGeom prst="rect">
            <a:avLst/>
          </a:prstGeom>
          <a:noFill/>
          <a:ln/>
        </p:spPr>
        <p:txBody>
          <a:bodyPr wrap="square" lIns="0" tIns="0" rIns="0" bIns="0" rtlCol="0" anchor="t"/>
          <a:lstStyle/>
          <a:p>
            <a:pPr algn="l" marL="0" indent="0">
              <a:lnSpc>
                <a:spcPct val="100000"/>
              </a:lnSpc>
              <a:spcBef>
                <a:spcPts val="1276"/>
              </a:spcBef>
              <a:buNone/>
            </a:pPr>
            <a:r>
              <a:rPr lang="en-US" sz="1404" dirty="0">
                <a:solidFill>
                  <a:srgbClr val="FFFFFF"/>
                </a:solidFill>
                <a:latin typeface="Figtree Regular" pitchFamily="34" charset="0"/>
                <a:ea typeface="Figtree Regular" pitchFamily="34" charset="-122"/>
                <a:cs typeface="Figtree Regular" pitchFamily="34" charset="-120"/>
              </a:rPr>
              <a:t>In March 2019, a UK energy company CEO received a phone call from a voice impersonating his German parent company CEO. The attacker requested an urgent wire transfer of €220,000 to a Hungarian supplier account. Trusting the familiar voice, the CEO completed the transfer, which was traced to criminal networks before disappearing.</a:t>
            </a:r>
            <a:endParaRPr lang="en-US" sz="1404" dirty="0"/>
          </a:p>
        </p:txBody>
      </p:sp>
      <p:sp>
        <p:nvSpPr>
          <p:cNvPr id="23" name="Text 21"/>
          <p:cNvSpPr/>
          <p:nvPr/>
        </p:nvSpPr>
        <p:spPr>
          <a:xfrm>
            <a:off x="4206749" y="2172664"/>
            <a:ext cx="2101454" cy="398588"/>
          </a:xfrm>
          <a:prstGeom prst="rect">
            <a:avLst/>
          </a:prstGeom>
          <a:noFill/>
          <a:ln/>
        </p:spPr>
        <p:txBody>
          <a:bodyPr wrap="square" lIns="0" tIns="0" rIns="0" bIns="0" rtlCol="0" anchor="t"/>
          <a:lstStyle/>
          <a:p>
            <a:pPr algn="l" marL="0" indent="0">
              <a:lnSpc>
                <a:spcPct val="90000"/>
              </a:lnSpc>
              <a:buNone/>
            </a:pPr>
            <a:r>
              <a:rPr lang="en-US" sz="1740" dirty="0">
                <a:solidFill>
                  <a:srgbClr val="FFFFFF"/>
                </a:solidFill>
                <a:latin typeface="Figtree Regular" pitchFamily="34" charset="0"/>
                <a:ea typeface="Figtree Regular" pitchFamily="34" charset="-122"/>
                <a:cs typeface="Figtree Regular" pitchFamily="34" charset="-120"/>
              </a:rPr>
              <a:t>Incident Overview</a:t>
            </a:r>
            <a:endParaRPr lang="en-US" sz="1740"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7" name="Text 5"/>
          <p:cNvSpPr/>
          <p:nvPr/>
        </p:nvSpPr>
        <p:spPr>
          <a:xfrm>
            <a:off x="6266413" y="2817373"/>
            <a:ext cx="5212080" cy="2926080"/>
          </a:xfrm>
          <a:prstGeom prst="rect">
            <a:avLst/>
          </a:prstGeom>
          <a:noFill/>
          <a:ln/>
        </p:spPr>
        <p:txBody>
          <a:bodyPr wrap="square" lIns="0" tIns="0" rIns="0" bIns="0" rtlCol="0" anchor="t"/>
          <a:lstStyle/>
          <a:p>
            <a:pPr algn="l" marL="182880" indent="-182880">
              <a:lnSpc>
                <a:spcPct val="100000"/>
              </a:lnSpc>
              <a:buSzPct val="120000"/>
              <a:buFont typeface="Arial"/>
              <a:buChar char="•"/>
            </a:pPr>
            <a:r>
              <a:rPr lang="en-US" sz="1589" dirty="0">
                <a:solidFill>
                  <a:srgbClr val="FFFFFF"/>
                </a:solidFill>
                <a:latin typeface="Figtree Regular" pitchFamily="34" charset="0"/>
                <a:ea typeface="Figtree Regular" pitchFamily="34" charset="-122"/>
                <a:cs typeface="Figtree Regular" pitchFamily="34" charset="-120"/>
              </a:rPr>
              <a:t>The same AI technologies that protect us are being weaponized by criminals to attack with unprecedented sophistication and scale. AI enables deepfake voice cloning and video synthesis that can impersonate trusted individuals, fooling even experienced executives. AI-generated phishing campaigns produce personalized, context-aware messages at mass scale, vastly increasing success rates. Automated vulnerability discovery accelerates hacking, while crime-as-a-service platforms lower barriers for attackers. This dual-use nature challenges defenders to evolve verification and defense mechanisms continuously.</a:t>
            </a:r>
            <a:endParaRPr lang="en-US" sz="1589" dirty="0"/>
          </a:p>
        </p:txBody>
      </p:sp>
      <p:sp>
        <p:nvSpPr>
          <p:cNvPr id="8" name="Text 6"/>
          <p:cNvSpPr/>
          <p:nvPr/>
        </p:nvSpPr>
        <p:spPr>
          <a:xfrm>
            <a:off x="6266417" y="2105232"/>
            <a:ext cx="5212080" cy="551640"/>
          </a:xfrm>
          <a:custGeom>
            <a:avLst/>
            <a:gdLst/>
            <a:ahLst/>
            <a:cxnLst/>
            <a:rect l="l" t="t" r="r" b="b"/>
            <a:pathLst>
              <a:path w="5212080" h="551640">
                <a:moveTo>
                  <a:pt x="99290" y="551640"/>
                </a:moveTo>
                <a:cubicBezTo>
                  <a:pt x="44459" y="551640"/>
                  <a:pt x="0" y="507183"/>
                  <a:pt x="0" y="452345"/>
                </a:cubicBezTo>
                <a:lnTo>
                  <a:pt x="0" y="99295"/>
                </a:lnTo>
                <a:cubicBezTo>
                  <a:pt x="0" y="44457"/>
                  <a:pt x="44459" y="0"/>
                  <a:pt x="99290" y="0"/>
                </a:cubicBezTo>
                <a:lnTo>
                  <a:pt x="5112790" y="0"/>
                </a:lnTo>
                <a:cubicBezTo>
                  <a:pt x="5167621" y="0"/>
                  <a:pt x="5212080" y="44457"/>
                  <a:pt x="5212080" y="99295"/>
                </a:cubicBezTo>
                <a:lnTo>
                  <a:pt x="5212080" y="452345"/>
                </a:lnTo>
                <a:cubicBezTo>
                  <a:pt x="5212080" y="507183"/>
                  <a:pt x="5167621" y="551640"/>
                  <a:pt x="5112790" y="551640"/>
                </a:cubicBezTo>
                <a:lnTo>
                  <a:pt x="99290" y="551640"/>
                </a:lnTo>
              </a:path>
            </a:pathLst>
          </a:custGeom>
          <a:solidFill>
            <a:srgbClr val="156082"/>
          </a:solidFill>
          <a:ln/>
        </p:spPr>
        <p:txBody>
          <a:bodyPr wrap="square" lIns="0" tIns="0" rIns="0" bIns="0" rtlCol="0" anchor="ctr"/>
          <a:lstStyle/>
          <a:p>
            <a:pPr indent="0" marL="0">
              <a:buNone/>
            </a:pPr>
            <a:endParaRPr lang="en-US" dirty="0"/>
          </a:p>
        </p:txBody>
      </p:sp>
      <p:sp>
        <p:nvSpPr>
          <p:cNvPr id="9" name="Text 7"/>
          <p:cNvSpPr/>
          <p:nvPr/>
        </p:nvSpPr>
        <p:spPr>
          <a:xfrm>
            <a:off x="6266417" y="2242392"/>
            <a:ext cx="5212080" cy="277320"/>
          </a:xfrm>
          <a:prstGeom prst="rect">
            <a:avLst/>
          </a:prstGeom>
          <a:noFill/>
          <a:ln/>
        </p:spPr>
        <p:txBody>
          <a:bodyPr wrap="square" lIns="0" tIns="0" rIns="0" bIns="0" rtlCol="0" anchor="t"/>
          <a:lstStyle/>
          <a:p>
            <a:pPr algn="ctr"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AI as a Weapon for Criminals</a:t>
            </a:r>
            <a:endParaRPr lang="en-US" sz="2320" dirty="0"/>
          </a:p>
        </p:txBody>
      </p:sp>
      <p:sp>
        <p:nvSpPr>
          <p:cNvPr id="10" name="Text 8"/>
          <p:cNvSpPr/>
          <p:nvPr/>
        </p:nvSpPr>
        <p:spPr>
          <a:xfrm>
            <a:off x="518159" y="2817373"/>
            <a:ext cx="5212080" cy="2926080"/>
          </a:xfrm>
          <a:prstGeom prst="rect">
            <a:avLst/>
          </a:prstGeom>
          <a:noFill/>
          <a:ln/>
        </p:spPr>
        <p:txBody>
          <a:bodyPr wrap="square" lIns="0" tIns="0" rIns="0" bIns="0" rtlCol="0" anchor="t"/>
          <a:lstStyle/>
          <a:p>
            <a:pPr algn="l" marL="182880" indent="-182880">
              <a:lnSpc>
                <a:spcPct val="100000"/>
              </a:lnSpc>
              <a:buSzPct val="120000"/>
              <a:buFont typeface="Arial"/>
              <a:buChar char="•"/>
            </a:pPr>
            <a:r>
              <a:rPr lang="en-US" sz="1589" dirty="0">
                <a:solidFill>
                  <a:srgbClr val="FFFFFF"/>
                </a:solidFill>
                <a:latin typeface="Figtree Regular" pitchFamily="34" charset="0"/>
                <a:ea typeface="Figtree Regular" pitchFamily="34" charset="-122"/>
                <a:cs typeface="Figtree Regular" pitchFamily="34" charset="-120"/>
              </a:rPr>
              <a:t>Artificial intelligence serves as a powerful ally in the fight against cybercrime by detecting malware, identifying fraud, and securing networks. AI-powered vulnerability discovery helps organizations proactively find and patch security flaws before they can be exploited. Defensive AI techniques like adversarial training and detection networks strengthen systems against attacks. Human judgment combined with AI tools enhances detection and response capabilities, helping to maintain trust and cooperation in digital communications.</a:t>
            </a:r>
            <a:endParaRPr lang="en-US" sz="1589" dirty="0"/>
          </a:p>
        </p:txBody>
      </p:sp>
      <p:sp>
        <p:nvSpPr>
          <p:cNvPr id="11" name="Text 9"/>
          <p:cNvSpPr/>
          <p:nvPr/>
        </p:nvSpPr>
        <p:spPr>
          <a:xfrm>
            <a:off x="518159" y="2105232"/>
            <a:ext cx="5212080" cy="551640"/>
          </a:xfrm>
          <a:custGeom>
            <a:avLst/>
            <a:gdLst/>
            <a:ahLst/>
            <a:cxnLst/>
            <a:rect l="l" t="t" r="r" b="b"/>
            <a:pathLst>
              <a:path w="5212080" h="551640">
                <a:moveTo>
                  <a:pt x="99290" y="551640"/>
                </a:moveTo>
                <a:cubicBezTo>
                  <a:pt x="44459" y="551640"/>
                  <a:pt x="0" y="507183"/>
                  <a:pt x="0" y="452345"/>
                </a:cubicBezTo>
                <a:lnTo>
                  <a:pt x="0" y="99295"/>
                </a:lnTo>
                <a:cubicBezTo>
                  <a:pt x="0" y="44457"/>
                  <a:pt x="44459" y="0"/>
                  <a:pt x="99290" y="0"/>
                </a:cubicBezTo>
                <a:lnTo>
                  <a:pt x="5112790" y="0"/>
                </a:lnTo>
                <a:cubicBezTo>
                  <a:pt x="5167621" y="0"/>
                  <a:pt x="5212080" y="44457"/>
                  <a:pt x="5212080" y="99295"/>
                </a:cubicBezTo>
                <a:lnTo>
                  <a:pt x="5212080" y="452345"/>
                </a:lnTo>
                <a:cubicBezTo>
                  <a:pt x="5212080" y="507183"/>
                  <a:pt x="5167621" y="551640"/>
                  <a:pt x="5112790" y="551640"/>
                </a:cubicBezTo>
                <a:lnTo>
                  <a:pt x="99290" y="55164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18159" y="2242392"/>
            <a:ext cx="5212080" cy="277320"/>
          </a:xfrm>
          <a:prstGeom prst="rect">
            <a:avLst/>
          </a:prstGeom>
          <a:noFill/>
          <a:ln/>
        </p:spPr>
        <p:txBody>
          <a:bodyPr wrap="square" lIns="0" tIns="0" rIns="0" bIns="0" rtlCol="0" anchor="t"/>
          <a:lstStyle/>
          <a:p>
            <a:pPr algn="ctr"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AI as a Defender</a:t>
            </a:r>
            <a:endParaRPr lang="en-US" sz="2320" dirty="0"/>
          </a:p>
        </p:txBody>
      </p:sp>
      <p:sp>
        <p:nvSpPr>
          <p:cNvPr id="13" name="Text 1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4" name="Text 12"/>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AI's Double-Edged Sword</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030"/>
              </a:spcBef>
              <a:buNone/>
            </a:pPr>
            <a:r>
              <a:rPr lang="en-US" sz="1648" dirty="0">
                <a:solidFill>
                  <a:srgbClr val="FFFFFF"/>
                </a:solidFill>
                <a:latin typeface="Figtree Regular" pitchFamily="34" charset="0"/>
                <a:ea typeface="Figtree Regular" pitchFamily="34" charset="-122"/>
                <a:cs typeface="Figtree Regular" pitchFamily="34" charset="-120"/>
              </a:rPr>
              <a:t>Adversarial Machine Learning: The Art of Digital Deception</a:t>
            </a:r>
            <a:endParaRPr lang="en-US" sz="1648" dirty="0"/>
          </a:p>
          <a:p>
            <a:pPr algn="l" marL="142875" indent="0">
              <a:lnSpc>
                <a:spcPct val="100000"/>
              </a:lnSpc>
              <a:spcBef>
                <a:spcPts val="1030"/>
              </a:spcBef>
              <a:buNone/>
            </a:pPr>
            <a:r>
              <a:rPr lang="en-US" sz="1401" dirty="0">
                <a:solidFill>
                  <a:srgbClr val="FFFFFF"/>
                </a:solidFill>
                <a:latin typeface="Figtree Regular" pitchFamily="34" charset="0"/>
                <a:ea typeface="Figtree Regular" pitchFamily="34" charset="-122"/>
                <a:cs typeface="Figtree Regular" pitchFamily="34" charset="-120"/>
              </a:rPr>
              <a:t>Adversarial machine learning exploits the inherent weaknesses of AI systems by crafting inputs designed to cause AI models to fail. Despite how sophisticated or accurate an AI model may be, attackers find or create subtle manipulations—called adversarial examples—that deceive the system without obvious changes to humans.</a:t>
            </a:r>
            <a:endParaRPr lang="en-US" sz="1648" dirty="0"/>
          </a:p>
          <a:p>
            <a:pPr algn="l" marL="142875" indent="0">
              <a:lnSpc>
                <a:spcPct val="100000"/>
              </a:lnSpc>
              <a:spcBef>
                <a:spcPts val="1030"/>
              </a:spcBef>
              <a:buNone/>
            </a:pPr>
            <a:r>
              <a:rPr lang="en-US" sz="1401" dirty="0">
                <a:solidFill>
                  <a:srgbClr val="FFFFFF"/>
                </a:solidFill>
                <a:latin typeface="Figtree Regular" pitchFamily="34" charset="0"/>
                <a:ea typeface="Figtree Regular" pitchFamily="34" charset="-122"/>
                <a:cs typeface="Figtree Regular" pitchFamily="34" charset="-120"/>
              </a:rPr>
              <a:t>Imagine AI as a highly trained guard dog that recognizes threats through learned patterns like smells or sounds. An intruder could disguise or mask these signs to fool the dog. Similarly, adversarial attacks trick AI by altering data just enough to bypass detection while remaining valid to human observers.</a:t>
            </a:r>
            <a:endParaRPr lang="en-US" sz="1648" dirty="0"/>
          </a:p>
          <a:p>
            <a:pPr algn="l" marL="142875" indent="0">
              <a:lnSpc>
                <a:spcPct val="100000"/>
              </a:lnSpc>
              <a:spcBef>
                <a:spcPts val="1030"/>
              </a:spcBef>
              <a:buNone/>
            </a:pPr>
            <a:r>
              <a:rPr lang="en-US" sz="1401" dirty="0">
                <a:solidFill>
                  <a:srgbClr val="FFFFFF"/>
                </a:solidFill>
                <a:latin typeface="Figtree Regular" pitchFamily="34" charset="0"/>
                <a:ea typeface="Figtree Regular" pitchFamily="34" charset="-122"/>
                <a:cs typeface="Figtree Regular" pitchFamily="34" charset="-120"/>
              </a:rPr>
              <a:t>Examples include modifying images with imperceptible noise to cause misclassification or subtly changing text to evade spam filters. Attackers leverage these vulnerabilities to evade malware detection, poison training data, or steal AI models, illustrating the profound challenge adversarial learning presents to security.</a:t>
            </a:r>
            <a:endParaRPr lang="en-US" sz="1648"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Adversarial Machine Learning: Fooling AI Systems</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780288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780288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7802880" y="0"/>
            <a:ext cx="4389120" cy="6858000"/>
          </a:xfrm>
          <a:custGeom>
            <a:avLst/>
            <a:gdLst/>
            <a:ahLst/>
            <a:cxnLst/>
            <a:rect l="l" t="t" r="r" b="b"/>
            <a:pathLst>
              <a:path w="4389120" h="6858000">
                <a:moveTo>
                  <a:pt x="0" y="6858000"/>
                </a:moveTo>
                <a:lnTo>
                  <a:pt x="0" y="0"/>
                </a:lnTo>
                <a:lnTo>
                  <a:pt x="4389120" y="0"/>
                </a:lnTo>
                <a:lnTo>
                  <a:pt x="4389120" y="6858000"/>
                </a:lnTo>
                <a:lnTo>
                  <a:pt x="0" y="6858000"/>
                </a:lnTo>
              </a:path>
            </a:pathLst>
          </a:custGeom>
          <a:blipFill>
            <a:blip r:embed="rId1"/>
            <a:srcRect/>
            <a:stretch>
              <a:fillRect l="0" r="0" t="31714" b="31714"/>
            </a:stretch>
          </a:blipFill>
          <a:ln/>
        </p:spPr>
        <p:txBody>
          <a:bodyPr wrap="square" lIns="0" tIns="0" rIns="0" bIns="0" rtlCol="0" anchor="ctr"/>
          <a:lstStyle/>
          <a:p>
            <a:pPr indent="0" marL="0">
              <a:buNone/>
            </a:pPr>
            <a:endParaRPr lang="en-US" dirty="0"/>
          </a:p>
        </p:txBody>
      </p:sp>
      <p:sp>
        <p:nvSpPr>
          <p:cNvPr id="7" name="Text 5"/>
          <p:cNvSpPr/>
          <p:nvPr/>
        </p:nvSpPr>
        <p:spPr>
          <a:xfrm>
            <a:off x="732581" y="1586827"/>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505464" y="1695811"/>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505464" y="1695811"/>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0" name="Text 8"/>
          <p:cNvSpPr/>
          <p:nvPr/>
        </p:nvSpPr>
        <p:spPr>
          <a:xfrm>
            <a:off x="732581" y="3208142"/>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05464" y="3317126"/>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505464" y="3317126"/>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3" name="Text 11"/>
          <p:cNvSpPr/>
          <p:nvPr/>
        </p:nvSpPr>
        <p:spPr>
          <a:xfrm>
            <a:off x="732581" y="4835091"/>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505464" y="49440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505464" y="49440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6" name="Text 14"/>
          <p:cNvSpPr/>
          <p:nvPr/>
        </p:nvSpPr>
        <p:spPr>
          <a:xfrm>
            <a:off x="1146528" y="5401275"/>
            <a:ext cx="5852160" cy="731520"/>
          </a:xfrm>
          <a:prstGeom prst="rect">
            <a:avLst/>
          </a:prstGeom>
          <a:noFill/>
          <a:ln/>
        </p:spPr>
        <p:txBody>
          <a:bodyPr wrap="square" lIns="0" tIns="0" rIns="0" bIns="0" rtlCol="0" anchor="t"/>
          <a:lstStyle/>
          <a:p>
            <a:pPr algn="l" marL="0" indent="0">
              <a:lnSpc>
                <a:spcPct val="100000"/>
              </a:lnSpc>
              <a:spcBef>
                <a:spcPts val="1009"/>
              </a:spcBef>
              <a:buNone/>
            </a:pPr>
            <a:r>
              <a:rPr lang="en-US" sz="1211" dirty="0">
                <a:solidFill>
                  <a:srgbClr val="FFFFFF"/>
                </a:solidFill>
                <a:latin typeface="Figtree Regular" pitchFamily="34" charset="0"/>
                <a:ea typeface="Figtree Regular" pitchFamily="34" charset="-122"/>
                <a:cs typeface="Figtree Regular" pitchFamily="34" charset="-120"/>
              </a:rPr>
              <a:t>Specially designed textures on 3D-printed objects can consistently deceive AI classifiers. One example is a 3D-printed toy turtle with a texture that led an AI system to identify it as a rifle from every viewing angle, demonstrating the vulnerability of AI to crafted physical objects.</a:t>
            </a:r>
            <a:endParaRPr lang="en-US" sz="1211" dirty="0"/>
          </a:p>
        </p:txBody>
      </p:sp>
      <p:sp>
        <p:nvSpPr>
          <p:cNvPr id="17" name="Text 15"/>
          <p:cNvSpPr/>
          <p:nvPr/>
        </p:nvSpPr>
        <p:spPr>
          <a:xfrm>
            <a:off x="1146528" y="5006878"/>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3D-Printed Deceptions</a:t>
            </a:r>
            <a:endParaRPr lang="en-US" sz="2030" dirty="0"/>
          </a:p>
        </p:txBody>
      </p:sp>
      <p:sp>
        <p:nvSpPr>
          <p:cNvPr id="18" name="Text 16"/>
          <p:cNvSpPr/>
          <p:nvPr/>
        </p:nvSpPr>
        <p:spPr>
          <a:xfrm>
            <a:off x="1146528" y="3774326"/>
            <a:ext cx="5852160" cy="731520"/>
          </a:xfrm>
          <a:prstGeom prst="rect">
            <a:avLst/>
          </a:prstGeom>
          <a:noFill/>
          <a:ln/>
        </p:spPr>
        <p:txBody>
          <a:bodyPr wrap="square" lIns="0" tIns="0" rIns="0" bIns="0" rtlCol="0" anchor="t"/>
          <a:lstStyle/>
          <a:p>
            <a:pPr algn="l" marL="0" indent="0">
              <a:lnSpc>
                <a:spcPct val="100000"/>
              </a:lnSpc>
              <a:spcBef>
                <a:spcPts val="1009"/>
              </a:spcBef>
              <a:buNone/>
            </a:pPr>
            <a:r>
              <a:rPr lang="en-US" sz="1211" dirty="0">
                <a:solidFill>
                  <a:srgbClr val="FFFFFF"/>
                </a:solidFill>
                <a:latin typeface="Figtree Regular" pitchFamily="34" charset="0"/>
                <a:ea typeface="Figtree Regular" pitchFamily="34" charset="-122"/>
                <a:cs typeface="Figtree Regular" pitchFamily="34" charset="-120"/>
              </a:rPr>
              <a:t>Attackers can modify real-world objects to fool AI systems. For instance, placing a few inches of black tape on a speed limit sign caused an autonomous driving AI to misread a 35 mph sign as 85 mph, exploiting differences between training conditions and real-world variations.</a:t>
            </a:r>
            <a:endParaRPr lang="en-US" sz="1211" dirty="0"/>
          </a:p>
        </p:txBody>
      </p:sp>
      <p:sp>
        <p:nvSpPr>
          <p:cNvPr id="19" name="Text 17"/>
          <p:cNvSpPr/>
          <p:nvPr/>
        </p:nvSpPr>
        <p:spPr>
          <a:xfrm>
            <a:off x="1146528" y="3379929"/>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Physical-World Attacks</a:t>
            </a:r>
            <a:endParaRPr lang="en-US" sz="2030" dirty="0"/>
          </a:p>
        </p:txBody>
      </p:sp>
      <p:sp>
        <p:nvSpPr>
          <p:cNvPr id="20" name="Text 18"/>
          <p:cNvSpPr/>
          <p:nvPr/>
        </p:nvSpPr>
        <p:spPr>
          <a:xfrm>
            <a:off x="1146528" y="2153011"/>
            <a:ext cx="5852160" cy="731520"/>
          </a:xfrm>
          <a:prstGeom prst="rect">
            <a:avLst/>
          </a:prstGeom>
          <a:noFill/>
          <a:ln/>
        </p:spPr>
        <p:txBody>
          <a:bodyPr wrap="square" lIns="0" tIns="0" rIns="0" bIns="0" rtlCol="0" anchor="t"/>
          <a:lstStyle/>
          <a:p>
            <a:pPr algn="l" marL="0" indent="0">
              <a:lnSpc>
                <a:spcPct val="100000"/>
              </a:lnSpc>
              <a:spcBef>
                <a:spcPts val="1009"/>
              </a:spcBef>
              <a:buNone/>
            </a:pPr>
            <a:r>
              <a:rPr lang="en-US" sz="1211" dirty="0">
                <a:solidFill>
                  <a:srgbClr val="FFFFFF"/>
                </a:solidFill>
                <a:latin typeface="Figtree Regular" pitchFamily="34" charset="0"/>
                <a:ea typeface="Figtree Regular" pitchFamily="34" charset="-122"/>
                <a:cs typeface="Figtree Regular" pitchFamily="34" charset="-120"/>
              </a:rPr>
              <a:t>By adding subtle, calculated noise to images that is invisible to humans, attackers can cause AI image recognition systems to misclassify objects completely. For example, an image of a panda with these undetectable modifications might be classified as a gibbon by the AI with high confidence, despite looking identical to human eyes.</a:t>
            </a:r>
            <a:endParaRPr lang="en-US" sz="1211" dirty="0"/>
          </a:p>
        </p:txBody>
      </p:sp>
      <p:sp>
        <p:nvSpPr>
          <p:cNvPr id="21" name="Text 19"/>
          <p:cNvSpPr/>
          <p:nvPr/>
        </p:nvSpPr>
        <p:spPr>
          <a:xfrm>
            <a:off x="1146528" y="1758614"/>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Invisible Perturbations</a:t>
            </a:r>
            <a:endParaRPr lang="en-US" sz="2030" dirty="0"/>
          </a:p>
        </p:txBody>
      </p:sp>
      <p:sp>
        <p:nvSpPr>
          <p:cNvPr id="22" name="Text 20"/>
          <p:cNvSpPr/>
          <p:nvPr/>
        </p:nvSpPr>
        <p:spPr>
          <a:xfrm>
            <a:off x="505464" y="289560"/>
            <a:ext cx="67462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Understanding Adversarial Examples</a:t>
            </a:r>
            <a:endParaRPr lang="en-US" sz="2800" dirty="0"/>
          </a:p>
        </p:txBody>
      </p:sp>
      <p:sp>
        <p:nvSpPr>
          <p:cNvPr id="23" name="Text 21"/>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5463" y="1523767"/>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164381" y="1523767"/>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505463" y="3837775"/>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164381" y="3837775"/>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1" name="Text 9"/>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Types of Adversarial Attacks</a:t>
            </a:r>
            <a:endParaRPr lang="en-US" sz="2800"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3" name="Text 11"/>
          <p:cNvSpPr/>
          <p:nvPr/>
        </p:nvSpPr>
        <p:spPr>
          <a:xfrm>
            <a:off x="3048704" y="3971797"/>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4" name="Text 12"/>
          <p:cNvSpPr/>
          <p:nvPr/>
        </p:nvSpPr>
        <p:spPr>
          <a:xfrm>
            <a:off x="3048704" y="3971797"/>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03</a:t>
            </a:r>
            <a:endParaRPr lang="en-US" sz="1400" dirty="0"/>
          </a:p>
        </p:txBody>
      </p:sp>
      <p:sp>
        <p:nvSpPr>
          <p:cNvPr id="15" name="Text 13"/>
          <p:cNvSpPr/>
          <p:nvPr/>
        </p:nvSpPr>
        <p:spPr>
          <a:xfrm>
            <a:off x="8640313" y="171170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6" name="Text 14"/>
          <p:cNvSpPr/>
          <p:nvPr/>
        </p:nvSpPr>
        <p:spPr>
          <a:xfrm>
            <a:off x="8640313" y="171170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02</a:t>
            </a:r>
            <a:endParaRPr lang="en-US" sz="1400" dirty="0"/>
          </a:p>
        </p:txBody>
      </p:sp>
      <p:sp>
        <p:nvSpPr>
          <p:cNvPr id="17" name="Text 15"/>
          <p:cNvSpPr/>
          <p:nvPr/>
        </p:nvSpPr>
        <p:spPr>
          <a:xfrm>
            <a:off x="2981395" y="170468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8" name="Text 16"/>
          <p:cNvSpPr/>
          <p:nvPr/>
        </p:nvSpPr>
        <p:spPr>
          <a:xfrm>
            <a:off x="2981395" y="170468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01</a:t>
            </a:r>
            <a:endParaRPr lang="en-US" sz="1400" dirty="0"/>
          </a:p>
        </p:txBody>
      </p:sp>
      <p:sp>
        <p:nvSpPr>
          <p:cNvPr id="19" name="Text 17"/>
          <p:cNvSpPr/>
          <p:nvPr/>
        </p:nvSpPr>
        <p:spPr>
          <a:xfrm>
            <a:off x="8640313" y="396547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20" name="Text 18"/>
          <p:cNvSpPr/>
          <p:nvPr/>
        </p:nvSpPr>
        <p:spPr>
          <a:xfrm>
            <a:off x="8640313" y="396547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04</a:t>
            </a:r>
            <a:endParaRPr lang="en-US" sz="1400" dirty="0"/>
          </a:p>
        </p:txBody>
      </p:sp>
      <p:sp>
        <p:nvSpPr>
          <p:cNvPr id="21" name="Text 19"/>
          <p:cNvSpPr/>
          <p:nvPr/>
        </p:nvSpPr>
        <p:spPr>
          <a:xfrm>
            <a:off x="6491473" y="5097375"/>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Inference attacks extract sensitive information from trained AI models. Carefully crafted queries can reveal confidential data, such as patient information from medical records, unintentionally embedded in the model's responses.</a:t>
            </a:r>
            <a:endParaRPr lang="en-US" sz="1098" dirty="0"/>
          </a:p>
        </p:txBody>
      </p:sp>
      <p:sp>
        <p:nvSpPr>
          <p:cNvPr id="22" name="Text 20"/>
          <p:cNvSpPr/>
          <p:nvPr/>
        </p:nvSpPr>
        <p:spPr>
          <a:xfrm>
            <a:off x="6491473" y="4680844"/>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Inference Attacks</a:t>
            </a:r>
            <a:endParaRPr lang="en-US" sz="2030" dirty="0"/>
          </a:p>
        </p:txBody>
      </p:sp>
      <p:sp>
        <p:nvSpPr>
          <p:cNvPr id="23" name="Text 21"/>
          <p:cNvSpPr/>
          <p:nvPr/>
        </p:nvSpPr>
        <p:spPr>
          <a:xfrm>
            <a:off x="899864" y="5093408"/>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Model extraction attacks aim to steal the AI model itself. By repeatedly querying a deployed model and analyzing its responses, attackers can build a copy, or shadow model, which replicates the original's behavior. This lets them study the model's weaknesses without direct access.</a:t>
            </a:r>
            <a:endParaRPr lang="en-US" sz="1098" dirty="0"/>
          </a:p>
        </p:txBody>
      </p:sp>
      <p:sp>
        <p:nvSpPr>
          <p:cNvPr id="24" name="Text 22"/>
          <p:cNvSpPr/>
          <p:nvPr/>
        </p:nvSpPr>
        <p:spPr>
          <a:xfrm>
            <a:off x="899864" y="4676878"/>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Model Extraction Attacks</a:t>
            </a:r>
            <a:endParaRPr lang="en-US" sz="2030" dirty="0"/>
          </a:p>
        </p:txBody>
      </p:sp>
      <p:sp>
        <p:nvSpPr>
          <p:cNvPr id="25" name="Text 23"/>
          <p:cNvSpPr/>
          <p:nvPr/>
        </p:nvSpPr>
        <p:spPr>
          <a:xfrm>
            <a:off x="6491473" y="2826932"/>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Poisoning attacks target the training phase of AI models. Attackers inject malicious data into the training set to corrupt the learning process. For instance, fraudulent transactions might be labeled as legitimate in the dataset, causing a fraud detection system to approve fraudulent activity as normal.</a:t>
            </a:r>
            <a:endParaRPr lang="en-US" sz="1098" dirty="0"/>
          </a:p>
        </p:txBody>
      </p:sp>
      <p:sp>
        <p:nvSpPr>
          <p:cNvPr id="26" name="Text 24"/>
          <p:cNvSpPr/>
          <p:nvPr/>
        </p:nvSpPr>
        <p:spPr>
          <a:xfrm>
            <a:off x="6491473" y="2410402"/>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Poisoning Attacks</a:t>
            </a:r>
            <a:endParaRPr lang="en-US" sz="2030" dirty="0"/>
          </a:p>
        </p:txBody>
      </p:sp>
      <p:sp>
        <p:nvSpPr>
          <p:cNvPr id="27" name="Text 25"/>
          <p:cNvSpPr/>
          <p:nvPr/>
        </p:nvSpPr>
        <p:spPr>
          <a:xfrm>
            <a:off x="832555" y="2410402"/>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Evasion Attacks</a:t>
            </a:r>
            <a:endParaRPr lang="en-US" sz="2030" dirty="0"/>
          </a:p>
        </p:txBody>
      </p:sp>
      <p:sp>
        <p:nvSpPr>
          <p:cNvPr id="28" name="Text 26"/>
          <p:cNvSpPr/>
          <p:nvPr/>
        </p:nvSpPr>
        <p:spPr>
          <a:xfrm>
            <a:off x="832555" y="2826932"/>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Evasion attacks occur after an AI model is deployed. Attackers modify their malicious inputs to evade detection without changing the intended harmful effect. For example, a malware author adds benign code to a virus so the malware detector misclassifies it as safe while keeping its functionality intact.</a:t>
            </a:r>
            <a:endParaRPr lang="en-US" sz="109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7" name="Text 5"/>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Real-World Consequences of Adversarial Attacks</a:t>
            </a:r>
            <a:endParaRPr lang="en-US" sz="2800"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279"/>
              </a:spcBef>
              <a:buNone/>
            </a:pPr>
            <a:r>
              <a:rPr lang="en-US" sz="1535" dirty="0">
                <a:solidFill>
                  <a:srgbClr val="FFFFFF"/>
                </a:solidFill>
                <a:latin typeface="Figtree Regular" pitchFamily="34" charset="0"/>
                <a:ea typeface="Figtree Regular" pitchFamily="34" charset="-122"/>
                <a:cs typeface="Figtree Regular" pitchFamily="34" charset="-120"/>
              </a:rPr>
              <a:t>AI attacks on credit scoring, fraud detection, and trading platforms manipulate algorithms to approve fraudulent loans, disguise illicit transactions, or trigger harmful financial actions. This challenges the integrity of financial systems.</a:t>
            </a:r>
            <a:endParaRPr lang="en-US" sz="1535"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Financial System Exploitation</a:t>
            </a:r>
            <a:endParaRPr lang="en-US" sz="2030" dirty="0"/>
          </a:p>
        </p:txBody>
      </p:sp>
      <p:sp>
        <p:nvSpPr>
          <p:cNvPr id="18" name="Text 16"/>
          <p:cNvSpPr/>
          <p:nvPr/>
        </p:nvSpPr>
        <p:spPr>
          <a:xfrm>
            <a:off x="6398692" y="4218128"/>
            <a:ext cx="274320" cy="243840"/>
          </a:xfrm>
          <a:custGeom>
            <a:avLst/>
            <a:gdLst/>
            <a:ahLst/>
            <a:cxnLst/>
            <a:rect l="l" t="t" r="r" b="b"/>
            <a:pathLst>
              <a:path w="274320" h="243840">
                <a:moveTo>
                  <a:pt x="131970" y="22860"/>
                </a:moveTo>
                <a:cubicBezTo>
                  <a:pt x="142923" y="22860"/>
                  <a:pt x="152209" y="29861"/>
                  <a:pt x="155688" y="39624"/>
                </a:cubicBezTo>
                <a:cubicBezTo>
                  <a:pt x="157783" y="45576"/>
                  <a:pt x="164307" y="48673"/>
                  <a:pt x="170262" y="46578"/>
                </a:cubicBezTo>
                <a:cubicBezTo>
                  <a:pt x="176215" y="44484"/>
                  <a:pt x="179312" y="37959"/>
                  <a:pt x="177216" y="32004"/>
                </a:cubicBezTo>
                <a:cubicBezTo>
                  <a:pt x="170643" y="13382"/>
                  <a:pt x="152878" y="0"/>
                  <a:pt x="131973" y="0"/>
                </a:cubicBezTo>
                <a:cubicBezTo>
                  <a:pt x="111064" y="0"/>
                  <a:pt x="93252" y="13382"/>
                  <a:pt x="86682" y="32004"/>
                </a:cubicBezTo>
                <a:cubicBezTo>
                  <a:pt x="84587" y="37956"/>
                  <a:pt x="87684" y="44481"/>
                  <a:pt x="93636" y="46578"/>
                </a:cubicBezTo>
                <a:cubicBezTo>
                  <a:pt x="99589" y="48673"/>
                  <a:pt x="106115" y="45579"/>
                  <a:pt x="108208" y="39624"/>
                </a:cubicBezTo>
                <a:cubicBezTo>
                  <a:pt x="111684" y="29861"/>
                  <a:pt x="121019" y="22860"/>
                  <a:pt x="131973" y="22860"/>
                </a:cubicBezTo>
                <a:lnTo>
                  <a:pt x="131970" y="22860"/>
                </a:lnTo>
                <a:moveTo>
                  <a:pt x="31766" y="94059"/>
                </a:moveTo>
                <a:cubicBezTo>
                  <a:pt x="37434" y="91250"/>
                  <a:pt x="39719" y="84391"/>
                  <a:pt x="36863" y="78724"/>
                </a:cubicBezTo>
                <a:cubicBezTo>
                  <a:pt x="34005" y="73057"/>
                  <a:pt x="27196" y="70770"/>
                  <a:pt x="21529" y="73627"/>
                </a:cubicBezTo>
                <a:lnTo>
                  <a:pt x="19290" y="74722"/>
                </a:lnTo>
                <a:cubicBezTo>
                  <a:pt x="7478" y="80628"/>
                  <a:pt x="3" y="92725"/>
                  <a:pt x="3" y="106012"/>
                </a:cubicBezTo>
                <a:cubicBezTo>
                  <a:pt x="3" y="123824"/>
                  <a:pt x="13337" y="138540"/>
                  <a:pt x="30578" y="140730"/>
                </a:cubicBezTo>
                <a:cubicBezTo>
                  <a:pt x="31626" y="164160"/>
                  <a:pt x="43342" y="184877"/>
                  <a:pt x="60962" y="198118"/>
                </a:cubicBezTo>
                <a:lnTo>
                  <a:pt x="60962" y="220978"/>
                </a:lnTo>
                <a:cubicBezTo>
                  <a:pt x="60962" y="233599"/>
                  <a:pt x="71202" y="243838"/>
                  <a:pt x="83821" y="243838"/>
                </a:cubicBezTo>
                <a:lnTo>
                  <a:pt x="106680" y="243838"/>
                </a:lnTo>
                <a:cubicBezTo>
                  <a:pt x="119302" y="243838"/>
                  <a:pt x="129539" y="233599"/>
                  <a:pt x="129539" y="220978"/>
                </a:cubicBezTo>
                <a:lnTo>
                  <a:pt x="129539" y="213358"/>
                </a:lnTo>
                <a:lnTo>
                  <a:pt x="152398" y="213358"/>
                </a:lnTo>
                <a:lnTo>
                  <a:pt x="152398" y="220978"/>
                </a:lnTo>
                <a:cubicBezTo>
                  <a:pt x="152398" y="233599"/>
                  <a:pt x="162639" y="243838"/>
                  <a:pt x="175257" y="243838"/>
                </a:cubicBezTo>
                <a:lnTo>
                  <a:pt x="198116" y="243838"/>
                </a:lnTo>
                <a:cubicBezTo>
                  <a:pt x="210738" y="243838"/>
                  <a:pt x="220975" y="233599"/>
                  <a:pt x="220975" y="220978"/>
                </a:cubicBezTo>
                <a:lnTo>
                  <a:pt x="220975" y="203165"/>
                </a:lnTo>
                <a:cubicBezTo>
                  <a:pt x="229883" y="198022"/>
                  <a:pt x="237692" y="191068"/>
                  <a:pt x="243834" y="182878"/>
                </a:cubicBezTo>
                <a:lnTo>
                  <a:pt x="259076" y="182878"/>
                </a:lnTo>
                <a:cubicBezTo>
                  <a:pt x="267506" y="182878"/>
                  <a:pt x="274317" y="176067"/>
                  <a:pt x="274317" y="167638"/>
                </a:cubicBezTo>
                <a:lnTo>
                  <a:pt x="274317" y="121918"/>
                </a:lnTo>
                <a:cubicBezTo>
                  <a:pt x="274317" y="113488"/>
                  <a:pt x="267506" y="106678"/>
                  <a:pt x="259076" y="106678"/>
                </a:cubicBezTo>
                <a:lnTo>
                  <a:pt x="252742" y="106678"/>
                </a:lnTo>
                <a:cubicBezTo>
                  <a:pt x="248835" y="97724"/>
                  <a:pt x="243264" y="89675"/>
                  <a:pt x="236455" y="82959"/>
                </a:cubicBezTo>
                <a:lnTo>
                  <a:pt x="241837" y="65432"/>
                </a:lnTo>
                <a:lnTo>
                  <a:pt x="230930" y="62099"/>
                </a:lnTo>
                <a:lnTo>
                  <a:pt x="241837" y="65432"/>
                </a:lnTo>
                <a:cubicBezTo>
                  <a:pt x="244839" y="55622"/>
                  <a:pt x="237503" y="45715"/>
                  <a:pt x="227266" y="45715"/>
                </a:cubicBezTo>
                <a:lnTo>
                  <a:pt x="217168" y="45715"/>
                </a:lnTo>
                <a:cubicBezTo>
                  <a:pt x="202165" y="45715"/>
                  <a:pt x="188499" y="51526"/>
                  <a:pt x="178305" y="60955"/>
                </a:cubicBezTo>
                <a:lnTo>
                  <a:pt x="106677" y="60955"/>
                </a:lnTo>
                <a:cubicBezTo>
                  <a:pt x="71243" y="60955"/>
                  <a:pt x="41430" y="85149"/>
                  <a:pt x="32907" y="117914"/>
                </a:cubicBezTo>
                <a:cubicBezTo>
                  <a:pt x="27193" y="116960"/>
                  <a:pt x="22859" y="111961"/>
                  <a:pt x="22859" y="105961"/>
                </a:cubicBezTo>
                <a:cubicBezTo>
                  <a:pt x="22859" y="101389"/>
                  <a:pt x="25429" y="97197"/>
                  <a:pt x="29574" y="95102"/>
                </a:cubicBezTo>
                <a:lnTo>
                  <a:pt x="31812" y="94008"/>
                </a:lnTo>
                <a:lnTo>
                  <a:pt x="31766" y="94059"/>
                </a:lnTo>
                <a:moveTo>
                  <a:pt x="201930" y="137160"/>
                </a:moveTo>
                <a:cubicBezTo>
                  <a:pt x="208242" y="137160"/>
                  <a:pt x="213361" y="132042"/>
                  <a:pt x="213361" y="125731"/>
                </a:cubicBezTo>
                <a:cubicBezTo>
                  <a:pt x="213361" y="119418"/>
                  <a:pt x="208245" y="114302"/>
                  <a:pt x="201930" y="114302"/>
                </a:cubicBezTo>
                <a:cubicBezTo>
                  <a:pt x="195618" y="114302"/>
                  <a:pt x="190499" y="119421"/>
                  <a:pt x="190499" y="125734"/>
                </a:cubicBezTo>
                <a:cubicBezTo>
                  <a:pt x="190499" y="132047"/>
                  <a:pt x="195615" y="137165"/>
                  <a:pt x="201930" y="137165"/>
                </a:cubicBezTo>
                <a:lnTo>
                  <a:pt x="201930" y="137160"/>
                </a:lnTo>
                <a:moveTo>
                  <a:pt x="191596" y="80011"/>
                </a:moveTo>
                <a:cubicBezTo>
                  <a:pt x="197834" y="73011"/>
                  <a:pt x="206884" y="68629"/>
                  <a:pt x="216932" y="68582"/>
                </a:cubicBezTo>
                <a:lnTo>
                  <a:pt x="212409" y="83252"/>
                </a:lnTo>
                <a:cubicBezTo>
                  <a:pt x="211029" y="87729"/>
                  <a:pt x="212505" y="92586"/>
                  <a:pt x="216172" y="95539"/>
                </a:cubicBezTo>
                <a:cubicBezTo>
                  <a:pt x="224460" y="102159"/>
                  <a:pt x="230651" y="111159"/>
                  <a:pt x="233841" y="121496"/>
                </a:cubicBezTo>
                <a:cubicBezTo>
                  <a:pt x="235317" y="126307"/>
                  <a:pt x="239747" y="129591"/>
                  <a:pt x="244748" y="129591"/>
                </a:cubicBezTo>
                <a:lnTo>
                  <a:pt x="251417" y="129591"/>
                </a:lnTo>
                <a:lnTo>
                  <a:pt x="251417" y="160071"/>
                </a:lnTo>
                <a:lnTo>
                  <a:pt x="237797" y="160071"/>
                </a:lnTo>
                <a:cubicBezTo>
                  <a:pt x="233844" y="160071"/>
                  <a:pt x="230177" y="162120"/>
                  <a:pt x="228130" y="165453"/>
                </a:cubicBezTo>
                <a:cubicBezTo>
                  <a:pt x="222559" y="174358"/>
                  <a:pt x="214461" y="181502"/>
                  <a:pt x="204840" y="185835"/>
                </a:cubicBezTo>
                <a:cubicBezTo>
                  <a:pt x="200745" y="187645"/>
                  <a:pt x="198125" y="191692"/>
                  <a:pt x="198125" y="196218"/>
                </a:cubicBezTo>
                <a:lnTo>
                  <a:pt x="198125" y="220982"/>
                </a:lnTo>
                <a:lnTo>
                  <a:pt x="175266" y="220982"/>
                </a:lnTo>
                <a:lnTo>
                  <a:pt x="175266" y="201934"/>
                </a:lnTo>
                <a:cubicBezTo>
                  <a:pt x="175266" y="195599"/>
                  <a:pt x="170169" y="190505"/>
                  <a:pt x="163835" y="190505"/>
                </a:cubicBezTo>
                <a:lnTo>
                  <a:pt x="118114" y="190505"/>
                </a:lnTo>
                <a:cubicBezTo>
                  <a:pt x="111780" y="190505"/>
                  <a:pt x="106683" y="195601"/>
                  <a:pt x="106683" y="201936"/>
                </a:cubicBezTo>
                <a:lnTo>
                  <a:pt x="106683" y="220987"/>
                </a:lnTo>
                <a:lnTo>
                  <a:pt x="83824" y="220987"/>
                </a:lnTo>
                <a:lnTo>
                  <a:pt x="83824" y="192126"/>
                </a:lnTo>
                <a:cubicBezTo>
                  <a:pt x="83824" y="188174"/>
                  <a:pt x="81775" y="184506"/>
                  <a:pt x="78442" y="182458"/>
                </a:cubicBezTo>
                <a:cubicBezTo>
                  <a:pt x="63346" y="173029"/>
                  <a:pt x="53344" y="156265"/>
                  <a:pt x="53344" y="137214"/>
                </a:cubicBezTo>
                <a:cubicBezTo>
                  <a:pt x="53344" y="107733"/>
                  <a:pt x="77205" y="83874"/>
                  <a:pt x="106683" y="83874"/>
                </a:cubicBezTo>
                <a:lnTo>
                  <a:pt x="182884" y="83874"/>
                </a:lnTo>
                <a:lnTo>
                  <a:pt x="182884" y="83874"/>
                </a:lnTo>
                <a:lnTo>
                  <a:pt x="183073" y="83874"/>
                </a:lnTo>
                <a:cubicBezTo>
                  <a:pt x="186313" y="83874"/>
                  <a:pt x="189454" y="82494"/>
                  <a:pt x="191599" y="80065"/>
                </a:cubicBezTo>
                <a:lnTo>
                  <a:pt x="191596" y="80011"/>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279"/>
              </a:spcBef>
              <a:buNone/>
            </a:pPr>
            <a:r>
              <a:rPr lang="en-US" sz="1535" dirty="0">
                <a:solidFill>
                  <a:srgbClr val="FFFFFF"/>
                </a:solidFill>
                <a:latin typeface="Figtree Regular" pitchFamily="34" charset="0"/>
                <a:ea typeface="Figtree Regular" pitchFamily="34" charset="-122"/>
                <a:cs typeface="Figtree Regular" pitchFamily="34" charset="-120"/>
              </a:rPr>
              <a:t>Subtle adversarial changes to medical images can trick diagnostic AI into missing cancers or misdiagnosing healthy tissue as malignant. This presents risks for patient care and highlights vulnerabilities in AI-assisted healthcare systems.</a:t>
            </a:r>
            <a:endParaRPr lang="en-US" sz="1535"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Medical AI Manipulation</a:t>
            </a:r>
            <a:endParaRPr lang="en-US" sz="2030" dirty="0"/>
          </a:p>
        </p:txBody>
      </p:sp>
      <p:sp>
        <p:nvSpPr>
          <p:cNvPr id="21" name="Text 19"/>
          <p:cNvSpPr/>
          <p:nvPr/>
        </p:nvSpPr>
        <p:spPr>
          <a:xfrm>
            <a:off x="6432982" y="1746007"/>
            <a:ext cx="205740" cy="274320"/>
          </a:xfrm>
          <a:custGeom>
            <a:avLst/>
            <a:gdLst/>
            <a:ahLst/>
            <a:cxnLst/>
            <a:rect l="l" t="t" r="r" b="b"/>
            <a:pathLst>
              <a:path w="205740" h="274320">
                <a:moveTo>
                  <a:pt x="60008" y="25718"/>
                </a:moveTo>
                <a:cubicBezTo>
                  <a:pt x="60008" y="11519"/>
                  <a:pt x="71528" y="0"/>
                  <a:pt x="85726" y="0"/>
                </a:cubicBezTo>
                <a:lnTo>
                  <a:pt x="120016" y="0"/>
                </a:lnTo>
                <a:cubicBezTo>
                  <a:pt x="134214" y="0"/>
                  <a:pt x="145734" y="11519"/>
                  <a:pt x="145734" y="25718"/>
                </a:cubicBezTo>
                <a:lnTo>
                  <a:pt x="145734" y="60008"/>
                </a:lnTo>
                <a:lnTo>
                  <a:pt x="180025" y="60008"/>
                </a:lnTo>
                <a:cubicBezTo>
                  <a:pt x="194223" y="60008"/>
                  <a:pt x="205742" y="71526"/>
                  <a:pt x="205742" y="85725"/>
                </a:cubicBezTo>
                <a:lnTo>
                  <a:pt x="205742" y="120015"/>
                </a:lnTo>
                <a:cubicBezTo>
                  <a:pt x="205742" y="134214"/>
                  <a:pt x="194223" y="145733"/>
                  <a:pt x="180025" y="145733"/>
                </a:cubicBezTo>
                <a:lnTo>
                  <a:pt x="145734" y="145733"/>
                </a:lnTo>
                <a:lnTo>
                  <a:pt x="145734" y="248603"/>
                </a:lnTo>
                <a:cubicBezTo>
                  <a:pt x="145734" y="262801"/>
                  <a:pt x="134214" y="274320"/>
                  <a:pt x="120016" y="274320"/>
                </a:cubicBezTo>
                <a:lnTo>
                  <a:pt x="85726" y="274320"/>
                </a:lnTo>
                <a:cubicBezTo>
                  <a:pt x="71528" y="274320"/>
                  <a:pt x="60008" y="262801"/>
                  <a:pt x="60008" y="248603"/>
                </a:cubicBezTo>
                <a:lnTo>
                  <a:pt x="60008" y="145733"/>
                </a:lnTo>
                <a:lnTo>
                  <a:pt x="25717" y="145733"/>
                </a:lnTo>
                <a:cubicBezTo>
                  <a:pt x="11519" y="145733"/>
                  <a:pt x="0" y="134214"/>
                  <a:pt x="0" y="120015"/>
                </a:cubicBezTo>
                <a:lnTo>
                  <a:pt x="0" y="85725"/>
                </a:lnTo>
                <a:cubicBezTo>
                  <a:pt x="0" y="71526"/>
                  <a:pt x="11519" y="60008"/>
                  <a:pt x="25717" y="60008"/>
                </a:cubicBezTo>
                <a:lnTo>
                  <a:pt x="60008" y="60008"/>
                </a:lnTo>
                <a:lnTo>
                  <a:pt x="60008" y="25718"/>
                </a:lnTo>
                <a:moveTo>
                  <a:pt x="120014" y="25718"/>
                </a:moveTo>
                <a:lnTo>
                  <a:pt x="85724" y="25718"/>
                </a:lnTo>
                <a:lnTo>
                  <a:pt x="85724" y="72868"/>
                </a:lnTo>
                <a:cubicBezTo>
                  <a:pt x="85724" y="79994"/>
                  <a:pt x="79992" y="85728"/>
                  <a:pt x="72865" y="85728"/>
                </a:cubicBezTo>
                <a:lnTo>
                  <a:pt x="25715" y="85728"/>
                </a:lnTo>
                <a:lnTo>
                  <a:pt x="25715" y="120018"/>
                </a:lnTo>
                <a:lnTo>
                  <a:pt x="72865" y="120018"/>
                </a:lnTo>
                <a:cubicBezTo>
                  <a:pt x="79992" y="120018"/>
                  <a:pt x="85724" y="125751"/>
                  <a:pt x="85724" y="132878"/>
                </a:cubicBezTo>
                <a:lnTo>
                  <a:pt x="85724" y="248608"/>
                </a:lnTo>
                <a:lnTo>
                  <a:pt x="120014" y="248608"/>
                </a:lnTo>
                <a:lnTo>
                  <a:pt x="120014" y="132880"/>
                </a:lnTo>
                <a:cubicBezTo>
                  <a:pt x="120014" y="125754"/>
                  <a:pt x="125746" y="120023"/>
                  <a:pt x="132873" y="120023"/>
                </a:cubicBezTo>
                <a:lnTo>
                  <a:pt x="180023" y="120023"/>
                </a:lnTo>
                <a:lnTo>
                  <a:pt x="180023" y="85733"/>
                </a:lnTo>
                <a:lnTo>
                  <a:pt x="132873" y="85733"/>
                </a:lnTo>
                <a:cubicBezTo>
                  <a:pt x="125746" y="85733"/>
                  <a:pt x="120014" y="80000"/>
                  <a:pt x="120014" y="72876"/>
                </a:cubicBezTo>
                <a:lnTo>
                  <a:pt x="120014" y="25718"/>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279"/>
              </a:spcBef>
              <a:buNone/>
            </a:pPr>
            <a:r>
              <a:rPr lang="en-US" sz="1535" dirty="0">
                <a:solidFill>
                  <a:srgbClr val="FFFFFF"/>
                </a:solidFill>
                <a:latin typeface="Figtree Regular" pitchFamily="34" charset="0"/>
                <a:ea typeface="Figtree Regular" pitchFamily="34" charset="-122"/>
                <a:cs typeface="Figtree Regular" pitchFamily="34" charset="-120"/>
              </a:rPr>
              <a:t>Adversarial eyeglasses designed with specific patterns can fool facial recognition systems, causing them to fail or misidentify individuals. This undermines security systems relying on biometric authentication and raises concerns about unauthorized access.</a:t>
            </a:r>
            <a:endParaRPr lang="en-US" sz="1535"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Facial Recognition Bypass</a:t>
            </a:r>
            <a:endParaRPr lang="en-US" sz="2030" dirty="0"/>
          </a:p>
        </p:txBody>
      </p:sp>
      <p:sp>
        <p:nvSpPr>
          <p:cNvPr id="24" name="Text 22"/>
          <p:cNvSpPr/>
          <p:nvPr/>
        </p:nvSpPr>
        <p:spPr>
          <a:xfrm>
            <a:off x="588503" y="4202888"/>
            <a:ext cx="274320" cy="274320"/>
          </a:xfrm>
          <a:custGeom>
            <a:avLst/>
            <a:gdLst/>
            <a:ahLst/>
            <a:cxnLst/>
            <a:rect l="l" t="t" r="r" b="b"/>
            <a:pathLst>
              <a:path w="274320" h="274320">
                <a:moveTo>
                  <a:pt x="248603" y="137160"/>
                </a:moveTo>
                <a:cubicBezTo>
                  <a:pt x="248603" y="75611"/>
                  <a:pt x="198709" y="25718"/>
                  <a:pt x="137160" y="25718"/>
                </a:cubicBezTo>
                <a:cubicBezTo>
                  <a:pt x="75611" y="25718"/>
                  <a:pt x="25718" y="75611"/>
                  <a:pt x="25718" y="137160"/>
                </a:cubicBezTo>
                <a:cubicBezTo>
                  <a:pt x="25718" y="198709"/>
                  <a:pt x="75611" y="248603"/>
                  <a:pt x="137160" y="248603"/>
                </a:cubicBezTo>
                <a:cubicBezTo>
                  <a:pt x="198709" y="248603"/>
                  <a:pt x="248603" y="198709"/>
                  <a:pt x="248603" y="137160"/>
                </a:cubicBezTo>
                <a:lnTo>
                  <a:pt x="248603" y="137160"/>
                </a:lnTo>
                <a:moveTo>
                  <a:pt x="0" y="137160"/>
                </a:moveTo>
                <a:cubicBezTo>
                  <a:pt x="0" y="61409"/>
                  <a:pt x="61409" y="0"/>
                  <a:pt x="137160" y="0"/>
                </a:cubicBezTo>
                <a:cubicBezTo>
                  <a:pt x="212911" y="0"/>
                  <a:pt x="274320" y="61409"/>
                  <a:pt x="274320" y="137160"/>
                </a:cubicBezTo>
                <a:cubicBezTo>
                  <a:pt x="274320" y="212911"/>
                  <a:pt x="212911" y="274320"/>
                  <a:pt x="137160" y="274320"/>
                </a:cubicBezTo>
                <a:cubicBezTo>
                  <a:pt x="61409" y="274320"/>
                  <a:pt x="0" y="212911"/>
                  <a:pt x="0" y="137160"/>
                </a:cubicBezTo>
                <a:moveTo>
                  <a:pt x="95156" y="170432"/>
                </a:moveTo>
                <a:cubicBezTo>
                  <a:pt x="103301" y="179219"/>
                  <a:pt x="117231" y="188595"/>
                  <a:pt x="137163" y="188595"/>
                </a:cubicBezTo>
                <a:cubicBezTo>
                  <a:pt x="157095" y="188595"/>
                  <a:pt x="171025" y="179219"/>
                  <a:pt x="179167" y="170432"/>
                </a:cubicBezTo>
                <a:cubicBezTo>
                  <a:pt x="183989" y="165234"/>
                  <a:pt x="192134" y="164861"/>
                  <a:pt x="197329" y="169683"/>
                </a:cubicBezTo>
                <a:cubicBezTo>
                  <a:pt x="202528" y="174506"/>
                  <a:pt x="202901" y="182651"/>
                  <a:pt x="198078" y="187846"/>
                </a:cubicBezTo>
                <a:cubicBezTo>
                  <a:pt x="186291" y="200596"/>
                  <a:pt x="165931" y="214312"/>
                  <a:pt x="137212" y="214312"/>
                </a:cubicBezTo>
                <a:cubicBezTo>
                  <a:pt x="108494" y="214312"/>
                  <a:pt x="88081" y="200651"/>
                  <a:pt x="76349" y="187846"/>
                </a:cubicBezTo>
                <a:cubicBezTo>
                  <a:pt x="71526" y="182648"/>
                  <a:pt x="71847" y="174506"/>
                  <a:pt x="77098" y="169683"/>
                </a:cubicBezTo>
                <a:cubicBezTo>
                  <a:pt x="82348" y="164861"/>
                  <a:pt x="90438" y="165182"/>
                  <a:pt x="95260" y="170432"/>
                </a:cubicBezTo>
                <a:lnTo>
                  <a:pt x="95156" y="170432"/>
                </a:lnTo>
                <a:moveTo>
                  <a:pt x="77366" y="111443"/>
                </a:moveTo>
                <a:cubicBezTo>
                  <a:pt x="77366" y="101973"/>
                  <a:pt x="85042" y="94297"/>
                  <a:pt x="94511" y="94297"/>
                </a:cubicBezTo>
                <a:cubicBezTo>
                  <a:pt x="103981" y="94297"/>
                  <a:pt x="111656" y="101973"/>
                  <a:pt x="111656" y="111443"/>
                </a:cubicBezTo>
                <a:cubicBezTo>
                  <a:pt x="111656" y="120912"/>
                  <a:pt x="103981" y="128588"/>
                  <a:pt x="94511" y="128588"/>
                </a:cubicBezTo>
                <a:cubicBezTo>
                  <a:pt x="85042" y="128588"/>
                  <a:pt x="77366" y="120912"/>
                  <a:pt x="77366" y="111443"/>
                </a:cubicBezTo>
                <a:moveTo>
                  <a:pt x="180236" y="94298"/>
                </a:moveTo>
                <a:cubicBezTo>
                  <a:pt x="189706" y="94298"/>
                  <a:pt x="197381" y="101973"/>
                  <a:pt x="197381" y="111443"/>
                </a:cubicBezTo>
                <a:cubicBezTo>
                  <a:pt x="197381" y="120912"/>
                  <a:pt x="189706" y="128588"/>
                  <a:pt x="180236" y="128588"/>
                </a:cubicBezTo>
                <a:cubicBezTo>
                  <a:pt x="170767" y="128588"/>
                  <a:pt x="163091" y="120912"/>
                  <a:pt x="163091" y="111443"/>
                </a:cubicBezTo>
                <a:cubicBezTo>
                  <a:pt x="163091" y="101973"/>
                  <a:pt x="170767" y="94298"/>
                  <a:pt x="180236" y="94298"/>
                </a:cubicBezTo>
              </a:path>
            </a:pathLst>
          </a:custGeom>
          <a:solidFill>
            <a:srgbClr val="FFFFFF"/>
          </a:solidFill>
          <a:ln/>
        </p:spPr>
        <p:txBody>
          <a:bodyPr wrap="square" lIns="0" tIns="0" rIns="0" bIns="0" rtlCol="0" anchor="ctr"/>
          <a:lstStyle/>
          <a:p>
            <a:pPr indent="0" marL="0">
              <a:buNone/>
            </a:pPr>
            <a:endParaRPr lang="en-US"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279"/>
              </a:spcBef>
              <a:buNone/>
            </a:pPr>
            <a:r>
              <a:rPr lang="en-US" sz="1535" dirty="0">
                <a:solidFill>
                  <a:srgbClr val="FFFFFF"/>
                </a:solidFill>
                <a:latin typeface="Figtree Regular" pitchFamily="34" charset="0"/>
                <a:ea typeface="Figtree Regular" pitchFamily="34" charset="-122"/>
                <a:cs typeface="Figtree Regular" pitchFamily="34" charset="-120"/>
              </a:rPr>
              <a:t>Researchers demonstrated that small modifications like adding stickers to stop signs can cause autonomous vehicles to misinterpret traffic signals, leading to dangerous misclassifications. These attacks exploit gaps between training data and real-world conditions, threatening public safety.</a:t>
            </a:r>
            <a:endParaRPr lang="en-US" sz="1535"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Autonomous Vehicle Risks</a:t>
            </a:r>
            <a:endParaRPr lang="en-US" sz="2030" dirty="0"/>
          </a:p>
        </p:txBody>
      </p:sp>
      <p:sp>
        <p:nvSpPr>
          <p:cNvPr id="27" name="Text 25"/>
          <p:cNvSpPr/>
          <p:nvPr/>
        </p:nvSpPr>
        <p:spPr>
          <a:xfrm>
            <a:off x="588503" y="1763152"/>
            <a:ext cx="274320" cy="240030"/>
          </a:xfrm>
          <a:custGeom>
            <a:avLst/>
            <a:gdLst/>
            <a:ahLst/>
            <a:cxnLst/>
            <a:rect l="l" t="t" r="r" b="b"/>
            <a:pathLst>
              <a:path w="274320" h="240030">
                <a:moveTo>
                  <a:pt x="68418" y="40075"/>
                </a:moveTo>
                <a:lnTo>
                  <a:pt x="55399" y="77150"/>
                </a:lnTo>
                <a:lnTo>
                  <a:pt x="218866" y="77150"/>
                </a:lnTo>
                <a:lnTo>
                  <a:pt x="205899" y="40075"/>
                </a:lnTo>
                <a:cubicBezTo>
                  <a:pt x="202898" y="31504"/>
                  <a:pt x="194753" y="25717"/>
                  <a:pt x="185646" y="25717"/>
                </a:cubicBezTo>
                <a:lnTo>
                  <a:pt x="88616" y="25717"/>
                </a:lnTo>
                <a:cubicBezTo>
                  <a:pt x="79509" y="25717"/>
                  <a:pt x="71416" y="31449"/>
                  <a:pt x="68363" y="40075"/>
                </a:cubicBezTo>
                <a:lnTo>
                  <a:pt x="68418" y="40075"/>
                </a:lnTo>
                <a:moveTo>
                  <a:pt x="25772" y="84011"/>
                </a:moveTo>
                <a:lnTo>
                  <a:pt x="44097" y="31557"/>
                </a:lnTo>
                <a:cubicBezTo>
                  <a:pt x="50741" y="12645"/>
                  <a:pt x="68583" y="0"/>
                  <a:pt x="88619" y="0"/>
                </a:cubicBezTo>
                <a:lnTo>
                  <a:pt x="185704" y="0"/>
                </a:lnTo>
                <a:cubicBezTo>
                  <a:pt x="205743" y="0"/>
                  <a:pt x="223585" y="12645"/>
                  <a:pt x="230226" y="31557"/>
                </a:cubicBezTo>
                <a:lnTo>
                  <a:pt x="248603" y="84011"/>
                </a:lnTo>
                <a:cubicBezTo>
                  <a:pt x="263926" y="92904"/>
                  <a:pt x="274320" y="109514"/>
                  <a:pt x="274320" y="128586"/>
                </a:cubicBezTo>
                <a:lnTo>
                  <a:pt x="274320" y="171449"/>
                </a:lnTo>
                <a:lnTo>
                  <a:pt x="274320" y="197165"/>
                </a:lnTo>
                <a:lnTo>
                  <a:pt x="274320" y="227169"/>
                </a:lnTo>
                <a:cubicBezTo>
                  <a:pt x="274320" y="234296"/>
                  <a:pt x="268587" y="240028"/>
                  <a:pt x="261463" y="240028"/>
                </a:cubicBezTo>
                <a:cubicBezTo>
                  <a:pt x="254336" y="240028"/>
                  <a:pt x="248605" y="234296"/>
                  <a:pt x="248605" y="227169"/>
                </a:cubicBezTo>
                <a:lnTo>
                  <a:pt x="248605" y="197165"/>
                </a:lnTo>
                <a:lnTo>
                  <a:pt x="25720" y="197165"/>
                </a:lnTo>
                <a:lnTo>
                  <a:pt x="25720" y="227169"/>
                </a:lnTo>
                <a:cubicBezTo>
                  <a:pt x="25720" y="234296"/>
                  <a:pt x="19987" y="240028"/>
                  <a:pt x="12863" y="240028"/>
                </a:cubicBezTo>
                <a:cubicBezTo>
                  <a:pt x="5736" y="240028"/>
                  <a:pt x="5" y="234296"/>
                  <a:pt x="5" y="227169"/>
                </a:cubicBezTo>
                <a:lnTo>
                  <a:pt x="5" y="197165"/>
                </a:lnTo>
                <a:lnTo>
                  <a:pt x="5" y="171449"/>
                </a:lnTo>
                <a:lnTo>
                  <a:pt x="5" y="128586"/>
                </a:lnTo>
                <a:cubicBezTo>
                  <a:pt x="5" y="109514"/>
                  <a:pt x="10347" y="92904"/>
                  <a:pt x="25778" y="84011"/>
                </a:cubicBezTo>
                <a:lnTo>
                  <a:pt x="25772" y="84011"/>
                </a:lnTo>
                <a:moveTo>
                  <a:pt x="222885" y="102870"/>
                </a:moveTo>
                <a:lnTo>
                  <a:pt x="51435" y="102870"/>
                </a:lnTo>
                <a:cubicBezTo>
                  <a:pt x="37236" y="102870"/>
                  <a:pt x="25717" y="114389"/>
                  <a:pt x="25717" y="128586"/>
                </a:cubicBezTo>
                <a:lnTo>
                  <a:pt x="25717" y="171449"/>
                </a:lnTo>
                <a:lnTo>
                  <a:pt x="248602" y="171449"/>
                </a:lnTo>
                <a:lnTo>
                  <a:pt x="248602" y="128586"/>
                </a:lnTo>
                <a:cubicBezTo>
                  <a:pt x="248602" y="114389"/>
                  <a:pt x="237084" y="102870"/>
                  <a:pt x="222885" y="102870"/>
                </a:cubicBezTo>
                <a:lnTo>
                  <a:pt x="222885" y="102870"/>
                </a:lnTo>
                <a:moveTo>
                  <a:pt x="60008" y="120015"/>
                </a:moveTo>
                <a:cubicBezTo>
                  <a:pt x="69477" y="120015"/>
                  <a:pt x="77152" y="127691"/>
                  <a:pt x="77152" y="137160"/>
                </a:cubicBezTo>
                <a:cubicBezTo>
                  <a:pt x="77152" y="146630"/>
                  <a:pt x="69477" y="154306"/>
                  <a:pt x="60008" y="154306"/>
                </a:cubicBezTo>
                <a:cubicBezTo>
                  <a:pt x="50538" y="154306"/>
                  <a:pt x="42863" y="146630"/>
                  <a:pt x="42863" y="137160"/>
                </a:cubicBezTo>
                <a:cubicBezTo>
                  <a:pt x="42863" y="127691"/>
                  <a:pt x="50538" y="120015"/>
                  <a:pt x="60008" y="120015"/>
                </a:cubicBezTo>
                <a:lnTo>
                  <a:pt x="60008" y="120015"/>
                </a:lnTo>
                <a:moveTo>
                  <a:pt x="197167" y="137160"/>
                </a:moveTo>
                <a:cubicBezTo>
                  <a:pt x="197167" y="127691"/>
                  <a:pt x="204843" y="120015"/>
                  <a:pt x="214313" y="120015"/>
                </a:cubicBezTo>
                <a:cubicBezTo>
                  <a:pt x="223782" y="120015"/>
                  <a:pt x="231458" y="127691"/>
                  <a:pt x="231458" y="137160"/>
                </a:cubicBezTo>
                <a:cubicBezTo>
                  <a:pt x="231458" y="146630"/>
                  <a:pt x="223782" y="154306"/>
                  <a:pt x="214313" y="154306"/>
                </a:cubicBezTo>
                <a:cubicBezTo>
                  <a:pt x="204843" y="154306"/>
                  <a:pt x="197167" y="146630"/>
                  <a:pt x="197167" y="137160"/>
                </a:cubicBez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957"/>
              </a:spcBef>
              <a:buNone/>
            </a:pPr>
            <a:r>
              <a:rPr lang="en-US" sz="1532" dirty="0">
                <a:solidFill>
                  <a:srgbClr val="FFFFFF"/>
                </a:solidFill>
                <a:latin typeface="Figtree Regular" pitchFamily="34" charset="0"/>
                <a:ea typeface="Figtree Regular" pitchFamily="34" charset="-122"/>
                <a:cs typeface="Figtree Regular" pitchFamily="34" charset="-120"/>
              </a:rPr>
              <a:t>Current Defenses Against Adversarial Attacks</a:t>
            </a:r>
            <a:endParaRPr lang="en-US" sz="1532" dirty="0"/>
          </a:p>
          <a:p>
            <a:pPr algn="l" marL="142875" indent="0">
              <a:lnSpc>
                <a:spcPct val="100000"/>
              </a:lnSpc>
              <a:spcBef>
                <a:spcPts val="957"/>
              </a:spcBef>
              <a:buNone/>
            </a:pPr>
            <a:r>
              <a:rPr lang="en-US" sz="1302" dirty="0">
                <a:solidFill>
                  <a:srgbClr val="FFFFFF"/>
                </a:solidFill>
                <a:latin typeface="Figtree Regular" pitchFamily="34" charset="0"/>
                <a:ea typeface="Figtree Regular" pitchFamily="34" charset="-122"/>
                <a:cs typeface="Figtree Regular" pitchFamily="34" charset="-120"/>
              </a:rPr>
              <a:t>Several methods have been developed to protect AI systems from adversarial manipulations. Adversarial training exposes models to crafted examples during training, teaching them to recognize and resist such manipulations. Defensive distillation trains models to produce outputs that are less exploitable by attackers. Input preprocessing filters or transforms incoming data to remove potential adversarial modifications before analysis. Ensemble methods rely on multiple models agreeing on a decision, reducing the likelihood of a single attack fooling the system. Certified defenses provide mathematical guarantees of robustness within defined boundaries. Detection networks are auxiliary AI systems specifically trained to identify adversarial inputs.</a:t>
            </a:r>
            <a:endParaRPr lang="en-US" sz="1532" dirty="0"/>
          </a:p>
          <a:p>
            <a:pPr algn="l" marL="0" indent="0">
              <a:lnSpc>
                <a:spcPct val="100000"/>
              </a:lnSpc>
              <a:spcBef>
                <a:spcPts val="957"/>
              </a:spcBef>
              <a:buNone/>
            </a:pPr>
            <a:r>
              <a:rPr lang="en-US" sz="1532" dirty="0">
                <a:solidFill>
                  <a:srgbClr val="FFFFFF"/>
                </a:solidFill>
                <a:latin typeface="Figtree Regular" pitchFamily="34" charset="0"/>
                <a:ea typeface="Figtree Regular" pitchFamily="34" charset="-122"/>
                <a:cs typeface="Figtree Regular" pitchFamily="34" charset="-120"/>
              </a:rPr>
              <a:t>The Ongoing Arms Race</a:t>
            </a:r>
            <a:endParaRPr lang="en-US" sz="1532" dirty="0"/>
          </a:p>
          <a:p>
            <a:pPr algn="l" marL="142875" indent="0">
              <a:lnSpc>
                <a:spcPct val="100000"/>
              </a:lnSpc>
              <a:spcBef>
                <a:spcPts val="957"/>
              </a:spcBef>
              <a:buNone/>
            </a:pPr>
            <a:r>
              <a:rPr lang="en-US" sz="1302" dirty="0">
                <a:solidFill>
                  <a:srgbClr val="FFFFFF"/>
                </a:solidFill>
                <a:latin typeface="Figtree Regular" pitchFamily="34" charset="0"/>
                <a:ea typeface="Figtree Regular" pitchFamily="34" charset="-122"/>
                <a:cs typeface="Figtree Regular" pitchFamily="34" charset="-120"/>
              </a:rPr>
              <a:t>Each defensive advancement prompts attackers to develop new evasion techniques. For instance, universal perturbations can fool any image when overlaid, and adversarial examples now evade detection networks in a recursive cycle. This continual escalation highlights that while defenses improve, attackers adapt rapidly, making the battle between attack and defense a dynamic, evolving challenge at machine speed.</a:t>
            </a:r>
            <a:endParaRPr lang="en-US" sz="1532"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Defensive Strategies Against Adversarial Attacks</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2000" cy="6858000"/>
          </a:xfrm>
          <a:custGeom>
            <a:avLst/>
            <a:gdLst/>
            <a:ahLst/>
            <a:cxnLst/>
            <a:rect l="l" t="t" r="r" b="b"/>
            <a:pathLst>
              <a:path w="12192000" h="6858000">
                <a:moveTo>
                  <a:pt x="0" y="3507798"/>
                </a:moveTo>
                <a:lnTo>
                  <a:pt x="0" y="0"/>
                </a:lnTo>
                <a:lnTo>
                  <a:pt x="12192000" y="0"/>
                </a:lnTo>
                <a:lnTo>
                  <a:pt x="12192000" y="2925417"/>
                </a:lnTo>
                <a:cubicBezTo>
                  <a:pt x="12192000" y="2925417"/>
                  <a:pt x="11372454" y="3870861"/>
                  <a:pt x="10947319" y="4186055"/>
                </a:cubicBezTo>
                <a:lnTo>
                  <a:pt x="10808208" y="6858000"/>
                </a:lnTo>
                <a:lnTo>
                  <a:pt x="9231051" y="6858000"/>
                </a:lnTo>
                <a:cubicBezTo>
                  <a:pt x="8875410" y="6659324"/>
                  <a:pt x="8032699" y="6145454"/>
                  <a:pt x="7398715" y="5727527"/>
                </a:cubicBezTo>
                <a:cubicBezTo>
                  <a:pt x="3786713" y="6445560"/>
                  <a:pt x="961217" y="4546854"/>
                  <a:pt x="0" y="3507730"/>
                </a:cubicBezTo>
                <a:lnTo>
                  <a:pt x="0" y="3507798"/>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1416050" y="678524"/>
            <a:ext cx="822960" cy="587828"/>
          </a:xfrm>
          <a:custGeom>
            <a:avLst/>
            <a:gdLst/>
            <a:ahLst/>
            <a:cxnLst/>
            <a:rect l="l" t="t" r="r" b="b"/>
            <a:pathLst>
              <a:path w="822960" h="587828">
                <a:moveTo>
                  <a:pt x="822960" y="367392"/>
                </a:moveTo>
                <a:cubicBezTo>
                  <a:pt x="822960" y="489185"/>
                  <a:pt x="724320" y="587828"/>
                  <a:pt x="602522" y="587828"/>
                </a:cubicBezTo>
                <a:lnTo>
                  <a:pt x="587824" y="587828"/>
                </a:lnTo>
                <a:cubicBezTo>
                  <a:pt x="555309" y="587828"/>
                  <a:pt x="529040" y="561558"/>
                  <a:pt x="529040" y="529045"/>
                </a:cubicBezTo>
                <a:cubicBezTo>
                  <a:pt x="529040" y="496532"/>
                  <a:pt x="555309" y="470262"/>
                  <a:pt x="587824" y="470262"/>
                </a:cubicBezTo>
                <a:lnTo>
                  <a:pt x="602522" y="470262"/>
                </a:lnTo>
                <a:cubicBezTo>
                  <a:pt x="659282" y="470262"/>
                  <a:pt x="705392" y="424153"/>
                  <a:pt x="705392" y="367392"/>
                </a:cubicBezTo>
                <a:lnTo>
                  <a:pt x="705392" y="352697"/>
                </a:lnTo>
                <a:lnTo>
                  <a:pt x="587824" y="352697"/>
                </a:lnTo>
                <a:cubicBezTo>
                  <a:pt x="522983" y="352697"/>
                  <a:pt x="470256" y="299974"/>
                  <a:pt x="470256" y="235131"/>
                </a:cubicBezTo>
                <a:lnTo>
                  <a:pt x="470256" y="117565"/>
                </a:lnTo>
                <a:cubicBezTo>
                  <a:pt x="470256" y="52722"/>
                  <a:pt x="522975" y="0"/>
                  <a:pt x="587824" y="0"/>
                </a:cubicBezTo>
                <a:lnTo>
                  <a:pt x="705392" y="0"/>
                </a:lnTo>
                <a:cubicBezTo>
                  <a:pt x="770233" y="0"/>
                  <a:pt x="822960" y="52722"/>
                  <a:pt x="822960" y="117565"/>
                </a:cubicBezTo>
                <a:lnTo>
                  <a:pt x="822960" y="367392"/>
                </a:lnTo>
              </a:path>
              <a:path w="822960" h="587828">
                <a:moveTo>
                  <a:pt x="352696" y="367392"/>
                </a:moveTo>
                <a:cubicBezTo>
                  <a:pt x="352696" y="489185"/>
                  <a:pt x="254048" y="587828"/>
                  <a:pt x="132258" y="587828"/>
                </a:cubicBezTo>
                <a:lnTo>
                  <a:pt x="117560" y="587828"/>
                </a:lnTo>
                <a:cubicBezTo>
                  <a:pt x="85045" y="587828"/>
                  <a:pt x="58776" y="561558"/>
                  <a:pt x="58776" y="529045"/>
                </a:cubicBezTo>
                <a:cubicBezTo>
                  <a:pt x="58776" y="496532"/>
                  <a:pt x="85045" y="470262"/>
                  <a:pt x="117560" y="470262"/>
                </a:cubicBezTo>
                <a:lnTo>
                  <a:pt x="132258" y="470262"/>
                </a:lnTo>
                <a:cubicBezTo>
                  <a:pt x="189018" y="470262"/>
                  <a:pt x="235128" y="424153"/>
                  <a:pt x="235128" y="367392"/>
                </a:cubicBezTo>
                <a:lnTo>
                  <a:pt x="235128" y="352697"/>
                </a:lnTo>
                <a:lnTo>
                  <a:pt x="117560" y="352697"/>
                </a:lnTo>
                <a:cubicBezTo>
                  <a:pt x="52719" y="352697"/>
                  <a:pt x="-8" y="299974"/>
                  <a:pt x="-8" y="235131"/>
                </a:cubicBezTo>
                <a:lnTo>
                  <a:pt x="-8" y="117565"/>
                </a:lnTo>
                <a:cubicBezTo>
                  <a:pt x="-8" y="52722"/>
                  <a:pt x="52711" y="0"/>
                  <a:pt x="117560" y="0"/>
                </a:cubicBezTo>
                <a:lnTo>
                  <a:pt x="235128" y="0"/>
                </a:lnTo>
                <a:cubicBezTo>
                  <a:pt x="299969" y="0"/>
                  <a:pt x="352696" y="52722"/>
                  <a:pt x="352696" y="117565"/>
                </a:cubicBezTo>
                <a:lnTo>
                  <a:pt x="352696" y="367392"/>
                </a:lnTo>
              </a:path>
            </a:pathLst>
          </a:custGeom>
          <a:solidFill>
            <a:srgbClr val="C1E5F5"/>
          </a:solidFill>
          <a:ln/>
        </p:spPr>
        <p:txBody>
          <a:bodyPr wrap="square" lIns="0" tIns="0" rIns="0" bIns="0" rtlCol="0" anchor="ctr"/>
          <a:lstStyle/>
          <a:p>
            <a:pPr indent="0" marL="0">
              <a:buNone/>
            </a:pPr>
            <a:endParaRPr lang="en-US" dirty="0"/>
          </a:p>
        </p:txBody>
      </p:sp>
      <p:sp>
        <p:nvSpPr>
          <p:cNvPr id="6" name="Text 4"/>
          <p:cNvSpPr/>
          <p:nvPr/>
        </p:nvSpPr>
        <p:spPr>
          <a:xfrm>
            <a:off x="1873250" y="2269726"/>
            <a:ext cx="8445500" cy="1570753"/>
          </a:xfrm>
          <a:prstGeom prst="rect">
            <a:avLst/>
          </a:prstGeom>
          <a:noFill/>
          <a:ln/>
        </p:spPr>
        <p:txBody>
          <a:bodyPr wrap="square" lIns="0" tIns="0" rIns="0" bIns="0" rtlCol="0" anchor="ctr"/>
          <a:lstStyle/>
          <a:p>
            <a:pPr algn="ctr" marL="0" indent="0">
              <a:lnSpc>
                <a:spcPct val="90000"/>
              </a:lnSpc>
              <a:spcBef>
                <a:spcPts val="958"/>
              </a:spcBef>
              <a:buNone/>
            </a:pPr>
            <a:r>
              <a:rPr lang="en-US" sz="3450" dirty="0">
                <a:solidFill>
                  <a:srgbClr val="FFFFFF"/>
                </a:solidFill>
                <a:latin typeface="Figtree Bold" pitchFamily="34" charset="0"/>
                <a:ea typeface="Figtree Bold" pitchFamily="34" charset="-122"/>
                <a:cs typeface="Figtree Bold" pitchFamily="34" charset="-120"/>
              </a:rPr>
              <a:t>"The software was able to imitate the voice, and not only the voice: the tonality, the punctuation, the German accent."</a:t>
            </a:r>
            <a:endParaRPr lang="en-US" sz="3450" dirty="0"/>
          </a:p>
        </p:txBody>
      </p:sp>
      <p:sp>
        <p:nvSpPr>
          <p:cNvPr id="7" name="Text 5"/>
          <p:cNvSpPr/>
          <p:nvPr/>
        </p:nvSpPr>
        <p:spPr>
          <a:xfrm>
            <a:off x="1416050" y="5061515"/>
            <a:ext cx="3269366" cy="274320"/>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Bold" pitchFamily="34" charset="0"/>
                <a:ea typeface="Figtree Bold" pitchFamily="34" charset="-122"/>
                <a:cs typeface="Figtree Bold" pitchFamily="34" charset="-120"/>
              </a:rPr>
              <a:t>Rüdiger Kirsch</a:t>
            </a:r>
            <a:endParaRPr lang="en-US" sz="2320" dirty="0"/>
          </a:p>
        </p:txBody>
      </p:sp>
      <p:sp>
        <p:nvSpPr>
          <p:cNvPr id="8" name="Text 6"/>
          <p:cNvSpPr/>
          <p:nvPr/>
        </p:nvSpPr>
        <p:spPr>
          <a:xfrm>
            <a:off x="1416050" y="5454084"/>
            <a:ext cx="3269366" cy="365760"/>
          </a:xfrm>
          <a:prstGeom prst="rect">
            <a:avLst/>
          </a:prstGeom>
          <a:noFill/>
          <a:ln/>
        </p:spPr>
        <p:txBody>
          <a:bodyPr wrap="square" lIns="0" tIns="0" rIns="0" bIns="0" rtlCol="0" anchor="t"/>
          <a:lstStyle/>
          <a:p>
            <a:pPr algn="l" marL="0" indent="0">
              <a:lnSpc>
                <a:spcPct val="120000"/>
              </a:lnSpc>
              <a:buNone/>
            </a:pPr>
            <a:r>
              <a:rPr lang="en-US" sz="538" dirty="0">
                <a:solidFill>
                  <a:srgbClr val="BFBFBF"/>
                </a:solidFill>
                <a:latin typeface="Figtree Regular" pitchFamily="34" charset="0"/>
                <a:ea typeface="Figtree Regular" pitchFamily="34" charset="-122"/>
                <a:cs typeface="Figtree Regular" pitchFamily="34" charset="-120"/>
              </a:rPr>
              <a:t>Rüdiger Kirsch is an investigator from Euler Hermes Group SA, the insurer involved in the deepfake CEO fraud case. His insights highlight how criminals leveraged commercially available AI voice synthesis software to create highly convincing digital impersonators, demonstrating the rapid adoption of advanced attack techniques by adversaries after their academic publication.</a:t>
            </a:r>
            <a:endParaRPr lang="en-US" sz="538" dirty="0"/>
          </a:p>
        </p:txBody>
      </p:sp>
      <p:sp>
        <p:nvSpPr>
          <p:cNvPr id="9" name="Text 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4101935" y="0"/>
            <a:ext cx="8090002"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4101935" y="447"/>
            <a:ext cx="80900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4569295" y="289560"/>
            <a:ext cx="7117242"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AI-Generated Phishing: Perfectly Crafted Deception</a:t>
            </a:r>
            <a:endParaRPr lang="en-US" sz="2800" dirty="0"/>
          </a:p>
        </p:txBody>
      </p:sp>
      <p:sp>
        <p:nvSpPr>
          <p:cNvPr id="7" name="Text 5"/>
          <p:cNvSpPr/>
          <p:nvPr/>
        </p:nvSpPr>
        <p:spPr>
          <a:xfrm>
            <a:off x="4569295" y="1884493"/>
            <a:ext cx="3383280" cy="4362001"/>
          </a:xfrm>
          <a:custGeom>
            <a:avLst/>
            <a:gdLst/>
            <a:ahLst/>
            <a:cxnLst/>
            <a:rect l="l" t="t" r="r" b="b"/>
            <a:pathLst>
              <a:path w="3383280" h="4362001">
                <a:moveTo>
                  <a:pt x="116283" y="4362001"/>
                </a:moveTo>
                <a:cubicBezTo>
                  <a:pt x="52069" y="4362001"/>
                  <a:pt x="0" y="4309919"/>
                  <a:pt x="0" y="4245710"/>
                </a:cubicBezTo>
                <a:lnTo>
                  <a:pt x="0" y="116291"/>
                </a:lnTo>
                <a:cubicBezTo>
                  <a:pt x="0" y="52082"/>
                  <a:pt x="52069" y="0"/>
                  <a:pt x="116283" y="0"/>
                </a:cubicBezTo>
                <a:lnTo>
                  <a:pt x="3266997" y="0"/>
                </a:lnTo>
                <a:cubicBezTo>
                  <a:pt x="3331211" y="0"/>
                  <a:pt x="3383280" y="52082"/>
                  <a:pt x="3383280" y="116291"/>
                </a:cubicBezTo>
                <a:lnTo>
                  <a:pt x="3383280" y="4245710"/>
                </a:lnTo>
                <a:cubicBezTo>
                  <a:pt x="3383280" y="4309919"/>
                  <a:pt x="3331211" y="4362001"/>
                  <a:pt x="3266997" y="4362001"/>
                </a:cubicBezTo>
                <a:lnTo>
                  <a:pt x="116283" y="4362001"/>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8303257" y="1884493"/>
            <a:ext cx="3383280" cy="4362001"/>
          </a:xfrm>
          <a:custGeom>
            <a:avLst/>
            <a:gdLst/>
            <a:ahLst/>
            <a:cxnLst/>
            <a:rect l="l" t="t" r="r" b="b"/>
            <a:pathLst>
              <a:path w="3383280" h="4362001">
                <a:moveTo>
                  <a:pt x="116283" y="4362001"/>
                </a:moveTo>
                <a:cubicBezTo>
                  <a:pt x="52069" y="4362001"/>
                  <a:pt x="0" y="4309919"/>
                  <a:pt x="0" y="4245710"/>
                </a:cubicBezTo>
                <a:lnTo>
                  <a:pt x="0" y="116291"/>
                </a:lnTo>
                <a:cubicBezTo>
                  <a:pt x="0" y="52082"/>
                  <a:pt x="52069" y="0"/>
                  <a:pt x="116283" y="0"/>
                </a:cubicBezTo>
                <a:lnTo>
                  <a:pt x="3266997" y="0"/>
                </a:lnTo>
                <a:cubicBezTo>
                  <a:pt x="3331211" y="0"/>
                  <a:pt x="3383280" y="52082"/>
                  <a:pt x="3383280" y="116291"/>
                </a:cubicBezTo>
                <a:lnTo>
                  <a:pt x="3383280" y="4245710"/>
                </a:lnTo>
                <a:cubicBezTo>
                  <a:pt x="3383280" y="4309919"/>
                  <a:pt x="3331211" y="4362001"/>
                  <a:pt x="3266997" y="4362001"/>
                </a:cubicBezTo>
                <a:lnTo>
                  <a:pt x="116283" y="4362001"/>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4797895" y="168949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4797895" y="1689498"/>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1</a:t>
            </a:r>
            <a:endParaRPr lang="en-US" sz="1400" dirty="0"/>
          </a:p>
        </p:txBody>
      </p:sp>
      <p:sp>
        <p:nvSpPr>
          <p:cNvPr id="11" name="Text 9"/>
          <p:cNvSpPr/>
          <p:nvPr/>
        </p:nvSpPr>
        <p:spPr>
          <a:xfrm>
            <a:off x="8531857" y="168949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8531857" y="1689498"/>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2</a:t>
            </a:r>
            <a:endParaRPr lang="en-US" sz="1400" dirty="0"/>
          </a:p>
        </p:txBody>
      </p:sp>
      <p:sp>
        <p:nvSpPr>
          <p:cNvPr id="13" name="Text 11"/>
          <p:cNvSpPr/>
          <p:nvPr/>
        </p:nvSpPr>
        <p:spPr>
          <a:xfrm>
            <a:off x="4632955" y="6495651"/>
            <a:ext cx="548640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4" name="Text 12"/>
          <p:cNvSpPr/>
          <p:nvPr/>
        </p:nvSpPr>
        <p:spPr>
          <a:xfrm>
            <a:off x="0" y="0"/>
            <a:ext cx="4101935" cy="6858000"/>
          </a:xfrm>
          <a:prstGeom prst="rect">
            <a:avLst/>
          </a:prstGeom>
          <a:blipFill>
            <a:blip r:embed="rId1"/>
            <a:srcRect/>
            <a:stretch>
              <a:fillRect l="0" r="0" t="32911" b="32911"/>
            </a:stretch>
          </a:blipFill>
          <a:ln/>
        </p:spPr>
        <p:txBody>
          <a:bodyPr wrap="square" lIns="0" tIns="0" rIns="0" bIns="0" rtlCol="0" anchor="ctr"/>
          <a:lstStyle/>
          <a:p>
            <a:pPr indent="0" marL="0">
              <a:buNone/>
            </a:pPr>
            <a:endParaRPr lang="en-US" dirty="0"/>
          </a:p>
        </p:txBody>
      </p:sp>
      <p:sp>
        <p:nvSpPr>
          <p:cNvPr id="15" name="Text 13"/>
          <p:cNvSpPr/>
          <p:nvPr/>
        </p:nvSpPr>
        <p:spPr>
          <a:xfrm>
            <a:off x="4797895" y="2963128"/>
            <a:ext cx="2926080" cy="3108960"/>
          </a:xfrm>
          <a:prstGeom prst="rect">
            <a:avLst/>
          </a:prstGeom>
          <a:noFill/>
          <a:ln/>
        </p:spPr>
        <p:txBody>
          <a:bodyPr wrap="square" lIns="0" tIns="0" rIns="0" bIns="0" rtlCol="0" anchor="t"/>
          <a:lstStyle/>
          <a:p>
            <a:pPr algn="l" marL="0" indent="0">
              <a:lnSpc>
                <a:spcPct val="100000"/>
              </a:lnSpc>
              <a:spcBef>
                <a:spcPts val="1301"/>
              </a:spcBef>
              <a:buNone/>
            </a:pPr>
            <a:r>
              <a:rPr lang="en-US" sz="1561" dirty="0">
                <a:solidFill>
                  <a:srgbClr val="FFFFFF"/>
                </a:solidFill>
                <a:latin typeface="Figtree Regular" pitchFamily="34" charset="0"/>
                <a:ea typeface="Figtree Regular" pitchFamily="34" charset="-122"/>
                <a:cs typeface="Figtree Regular" pitchFamily="34" charset="-120"/>
              </a:rPr>
              <a:t>Traditional phishing emails often contained poor grammar, awkward phrasing, and implausible scenarios which made them easy to spot. They used generic templates with urgent demands, such as notifications of compromised accounts, which triggered security awareness training to spot red flags like misspellings and generic greetings.</a:t>
            </a:r>
            <a:endParaRPr lang="en-US" sz="1561" dirty="0"/>
          </a:p>
        </p:txBody>
      </p:sp>
      <p:sp>
        <p:nvSpPr>
          <p:cNvPr id="16" name="Text 14"/>
          <p:cNvSpPr/>
          <p:nvPr/>
        </p:nvSpPr>
        <p:spPr>
          <a:xfrm>
            <a:off x="4797895" y="2329287"/>
            <a:ext cx="2926080" cy="491892"/>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Traditional Phishing Emails</a:t>
            </a:r>
            <a:endParaRPr lang="en-US" sz="1933" dirty="0"/>
          </a:p>
        </p:txBody>
      </p:sp>
      <p:sp>
        <p:nvSpPr>
          <p:cNvPr id="17" name="Text 15"/>
          <p:cNvSpPr/>
          <p:nvPr/>
        </p:nvSpPr>
        <p:spPr>
          <a:xfrm>
            <a:off x="8531857" y="2963128"/>
            <a:ext cx="2926080" cy="3108960"/>
          </a:xfrm>
          <a:prstGeom prst="rect">
            <a:avLst/>
          </a:prstGeom>
          <a:noFill/>
          <a:ln/>
        </p:spPr>
        <p:txBody>
          <a:bodyPr wrap="square" lIns="0" tIns="0" rIns="0" bIns="0" rtlCol="0" anchor="t"/>
          <a:lstStyle/>
          <a:p>
            <a:pPr algn="l" marL="0" indent="0">
              <a:lnSpc>
                <a:spcPct val="100000"/>
              </a:lnSpc>
              <a:spcBef>
                <a:spcPts val="1301"/>
              </a:spcBef>
              <a:buNone/>
            </a:pPr>
            <a:r>
              <a:rPr lang="en-US" sz="1561" dirty="0">
                <a:solidFill>
                  <a:srgbClr val="FFFFFF"/>
                </a:solidFill>
                <a:latin typeface="Figtree Regular" pitchFamily="34" charset="0"/>
                <a:ea typeface="Figtree Regular" pitchFamily="34" charset="-122"/>
                <a:cs typeface="Figtree Regular" pitchFamily="34" charset="-120"/>
              </a:rPr>
              <a:t>Modern AI-generated phishing messages are context-aware and personalized. They reference real names, colleagues, projects, and deadlines to craft messages that sound professional and plausible. This personalization is achieved by analyzing public information to build detailed profiles, resulting in sophisticated emails that can be produced at scale and are difficult for humans and automated systems to detect.</a:t>
            </a:r>
            <a:endParaRPr lang="en-US" sz="1561" dirty="0"/>
          </a:p>
        </p:txBody>
      </p:sp>
      <p:sp>
        <p:nvSpPr>
          <p:cNvPr id="18" name="Text 16"/>
          <p:cNvSpPr/>
          <p:nvPr/>
        </p:nvSpPr>
        <p:spPr>
          <a:xfrm>
            <a:off x="8531857" y="2329287"/>
            <a:ext cx="2926080" cy="491892"/>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AI-Generated Spear Phishing</a:t>
            </a:r>
            <a:endParaRPr lang="en-US" sz="1933"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8521191" y="2390407"/>
            <a:ext cx="2999232" cy="2539669"/>
          </a:xfrm>
          <a:custGeom>
            <a:avLst/>
            <a:gdLst/>
            <a:ahLst/>
            <a:cxnLst/>
            <a:rect l="l" t="t" r="r" b="b"/>
            <a:pathLst>
              <a:path w="2999232" h="2539669">
                <a:moveTo>
                  <a:pt x="0" y="0"/>
                </a:moveTo>
                <a:lnTo>
                  <a:pt x="2749816" y="0"/>
                </a:lnTo>
                <a:lnTo>
                  <a:pt x="2999232" y="1269835"/>
                </a:lnTo>
                <a:lnTo>
                  <a:pt x="2749816" y="2539669"/>
                </a:lnTo>
                <a:lnTo>
                  <a:pt x="0" y="2539669"/>
                </a:lnTo>
                <a:lnTo>
                  <a:pt x="249416" y="1269835"/>
                </a:lnTo>
              </a:path>
            </a:pathLst>
          </a:custGeom>
          <a:solidFill>
            <a:srgbClr val="156082"/>
          </a:solidFill>
          <a:ln/>
        </p:spPr>
        <p:txBody>
          <a:bodyPr wrap="square" lIns="0" tIns="0" rIns="0" bIns="0" rtlCol="0" anchor="ctr"/>
          <a:lstStyle/>
          <a:p>
            <a:pPr indent="0" marL="0">
              <a:buNone/>
            </a:pPr>
            <a:endParaRPr lang="en-US" dirty="0"/>
          </a:p>
        </p:txBody>
      </p:sp>
      <p:sp>
        <p:nvSpPr>
          <p:cNvPr id="7" name="Text 5"/>
          <p:cNvSpPr/>
          <p:nvPr/>
        </p:nvSpPr>
        <p:spPr>
          <a:xfrm>
            <a:off x="3369977" y="2390407"/>
            <a:ext cx="2999232" cy="2539669"/>
          </a:xfrm>
          <a:custGeom>
            <a:avLst/>
            <a:gdLst/>
            <a:ahLst/>
            <a:cxnLst/>
            <a:rect l="l" t="t" r="r" b="b"/>
            <a:pathLst>
              <a:path w="2999232" h="2539669">
                <a:moveTo>
                  <a:pt x="0" y="0"/>
                </a:moveTo>
                <a:lnTo>
                  <a:pt x="2749816" y="0"/>
                </a:lnTo>
                <a:lnTo>
                  <a:pt x="2999232" y="1269835"/>
                </a:lnTo>
                <a:lnTo>
                  <a:pt x="2749816" y="2539669"/>
                </a:lnTo>
                <a:lnTo>
                  <a:pt x="0" y="2539669"/>
                </a:lnTo>
                <a:lnTo>
                  <a:pt x="249416" y="1269835"/>
                </a:lnTo>
              </a:path>
            </a:pathLst>
          </a:custGeom>
          <a:solidFill>
            <a:srgbClr val="156082"/>
          </a:solidFill>
          <a:ln/>
        </p:spPr>
        <p:txBody>
          <a:bodyPr wrap="square" lIns="0" tIns="0" rIns="0" bIns="0" rtlCol="0" anchor="ctr"/>
          <a:lstStyle/>
          <a:p>
            <a:pPr indent="0" marL="0">
              <a:buNone/>
            </a:pPr>
            <a:endParaRPr lang="en-US" dirty="0"/>
          </a:p>
        </p:txBody>
      </p:sp>
      <p:sp>
        <p:nvSpPr>
          <p:cNvPr id="8" name="Text 6"/>
          <p:cNvSpPr/>
          <p:nvPr/>
        </p:nvSpPr>
        <p:spPr>
          <a:xfrm>
            <a:off x="803577" y="2390407"/>
            <a:ext cx="2999232" cy="2539669"/>
          </a:xfrm>
          <a:custGeom>
            <a:avLst/>
            <a:gdLst/>
            <a:ahLst/>
            <a:cxnLst/>
            <a:rect l="l" t="t" r="r" b="b"/>
            <a:pathLst>
              <a:path w="2999232" h="2539669">
                <a:moveTo>
                  <a:pt x="0" y="0"/>
                </a:moveTo>
                <a:lnTo>
                  <a:pt x="2749816" y="0"/>
                </a:lnTo>
                <a:lnTo>
                  <a:pt x="2999232" y="1269835"/>
                </a:lnTo>
                <a:lnTo>
                  <a:pt x="2749816" y="2539669"/>
                </a:lnTo>
                <a:lnTo>
                  <a:pt x="0" y="2539669"/>
                </a:lnTo>
                <a:lnTo>
                  <a:pt x="249416" y="1269835"/>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946925" y="2390407"/>
            <a:ext cx="2999232" cy="2539669"/>
          </a:xfrm>
          <a:custGeom>
            <a:avLst/>
            <a:gdLst/>
            <a:ahLst/>
            <a:cxnLst/>
            <a:rect l="l" t="t" r="r" b="b"/>
            <a:pathLst>
              <a:path w="2999232" h="2539669">
                <a:moveTo>
                  <a:pt x="0" y="0"/>
                </a:moveTo>
                <a:lnTo>
                  <a:pt x="2749816" y="0"/>
                </a:lnTo>
                <a:lnTo>
                  <a:pt x="2999232" y="1269835"/>
                </a:lnTo>
                <a:lnTo>
                  <a:pt x="2749816" y="2539669"/>
                </a:lnTo>
                <a:lnTo>
                  <a:pt x="0" y="2539669"/>
                </a:lnTo>
                <a:lnTo>
                  <a:pt x="249416" y="1269835"/>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803577" y="3248813"/>
            <a:ext cx="822960" cy="822857"/>
          </a:xfrm>
          <a:custGeom>
            <a:avLst/>
            <a:gdLst/>
            <a:ahLst/>
            <a:cxnLst/>
            <a:rect l="l" t="t" r="r" b="b"/>
            <a:pathLst>
              <a:path w="822960" h="822857">
                <a:moveTo>
                  <a:pt x="822960" y="411428"/>
                </a:moveTo>
                <a:cubicBezTo>
                  <a:pt x="822960" y="638652"/>
                  <a:pt x="638732" y="822857"/>
                  <a:pt x="411480" y="822857"/>
                </a:cubicBezTo>
                <a:cubicBezTo>
                  <a:pt x="184228" y="822857"/>
                  <a:pt x="0" y="638652"/>
                  <a:pt x="0" y="411428"/>
                </a:cubicBezTo>
                <a:cubicBezTo>
                  <a:pt x="0" y="184205"/>
                  <a:pt x="184228" y="0"/>
                  <a:pt x="411480" y="0"/>
                </a:cubicBezTo>
                <a:cubicBezTo>
                  <a:pt x="638732" y="0"/>
                  <a:pt x="822960" y="184205"/>
                  <a:pt x="822960" y="411428"/>
                </a:cubicBezTo>
              </a:path>
            </a:pathLst>
          </a:custGeom>
          <a:solidFill>
            <a:srgbClr val="104862"/>
          </a:solidFill>
          <a:ln w="50800">
            <a:solidFill>
              <a:srgbClr val="0B3041"/>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1" name="Text 9"/>
          <p:cNvSpPr/>
          <p:nvPr/>
        </p:nvSpPr>
        <p:spPr>
          <a:xfrm>
            <a:off x="3369977" y="3248813"/>
            <a:ext cx="822960" cy="822857"/>
          </a:xfrm>
          <a:custGeom>
            <a:avLst/>
            <a:gdLst/>
            <a:ahLst/>
            <a:cxnLst/>
            <a:rect l="l" t="t" r="r" b="b"/>
            <a:pathLst>
              <a:path w="822960" h="822857">
                <a:moveTo>
                  <a:pt x="822960" y="411428"/>
                </a:moveTo>
                <a:cubicBezTo>
                  <a:pt x="822960" y="638652"/>
                  <a:pt x="638732" y="822857"/>
                  <a:pt x="411480" y="822857"/>
                </a:cubicBezTo>
                <a:cubicBezTo>
                  <a:pt x="184228" y="822857"/>
                  <a:pt x="0" y="638652"/>
                  <a:pt x="0" y="411428"/>
                </a:cubicBezTo>
                <a:cubicBezTo>
                  <a:pt x="0" y="184205"/>
                  <a:pt x="184228" y="0"/>
                  <a:pt x="411480" y="0"/>
                </a:cubicBezTo>
                <a:cubicBezTo>
                  <a:pt x="638732" y="0"/>
                  <a:pt x="822960" y="184205"/>
                  <a:pt x="822960" y="411428"/>
                </a:cubicBezTo>
              </a:path>
            </a:pathLst>
          </a:custGeom>
          <a:solidFill>
            <a:srgbClr val="104862"/>
          </a:solidFill>
          <a:ln w="5080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2" name="Text 10"/>
          <p:cNvSpPr/>
          <p:nvPr/>
        </p:nvSpPr>
        <p:spPr>
          <a:xfrm>
            <a:off x="5946925" y="3248813"/>
            <a:ext cx="822960" cy="822857"/>
          </a:xfrm>
          <a:custGeom>
            <a:avLst/>
            <a:gdLst/>
            <a:ahLst/>
            <a:cxnLst/>
            <a:rect l="l" t="t" r="r" b="b"/>
            <a:pathLst>
              <a:path w="822960" h="822857">
                <a:moveTo>
                  <a:pt x="822960" y="411428"/>
                </a:moveTo>
                <a:cubicBezTo>
                  <a:pt x="822960" y="638652"/>
                  <a:pt x="638732" y="822857"/>
                  <a:pt x="411480" y="822857"/>
                </a:cubicBezTo>
                <a:cubicBezTo>
                  <a:pt x="184228" y="822857"/>
                  <a:pt x="0" y="638652"/>
                  <a:pt x="0" y="411428"/>
                </a:cubicBezTo>
                <a:cubicBezTo>
                  <a:pt x="0" y="184205"/>
                  <a:pt x="184228" y="0"/>
                  <a:pt x="411480" y="0"/>
                </a:cubicBezTo>
                <a:cubicBezTo>
                  <a:pt x="638732" y="0"/>
                  <a:pt x="822960" y="184205"/>
                  <a:pt x="822960" y="411428"/>
                </a:cubicBezTo>
              </a:path>
            </a:pathLst>
          </a:custGeom>
          <a:solidFill>
            <a:srgbClr val="104862"/>
          </a:solidFill>
          <a:ln w="50800">
            <a:solidFill>
              <a:srgbClr val="0B3041"/>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3" name="Text 11"/>
          <p:cNvSpPr/>
          <p:nvPr/>
        </p:nvSpPr>
        <p:spPr>
          <a:xfrm>
            <a:off x="8521191" y="3248813"/>
            <a:ext cx="822960" cy="822857"/>
          </a:xfrm>
          <a:custGeom>
            <a:avLst/>
            <a:gdLst/>
            <a:ahLst/>
            <a:cxnLst/>
            <a:rect l="l" t="t" r="r" b="b"/>
            <a:pathLst>
              <a:path w="822960" h="822857">
                <a:moveTo>
                  <a:pt x="822960" y="411428"/>
                </a:moveTo>
                <a:cubicBezTo>
                  <a:pt x="822960" y="638652"/>
                  <a:pt x="638732" y="822857"/>
                  <a:pt x="411480" y="822857"/>
                </a:cubicBezTo>
                <a:cubicBezTo>
                  <a:pt x="184228" y="822857"/>
                  <a:pt x="0" y="638652"/>
                  <a:pt x="0" y="411428"/>
                </a:cubicBezTo>
                <a:cubicBezTo>
                  <a:pt x="0" y="184205"/>
                  <a:pt x="184228" y="0"/>
                  <a:pt x="411480" y="0"/>
                </a:cubicBezTo>
                <a:cubicBezTo>
                  <a:pt x="638732" y="0"/>
                  <a:pt x="822960" y="184205"/>
                  <a:pt x="822960" y="411428"/>
                </a:cubicBezTo>
              </a:path>
            </a:pathLst>
          </a:custGeom>
          <a:solidFill>
            <a:srgbClr val="104862"/>
          </a:solidFill>
          <a:ln w="5080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5" name="Text 13"/>
          <p:cNvSpPr/>
          <p:nvPr/>
        </p:nvSpPr>
        <p:spPr>
          <a:xfrm>
            <a:off x="8749791" y="3477361"/>
            <a:ext cx="365760" cy="365760"/>
          </a:xfrm>
          <a:custGeom>
            <a:avLst/>
            <a:gdLst/>
            <a:ahLst/>
            <a:cxnLst/>
            <a:rect l="l" t="t" r="r" b="b"/>
            <a:pathLst>
              <a:path w="365760" h="365760">
                <a:moveTo>
                  <a:pt x="182880" y="34290"/>
                </a:moveTo>
                <a:cubicBezTo>
                  <a:pt x="264946" y="34290"/>
                  <a:pt x="331470" y="100814"/>
                  <a:pt x="331470" y="182880"/>
                </a:cubicBezTo>
                <a:cubicBezTo>
                  <a:pt x="331470" y="264946"/>
                  <a:pt x="264946" y="331470"/>
                  <a:pt x="182880" y="331470"/>
                </a:cubicBezTo>
                <a:cubicBezTo>
                  <a:pt x="100814" y="331470"/>
                  <a:pt x="34290" y="264946"/>
                  <a:pt x="34290" y="182880"/>
                </a:cubicBezTo>
                <a:cubicBezTo>
                  <a:pt x="34290" y="100814"/>
                  <a:pt x="100814" y="34290"/>
                  <a:pt x="182880" y="34290"/>
                </a:cubicBezTo>
                <a:lnTo>
                  <a:pt x="182880" y="34290"/>
                </a:lnTo>
                <a:moveTo>
                  <a:pt x="182880" y="365760"/>
                </a:moveTo>
                <a:cubicBezTo>
                  <a:pt x="283881" y="365760"/>
                  <a:pt x="365760" y="283881"/>
                  <a:pt x="365760" y="182880"/>
                </a:cubicBezTo>
                <a:cubicBezTo>
                  <a:pt x="365760" y="81879"/>
                  <a:pt x="283881" y="0"/>
                  <a:pt x="182880" y="0"/>
                </a:cubicBezTo>
                <a:cubicBezTo>
                  <a:pt x="81879" y="0"/>
                  <a:pt x="0" y="81879"/>
                  <a:pt x="0" y="182880"/>
                </a:cubicBezTo>
                <a:cubicBezTo>
                  <a:pt x="0" y="283881"/>
                  <a:pt x="81879" y="365760"/>
                  <a:pt x="182880" y="365760"/>
                </a:cubicBezTo>
                <a:moveTo>
                  <a:pt x="222887" y="251460"/>
                </a:moveTo>
                <a:cubicBezTo>
                  <a:pt x="222887" y="235531"/>
                  <a:pt x="213527" y="221742"/>
                  <a:pt x="200027" y="215312"/>
                </a:cubicBezTo>
                <a:lnTo>
                  <a:pt x="200027" y="85723"/>
                </a:lnTo>
                <a:cubicBezTo>
                  <a:pt x="200027" y="76221"/>
                  <a:pt x="192382" y="68580"/>
                  <a:pt x="182884" y="68580"/>
                </a:cubicBezTo>
                <a:cubicBezTo>
                  <a:pt x="173381" y="68580"/>
                  <a:pt x="165740" y="76224"/>
                  <a:pt x="165740" y="85727"/>
                </a:cubicBezTo>
                <a:lnTo>
                  <a:pt x="165740" y="215316"/>
                </a:lnTo>
                <a:cubicBezTo>
                  <a:pt x="152240" y="221746"/>
                  <a:pt x="142880" y="235531"/>
                  <a:pt x="142880" y="251464"/>
                </a:cubicBezTo>
                <a:cubicBezTo>
                  <a:pt x="142880" y="273537"/>
                  <a:pt x="160810" y="291470"/>
                  <a:pt x="182887" y="291470"/>
                </a:cubicBezTo>
                <a:cubicBezTo>
                  <a:pt x="204961" y="291470"/>
                  <a:pt x="222894" y="273541"/>
                  <a:pt x="222894" y="251467"/>
                </a:cubicBezTo>
                <a:lnTo>
                  <a:pt x="222887" y="251460"/>
                </a:lnTo>
                <a:moveTo>
                  <a:pt x="114300" y="137160"/>
                </a:moveTo>
                <a:cubicBezTo>
                  <a:pt x="126926" y="137160"/>
                  <a:pt x="137160" y="126926"/>
                  <a:pt x="137160" y="114300"/>
                </a:cubicBezTo>
                <a:cubicBezTo>
                  <a:pt x="137160" y="101674"/>
                  <a:pt x="126926" y="91440"/>
                  <a:pt x="114300" y="91440"/>
                </a:cubicBezTo>
                <a:cubicBezTo>
                  <a:pt x="101674" y="91440"/>
                  <a:pt x="91440" y="101674"/>
                  <a:pt x="91440" y="114300"/>
                </a:cubicBezTo>
                <a:cubicBezTo>
                  <a:pt x="91440" y="126926"/>
                  <a:pt x="101674" y="137160"/>
                  <a:pt x="114300" y="137160"/>
                </a:cubicBezTo>
                <a:moveTo>
                  <a:pt x="102870" y="182880"/>
                </a:moveTo>
                <a:cubicBezTo>
                  <a:pt x="102870" y="170254"/>
                  <a:pt x="92636" y="160020"/>
                  <a:pt x="80010" y="160020"/>
                </a:cubicBezTo>
                <a:cubicBezTo>
                  <a:pt x="67384" y="160020"/>
                  <a:pt x="57150" y="170254"/>
                  <a:pt x="57150" y="182880"/>
                </a:cubicBezTo>
                <a:cubicBezTo>
                  <a:pt x="57150" y="195506"/>
                  <a:pt x="67384" y="205740"/>
                  <a:pt x="80010" y="205740"/>
                </a:cubicBezTo>
                <a:cubicBezTo>
                  <a:pt x="92636" y="205740"/>
                  <a:pt x="102870" y="195506"/>
                  <a:pt x="102870" y="182880"/>
                </a:cubicBezTo>
                <a:moveTo>
                  <a:pt x="285750" y="205740"/>
                </a:moveTo>
                <a:cubicBezTo>
                  <a:pt x="298376" y="205740"/>
                  <a:pt x="308610" y="195506"/>
                  <a:pt x="308610" y="182880"/>
                </a:cubicBezTo>
                <a:cubicBezTo>
                  <a:pt x="308610" y="170254"/>
                  <a:pt x="298376" y="160020"/>
                  <a:pt x="285750" y="160020"/>
                </a:cubicBezTo>
                <a:cubicBezTo>
                  <a:pt x="273124" y="160020"/>
                  <a:pt x="262890" y="170254"/>
                  <a:pt x="262890" y="182880"/>
                </a:cubicBezTo>
                <a:cubicBezTo>
                  <a:pt x="262890" y="195506"/>
                  <a:pt x="273124" y="205740"/>
                  <a:pt x="285750" y="205740"/>
                </a:cubicBezTo>
                <a:moveTo>
                  <a:pt x="274320" y="114300"/>
                </a:moveTo>
                <a:cubicBezTo>
                  <a:pt x="274320" y="101674"/>
                  <a:pt x="264086" y="91440"/>
                  <a:pt x="251460" y="91440"/>
                </a:cubicBezTo>
                <a:cubicBezTo>
                  <a:pt x="238834" y="91440"/>
                  <a:pt x="228600" y="101674"/>
                  <a:pt x="228600" y="114300"/>
                </a:cubicBezTo>
                <a:cubicBezTo>
                  <a:pt x="228600" y="126926"/>
                  <a:pt x="238834" y="137160"/>
                  <a:pt x="251460" y="137160"/>
                </a:cubicBezTo>
                <a:cubicBezTo>
                  <a:pt x="264086" y="137160"/>
                  <a:pt x="274320" y="126926"/>
                  <a:pt x="274320" y="114300"/>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175525" y="3523081"/>
            <a:ext cx="365760" cy="274320"/>
          </a:xfrm>
          <a:custGeom>
            <a:avLst/>
            <a:gdLst/>
            <a:ahLst/>
            <a:cxnLst/>
            <a:rect l="l" t="t" r="r" b="b"/>
            <a:pathLst>
              <a:path w="365760" h="274320">
                <a:moveTo>
                  <a:pt x="45720" y="34290"/>
                </a:moveTo>
                <a:cubicBezTo>
                  <a:pt x="39433" y="34290"/>
                  <a:pt x="34290" y="39434"/>
                  <a:pt x="34290" y="45721"/>
                </a:cubicBezTo>
                <a:lnTo>
                  <a:pt x="34290" y="61508"/>
                </a:lnTo>
                <a:lnTo>
                  <a:pt x="157518" y="162664"/>
                </a:lnTo>
                <a:cubicBezTo>
                  <a:pt x="172306" y="174808"/>
                  <a:pt x="193524" y="174808"/>
                  <a:pt x="208311" y="162664"/>
                </a:cubicBezTo>
                <a:lnTo>
                  <a:pt x="331470" y="61508"/>
                </a:lnTo>
                <a:lnTo>
                  <a:pt x="331470" y="45721"/>
                </a:lnTo>
                <a:cubicBezTo>
                  <a:pt x="331470" y="39434"/>
                  <a:pt x="326327" y="34290"/>
                  <a:pt x="320040" y="34290"/>
                </a:cubicBezTo>
                <a:lnTo>
                  <a:pt x="45720" y="34290"/>
                </a:lnTo>
                <a:moveTo>
                  <a:pt x="34290" y="105871"/>
                </a:moveTo>
                <a:lnTo>
                  <a:pt x="34290" y="228602"/>
                </a:lnTo>
                <a:cubicBezTo>
                  <a:pt x="34290" y="234889"/>
                  <a:pt x="39433" y="240033"/>
                  <a:pt x="45720" y="240033"/>
                </a:cubicBezTo>
                <a:lnTo>
                  <a:pt x="320040" y="240033"/>
                </a:lnTo>
                <a:cubicBezTo>
                  <a:pt x="326327" y="240033"/>
                  <a:pt x="331470" y="234889"/>
                  <a:pt x="331470" y="228602"/>
                </a:cubicBezTo>
                <a:lnTo>
                  <a:pt x="331470" y="105871"/>
                </a:lnTo>
                <a:lnTo>
                  <a:pt x="230030" y="189168"/>
                </a:lnTo>
                <a:cubicBezTo>
                  <a:pt x="202598" y="211671"/>
                  <a:pt x="163092" y="211671"/>
                  <a:pt x="135734" y="189168"/>
                </a:cubicBezTo>
                <a:lnTo>
                  <a:pt x="34290" y="105871"/>
                </a:lnTo>
                <a:moveTo>
                  <a:pt x="0" y="45721"/>
                </a:moveTo>
                <a:cubicBezTo>
                  <a:pt x="0" y="20503"/>
                  <a:pt x="20501" y="0"/>
                  <a:pt x="45720" y="0"/>
                </a:cubicBezTo>
                <a:lnTo>
                  <a:pt x="320040" y="0"/>
                </a:lnTo>
                <a:cubicBezTo>
                  <a:pt x="345259" y="0"/>
                  <a:pt x="365760" y="20503"/>
                  <a:pt x="365760" y="45721"/>
                </a:cubicBezTo>
                <a:lnTo>
                  <a:pt x="365760" y="228602"/>
                </a:lnTo>
                <a:cubicBezTo>
                  <a:pt x="365760" y="253820"/>
                  <a:pt x="345259" y="274323"/>
                  <a:pt x="320040" y="274323"/>
                </a:cubicBezTo>
                <a:lnTo>
                  <a:pt x="45720" y="274323"/>
                </a:lnTo>
                <a:cubicBezTo>
                  <a:pt x="20501" y="274323"/>
                  <a:pt x="0" y="253820"/>
                  <a:pt x="0" y="228602"/>
                </a:cubicBezTo>
                <a:lnTo>
                  <a:pt x="0" y="45721"/>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598577" y="3477361"/>
            <a:ext cx="365760" cy="365760"/>
          </a:xfrm>
          <a:custGeom>
            <a:avLst/>
            <a:gdLst/>
            <a:ahLst/>
            <a:cxnLst/>
            <a:rect l="l" t="t" r="r" b="b"/>
            <a:pathLst>
              <a:path w="365760" h="365760">
                <a:moveTo>
                  <a:pt x="195941" y="39188"/>
                </a:moveTo>
                <a:lnTo>
                  <a:pt x="195941" y="326569"/>
                </a:lnTo>
                <a:lnTo>
                  <a:pt x="169815" y="326569"/>
                </a:lnTo>
                <a:lnTo>
                  <a:pt x="169815" y="39188"/>
                </a:lnTo>
                <a:lnTo>
                  <a:pt x="195941" y="39188"/>
                </a:lnTo>
                <a:moveTo>
                  <a:pt x="169819" y="0"/>
                </a:moveTo>
                <a:cubicBezTo>
                  <a:pt x="148184" y="0"/>
                  <a:pt x="130631" y="17553"/>
                  <a:pt x="130631" y="39188"/>
                </a:cubicBezTo>
                <a:lnTo>
                  <a:pt x="130631" y="326569"/>
                </a:lnTo>
                <a:cubicBezTo>
                  <a:pt x="130631" y="348204"/>
                  <a:pt x="148184" y="365756"/>
                  <a:pt x="169819" y="365756"/>
                </a:cubicBezTo>
                <a:lnTo>
                  <a:pt x="195945" y="365756"/>
                </a:lnTo>
                <a:cubicBezTo>
                  <a:pt x="217580" y="365756"/>
                  <a:pt x="235133" y="348204"/>
                  <a:pt x="235133" y="326569"/>
                </a:cubicBezTo>
                <a:lnTo>
                  <a:pt x="235133" y="39188"/>
                </a:lnTo>
                <a:cubicBezTo>
                  <a:pt x="235133" y="17553"/>
                  <a:pt x="217580" y="0"/>
                  <a:pt x="195945" y="0"/>
                </a:cubicBezTo>
                <a:lnTo>
                  <a:pt x="169819" y="0"/>
                </a:lnTo>
                <a:moveTo>
                  <a:pt x="65314" y="195941"/>
                </a:moveTo>
                <a:lnTo>
                  <a:pt x="65314" y="326569"/>
                </a:lnTo>
                <a:lnTo>
                  <a:pt x="39188" y="326569"/>
                </a:lnTo>
                <a:lnTo>
                  <a:pt x="39188" y="195941"/>
                </a:lnTo>
                <a:lnTo>
                  <a:pt x="65314" y="195941"/>
                </a:lnTo>
                <a:moveTo>
                  <a:pt x="39188" y="156754"/>
                </a:moveTo>
                <a:cubicBezTo>
                  <a:pt x="17553" y="156754"/>
                  <a:pt x="0" y="174307"/>
                  <a:pt x="0" y="195941"/>
                </a:cubicBezTo>
                <a:lnTo>
                  <a:pt x="0" y="326569"/>
                </a:lnTo>
                <a:cubicBezTo>
                  <a:pt x="0" y="348204"/>
                  <a:pt x="17553" y="365756"/>
                  <a:pt x="39188" y="365756"/>
                </a:cubicBezTo>
                <a:lnTo>
                  <a:pt x="65314" y="365756"/>
                </a:lnTo>
                <a:cubicBezTo>
                  <a:pt x="86948" y="365756"/>
                  <a:pt x="104501" y="348204"/>
                  <a:pt x="104501" y="326569"/>
                </a:cubicBezTo>
                <a:lnTo>
                  <a:pt x="104501" y="195941"/>
                </a:lnTo>
                <a:cubicBezTo>
                  <a:pt x="104501" y="174307"/>
                  <a:pt x="86948" y="156754"/>
                  <a:pt x="65314" y="156754"/>
                </a:cubicBezTo>
                <a:lnTo>
                  <a:pt x="39188" y="156754"/>
                </a:lnTo>
                <a:moveTo>
                  <a:pt x="300446" y="91440"/>
                </a:moveTo>
                <a:lnTo>
                  <a:pt x="326572" y="91440"/>
                </a:lnTo>
                <a:lnTo>
                  <a:pt x="326572" y="326572"/>
                </a:lnTo>
                <a:lnTo>
                  <a:pt x="300446" y="326572"/>
                </a:lnTo>
                <a:lnTo>
                  <a:pt x="300446" y="91440"/>
                </a:lnTo>
                <a:moveTo>
                  <a:pt x="261259" y="91440"/>
                </a:moveTo>
                <a:lnTo>
                  <a:pt x="261259" y="326572"/>
                </a:lnTo>
                <a:cubicBezTo>
                  <a:pt x="261259" y="348207"/>
                  <a:pt x="278812" y="365760"/>
                  <a:pt x="300446" y="365760"/>
                </a:cubicBezTo>
                <a:lnTo>
                  <a:pt x="326573" y="365760"/>
                </a:lnTo>
                <a:cubicBezTo>
                  <a:pt x="348207" y="365760"/>
                  <a:pt x="365760" y="348207"/>
                  <a:pt x="365760" y="326572"/>
                </a:cubicBezTo>
                <a:lnTo>
                  <a:pt x="365760" y="91440"/>
                </a:lnTo>
                <a:cubicBezTo>
                  <a:pt x="365760" y="69805"/>
                  <a:pt x="348207" y="52252"/>
                  <a:pt x="326573" y="52252"/>
                </a:cubicBezTo>
                <a:lnTo>
                  <a:pt x="300446" y="52252"/>
                </a:lnTo>
                <a:cubicBezTo>
                  <a:pt x="278812" y="52252"/>
                  <a:pt x="261259" y="69805"/>
                  <a:pt x="261259" y="91440"/>
                </a:cubicBezTo>
                <a:lnTo>
                  <a:pt x="261259" y="91440"/>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1032177" y="3477410"/>
            <a:ext cx="365760" cy="365662"/>
          </a:xfrm>
          <a:custGeom>
            <a:avLst/>
            <a:gdLst/>
            <a:ahLst/>
            <a:cxnLst/>
            <a:rect l="l" t="t" r="r" b="b"/>
            <a:pathLst>
              <a:path w="365760" h="365662">
                <a:moveTo>
                  <a:pt x="262864" y="148576"/>
                </a:moveTo>
                <a:cubicBezTo>
                  <a:pt x="262864" y="85455"/>
                  <a:pt x="211695" y="34288"/>
                  <a:pt x="148575" y="34288"/>
                </a:cubicBezTo>
                <a:cubicBezTo>
                  <a:pt x="85456" y="34288"/>
                  <a:pt x="34286" y="85455"/>
                  <a:pt x="34286" y="148576"/>
                </a:cubicBezTo>
                <a:cubicBezTo>
                  <a:pt x="34286" y="211696"/>
                  <a:pt x="85456" y="262863"/>
                  <a:pt x="148575" y="262863"/>
                </a:cubicBezTo>
                <a:cubicBezTo>
                  <a:pt x="211695" y="262863"/>
                  <a:pt x="262864" y="211696"/>
                  <a:pt x="262864" y="148576"/>
                </a:cubicBezTo>
                <a:lnTo>
                  <a:pt x="262864" y="148576"/>
                </a:lnTo>
                <a:moveTo>
                  <a:pt x="240791" y="265079"/>
                </a:moveTo>
                <a:cubicBezTo>
                  <a:pt x="215506" y="285150"/>
                  <a:pt x="183432" y="297151"/>
                  <a:pt x="148575" y="297151"/>
                </a:cubicBezTo>
                <a:cubicBezTo>
                  <a:pt x="66502" y="297151"/>
                  <a:pt x="0" y="230649"/>
                  <a:pt x="0" y="148576"/>
                </a:cubicBezTo>
                <a:cubicBezTo>
                  <a:pt x="0" y="66503"/>
                  <a:pt x="66503" y="0"/>
                  <a:pt x="148575" y="0"/>
                </a:cubicBezTo>
                <a:cubicBezTo>
                  <a:pt x="230648" y="0"/>
                  <a:pt x="297151" y="66503"/>
                  <a:pt x="297151" y="148576"/>
                </a:cubicBezTo>
                <a:cubicBezTo>
                  <a:pt x="297151" y="183434"/>
                  <a:pt x="285150" y="215506"/>
                  <a:pt x="265077" y="240792"/>
                </a:cubicBezTo>
                <a:lnTo>
                  <a:pt x="360723" y="336438"/>
                </a:lnTo>
                <a:cubicBezTo>
                  <a:pt x="367439" y="343152"/>
                  <a:pt x="367439" y="354012"/>
                  <a:pt x="360723" y="360652"/>
                </a:cubicBezTo>
                <a:cubicBezTo>
                  <a:pt x="354008" y="367296"/>
                  <a:pt x="343152" y="367366"/>
                  <a:pt x="336510" y="360652"/>
                </a:cubicBezTo>
                <a:lnTo>
                  <a:pt x="240791" y="265079"/>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0" name="Text 1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Anatomy of AI-Powered Phishing</a:t>
            </a:r>
            <a:endParaRPr lang="en-US" sz="2800" dirty="0"/>
          </a:p>
        </p:txBody>
      </p:sp>
      <p:sp>
        <p:nvSpPr>
          <p:cNvPr id="21" name="Text 19"/>
          <p:cNvSpPr/>
          <p:nvPr/>
        </p:nvSpPr>
        <p:spPr>
          <a:xfrm>
            <a:off x="9450274" y="2667474"/>
            <a:ext cx="1599132" cy="1985535"/>
          </a:xfrm>
          <a:prstGeom prst="rect">
            <a:avLst/>
          </a:prstGeom>
          <a:noFill/>
          <a:ln/>
        </p:spPr>
        <p:txBody>
          <a:bodyPr wrap="square" lIns="0" tIns="0" rIns="0" bIns="0" rtlCol="0" anchor="ctr"/>
          <a:lstStyle/>
          <a:p>
            <a:pPr algn="l" marL="0" indent="0">
              <a:lnSpc>
                <a:spcPct val="100000"/>
              </a:lnSpc>
              <a:spcBef>
                <a:spcPts val="1015"/>
              </a:spcBef>
              <a:buNone/>
            </a:pPr>
            <a:r>
              <a:rPr lang="en-US" sz="1015" dirty="0">
                <a:solidFill>
                  <a:srgbClr val="FFFFFF"/>
                </a:solidFill>
                <a:latin typeface="Figtree Bold" pitchFamily="34" charset="0"/>
                <a:ea typeface="Figtree Bold" pitchFamily="34" charset="-122"/>
                <a:cs typeface="Figtree Bold" pitchFamily="34" charset="-120"/>
              </a:rPr>
              <a:t>Scale and Speed of Campaigns</a:t>
            </a:r>
            <a:endParaRPr lang="en-US" sz="1015" dirty="0"/>
          </a:p>
          <a:p>
            <a:pPr algn="l" marL="142875" indent="0">
              <a:lnSpc>
                <a:spcPct val="100000"/>
              </a:lnSpc>
              <a:spcBef>
                <a:spcPts val="1015"/>
              </a:spcBef>
              <a:buNone/>
            </a:pPr>
            <a:r>
              <a:rPr lang="en-US" sz="863" dirty="0">
                <a:solidFill>
                  <a:srgbClr val="FFFFFF"/>
                </a:solidFill>
                <a:latin typeface="Figtree Regular" pitchFamily="34" charset="0"/>
                <a:ea typeface="Figtree Regular" pitchFamily="34" charset="-122"/>
                <a:cs typeface="Figtree Regular" pitchFamily="34" charset="-120"/>
              </a:rPr>
              <a:t>AI can produce thousands of unique, personalized phishing messages within minutes, a process that would take human attackers hours or days. This polymorphic approach defeats traditional detection methods based on repetitive patterns, allowing attacks to scale massively and evade filters.</a:t>
            </a:r>
            <a:endParaRPr lang="en-US" sz="1015" dirty="0"/>
          </a:p>
        </p:txBody>
      </p:sp>
      <p:sp>
        <p:nvSpPr>
          <p:cNvPr id="22" name="Text 20"/>
          <p:cNvSpPr/>
          <p:nvPr/>
        </p:nvSpPr>
        <p:spPr>
          <a:xfrm>
            <a:off x="6831153" y="2667474"/>
            <a:ext cx="1599132" cy="1985535"/>
          </a:xfrm>
          <a:prstGeom prst="rect">
            <a:avLst/>
          </a:prstGeom>
          <a:noFill/>
          <a:ln/>
        </p:spPr>
        <p:txBody>
          <a:bodyPr wrap="square" lIns="0" tIns="0" rIns="0" bIns="0" rtlCol="0" anchor="ctr"/>
          <a:lstStyle/>
          <a:p>
            <a:pPr algn="l" marL="0" indent="0">
              <a:lnSpc>
                <a:spcPct val="100000"/>
              </a:lnSpc>
              <a:spcBef>
                <a:spcPts val="1015"/>
              </a:spcBef>
              <a:buNone/>
            </a:pPr>
            <a:r>
              <a:rPr lang="en-US" sz="1015" dirty="0">
                <a:solidFill>
                  <a:srgbClr val="FFFFFF"/>
                </a:solidFill>
                <a:latin typeface="Figtree Bold" pitchFamily="34" charset="0"/>
                <a:ea typeface="Figtree Bold" pitchFamily="34" charset="-122"/>
                <a:cs typeface="Figtree Bold" pitchFamily="34" charset="-120"/>
              </a:rPr>
              <a:t>AI Message Crafting</a:t>
            </a:r>
            <a:endParaRPr lang="en-US" sz="1015" dirty="0"/>
          </a:p>
          <a:p>
            <a:pPr algn="l" marL="142875" indent="0">
              <a:lnSpc>
                <a:spcPct val="100000"/>
              </a:lnSpc>
              <a:spcBef>
                <a:spcPts val="1015"/>
              </a:spcBef>
              <a:buNone/>
            </a:pPr>
            <a:r>
              <a:rPr lang="en-US" sz="863" dirty="0">
                <a:solidFill>
                  <a:srgbClr val="FFFFFF"/>
                </a:solidFill>
                <a:latin typeface="Figtree Regular" pitchFamily="34" charset="0"/>
                <a:ea typeface="Figtree Regular" pitchFamily="34" charset="-122"/>
                <a:cs typeface="Figtree Regular" pitchFamily="34" charset="-120"/>
              </a:rPr>
              <a:t>Using its understanding of the target, AI generates phishing emails that are grammatically flawless, contextually appropriate, and psychologically sophisticated. It references real people, projects, and deadlines, crafting narratives that build trust and rapport while making requests appear reasonable and urgent.</a:t>
            </a:r>
            <a:endParaRPr lang="en-US" sz="1015" dirty="0"/>
          </a:p>
        </p:txBody>
      </p:sp>
      <p:sp>
        <p:nvSpPr>
          <p:cNvPr id="23" name="Text 21"/>
          <p:cNvSpPr/>
          <p:nvPr/>
        </p:nvSpPr>
        <p:spPr>
          <a:xfrm>
            <a:off x="4318429" y="2667474"/>
            <a:ext cx="1599132" cy="1985535"/>
          </a:xfrm>
          <a:prstGeom prst="rect">
            <a:avLst/>
          </a:prstGeom>
          <a:noFill/>
          <a:ln/>
        </p:spPr>
        <p:txBody>
          <a:bodyPr wrap="square" lIns="0" tIns="0" rIns="0" bIns="0" rtlCol="0" anchor="ctr"/>
          <a:lstStyle/>
          <a:p>
            <a:pPr algn="l" marL="0" indent="0">
              <a:lnSpc>
                <a:spcPct val="100000"/>
              </a:lnSpc>
              <a:spcBef>
                <a:spcPts val="1015"/>
              </a:spcBef>
              <a:buNone/>
            </a:pPr>
            <a:r>
              <a:rPr lang="en-US" sz="1015" dirty="0">
                <a:solidFill>
                  <a:srgbClr val="FFFFFF"/>
                </a:solidFill>
                <a:latin typeface="Figtree Bold" pitchFamily="34" charset="0"/>
                <a:ea typeface="Figtree Bold" pitchFamily="34" charset="-122"/>
                <a:cs typeface="Figtree Bold" pitchFamily="34" charset="-120"/>
              </a:rPr>
              <a:t>Data Analysis and Target Profiling</a:t>
            </a:r>
            <a:endParaRPr lang="en-US" sz="1015" dirty="0"/>
          </a:p>
          <a:p>
            <a:pPr algn="l" marL="142875" indent="0">
              <a:lnSpc>
                <a:spcPct val="100000"/>
              </a:lnSpc>
              <a:spcBef>
                <a:spcPts val="1015"/>
              </a:spcBef>
              <a:buNone/>
            </a:pPr>
            <a:r>
              <a:rPr lang="en-US" sz="863" dirty="0">
                <a:solidFill>
                  <a:srgbClr val="FFFFFF"/>
                </a:solidFill>
                <a:latin typeface="Figtree Regular" pitchFamily="34" charset="0"/>
                <a:ea typeface="Figtree Regular" pitchFamily="34" charset="-122"/>
                <a:cs typeface="Figtree Regular" pitchFamily="34" charset="-120"/>
              </a:rPr>
              <a:t>The harvested data is analyzed by AI to understand communication patterns, corporate culture, and contextual details. This analysis allows the AI to mimic formality, jargon, and tone specific to the target’s organization, creating personalized attack messages that feel authentic and relevant.</a:t>
            </a:r>
            <a:endParaRPr lang="en-US" sz="1015" dirty="0"/>
          </a:p>
        </p:txBody>
      </p:sp>
      <p:sp>
        <p:nvSpPr>
          <p:cNvPr id="24" name="Text 22"/>
          <p:cNvSpPr/>
          <p:nvPr/>
        </p:nvSpPr>
        <p:spPr>
          <a:xfrm>
            <a:off x="1713527" y="2667474"/>
            <a:ext cx="1599132" cy="1985535"/>
          </a:xfrm>
          <a:prstGeom prst="rect">
            <a:avLst/>
          </a:prstGeom>
          <a:noFill/>
          <a:ln/>
        </p:spPr>
        <p:txBody>
          <a:bodyPr wrap="square" lIns="0" tIns="0" rIns="0" bIns="0" rtlCol="0" anchor="ctr"/>
          <a:lstStyle/>
          <a:p>
            <a:pPr algn="l" marL="0" indent="0">
              <a:lnSpc>
                <a:spcPct val="100000"/>
              </a:lnSpc>
              <a:spcBef>
                <a:spcPts val="1015"/>
              </a:spcBef>
              <a:buNone/>
            </a:pPr>
            <a:r>
              <a:rPr lang="en-US" sz="1015" dirty="0">
                <a:solidFill>
                  <a:srgbClr val="FFFFFF"/>
                </a:solidFill>
                <a:latin typeface="Figtree Bold" pitchFamily="34" charset="0"/>
                <a:ea typeface="Figtree Bold" pitchFamily="34" charset="-122"/>
                <a:cs typeface="Figtree Bold" pitchFamily="34" charset="-120"/>
              </a:rPr>
              <a:t>Data Harvesting</a:t>
            </a:r>
            <a:endParaRPr lang="en-US" sz="1015" dirty="0"/>
          </a:p>
          <a:p>
            <a:pPr algn="l" marL="142875" indent="0">
              <a:lnSpc>
                <a:spcPct val="100000"/>
              </a:lnSpc>
              <a:spcBef>
                <a:spcPts val="1015"/>
              </a:spcBef>
              <a:buNone/>
            </a:pPr>
            <a:r>
              <a:rPr lang="en-US" sz="863" dirty="0">
                <a:solidFill>
                  <a:srgbClr val="FFFFFF"/>
                </a:solidFill>
                <a:latin typeface="Figtree Regular" pitchFamily="34" charset="0"/>
                <a:ea typeface="Figtree Regular" pitchFamily="34" charset="-122"/>
                <a:cs typeface="Figtree Regular" pitchFamily="34" charset="-120"/>
              </a:rPr>
              <a:t>AI tools begin by scraping publicly available information from sources such as LinkedIn profiles, social media accounts, company websites, and press releases. This data forms detailed dossiers on potential targets, revealing job titles, colleagues, recent projects, and communication styles, enabling precise profiling.</a:t>
            </a:r>
            <a:endParaRPr lang="en-US" sz="101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7" name="Text 5"/>
          <p:cNvSpPr/>
          <p:nvPr/>
        </p:nvSpPr>
        <p:spPr>
          <a:xfrm>
            <a:off x="9265406" y="4269082"/>
            <a:ext cx="2468880" cy="1280160"/>
          </a:xfrm>
          <a:prstGeom prst="rect">
            <a:avLst/>
          </a:prstGeom>
          <a:noFill/>
          <a:ln/>
        </p:spPr>
        <p:txBody>
          <a:bodyPr wrap="square" lIns="0" tIns="0" rIns="0" bIns="0" rtlCol="0" anchor="t"/>
          <a:lstStyle/>
          <a:p>
            <a:pPr algn="l" marL="0" indent="0">
              <a:lnSpc>
                <a:spcPct val="120000"/>
              </a:lnSpc>
              <a:buNone/>
            </a:pPr>
            <a:r>
              <a:rPr lang="en-US" sz="1077" dirty="0">
                <a:solidFill>
                  <a:srgbClr val="FFFFFF"/>
                </a:solidFill>
                <a:latin typeface="Figtree Regular" pitchFamily="34" charset="0"/>
                <a:ea typeface="Figtree Regular" pitchFamily="34" charset="-122"/>
                <a:cs typeface="Figtree Regular" pitchFamily="34" charset="-120"/>
              </a:rPr>
              <a:t>Data breaches caused by phishing attacks incur an average financial impact of $4.88 million, highlighting the significant economic consequences of these AI-powered threats.</a:t>
            </a:r>
            <a:endParaRPr lang="en-US" sz="1077" dirty="0"/>
          </a:p>
        </p:txBody>
      </p:sp>
      <p:sp>
        <p:nvSpPr>
          <p:cNvPr id="8" name="Text 6"/>
          <p:cNvSpPr/>
          <p:nvPr/>
        </p:nvSpPr>
        <p:spPr>
          <a:xfrm>
            <a:off x="9265406" y="3677998"/>
            <a:ext cx="2468880" cy="457200"/>
          </a:xfrm>
          <a:prstGeom prst="rect">
            <a:avLst/>
          </a:prstGeom>
          <a:noFill/>
          <a:ln/>
        </p:spPr>
        <p:txBody>
          <a:bodyPr wrap="square" lIns="0" tIns="0" rIns="0" bIns="0" rtlCol="0" anchor="t"/>
          <a:lstStyle/>
          <a:p>
            <a:pPr algn="l" marL="0" indent="0">
              <a:lnSpc>
                <a:spcPct val="90000"/>
              </a:lnSpc>
              <a:buNone/>
            </a:pPr>
            <a:r>
              <a:rPr lang="en-US" sz="1558" dirty="0">
                <a:solidFill>
                  <a:srgbClr val="FFFFFF"/>
                </a:solidFill>
                <a:latin typeface="Figtree Regular" pitchFamily="34" charset="0"/>
                <a:ea typeface="Figtree Regular" pitchFamily="34" charset="-122"/>
                <a:cs typeface="Figtree Regular" pitchFamily="34" charset="-120"/>
              </a:rPr>
              <a:t>Average Cost of a Phishing-Related Data Breach</a:t>
            </a:r>
            <a:endParaRPr lang="en-US" sz="1558" dirty="0"/>
          </a:p>
        </p:txBody>
      </p:sp>
      <p:sp>
        <p:nvSpPr>
          <p:cNvPr id="9" name="Text 7"/>
          <p:cNvSpPr/>
          <p:nvPr/>
        </p:nvSpPr>
        <p:spPr>
          <a:xfrm>
            <a:off x="9265406" y="2608181"/>
            <a:ext cx="2468880" cy="830997"/>
          </a:xfrm>
          <a:prstGeom prst="rect">
            <a:avLst/>
          </a:prstGeom>
          <a:noFill/>
          <a:ln/>
        </p:spPr>
        <p:txBody>
          <a:bodyPr wrap="square" lIns="0" tIns="0" rIns="0" bIns="0" rtlCol="0" anchor="t"/>
          <a:lstStyle/>
          <a:p>
            <a:pPr algn="l" marL="0" indent="0">
              <a:lnSpc>
                <a:spcPct val="100000"/>
              </a:lnSpc>
              <a:spcBef>
                <a:spcPts val="1000"/>
              </a:spcBef>
              <a:buNone/>
            </a:pPr>
            <a:r>
              <a:rPr lang="en-US" sz="4800" dirty="0">
                <a:solidFill>
                  <a:srgbClr val="46B1E1"/>
                </a:solidFill>
                <a:latin typeface="Figtree Regular" pitchFamily="34" charset="0"/>
                <a:ea typeface="Figtree Regular" pitchFamily="34" charset="-122"/>
                <a:cs typeface="Figtree Regular" pitchFamily="34" charset="-120"/>
              </a:rPr>
              <a:t>$4.88M</a:t>
            </a:r>
            <a:endParaRPr lang="en-US" sz="4800" dirty="0"/>
          </a:p>
        </p:txBody>
      </p:sp>
      <p:sp>
        <p:nvSpPr>
          <p:cNvPr id="10" name="Text 8"/>
          <p:cNvSpPr/>
          <p:nvPr/>
        </p:nvSpPr>
        <p:spPr>
          <a:xfrm>
            <a:off x="6346270" y="4269082"/>
            <a:ext cx="2468880" cy="1280160"/>
          </a:xfrm>
          <a:prstGeom prst="rect">
            <a:avLst/>
          </a:prstGeom>
          <a:noFill/>
          <a:ln/>
        </p:spPr>
        <p:txBody>
          <a:bodyPr wrap="square" lIns="0" tIns="0" rIns="0" bIns="0" rtlCol="0" anchor="t"/>
          <a:lstStyle/>
          <a:p>
            <a:pPr algn="l" marL="0" indent="0">
              <a:lnSpc>
                <a:spcPct val="120000"/>
              </a:lnSpc>
              <a:buNone/>
            </a:pPr>
            <a:r>
              <a:rPr lang="en-US" sz="1077" dirty="0">
                <a:solidFill>
                  <a:srgbClr val="FFFFFF"/>
                </a:solidFill>
                <a:latin typeface="Figtree Regular" pitchFamily="34" charset="0"/>
                <a:ea typeface="Figtree Regular" pitchFamily="34" charset="-122"/>
                <a:cs typeface="Figtree Regular" pitchFamily="34" charset="-120"/>
              </a:rPr>
              <a:t>AI reduces the cost of launching phishing campaigns by 95%, making such attacks much more affordable and accessible compared to traditional human-driven campaigns.</a:t>
            </a:r>
            <a:endParaRPr lang="en-US" sz="1077" dirty="0"/>
          </a:p>
        </p:txBody>
      </p:sp>
      <p:sp>
        <p:nvSpPr>
          <p:cNvPr id="11" name="Text 9"/>
          <p:cNvSpPr/>
          <p:nvPr/>
        </p:nvSpPr>
        <p:spPr>
          <a:xfrm>
            <a:off x="6346270" y="3677998"/>
            <a:ext cx="2468880" cy="457200"/>
          </a:xfrm>
          <a:prstGeom prst="rect">
            <a:avLst/>
          </a:prstGeom>
          <a:noFill/>
          <a:ln/>
        </p:spPr>
        <p:txBody>
          <a:bodyPr wrap="square" lIns="0" tIns="0" rIns="0" bIns="0" rtlCol="0" anchor="t"/>
          <a:lstStyle/>
          <a:p>
            <a:pPr algn="l" marL="0" indent="0">
              <a:lnSpc>
                <a:spcPct val="90000"/>
              </a:lnSpc>
              <a:buNone/>
            </a:pPr>
            <a:r>
              <a:rPr lang="en-US" sz="1558" dirty="0">
                <a:solidFill>
                  <a:srgbClr val="FFFFFF"/>
                </a:solidFill>
                <a:latin typeface="Figtree Regular" pitchFamily="34" charset="0"/>
                <a:ea typeface="Figtree Regular" pitchFamily="34" charset="-122"/>
                <a:cs typeface="Figtree Regular" pitchFamily="34" charset="-120"/>
              </a:rPr>
              <a:t>Cost Reduction for Attackers Using AI</a:t>
            </a:r>
            <a:endParaRPr lang="en-US" sz="1558" dirty="0"/>
          </a:p>
        </p:txBody>
      </p:sp>
      <p:sp>
        <p:nvSpPr>
          <p:cNvPr id="12" name="Text 10"/>
          <p:cNvSpPr/>
          <p:nvPr/>
        </p:nvSpPr>
        <p:spPr>
          <a:xfrm>
            <a:off x="6346270" y="2608181"/>
            <a:ext cx="2468880" cy="830997"/>
          </a:xfrm>
          <a:prstGeom prst="rect">
            <a:avLst/>
          </a:prstGeom>
          <a:noFill/>
          <a:ln/>
        </p:spPr>
        <p:txBody>
          <a:bodyPr wrap="square" lIns="0" tIns="0" rIns="0" bIns="0" rtlCol="0" anchor="t"/>
          <a:lstStyle/>
          <a:p>
            <a:pPr algn="l" marL="0" indent="0">
              <a:lnSpc>
                <a:spcPct val="100000"/>
              </a:lnSpc>
              <a:spcBef>
                <a:spcPts val="1000"/>
              </a:spcBef>
              <a:buNone/>
            </a:pPr>
            <a:r>
              <a:rPr lang="en-US" sz="4800" dirty="0">
                <a:solidFill>
                  <a:srgbClr val="46B1E1"/>
                </a:solidFill>
                <a:latin typeface="Figtree Regular" pitchFamily="34" charset="0"/>
                <a:ea typeface="Figtree Regular" pitchFamily="34" charset="-122"/>
                <a:cs typeface="Figtree Regular" pitchFamily="34" charset="-120"/>
              </a:rPr>
              <a:t>95%</a:t>
            </a:r>
            <a:endParaRPr lang="en-US" sz="4800" dirty="0"/>
          </a:p>
        </p:txBody>
      </p:sp>
      <p:sp>
        <p:nvSpPr>
          <p:cNvPr id="13" name="Text 11"/>
          <p:cNvSpPr/>
          <p:nvPr/>
        </p:nvSpPr>
        <p:spPr>
          <a:xfrm>
            <a:off x="3427133" y="4269082"/>
            <a:ext cx="2468880" cy="1280160"/>
          </a:xfrm>
          <a:prstGeom prst="rect">
            <a:avLst/>
          </a:prstGeom>
          <a:noFill/>
          <a:ln/>
        </p:spPr>
        <p:txBody>
          <a:bodyPr wrap="square" lIns="0" tIns="0" rIns="0" bIns="0" rtlCol="0" anchor="t"/>
          <a:lstStyle/>
          <a:p>
            <a:pPr algn="l" marL="0" indent="0">
              <a:lnSpc>
                <a:spcPct val="120000"/>
              </a:lnSpc>
              <a:buNone/>
            </a:pPr>
            <a:r>
              <a:rPr lang="en-US" sz="1077" dirty="0">
                <a:solidFill>
                  <a:srgbClr val="FFFFFF"/>
                </a:solidFill>
                <a:latin typeface="Figtree Regular" pitchFamily="34" charset="0"/>
                <a:ea typeface="Figtree Regular" pitchFamily="34" charset="-122"/>
                <a:cs typeface="Figtree Regular" pitchFamily="34" charset="-120"/>
              </a:rPr>
              <a:t>Controlled experiments show that 60% of recipients clicked on AI-generated phishing messages, matching or exceeding the success rates of attacks crafted by professional social engineers.</a:t>
            </a:r>
            <a:endParaRPr lang="en-US" sz="1077" dirty="0"/>
          </a:p>
        </p:txBody>
      </p:sp>
      <p:sp>
        <p:nvSpPr>
          <p:cNvPr id="14" name="Text 12"/>
          <p:cNvSpPr/>
          <p:nvPr/>
        </p:nvSpPr>
        <p:spPr>
          <a:xfrm>
            <a:off x="3427133" y="3677998"/>
            <a:ext cx="2468880" cy="457200"/>
          </a:xfrm>
          <a:prstGeom prst="rect">
            <a:avLst/>
          </a:prstGeom>
          <a:noFill/>
          <a:ln/>
        </p:spPr>
        <p:txBody>
          <a:bodyPr wrap="square" lIns="0" tIns="0" rIns="0" bIns="0" rtlCol="0" anchor="t"/>
          <a:lstStyle/>
          <a:p>
            <a:pPr algn="l" marL="0" indent="0">
              <a:lnSpc>
                <a:spcPct val="90000"/>
              </a:lnSpc>
              <a:buNone/>
            </a:pPr>
            <a:r>
              <a:rPr lang="en-US" sz="1558" dirty="0">
                <a:solidFill>
                  <a:srgbClr val="FFFFFF"/>
                </a:solidFill>
                <a:latin typeface="Figtree Regular" pitchFamily="34" charset="0"/>
                <a:ea typeface="Figtree Regular" pitchFamily="34" charset="-122"/>
                <a:cs typeface="Figtree Regular" pitchFamily="34" charset="-120"/>
              </a:rPr>
              <a:t>Recipient Click Rate on AI Phishing Emails</a:t>
            </a:r>
            <a:endParaRPr lang="en-US" sz="1558" dirty="0"/>
          </a:p>
        </p:txBody>
      </p:sp>
      <p:sp>
        <p:nvSpPr>
          <p:cNvPr id="15" name="Text 13"/>
          <p:cNvSpPr/>
          <p:nvPr/>
        </p:nvSpPr>
        <p:spPr>
          <a:xfrm>
            <a:off x="3427133" y="2608181"/>
            <a:ext cx="2468880" cy="830997"/>
          </a:xfrm>
          <a:prstGeom prst="rect">
            <a:avLst/>
          </a:prstGeom>
          <a:noFill/>
          <a:ln/>
        </p:spPr>
        <p:txBody>
          <a:bodyPr wrap="square" lIns="0" tIns="0" rIns="0" bIns="0" rtlCol="0" anchor="t"/>
          <a:lstStyle/>
          <a:p>
            <a:pPr algn="l" marL="0" indent="0">
              <a:lnSpc>
                <a:spcPct val="100000"/>
              </a:lnSpc>
              <a:spcBef>
                <a:spcPts val="1000"/>
              </a:spcBef>
              <a:buNone/>
            </a:pPr>
            <a:r>
              <a:rPr lang="en-US" sz="4800" dirty="0">
                <a:solidFill>
                  <a:srgbClr val="46B1E1"/>
                </a:solidFill>
                <a:latin typeface="Figtree Regular" pitchFamily="34" charset="0"/>
                <a:ea typeface="Figtree Regular" pitchFamily="34" charset="-122"/>
                <a:cs typeface="Figtree Regular" pitchFamily="34" charset="-120"/>
              </a:rPr>
              <a:t>60%</a:t>
            </a:r>
            <a:endParaRPr lang="en-US" sz="4800" dirty="0"/>
          </a:p>
        </p:txBody>
      </p:sp>
      <p:sp>
        <p:nvSpPr>
          <p:cNvPr id="16" name="Text 14"/>
          <p:cNvSpPr/>
          <p:nvPr/>
        </p:nvSpPr>
        <p:spPr>
          <a:xfrm>
            <a:off x="507997" y="4258904"/>
            <a:ext cx="2468880" cy="1280160"/>
          </a:xfrm>
          <a:prstGeom prst="rect">
            <a:avLst/>
          </a:prstGeom>
          <a:noFill/>
          <a:ln/>
        </p:spPr>
        <p:txBody>
          <a:bodyPr wrap="square" lIns="0" tIns="0" rIns="0" bIns="0" rtlCol="0" anchor="t"/>
          <a:lstStyle/>
          <a:p>
            <a:pPr algn="l" marL="0" indent="0">
              <a:lnSpc>
                <a:spcPct val="120000"/>
              </a:lnSpc>
              <a:buNone/>
            </a:pPr>
            <a:r>
              <a:rPr lang="en-US" sz="1077" dirty="0">
                <a:solidFill>
                  <a:srgbClr val="FFFFFF"/>
                </a:solidFill>
                <a:latin typeface="Figtree Regular" pitchFamily="34" charset="0"/>
                <a:ea typeface="Figtree Regular" pitchFamily="34" charset="-122"/>
                <a:cs typeface="Figtree Regular" pitchFamily="34" charset="-120"/>
              </a:rPr>
              <a:t>Phishing attacks attributed to generative AI have surged dramatically in recent years, reflecting the widespread availability of large language models that enable attackers to rapidly scale sophisticated campaigns.</a:t>
            </a:r>
            <a:endParaRPr lang="en-US" sz="1077" dirty="0"/>
          </a:p>
        </p:txBody>
      </p:sp>
      <p:sp>
        <p:nvSpPr>
          <p:cNvPr id="17" name="Text 15"/>
          <p:cNvSpPr/>
          <p:nvPr/>
        </p:nvSpPr>
        <p:spPr>
          <a:xfrm>
            <a:off x="507997" y="3667820"/>
            <a:ext cx="2468880" cy="457200"/>
          </a:xfrm>
          <a:prstGeom prst="rect">
            <a:avLst/>
          </a:prstGeom>
          <a:noFill/>
          <a:ln/>
        </p:spPr>
        <p:txBody>
          <a:bodyPr wrap="square" lIns="0" tIns="0" rIns="0" bIns="0" rtlCol="0" anchor="t"/>
          <a:lstStyle/>
          <a:p>
            <a:pPr algn="l" marL="0" indent="0">
              <a:lnSpc>
                <a:spcPct val="90000"/>
              </a:lnSpc>
              <a:buNone/>
            </a:pPr>
            <a:r>
              <a:rPr lang="en-US" sz="1558" dirty="0">
                <a:solidFill>
                  <a:srgbClr val="FFFFFF"/>
                </a:solidFill>
                <a:latin typeface="Figtree Regular" pitchFamily="34" charset="0"/>
                <a:ea typeface="Figtree Regular" pitchFamily="34" charset="-122"/>
                <a:cs typeface="Figtree Regular" pitchFamily="34" charset="-120"/>
              </a:rPr>
              <a:t>Increase in AI-Generated Phishing Attacks</a:t>
            </a:r>
            <a:endParaRPr lang="en-US" sz="1558" dirty="0"/>
          </a:p>
        </p:txBody>
      </p:sp>
      <p:sp>
        <p:nvSpPr>
          <p:cNvPr id="18" name="Text 16"/>
          <p:cNvSpPr/>
          <p:nvPr/>
        </p:nvSpPr>
        <p:spPr>
          <a:xfrm>
            <a:off x="507996" y="2598003"/>
            <a:ext cx="2468880" cy="830997"/>
          </a:xfrm>
          <a:prstGeom prst="rect">
            <a:avLst/>
          </a:prstGeom>
          <a:noFill/>
          <a:ln/>
        </p:spPr>
        <p:txBody>
          <a:bodyPr wrap="square" lIns="0" tIns="0" rIns="0" bIns="0" rtlCol="0" anchor="t"/>
          <a:lstStyle/>
          <a:p>
            <a:pPr algn="l" marL="0" indent="0">
              <a:lnSpc>
                <a:spcPct val="100000"/>
              </a:lnSpc>
              <a:spcBef>
                <a:spcPts val="1000"/>
              </a:spcBef>
              <a:buNone/>
            </a:pPr>
            <a:r>
              <a:rPr lang="en-US" sz="4800" dirty="0">
                <a:solidFill>
                  <a:srgbClr val="46B1E1"/>
                </a:solidFill>
                <a:latin typeface="Figtree Regular" pitchFamily="34" charset="0"/>
                <a:ea typeface="Figtree Regular" pitchFamily="34" charset="-122"/>
                <a:cs typeface="Figtree Regular" pitchFamily="34" charset="-120"/>
              </a:rPr>
              <a:t>1265%</a:t>
            </a:r>
            <a:endParaRPr lang="en-US" sz="4800" dirty="0"/>
          </a:p>
        </p:txBody>
      </p:sp>
      <p:sp>
        <p:nvSpPr>
          <p:cNvPr id="19" name="Text 1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0" name="Text 1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AI Phishing: Alarming Statistics</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3" name="Text 11"/>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Because no two phishing emails are identical, traditional filters that block repeated patterns or known malicious signatures struggle to identify them. This polymorphism allows phishing attacks to bypass many existing security measures effectively.</a:t>
            </a:r>
            <a:endParaRPr lang="en-US" sz="1740" dirty="0"/>
          </a:p>
        </p:txBody>
      </p:sp>
      <p:sp>
        <p:nvSpPr>
          <p:cNvPr id="14" name="Text 12"/>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Detection Evasion</a:t>
            </a:r>
            <a:endParaRPr lang="en-US" sz="2030" dirty="0"/>
          </a:p>
        </p:txBody>
      </p:sp>
      <p:sp>
        <p:nvSpPr>
          <p:cNvPr id="15" name="Text 13"/>
          <p:cNvSpPr/>
          <p:nvPr/>
        </p:nvSpPr>
        <p:spPr>
          <a:xfrm>
            <a:off x="8440664" y="1632229"/>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These AI-crafted messages are tailored to individual recipients using publicly available data like social media or company information. This personalization makes phishing attempts more convincing and harder to distinguish from legitimate communications.</a:t>
            </a:r>
            <a:endParaRPr lang="en-US" sz="1740" dirty="0"/>
          </a:p>
        </p:txBody>
      </p:sp>
      <p:sp>
        <p:nvSpPr>
          <p:cNvPr id="17" name="Text 15"/>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Personalized Content</a:t>
            </a:r>
            <a:endParaRPr lang="en-US" sz="2030" dirty="0"/>
          </a:p>
        </p:txBody>
      </p:sp>
      <p:sp>
        <p:nvSpPr>
          <p:cNvPr id="18" name="Text 16"/>
          <p:cNvSpPr/>
          <p:nvPr/>
        </p:nvSpPr>
        <p:spPr>
          <a:xfrm>
            <a:off x="4674987" y="1632229"/>
            <a:ext cx="162877" cy="274320"/>
          </a:xfrm>
          <a:custGeom>
            <a:avLst/>
            <a:gdLst/>
            <a:ahLst/>
            <a:cxnLst/>
            <a:rect l="l" t="t" r="r" b="b"/>
            <a:pathLst>
              <a:path w="162877" h="274320">
                <a:moveTo>
                  <a:pt x="55715" y="25718"/>
                </a:moveTo>
                <a:cubicBezTo>
                  <a:pt x="55715" y="11513"/>
                  <a:pt x="67229" y="0"/>
                  <a:pt x="81434" y="0"/>
                </a:cubicBezTo>
                <a:cubicBezTo>
                  <a:pt x="95636" y="0"/>
                  <a:pt x="107152" y="11513"/>
                  <a:pt x="107152" y="25718"/>
                </a:cubicBezTo>
                <a:cubicBezTo>
                  <a:pt x="107152" y="39922"/>
                  <a:pt x="95638" y="51435"/>
                  <a:pt x="81434" y="51435"/>
                </a:cubicBezTo>
                <a:cubicBezTo>
                  <a:pt x="67231" y="51435"/>
                  <a:pt x="55715" y="39922"/>
                  <a:pt x="55715" y="25718"/>
                </a:cubicBezTo>
                <a:moveTo>
                  <a:pt x="72860" y="94352"/>
                </a:moveTo>
                <a:lnTo>
                  <a:pt x="72860" y="162878"/>
                </a:lnTo>
                <a:lnTo>
                  <a:pt x="90004" y="162878"/>
                </a:lnTo>
                <a:lnTo>
                  <a:pt x="90004" y="94352"/>
                </a:lnTo>
                <a:cubicBezTo>
                  <a:pt x="89629" y="94352"/>
                  <a:pt x="89201" y="94298"/>
                  <a:pt x="88771" y="94298"/>
                </a:cubicBezTo>
                <a:lnTo>
                  <a:pt x="74037" y="94298"/>
                </a:lnTo>
                <a:cubicBezTo>
                  <a:pt x="73609" y="94298"/>
                  <a:pt x="73234" y="94298"/>
                  <a:pt x="72804" y="94352"/>
                </a:cubicBezTo>
                <a:lnTo>
                  <a:pt x="72860" y="94352"/>
                </a:lnTo>
                <a:moveTo>
                  <a:pt x="72860" y="188595"/>
                </a:moveTo>
                <a:lnTo>
                  <a:pt x="72860" y="261463"/>
                </a:lnTo>
                <a:cubicBezTo>
                  <a:pt x="72860" y="268589"/>
                  <a:pt x="67126" y="274323"/>
                  <a:pt x="60001" y="274323"/>
                </a:cubicBezTo>
                <a:cubicBezTo>
                  <a:pt x="52875" y="274323"/>
                  <a:pt x="47141" y="268589"/>
                  <a:pt x="47141" y="261465"/>
                </a:cubicBezTo>
                <a:lnTo>
                  <a:pt x="47141" y="119804"/>
                </a:lnTo>
                <a:lnTo>
                  <a:pt x="24049" y="160631"/>
                </a:lnTo>
                <a:cubicBezTo>
                  <a:pt x="20566" y="166792"/>
                  <a:pt x="12690" y="168989"/>
                  <a:pt x="6528" y="165505"/>
                </a:cubicBezTo>
                <a:cubicBezTo>
                  <a:pt x="366" y="162021"/>
                  <a:pt x="-1831" y="154146"/>
                  <a:pt x="1653" y="147984"/>
                </a:cubicBezTo>
                <a:lnTo>
                  <a:pt x="33049" y="92531"/>
                </a:lnTo>
                <a:cubicBezTo>
                  <a:pt x="41408" y="77742"/>
                  <a:pt x="57106" y="68583"/>
                  <a:pt x="74089" y="68583"/>
                </a:cubicBezTo>
                <a:lnTo>
                  <a:pt x="88823" y="68583"/>
                </a:lnTo>
                <a:cubicBezTo>
                  <a:pt x="105808" y="68583"/>
                  <a:pt x="121506" y="77745"/>
                  <a:pt x="129863" y="92531"/>
                </a:cubicBezTo>
                <a:lnTo>
                  <a:pt x="161207" y="147984"/>
                </a:lnTo>
                <a:cubicBezTo>
                  <a:pt x="164690" y="154146"/>
                  <a:pt x="162546" y="162021"/>
                  <a:pt x="156332" y="165505"/>
                </a:cubicBezTo>
                <a:cubicBezTo>
                  <a:pt x="150117" y="168989"/>
                  <a:pt x="142296" y="166844"/>
                  <a:pt x="138812" y="160631"/>
                </a:cubicBezTo>
                <a:lnTo>
                  <a:pt x="115719" y="119804"/>
                </a:lnTo>
                <a:lnTo>
                  <a:pt x="115719" y="261465"/>
                </a:lnTo>
                <a:cubicBezTo>
                  <a:pt x="115719" y="268592"/>
                  <a:pt x="109986" y="274325"/>
                  <a:pt x="102860" y="274325"/>
                </a:cubicBezTo>
                <a:cubicBezTo>
                  <a:pt x="95734" y="274325"/>
                  <a:pt x="90001" y="268592"/>
                  <a:pt x="90001" y="261468"/>
                </a:cubicBezTo>
                <a:lnTo>
                  <a:pt x="90001" y="188603"/>
                </a:lnTo>
                <a:lnTo>
                  <a:pt x="72860" y="188595"/>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AI generates countless unique versions of phishing emails, each one different in wording, phrasing, and details while maintaining the same underlying malicious intent. This diversity defeats pattern-based detection methods that rely on recognizing repeated templates.</a:t>
            </a:r>
            <a:endParaRPr lang="en-US" sz="1740" dirty="0"/>
          </a:p>
        </p:txBody>
      </p:sp>
      <p:sp>
        <p:nvSpPr>
          <p:cNvPr id="20" name="Text 18"/>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Unique Variations</a:t>
            </a:r>
            <a:endParaRPr lang="en-US" sz="2030" dirty="0"/>
          </a:p>
        </p:txBody>
      </p:sp>
      <p:sp>
        <p:nvSpPr>
          <p:cNvPr id="21" name="Text 19"/>
          <p:cNvSpPr/>
          <p:nvPr/>
        </p:nvSpPr>
        <p:spPr>
          <a:xfrm>
            <a:off x="811209" y="1632229"/>
            <a:ext cx="257175" cy="274320"/>
          </a:xfrm>
          <a:custGeom>
            <a:avLst/>
            <a:gdLst/>
            <a:ahLst/>
            <a:cxnLst/>
            <a:rect l="l" t="t" r="r" b="b"/>
            <a:pathLst>
              <a:path w="257175" h="274320">
                <a:moveTo>
                  <a:pt x="128588" y="25718"/>
                </a:moveTo>
                <a:lnTo>
                  <a:pt x="222886" y="25718"/>
                </a:lnTo>
                <a:cubicBezTo>
                  <a:pt x="227600" y="25718"/>
                  <a:pt x="231458" y="29574"/>
                  <a:pt x="231458" y="34290"/>
                </a:cubicBezTo>
                <a:lnTo>
                  <a:pt x="231458" y="240030"/>
                </a:lnTo>
                <a:cubicBezTo>
                  <a:pt x="231458" y="244746"/>
                  <a:pt x="227600" y="248603"/>
                  <a:pt x="222886" y="248603"/>
                </a:cubicBezTo>
                <a:lnTo>
                  <a:pt x="128587" y="248603"/>
                </a:lnTo>
                <a:lnTo>
                  <a:pt x="128588" y="25718"/>
                </a:lnTo>
                <a:moveTo>
                  <a:pt x="102870" y="25718"/>
                </a:moveTo>
                <a:lnTo>
                  <a:pt x="102870" y="248602"/>
                </a:lnTo>
                <a:lnTo>
                  <a:pt x="68581" y="248602"/>
                </a:lnTo>
                <a:cubicBezTo>
                  <a:pt x="63867" y="248602"/>
                  <a:pt x="60009" y="244746"/>
                  <a:pt x="60009" y="240030"/>
                </a:cubicBezTo>
                <a:lnTo>
                  <a:pt x="60009" y="222885"/>
                </a:lnTo>
                <a:lnTo>
                  <a:pt x="72868" y="222885"/>
                </a:lnTo>
                <a:cubicBezTo>
                  <a:pt x="79994" y="222885"/>
                  <a:pt x="85727" y="217152"/>
                  <a:pt x="85727" y="210028"/>
                </a:cubicBezTo>
                <a:cubicBezTo>
                  <a:pt x="85727" y="202901"/>
                  <a:pt x="79994" y="197170"/>
                  <a:pt x="72868" y="197170"/>
                </a:cubicBezTo>
                <a:lnTo>
                  <a:pt x="60009" y="197170"/>
                </a:lnTo>
                <a:lnTo>
                  <a:pt x="60009" y="150023"/>
                </a:lnTo>
                <a:lnTo>
                  <a:pt x="72868" y="150023"/>
                </a:lnTo>
                <a:cubicBezTo>
                  <a:pt x="79994" y="150023"/>
                  <a:pt x="85727" y="144289"/>
                  <a:pt x="85727" y="137165"/>
                </a:cubicBezTo>
                <a:cubicBezTo>
                  <a:pt x="85727" y="130039"/>
                  <a:pt x="79994" y="124308"/>
                  <a:pt x="72868" y="124308"/>
                </a:cubicBezTo>
                <a:lnTo>
                  <a:pt x="60009" y="124308"/>
                </a:lnTo>
                <a:lnTo>
                  <a:pt x="60009" y="77161"/>
                </a:lnTo>
                <a:lnTo>
                  <a:pt x="72868" y="77161"/>
                </a:lnTo>
                <a:cubicBezTo>
                  <a:pt x="79994" y="77161"/>
                  <a:pt x="85727" y="71427"/>
                  <a:pt x="85727" y="64303"/>
                </a:cubicBezTo>
                <a:cubicBezTo>
                  <a:pt x="85727" y="57176"/>
                  <a:pt x="79994" y="51446"/>
                  <a:pt x="72868" y="51446"/>
                </a:cubicBezTo>
                <a:lnTo>
                  <a:pt x="60009" y="51446"/>
                </a:lnTo>
                <a:lnTo>
                  <a:pt x="60009" y="34301"/>
                </a:lnTo>
                <a:cubicBezTo>
                  <a:pt x="60009" y="29585"/>
                  <a:pt x="63867" y="25728"/>
                  <a:pt x="68581" y="25728"/>
                </a:cubicBezTo>
                <a:lnTo>
                  <a:pt x="102870" y="25718"/>
                </a:lnTo>
                <a:moveTo>
                  <a:pt x="34289" y="222885"/>
                </a:moveTo>
                <a:lnTo>
                  <a:pt x="34289" y="240030"/>
                </a:lnTo>
                <a:cubicBezTo>
                  <a:pt x="34289" y="258944"/>
                  <a:pt x="49666" y="274320"/>
                  <a:pt x="68578" y="274320"/>
                </a:cubicBezTo>
                <a:lnTo>
                  <a:pt x="222883" y="274320"/>
                </a:lnTo>
                <a:cubicBezTo>
                  <a:pt x="241796" y="274320"/>
                  <a:pt x="257172" y="258944"/>
                  <a:pt x="257172" y="240030"/>
                </a:cubicBezTo>
                <a:lnTo>
                  <a:pt x="257172" y="34290"/>
                </a:lnTo>
                <a:cubicBezTo>
                  <a:pt x="257172" y="15376"/>
                  <a:pt x="241796" y="0"/>
                  <a:pt x="222883" y="0"/>
                </a:cubicBezTo>
                <a:lnTo>
                  <a:pt x="68578" y="0"/>
                </a:lnTo>
                <a:cubicBezTo>
                  <a:pt x="49666" y="0"/>
                  <a:pt x="34289" y="15376"/>
                  <a:pt x="34289" y="34290"/>
                </a:cubicBezTo>
                <a:lnTo>
                  <a:pt x="34289" y="51435"/>
                </a:lnTo>
                <a:lnTo>
                  <a:pt x="12859" y="51435"/>
                </a:lnTo>
                <a:cubicBezTo>
                  <a:pt x="5732" y="51435"/>
                  <a:pt x="0" y="57168"/>
                  <a:pt x="0" y="64295"/>
                </a:cubicBezTo>
                <a:cubicBezTo>
                  <a:pt x="0" y="71422"/>
                  <a:pt x="5732" y="77155"/>
                  <a:pt x="12859" y="77155"/>
                </a:cubicBezTo>
                <a:lnTo>
                  <a:pt x="34289" y="77155"/>
                </a:lnTo>
                <a:lnTo>
                  <a:pt x="34289" y="124305"/>
                </a:lnTo>
                <a:lnTo>
                  <a:pt x="12859" y="124305"/>
                </a:lnTo>
                <a:cubicBezTo>
                  <a:pt x="5732" y="124305"/>
                  <a:pt x="0" y="130039"/>
                  <a:pt x="0" y="137165"/>
                </a:cubicBezTo>
                <a:cubicBezTo>
                  <a:pt x="0" y="144292"/>
                  <a:pt x="5732" y="150025"/>
                  <a:pt x="12859" y="150025"/>
                </a:cubicBezTo>
                <a:lnTo>
                  <a:pt x="34289" y="150025"/>
                </a:lnTo>
                <a:lnTo>
                  <a:pt x="34289" y="197176"/>
                </a:lnTo>
                <a:lnTo>
                  <a:pt x="12859" y="197176"/>
                </a:lnTo>
                <a:cubicBezTo>
                  <a:pt x="5732" y="197176"/>
                  <a:pt x="0" y="202909"/>
                  <a:pt x="0" y="210036"/>
                </a:cubicBezTo>
                <a:cubicBezTo>
                  <a:pt x="0" y="217162"/>
                  <a:pt x="5732" y="222896"/>
                  <a:pt x="12859" y="222896"/>
                </a:cubicBezTo>
                <a:lnTo>
                  <a:pt x="34289" y="222885"/>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Polymorphic Phishing: Infinite Variations</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5" name="Text 13"/>
          <p:cNvSpPr/>
          <p:nvPr/>
        </p:nvSpPr>
        <p:spPr>
          <a:xfrm>
            <a:off x="9327246" y="1688638"/>
            <a:ext cx="274320" cy="243840"/>
          </a:xfrm>
          <a:custGeom>
            <a:avLst/>
            <a:gdLst/>
            <a:ahLst/>
            <a:cxnLst/>
            <a:rect l="l" t="t" r="r" b="b"/>
            <a:pathLst>
              <a:path w="274320" h="243840">
                <a:moveTo>
                  <a:pt x="94583" y="50436"/>
                </a:moveTo>
                <a:cubicBezTo>
                  <a:pt x="89867" y="54627"/>
                  <a:pt x="82628" y="54150"/>
                  <a:pt x="78439" y="49436"/>
                </a:cubicBezTo>
                <a:cubicBezTo>
                  <a:pt x="74247" y="44720"/>
                  <a:pt x="74725" y="37483"/>
                  <a:pt x="79440" y="33291"/>
                </a:cubicBezTo>
                <a:cubicBezTo>
                  <a:pt x="102966" y="12575"/>
                  <a:pt x="133876" y="2"/>
                  <a:pt x="167642" y="2"/>
                </a:cubicBezTo>
                <a:cubicBezTo>
                  <a:pt x="201408" y="2"/>
                  <a:pt x="232316" y="12575"/>
                  <a:pt x="255795" y="33291"/>
                </a:cubicBezTo>
                <a:cubicBezTo>
                  <a:pt x="260511" y="37483"/>
                  <a:pt x="260985" y="44674"/>
                  <a:pt x="256796" y="49436"/>
                </a:cubicBezTo>
                <a:cubicBezTo>
                  <a:pt x="252605" y="54198"/>
                  <a:pt x="245415" y="54627"/>
                  <a:pt x="240653" y="50436"/>
                </a:cubicBezTo>
                <a:cubicBezTo>
                  <a:pt x="221223" y="33243"/>
                  <a:pt x="195648" y="22860"/>
                  <a:pt x="167642" y="22860"/>
                </a:cubicBezTo>
                <a:cubicBezTo>
                  <a:pt x="139640" y="22860"/>
                  <a:pt x="114065" y="33243"/>
                  <a:pt x="94585" y="50436"/>
                </a:cubicBezTo>
                <a:lnTo>
                  <a:pt x="94583" y="50436"/>
                </a:lnTo>
                <a:moveTo>
                  <a:pt x="30480" y="167640"/>
                </a:moveTo>
                <a:cubicBezTo>
                  <a:pt x="26288" y="167640"/>
                  <a:pt x="22859" y="171068"/>
                  <a:pt x="22859" y="175260"/>
                </a:cubicBezTo>
                <a:lnTo>
                  <a:pt x="22859" y="213360"/>
                </a:lnTo>
                <a:cubicBezTo>
                  <a:pt x="22859" y="217552"/>
                  <a:pt x="26288" y="220980"/>
                  <a:pt x="30480" y="220980"/>
                </a:cubicBezTo>
                <a:lnTo>
                  <a:pt x="243840" y="220980"/>
                </a:lnTo>
                <a:cubicBezTo>
                  <a:pt x="248032" y="220980"/>
                  <a:pt x="251461" y="217552"/>
                  <a:pt x="251461" y="213360"/>
                </a:cubicBezTo>
                <a:lnTo>
                  <a:pt x="251461" y="175260"/>
                </a:lnTo>
                <a:cubicBezTo>
                  <a:pt x="251461" y="171068"/>
                  <a:pt x="248032" y="167640"/>
                  <a:pt x="243840" y="167640"/>
                </a:cubicBezTo>
                <a:lnTo>
                  <a:pt x="30480" y="167640"/>
                </a:lnTo>
                <a:moveTo>
                  <a:pt x="0" y="175260"/>
                </a:moveTo>
                <a:cubicBezTo>
                  <a:pt x="0" y="158447"/>
                  <a:pt x="13669" y="144780"/>
                  <a:pt x="30480" y="144780"/>
                </a:cubicBezTo>
                <a:lnTo>
                  <a:pt x="156209" y="144780"/>
                </a:lnTo>
                <a:lnTo>
                  <a:pt x="156209" y="118111"/>
                </a:lnTo>
                <a:cubicBezTo>
                  <a:pt x="156209" y="111776"/>
                  <a:pt x="161306" y="106682"/>
                  <a:pt x="167640" y="106682"/>
                </a:cubicBezTo>
                <a:cubicBezTo>
                  <a:pt x="173974" y="106682"/>
                  <a:pt x="179071" y="111779"/>
                  <a:pt x="179071" y="118114"/>
                </a:cubicBezTo>
                <a:lnTo>
                  <a:pt x="179071" y="144785"/>
                </a:lnTo>
                <a:lnTo>
                  <a:pt x="243840" y="144785"/>
                </a:lnTo>
                <a:cubicBezTo>
                  <a:pt x="260651" y="144785"/>
                  <a:pt x="274320" y="158452"/>
                  <a:pt x="274320" y="175265"/>
                </a:cubicBezTo>
                <a:lnTo>
                  <a:pt x="274320" y="213365"/>
                </a:lnTo>
                <a:cubicBezTo>
                  <a:pt x="274320" y="230178"/>
                  <a:pt x="260651" y="243845"/>
                  <a:pt x="243840" y="243845"/>
                </a:cubicBezTo>
                <a:lnTo>
                  <a:pt x="30480" y="243845"/>
                </a:lnTo>
                <a:cubicBezTo>
                  <a:pt x="13670" y="243845"/>
                  <a:pt x="0" y="230178"/>
                  <a:pt x="0" y="213365"/>
                </a:cubicBezTo>
                <a:lnTo>
                  <a:pt x="0" y="175260"/>
                </a:lnTo>
                <a:moveTo>
                  <a:pt x="49531" y="182880"/>
                </a:moveTo>
                <a:cubicBezTo>
                  <a:pt x="55843" y="182880"/>
                  <a:pt x="60962" y="187998"/>
                  <a:pt x="60962" y="194311"/>
                </a:cubicBezTo>
                <a:cubicBezTo>
                  <a:pt x="60962" y="200624"/>
                  <a:pt x="55846" y="205742"/>
                  <a:pt x="49531" y="205742"/>
                </a:cubicBezTo>
                <a:cubicBezTo>
                  <a:pt x="43219" y="205742"/>
                  <a:pt x="38100" y="200624"/>
                  <a:pt x="38100" y="194314"/>
                </a:cubicBezTo>
                <a:cubicBezTo>
                  <a:pt x="38100" y="188001"/>
                  <a:pt x="43216" y="182885"/>
                  <a:pt x="49531" y="182885"/>
                </a:cubicBezTo>
                <a:lnTo>
                  <a:pt x="49531" y="182880"/>
                </a:lnTo>
                <a:moveTo>
                  <a:pt x="76201" y="194311"/>
                </a:moveTo>
                <a:cubicBezTo>
                  <a:pt x="76201" y="187998"/>
                  <a:pt x="81317" y="182882"/>
                  <a:pt x="87632" y="182882"/>
                </a:cubicBezTo>
                <a:cubicBezTo>
                  <a:pt x="93944" y="182882"/>
                  <a:pt x="99062" y="188001"/>
                  <a:pt x="99062" y="194314"/>
                </a:cubicBezTo>
                <a:cubicBezTo>
                  <a:pt x="99062" y="200627"/>
                  <a:pt x="93946" y="205745"/>
                  <a:pt x="87632" y="205745"/>
                </a:cubicBezTo>
                <a:cubicBezTo>
                  <a:pt x="81319" y="205745"/>
                  <a:pt x="76201" y="200627"/>
                  <a:pt x="76201" y="194316"/>
                </a:cubicBezTo>
                <a:lnTo>
                  <a:pt x="76201" y="194311"/>
                </a:lnTo>
                <a:moveTo>
                  <a:pt x="167640" y="76200"/>
                </a:moveTo>
                <a:cubicBezTo>
                  <a:pt x="154020" y="76200"/>
                  <a:pt x="141494" y="80962"/>
                  <a:pt x="131682" y="88916"/>
                </a:cubicBezTo>
                <a:cubicBezTo>
                  <a:pt x="126777" y="92869"/>
                  <a:pt x="119584" y="92154"/>
                  <a:pt x="115585" y="87248"/>
                </a:cubicBezTo>
                <a:cubicBezTo>
                  <a:pt x="111585" y="82342"/>
                  <a:pt x="112345" y="75151"/>
                  <a:pt x="117253" y="71150"/>
                </a:cubicBezTo>
                <a:cubicBezTo>
                  <a:pt x="131065" y="60007"/>
                  <a:pt x="148591" y="53338"/>
                  <a:pt x="167640" y="53338"/>
                </a:cubicBezTo>
                <a:cubicBezTo>
                  <a:pt x="186688" y="53338"/>
                  <a:pt x="204215" y="60004"/>
                  <a:pt x="217980" y="71150"/>
                </a:cubicBezTo>
                <a:cubicBezTo>
                  <a:pt x="222885" y="75103"/>
                  <a:pt x="223648" y="82342"/>
                  <a:pt x="219648" y="87248"/>
                </a:cubicBezTo>
                <a:cubicBezTo>
                  <a:pt x="215648" y="92154"/>
                  <a:pt x="208456" y="92915"/>
                  <a:pt x="203551" y="88916"/>
                </a:cubicBezTo>
                <a:cubicBezTo>
                  <a:pt x="193788" y="80962"/>
                  <a:pt x="181262" y="76200"/>
                  <a:pt x="167642" y="76200"/>
                </a:cubicBezTo>
                <a:lnTo>
                  <a:pt x="167640" y="76200"/>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690543"/>
            <a:ext cx="274320" cy="240030"/>
          </a:xfrm>
          <a:custGeom>
            <a:avLst/>
            <a:gdLst/>
            <a:ahLst/>
            <a:cxnLst/>
            <a:rect l="l" t="t" r="r" b="b"/>
            <a:pathLst>
              <a:path w="274320" h="240030">
                <a:moveTo>
                  <a:pt x="12860" y="0"/>
                </a:moveTo>
                <a:cubicBezTo>
                  <a:pt x="19987" y="0"/>
                  <a:pt x="25720" y="5732"/>
                  <a:pt x="25720" y="12858"/>
                </a:cubicBezTo>
                <a:lnTo>
                  <a:pt x="25720" y="201452"/>
                </a:lnTo>
                <a:cubicBezTo>
                  <a:pt x="25720" y="208579"/>
                  <a:pt x="31453" y="214311"/>
                  <a:pt x="38580" y="214311"/>
                </a:cubicBezTo>
                <a:lnTo>
                  <a:pt x="261465" y="214311"/>
                </a:lnTo>
                <a:cubicBezTo>
                  <a:pt x="268592" y="214311"/>
                  <a:pt x="274325" y="220043"/>
                  <a:pt x="274325" y="227169"/>
                </a:cubicBezTo>
                <a:cubicBezTo>
                  <a:pt x="274325" y="234296"/>
                  <a:pt x="268592" y="240027"/>
                  <a:pt x="261468" y="240027"/>
                </a:cubicBezTo>
                <a:lnTo>
                  <a:pt x="38583" y="240027"/>
                </a:lnTo>
                <a:cubicBezTo>
                  <a:pt x="17260" y="240027"/>
                  <a:pt x="8" y="222774"/>
                  <a:pt x="8" y="201452"/>
                </a:cubicBezTo>
                <a:lnTo>
                  <a:pt x="8" y="12858"/>
                </a:lnTo>
                <a:cubicBezTo>
                  <a:pt x="8" y="5732"/>
                  <a:pt x="5741" y="0"/>
                  <a:pt x="12868" y="0"/>
                </a:cubicBezTo>
                <a:lnTo>
                  <a:pt x="12860" y="0"/>
                </a:lnTo>
              </a:path>
              <a:path w="274320" h="240030">
                <a:moveTo>
                  <a:pt x="90013" y="102870"/>
                </a:moveTo>
                <a:cubicBezTo>
                  <a:pt x="97139" y="102870"/>
                  <a:pt x="102873" y="108602"/>
                  <a:pt x="102873" y="115728"/>
                </a:cubicBezTo>
                <a:lnTo>
                  <a:pt x="102873" y="158590"/>
                </a:lnTo>
                <a:cubicBezTo>
                  <a:pt x="102873" y="165717"/>
                  <a:pt x="97139" y="171448"/>
                  <a:pt x="90015" y="171448"/>
                </a:cubicBezTo>
                <a:cubicBezTo>
                  <a:pt x="82888" y="171448"/>
                  <a:pt x="77158" y="165717"/>
                  <a:pt x="77158" y="158590"/>
                </a:cubicBezTo>
                <a:lnTo>
                  <a:pt x="77158" y="115728"/>
                </a:lnTo>
                <a:cubicBezTo>
                  <a:pt x="77158" y="108601"/>
                  <a:pt x="82891" y="102870"/>
                  <a:pt x="90018" y="102870"/>
                </a:cubicBezTo>
                <a:lnTo>
                  <a:pt x="90013" y="102870"/>
                </a:lnTo>
              </a:path>
              <a:path w="274320" h="240030">
                <a:moveTo>
                  <a:pt x="154305" y="64294"/>
                </a:moveTo>
                <a:lnTo>
                  <a:pt x="154305" y="158593"/>
                </a:lnTo>
                <a:cubicBezTo>
                  <a:pt x="154305" y="165719"/>
                  <a:pt x="148572" y="171451"/>
                  <a:pt x="141448" y="171451"/>
                </a:cubicBezTo>
                <a:cubicBezTo>
                  <a:pt x="134321" y="171451"/>
                  <a:pt x="128590" y="165719"/>
                  <a:pt x="128590" y="158593"/>
                </a:cubicBezTo>
                <a:lnTo>
                  <a:pt x="128590" y="64294"/>
                </a:lnTo>
                <a:cubicBezTo>
                  <a:pt x="128590" y="57168"/>
                  <a:pt x="134323" y="51436"/>
                  <a:pt x="141450" y="51436"/>
                </a:cubicBezTo>
                <a:cubicBezTo>
                  <a:pt x="148577" y="51436"/>
                  <a:pt x="154310" y="57168"/>
                  <a:pt x="154310" y="64294"/>
                </a:cubicBezTo>
                <a:lnTo>
                  <a:pt x="154305" y="64294"/>
                </a:lnTo>
              </a:path>
              <a:path w="274320" h="240030">
                <a:moveTo>
                  <a:pt x="192883" y="85724"/>
                </a:moveTo>
                <a:cubicBezTo>
                  <a:pt x="200009" y="85724"/>
                  <a:pt x="205743" y="91456"/>
                  <a:pt x="205743" y="98583"/>
                </a:cubicBezTo>
                <a:lnTo>
                  <a:pt x="205743" y="158590"/>
                </a:lnTo>
                <a:cubicBezTo>
                  <a:pt x="205743" y="165717"/>
                  <a:pt x="200009" y="171449"/>
                  <a:pt x="192885" y="171449"/>
                </a:cubicBezTo>
                <a:cubicBezTo>
                  <a:pt x="185758" y="171449"/>
                  <a:pt x="180028" y="165717"/>
                  <a:pt x="180028" y="158590"/>
                </a:cubicBezTo>
                <a:lnTo>
                  <a:pt x="180028" y="98583"/>
                </a:lnTo>
                <a:cubicBezTo>
                  <a:pt x="180028" y="91456"/>
                  <a:pt x="185761" y="85724"/>
                  <a:pt x="192888" y="85724"/>
                </a:cubicBezTo>
                <a:lnTo>
                  <a:pt x="192883" y="85724"/>
                </a:lnTo>
              </a:path>
              <a:path w="274320" h="240030">
                <a:moveTo>
                  <a:pt x="257175" y="30004"/>
                </a:moveTo>
                <a:lnTo>
                  <a:pt x="257175" y="158590"/>
                </a:lnTo>
                <a:cubicBezTo>
                  <a:pt x="257175" y="165717"/>
                  <a:pt x="251442" y="171449"/>
                  <a:pt x="244318" y="171449"/>
                </a:cubicBezTo>
                <a:cubicBezTo>
                  <a:pt x="237191" y="171449"/>
                  <a:pt x="231460" y="165717"/>
                  <a:pt x="231460" y="158590"/>
                </a:cubicBezTo>
                <a:lnTo>
                  <a:pt x="231460" y="30004"/>
                </a:lnTo>
                <a:cubicBezTo>
                  <a:pt x="231460" y="22877"/>
                  <a:pt x="237193" y="17145"/>
                  <a:pt x="244320" y="17145"/>
                </a:cubicBezTo>
                <a:cubicBezTo>
                  <a:pt x="251447" y="17145"/>
                  <a:pt x="257180" y="22877"/>
                  <a:pt x="257180" y="30004"/>
                </a:cubicBezTo>
                <a:lnTo>
                  <a:pt x="257175" y="30004"/>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30086" y="1673398"/>
            <a:ext cx="240030" cy="274320"/>
          </a:xfrm>
          <a:custGeom>
            <a:avLst/>
            <a:gdLst/>
            <a:ahLst/>
            <a:cxnLst/>
            <a:rect l="l" t="t" r="r" b="b"/>
            <a:pathLst>
              <a:path w="240030" h="274320">
                <a:moveTo>
                  <a:pt x="81440" y="12860"/>
                </a:moveTo>
                <a:cubicBezTo>
                  <a:pt x="81440" y="5733"/>
                  <a:pt x="75708" y="3"/>
                  <a:pt x="68581" y="3"/>
                </a:cubicBezTo>
                <a:cubicBezTo>
                  <a:pt x="61455" y="3"/>
                  <a:pt x="55723" y="5736"/>
                  <a:pt x="55723" y="12863"/>
                </a:cubicBezTo>
                <a:lnTo>
                  <a:pt x="55723" y="34295"/>
                </a:lnTo>
                <a:lnTo>
                  <a:pt x="34291" y="34295"/>
                </a:lnTo>
                <a:cubicBezTo>
                  <a:pt x="15379" y="34295"/>
                  <a:pt x="0" y="49671"/>
                  <a:pt x="0" y="68585"/>
                </a:cubicBezTo>
                <a:lnTo>
                  <a:pt x="0" y="77158"/>
                </a:lnTo>
                <a:lnTo>
                  <a:pt x="0" y="102875"/>
                </a:lnTo>
                <a:lnTo>
                  <a:pt x="0" y="240035"/>
                </a:lnTo>
                <a:cubicBezTo>
                  <a:pt x="0" y="258950"/>
                  <a:pt x="15376" y="274325"/>
                  <a:pt x="34291" y="274325"/>
                </a:cubicBezTo>
                <a:lnTo>
                  <a:pt x="205742" y="274325"/>
                </a:lnTo>
                <a:cubicBezTo>
                  <a:pt x="224654" y="274325"/>
                  <a:pt x="240032" y="258950"/>
                  <a:pt x="240032" y="240035"/>
                </a:cubicBezTo>
                <a:lnTo>
                  <a:pt x="240032" y="102875"/>
                </a:lnTo>
                <a:lnTo>
                  <a:pt x="240032" y="77158"/>
                </a:lnTo>
                <a:lnTo>
                  <a:pt x="240032" y="68585"/>
                </a:lnTo>
                <a:cubicBezTo>
                  <a:pt x="240032" y="49671"/>
                  <a:pt x="224656" y="34295"/>
                  <a:pt x="205742" y="34295"/>
                </a:cubicBezTo>
                <a:lnTo>
                  <a:pt x="184310" y="34295"/>
                </a:lnTo>
                <a:lnTo>
                  <a:pt x="184310" y="12865"/>
                </a:lnTo>
                <a:cubicBezTo>
                  <a:pt x="184310" y="5739"/>
                  <a:pt x="178578" y="8"/>
                  <a:pt x="171451" y="8"/>
                </a:cubicBezTo>
                <a:cubicBezTo>
                  <a:pt x="164325" y="8"/>
                  <a:pt x="158593" y="5741"/>
                  <a:pt x="158593" y="12868"/>
                </a:cubicBezTo>
                <a:lnTo>
                  <a:pt x="158593" y="34301"/>
                </a:lnTo>
                <a:lnTo>
                  <a:pt x="81440" y="34301"/>
                </a:lnTo>
                <a:lnTo>
                  <a:pt x="81440" y="12860"/>
                </a:lnTo>
                <a:moveTo>
                  <a:pt x="25717" y="102870"/>
                </a:moveTo>
                <a:lnTo>
                  <a:pt x="214311" y="102870"/>
                </a:lnTo>
                <a:lnTo>
                  <a:pt x="214311" y="240030"/>
                </a:lnTo>
                <a:cubicBezTo>
                  <a:pt x="214311" y="244746"/>
                  <a:pt x="210454" y="248603"/>
                  <a:pt x="205739" y="248603"/>
                </a:cubicBezTo>
                <a:lnTo>
                  <a:pt x="34288" y="248603"/>
                </a:lnTo>
                <a:cubicBezTo>
                  <a:pt x="29574" y="248603"/>
                  <a:pt x="25717" y="244746"/>
                  <a:pt x="25717" y="240030"/>
                </a:cubicBezTo>
                <a:lnTo>
                  <a:pt x="25717" y="102870"/>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55456" y="1673398"/>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Underground Economy of AI Phishing</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AI tools have lowered the barriers to complex cyber attacks, allowing even inexperienced criminals to launch personalized, large-scale phishing campaigns with minimal investment and technical skill.</a:t>
            </a:r>
            <a:endParaRPr lang="en-US" sz="1593"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Democratization of Cybercrime</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AI-powered reconnaissance tools that compile detailed dossiers on victims automatically. These services gather publicly available data from social media, company websites, and other sources to enable precise personalization of attacks.</a:t>
            </a:r>
            <a:endParaRPr lang="en-US" sz="1593"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Target Intelligence Services</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Subscription platforms offering customized phishing campaigns for a monthly fee. They provide ready-to-use infrastructure, including convincing email templates and hosting, democratizing access to advanced attack capabilities.</a:t>
            </a:r>
            <a:endParaRPr lang="en-US" sz="1593"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Phishing-as-a-Service</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8"/>
              </a:spcBef>
              <a:buNone/>
            </a:pPr>
            <a:r>
              <a:rPr lang="en-US" sz="1593" dirty="0">
                <a:solidFill>
                  <a:srgbClr val="FFFFFF"/>
                </a:solidFill>
                <a:latin typeface="Figtree Regular" pitchFamily="34" charset="0"/>
                <a:ea typeface="Figtree Regular" pitchFamily="34" charset="-122"/>
                <a:cs typeface="Figtree Regular" pitchFamily="34" charset="-120"/>
              </a:rPr>
              <a:t>Malicious large language models specifically trained to generate phishing content without the safety guardrails of legitimate AI systems. These tools automate the creation of sophisticated, convincing phishing messages designed to evade traditional detection.</a:t>
            </a:r>
            <a:endParaRPr lang="en-US" sz="1593"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WormGPT and FraudGPT</a:t>
            </a:r>
            <a:endParaRPr lang="en-US" sz="16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9293115" y="1500654"/>
            <a:ext cx="1997343" cy="1937297"/>
          </a:xfrm>
          <a:custGeom>
            <a:avLst/>
            <a:gdLst/>
            <a:ahLst/>
            <a:cxnLst/>
            <a:rect l="l" t="t" r="r" b="b"/>
            <a:pathLst>
              <a:path w="1997343" h="1937297">
                <a:moveTo>
                  <a:pt x="9108" y="0"/>
                </a:moveTo>
                <a:lnTo>
                  <a:pt x="231432" y="514585"/>
                </a:lnTo>
                <a:cubicBezTo>
                  <a:pt x="254841" y="568635"/>
                  <a:pt x="253583" y="630067"/>
                  <a:pt x="228296" y="683343"/>
                </a:cubicBezTo>
                <a:lnTo>
                  <a:pt x="0" y="1161313"/>
                </a:lnTo>
                <a:cubicBezTo>
                  <a:pt x="414968" y="1197133"/>
                  <a:pt x="759530" y="1478545"/>
                  <a:pt x="887739" y="1859573"/>
                </a:cubicBezTo>
                <a:lnTo>
                  <a:pt x="1451189" y="1936251"/>
                </a:lnTo>
                <a:cubicBezTo>
                  <a:pt x="1484505" y="1940804"/>
                  <a:pt x="1517961" y="1930749"/>
                  <a:pt x="1543267" y="1908606"/>
                </a:cubicBezTo>
                <a:lnTo>
                  <a:pt x="1997043" y="1512022"/>
                </a:lnTo>
                <a:lnTo>
                  <a:pt x="1997363" y="1511712"/>
                </a:lnTo>
                <a:cubicBezTo>
                  <a:pt x="1708108" y="621620"/>
                  <a:pt x="935056" y="37584"/>
                  <a:pt x="9128" y="39"/>
                </a:cubicBezTo>
                <a:lnTo>
                  <a:pt x="9108" y="0"/>
                </a:lnTo>
              </a:path>
            </a:pathLst>
          </a:custGeom>
          <a:solidFill>
            <a:srgbClr val="104862"/>
          </a:solidFill>
          <a:ln/>
        </p:spPr>
        <p:txBody>
          <a:bodyPr wrap="square" lIns="0" tIns="0" rIns="0" bIns="0" rtlCol="0" anchor="ctr"/>
          <a:lstStyle/>
          <a:p>
            <a:pPr indent="0" marL="0">
              <a:buNone/>
            </a:pPr>
            <a:endParaRPr lang="en-US" dirty="0"/>
          </a:p>
        </p:txBody>
      </p:sp>
      <p:sp>
        <p:nvSpPr>
          <p:cNvPr id="5" name="Text 3"/>
          <p:cNvSpPr/>
          <p:nvPr/>
        </p:nvSpPr>
        <p:spPr>
          <a:xfrm>
            <a:off x="9825289" y="3104562"/>
            <a:ext cx="1577139" cy="2343641"/>
          </a:xfrm>
          <a:custGeom>
            <a:avLst/>
            <a:gdLst/>
            <a:ahLst/>
            <a:cxnLst/>
            <a:rect l="l" t="t" r="r" b="b"/>
            <a:pathLst>
              <a:path w="1577139" h="2343641">
                <a:moveTo>
                  <a:pt x="1492983" y="0"/>
                </a:moveTo>
                <a:lnTo>
                  <a:pt x="1068906" y="370647"/>
                </a:lnTo>
                <a:cubicBezTo>
                  <a:pt x="1024604" y="409457"/>
                  <a:pt x="965682" y="427058"/>
                  <a:pt x="907391" y="419207"/>
                </a:cubicBezTo>
                <a:lnTo>
                  <a:pt x="381967" y="347726"/>
                </a:lnTo>
                <a:cubicBezTo>
                  <a:pt x="399884" y="423777"/>
                  <a:pt x="409615" y="502969"/>
                  <a:pt x="409615" y="584504"/>
                </a:cubicBezTo>
                <a:cubicBezTo>
                  <a:pt x="409615" y="920582"/>
                  <a:pt x="248715" y="1218975"/>
                  <a:pt x="0" y="1407356"/>
                </a:cubicBezTo>
                <a:lnTo>
                  <a:pt x="115321" y="1973322"/>
                </a:lnTo>
                <a:cubicBezTo>
                  <a:pt x="122071" y="2006157"/>
                  <a:pt x="142652" y="2034444"/>
                  <a:pt x="171719" y="2051108"/>
                </a:cubicBezTo>
                <a:lnTo>
                  <a:pt x="687081" y="2343664"/>
                </a:lnTo>
                <a:cubicBezTo>
                  <a:pt x="1431206" y="1792487"/>
                  <a:pt x="1740909" y="884771"/>
                  <a:pt x="1493125" y="23"/>
                </a:cubicBezTo>
                <a:lnTo>
                  <a:pt x="1492983" y="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7921120" y="4542705"/>
            <a:ext cx="2512234" cy="1345184"/>
          </a:xfrm>
          <a:custGeom>
            <a:avLst/>
            <a:gdLst/>
            <a:ahLst/>
            <a:cxnLst/>
            <a:rect l="l" t="t" r="r" b="b"/>
            <a:pathLst>
              <a:path w="2512234" h="1345184">
                <a:moveTo>
                  <a:pt x="2032548" y="689299"/>
                </a:moveTo>
                <a:cubicBezTo>
                  <a:pt x="1981324" y="660230"/>
                  <a:pt x="1945198" y="610418"/>
                  <a:pt x="1933415" y="552763"/>
                </a:cubicBezTo>
                <a:lnTo>
                  <a:pt x="1825465" y="23258"/>
                </a:lnTo>
                <a:cubicBezTo>
                  <a:pt x="1667721" y="121147"/>
                  <a:pt x="1481690" y="177874"/>
                  <a:pt x="1282294" y="177874"/>
                </a:cubicBezTo>
                <a:cubicBezTo>
                  <a:pt x="1067498" y="177874"/>
                  <a:pt x="868278" y="112202"/>
                  <a:pt x="703149" y="13"/>
                </a:cubicBezTo>
                <a:lnTo>
                  <a:pt x="193291" y="269952"/>
                </a:lnTo>
                <a:cubicBezTo>
                  <a:pt x="163597" y="285663"/>
                  <a:pt x="142217" y="313320"/>
                  <a:pt x="134681" y="345995"/>
                </a:cubicBezTo>
                <a:lnTo>
                  <a:pt x="25" y="919487"/>
                </a:lnTo>
                <a:cubicBezTo>
                  <a:pt x="762388" y="1472721"/>
                  <a:pt x="1738893" y="1486697"/>
                  <a:pt x="2512259" y="961591"/>
                </a:cubicBezTo>
                <a:lnTo>
                  <a:pt x="2032548" y="689299"/>
                </a:lnTo>
              </a:path>
            </a:pathLst>
          </a:custGeom>
          <a:solidFill>
            <a:srgbClr val="46B1E1"/>
          </a:solidFill>
          <a:ln/>
        </p:spPr>
        <p:txBody>
          <a:bodyPr wrap="square" lIns="0" tIns="0" rIns="0" bIns="0" rtlCol="0" anchor="ctr"/>
          <a:lstStyle/>
          <a:p>
            <a:pPr indent="0" marL="0">
              <a:buNone/>
            </a:pPr>
            <a:endParaRPr lang="en-US" dirty="0"/>
          </a:p>
        </p:txBody>
      </p:sp>
      <p:sp>
        <p:nvSpPr>
          <p:cNvPr id="7" name="Text 5"/>
          <p:cNvSpPr/>
          <p:nvPr/>
        </p:nvSpPr>
        <p:spPr>
          <a:xfrm>
            <a:off x="7011923" y="2979609"/>
            <a:ext cx="1534386" cy="2424757"/>
          </a:xfrm>
          <a:custGeom>
            <a:avLst/>
            <a:gdLst/>
            <a:ahLst/>
            <a:cxnLst/>
            <a:rect l="l" t="t" r="r" b="b"/>
            <a:pathLst>
              <a:path w="1534386" h="2424757">
                <a:moveTo>
                  <a:pt x="1159965" y="709605"/>
                </a:moveTo>
                <a:cubicBezTo>
                  <a:pt x="1159965" y="609826"/>
                  <a:pt x="1174419" y="513515"/>
                  <a:pt x="1200811" y="422223"/>
                </a:cubicBezTo>
                <a:lnTo>
                  <a:pt x="1141414" y="367230"/>
                </a:lnTo>
                <a:lnTo>
                  <a:pt x="778931" y="30988"/>
                </a:lnTo>
                <a:cubicBezTo>
                  <a:pt x="754258" y="8196"/>
                  <a:pt x="721115" y="-2958"/>
                  <a:pt x="687804" y="655"/>
                </a:cubicBezTo>
                <a:lnTo>
                  <a:pt x="102528" y="62559"/>
                </a:lnTo>
                <a:cubicBezTo>
                  <a:pt x="-171023" y="943691"/>
                  <a:pt x="113054" y="1856588"/>
                  <a:pt x="832359" y="2424733"/>
                </a:cubicBezTo>
                <a:lnTo>
                  <a:pt x="958055" y="1889104"/>
                </a:lnTo>
                <a:cubicBezTo>
                  <a:pt x="971573" y="1831758"/>
                  <a:pt x="1009120" y="1783045"/>
                  <a:pt x="1061120" y="1755548"/>
                </a:cubicBezTo>
                <a:lnTo>
                  <a:pt x="1534371" y="1504950"/>
                </a:lnTo>
                <a:cubicBezTo>
                  <a:pt x="1305594" y="1315770"/>
                  <a:pt x="1159796" y="1029819"/>
                  <a:pt x="1159796" y="709751"/>
                </a:cubicBezTo>
                <a:lnTo>
                  <a:pt x="1159965" y="709605"/>
                </a:lnTo>
              </a:path>
            </a:pathLst>
          </a:custGeom>
          <a:solidFill>
            <a:srgbClr val="C1E5F5"/>
          </a:solidFill>
          <a:ln/>
        </p:spPr>
        <p:txBody>
          <a:bodyPr wrap="square" lIns="0" tIns="0" rIns="0" bIns="0" rtlCol="0" anchor="ctr"/>
          <a:lstStyle/>
          <a:p>
            <a:pPr indent="0" marL="0">
              <a:buNone/>
            </a:pPr>
            <a:endParaRPr lang="en-US" dirty="0"/>
          </a:p>
        </p:txBody>
      </p:sp>
      <p:sp>
        <p:nvSpPr>
          <p:cNvPr id="8" name="Text 6"/>
          <p:cNvSpPr/>
          <p:nvPr/>
        </p:nvSpPr>
        <p:spPr>
          <a:xfrm>
            <a:off x="7145090" y="1498769"/>
            <a:ext cx="2308310" cy="1812095"/>
          </a:xfrm>
          <a:custGeom>
            <a:avLst/>
            <a:gdLst/>
            <a:ahLst/>
            <a:cxnLst/>
            <a:rect l="l" t="t" r="r" b="b"/>
            <a:pathLst>
              <a:path w="2308310" h="1812095">
                <a:moveTo>
                  <a:pt x="2052642" y="1159088"/>
                </a:moveTo>
                <a:lnTo>
                  <a:pt x="2296976" y="647335"/>
                </a:lnTo>
                <a:cubicBezTo>
                  <a:pt x="2311426" y="617018"/>
                  <a:pt x="2312049" y="582136"/>
                  <a:pt x="2298869" y="551330"/>
                </a:cubicBezTo>
                <a:lnTo>
                  <a:pt x="2060675" y="-18"/>
                </a:lnTo>
                <a:cubicBezTo>
                  <a:pt x="1115422" y="616"/>
                  <a:pt x="314877" y="567186"/>
                  <a:pt x="0" y="1451796"/>
                </a:cubicBezTo>
                <a:lnTo>
                  <a:pt x="545523" y="1394135"/>
                </a:lnTo>
                <a:cubicBezTo>
                  <a:pt x="604131" y="1387847"/>
                  <a:pt x="662416" y="1407327"/>
                  <a:pt x="705627" y="1447393"/>
                </a:cubicBezTo>
                <a:lnTo>
                  <a:pt x="1098756" y="1812077"/>
                </a:lnTo>
                <a:cubicBezTo>
                  <a:pt x="1248957" y="1431374"/>
                  <a:pt x="1618979" y="1161426"/>
                  <a:pt x="2052642" y="1159070"/>
                </a:cubicBezTo>
                <a:lnTo>
                  <a:pt x="2052642" y="1159088"/>
                </a:lnTo>
              </a:path>
            </a:pathLst>
          </a:custGeom>
          <a:solidFill>
            <a:srgbClr val="156082"/>
          </a:solidFill>
          <a:ln/>
        </p:spPr>
        <p:txBody>
          <a:bodyPr wrap="square" lIns="0" tIns="0" rIns="0" bIns="0" rtlCol="0" anchor="ctr"/>
          <a:lstStyle/>
          <a:p>
            <a:pPr indent="0" marL="0">
              <a:buNone/>
            </a:pPr>
            <a:endParaRPr lang="en-US" dirty="0"/>
          </a:p>
        </p:txBody>
      </p:sp>
      <p:sp>
        <p:nvSpPr>
          <p:cNvPr id="9" name="Text 7"/>
          <p:cNvSpPr/>
          <p:nvPr/>
        </p:nvSpPr>
        <p:spPr>
          <a:xfrm>
            <a:off x="544035" y="173124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634035" y="177804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01</a:t>
            </a:r>
            <a:endParaRPr lang="en-US" sz="1400" dirty="0"/>
          </a:p>
        </p:txBody>
      </p:sp>
      <p:sp>
        <p:nvSpPr>
          <p:cNvPr id="11" name="Text 9"/>
          <p:cNvSpPr/>
          <p:nvPr/>
        </p:nvSpPr>
        <p:spPr>
          <a:xfrm>
            <a:off x="544035" y="2612572"/>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34035" y="2659372"/>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02</a:t>
            </a:r>
            <a:endParaRPr lang="en-US" sz="1400" dirty="0"/>
          </a:p>
        </p:txBody>
      </p:sp>
      <p:sp>
        <p:nvSpPr>
          <p:cNvPr id="13" name="Text 11"/>
          <p:cNvSpPr/>
          <p:nvPr/>
        </p:nvSpPr>
        <p:spPr>
          <a:xfrm>
            <a:off x="544035" y="349514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4035" y="354194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03</a:t>
            </a:r>
            <a:endParaRPr lang="en-US" sz="1400" dirty="0"/>
          </a:p>
        </p:txBody>
      </p:sp>
      <p:sp>
        <p:nvSpPr>
          <p:cNvPr id="15" name="Text 13"/>
          <p:cNvSpPr/>
          <p:nvPr/>
        </p:nvSpPr>
        <p:spPr>
          <a:xfrm>
            <a:off x="544035" y="437709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46B1E1"/>
          </a:solidFill>
          <a:ln/>
        </p:spPr>
        <p:txBody>
          <a:bodyPr wrap="square" lIns="0" tIns="0" rIns="0" bIns="0" rtlCol="0" anchor="ctr"/>
          <a:lstStyle/>
          <a:p>
            <a:pPr indent="0" marL="0">
              <a:buNone/>
            </a:pPr>
            <a:endParaRPr lang="en-US" dirty="0"/>
          </a:p>
        </p:txBody>
      </p:sp>
      <p:sp>
        <p:nvSpPr>
          <p:cNvPr id="16" name="Text 14"/>
          <p:cNvSpPr/>
          <p:nvPr/>
        </p:nvSpPr>
        <p:spPr>
          <a:xfrm>
            <a:off x="634035" y="442389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04</a:t>
            </a:r>
            <a:endParaRPr lang="en-US" sz="1400" dirty="0"/>
          </a:p>
        </p:txBody>
      </p:sp>
      <p:sp>
        <p:nvSpPr>
          <p:cNvPr id="17" name="Text 15"/>
          <p:cNvSpPr/>
          <p:nvPr/>
        </p:nvSpPr>
        <p:spPr>
          <a:xfrm>
            <a:off x="544035" y="525904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83CBEB"/>
          </a:solidFill>
          <a:ln/>
        </p:spPr>
        <p:txBody>
          <a:bodyPr wrap="square" lIns="0" tIns="0" rIns="0" bIns="0" rtlCol="0" anchor="ctr"/>
          <a:lstStyle/>
          <a:p>
            <a:pPr indent="0" marL="0">
              <a:buNone/>
            </a:pPr>
            <a:endParaRPr lang="en-US" dirty="0"/>
          </a:p>
        </p:txBody>
      </p:sp>
      <p:sp>
        <p:nvSpPr>
          <p:cNvPr id="18" name="Text 16"/>
          <p:cNvSpPr/>
          <p:nvPr/>
        </p:nvSpPr>
        <p:spPr>
          <a:xfrm>
            <a:off x="634035" y="530584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Bold" pitchFamily="34" charset="0"/>
                <a:ea typeface="Figtree Bold" pitchFamily="34" charset="-122"/>
                <a:cs typeface="Figtree Bold" pitchFamily="34" charset="-120"/>
              </a:rPr>
              <a:t>05</a:t>
            </a:r>
            <a:endParaRPr lang="en-US" sz="1400" dirty="0"/>
          </a:p>
        </p:txBody>
      </p:sp>
      <p:sp>
        <p:nvSpPr>
          <p:cNvPr id="19" name="Text 17"/>
          <p:cNvSpPr/>
          <p:nvPr/>
        </p:nvSpPr>
        <p:spPr>
          <a:xfrm>
            <a:off x="8111890" y="2152912"/>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0" name="Text 18"/>
          <p:cNvSpPr/>
          <p:nvPr/>
        </p:nvSpPr>
        <p:spPr>
          <a:xfrm>
            <a:off x="8111890" y="2152912"/>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1</a:t>
            </a:r>
            <a:endParaRPr lang="en-US" sz="1400" dirty="0"/>
          </a:p>
        </p:txBody>
      </p:sp>
      <p:sp>
        <p:nvSpPr>
          <p:cNvPr id="21" name="Text 19"/>
          <p:cNvSpPr/>
          <p:nvPr/>
        </p:nvSpPr>
        <p:spPr>
          <a:xfrm>
            <a:off x="10035759" y="2205849"/>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2" name="Text 20"/>
          <p:cNvSpPr/>
          <p:nvPr/>
        </p:nvSpPr>
        <p:spPr>
          <a:xfrm>
            <a:off x="10125759" y="2252649"/>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2</a:t>
            </a:r>
            <a:endParaRPr lang="en-US" sz="1400" dirty="0"/>
          </a:p>
        </p:txBody>
      </p:sp>
      <p:sp>
        <p:nvSpPr>
          <p:cNvPr id="23" name="Text 21"/>
          <p:cNvSpPr/>
          <p:nvPr/>
        </p:nvSpPr>
        <p:spPr>
          <a:xfrm>
            <a:off x="10379968" y="402146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4" name="Text 22"/>
          <p:cNvSpPr/>
          <p:nvPr/>
        </p:nvSpPr>
        <p:spPr>
          <a:xfrm>
            <a:off x="10469968" y="406826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3</a:t>
            </a:r>
            <a:endParaRPr lang="en-US" sz="1400" dirty="0"/>
          </a:p>
        </p:txBody>
      </p:sp>
      <p:sp>
        <p:nvSpPr>
          <p:cNvPr id="25" name="Text 23"/>
          <p:cNvSpPr/>
          <p:nvPr/>
        </p:nvSpPr>
        <p:spPr>
          <a:xfrm>
            <a:off x="8911479" y="4984727"/>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6" name="Text 24"/>
          <p:cNvSpPr/>
          <p:nvPr/>
        </p:nvSpPr>
        <p:spPr>
          <a:xfrm>
            <a:off x="9001479" y="5031527"/>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4</a:t>
            </a:r>
            <a:endParaRPr lang="en-US" sz="1400" dirty="0"/>
          </a:p>
        </p:txBody>
      </p:sp>
      <p:sp>
        <p:nvSpPr>
          <p:cNvPr id="27" name="Text 25"/>
          <p:cNvSpPr/>
          <p:nvPr/>
        </p:nvSpPr>
        <p:spPr>
          <a:xfrm>
            <a:off x="7436178" y="3843508"/>
            <a:ext cx="548640" cy="548640"/>
          </a:xfrm>
          <a:custGeom>
            <a:avLst/>
            <a:gdLst/>
            <a:ahLst/>
            <a:cxnLst/>
            <a:rect l="l" t="t" r="r" b="b"/>
            <a:pathLst>
              <a:path w="548640" h="548640">
                <a:moveTo>
                  <a:pt x="0" y="274320"/>
                </a:moveTo>
                <a:cubicBezTo>
                  <a:pt x="0" y="122819"/>
                  <a:pt x="122819" y="0"/>
                  <a:pt x="274320" y="0"/>
                </a:cubicBezTo>
                <a:cubicBezTo>
                  <a:pt x="425821" y="0"/>
                  <a:pt x="548640" y="122819"/>
                  <a:pt x="548640" y="274320"/>
                </a:cubicBezTo>
                <a:cubicBezTo>
                  <a:pt x="548640" y="425821"/>
                  <a:pt x="425821" y="548640"/>
                  <a:pt x="274320" y="548640"/>
                </a:cubicBezTo>
                <a:cubicBezTo>
                  <a:pt x="122819" y="548640"/>
                  <a:pt x="0" y="425821"/>
                  <a:pt x="0" y="274320"/>
                </a:cubicBezTo>
              </a:path>
            </a:pathLst>
          </a:custGeom>
          <a:solidFill>
            <a:srgbClr val="FFFFFF"/>
          </a:solidFill>
          <a:ln w="9525">
            <a:solidFill>
              <a:srgbClr val="C1E5F5"/>
            </a:solidFill>
          </a:ln>
          <a:effectLst>
            <a:outerShdw sx="100000" sy="100000" kx="0" ky="0" algn="bl" rotWithShape="0" blurRad="266700" dist="13" dir="16200000">
              <a:srgbClr val="0B3041">
                <a:alpha val="20000"/>
              </a:srgbClr>
            </a:outerShdw>
          </a:effectLst>
        </p:spPr>
        <p:txBody>
          <a:bodyPr wrap="square" lIns="0" tIns="0" rIns="0" bIns="0" rtlCol="0" anchor="ctr"/>
          <a:lstStyle/>
          <a:p>
            <a:pPr indent="0" marL="0">
              <a:buNone/>
            </a:pPr>
            <a:endParaRPr lang="en-US" dirty="0"/>
          </a:p>
        </p:txBody>
      </p:sp>
      <p:sp>
        <p:nvSpPr>
          <p:cNvPr id="28" name="Text 26"/>
          <p:cNvSpPr/>
          <p:nvPr/>
        </p:nvSpPr>
        <p:spPr>
          <a:xfrm>
            <a:off x="7526178" y="3890308"/>
            <a:ext cx="368640" cy="4550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Bold" pitchFamily="34" charset="0"/>
                <a:ea typeface="Figtree Bold" pitchFamily="34" charset="-122"/>
                <a:cs typeface="Figtree Bold" pitchFamily="34" charset="-120"/>
              </a:rPr>
              <a:t>5</a:t>
            </a:r>
            <a:endParaRPr lang="en-US" sz="1400" dirty="0"/>
          </a:p>
        </p:txBody>
      </p:sp>
      <p:sp>
        <p:nvSpPr>
          <p:cNvPr id="29" name="Text 27"/>
          <p:cNvSpPr/>
          <p:nvPr/>
        </p:nvSpPr>
        <p:spPr>
          <a:xfrm>
            <a:off x="1433578" y="525904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Handling Objections</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AI generates convincing responses to questions or concerns, maintaining the illusion and sustaining the deception through multi-turn interactions. This ability to address objections effectively seals the continuous and adaptive cycle of AI-powered social engineering, looping back to the refinement of communication patterns.</a:t>
            </a:r>
            <a:endParaRPr lang="en-US" sz="920" dirty="0"/>
          </a:p>
        </p:txBody>
      </p:sp>
      <p:sp>
        <p:nvSpPr>
          <p:cNvPr id="30" name="Text 28"/>
          <p:cNvSpPr/>
          <p:nvPr/>
        </p:nvSpPr>
        <p:spPr>
          <a:xfrm>
            <a:off x="1433578" y="437709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Building Rapport Through Conversation</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By engaging in preliminary exchanges that establish trust, AI creates a relationship dynamic that encourages victims to comply. This rapport enables the attacker to deepen the interaction, setting the groundwork for the critical request and connecting naturally to the next step of handling objections.</a:t>
            </a:r>
            <a:endParaRPr lang="en-US" sz="920" dirty="0"/>
          </a:p>
        </p:txBody>
      </p:sp>
      <p:sp>
        <p:nvSpPr>
          <p:cNvPr id="31" name="Text 29"/>
          <p:cNvSpPr/>
          <p:nvPr/>
        </p:nvSpPr>
        <p:spPr>
          <a:xfrm>
            <a:off x="1433578" y="349514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Timing Attacks Strategically</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AI selects high-stress periods such as quarterly reports, product launches, or merger announcements to time attacks. This strategic timing makes unusual requests more plausible and urgent, enhancing the effectiveness of social engineering efforts by exploiting moments when targets are most vulnerable.</a:t>
            </a:r>
            <a:endParaRPr lang="en-US" sz="920" dirty="0"/>
          </a:p>
        </p:txBody>
      </p:sp>
      <p:sp>
        <p:nvSpPr>
          <p:cNvPr id="32" name="Text 30"/>
          <p:cNvSpPr/>
          <p:nvPr/>
        </p:nvSpPr>
        <p:spPr>
          <a:xfrm>
            <a:off x="1433578" y="261319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Adapting to Corporate Culture</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Next, AI mimics the formality, jargon, and conventions of particular organizations. This adaptation ensures that messages feel authentic and appropriate within the target’s corporate environment, increasing the likelihood of acceptance and reducing suspicion before progressing to rapport building.</a:t>
            </a:r>
            <a:endParaRPr lang="en-US" sz="920" dirty="0"/>
          </a:p>
        </p:txBody>
      </p:sp>
      <p:sp>
        <p:nvSpPr>
          <p:cNvPr id="33" name="Text 31"/>
          <p:cNvSpPr/>
          <p:nvPr/>
        </p:nvSpPr>
        <p:spPr>
          <a:xfrm>
            <a:off x="1433578" y="1731247"/>
            <a:ext cx="5120640" cy="548640"/>
          </a:xfrm>
          <a:prstGeom prst="rect">
            <a:avLst/>
          </a:prstGeom>
          <a:noFill/>
          <a:ln/>
        </p:spPr>
        <p:txBody>
          <a:bodyPr wrap="square" lIns="0" tIns="0" rIns="0" bIns="0" rtlCol="0" anchor="ctr"/>
          <a:lstStyle/>
          <a:p>
            <a:pPr algn="l" marL="0" indent="0">
              <a:lnSpc>
                <a:spcPct val="90000"/>
              </a:lnSpc>
              <a:spcBef>
                <a:spcPts val="789"/>
              </a:spcBef>
              <a:buNone/>
            </a:pPr>
            <a:r>
              <a:rPr lang="en-US" sz="920" dirty="0">
                <a:solidFill>
                  <a:srgbClr val="FFFFFF"/>
                </a:solidFill>
                <a:latin typeface="Figtree Bold" pitchFamily="34" charset="0"/>
                <a:ea typeface="Figtree Bold" pitchFamily="34" charset="-122"/>
                <a:cs typeface="Figtree Bold" pitchFamily="34" charset="-120"/>
              </a:rPr>
              <a:t>Analyzing Communication Patterns</a:t>
            </a:r>
            <a:endParaRPr lang="en-US" sz="920" dirty="0"/>
          </a:p>
          <a:p>
            <a:pPr algn="l" marL="142875" indent="0">
              <a:lnSpc>
                <a:spcPct val="90000"/>
              </a:lnSpc>
              <a:spcBef>
                <a:spcPts val="789"/>
              </a:spcBef>
              <a:buNone/>
            </a:pPr>
            <a:r>
              <a:rPr lang="en-US" sz="782" dirty="0">
                <a:solidFill>
                  <a:srgbClr val="FFFFFF"/>
                </a:solidFill>
                <a:latin typeface="Figtree Regular" pitchFamily="34" charset="0"/>
                <a:ea typeface="Figtree Regular" pitchFamily="34" charset="-122"/>
                <a:cs typeface="Figtree Regular" pitchFamily="34" charset="-120"/>
              </a:rPr>
              <a:t>AI begins by examining how people in specific roles, industries, or relationships typically communicate. This analysis forms the basis for crafting messages that align with natural language use and interaction styles, setting the stage for deeper contextual understanding in subsequent steps.</a:t>
            </a:r>
            <a:endParaRPr lang="en-US" sz="920" dirty="0"/>
          </a:p>
        </p:txBody>
      </p:sp>
      <p:sp>
        <p:nvSpPr>
          <p:cNvPr id="34" name="Text 3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35" name="Text 33"/>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36" name="Text 3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37" name="Text 3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38" name="Text 36"/>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Weaponization of Context</a:t>
            </a:r>
            <a:endParaRPr 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5" name="Text 13"/>
          <p:cNvSpPr/>
          <p:nvPr/>
        </p:nvSpPr>
        <p:spPr>
          <a:xfrm>
            <a:off x="9370109" y="1673398"/>
            <a:ext cx="188595" cy="274320"/>
          </a:xfrm>
          <a:custGeom>
            <a:avLst/>
            <a:gdLst/>
            <a:ahLst/>
            <a:cxnLst/>
            <a:rect l="l" t="t" r="r" b="b"/>
            <a:pathLst>
              <a:path w="188595" h="274320">
                <a:moveTo>
                  <a:pt x="34290" y="25718"/>
                </a:moveTo>
                <a:cubicBezTo>
                  <a:pt x="29576" y="25718"/>
                  <a:pt x="25719" y="29574"/>
                  <a:pt x="25719" y="34290"/>
                </a:cubicBezTo>
                <a:lnTo>
                  <a:pt x="25719" y="240030"/>
                </a:lnTo>
                <a:cubicBezTo>
                  <a:pt x="25719" y="244746"/>
                  <a:pt x="29576" y="248603"/>
                  <a:pt x="34290" y="248603"/>
                </a:cubicBezTo>
                <a:lnTo>
                  <a:pt x="154305" y="248603"/>
                </a:lnTo>
                <a:cubicBezTo>
                  <a:pt x="159020" y="248603"/>
                  <a:pt x="162876" y="244746"/>
                  <a:pt x="162876" y="240030"/>
                </a:cubicBezTo>
                <a:lnTo>
                  <a:pt x="162876" y="34290"/>
                </a:lnTo>
                <a:cubicBezTo>
                  <a:pt x="162876" y="29574"/>
                  <a:pt x="159020" y="25718"/>
                  <a:pt x="154305" y="25718"/>
                </a:cubicBezTo>
                <a:lnTo>
                  <a:pt x="34290" y="25718"/>
                </a:lnTo>
                <a:moveTo>
                  <a:pt x="0" y="34290"/>
                </a:moveTo>
                <a:cubicBezTo>
                  <a:pt x="0" y="15376"/>
                  <a:pt x="15376" y="0"/>
                  <a:pt x="34290" y="0"/>
                </a:cubicBezTo>
                <a:lnTo>
                  <a:pt x="154305" y="0"/>
                </a:lnTo>
                <a:cubicBezTo>
                  <a:pt x="173217" y="0"/>
                  <a:pt x="188595" y="15376"/>
                  <a:pt x="188595" y="34290"/>
                </a:cubicBezTo>
                <a:lnTo>
                  <a:pt x="188595" y="240030"/>
                </a:lnTo>
                <a:cubicBezTo>
                  <a:pt x="188595" y="258944"/>
                  <a:pt x="173219" y="274320"/>
                  <a:pt x="154305" y="274320"/>
                </a:cubicBezTo>
                <a:lnTo>
                  <a:pt x="34290" y="274320"/>
                </a:lnTo>
                <a:cubicBezTo>
                  <a:pt x="15378" y="274320"/>
                  <a:pt x="0" y="258944"/>
                  <a:pt x="0" y="240030"/>
                </a:cubicBezTo>
                <a:lnTo>
                  <a:pt x="0" y="34290"/>
                </a:lnTo>
                <a:moveTo>
                  <a:pt x="77152" y="214313"/>
                </a:moveTo>
                <a:lnTo>
                  <a:pt x="111443" y="214313"/>
                </a:lnTo>
                <a:cubicBezTo>
                  <a:pt x="116158" y="214313"/>
                  <a:pt x="120014" y="218169"/>
                  <a:pt x="120014" y="222885"/>
                </a:cubicBezTo>
                <a:cubicBezTo>
                  <a:pt x="120014" y="227601"/>
                  <a:pt x="116158" y="231458"/>
                  <a:pt x="111443" y="231458"/>
                </a:cubicBezTo>
                <a:lnTo>
                  <a:pt x="77152" y="231458"/>
                </a:lnTo>
                <a:cubicBezTo>
                  <a:pt x="72437" y="231458"/>
                  <a:pt x="68581" y="227601"/>
                  <a:pt x="68581" y="222885"/>
                </a:cubicBezTo>
                <a:cubicBezTo>
                  <a:pt x="68581" y="218169"/>
                  <a:pt x="72437" y="214313"/>
                  <a:pt x="77152" y="214313"/>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88055" y="1673398"/>
            <a:ext cx="239062" cy="274320"/>
          </a:xfrm>
          <a:custGeom>
            <a:avLst/>
            <a:gdLst/>
            <a:ahLst/>
            <a:cxnLst/>
            <a:rect l="l" t="t" r="r" b="b"/>
            <a:pathLst>
              <a:path w="239062" h="274320">
                <a:moveTo>
                  <a:pt x="201890" y="37170"/>
                </a:moveTo>
                <a:cubicBezTo>
                  <a:pt x="187577" y="22859"/>
                  <a:pt x="164403" y="22859"/>
                  <a:pt x="150090" y="37170"/>
                </a:cubicBezTo>
                <a:lnTo>
                  <a:pt x="44451" y="142863"/>
                </a:lnTo>
                <a:cubicBezTo>
                  <a:pt x="20394" y="166863"/>
                  <a:pt x="20394" y="205839"/>
                  <a:pt x="44451" y="229839"/>
                </a:cubicBezTo>
                <a:cubicBezTo>
                  <a:pt x="68508" y="253839"/>
                  <a:pt x="107427" y="253839"/>
                  <a:pt x="131484" y="229839"/>
                </a:cubicBezTo>
                <a:lnTo>
                  <a:pt x="215103" y="146166"/>
                </a:lnTo>
                <a:cubicBezTo>
                  <a:pt x="220278" y="140992"/>
                  <a:pt x="228646" y="140992"/>
                  <a:pt x="233764" y="146166"/>
                </a:cubicBezTo>
                <a:cubicBezTo>
                  <a:pt x="238885" y="151340"/>
                  <a:pt x="238939" y="159709"/>
                  <a:pt x="233764" y="164828"/>
                </a:cubicBezTo>
                <a:lnTo>
                  <a:pt x="150145" y="248556"/>
                </a:lnTo>
                <a:cubicBezTo>
                  <a:pt x="115794" y="282906"/>
                  <a:pt x="60141" y="282906"/>
                  <a:pt x="25790" y="248556"/>
                </a:cubicBezTo>
                <a:cubicBezTo>
                  <a:pt x="-8561" y="214205"/>
                  <a:pt x="-8616" y="158497"/>
                  <a:pt x="25735" y="124146"/>
                </a:cubicBezTo>
                <a:lnTo>
                  <a:pt x="131429" y="18453"/>
                </a:lnTo>
                <a:cubicBezTo>
                  <a:pt x="156035" y="-6153"/>
                  <a:pt x="196002" y="-6153"/>
                  <a:pt x="220608" y="18453"/>
                </a:cubicBezTo>
                <a:cubicBezTo>
                  <a:pt x="245215" y="43060"/>
                  <a:pt x="245215" y="82971"/>
                  <a:pt x="220608" y="107577"/>
                </a:cubicBezTo>
                <a:lnTo>
                  <a:pt x="119430" y="208757"/>
                </a:lnTo>
                <a:cubicBezTo>
                  <a:pt x="102036" y="226152"/>
                  <a:pt x="73411" y="224555"/>
                  <a:pt x="58051" y="205345"/>
                </a:cubicBezTo>
                <a:cubicBezTo>
                  <a:pt x="44951" y="188941"/>
                  <a:pt x="46215" y="165270"/>
                  <a:pt x="61078" y="150407"/>
                </a:cubicBezTo>
                <a:lnTo>
                  <a:pt x="144642" y="66898"/>
                </a:lnTo>
                <a:cubicBezTo>
                  <a:pt x="149817" y="61725"/>
                  <a:pt x="158185" y="61725"/>
                  <a:pt x="163303" y="66898"/>
                </a:cubicBezTo>
                <a:cubicBezTo>
                  <a:pt x="168424" y="72072"/>
                  <a:pt x="168479" y="80441"/>
                  <a:pt x="163303" y="85560"/>
                </a:cubicBezTo>
                <a:lnTo>
                  <a:pt x="79794" y="169124"/>
                </a:lnTo>
                <a:cubicBezTo>
                  <a:pt x="74453" y="174465"/>
                  <a:pt x="73958" y="182941"/>
                  <a:pt x="78692" y="188831"/>
                </a:cubicBezTo>
                <a:cubicBezTo>
                  <a:pt x="84197" y="195711"/>
                  <a:pt x="94491" y="196317"/>
                  <a:pt x="100712" y="190041"/>
                </a:cubicBezTo>
                <a:lnTo>
                  <a:pt x="201890" y="88918"/>
                </a:lnTo>
                <a:cubicBezTo>
                  <a:pt x="216202" y="74607"/>
                  <a:pt x="216202" y="51429"/>
                  <a:pt x="201890" y="37118"/>
                </a:cubicBezTo>
                <a:lnTo>
                  <a:pt x="201890" y="37170"/>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12968" y="1673398"/>
            <a:ext cx="274266" cy="274320"/>
          </a:xfrm>
          <a:custGeom>
            <a:avLst/>
            <a:gdLst/>
            <a:ahLst/>
            <a:cxnLst/>
            <a:rect l="l" t="t" r="r" b="b"/>
            <a:pathLst>
              <a:path w="274266" h="274320">
                <a:moveTo>
                  <a:pt x="201312" y="147414"/>
                </a:moveTo>
                <a:cubicBezTo>
                  <a:pt x="192527" y="143664"/>
                  <a:pt x="182349" y="146128"/>
                  <a:pt x="176296" y="153520"/>
                </a:cubicBezTo>
                <a:lnTo>
                  <a:pt x="158509" y="175268"/>
                </a:lnTo>
                <a:cubicBezTo>
                  <a:pt x="133867" y="160965"/>
                  <a:pt x="113297" y="140394"/>
                  <a:pt x="98994" y="115755"/>
                </a:cubicBezTo>
                <a:lnTo>
                  <a:pt x="120688" y="98023"/>
                </a:lnTo>
                <a:cubicBezTo>
                  <a:pt x="128080" y="91968"/>
                  <a:pt x="130597" y="81791"/>
                  <a:pt x="126796" y="73005"/>
                </a:cubicBezTo>
                <a:lnTo>
                  <a:pt x="101084" y="13008"/>
                </a:lnTo>
                <a:cubicBezTo>
                  <a:pt x="97066" y="3580"/>
                  <a:pt x="86942" y="-1671"/>
                  <a:pt x="76923" y="472"/>
                </a:cubicBezTo>
                <a:lnTo>
                  <a:pt x="16928" y="13329"/>
                </a:lnTo>
                <a:cubicBezTo>
                  <a:pt x="7071" y="15420"/>
                  <a:pt x="0" y="24151"/>
                  <a:pt x="0" y="34274"/>
                </a:cubicBezTo>
                <a:lnTo>
                  <a:pt x="0" y="34274"/>
                </a:lnTo>
                <a:cubicBezTo>
                  <a:pt x="0" y="158123"/>
                  <a:pt x="93854" y="260118"/>
                  <a:pt x="214328" y="272924"/>
                </a:cubicBezTo>
                <a:cubicBezTo>
                  <a:pt x="219578" y="273459"/>
                  <a:pt x="224827" y="273889"/>
                  <a:pt x="230183" y="274103"/>
                </a:cubicBezTo>
                <a:lnTo>
                  <a:pt x="230183" y="274103"/>
                </a:lnTo>
                <a:lnTo>
                  <a:pt x="230238" y="274103"/>
                </a:lnTo>
                <a:cubicBezTo>
                  <a:pt x="233505" y="274210"/>
                  <a:pt x="236719" y="274317"/>
                  <a:pt x="239988" y="274317"/>
                </a:cubicBezTo>
                <a:lnTo>
                  <a:pt x="239988" y="274317"/>
                </a:lnTo>
                <a:cubicBezTo>
                  <a:pt x="250112" y="274317"/>
                  <a:pt x="258844" y="267245"/>
                  <a:pt x="260934" y="257389"/>
                </a:cubicBezTo>
                <a:lnTo>
                  <a:pt x="273792" y="197392"/>
                </a:lnTo>
                <a:cubicBezTo>
                  <a:pt x="275934" y="187374"/>
                  <a:pt x="270684" y="177252"/>
                  <a:pt x="261258" y="173233"/>
                </a:cubicBezTo>
                <a:lnTo>
                  <a:pt x="201262" y="147521"/>
                </a:lnTo>
                <a:lnTo>
                  <a:pt x="201312" y="147414"/>
                </a:lnTo>
                <a:moveTo>
                  <a:pt x="236505" y="248553"/>
                </a:moveTo>
                <a:cubicBezTo>
                  <a:pt x="120957" y="246680"/>
                  <a:pt x="27586" y="153306"/>
                  <a:pt x="25765" y="37760"/>
                </a:cubicBezTo>
                <a:lnTo>
                  <a:pt x="78904" y="26351"/>
                </a:lnTo>
                <a:lnTo>
                  <a:pt x="101939" y="80134"/>
                </a:lnTo>
                <a:lnTo>
                  <a:pt x="82708" y="95883"/>
                </a:lnTo>
                <a:cubicBezTo>
                  <a:pt x="72958" y="103866"/>
                  <a:pt x="70440" y="117738"/>
                  <a:pt x="76762" y="128667"/>
                </a:cubicBezTo>
                <a:cubicBezTo>
                  <a:pt x="93314" y="157218"/>
                  <a:pt x="117098" y="181005"/>
                  <a:pt x="145652" y="197557"/>
                </a:cubicBezTo>
                <a:cubicBezTo>
                  <a:pt x="156579" y="203877"/>
                  <a:pt x="170454" y="201359"/>
                  <a:pt x="178435" y="191610"/>
                </a:cubicBezTo>
                <a:lnTo>
                  <a:pt x="194183" y="172377"/>
                </a:lnTo>
                <a:lnTo>
                  <a:pt x="247967" y="195412"/>
                </a:lnTo>
                <a:lnTo>
                  <a:pt x="236505" y="248553"/>
                </a:lnTo>
                <a:moveTo>
                  <a:pt x="25712" y="34279"/>
                </a:move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55456" y="1707688"/>
            <a:ext cx="274320" cy="205740"/>
          </a:xfrm>
          <a:custGeom>
            <a:avLst/>
            <a:gdLst/>
            <a:ahLst/>
            <a:cxnLst/>
            <a:rect l="l" t="t" r="r" b="b"/>
            <a:pathLst>
              <a:path w="274320" h="205740">
                <a:moveTo>
                  <a:pt x="34290" y="25718"/>
                </a:moveTo>
                <a:cubicBezTo>
                  <a:pt x="29574" y="25718"/>
                  <a:pt x="25718" y="29575"/>
                  <a:pt x="25718" y="34291"/>
                </a:cubicBezTo>
                <a:lnTo>
                  <a:pt x="25718" y="46131"/>
                </a:lnTo>
                <a:lnTo>
                  <a:pt x="118139" y="121998"/>
                </a:lnTo>
                <a:cubicBezTo>
                  <a:pt x="129229" y="131106"/>
                  <a:pt x="145143" y="131106"/>
                  <a:pt x="156234" y="121998"/>
                </a:cubicBezTo>
                <a:lnTo>
                  <a:pt x="248603" y="46131"/>
                </a:lnTo>
                <a:lnTo>
                  <a:pt x="248603" y="34291"/>
                </a:lnTo>
                <a:cubicBezTo>
                  <a:pt x="248603" y="29575"/>
                  <a:pt x="244746" y="25717"/>
                  <a:pt x="240030" y="25717"/>
                </a:cubicBezTo>
                <a:lnTo>
                  <a:pt x="34290" y="25718"/>
                </a:lnTo>
                <a:moveTo>
                  <a:pt x="25718" y="79403"/>
                </a:moveTo>
                <a:lnTo>
                  <a:pt x="25718" y="171451"/>
                </a:lnTo>
                <a:cubicBezTo>
                  <a:pt x="25718" y="176167"/>
                  <a:pt x="29574" y="180025"/>
                  <a:pt x="34290" y="180025"/>
                </a:cubicBezTo>
                <a:lnTo>
                  <a:pt x="240030" y="180025"/>
                </a:lnTo>
                <a:cubicBezTo>
                  <a:pt x="244746" y="180025"/>
                  <a:pt x="248603" y="176167"/>
                  <a:pt x="248603" y="171451"/>
                </a:cubicBezTo>
                <a:lnTo>
                  <a:pt x="248603" y="79403"/>
                </a:lnTo>
                <a:lnTo>
                  <a:pt x="172523" y="141876"/>
                </a:lnTo>
                <a:cubicBezTo>
                  <a:pt x="151949" y="158753"/>
                  <a:pt x="122319" y="158753"/>
                  <a:pt x="101800" y="141876"/>
                </a:cubicBezTo>
                <a:lnTo>
                  <a:pt x="25718" y="79403"/>
                </a:lnTo>
                <a:moveTo>
                  <a:pt x="0" y="34291"/>
                </a:moveTo>
                <a:cubicBezTo>
                  <a:pt x="0" y="15377"/>
                  <a:pt x="15376" y="0"/>
                  <a:pt x="34290" y="0"/>
                </a:cubicBezTo>
                <a:lnTo>
                  <a:pt x="240030" y="0"/>
                </a:lnTo>
                <a:cubicBezTo>
                  <a:pt x="258944" y="0"/>
                  <a:pt x="274320" y="15377"/>
                  <a:pt x="274320" y="34291"/>
                </a:cubicBezTo>
                <a:lnTo>
                  <a:pt x="274320" y="171451"/>
                </a:lnTo>
                <a:cubicBezTo>
                  <a:pt x="274320" y="190365"/>
                  <a:pt x="258944" y="205742"/>
                  <a:pt x="240030" y="205742"/>
                </a:cubicBezTo>
                <a:lnTo>
                  <a:pt x="34290" y="205742"/>
                </a:lnTo>
                <a:cubicBezTo>
                  <a:pt x="15376" y="205742"/>
                  <a:pt x="0" y="190365"/>
                  <a:pt x="0" y="171451"/>
                </a:cubicBezTo>
                <a:lnTo>
                  <a:pt x="0" y="34291"/>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Multi-Modal Attack Coordination</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If the target hesitates, AI-generated text messages from supposed colleagues are sent to reinforce the legitimacy of the request and maintain social proof, increasing pressure to comply.</a:t>
            </a:r>
            <a:endParaRPr lang="en-US" sz="159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Text Message Backup</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Criminals provide AI-generated contracts, invoices, or authorization forms that support the fraudulent request, creating a cohesive narrative across multiple channels.</a:t>
            </a:r>
            <a:endParaRPr lang="en-US" sz="1595"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Follow-Up Documentation</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Using AI voice cloning, attackers make phone calls impersonating trusted executives, referencing prior emails to enhance credibility and urgency of the request.</a:t>
            </a:r>
            <a:endParaRPr lang="en-US" sz="159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Voice Calls</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Attackers send AI-generated emails tailored with detailed knowledge about the target to prepare recipients for upcoming communications, building initial trust through personalized content and plausible scenarios.</a:t>
            </a:r>
            <a:endParaRPr lang="en-US" sz="1595"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Email Primer</a:t>
            </a:r>
            <a:endParaRPr lang="en-US" sz="16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9" name="Text 7"/>
          <p:cNvSpPr/>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Connecting to Our Case</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443"/>
              </a:spcBef>
              <a:buNone/>
            </a:pPr>
            <a:r>
              <a:rPr lang="en-US" sz="1876" dirty="0">
                <a:solidFill>
                  <a:srgbClr val="FFFFFF"/>
                </a:solidFill>
                <a:latin typeface="Figtree Regular" pitchFamily="34" charset="0"/>
                <a:ea typeface="Figtree Regular" pitchFamily="34" charset="-122"/>
                <a:cs typeface="Figtree Regular" pitchFamily="34" charset="-120"/>
              </a:rPr>
              <a:t>The criminals leveraged AI to understand and mimic context, producing communication that aligned with real colleagues, projects, and deadlines. This built trust through familiarity, making the victim less suspicious and more likely to comply with the fraudulent instructions.</a:t>
            </a:r>
            <a:endParaRPr lang="en-US" sz="1876"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Context and Trust</a:t>
            </a:r>
            <a:endParaRPr lang="en-US" sz="2320"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443"/>
              </a:spcBef>
              <a:buNone/>
            </a:pPr>
            <a:r>
              <a:rPr lang="en-US" sz="1876" dirty="0">
                <a:solidFill>
                  <a:srgbClr val="FFFFFF"/>
                </a:solidFill>
                <a:latin typeface="Figtree Regular" pitchFamily="34" charset="0"/>
                <a:ea typeface="Figtree Regular" pitchFamily="34" charset="-122"/>
                <a:cs typeface="Figtree Regular" pitchFamily="34" charset="-120"/>
              </a:rPr>
              <a:t>The success of the deepfake CEO fraud relied not just on the convincing AI voice cloning, but also on the request being plausible and routine. The criminals asked for a routine business transaction, with a believable explanation and appropriate urgency that matched the victim's expectations of normal international business operations.</a:t>
            </a:r>
            <a:endParaRPr lang="en-US" sz="1876"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Plausible Requests</a:t>
            </a:r>
            <a:endParaRPr lang="en-US" sz="2320"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6" y="1638508"/>
            <a:ext cx="6604005" cy="4305530"/>
          </a:xfrm>
          <a:custGeom>
            <a:avLst/>
            <a:gdLst/>
            <a:ahLst/>
            <a:cxnLst/>
            <a:rect l="l" t="t" r="r" b="b"/>
            <a:pathLst>
              <a:path w="6604005" h="4305530">
                <a:moveTo>
                  <a:pt x="198847" y="4305530"/>
                </a:moveTo>
                <a:cubicBezTo>
                  <a:pt x="89022" y="4305530"/>
                  <a:pt x="0" y="4216492"/>
                  <a:pt x="0" y="4106658"/>
                </a:cubicBezTo>
                <a:lnTo>
                  <a:pt x="0" y="198872"/>
                </a:lnTo>
                <a:cubicBezTo>
                  <a:pt x="0" y="89038"/>
                  <a:pt x="89022" y="0"/>
                  <a:pt x="198847" y="0"/>
                </a:cubicBezTo>
                <a:lnTo>
                  <a:pt x="6405092" y="0"/>
                </a:lnTo>
                <a:cubicBezTo>
                  <a:pt x="6514917" y="0"/>
                  <a:pt x="6603939" y="89038"/>
                  <a:pt x="6603939" y="198872"/>
                </a:cubicBezTo>
                <a:lnTo>
                  <a:pt x="6603939" y="4106658"/>
                </a:lnTo>
                <a:cubicBezTo>
                  <a:pt x="6603939" y="4216492"/>
                  <a:pt x="6514917" y="4305530"/>
                  <a:pt x="6405092" y="4305530"/>
                </a:cubicBezTo>
                <a:lnTo>
                  <a:pt x="198847" y="430553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7573818" y="1638508"/>
            <a:ext cx="4110183" cy="4305530"/>
          </a:xfrm>
          <a:custGeom>
            <a:avLst/>
            <a:gdLst/>
            <a:ahLst/>
            <a:cxnLst/>
            <a:rect l="l" t="t" r="r" b="b"/>
            <a:pathLst>
              <a:path w="4110183" h="4305530">
                <a:moveTo>
                  <a:pt x="281835" y="4305530"/>
                </a:moveTo>
                <a:cubicBezTo>
                  <a:pt x="126183" y="4305530"/>
                  <a:pt x="0" y="4179335"/>
                  <a:pt x="0" y="4023690"/>
                </a:cubicBezTo>
                <a:lnTo>
                  <a:pt x="0" y="281840"/>
                </a:lnTo>
                <a:cubicBezTo>
                  <a:pt x="0" y="126195"/>
                  <a:pt x="126183" y="0"/>
                  <a:pt x="281835" y="0"/>
                </a:cubicBezTo>
                <a:lnTo>
                  <a:pt x="3828348" y="0"/>
                </a:lnTo>
                <a:cubicBezTo>
                  <a:pt x="3984000" y="0"/>
                  <a:pt x="4110183" y="126195"/>
                  <a:pt x="4110183" y="281840"/>
                </a:cubicBezTo>
                <a:lnTo>
                  <a:pt x="4110183" y="4023690"/>
                </a:lnTo>
                <a:cubicBezTo>
                  <a:pt x="4110183" y="4179335"/>
                  <a:pt x="3984000" y="4305530"/>
                  <a:pt x="3828348" y="4305530"/>
                </a:cubicBezTo>
                <a:lnTo>
                  <a:pt x="281835" y="4305530"/>
                </a:lnTo>
              </a:path>
            </a:pathLst>
          </a:custGeom>
          <a:solidFill>
            <a:srgbClr val="000000">
              <a:alpha val="2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6" name="Text 4"/>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7" name="Text 5"/>
          <p:cNvSpPr/>
          <p:nvPr/>
        </p:nvSpPr>
        <p:spPr>
          <a:xfrm>
            <a:off x="7881851" y="1962473"/>
            <a:ext cx="3494117" cy="3657600"/>
          </a:xfrm>
          <a:custGeom>
            <a:avLst/>
            <a:gdLst/>
            <a:ahLst/>
            <a:cxnLst/>
            <a:rect l="l" t="t" r="r" b="b"/>
            <a:pathLst>
              <a:path w="3494117" h="3657600">
                <a:moveTo>
                  <a:pt x="83614" y="3657600"/>
                </a:moveTo>
                <a:cubicBezTo>
                  <a:pt x="37422" y="3657600"/>
                  <a:pt x="0" y="3620183"/>
                  <a:pt x="0" y="3573987"/>
                </a:cubicBezTo>
                <a:lnTo>
                  <a:pt x="0" y="83613"/>
                </a:lnTo>
                <a:cubicBezTo>
                  <a:pt x="0" y="37417"/>
                  <a:pt x="37422" y="0"/>
                  <a:pt x="83614" y="0"/>
                </a:cubicBezTo>
                <a:lnTo>
                  <a:pt x="3410503" y="0"/>
                </a:lnTo>
                <a:cubicBezTo>
                  <a:pt x="3456695" y="0"/>
                  <a:pt x="3494117" y="37417"/>
                  <a:pt x="3494117" y="83613"/>
                </a:cubicBezTo>
                <a:lnTo>
                  <a:pt x="3494117" y="3573987"/>
                </a:lnTo>
                <a:cubicBezTo>
                  <a:pt x="3494117" y="3620183"/>
                  <a:pt x="3456695" y="3657600"/>
                  <a:pt x="3410503" y="3657600"/>
                </a:cubicBezTo>
                <a:lnTo>
                  <a:pt x="83614" y="3657600"/>
                </a:lnTo>
              </a:path>
            </a:pathLst>
          </a:custGeom>
          <a:blipFill>
            <a:blip r:embed="rId1"/>
            <a:srcRect/>
            <a:stretch>
              <a:fillRect l="0" r="0" t="22706" b="22706"/>
            </a:stretch>
          </a:blipFill>
          <a:ln/>
        </p:spPr>
        <p:txBody>
          <a:bodyPr wrap="square" lIns="0" tIns="0" rIns="0" bIns="0" rtlCol="0" anchor="ctr"/>
          <a:lstStyle/>
          <a:p>
            <a:pPr indent="0" marL="0">
              <a:buNone/>
            </a:pPr>
            <a:endParaRPr lang="en-US" dirty="0"/>
          </a:p>
        </p:txBody>
      </p:sp>
      <p:sp>
        <p:nvSpPr>
          <p:cNvPr id="8" name="Text 6"/>
          <p:cNvSpPr/>
          <p:nvPr/>
        </p:nvSpPr>
        <p:spPr>
          <a:xfrm>
            <a:off x="811874" y="2593549"/>
            <a:ext cx="5925027" cy="3026524"/>
          </a:xfrm>
          <a:prstGeom prst="rect">
            <a:avLst/>
          </a:prstGeom>
          <a:noFill/>
          <a:ln/>
        </p:spPr>
        <p:txBody>
          <a:bodyPr wrap="square" lIns="0" tIns="0" rIns="0" bIns="0" rtlCol="0" anchor="t"/>
          <a:lstStyle/>
          <a:p>
            <a:pPr algn="l" marL="0" indent="0">
              <a:lnSpc>
                <a:spcPct val="100000"/>
              </a:lnSpc>
              <a:spcBef>
                <a:spcPts val="1417"/>
              </a:spcBef>
              <a:buNone/>
            </a:pPr>
            <a:r>
              <a:rPr lang="en-US" sz="1984" dirty="0">
                <a:solidFill>
                  <a:srgbClr val="FFFFFF"/>
                </a:solidFill>
                <a:latin typeface="Figtree Regular" pitchFamily="34" charset="0"/>
                <a:ea typeface="Figtree Regular" pitchFamily="34" charset="-122"/>
                <a:cs typeface="Figtree Regular" pitchFamily="34" charset="-120"/>
              </a:rPr>
              <a:t>Beyond Voice: The Full Spectrum of Synthetic Media</a:t>
            </a:r>
            <a:endParaRPr lang="en-US" sz="1984" dirty="0"/>
          </a:p>
          <a:p>
            <a:pPr algn="l" marL="142875" indent="0">
              <a:lnSpc>
                <a:spcPct val="100000"/>
              </a:lnSpc>
              <a:spcBef>
                <a:spcPts val="1417"/>
              </a:spcBef>
              <a:buNone/>
            </a:pPr>
            <a:r>
              <a:rPr lang="en-US" sz="1686" dirty="0">
                <a:solidFill>
                  <a:srgbClr val="FFFFFF"/>
                </a:solidFill>
                <a:latin typeface="Figtree Regular" pitchFamily="34" charset="0"/>
                <a:ea typeface="Figtree Regular" pitchFamily="34" charset="-122"/>
                <a:cs typeface="Figtree Regular" pitchFamily="34" charset="-120"/>
              </a:rPr>
              <a:t>Deepfake technology has advanced from cloning voices to creating entire synthetic video personas. Criminals now synthesize faces, facial expressions, and movements, enabling them to impersonate individuals convincingly in video calls. These synthetic digital puppets can appear in real-time, respond with natural expressions, and maintain the illusion of genuine interaction. This evolution escalates the risk of fraud by making visual and audio cues—once trusted indicators of authenticity—unreliable, profoundly impacting social engineering attacks.</a:t>
            </a:r>
            <a:endParaRPr lang="en-US" sz="1984" dirty="0"/>
          </a:p>
        </p:txBody>
      </p:sp>
      <p:sp>
        <p:nvSpPr>
          <p:cNvPr id="9" name="Text 7"/>
          <p:cNvSpPr/>
          <p:nvPr/>
        </p:nvSpPr>
        <p:spPr>
          <a:xfrm>
            <a:off x="811875" y="1975806"/>
            <a:ext cx="457200" cy="400050"/>
          </a:xfrm>
          <a:custGeom>
            <a:avLst/>
            <a:gdLst/>
            <a:ahLst/>
            <a:cxnLst/>
            <a:rect l="l" t="t" r="r" b="b"/>
            <a:pathLst>
              <a:path w="457200" h="400050">
                <a:moveTo>
                  <a:pt x="177791" y="0"/>
                </a:moveTo>
                <a:cubicBezTo>
                  <a:pt x="156271" y="0"/>
                  <a:pt x="137160" y="13750"/>
                  <a:pt x="130375" y="34200"/>
                </a:cubicBezTo>
                <a:lnTo>
                  <a:pt x="150734" y="40985"/>
                </a:lnTo>
                <a:lnTo>
                  <a:pt x="130375" y="34200"/>
                </a:lnTo>
                <a:lnTo>
                  <a:pt x="122694" y="57151"/>
                </a:lnTo>
                <a:lnTo>
                  <a:pt x="57150" y="57151"/>
                </a:lnTo>
                <a:cubicBezTo>
                  <a:pt x="25626" y="57151"/>
                  <a:pt x="0" y="82778"/>
                  <a:pt x="0" y="114302"/>
                </a:cubicBezTo>
                <a:lnTo>
                  <a:pt x="0" y="342903"/>
                </a:lnTo>
                <a:cubicBezTo>
                  <a:pt x="0" y="374423"/>
                  <a:pt x="25626" y="400054"/>
                  <a:pt x="57150" y="400054"/>
                </a:cubicBezTo>
                <a:lnTo>
                  <a:pt x="400050" y="400054"/>
                </a:lnTo>
                <a:cubicBezTo>
                  <a:pt x="431574" y="400054"/>
                  <a:pt x="457200" y="374427"/>
                  <a:pt x="457200" y="342903"/>
                </a:cubicBezTo>
                <a:lnTo>
                  <a:pt x="457200" y="114302"/>
                </a:lnTo>
                <a:cubicBezTo>
                  <a:pt x="457200" y="82782"/>
                  <a:pt x="431574" y="57151"/>
                  <a:pt x="400050" y="57151"/>
                </a:cubicBezTo>
                <a:lnTo>
                  <a:pt x="334506" y="57151"/>
                </a:lnTo>
                <a:lnTo>
                  <a:pt x="326825" y="34200"/>
                </a:lnTo>
                <a:cubicBezTo>
                  <a:pt x="320040" y="13750"/>
                  <a:pt x="300929" y="0"/>
                  <a:pt x="279409" y="0"/>
                </a:cubicBezTo>
                <a:lnTo>
                  <a:pt x="177791" y="0"/>
                </a:lnTo>
                <a:moveTo>
                  <a:pt x="171002" y="47774"/>
                </a:moveTo>
                <a:cubicBezTo>
                  <a:pt x="171985" y="44826"/>
                  <a:pt x="174664" y="42861"/>
                  <a:pt x="177787" y="42861"/>
                </a:cubicBezTo>
                <a:lnTo>
                  <a:pt x="279496" y="42861"/>
                </a:lnTo>
                <a:cubicBezTo>
                  <a:pt x="282531" y="42861"/>
                  <a:pt x="285302" y="44826"/>
                  <a:pt x="286280" y="47774"/>
                </a:cubicBezTo>
                <a:lnTo>
                  <a:pt x="298780" y="85367"/>
                </a:lnTo>
                <a:cubicBezTo>
                  <a:pt x="301729" y="94120"/>
                  <a:pt x="309854" y="100013"/>
                  <a:pt x="319139" y="100013"/>
                </a:cubicBezTo>
                <a:lnTo>
                  <a:pt x="400132" y="100013"/>
                </a:lnTo>
                <a:cubicBezTo>
                  <a:pt x="407992" y="100013"/>
                  <a:pt x="414420" y="106441"/>
                  <a:pt x="414420" y="114298"/>
                </a:cubicBezTo>
                <a:lnTo>
                  <a:pt x="414420" y="342899"/>
                </a:lnTo>
                <a:cubicBezTo>
                  <a:pt x="414420" y="350756"/>
                  <a:pt x="407992" y="357185"/>
                  <a:pt x="400132" y="357185"/>
                </a:cubicBezTo>
                <a:lnTo>
                  <a:pt x="57141" y="357185"/>
                </a:lnTo>
                <a:cubicBezTo>
                  <a:pt x="49282" y="357185"/>
                  <a:pt x="42853" y="350756"/>
                  <a:pt x="42853" y="342899"/>
                </a:cubicBezTo>
                <a:lnTo>
                  <a:pt x="42853" y="114298"/>
                </a:lnTo>
                <a:cubicBezTo>
                  <a:pt x="42853" y="106441"/>
                  <a:pt x="49282" y="100013"/>
                  <a:pt x="57141" y="100013"/>
                </a:cubicBezTo>
                <a:lnTo>
                  <a:pt x="138134" y="100013"/>
                </a:lnTo>
                <a:cubicBezTo>
                  <a:pt x="147333" y="100013"/>
                  <a:pt x="155549" y="94120"/>
                  <a:pt x="158493" y="85367"/>
                </a:cubicBezTo>
                <a:lnTo>
                  <a:pt x="171002" y="47774"/>
                </a:lnTo>
                <a:moveTo>
                  <a:pt x="228600" y="328613"/>
                </a:moveTo>
                <a:cubicBezTo>
                  <a:pt x="283834" y="328613"/>
                  <a:pt x="328613" y="283835"/>
                  <a:pt x="328613" y="228601"/>
                </a:cubicBezTo>
                <a:cubicBezTo>
                  <a:pt x="328613" y="173366"/>
                  <a:pt x="283834" y="128588"/>
                  <a:pt x="228600" y="128588"/>
                </a:cubicBezTo>
                <a:cubicBezTo>
                  <a:pt x="173366" y="128588"/>
                  <a:pt x="128588" y="173366"/>
                  <a:pt x="128588" y="228601"/>
                </a:cubicBezTo>
                <a:cubicBezTo>
                  <a:pt x="128588" y="283835"/>
                  <a:pt x="173366" y="328613"/>
                  <a:pt x="228600" y="328613"/>
                </a:cubicBezTo>
                <a:moveTo>
                  <a:pt x="171450" y="228601"/>
                </a:moveTo>
                <a:cubicBezTo>
                  <a:pt x="171450" y="197037"/>
                  <a:pt x="197035" y="171449"/>
                  <a:pt x="228600" y="171449"/>
                </a:cubicBezTo>
                <a:cubicBezTo>
                  <a:pt x="260165" y="171449"/>
                  <a:pt x="285750" y="197037"/>
                  <a:pt x="285750" y="228601"/>
                </a:cubicBezTo>
                <a:cubicBezTo>
                  <a:pt x="285750" y="260165"/>
                  <a:pt x="260165" y="285752"/>
                  <a:pt x="228600" y="285752"/>
                </a:cubicBezTo>
                <a:cubicBezTo>
                  <a:pt x="197035" y="285752"/>
                  <a:pt x="171450" y="260165"/>
                  <a:pt x="171450" y="228601"/>
                </a:cubicBezTo>
              </a:path>
            </a:pathLst>
          </a:custGeom>
          <a:solidFill>
            <a:srgbClr val="FFFFFF"/>
          </a:solidFill>
          <a:ln/>
        </p:spPr>
        <p:txBody>
          <a:bodyPr wrap="square" lIns="0" tIns="0" rIns="0" bIns="0" rtlCol="0" anchor="ctr"/>
          <a:lstStyle/>
          <a:p>
            <a:pPr indent="0" marL="0">
              <a:buNone/>
            </a:pPr>
            <a:endParaRPr lang="en-US" dirty="0"/>
          </a:p>
        </p:txBody>
      </p:sp>
      <p:sp>
        <p:nvSpPr>
          <p:cNvPr id="10" name="Text 8"/>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1" name="Text 9"/>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2" name="Text 10"/>
          <p:cNvSpPr/>
          <p:nvPr/>
        </p:nvSpPr>
        <p:spPr>
          <a:xfrm>
            <a:off x="505463" y="289560"/>
            <a:ext cx="111785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Deepfakes in Social Engineering: Beyond Voice</a:t>
            </a:r>
            <a:endParaRPr lang="en-US" sz="2800" dirty="0"/>
          </a:p>
        </p:txBody>
      </p:sp>
      <p:sp>
        <p:nvSpPr>
          <p:cNvPr id="13" name="Text 1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Publicly available audio from presentations, media interviews, and online videos provides abundant data for criminals to train voice synthesis software, lowering the barrier to creating convincing digital impersonations.</a:t>
            </a:r>
            <a:endParaRPr lang="en-US" sz="1615"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Ease of Access</a:t>
            </a:r>
            <a:endParaRPr lang="en-US" sz="1797"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Using extracted features, the AI generates new speech in the cloned voice, capable of producing any desired content that sounds indistinguishable from the original speaker.</a:t>
            </a:r>
            <a:endParaRPr lang="en-US" sz="1615"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Synthetic Speech Generation</a:t>
            </a:r>
            <a:endParaRPr lang="en-US" sz="1797"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Regional and personal speech characteristics like accents and pronunciation are carefully examined to replicate the distinct manner in which a person speaks, including their pauses and emphasis.</a:t>
            </a:r>
            <a:endParaRPr lang="en-US" sz="1615"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Accent and Pronunciation</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The AI analyzes multiple acoustic characteristics including pitch, tone, rhythm, stress, intonation patterns, and the unique voice quality known as timbre to create a detailed voice profile.</a:t>
            </a:r>
            <a:endParaRPr lang="en-US" sz="1615"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Acoustic Feature Analysis</a:t>
            </a:r>
            <a:endParaRPr lang="en-US" sz="1797"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346"/>
              </a:spcBef>
              <a:buNone/>
            </a:pPr>
            <a:r>
              <a:rPr lang="en-US" sz="1615" dirty="0">
                <a:solidFill>
                  <a:srgbClr val="FFFFFF"/>
                </a:solidFill>
                <a:latin typeface="Figtree Regular" pitchFamily="34" charset="0"/>
                <a:ea typeface="Figtree Regular" pitchFamily="34" charset="-122"/>
                <a:cs typeface="Figtree Regular" pitchFamily="34" charset="-120"/>
              </a:rPr>
              <a:t>Modern voice cloning technology requires surprisingly little source material. Some systems can generate convincing synthetic speech from just three seconds of audio, making it easy to acquire samples from public sources.</a:t>
            </a:r>
            <a:endParaRPr lang="en-US" sz="1615"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Minimal Audio Samples</a:t>
            </a:r>
            <a:endParaRPr lang="en-US" sz="1797"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Voice Cloning: The Technology Behind the Crime</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28" name="Text 26"/>
          <p:cNvSpPr/>
          <p:nvPr/>
        </p:nvSpPr>
        <p:spPr>
          <a:xfrm>
            <a:off x="9762515" y="1698217"/>
            <a:ext cx="182880" cy="162560"/>
          </a:xfrm>
          <a:custGeom>
            <a:avLst/>
            <a:gdLst/>
            <a:ahLst/>
            <a:cxnLst/>
            <a:rect l="l" t="t" r="r" b="b"/>
            <a:pathLst>
              <a:path w="182880" h="162560">
                <a:moveTo>
                  <a:pt x="63055" y="33624"/>
                </a:moveTo>
                <a:cubicBezTo>
                  <a:pt x="59911" y="36418"/>
                  <a:pt x="55085" y="36100"/>
                  <a:pt x="52293" y="32957"/>
                </a:cubicBezTo>
                <a:cubicBezTo>
                  <a:pt x="49498" y="29814"/>
                  <a:pt x="49817" y="24989"/>
                  <a:pt x="52960" y="22194"/>
                </a:cubicBezTo>
                <a:cubicBezTo>
                  <a:pt x="68644" y="8383"/>
                  <a:pt x="89251" y="2"/>
                  <a:pt x="111762" y="2"/>
                </a:cubicBezTo>
                <a:cubicBezTo>
                  <a:pt x="134272" y="2"/>
                  <a:pt x="154877" y="8383"/>
                  <a:pt x="170530" y="22194"/>
                </a:cubicBezTo>
                <a:cubicBezTo>
                  <a:pt x="173674" y="24989"/>
                  <a:pt x="173990" y="29783"/>
                  <a:pt x="171198" y="32957"/>
                </a:cubicBezTo>
                <a:cubicBezTo>
                  <a:pt x="168403" y="36132"/>
                  <a:pt x="163610" y="36418"/>
                  <a:pt x="160435" y="33624"/>
                </a:cubicBezTo>
                <a:cubicBezTo>
                  <a:pt x="147482" y="22162"/>
                  <a:pt x="130432" y="15240"/>
                  <a:pt x="111762" y="15240"/>
                </a:cubicBezTo>
                <a:cubicBezTo>
                  <a:pt x="93093" y="15240"/>
                  <a:pt x="76043" y="22162"/>
                  <a:pt x="63057" y="33624"/>
                </a:cubicBezTo>
                <a:lnTo>
                  <a:pt x="63055" y="33624"/>
                </a:lnTo>
                <a:moveTo>
                  <a:pt x="20320" y="111760"/>
                </a:moveTo>
                <a:cubicBezTo>
                  <a:pt x="17525" y="111760"/>
                  <a:pt x="15239" y="114046"/>
                  <a:pt x="15239" y="116840"/>
                </a:cubicBezTo>
                <a:lnTo>
                  <a:pt x="15239" y="142240"/>
                </a:lnTo>
                <a:cubicBezTo>
                  <a:pt x="15239" y="145034"/>
                  <a:pt x="17525" y="147320"/>
                  <a:pt x="20320" y="147320"/>
                </a:cubicBezTo>
                <a:lnTo>
                  <a:pt x="162560" y="147320"/>
                </a:lnTo>
                <a:cubicBezTo>
                  <a:pt x="165355" y="147320"/>
                  <a:pt x="167641" y="145034"/>
                  <a:pt x="167641" y="142240"/>
                </a:cubicBezTo>
                <a:lnTo>
                  <a:pt x="167641" y="116840"/>
                </a:lnTo>
                <a:cubicBezTo>
                  <a:pt x="167641" y="114045"/>
                  <a:pt x="165355" y="111760"/>
                  <a:pt x="162560" y="111760"/>
                </a:cubicBezTo>
                <a:lnTo>
                  <a:pt x="20320" y="111760"/>
                </a:lnTo>
                <a:moveTo>
                  <a:pt x="0" y="116840"/>
                </a:moveTo>
                <a:cubicBezTo>
                  <a:pt x="0" y="105631"/>
                  <a:pt x="9113" y="96520"/>
                  <a:pt x="20320" y="96520"/>
                </a:cubicBezTo>
                <a:lnTo>
                  <a:pt x="104139" y="96520"/>
                </a:lnTo>
                <a:lnTo>
                  <a:pt x="104139" y="78741"/>
                </a:lnTo>
                <a:cubicBezTo>
                  <a:pt x="104139" y="74518"/>
                  <a:pt x="107537" y="71122"/>
                  <a:pt x="111760" y="71122"/>
                </a:cubicBezTo>
                <a:cubicBezTo>
                  <a:pt x="115982" y="71122"/>
                  <a:pt x="119380" y="74519"/>
                  <a:pt x="119380" y="78743"/>
                </a:cubicBezTo>
                <a:lnTo>
                  <a:pt x="119380" y="96523"/>
                </a:lnTo>
                <a:lnTo>
                  <a:pt x="162560" y="96523"/>
                </a:lnTo>
                <a:cubicBezTo>
                  <a:pt x="173767" y="96523"/>
                  <a:pt x="182880" y="105635"/>
                  <a:pt x="182880" y="116843"/>
                </a:cubicBezTo>
                <a:lnTo>
                  <a:pt x="182880" y="142243"/>
                </a:lnTo>
                <a:cubicBezTo>
                  <a:pt x="182880" y="153452"/>
                  <a:pt x="173767" y="162563"/>
                  <a:pt x="162560" y="162563"/>
                </a:cubicBezTo>
                <a:lnTo>
                  <a:pt x="20320" y="162563"/>
                </a:lnTo>
                <a:cubicBezTo>
                  <a:pt x="9113" y="162563"/>
                  <a:pt x="0" y="153452"/>
                  <a:pt x="0" y="142243"/>
                </a:cubicBezTo>
                <a:lnTo>
                  <a:pt x="0" y="116840"/>
                </a:lnTo>
                <a:moveTo>
                  <a:pt x="33021" y="121920"/>
                </a:moveTo>
                <a:cubicBezTo>
                  <a:pt x="37229" y="121920"/>
                  <a:pt x="40641" y="125332"/>
                  <a:pt x="40641" y="129541"/>
                </a:cubicBezTo>
                <a:cubicBezTo>
                  <a:pt x="40641" y="133750"/>
                  <a:pt x="37231" y="137162"/>
                  <a:pt x="33021" y="137162"/>
                </a:cubicBezTo>
                <a:cubicBezTo>
                  <a:pt x="28813" y="137162"/>
                  <a:pt x="25400" y="133750"/>
                  <a:pt x="25400" y="129543"/>
                </a:cubicBezTo>
                <a:cubicBezTo>
                  <a:pt x="25400" y="125334"/>
                  <a:pt x="28811" y="121923"/>
                  <a:pt x="33021" y="121923"/>
                </a:cubicBezTo>
                <a:lnTo>
                  <a:pt x="33021" y="121920"/>
                </a:lnTo>
                <a:moveTo>
                  <a:pt x="50800" y="129541"/>
                </a:moveTo>
                <a:cubicBezTo>
                  <a:pt x="50800" y="125332"/>
                  <a:pt x="54211" y="121922"/>
                  <a:pt x="58421" y="121922"/>
                </a:cubicBezTo>
                <a:cubicBezTo>
                  <a:pt x="62629" y="121922"/>
                  <a:pt x="66042" y="125334"/>
                  <a:pt x="66042" y="129543"/>
                </a:cubicBezTo>
                <a:cubicBezTo>
                  <a:pt x="66042" y="133751"/>
                  <a:pt x="62631" y="137163"/>
                  <a:pt x="58421" y="137163"/>
                </a:cubicBezTo>
                <a:cubicBezTo>
                  <a:pt x="54213" y="137163"/>
                  <a:pt x="50800" y="133751"/>
                  <a:pt x="50800" y="129544"/>
                </a:cubicBezTo>
                <a:lnTo>
                  <a:pt x="50800" y="129541"/>
                </a:lnTo>
                <a:moveTo>
                  <a:pt x="111760" y="50800"/>
                </a:moveTo>
                <a:cubicBezTo>
                  <a:pt x="102680" y="50800"/>
                  <a:pt x="94330" y="53975"/>
                  <a:pt x="87788" y="59278"/>
                </a:cubicBezTo>
                <a:cubicBezTo>
                  <a:pt x="84518" y="61913"/>
                  <a:pt x="79723" y="61436"/>
                  <a:pt x="77056" y="58166"/>
                </a:cubicBezTo>
                <a:cubicBezTo>
                  <a:pt x="74390" y="54895"/>
                  <a:pt x="74897" y="50101"/>
                  <a:pt x="78168" y="47433"/>
                </a:cubicBezTo>
                <a:cubicBezTo>
                  <a:pt x="87376" y="40004"/>
                  <a:pt x="99061" y="35558"/>
                  <a:pt x="111760" y="35558"/>
                </a:cubicBezTo>
                <a:cubicBezTo>
                  <a:pt x="124459" y="35558"/>
                  <a:pt x="136143" y="40003"/>
                  <a:pt x="145320" y="47433"/>
                </a:cubicBezTo>
                <a:cubicBezTo>
                  <a:pt x="148590" y="50068"/>
                  <a:pt x="149098" y="54895"/>
                  <a:pt x="146432" y="58166"/>
                </a:cubicBezTo>
                <a:cubicBezTo>
                  <a:pt x="143766" y="61436"/>
                  <a:pt x="138971" y="61943"/>
                  <a:pt x="135701" y="59278"/>
                </a:cubicBezTo>
                <a:cubicBezTo>
                  <a:pt x="129192" y="53975"/>
                  <a:pt x="120842" y="50800"/>
                  <a:pt x="111762" y="50800"/>
                </a:cubicBezTo>
                <a:lnTo>
                  <a:pt x="111760" y="50800"/>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718988"/>
            <a:ext cx="182880" cy="142240"/>
          </a:xfrm>
          <a:custGeom>
            <a:avLst/>
            <a:gdLst/>
            <a:ahLst/>
            <a:cxnLst/>
            <a:rect l="l" t="t" r="r" b="b"/>
            <a:pathLst>
              <a:path w="182880" h="142240">
                <a:moveTo>
                  <a:pt x="175259" y="0"/>
                </a:moveTo>
                <a:cubicBezTo>
                  <a:pt x="171037" y="0"/>
                  <a:pt x="167639" y="3397"/>
                  <a:pt x="167639" y="7620"/>
                </a:cubicBezTo>
                <a:lnTo>
                  <a:pt x="167639" y="9429"/>
                </a:lnTo>
                <a:lnTo>
                  <a:pt x="15239" y="50990"/>
                </a:lnTo>
                <a:lnTo>
                  <a:pt x="15239" y="48259"/>
                </a:lnTo>
                <a:cubicBezTo>
                  <a:pt x="15239" y="44036"/>
                  <a:pt x="11841" y="40639"/>
                  <a:pt x="7619" y="40639"/>
                </a:cubicBezTo>
                <a:cubicBezTo>
                  <a:pt x="3396" y="40639"/>
                  <a:pt x="-2" y="44036"/>
                  <a:pt x="-2" y="48259"/>
                </a:cubicBezTo>
                <a:lnTo>
                  <a:pt x="-2" y="55149"/>
                </a:lnTo>
                <a:lnTo>
                  <a:pt x="-2" y="60960"/>
                </a:lnTo>
                <a:lnTo>
                  <a:pt x="-2" y="81280"/>
                </a:lnTo>
                <a:lnTo>
                  <a:pt x="-2" y="87091"/>
                </a:lnTo>
                <a:lnTo>
                  <a:pt x="-2" y="93981"/>
                </a:lnTo>
                <a:cubicBezTo>
                  <a:pt x="-2" y="98204"/>
                  <a:pt x="3396" y="101601"/>
                  <a:pt x="7619" y="101601"/>
                </a:cubicBezTo>
                <a:cubicBezTo>
                  <a:pt x="11842" y="101601"/>
                  <a:pt x="15239" y="98204"/>
                  <a:pt x="15239" y="93981"/>
                </a:cubicBezTo>
                <a:lnTo>
                  <a:pt x="15239" y="91250"/>
                </a:lnTo>
                <a:lnTo>
                  <a:pt x="52578" y="101441"/>
                </a:lnTo>
                <a:cubicBezTo>
                  <a:pt x="51435" y="104680"/>
                  <a:pt x="50800" y="108141"/>
                  <a:pt x="50800" y="111759"/>
                </a:cubicBezTo>
                <a:cubicBezTo>
                  <a:pt x="50800" y="128586"/>
                  <a:pt x="64452" y="142240"/>
                  <a:pt x="81281" y="142240"/>
                </a:cubicBezTo>
                <a:cubicBezTo>
                  <a:pt x="96171" y="142240"/>
                  <a:pt x="108587" y="131572"/>
                  <a:pt x="111222" y="117443"/>
                </a:cubicBezTo>
                <a:lnTo>
                  <a:pt x="167642" y="132811"/>
                </a:lnTo>
                <a:lnTo>
                  <a:pt x="167642" y="134620"/>
                </a:lnTo>
                <a:cubicBezTo>
                  <a:pt x="167642" y="138843"/>
                  <a:pt x="171040" y="142240"/>
                  <a:pt x="175263" y="142240"/>
                </a:cubicBezTo>
                <a:cubicBezTo>
                  <a:pt x="179486" y="142240"/>
                  <a:pt x="182884" y="138843"/>
                  <a:pt x="182884" y="134620"/>
                </a:cubicBezTo>
                <a:lnTo>
                  <a:pt x="182884" y="127000"/>
                </a:lnTo>
                <a:lnTo>
                  <a:pt x="182884" y="15241"/>
                </a:lnTo>
                <a:lnTo>
                  <a:pt x="182884" y="7621"/>
                </a:lnTo>
                <a:cubicBezTo>
                  <a:pt x="182884" y="3398"/>
                  <a:pt x="179486" y="1"/>
                  <a:pt x="175263" y="1"/>
                </a:cubicBezTo>
                <a:lnTo>
                  <a:pt x="175259" y="0"/>
                </a:lnTo>
                <a:moveTo>
                  <a:pt x="167641" y="117031"/>
                </a:moveTo>
                <a:lnTo>
                  <a:pt x="15241" y="75470"/>
                </a:lnTo>
                <a:lnTo>
                  <a:pt x="15241" y="66802"/>
                </a:lnTo>
                <a:lnTo>
                  <a:pt x="167641" y="25209"/>
                </a:lnTo>
                <a:lnTo>
                  <a:pt x="167641" y="117031"/>
                </a:lnTo>
                <a:moveTo>
                  <a:pt x="66040" y="111759"/>
                </a:moveTo>
                <a:cubicBezTo>
                  <a:pt x="66040" y="109505"/>
                  <a:pt x="66515" y="107378"/>
                  <a:pt x="67406" y="105472"/>
                </a:cubicBezTo>
                <a:lnTo>
                  <a:pt x="96456" y="113378"/>
                </a:lnTo>
                <a:cubicBezTo>
                  <a:pt x="95632" y="121029"/>
                  <a:pt x="89154" y="126968"/>
                  <a:pt x="81312" y="126968"/>
                </a:cubicBezTo>
                <a:cubicBezTo>
                  <a:pt x="72898" y="126968"/>
                  <a:pt x="66073" y="120142"/>
                  <a:pt x="66073" y="111728"/>
                </a:cubicBezTo>
                <a:lnTo>
                  <a:pt x="66040" y="111759"/>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47356" y="1709279"/>
            <a:ext cx="182880" cy="182880"/>
          </a:xfrm>
          <a:custGeom>
            <a:avLst/>
            <a:gdLst/>
            <a:ahLst/>
            <a:cxnLst/>
            <a:rect l="l" t="t" r="r" b="b"/>
            <a:pathLst>
              <a:path w="182880" h="182880">
                <a:moveTo>
                  <a:pt x="91440" y="165735"/>
                </a:moveTo>
                <a:cubicBezTo>
                  <a:pt x="94083" y="165735"/>
                  <a:pt x="101083" y="163164"/>
                  <a:pt x="108442" y="148447"/>
                </a:cubicBezTo>
                <a:cubicBezTo>
                  <a:pt x="111586" y="142125"/>
                  <a:pt x="114300" y="134446"/>
                  <a:pt x="116301" y="125730"/>
                </a:cubicBezTo>
                <a:lnTo>
                  <a:pt x="66581" y="125730"/>
                </a:lnTo>
                <a:cubicBezTo>
                  <a:pt x="68582" y="134446"/>
                  <a:pt x="71296" y="142125"/>
                  <a:pt x="74439" y="148447"/>
                </a:cubicBezTo>
                <a:cubicBezTo>
                  <a:pt x="81797" y="163164"/>
                  <a:pt x="88799" y="165735"/>
                  <a:pt x="91442" y="165735"/>
                </a:cubicBezTo>
                <a:lnTo>
                  <a:pt x="91440" y="165735"/>
                </a:lnTo>
                <a:moveTo>
                  <a:pt x="63757" y="108585"/>
                </a:moveTo>
                <a:lnTo>
                  <a:pt x="119121" y="108585"/>
                </a:lnTo>
                <a:cubicBezTo>
                  <a:pt x="119693" y="103121"/>
                  <a:pt x="120013" y="97369"/>
                  <a:pt x="120013" y="91440"/>
                </a:cubicBezTo>
                <a:cubicBezTo>
                  <a:pt x="120013" y="85511"/>
                  <a:pt x="119691" y="79759"/>
                  <a:pt x="119121" y="74295"/>
                </a:cubicBezTo>
                <a:lnTo>
                  <a:pt x="63757" y="74295"/>
                </a:lnTo>
                <a:cubicBezTo>
                  <a:pt x="63187" y="79759"/>
                  <a:pt x="62865" y="85511"/>
                  <a:pt x="62865" y="91440"/>
                </a:cubicBezTo>
                <a:cubicBezTo>
                  <a:pt x="62865" y="97369"/>
                  <a:pt x="63187" y="103121"/>
                  <a:pt x="63757" y="108585"/>
                </a:cubicBezTo>
                <a:lnTo>
                  <a:pt x="63757" y="108585"/>
                </a:lnTo>
                <a:moveTo>
                  <a:pt x="66579" y="57150"/>
                </a:moveTo>
                <a:lnTo>
                  <a:pt x="116301" y="57150"/>
                </a:lnTo>
                <a:cubicBezTo>
                  <a:pt x="114300" y="48434"/>
                  <a:pt x="111586" y="40755"/>
                  <a:pt x="108442" y="34433"/>
                </a:cubicBezTo>
                <a:cubicBezTo>
                  <a:pt x="101085" y="19716"/>
                  <a:pt x="94083" y="17145"/>
                  <a:pt x="91440" y="17145"/>
                </a:cubicBezTo>
                <a:cubicBezTo>
                  <a:pt x="88797" y="17145"/>
                  <a:pt x="81797" y="19716"/>
                  <a:pt x="74438" y="34433"/>
                </a:cubicBezTo>
                <a:cubicBezTo>
                  <a:pt x="71294" y="40755"/>
                  <a:pt x="68580" y="48434"/>
                  <a:pt x="66579" y="57150"/>
                </a:cubicBezTo>
                <a:lnTo>
                  <a:pt x="66579" y="57150"/>
                </a:lnTo>
                <a:moveTo>
                  <a:pt x="136339" y="74295"/>
                </a:moveTo>
                <a:cubicBezTo>
                  <a:pt x="136875" y="79831"/>
                  <a:pt x="137125" y="85582"/>
                  <a:pt x="137125" y="91440"/>
                </a:cubicBezTo>
                <a:cubicBezTo>
                  <a:pt x="137125" y="97298"/>
                  <a:pt x="136840" y="103049"/>
                  <a:pt x="136339" y="108585"/>
                </a:cubicBezTo>
                <a:lnTo>
                  <a:pt x="163734" y="108585"/>
                </a:lnTo>
                <a:cubicBezTo>
                  <a:pt x="165020" y="103084"/>
                  <a:pt x="165735" y="97334"/>
                  <a:pt x="165735" y="91440"/>
                </a:cubicBezTo>
                <a:cubicBezTo>
                  <a:pt x="165735" y="85546"/>
                  <a:pt x="165057" y="79796"/>
                  <a:pt x="163734" y="74295"/>
                </a:cubicBezTo>
                <a:lnTo>
                  <a:pt x="136339" y="74295"/>
                </a:lnTo>
                <a:moveTo>
                  <a:pt x="157341" y="57150"/>
                </a:moveTo>
                <a:cubicBezTo>
                  <a:pt x="149696" y="42470"/>
                  <a:pt x="137303" y="30682"/>
                  <a:pt x="122193" y="23789"/>
                </a:cubicBezTo>
                <a:cubicBezTo>
                  <a:pt x="127230" y="32933"/>
                  <a:pt x="131229" y="44326"/>
                  <a:pt x="133837" y="57150"/>
                </a:cubicBezTo>
                <a:lnTo>
                  <a:pt x="157375" y="57150"/>
                </a:lnTo>
                <a:lnTo>
                  <a:pt x="157341" y="57150"/>
                </a:lnTo>
                <a:moveTo>
                  <a:pt x="49006" y="57150"/>
                </a:moveTo>
                <a:cubicBezTo>
                  <a:pt x="51614" y="44326"/>
                  <a:pt x="55614" y="32968"/>
                  <a:pt x="60650" y="23789"/>
                </a:cubicBezTo>
                <a:cubicBezTo>
                  <a:pt x="45541" y="30684"/>
                  <a:pt x="33147" y="42470"/>
                  <a:pt x="25503" y="57150"/>
                </a:cubicBezTo>
                <a:lnTo>
                  <a:pt x="49041" y="57150"/>
                </a:lnTo>
                <a:lnTo>
                  <a:pt x="49006" y="57150"/>
                </a:lnTo>
                <a:moveTo>
                  <a:pt x="19146" y="74295"/>
                </a:moveTo>
                <a:cubicBezTo>
                  <a:pt x="17860" y="79796"/>
                  <a:pt x="17145" y="85546"/>
                  <a:pt x="17145" y="91440"/>
                </a:cubicBezTo>
                <a:cubicBezTo>
                  <a:pt x="17145" y="97334"/>
                  <a:pt x="17823" y="103084"/>
                  <a:pt x="19146" y="108585"/>
                </a:cubicBezTo>
                <a:lnTo>
                  <a:pt x="46541" y="108585"/>
                </a:lnTo>
                <a:cubicBezTo>
                  <a:pt x="46005" y="103049"/>
                  <a:pt x="45755" y="97298"/>
                  <a:pt x="45755" y="91440"/>
                </a:cubicBezTo>
                <a:cubicBezTo>
                  <a:pt x="45755" y="85582"/>
                  <a:pt x="46040" y="79831"/>
                  <a:pt x="46541" y="74295"/>
                </a:cubicBezTo>
                <a:lnTo>
                  <a:pt x="19146" y="74295"/>
                </a:lnTo>
                <a:moveTo>
                  <a:pt x="122193" y="159091"/>
                </a:moveTo>
                <a:cubicBezTo>
                  <a:pt x="137303" y="152196"/>
                  <a:pt x="149696" y="140410"/>
                  <a:pt x="157341" y="125730"/>
                </a:cubicBezTo>
                <a:lnTo>
                  <a:pt x="133802" y="125730"/>
                </a:lnTo>
                <a:cubicBezTo>
                  <a:pt x="131194" y="138554"/>
                  <a:pt x="127195" y="149912"/>
                  <a:pt x="122158" y="159091"/>
                </a:cubicBezTo>
                <a:lnTo>
                  <a:pt x="122193" y="159091"/>
                </a:lnTo>
                <a:moveTo>
                  <a:pt x="60687" y="159091"/>
                </a:moveTo>
                <a:cubicBezTo>
                  <a:pt x="55650" y="149947"/>
                  <a:pt x="51651" y="138554"/>
                  <a:pt x="49043" y="125730"/>
                </a:cubicBezTo>
                <a:lnTo>
                  <a:pt x="25505" y="125730"/>
                </a:lnTo>
                <a:cubicBezTo>
                  <a:pt x="33149" y="140410"/>
                  <a:pt x="45543" y="152198"/>
                  <a:pt x="60652" y="159091"/>
                </a:cubicBezTo>
                <a:lnTo>
                  <a:pt x="60687" y="159091"/>
                </a:lnTo>
                <a:moveTo>
                  <a:pt x="91440" y="182880"/>
                </a:moveTo>
                <a:cubicBezTo>
                  <a:pt x="40939" y="182880"/>
                  <a:pt x="0" y="141941"/>
                  <a:pt x="0" y="91440"/>
                </a:cubicBezTo>
                <a:cubicBezTo>
                  <a:pt x="0" y="40939"/>
                  <a:pt x="40939" y="0"/>
                  <a:pt x="91440" y="0"/>
                </a:cubicBezTo>
                <a:cubicBezTo>
                  <a:pt x="141941" y="0"/>
                  <a:pt x="182880" y="40939"/>
                  <a:pt x="182880" y="91440"/>
                </a:cubicBezTo>
                <a:cubicBezTo>
                  <a:pt x="182880" y="141941"/>
                  <a:pt x="141941" y="182880"/>
                  <a:pt x="91440" y="182880"/>
                </a:cubicBez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38178"/>
            <a:ext cx="182880" cy="146304"/>
          </a:xfrm>
          <a:custGeom>
            <a:avLst/>
            <a:gdLst/>
            <a:ahLst/>
            <a:cxnLst/>
            <a:rect l="l" t="t" r="r" b="b"/>
            <a:pathLst>
              <a:path w="182880" h="146304">
                <a:moveTo>
                  <a:pt x="91440" y="0"/>
                </a:moveTo>
                <a:cubicBezTo>
                  <a:pt x="95240" y="0"/>
                  <a:pt x="98298" y="3058"/>
                  <a:pt x="98298" y="6859"/>
                </a:cubicBezTo>
                <a:lnTo>
                  <a:pt x="98298" y="139447"/>
                </a:lnTo>
                <a:cubicBezTo>
                  <a:pt x="98298" y="143248"/>
                  <a:pt x="95240" y="146306"/>
                  <a:pt x="91440" y="146306"/>
                </a:cubicBezTo>
                <a:cubicBezTo>
                  <a:pt x="87640" y="146306"/>
                  <a:pt x="84582" y="143248"/>
                  <a:pt x="84582" y="139448"/>
                </a:cubicBezTo>
                <a:lnTo>
                  <a:pt x="84582" y="6860"/>
                </a:lnTo>
                <a:cubicBezTo>
                  <a:pt x="84582" y="3059"/>
                  <a:pt x="87640" y="3"/>
                  <a:pt x="91440" y="3"/>
                </a:cubicBezTo>
                <a:lnTo>
                  <a:pt x="91440" y="0"/>
                </a:lnTo>
              </a:path>
              <a:path w="182880" h="146304">
                <a:moveTo>
                  <a:pt x="148590" y="18288"/>
                </a:moveTo>
                <a:cubicBezTo>
                  <a:pt x="152390" y="18288"/>
                  <a:pt x="155448" y="21346"/>
                  <a:pt x="155448" y="25147"/>
                </a:cubicBezTo>
                <a:lnTo>
                  <a:pt x="155448" y="121159"/>
                </a:lnTo>
                <a:cubicBezTo>
                  <a:pt x="155448" y="124960"/>
                  <a:pt x="152390" y="128018"/>
                  <a:pt x="148590" y="128018"/>
                </a:cubicBezTo>
                <a:cubicBezTo>
                  <a:pt x="144790" y="128018"/>
                  <a:pt x="141732" y="124960"/>
                  <a:pt x="141732" y="121160"/>
                </a:cubicBezTo>
                <a:lnTo>
                  <a:pt x="141732" y="25148"/>
                </a:lnTo>
                <a:cubicBezTo>
                  <a:pt x="141732" y="21347"/>
                  <a:pt x="144790" y="18291"/>
                  <a:pt x="148590" y="18291"/>
                </a:cubicBezTo>
                <a:lnTo>
                  <a:pt x="148590" y="18288"/>
                </a:lnTo>
              </a:path>
              <a:path w="182880" h="146304">
                <a:moveTo>
                  <a:pt x="61722" y="27432"/>
                </a:moveTo>
                <a:cubicBezTo>
                  <a:pt x="65522" y="27432"/>
                  <a:pt x="68580" y="30490"/>
                  <a:pt x="68580" y="34291"/>
                </a:cubicBezTo>
                <a:lnTo>
                  <a:pt x="68580" y="112015"/>
                </a:lnTo>
                <a:cubicBezTo>
                  <a:pt x="68580" y="115816"/>
                  <a:pt x="65522" y="118874"/>
                  <a:pt x="61722" y="118874"/>
                </a:cubicBezTo>
                <a:cubicBezTo>
                  <a:pt x="57922" y="118874"/>
                  <a:pt x="54864" y="115816"/>
                  <a:pt x="54864" y="112016"/>
                </a:cubicBezTo>
                <a:lnTo>
                  <a:pt x="54864" y="34292"/>
                </a:lnTo>
                <a:cubicBezTo>
                  <a:pt x="54864" y="30491"/>
                  <a:pt x="57922" y="27435"/>
                  <a:pt x="61722" y="27435"/>
                </a:cubicBezTo>
                <a:lnTo>
                  <a:pt x="61722" y="27432"/>
                </a:lnTo>
              </a:path>
              <a:path w="182880" h="146304">
                <a:moveTo>
                  <a:pt x="121158" y="36576"/>
                </a:moveTo>
                <a:cubicBezTo>
                  <a:pt x="124958" y="36576"/>
                  <a:pt x="128016" y="39634"/>
                  <a:pt x="128016" y="43435"/>
                </a:cubicBezTo>
                <a:lnTo>
                  <a:pt x="128016" y="102871"/>
                </a:lnTo>
                <a:cubicBezTo>
                  <a:pt x="128016" y="106672"/>
                  <a:pt x="124958" y="109730"/>
                  <a:pt x="121158" y="109730"/>
                </a:cubicBezTo>
                <a:cubicBezTo>
                  <a:pt x="117358" y="109730"/>
                  <a:pt x="114300" y="106672"/>
                  <a:pt x="114300" y="102872"/>
                </a:cubicBezTo>
                <a:lnTo>
                  <a:pt x="114300" y="43436"/>
                </a:lnTo>
                <a:cubicBezTo>
                  <a:pt x="114300" y="39635"/>
                  <a:pt x="117358" y="36579"/>
                  <a:pt x="121158" y="36579"/>
                </a:cubicBezTo>
                <a:lnTo>
                  <a:pt x="121158" y="36576"/>
                </a:lnTo>
              </a:path>
              <a:path w="182880" h="146304">
                <a:moveTo>
                  <a:pt x="34290" y="54864"/>
                </a:moveTo>
                <a:cubicBezTo>
                  <a:pt x="38090" y="54864"/>
                  <a:pt x="41148" y="57922"/>
                  <a:pt x="41148" y="61723"/>
                </a:cubicBezTo>
                <a:lnTo>
                  <a:pt x="41148" y="84583"/>
                </a:lnTo>
                <a:cubicBezTo>
                  <a:pt x="41148" y="88384"/>
                  <a:pt x="38090" y="91442"/>
                  <a:pt x="34290" y="91442"/>
                </a:cubicBezTo>
                <a:cubicBezTo>
                  <a:pt x="30490" y="91442"/>
                  <a:pt x="27432" y="88384"/>
                  <a:pt x="27432" y="84584"/>
                </a:cubicBezTo>
                <a:lnTo>
                  <a:pt x="27432" y="61724"/>
                </a:lnTo>
                <a:cubicBezTo>
                  <a:pt x="27432" y="57923"/>
                  <a:pt x="30490" y="54867"/>
                  <a:pt x="34290" y="54867"/>
                </a:cubicBezTo>
                <a:lnTo>
                  <a:pt x="34290" y="54864"/>
                </a:lnTo>
              </a:path>
              <a:path w="182880" h="146304">
                <a:moveTo>
                  <a:pt x="6858" y="64008"/>
                </a:moveTo>
                <a:cubicBezTo>
                  <a:pt x="10658" y="64008"/>
                  <a:pt x="13716" y="67066"/>
                  <a:pt x="13716" y="70867"/>
                </a:cubicBezTo>
                <a:lnTo>
                  <a:pt x="13716" y="75439"/>
                </a:lnTo>
                <a:cubicBezTo>
                  <a:pt x="13716" y="79240"/>
                  <a:pt x="10658" y="82298"/>
                  <a:pt x="6858" y="82298"/>
                </a:cubicBezTo>
                <a:cubicBezTo>
                  <a:pt x="3058" y="82298"/>
                  <a:pt x="0" y="79240"/>
                  <a:pt x="0" y="75440"/>
                </a:cubicBezTo>
                <a:lnTo>
                  <a:pt x="0" y="70868"/>
                </a:lnTo>
                <a:cubicBezTo>
                  <a:pt x="0" y="67067"/>
                  <a:pt x="3058" y="64011"/>
                  <a:pt x="6858" y="64011"/>
                </a:cubicBezTo>
                <a:lnTo>
                  <a:pt x="6858" y="64008"/>
                </a:lnTo>
              </a:path>
              <a:path w="182880" h="146304">
                <a:moveTo>
                  <a:pt x="176022" y="64008"/>
                </a:moveTo>
                <a:cubicBezTo>
                  <a:pt x="179822" y="64008"/>
                  <a:pt x="182880" y="67066"/>
                  <a:pt x="182880" y="70867"/>
                </a:cubicBezTo>
                <a:lnTo>
                  <a:pt x="182880" y="75439"/>
                </a:lnTo>
                <a:cubicBezTo>
                  <a:pt x="182880" y="79240"/>
                  <a:pt x="179822" y="82298"/>
                  <a:pt x="176022" y="82298"/>
                </a:cubicBezTo>
                <a:cubicBezTo>
                  <a:pt x="172222" y="82298"/>
                  <a:pt x="169164" y="79240"/>
                  <a:pt x="169164" y="75440"/>
                </a:cubicBezTo>
                <a:lnTo>
                  <a:pt x="169164" y="70868"/>
                </a:lnTo>
                <a:cubicBezTo>
                  <a:pt x="169164" y="67067"/>
                  <a:pt x="172222" y="64011"/>
                  <a:pt x="176022" y="64011"/>
                </a:cubicBezTo>
                <a:lnTo>
                  <a:pt x="176022" y="64008"/>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60771" y="1730501"/>
            <a:ext cx="125730" cy="182880"/>
          </a:xfrm>
          <a:custGeom>
            <a:avLst/>
            <a:gdLst/>
            <a:ahLst/>
            <a:cxnLst/>
            <a:rect l="l" t="t" r="r" b="b"/>
            <a:pathLst>
              <a:path w="125730" h="182880">
                <a:moveTo>
                  <a:pt x="80010" y="34290"/>
                </a:moveTo>
                <a:lnTo>
                  <a:pt x="80010" y="91440"/>
                </a:lnTo>
                <a:cubicBezTo>
                  <a:pt x="80010" y="100906"/>
                  <a:pt x="72330" y="108585"/>
                  <a:pt x="62865" y="108585"/>
                </a:cubicBezTo>
                <a:cubicBezTo>
                  <a:pt x="53400" y="108585"/>
                  <a:pt x="45720" y="100906"/>
                  <a:pt x="45720" y="91440"/>
                </a:cubicBezTo>
                <a:lnTo>
                  <a:pt x="45720" y="34290"/>
                </a:lnTo>
                <a:cubicBezTo>
                  <a:pt x="45720" y="24824"/>
                  <a:pt x="53400" y="17145"/>
                  <a:pt x="62865" y="17145"/>
                </a:cubicBezTo>
                <a:cubicBezTo>
                  <a:pt x="72330" y="17145"/>
                  <a:pt x="80010" y="24824"/>
                  <a:pt x="80010" y="34290"/>
                </a:cubicBezTo>
                <a:lnTo>
                  <a:pt x="80010" y="34290"/>
                </a:lnTo>
                <a:moveTo>
                  <a:pt x="28575" y="34290"/>
                </a:moveTo>
                <a:lnTo>
                  <a:pt x="28575" y="91440"/>
                </a:lnTo>
                <a:cubicBezTo>
                  <a:pt x="28575" y="110372"/>
                  <a:pt x="43934" y="125730"/>
                  <a:pt x="62865" y="125730"/>
                </a:cubicBezTo>
                <a:cubicBezTo>
                  <a:pt x="81796" y="125730"/>
                  <a:pt x="97155" y="110372"/>
                  <a:pt x="97155" y="91440"/>
                </a:cubicBezTo>
                <a:lnTo>
                  <a:pt x="97155" y="34290"/>
                </a:lnTo>
                <a:cubicBezTo>
                  <a:pt x="97155" y="15358"/>
                  <a:pt x="81796" y="0"/>
                  <a:pt x="62865" y="0"/>
                </a:cubicBezTo>
                <a:cubicBezTo>
                  <a:pt x="43934" y="0"/>
                  <a:pt x="28575" y="15358"/>
                  <a:pt x="28575" y="34290"/>
                </a:cubicBezTo>
                <a:lnTo>
                  <a:pt x="28575" y="34290"/>
                </a:lnTo>
                <a:moveTo>
                  <a:pt x="17145" y="77153"/>
                </a:moveTo>
                <a:cubicBezTo>
                  <a:pt x="17145" y="72402"/>
                  <a:pt x="13322" y="68582"/>
                  <a:pt x="8572" y="68582"/>
                </a:cubicBezTo>
                <a:cubicBezTo>
                  <a:pt x="3822" y="68582"/>
                  <a:pt x="0" y="72404"/>
                  <a:pt x="0" y="77155"/>
                </a:cubicBezTo>
                <a:lnTo>
                  <a:pt x="0" y="91444"/>
                </a:lnTo>
                <a:cubicBezTo>
                  <a:pt x="0" y="123269"/>
                  <a:pt x="23646" y="149558"/>
                  <a:pt x="54293" y="153736"/>
                </a:cubicBezTo>
                <a:lnTo>
                  <a:pt x="54293" y="165739"/>
                </a:lnTo>
                <a:lnTo>
                  <a:pt x="37148" y="165739"/>
                </a:lnTo>
                <a:cubicBezTo>
                  <a:pt x="32398" y="165739"/>
                  <a:pt x="28576" y="169561"/>
                  <a:pt x="28576" y="174312"/>
                </a:cubicBezTo>
                <a:cubicBezTo>
                  <a:pt x="28576" y="179064"/>
                  <a:pt x="32398" y="182886"/>
                  <a:pt x="37148" y="182886"/>
                </a:cubicBezTo>
                <a:lnTo>
                  <a:pt x="62866" y="182886"/>
                </a:lnTo>
                <a:lnTo>
                  <a:pt x="88584" y="182886"/>
                </a:lnTo>
                <a:cubicBezTo>
                  <a:pt x="93334" y="182886"/>
                  <a:pt x="97157" y="179064"/>
                  <a:pt x="97157" y="174314"/>
                </a:cubicBezTo>
                <a:cubicBezTo>
                  <a:pt x="97157" y="169563"/>
                  <a:pt x="93334" y="165743"/>
                  <a:pt x="88584" y="165743"/>
                </a:cubicBezTo>
                <a:lnTo>
                  <a:pt x="71440" y="165743"/>
                </a:lnTo>
                <a:lnTo>
                  <a:pt x="71440" y="153740"/>
                </a:lnTo>
                <a:cubicBezTo>
                  <a:pt x="102086" y="149561"/>
                  <a:pt x="125732" y="123272"/>
                  <a:pt x="125732" y="91448"/>
                </a:cubicBezTo>
                <a:lnTo>
                  <a:pt x="125732" y="77161"/>
                </a:lnTo>
                <a:cubicBezTo>
                  <a:pt x="125732" y="72410"/>
                  <a:pt x="121910" y="68590"/>
                  <a:pt x="117160" y="68590"/>
                </a:cubicBezTo>
                <a:cubicBezTo>
                  <a:pt x="112410" y="68590"/>
                  <a:pt x="108588" y="72412"/>
                  <a:pt x="108588" y="77163"/>
                </a:cubicBezTo>
                <a:lnTo>
                  <a:pt x="108588" y="91451"/>
                </a:lnTo>
                <a:cubicBezTo>
                  <a:pt x="108588" y="116705"/>
                  <a:pt x="88121" y="137171"/>
                  <a:pt x="62867" y="137171"/>
                </a:cubicBezTo>
                <a:cubicBezTo>
                  <a:pt x="37614" y="137171"/>
                  <a:pt x="17147" y="116705"/>
                  <a:pt x="17147" y="91451"/>
                </a:cubicBezTo>
                <a:lnTo>
                  <a:pt x="17145" y="77153"/>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214"/>
              </a:spcBef>
              <a:buNone/>
            </a:pPr>
            <a:r>
              <a:rPr lang="en-US" sz="1943" dirty="0">
                <a:solidFill>
                  <a:srgbClr val="FFFFFF"/>
                </a:solidFill>
                <a:latin typeface="Figtree Regular" pitchFamily="34" charset="0"/>
                <a:ea typeface="Figtree Regular" pitchFamily="34" charset="-122"/>
                <a:cs typeface="Figtree Regular" pitchFamily="34" charset="-120"/>
              </a:rPr>
              <a:t>The 2024 Hong Kong Deepfake Video Fraud</a:t>
            </a:r>
            <a:endParaRPr lang="en-US" sz="1943" dirty="0"/>
          </a:p>
          <a:p>
            <a:pPr algn="l" marL="142875" indent="0">
              <a:lnSpc>
                <a:spcPct val="100000"/>
              </a:lnSpc>
              <a:spcBef>
                <a:spcPts val="1214"/>
              </a:spcBef>
              <a:buNone/>
            </a:pPr>
            <a:r>
              <a:rPr lang="en-US" sz="1651" dirty="0">
                <a:solidFill>
                  <a:srgbClr val="FFFFFF"/>
                </a:solidFill>
                <a:latin typeface="Figtree Regular" pitchFamily="34" charset="0"/>
                <a:ea typeface="Figtree Regular" pitchFamily="34" charset="-122"/>
                <a:cs typeface="Figtree Regular" pitchFamily="34" charset="-120"/>
              </a:rPr>
              <a:t>In 2024, a finance professional at a multinational engineering firm in Hong Kong received a video call featuring several colleagues, including the company's Chief Financial Officer. The CFO appeared to discuss and personally authorize an urgent wire transfer amounting to $25.6 million. Reassured by the familiar voices and faces, the employee processed the transfer.</a:t>
            </a:r>
            <a:endParaRPr lang="en-US" sz="1943" dirty="0"/>
          </a:p>
          <a:p>
            <a:pPr algn="l" marL="142875" indent="0">
              <a:lnSpc>
                <a:spcPct val="100000"/>
              </a:lnSpc>
              <a:spcBef>
                <a:spcPts val="1214"/>
              </a:spcBef>
              <a:buNone/>
            </a:pPr>
            <a:r>
              <a:rPr lang="en-US" sz="1651" dirty="0">
                <a:solidFill>
                  <a:srgbClr val="FFFFFF"/>
                </a:solidFill>
                <a:latin typeface="Figtree Regular" pitchFamily="34" charset="0"/>
                <a:ea typeface="Figtree Regular" pitchFamily="34" charset="-122"/>
                <a:cs typeface="Figtree Regular" pitchFamily="34" charset="-120"/>
              </a:rPr>
              <a:t>However, every individual on that video call was a deepfake. Criminals had scraped publicly available video and audio materials of each executive and used AI to create realistic digital puppets. These synthetic personas engaged in a live video conference with entirely fabricated participants, making the deception remarkably convincing and facilitating a large financial fraud.</a:t>
            </a:r>
            <a:endParaRPr lang="en-US" sz="1943"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Video Deepfakes: Seeing Is No Longer Believing</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Deepfake personas can sustain believable and continuous conversations for hours. This capability enables attackers to build trust and manipulate victims over long interactions, making the deception more convincing and harder to detect.</a:t>
            </a:r>
            <a:endParaRPr lang="en-US" sz="1675"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Extended Synthetic Conversations</a:t>
            </a:r>
            <a:endParaRPr lang="en-US" sz="1797"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Modern real-time deepfake systems allow attackers to transform their face and voice live during video calls. They can respond to questions, show facial expressions, and maintain an ongoing conversation, creating an immersive illusion of authenticity and presence.</a:t>
            </a:r>
            <a:endParaRPr lang="en-US" sz="1675"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Live Interactive Impersonations</a:t>
            </a:r>
            <a:endParaRPr lang="en-US" sz="1797"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396"/>
              </a:spcBef>
              <a:buNone/>
            </a:pPr>
            <a:r>
              <a:rPr lang="en-US" sz="1675" dirty="0">
                <a:solidFill>
                  <a:srgbClr val="FFFFFF"/>
                </a:solidFill>
                <a:latin typeface="Figtree Regular" pitchFamily="34" charset="0"/>
                <a:ea typeface="Figtree Regular" pitchFamily="34" charset="-122"/>
                <a:cs typeface="Figtree Regular" pitchFamily="34" charset="-120"/>
              </a:rPr>
              <a:t>Security researchers have demonstrated proof-of-concept attacks where a single attacker can impersonate multiple different people simultaneously in the same video call. This shows how real-time deepfake technology can create entirely synthetic participants, making it difficult to distinguish between genuine and fake identities during live interactions.</a:t>
            </a:r>
            <a:endParaRPr lang="en-US" sz="1675"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Multiple Personas in One Call</a:t>
            </a:r>
            <a:endParaRPr lang="en-US" sz="1797"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Real-Time Deepfakes: The Final Frontier</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287"/>
              </a:spcBef>
              <a:buNone/>
            </a:pPr>
            <a:r>
              <a:rPr lang="en-US" sz="1674" dirty="0">
                <a:solidFill>
                  <a:srgbClr val="FFFFFF"/>
                </a:solidFill>
                <a:latin typeface="Figtree Regular" pitchFamily="34" charset="0"/>
                <a:ea typeface="Figtree Regular" pitchFamily="34" charset="-122"/>
                <a:cs typeface="Figtree Regular" pitchFamily="34" charset="-120"/>
              </a:rPr>
              <a:t>Modern techniques include facial landmark analysis, physiological signal detection like pulse-induced skin color changes, audio forensics, temporal consistency checks, and AI-based detectors trained on synthetic data. However, these methods face significant limitations as detection algorithms trained on one type of deepfake struggle with newer variants. Compression and poor real-world conditions further degrade detection reliability.</a:t>
            </a:r>
            <a:endParaRPr lang="en-US" sz="1674" dirty="0"/>
          </a:p>
        </p:txBody>
      </p:sp>
      <p:sp>
        <p:nvSpPr>
          <p:cNvPr id="9" name="Text 7"/>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1980" dirty="0">
                <a:solidFill>
                  <a:srgbClr val="FFFFFF"/>
                </a:solidFill>
                <a:latin typeface="Figtree Regular" pitchFamily="34" charset="0"/>
                <a:ea typeface="Figtree Regular" pitchFamily="34" charset="-122"/>
                <a:cs typeface="Figtree Regular" pitchFamily="34" charset="-120"/>
              </a:rPr>
              <a:t>Current Detection Methods and Limitations</a:t>
            </a:r>
            <a:endParaRPr lang="en-US" sz="1980" dirty="0"/>
          </a:p>
        </p:txBody>
      </p:sp>
      <p:sp>
        <p:nvSpPr>
          <p:cNvPr id="10" name="Text 8"/>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287"/>
              </a:spcBef>
              <a:buNone/>
            </a:pPr>
            <a:r>
              <a:rPr lang="en-US" sz="1674" dirty="0">
                <a:solidFill>
                  <a:srgbClr val="FFFFFF"/>
                </a:solidFill>
                <a:latin typeface="Figtree Regular" pitchFamily="34" charset="0"/>
                <a:ea typeface="Figtree Regular" pitchFamily="34" charset="-122"/>
                <a:cs typeface="Figtree Regular" pitchFamily="34" charset="-120"/>
              </a:rPr>
              <a:t>Initial deepfake detection focused on revealing telltale flaws such as unnatural blinking, flickering around facial edges, and inconsistent lighting. Although these early imperfections offered ways to detect synthetic media, advances in deepfake generation quickly addressed these issues, making detection increasingly challenging.</a:t>
            </a:r>
            <a:endParaRPr lang="en-US" sz="1674" dirty="0"/>
          </a:p>
        </p:txBody>
      </p:sp>
      <p:sp>
        <p:nvSpPr>
          <p:cNvPr id="11" name="Text 9"/>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1980" dirty="0">
                <a:solidFill>
                  <a:srgbClr val="FFFFFF"/>
                </a:solidFill>
                <a:latin typeface="Figtree Regular" pitchFamily="34" charset="0"/>
                <a:ea typeface="Figtree Regular" pitchFamily="34" charset="-122"/>
                <a:cs typeface="Figtree Regular" pitchFamily="34" charset="-120"/>
              </a:rPr>
              <a:t>Early Detection Flaws</a:t>
            </a:r>
            <a:endParaRPr lang="en-US" sz="1980" dirty="0"/>
          </a:p>
        </p:txBody>
      </p:sp>
      <p:sp>
        <p:nvSpPr>
          <p:cNvPr id="12" name="Text 10"/>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5" name="Text 13"/>
          <p:cNvSpPr/>
          <p:nvPr/>
        </p:nvSpPr>
        <p:spPr>
          <a:xfrm>
            <a:off x="6621105" y="1758862"/>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851335" y="1758899"/>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505464"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Detection Arms Race</a:t>
            </a:r>
            <a:endParaRPr lang="en-US" sz="2800" dirty="0"/>
          </a:p>
        </p:txBody>
      </p:sp>
      <p:sp>
        <p:nvSpPr>
          <p:cNvPr id="18" name="Text 1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Psychological Warfare</a:t>
            </a:r>
            <a:endParaRPr lang="en-US" sz="2800"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05463" y="1560799"/>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0" name="Text 8"/>
          <p:cNvSpPr/>
          <p:nvPr/>
        </p:nvSpPr>
        <p:spPr>
          <a:xfrm>
            <a:off x="505463" y="3088762"/>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1" name="Text 9"/>
          <p:cNvSpPr/>
          <p:nvPr/>
        </p:nvSpPr>
        <p:spPr>
          <a:xfrm>
            <a:off x="505463" y="4591325"/>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2" name="Text 10"/>
          <p:cNvSpPr/>
          <p:nvPr/>
        </p:nvSpPr>
        <p:spPr>
          <a:xfrm>
            <a:off x="1531893" y="2196918"/>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Deepfakes enable creation of synthetic compromising images or videos without any real source material, used to extort or manipulate victims emotionally and financially.</a:t>
            </a:r>
            <a:endParaRPr lang="en-US" sz="1280" dirty="0"/>
          </a:p>
        </p:txBody>
      </p:sp>
      <p:sp>
        <p:nvSpPr>
          <p:cNvPr id="13" name="Text 11"/>
          <p:cNvSpPr/>
          <p:nvPr/>
        </p:nvSpPr>
        <p:spPr>
          <a:xfrm>
            <a:off x="1531893" y="1738437"/>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Personal Blackmail</a:t>
            </a:r>
            <a:endParaRPr lang="en-US" sz="2030" dirty="0"/>
          </a:p>
        </p:txBody>
      </p:sp>
      <p:sp>
        <p:nvSpPr>
          <p:cNvPr id="14" name="Text 12"/>
          <p:cNvSpPr/>
          <p:nvPr/>
        </p:nvSpPr>
        <p:spPr>
          <a:xfrm>
            <a:off x="6200139" y="1560799"/>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5" name="Text 13"/>
          <p:cNvSpPr/>
          <p:nvPr/>
        </p:nvSpPr>
        <p:spPr>
          <a:xfrm>
            <a:off x="6200139" y="3088762"/>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6" name="Text 14"/>
          <p:cNvSpPr/>
          <p:nvPr/>
        </p:nvSpPr>
        <p:spPr>
          <a:xfrm>
            <a:off x="6200139" y="4591325"/>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7" name="Text 15"/>
          <p:cNvSpPr/>
          <p:nvPr/>
        </p:nvSpPr>
        <p:spPr>
          <a:xfrm>
            <a:off x="7215324" y="2196918"/>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Impersonating loved ones through voice or video deepfakes allows attackers to extract information, money, or emotional leverage over victims.</a:t>
            </a:r>
            <a:endParaRPr lang="en-US" sz="1280" dirty="0"/>
          </a:p>
        </p:txBody>
      </p:sp>
      <p:sp>
        <p:nvSpPr>
          <p:cNvPr id="18" name="Text 16"/>
          <p:cNvSpPr/>
          <p:nvPr/>
        </p:nvSpPr>
        <p:spPr>
          <a:xfrm>
            <a:off x="7215324" y="1738437"/>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Relationship Manipulation</a:t>
            </a:r>
            <a:endParaRPr lang="en-US" sz="2030" dirty="0"/>
          </a:p>
        </p:txBody>
      </p:sp>
      <p:sp>
        <p:nvSpPr>
          <p:cNvPr id="19" name="Text 17"/>
          <p:cNvSpPr/>
          <p:nvPr/>
        </p:nvSpPr>
        <p:spPr>
          <a:xfrm>
            <a:off x="1531893" y="3743039"/>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Fabricated videos showing public figures making inflammatory statements can be spread virally, damaging trust and credibility before detection methods catch up.</a:t>
            </a:r>
            <a:endParaRPr lang="en-US" sz="1280" dirty="0"/>
          </a:p>
        </p:txBody>
      </p:sp>
      <p:sp>
        <p:nvSpPr>
          <p:cNvPr id="20" name="Text 18"/>
          <p:cNvSpPr/>
          <p:nvPr/>
        </p:nvSpPr>
        <p:spPr>
          <a:xfrm>
            <a:off x="1531893" y="3284558"/>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Reputation Destruction</a:t>
            </a:r>
            <a:endParaRPr lang="en-US" sz="2030" dirty="0"/>
          </a:p>
        </p:txBody>
      </p:sp>
      <p:sp>
        <p:nvSpPr>
          <p:cNvPr id="21" name="Text 19"/>
          <p:cNvSpPr/>
          <p:nvPr/>
        </p:nvSpPr>
        <p:spPr>
          <a:xfrm>
            <a:off x="7215324" y="3743039"/>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Fake statements from CEOs or analysts generated by AI deepfakes can influence stock prices and market behavior, causing financial losses.</a:t>
            </a:r>
            <a:endParaRPr lang="en-US" sz="1280" dirty="0"/>
          </a:p>
        </p:txBody>
      </p:sp>
      <p:sp>
        <p:nvSpPr>
          <p:cNvPr id="22" name="Text 20"/>
          <p:cNvSpPr/>
          <p:nvPr/>
        </p:nvSpPr>
        <p:spPr>
          <a:xfrm>
            <a:off x="7215324" y="3284558"/>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Stock Manipulation</a:t>
            </a:r>
            <a:endParaRPr lang="en-US" sz="2030" dirty="0"/>
          </a:p>
        </p:txBody>
      </p:sp>
      <p:sp>
        <p:nvSpPr>
          <p:cNvPr id="23" name="Text 21"/>
          <p:cNvSpPr/>
          <p:nvPr/>
        </p:nvSpPr>
        <p:spPr>
          <a:xfrm>
            <a:off x="1531893" y="5242207"/>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Synthetic media can produce fake alibis, falsified surveillance footage, or planted false evidence, undermining legal processes and investigations.</a:t>
            </a:r>
            <a:endParaRPr lang="en-US" sz="1280" dirty="0"/>
          </a:p>
        </p:txBody>
      </p:sp>
      <p:sp>
        <p:nvSpPr>
          <p:cNvPr id="24" name="Text 22"/>
          <p:cNvSpPr/>
          <p:nvPr/>
        </p:nvSpPr>
        <p:spPr>
          <a:xfrm>
            <a:off x="1531893" y="4783726"/>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Evidence Tampering</a:t>
            </a:r>
            <a:endParaRPr lang="en-US" sz="2030" dirty="0"/>
          </a:p>
        </p:txBody>
      </p:sp>
      <p:sp>
        <p:nvSpPr>
          <p:cNvPr id="25" name="Text 23"/>
          <p:cNvSpPr/>
          <p:nvPr/>
        </p:nvSpPr>
        <p:spPr>
          <a:xfrm>
            <a:off x="7215324" y="5242207"/>
            <a:ext cx="4206240" cy="548640"/>
          </a:xfrm>
          <a:prstGeom prst="rect">
            <a:avLst/>
          </a:prstGeom>
          <a:noFill/>
          <a:ln/>
        </p:spPr>
        <p:txBody>
          <a:bodyPr wrap="square" lIns="0" tIns="0" rIns="0" bIns="0" rtlCol="0" anchor="t"/>
          <a:lstStyle/>
          <a:p>
            <a:pPr algn="l" marL="0" indent="0">
              <a:lnSpc>
                <a:spcPct val="90000"/>
              </a:lnSpc>
              <a:spcBef>
                <a:spcPts val="1164"/>
              </a:spcBef>
              <a:buNone/>
            </a:pPr>
            <a:r>
              <a:rPr lang="en-US" sz="1280" dirty="0">
                <a:solidFill>
                  <a:srgbClr val="FFFFFF"/>
                </a:solidFill>
                <a:latin typeface="Figtree Regular" pitchFamily="34" charset="0"/>
                <a:ea typeface="Figtree Regular" pitchFamily="34" charset="-122"/>
                <a:cs typeface="Figtree Regular" pitchFamily="34" charset="-120"/>
              </a:rPr>
              <a:t>Deepfake videos of leaders issuing emergency orders or inflammatory remarks can incite unrest, disrupt governance, and influence public opinion.</a:t>
            </a:r>
            <a:endParaRPr lang="en-US" sz="1280" dirty="0"/>
          </a:p>
        </p:txBody>
      </p:sp>
      <p:sp>
        <p:nvSpPr>
          <p:cNvPr id="26" name="Text 24"/>
          <p:cNvSpPr/>
          <p:nvPr/>
        </p:nvSpPr>
        <p:spPr>
          <a:xfrm>
            <a:off x="7215324" y="4783726"/>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Political Destabilization</a:t>
            </a:r>
            <a:endParaRPr lang="en-US" sz="2030" dirty="0"/>
          </a:p>
        </p:txBody>
      </p:sp>
      <p:sp>
        <p:nvSpPr>
          <p:cNvPr id="27" name="Text 25"/>
          <p:cNvSpPr/>
          <p:nvPr/>
        </p:nvSpPr>
        <p:spPr>
          <a:xfrm>
            <a:off x="685281" y="1738437"/>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28" name="Text 26"/>
          <p:cNvSpPr/>
          <p:nvPr/>
        </p:nvSpPr>
        <p:spPr>
          <a:xfrm>
            <a:off x="685281" y="3301326"/>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29" name="Text 27"/>
          <p:cNvSpPr/>
          <p:nvPr/>
        </p:nvSpPr>
        <p:spPr>
          <a:xfrm>
            <a:off x="685281" y="4751044"/>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0" name="Text 28"/>
          <p:cNvSpPr/>
          <p:nvPr/>
        </p:nvSpPr>
        <p:spPr>
          <a:xfrm>
            <a:off x="6379957" y="1738437"/>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1" name="Text 29"/>
          <p:cNvSpPr/>
          <p:nvPr/>
        </p:nvSpPr>
        <p:spPr>
          <a:xfrm>
            <a:off x="6379957" y="3301326"/>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2" name="Text 30"/>
          <p:cNvSpPr/>
          <p:nvPr/>
        </p:nvSpPr>
        <p:spPr>
          <a:xfrm>
            <a:off x="6379957" y="4751044"/>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3" name="Text 31"/>
          <p:cNvSpPr/>
          <p:nvPr/>
        </p:nvSpPr>
        <p:spPr>
          <a:xfrm>
            <a:off x="6539105" y="4958179"/>
            <a:ext cx="320040" cy="224067"/>
          </a:xfrm>
          <a:custGeom>
            <a:avLst/>
            <a:gdLst/>
            <a:ahLst/>
            <a:cxnLst/>
            <a:rect l="l" t="t" r="r" b="b"/>
            <a:pathLst>
              <a:path w="320040" h="224067">
                <a:moveTo>
                  <a:pt x="160023" y="24002"/>
                </a:moveTo>
                <a:cubicBezTo>
                  <a:pt x="161275" y="24002"/>
                  <a:pt x="162523" y="24202"/>
                  <a:pt x="163723" y="24652"/>
                </a:cubicBezTo>
                <a:lnTo>
                  <a:pt x="272735" y="64007"/>
                </a:lnTo>
                <a:lnTo>
                  <a:pt x="163723" y="103362"/>
                </a:lnTo>
                <a:cubicBezTo>
                  <a:pt x="162523" y="103812"/>
                  <a:pt x="161271" y="104012"/>
                  <a:pt x="160023" y="104012"/>
                </a:cubicBezTo>
                <a:cubicBezTo>
                  <a:pt x="158772" y="104012"/>
                  <a:pt x="157524" y="103812"/>
                  <a:pt x="156324" y="103362"/>
                </a:cubicBezTo>
                <a:lnTo>
                  <a:pt x="92466" y="80310"/>
                </a:lnTo>
                <a:lnTo>
                  <a:pt x="162871" y="53908"/>
                </a:lnTo>
                <a:cubicBezTo>
                  <a:pt x="167022" y="52358"/>
                  <a:pt x="169122" y="47757"/>
                  <a:pt x="167573" y="43608"/>
                </a:cubicBezTo>
                <a:cubicBezTo>
                  <a:pt x="166024" y="39458"/>
                  <a:pt x="161422" y="37356"/>
                  <a:pt x="157271" y="38907"/>
                </a:cubicBezTo>
                <a:lnTo>
                  <a:pt x="77462" y="68811"/>
                </a:lnTo>
                <a:cubicBezTo>
                  <a:pt x="74864" y="69810"/>
                  <a:pt x="72313" y="70910"/>
                  <a:pt x="69810" y="72111"/>
                </a:cubicBezTo>
                <a:lnTo>
                  <a:pt x="47359" y="64011"/>
                </a:lnTo>
                <a:lnTo>
                  <a:pt x="156371" y="24656"/>
                </a:lnTo>
                <a:cubicBezTo>
                  <a:pt x="157572" y="24206"/>
                  <a:pt x="158823" y="24007"/>
                  <a:pt x="160071" y="24007"/>
                </a:cubicBezTo>
                <a:lnTo>
                  <a:pt x="160023" y="24002"/>
                </a:lnTo>
                <a:moveTo>
                  <a:pt x="7908" y="75307"/>
                </a:moveTo>
                <a:lnTo>
                  <a:pt x="46611" y="89257"/>
                </a:lnTo>
                <a:cubicBezTo>
                  <a:pt x="33009" y="103608"/>
                  <a:pt x="24758" y="122609"/>
                  <a:pt x="24057" y="143111"/>
                </a:cubicBezTo>
                <a:cubicBezTo>
                  <a:pt x="24006" y="143412"/>
                  <a:pt x="24006" y="143712"/>
                  <a:pt x="24006" y="144012"/>
                </a:cubicBezTo>
                <a:cubicBezTo>
                  <a:pt x="24006" y="158213"/>
                  <a:pt x="18607" y="172914"/>
                  <a:pt x="12856" y="184416"/>
                </a:cubicBezTo>
                <a:cubicBezTo>
                  <a:pt x="9604" y="190916"/>
                  <a:pt x="5905" y="197318"/>
                  <a:pt x="1603" y="203217"/>
                </a:cubicBezTo>
                <a:cubicBezTo>
                  <a:pt x="3" y="205368"/>
                  <a:pt x="-448" y="208167"/>
                  <a:pt x="455" y="210719"/>
                </a:cubicBezTo>
                <a:cubicBezTo>
                  <a:pt x="1354" y="213269"/>
                  <a:pt x="3453" y="215169"/>
                  <a:pt x="6055" y="215819"/>
                </a:cubicBezTo>
                <a:lnTo>
                  <a:pt x="38059" y="223820"/>
                </a:lnTo>
                <a:cubicBezTo>
                  <a:pt x="40159" y="224369"/>
                  <a:pt x="42409" y="223970"/>
                  <a:pt x="44258" y="222821"/>
                </a:cubicBezTo>
                <a:cubicBezTo>
                  <a:pt x="46108" y="221671"/>
                  <a:pt x="47408" y="219771"/>
                  <a:pt x="47808" y="217620"/>
                </a:cubicBezTo>
                <a:cubicBezTo>
                  <a:pt x="52109" y="196217"/>
                  <a:pt x="49958" y="177017"/>
                  <a:pt x="46758" y="163264"/>
                </a:cubicBezTo>
                <a:cubicBezTo>
                  <a:pt x="45158" y="156264"/>
                  <a:pt x="43007" y="149112"/>
                  <a:pt x="40056" y="142511"/>
                </a:cubicBezTo>
                <a:cubicBezTo>
                  <a:pt x="41007" y="124010"/>
                  <a:pt x="49657" y="107057"/>
                  <a:pt x="63410" y="95405"/>
                </a:cubicBezTo>
                <a:lnTo>
                  <a:pt x="148169" y="126008"/>
                </a:lnTo>
                <a:cubicBezTo>
                  <a:pt x="151968" y="127359"/>
                  <a:pt x="155968" y="128058"/>
                  <a:pt x="160020" y="128058"/>
                </a:cubicBezTo>
                <a:cubicBezTo>
                  <a:pt x="164072" y="128058"/>
                  <a:pt x="168072" y="127359"/>
                  <a:pt x="171871" y="126008"/>
                </a:cubicBezTo>
                <a:lnTo>
                  <a:pt x="312135" y="75304"/>
                </a:lnTo>
                <a:cubicBezTo>
                  <a:pt x="316884" y="73603"/>
                  <a:pt x="320037" y="69053"/>
                  <a:pt x="320037" y="64002"/>
                </a:cubicBezTo>
                <a:cubicBezTo>
                  <a:pt x="320037" y="58952"/>
                  <a:pt x="316888" y="54450"/>
                  <a:pt x="312135" y="52700"/>
                </a:cubicBezTo>
                <a:lnTo>
                  <a:pt x="171871" y="2046"/>
                </a:lnTo>
                <a:cubicBezTo>
                  <a:pt x="168072" y="695"/>
                  <a:pt x="164072" y="-5"/>
                  <a:pt x="160020" y="-5"/>
                </a:cubicBezTo>
                <a:cubicBezTo>
                  <a:pt x="155968" y="-5"/>
                  <a:pt x="151968" y="695"/>
                  <a:pt x="148169" y="2046"/>
                </a:cubicBezTo>
                <a:lnTo>
                  <a:pt x="7905" y="52700"/>
                </a:lnTo>
                <a:cubicBezTo>
                  <a:pt x="3156" y="54450"/>
                  <a:pt x="3" y="58952"/>
                  <a:pt x="3" y="64002"/>
                </a:cubicBezTo>
                <a:cubicBezTo>
                  <a:pt x="3" y="69053"/>
                  <a:pt x="3152" y="73554"/>
                  <a:pt x="7905" y="75304"/>
                </a:cubicBezTo>
                <a:lnTo>
                  <a:pt x="7908" y="75307"/>
                </a:lnTo>
                <a:moveTo>
                  <a:pt x="248332" y="115311"/>
                </a:moveTo>
                <a:lnTo>
                  <a:pt x="225081" y="123712"/>
                </a:lnTo>
                <a:lnTo>
                  <a:pt x="231430" y="183968"/>
                </a:lnTo>
                <a:cubicBezTo>
                  <a:pt x="229030" y="185718"/>
                  <a:pt x="225030" y="187967"/>
                  <a:pt x="219128" y="190268"/>
                </a:cubicBezTo>
                <a:cubicBezTo>
                  <a:pt x="205027" y="195819"/>
                  <a:pt x="184026" y="200020"/>
                  <a:pt x="160023" y="200020"/>
                </a:cubicBezTo>
                <a:cubicBezTo>
                  <a:pt x="136020" y="200020"/>
                  <a:pt x="115019" y="195819"/>
                  <a:pt x="100867" y="190318"/>
                </a:cubicBezTo>
                <a:cubicBezTo>
                  <a:pt x="94965" y="188017"/>
                  <a:pt x="90965" y="185718"/>
                  <a:pt x="88565" y="184017"/>
                </a:cubicBezTo>
                <a:lnTo>
                  <a:pt x="94914" y="123761"/>
                </a:lnTo>
                <a:lnTo>
                  <a:pt x="71663" y="115361"/>
                </a:lnTo>
                <a:lnTo>
                  <a:pt x="64011" y="188019"/>
                </a:lnTo>
                <a:cubicBezTo>
                  <a:pt x="64011" y="205671"/>
                  <a:pt x="107015" y="224022"/>
                  <a:pt x="160020" y="224022"/>
                </a:cubicBezTo>
                <a:cubicBezTo>
                  <a:pt x="213025" y="224022"/>
                  <a:pt x="256029" y="205671"/>
                  <a:pt x="256029" y="188019"/>
                </a:cubicBezTo>
                <a:lnTo>
                  <a:pt x="248376" y="115311"/>
                </a:lnTo>
                <a:lnTo>
                  <a:pt x="248332" y="115311"/>
                </a:lnTo>
                <a:moveTo>
                  <a:pt x="233732" y="182018"/>
                </a:moveTo>
                <a:cubicBezTo>
                  <a:pt x="233732" y="182018"/>
                  <a:pt x="233680" y="182068"/>
                  <a:pt x="233581" y="182218"/>
                </a:cubicBezTo>
                <a:cubicBezTo>
                  <a:pt x="233680" y="182068"/>
                  <a:pt x="233732" y="182018"/>
                  <a:pt x="233732" y="182018"/>
                </a:cubicBezTo>
                <a:moveTo>
                  <a:pt x="86318" y="182018"/>
                </a:moveTo>
                <a:cubicBezTo>
                  <a:pt x="86318" y="182018"/>
                  <a:pt x="86369" y="182068"/>
                  <a:pt x="86468" y="182218"/>
                </a:cubicBezTo>
                <a:cubicBezTo>
                  <a:pt x="86369" y="182068"/>
                  <a:pt x="86318" y="182018"/>
                  <a:pt x="86318" y="182018"/>
                </a:cubicBezTo>
              </a:path>
            </a:pathLst>
          </a:custGeom>
          <a:solidFill>
            <a:srgbClr val="FFFFFF"/>
          </a:solidFill>
          <a:ln/>
        </p:spPr>
        <p:txBody>
          <a:bodyPr wrap="square" lIns="0" tIns="0" rIns="0" bIns="0" rtlCol="0" anchor="ctr"/>
          <a:lstStyle/>
          <a:p>
            <a:pPr indent="0" marL="0">
              <a:buNone/>
            </a:pPr>
            <a:endParaRPr lang="en-US" dirty="0"/>
          </a:p>
        </p:txBody>
      </p:sp>
      <p:sp>
        <p:nvSpPr>
          <p:cNvPr id="34" name="Text 32"/>
          <p:cNvSpPr/>
          <p:nvPr/>
        </p:nvSpPr>
        <p:spPr>
          <a:xfrm>
            <a:off x="6539105" y="3480477"/>
            <a:ext cx="320040" cy="280035"/>
          </a:xfrm>
          <a:custGeom>
            <a:avLst/>
            <a:gdLst/>
            <a:ahLst/>
            <a:cxnLst/>
            <a:rect l="l" t="t" r="r" b="b"/>
            <a:pathLst>
              <a:path w="320040" h="280035">
                <a:moveTo>
                  <a:pt x="260033" y="30003"/>
                </a:moveTo>
                <a:cubicBezTo>
                  <a:pt x="265534" y="30003"/>
                  <a:pt x="270034" y="34503"/>
                  <a:pt x="270034" y="40003"/>
                </a:cubicBezTo>
                <a:cubicBezTo>
                  <a:pt x="270034" y="45503"/>
                  <a:pt x="265534" y="50003"/>
                  <a:pt x="260033" y="50003"/>
                </a:cubicBezTo>
                <a:lnTo>
                  <a:pt x="60008" y="50003"/>
                </a:lnTo>
                <a:cubicBezTo>
                  <a:pt x="54506" y="50003"/>
                  <a:pt x="50006" y="45503"/>
                  <a:pt x="50006" y="40003"/>
                </a:cubicBezTo>
                <a:cubicBezTo>
                  <a:pt x="50006" y="34503"/>
                  <a:pt x="54506" y="30003"/>
                  <a:pt x="60008" y="30003"/>
                </a:cubicBezTo>
                <a:lnTo>
                  <a:pt x="260033" y="30003"/>
                </a:lnTo>
                <a:moveTo>
                  <a:pt x="60008" y="0"/>
                </a:moveTo>
                <a:cubicBezTo>
                  <a:pt x="37941" y="0"/>
                  <a:pt x="20002" y="17939"/>
                  <a:pt x="20002" y="40006"/>
                </a:cubicBezTo>
                <a:cubicBezTo>
                  <a:pt x="20002" y="62070"/>
                  <a:pt x="37941" y="80012"/>
                  <a:pt x="60008" y="80012"/>
                </a:cubicBezTo>
                <a:lnTo>
                  <a:pt x="145020" y="80012"/>
                </a:lnTo>
                <a:lnTo>
                  <a:pt x="145020" y="90012"/>
                </a:lnTo>
                <a:lnTo>
                  <a:pt x="138830" y="96200"/>
                </a:lnTo>
                <a:lnTo>
                  <a:pt x="121266" y="113764"/>
                </a:lnTo>
                <a:lnTo>
                  <a:pt x="115016" y="120015"/>
                </a:lnTo>
                <a:lnTo>
                  <a:pt x="80013" y="120015"/>
                </a:lnTo>
                <a:cubicBezTo>
                  <a:pt x="49635" y="120015"/>
                  <a:pt x="25008" y="144644"/>
                  <a:pt x="25008" y="175022"/>
                </a:cubicBezTo>
                <a:lnTo>
                  <a:pt x="25008" y="200026"/>
                </a:lnTo>
                <a:lnTo>
                  <a:pt x="20009" y="200026"/>
                </a:lnTo>
                <a:cubicBezTo>
                  <a:pt x="8945" y="200026"/>
                  <a:pt x="6" y="208965"/>
                  <a:pt x="6" y="220029"/>
                </a:cubicBezTo>
                <a:lnTo>
                  <a:pt x="6" y="260035"/>
                </a:lnTo>
                <a:cubicBezTo>
                  <a:pt x="6" y="271099"/>
                  <a:pt x="8945" y="280038"/>
                  <a:pt x="20009" y="280038"/>
                </a:cubicBezTo>
                <a:lnTo>
                  <a:pt x="60014" y="280038"/>
                </a:lnTo>
                <a:cubicBezTo>
                  <a:pt x="71078" y="280038"/>
                  <a:pt x="80016" y="271099"/>
                  <a:pt x="80016" y="260035"/>
                </a:cubicBezTo>
                <a:lnTo>
                  <a:pt x="80016" y="220029"/>
                </a:lnTo>
                <a:cubicBezTo>
                  <a:pt x="80016" y="208965"/>
                  <a:pt x="71078" y="200026"/>
                  <a:pt x="60014" y="200026"/>
                </a:cubicBezTo>
                <a:lnTo>
                  <a:pt x="55015" y="200026"/>
                </a:lnTo>
                <a:lnTo>
                  <a:pt x="55015" y="175022"/>
                </a:lnTo>
                <a:cubicBezTo>
                  <a:pt x="55015" y="161208"/>
                  <a:pt x="66204" y="150017"/>
                  <a:pt x="80020" y="150017"/>
                </a:cubicBezTo>
                <a:lnTo>
                  <a:pt x="115026" y="150017"/>
                </a:lnTo>
                <a:lnTo>
                  <a:pt x="121215" y="156206"/>
                </a:lnTo>
                <a:lnTo>
                  <a:pt x="138779" y="173770"/>
                </a:lnTo>
                <a:lnTo>
                  <a:pt x="145029" y="180020"/>
                </a:lnTo>
                <a:lnTo>
                  <a:pt x="145029" y="200023"/>
                </a:lnTo>
                <a:lnTo>
                  <a:pt x="140030" y="200023"/>
                </a:lnTo>
                <a:cubicBezTo>
                  <a:pt x="128967" y="200023"/>
                  <a:pt x="120028" y="208962"/>
                  <a:pt x="120028" y="220026"/>
                </a:cubicBezTo>
                <a:lnTo>
                  <a:pt x="120028" y="260032"/>
                </a:lnTo>
                <a:cubicBezTo>
                  <a:pt x="120028" y="271096"/>
                  <a:pt x="128967" y="280035"/>
                  <a:pt x="140030" y="280035"/>
                </a:cubicBezTo>
                <a:lnTo>
                  <a:pt x="180035" y="280035"/>
                </a:lnTo>
                <a:cubicBezTo>
                  <a:pt x="191099" y="280035"/>
                  <a:pt x="200038" y="271096"/>
                  <a:pt x="200038" y="260032"/>
                </a:cubicBezTo>
                <a:lnTo>
                  <a:pt x="200038" y="220026"/>
                </a:lnTo>
                <a:cubicBezTo>
                  <a:pt x="200038" y="208962"/>
                  <a:pt x="191099" y="200023"/>
                  <a:pt x="180035" y="200023"/>
                </a:cubicBezTo>
                <a:lnTo>
                  <a:pt x="175036" y="200023"/>
                </a:lnTo>
                <a:lnTo>
                  <a:pt x="175036" y="180020"/>
                </a:lnTo>
                <a:lnTo>
                  <a:pt x="181226" y="173832"/>
                </a:lnTo>
                <a:lnTo>
                  <a:pt x="198790" y="156268"/>
                </a:lnTo>
                <a:lnTo>
                  <a:pt x="205040" y="150017"/>
                </a:lnTo>
                <a:lnTo>
                  <a:pt x="240046" y="150017"/>
                </a:lnTo>
                <a:cubicBezTo>
                  <a:pt x="253859" y="150017"/>
                  <a:pt x="265051" y="161208"/>
                  <a:pt x="265051" y="175022"/>
                </a:cubicBezTo>
                <a:lnTo>
                  <a:pt x="265051" y="200026"/>
                </a:lnTo>
                <a:lnTo>
                  <a:pt x="260052" y="200026"/>
                </a:lnTo>
                <a:cubicBezTo>
                  <a:pt x="248988" y="200026"/>
                  <a:pt x="240049" y="208965"/>
                  <a:pt x="240049" y="220029"/>
                </a:cubicBezTo>
                <a:lnTo>
                  <a:pt x="240049" y="260035"/>
                </a:lnTo>
                <a:cubicBezTo>
                  <a:pt x="240049" y="271099"/>
                  <a:pt x="248988" y="280038"/>
                  <a:pt x="260052" y="280038"/>
                </a:cubicBezTo>
                <a:lnTo>
                  <a:pt x="300057" y="280038"/>
                </a:lnTo>
                <a:cubicBezTo>
                  <a:pt x="311121" y="280038"/>
                  <a:pt x="320059" y="271099"/>
                  <a:pt x="320059" y="260035"/>
                </a:cubicBezTo>
                <a:lnTo>
                  <a:pt x="320059" y="220029"/>
                </a:lnTo>
                <a:cubicBezTo>
                  <a:pt x="320059" y="208965"/>
                  <a:pt x="311121" y="200026"/>
                  <a:pt x="300057" y="200026"/>
                </a:cubicBezTo>
                <a:lnTo>
                  <a:pt x="295058" y="200026"/>
                </a:lnTo>
                <a:lnTo>
                  <a:pt x="295058" y="175022"/>
                </a:lnTo>
                <a:cubicBezTo>
                  <a:pt x="295058" y="144644"/>
                  <a:pt x="270431" y="120015"/>
                  <a:pt x="240053" y="120015"/>
                </a:cubicBezTo>
                <a:lnTo>
                  <a:pt x="205050" y="120015"/>
                </a:lnTo>
                <a:lnTo>
                  <a:pt x="198860" y="113826"/>
                </a:lnTo>
                <a:lnTo>
                  <a:pt x="181297" y="96262"/>
                </a:lnTo>
                <a:lnTo>
                  <a:pt x="175046" y="90012"/>
                </a:lnTo>
                <a:lnTo>
                  <a:pt x="175046" y="80012"/>
                </a:lnTo>
                <a:lnTo>
                  <a:pt x="260058" y="80012"/>
                </a:lnTo>
                <a:cubicBezTo>
                  <a:pt x="282125" y="80012"/>
                  <a:pt x="300063" y="62073"/>
                  <a:pt x="300063" y="40006"/>
                </a:cubicBezTo>
                <a:cubicBezTo>
                  <a:pt x="300063" y="17942"/>
                  <a:pt x="282125" y="0"/>
                  <a:pt x="260058" y="0"/>
                </a:cubicBezTo>
                <a:lnTo>
                  <a:pt x="60008" y="0"/>
                </a:lnTo>
                <a:moveTo>
                  <a:pt x="30004" y="250032"/>
                </a:moveTo>
                <a:lnTo>
                  <a:pt x="30004" y="230029"/>
                </a:lnTo>
                <a:lnTo>
                  <a:pt x="50006" y="230029"/>
                </a:lnTo>
                <a:lnTo>
                  <a:pt x="50006" y="250032"/>
                </a:lnTo>
                <a:lnTo>
                  <a:pt x="30004" y="250032"/>
                </a:lnTo>
                <a:moveTo>
                  <a:pt x="150019" y="250032"/>
                </a:moveTo>
                <a:lnTo>
                  <a:pt x="150019" y="230029"/>
                </a:lnTo>
                <a:lnTo>
                  <a:pt x="170021" y="230029"/>
                </a:lnTo>
                <a:lnTo>
                  <a:pt x="170021" y="250032"/>
                </a:lnTo>
                <a:lnTo>
                  <a:pt x="150019" y="250032"/>
                </a:lnTo>
                <a:moveTo>
                  <a:pt x="270034" y="250032"/>
                </a:moveTo>
                <a:lnTo>
                  <a:pt x="270034" y="230029"/>
                </a:lnTo>
                <a:lnTo>
                  <a:pt x="290036" y="230029"/>
                </a:lnTo>
                <a:lnTo>
                  <a:pt x="290036" y="250032"/>
                </a:lnTo>
                <a:lnTo>
                  <a:pt x="270034" y="250032"/>
                </a:lnTo>
                <a:moveTo>
                  <a:pt x="142456" y="135016"/>
                </a:moveTo>
                <a:lnTo>
                  <a:pt x="160020" y="117452"/>
                </a:lnTo>
                <a:lnTo>
                  <a:pt x="177584" y="135016"/>
                </a:lnTo>
                <a:lnTo>
                  <a:pt x="160020" y="152580"/>
                </a:lnTo>
                <a:lnTo>
                  <a:pt x="142456" y="135016"/>
                </a:lnTo>
              </a:path>
            </a:pathLst>
          </a:custGeom>
          <a:solidFill>
            <a:srgbClr val="FFFFFF"/>
          </a:solidFill>
          <a:ln/>
        </p:spPr>
        <p:txBody>
          <a:bodyPr wrap="square" lIns="0" tIns="0" rIns="0" bIns="0" rtlCol="0" anchor="ctr"/>
          <a:lstStyle/>
          <a:p>
            <a:pPr indent="0" marL="0">
              <a:buNone/>
            </a:pPr>
            <a:endParaRPr lang="en-US" dirty="0"/>
          </a:p>
        </p:txBody>
      </p:sp>
      <p:sp>
        <p:nvSpPr>
          <p:cNvPr id="35" name="Text 33"/>
          <p:cNvSpPr/>
          <p:nvPr/>
        </p:nvSpPr>
        <p:spPr>
          <a:xfrm>
            <a:off x="6559108" y="1897585"/>
            <a:ext cx="280035" cy="320040"/>
          </a:xfrm>
          <a:custGeom>
            <a:avLst/>
            <a:gdLst/>
            <a:ahLst/>
            <a:cxnLst/>
            <a:rect l="l" t="t" r="r" b="b"/>
            <a:pathLst>
              <a:path w="280035" h="320040">
                <a:moveTo>
                  <a:pt x="190023" y="80010"/>
                </a:moveTo>
                <a:cubicBezTo>
                  <a:pt x="190023" y="52394"/>
                  <a:pt x="167635" y="30004"/>
                  <a:pt x="140018" y="30004"/>
                </a:cubicBezTo>
                <a:cubicBezTo>
                  <a:pt x="112400" y="30004"/>
                  <a:pt x="90012" y="52394"/>
                  <a:pt x="90012" y="80010"/>
                </a:cubicBezTo>
                <a:cubicBezTo>
                  <a:pt x="90012" y="107626"/>
                  <a:pt x="112400" y="130016"/>
                  <a:pt x="140018" y="130016"/>
                </a:cubicBezTo>
                <a:cubicBezTo>
                  <a:pt x="167635" y="130016"/>
                  <a:pt x="190023" y="107626"/>
                  <a:pt x="190023" y="80010"/>
                </a:cubicBezTo>
                <a:moveTo>
                  <a:pt x="60009" y="80010"/>
                </a:moveTo>
                <a:cubicBezTo>
                  <a:pt x="60009" y="35822"/>
                  <a:pt x="95831" y="0"/>
                  <a:pt x="140017" y="0"/>
                </a:cubicBezTo>
                <a:cubicBezTo>
                  <a:pt x="184207" y="0"/>
                  <a:pt x="220026" y="35822"/>
                  <a:pt x="220026" y="80010"/>
                </a:cubicBezTo>
                <a:cubicBezTo>
                  <a:pt x="220026" y="124198"/>
                  <a:pt x="184204" y="160020"/>
                  <a:pt x="140017" y="160020"/>
                </a:cubicBezTo>
                <a:cubicBezTo>
                  <a:pt x="95828" y="160020"/>
                  <a:pt x="60009" y="124198"/>
                  <a:pt x="60009" y="80010"/>
                </a:cubicBezTo>
                <a:lnTo>
                  <a:pt x="60009" y="80010"/>
                </a:lnTo>
                <a:moveTo>
                  <a:pt x="30815" y="290036"/>
                </a:moveTo>
                <a:lnTo>
                  <a:pt x="249279" y="290036"/>
                </a:lnTo>
                <a:cubicBezTo>
                  <a:pt x="243714" y="250470"/>
                  <a:pt x="209713" y="220028"/>
                  <a:pt x="168643" y="220028"/>
                </a:cubicBezTo>
                <a:lnTo>
                  <a:pt x="111510" y="220028"/>
                </a:lnTo>
                <a:cubicBezTo>
                  <a:pt x="70443" y="220028"/>
                  <a:pt x="36438" y="250470"/>
                  <a:pt x="30874" y="290036"/>
                </a:cubicBezTo>
                <a:lnTo>
                  <a:pt x="30815" y="290036"/>
                </a:lnTo>
                <a:moveTo>
                  <a:pt x="0" y="301474"/>
                </a:moveTo>
                <a:cubicBezTo>
                  <a:pt x="0" y="239905"/>
                  <a:pt x="49880" y="190024"/>
                  <a:pt x="111451" y="190024"/>
                </a:cubicBezTo>
                <a:lnTo>
                  <a:pt x="168584" y="190024"/>
                </a:lnTo>
                <a:cubicBezTo>
                  <a:pt x="230155" y="190024"/>
                  <a:pt x="280035" y="239905"/>
                  <a:pt x="280035" y="301474"/>
                </a:cubicBezTo>
                <a:cubicBezTo>
                  <a:pt x="280035" y="311725"/>
                  <a:pt x="271721" y="320040"/>
                  <a:pt x="261472" y="320040"/>
                </a:cubicBezTo>
                <a:lnTo>
                  <a:pt x="18566" y="320040"/>
                </a:lnTo>
                <a:cubicBezTo>
                  <a:pt x="8314" y="320040"/>
                  <a:pt x="3" y="311725"/>
                  <a:pt x="3" y="301474"/>
                </a:cubicBezTo>
                <a:lnTo>
                  <a:pt x="0" y="301474"/>
                </a:lnTo>
              </a:path>
            </a:pathLst>
          </a:custGeom>
          <a:solidFill>
            <a:srgbClr val="FFFFFF"/>
          </a:solidFill>
          <a:ln/>
        </p:spPr>
        <p:txBody>
          <a:bodyPr wrap="square" lIns="0" tIns="0" rIns="0" bIns="0" rtlCol="0" anchor="ctr"/>
          <a:lstStyle/>
          <a:p>
            <a:pPr indent="0" marL="0">
              <a:buNone/>
            </a:pPr>
            <a:endParaRPr lang="en-US" dirty="0"/>
          </a:p>
        </p:txBody>
      </p:sp>
      <p:sp>
        <p:nvSpPr>
          <p:cNvPr id="36" name="Text 34"/>
          <p:cNvSpPr/>
          <p:nvPr/>
        </p:nvSpPr>
        <p:spPr>
          <a:xfrm>
            <a:off x="844429" y="4910254"/>
            <a:ext cx="320040" cy="319915"/>
          </a:xfrm>
          <a:custGeom>
            <a:avLst/>
            <a:gdLst/>
            <a:ahLst/>
            <a:cxnLst/>
            <a:rect l="l" t="t" r="r" b="b"/>
            <a:pathLst>
              <a:path w="320040" h="319915">
                <a:moveTo>
                  <a:pt x="195672" y="4405"/>
                </a:moveTo>
                <a:cubicBezTo>
                  <a:pt x="201484" y="10215"/>
                  <a:pt x="201545" y="19588"/>
                  <a:pt x="195797" y="25462"/>
                </a:cubicBezTo>
                <a:lnTo>
                  <a:pt x="294578" y="124242"/>
                </a:lnTo>
                <a:cubicBezTo>
                  <a:pt x="300450" y="118493"/>
                  <a:pt x="309824" y="118557"/>
                  <a:pt x="315633" y="124367"/>
                </a:cubicBezTo>
                <a:cubicBezTo>
                  <a:pt x="321506" y="130241"/>
                  <a:pt x="321506" y="139736"/>
                  <a:pt x="315633" y="145549"/>
                </a:cubicBezTo>
                <a:lnTo>
                  <a:pt x="305200" y="156045"/>
                </a:lnTo>
                <a:lnTo>
                  <a:pt x="245656" y="215588"/>
                </a:lnTo>
                <a:lnTo>
                  <a:pt x="235658" y="225585"/>
                </a:lnTo>
                <a:cubicBezTo>
                  <a:pt x="229785" y="231459"/>
                  <a:pt x="220287" y="231459"/>
                  <a:pt x="214478" y="225585"/>
                </a:cubicBezTo>
                <a:cubicBezTo>
                  <a:pt x="208855" y="219961"/>
                  <a:pt x="208605" y="210901"/>
                  <a:pt x="213915" y="205030"/>
                </a:cubicBezTo>
                <a:lnTo>
                  <a:pt x="115070" y="106186"/>
                </a:lnTo>
                <a:cubicBezTo>
                  <a:pt x="109198" y="111436"/>
                  <a:pt x="100137" y="111247"/>
                  <a:pt x="94514" y="105623"/>
                </a:cubicBezTo>
                <a:cubicBezTo>
                  <a:pt x="88641" y="99750"/>
                  <a:pt x="88641" y="90255"/>
                  <a:pt x="94514" y="84442"/>
                </a:cubicBezTo>
                <a:lnTo>
                  <a:pt x="104512" y="74444"/>
                </a:lnTo>
                <a:lnTo>
                  <a:pt x="163995" y="14902"/>
                </a:lnTo>
                <a:lnTo>
                  <a:pt x="174428" y="4405"/>
                </a:lnTo>
                <a:cubicBezTo>
                  <a:pt x="180301" y="-1468"/>
                  <a:pt x="189800" y="-1468"/>
                  <a:pt x="195608" y="4405"/>
                </a:cubicBezTo>
                <a:lnTo>
                  <a:pt x="195672" y="4405"/>
                </a:lnTo>
                <a:moveTo>
                  <a:pt x="174553" y="46704"/>
                </a:moveTo>
                <a:lnTo>
                  <a:pt x="136254" y="85005"/>
                </a:lnTo>
                <a:lnTo>
                  <a:pt x="235034" y="183785"/>
                </a:lnTo>
                <a:lnTo>
                  <a:pt x="273333" y="145485"/>
                </a:lnTo>
                <a:lnTo>
                  <a:pt x="174553" y="46704"/>
                </a:lnTo>
                <a:moveTo>
                  <a:pt x="139691" y="159107"/>
                </a:moveTo>
                <a:lnTo>
                  <a:pt x="160871" y="180288"/>
                </a:lnTo>
                <a:lnTo>
                  <a:pt x="129757" y="211403"/>
                </a:lnTo>
                <a:lnTo>
                  <a:pt x="134132" y="215776"/>
                </a:lnTo>
                <a:cubicBezTo>
                  <a:pt x="141941" y="223585"/>
                  <a:pt x="141941" y="236270"/>
                  <a:pt x="134132" y="244079"/>
                </a:cubicBezTo>
                <a:lnTo>
                  <a:pt x="64155" y="314057"/>
                </a:lnTo>
                <a:cubicBezTo>
                  <a:pt x="56346" y="321867"/>
                  <a:pt x="43663" y="321867"/>
                  <a:pt x="35851" y="314057"/>
                </a:cubicBezTo>
                <a:lnTo>
                  <a:pt x="5860" y="284065"/>
                </a:lnTo>
                <a:cubicBezTo>
                  <a:pt x="-1949" y="276256"/>
                  <a:pt x="-1949" y="263572"/>
                  <a:pt x="5860" y="255762"/>
                </a:cubicBezTo>
                <a:lnTo>
                  <a:pt x="75837" y="185784"/>
                </a:lnTo>
                <a:cubicBezTo>
                  <a:pt x="83646" y="177975"/>
                  <a:pt x="96329" y="177975"/>
                  <a:pt x="104141" y="185784"/>
                </a:cubicBezTo>
                <a:lnTo>
                  <a:pt x="108516" y="190157"/>
                </a:lnTo>
                <a:lnTo>
                  <a:pt x="139630" y="159043"/>
                </a:lnTo>
                <a:lnTo>
                  <a:pt x="139691" y="159107"/>
                </a:lnTo>
                <a:moveTo>
                  <a:pt x="90082" y="214090"/>
                </a:moveTo>
                <a:lnTo>
                  <a:pt x="34225" y="269948"/>
                </a:lnTo>
                <a:lnTo>
                  <a:pt x="50096" y="285819"/>
                </a:lnTo>
                <a:lnTo>
                  <a:pt x="105952" y="229961"/>
                </a:lnTo>
                <a:lnTo>
                  <a:pt x="90082" y="214090"/>
                </a:lnTo>
              </a:path>
            </a:pathLst>
          </a:custGeom>
          <a:solidFill>
            <a:srgbClr val="FFFFFF"/>
          </a:solidFill>
          <a:ln/>
        </p:spPr>
        <p:txBody>
          <a:bodyPr wrap="square" lIns="0" tIns="0" rIns="0" bIns="0" rtlCol="0" anchor="ctr"/>
          <a:lstStyle/>
          <a:p>
            <a:pPr indent="0" marL="0">
              <a:buNone/>
            </a:pPr>
            <a:endParaRPr lang="en-US" dirty="0"/>
          </a:p>
        </p:txBody>
      </p:sp>
      <p:sp>
        <p:nvSpPr>
          <p:cNvPr id="37" name="Text 35"/>
          <p:cNvSpPr/>
          <p:nvPr/>
        </p:nvSpPr>
        <p:spPr>
          <a:xfrm>
            <a:off x="844429" y="3496034"/>
            <a:ext cx="320040" cy="248920"/>
          </a:xfrm>
          <a:custGeom>
            <a:avLst/>
            <a:gdLst/>
            <a:ahLst/>
            <a:cxnLst/>
            <a:rect l="l" t="t" r="r" b="b"/>
            <a:pathLst>
              <a:path w="320040" h="248920">
                <a:moveTo>
                  <a:pt x="306704" y="0"/>
                </a:moveTo>
                <a:cubicBezTo>
                  <a:pt x="299314" y="0"/>
                  <a:pt x="293368" y="5944"/>
                  <a:pt x="293368" y="13335"/>
                </a:cubicBezTo>
                <a:lnTo>
                  <a:pt x="293368" y="16501"/>
                </a:lnTo>
                <a:lnTo>
                  <a:pt x="26669" y="89233"/>
                </a:lnTo>
                <a:lnTo>
                  <a:pt x="26669" y="84454"/>
                </a:lnTo>
                <a:cubicBezTo>
                  <a:pt x="26669" y="77063"/>
                  <a:pt x="20723" y="71119"/>
                  <a:pt x="13333" y="71119"/>
                </a:cubicBezTo>
                <a:cubicBezTo>
                  <a:pt x="5943" y="71119"/>
                  <a:pt x="-3" y="77063"/>
                  <a:pt x="-3" y="84454"/>
                </a:cubicBezTo>
                <a:lnTo>
                  <a:pt x="-3" y="96511"/>
                </a:lnTo>
                <a:lnTo>
                  <a:pt x="-3" y="106680"/>
                </a:lnTo>
                <a:lnTo>
                  <a:pt x="-3" y="142240"/>
                </a:lnTo>
                <a:lnTo>
                  <a:pt x="-3" y="152409"/>
                </a:lnTo>
                <a:lnTo>
                  <a:pt x="-3" y="164467"/>
                </a:lnTo>
                <a:cubicBezTo>
                  <a:pt x="-3" y="171857"/>
                  <a:pt x="5943" y="177801"/>
                  <a:pt x="13333" y="177801"/>
                </a:cubicBezTo>
                <a:cubicBezTo>
                  <a:pt x="20723" y="177801"/>
                  <a:pt x="26669" y="171857"/>
                  <a:pt x="26669" y="164467"/>
                </a:cubicBezTo>
                <a:lnTo>
                  <a:pt x="26669" y="159687"/>
                </a:lnTo>
                <a:lnTo>
                  <a:pt x="92012" y="177522"/>
                </a:lnTo>
                <a:cubicBezTo>
                  <a:pt x="90011" y="183190"/>
                  <a:pt x="88901" y="189247"/>
                  <a:pt x="88901" y="195579"/>
                </a:cubicBezTo>
                <a:cubicBezTo>
                  <a:pt x="88901" y="225026"/>
                  <a:pt x="112792" y="248920"/>
                  <a:pt x="142242" y="248920"/>
                </a:cubicBezTo>
                <a:cubicBezTo>
                  <a:pt x="168299" y="248920"/>
                  <a:pt x="190027" y="230251"/>
                  <a:pt x="194639" y="205526"/>
                </a:cubicBezTo>
                <a:lnTo>
                  <a:pt x="293374" y="232419"/>
                </a:lnTo>
                <a:lnTo>
                  <a:pt x="293374" y="235586"/>
                </a:lnTo>
                <a:cubicBezTo>
                  <a:pt x="293374" y="242976"/>
                  <a:pt x="299321" y="248920"/>
                  <a:pt x="306710" y="248920"/>
                </a:cubicBezTo>
                <a:cubicBezTo>
                  <a:pt x="314100" y="248920"/>
                  <a:pt x="320046" y="242976"/>
                  <a:pt x="320046" y="235586"/>
                </a:cubicBezTo>
                <a:lnTo>
                  <a:pt x="320046" y="222251"/>
                </a:lnTo>
                <a:lnTo>
                  <a:pt x="320046" y="26672"/>
                </a:lnTo>
                <a:lnTo>
                  <a:pt x="320046" y="13337"/>
                </a:lnTo>
                <a:cubicBezTo>
                  <a:pt x="320046" y="5947"/>
                  <a:pt x="314100" y="3"/>
                  <a:pt x="306710" y="3"/>
                </a:cubicBezTo>
                <a:lnTo>
                  <a:pt x="306704" y="0"/>
                </a:lnTo>
                <a:moveTo>
                  <a:pt x="293371" y="204804"/>
                </a:moveTo>
                <a:lnTo>
                  <a:pt x="26672" y="132072"/>
                </a:lnTo>
                <a:lnTo>
                  <a:pt x="26672" y="116903"/>
                </a:lnTo>
                <a:lnTo>
                  <a:pt x="293371" y="44116"/>
                </a:lnTo>
                <a:lnTo>
                  <a:pt x="293371" y="204804"/>
                </a:lnTo>
                <a:moveTo>
                  <a:pt x="115570" y="195579"/>
                </a:moveTo>
                <a:cubicBezTo>
                  <a:pt x="115570" y="191634"/>
                  <a:pt x="116402" y="187912"/>
                  <a:pt x="117960" y="184577"/>
                </a:cubicBezTo>
                <a:lnTo>
                  <a:pt x="168799" y="198412"/>
                </a:lnTo>
                <a:cubicBezTo>
                  <a:pt x="167355" y="211801"/>
                  <a:pt x="156020" y="222193"/>
                  <a:pt x="142296" y="222193"/>
                </a:cubicBezTo>
                <a:cubicBezTo>
                  <a:pt x="127571" y="222193"/>
                  <a:pt x="115627" y="210248"/>
                  <a:pt x="115627" y="195524"/>
                </a:cubicBezTo>
                <a:lnTo>
                  <a:pt x="115570" y="195579"/>
                </a:lnTo>
              </a:path>
            </a:pathLst>
          </a:custGeom>
          <a:solidFill>
            <a:srgbClr val="FFFFFF"/>
          </a:solidFill>
          <a:ln/>
        </p:spPr>
        <p:txBody>
          <a:bodyPr wrap="square" lIns="0" tIns="0" rIns="0" bIns="0" rtlCol="0" anchor="ctr"/>
          <a:lstStyle/>
          <a:p>
            <a:pPr indent="0" marL="0">
              <a:buNone/>
            </a:pPr>
            <a:endParaRPr lang="en-US" dirty="0"/>
          </a:p>
        </p:txBody>
      </p:sp>
      <p:sp>
        <p:nvSpPr>
          <p:cNvPr id="38" name="Text 36"/>
          <p:cNvSpPr/>
          <p:nvPr/>
        </p:nvSpPr>
        <p:spPr>
          <a:xfrm>
            <a:off x="854446" y="1897585"/>
            <a:ext cx="300006" cy="320040"/>
          </a:xfrm>
          <a:custGeom>
            <a:avLst/>
            <a:gdLst/>
            <a:ahLst/>
            <a:cxnLst/>
            <a:rect l="l" t="t" r="r" b="b"/>
            <a:pathLst>
              <a:path w="300006" h="320040">
                <a:moveTo>
                  <a:pt x="159987" y="0"/>
                </a:moveTo>
                <a:cubicBezTo>
                  <a:pt x="144174" y="0"/>
                  <a:pt x="130485" y="9188"/>
                  <a:pt x="123984" y="22502"/>
                </a:cubicBezTo>
                <a:cubicBezTo>
                  <a:pt x="119610" y="20876"/>
                  <a:pt x="114920" y="20003"/>
                  <a:pt x="109982" y="20003"/>
                </a:cubicBezTo>
                <a:cubicBezTo>
                  <a:pt x="87917" y="20003"/>
                  <a:pt x="69976" y="37941"/>
                  <a:pt x="69976" y="60008"/>
                </a:cubicBezTo>
                <a:lnTo>
                  <a:pt x="69976" y="163457"/>
                </a:lnTo>
                <a:lnTo>
                  <a:pt x="68287" y="161771"/>
                </a:lnTo>
                <a:cubicBezTo>
                  <a:pt x="52660" y="146143"/>
                  <a:pt x="27346" y="146143"/>
                  <a:pt x="11718" y="161771"/>
                </a:cubicBezTo>
                <a:cubicBezTo>
                  <a:pt x="-3909" y="177398"/>
                  <a:pt x="-3909" y="202713"/>
                  <a:pt x="11718" y="218341"/>
                </a:cubicBezTo>
                <a:lnTo>
                  <a:pt x="66538" y="273161"/>
                </a:lnTo>
                <a:cubicBezTo>
                  <a:pt x="96542" y="303164"/>
                  <a:pt x="137235" y="320040"/>
                  <a:pt x="179677" y="320040"/>
                </a:cubicBezTo>
                <a:lnTo>
                  <a:pt x="184990" y="320040"/>
                </a:lnTo>
                <a:lnTo>
                  <a:pt x="189991" y="320040"/>
                </a:lnTo>
                <a:cubicBezTo>
                  <a:pt x="190930" y="320040"/>
                  <a:pt x="191866" y="319976"/>
                  <a:pt x="192805" y="319790"/>
                </a:cubicBezTo>
                <a:cubicBezTo>
                  <a:pt x="250124" y="315915"/>
                  <a:pt x="295944" y="270159"/>
                  <a:pt x="299757" y="212839"/>
                </a:cubicBezTo>
                <a:cubicBezTo>
                  <a:pt x="299946" y="211902"/>
                  <a:pt x="300006" y="210964"/>
                  <a:pt x="300006" y="210026"/>
                </a:cubicBezTo>
                <a:lnTo>
                  <a:pt x="300006" y="100013"/>
                </a:lnTo>
                <a:cubicBezTo>
                  <a:pt x="300006" y="77946"/>
                  <a:pt x="282066" y="60008"/>
                  <a:pt x="260000" y="60008"/>
                </a:cubicBezTo>
                <a:cubicBezTo>
                  <a:pt x="256562" y="60008"/>
                  <a:pt x="253187" y="60446"/>
                  <a:pt x="249998" y="61259"/>
                </a:cubicBezTo>
                <a:lnTo>
                  <a:pt x="249998" y="60008"/>
                </a:lnTo>
                <a:cubicBezTo>
                  <a:pt x="249998" y="37941"/>
                  <a:pt x="232058" y="20002"/>
                  <a:pt x="209992" y="20002"/>
                </a:cubicBezTo>
                <a:cubicBezTo>
                  <a:pt x="205054" y="20002"/>
                  <a:pt x="200365" y="20876"/>
                  <a:pt x="195991" y="22502"/>
                </a:cubicBezTo>
                <a:cubicBezTo>
                  <a:pt x="189490" y="9188"/>
                  <a:pt x="175801" y="0"/>
                  <a:pt x="159987" y="0"/>
                </a:cubicBezTo>
                <a:lnTo>
                  <a:pt x="159987" y="0"/>
                </a:lnTo>
                <a:moveTo>
                  <a:pt x="149988" y="60072"/>
                </a:moveTo>
                <a:lnTo>
                  <a:pt x="149988" y="60008"/>
                </a:lnTo>
                <a:lnTo>
                  <a:pt x="149988" y="40005"/>
                </a:lnTo>
                <a:cubicBezTo>
                  <a:pt x="149988" y="34504"/>
                  <a:pt x="154488" y="30004"/>
                  <a:pt x="159990" y="30004"/>
                </a:cubicBezTo>
                <a:cubicBezTo>
                  <a:pt x="165492" y="30004"/>
                  <a:pt x="169992" y="34504"/>
                  <a:pt x="169992" y="40005"/>
                </a:cubicBezTo>
                <a:lnTo>
                  <a:pt x="169992" y="59943"/>
                </a:lnTo>
                <a:lnTo>
                  <a:pt x="169992" y="60008"/>
                </a:lnTo>
                <a:lnTo>
                  <a:pt x="169992" y="145020"/>
                </a:lnTo>
                <a:cubicBezTo>
                  <a:pt x="169992" y="153334"/>
                  <a:pt x="176680" y="160023"/>
                  <a:pt x="184996" y="160023"/>
                </a:cubicBezTo>
                <a:cubicBezTo>
                  <a:pt x="193309" y="160023"/>
                  <a:pt x="199999" y="153334"/>
                  <a:pt x="199999" y="145023"/>
                </a:cubicBezTo>
                <a:lnTo>
                  <a:pt x="199999" y="60014"/>
                </a:lnTo>
                <a:cubicBezTo>
                  <a:pt x="199999" y="60014"/>
                  <a:pt x="199999" y="60014"/>
                  <a:pt x="199999" y="59950"/>
                </a:cubicBezTo>
                <a:cubicBezTo>
                  <a:pt x="199999" y="54449"/>
                  <a:pt x="204499" y="49949"/>
                  <a:pt x="210001" y="49949"/>
                </a:cubicBezTo>
                <a:cubicBezTo>
                  <a:pt x="215503" y="49949"/>
                  <a:pt x="220003" y="54449"/>
                  <a:pt x="220003" y="59950"/>
                </a:cubicBezTo>
                <a:lnTo>
                  <a:pt x="220003" y="94892"/>
                </a:lnTo>
                <a:lnTo>
                  <a:pt x="220003" y="94956"/>
                </a:lnTo>
                <a:lnTo>
                  <a:pt x="220003" y="144962"/>
                </a:lnTo>
                <a:cubicBezTo>
                  <a:pt x="220003" y="153277"/>
                  <a:pt x="226691" y="159966"/>
                  <a:pt x="235007" y="159966"/>
                </a:cubicBezTo>
                <a:cubicBezTo>
                  <a:pt x="243320" y="159966"/>
                  <a:pt x="250010" y="153277"/>
                  <a:pt x="250010" y="144965"/>
                </a:cubicBezTo>
                <a:lnTo>
                  <a:pt x="250010" y="100022"/>
                </a:lnTo>
                <a:lnTo>
                  <a:pt x="250010" y="99958"/>
                </a:lnTo>
                <a:cubicBezTo>
                  <a:pt x="250010" y="94457"/>
                  <a:pt x="254510" y="89957"/>
                  <a:pt x="260012" y="89957"/>
                </a:cubicBezTo>
                <a:cubicBezTo>
                  <a:pt x="265514" y="89957"/>
                  <a:pt x="270015" y="94457"/>
                  <a:pt x="270015" y="99958"/>
                </a:cubicBezTo>
                <a:lnTo>
                  <a:pt x="270015" y="208036"/>
                </a:lnTo>
                <a:cubicBezTo>
                  <a:pt x="269952" y="208410"/>
                  <a:pt x="269952" y="208849"/>
                  <a:pt x="269888" y="209223"/>
                </a:cubicBezTo>
                <a:cubicBezTo>
                  <a:pt x="267764" y="252790"/>
                  <a:pt x="232823" y="287732"/>
                  <a:pt x="189253" y="289857"/>
                </a:cubicBezTo>
                <a:cubicBezTo>
                  <a:pt x="188878" y="289857"/>
                  <a:pt x="188440" y="289921"/>
                  <a:pt x="188065" y="289982"/>
                </a:cubicBezTo>
                <a:lnTo>
                  <a:pt x="185002" y="289982"/>
                </a:lnTo>
                <a:lnTo>
                  <a:pt x="179689" y="289982"/>
                </a:lnTo>
                <a:cubicBezTo>
                  <a:pt x="145185" y="289982"/>
                  <a:pt x="112118" y="276294"/>
                  <a:pt x="87740" y="251913"/>
                </a:cubicBezTo>
                <a:lnTo>
                  <a:pt x="32919" y="197094"/>
                </a:lnTo>
                <a:cubicBezTo>
                  <a:pt x="29043" y="193218"/>
                  <a:pt x="29043" y="186843"/>
                  <a:pt x="32919" y="182967"/>
                </a:cubicBezTo>
                <a:cubicBezTo>
                  <a:pt x="36796" y="179091"/>
                  <a:pt x="43171" y="179091"/>
                  <a:pt x="47047" y="182967"/>
                </a:cubicBezTo>
                <a:lnTo>
                  <a:pt x="74362" y="210282"/>
                </a:lnTo>
                <a:cubicBezTo>
                  <a:pt x="78676" y="214597"/>
                  <a:pt x="85115" y="215845"/>
                  <a:pt x="90740" y="213534"/>
                </a:cubicBezTo>
                <a:cubicBezTo>
                  <a:pt x="96365" y="211220"/>
                  <a:pt x="99992" y="205722"/>
                  <a:pt x="99992" y="199657"/>
                </a:cubicBezTo>
                <a:lnTo>
                  <a:pt x="99992" y="60014"/>
                </a:lnTo>
                <a:cubicBezTo>
                  <a:pt x="99992" y="54513"/>
                  <a:pt x="104492" y="50013"/>
                  <a:pt x="109994" y="50013"/>
                </a:cubicBezTo>
                <a:cubicBezTo>
                  <a:pt x="115496" y="50013"/>
                  <a:pt x="119996" y="54452"/>
                  <a:pt x="119996" y="59950"/>
                </a:cubicBezTo>
                <a:lnTo>
                  <a:pt x="119996" y="145023"/>
                </a:lnTo>
                <a:cubicBezTo>
                  <a:pt x="119996" y="153338"/>
                  <a:pt x="126683" y="160027"/>
                  <a:pt x="135000" y="160027"/>
                </a:cubicBezTo>
                <a:cubicBezTo>
                  <a:pt x="143313" y="160027"/>
                  <a:pt x="150003" y="153338"/>
                  <a:pt x="150003" y="145026"/>
                </a:cubicBezTo>
                <a:lnTo>
                  <a:pt x="149988" y="60072"/>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7" name="Text 5"/>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Emerging Threat Landscape</a:t>
            </a:r>
            <a:endParaRPr lang="en-US" sz="2800"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335"/>
              </a:spcBef>
              <a:buNone/>
            </a:pPr>
            <a:r>
              <a:rPr lang="en-US" sz="1603" dirty="0">
                <a:solidFill>
                  <a:srgbClr val="FFFFFF"/>
                </a:solidFill>
                <a:latin typeface="Figtree Regular" pitchFamily="34" charset="0"/>
                <a:ea typeface="Figtree Regular" pitchFamily="34" charset="-122"/>
                <a:cs typeface="Figtree Regular" pitchFamily="34" charset="-120"/>
              </a:rPr>
              <a:t>Synthetic personas engage in long-term video relationships, building emotional connections through AI-generated video calls. These fabricated interactions are later exploited for financial gain, intensifying traditional romance scams.</a:t>
            </a:r>
            <a:endParaRPr lang="en-US" sz="1603"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Romance Scams</a:t>
            </a:r>
            <a:endParaRPr lang="en-US" sz="2030" dirty="0"/>
          </a:p>
        </p:txBody>
      </p:sp>
      <p:sp>
        <p:nvSpPr>
          <p:cNvPr id="18" name="Text 16"/>
          <p:cNvSpPr/>
          <p:nvPr/>
        </p:nvSpPr>
        <p:spPr>
          <a:xfrm>
            <a:off x="6398692" y="4222905"/>
            <a:ext cx="274320" cy="234286"/>
          </a:xfrm>
          <a:custGeom>
            <a:avLst/>
            <a:gdLst/>
            <a:ahLst/>
            <a:cxnLst/>
            <a:rect l="l" t="t" r="r" b="b"/>
            <a:pathLst>
              <a:path w="274320" h="234286">
                <a:moveTo>
                  <a:pt x="120981" y="227911"/>
                </a:moveTo>
                <a:lnTo>
                  <a:pt x="119642" y="226678"/>
                </a:lnTo>
                <a:lnTo>
                  <a:pt x="25772" y="139508"/>
                </a:lnTo>
                <a:cubicBezTo>
                  <a:pt x="9324" y="124237"/>
                  <a:pt x="0" y="102807"/>
                  <a:pt x="0" y="80358"/>
                </a:cubicBezTo>
                <a:lnTo>
                  <a:pt x="0" y="78589"/>
                </a:lnTo>
                <a:cubicBezTo>
                  <a:pt x="0" y="40869"/>
                  <a:pt x="26790" y="8509"/>
                  <a:pt x="63865" y="1436"/>
                </a:cubicBezTo>
                <a:cubicBezTo>
                  <a:pt x="84973" y="-2636"/>
                  <a:pt x="106565" y="2240"/>
                  <a:pt x="123765" y="14348"/>
                </a:cubicBezTo>
                <a:cubicBezTo>
                  <a:pt x="128588" y="17778"/>
                  <a:pt x="133086" y="21742"/>
                  <a:pt x="137160" y="26296"/>
                </a:cubicBezTo>
                <a:cubicBezTo>
                  <a:pt x="139410" y="23724"/>
                  <a:pt x="141821" y="21367"/>
                  <a:pt x="144394" y="19169"/>
                </a:cubicBezTo>
                <a:cubicBezTo>
                  <a:pt x="146377" y="17454"/>
                  <a:pt x="148413" y="15847"/>
                  <a:pt x="150555" y="14348"/>
                </a:cubicBezTo>
                <a:lnTo>
                  <a:pt x="150555" y="14348"/>
                </a:lnTo>
                <a:cubicBezTo>
                  <a:pt x="167755" y="2240"/>
                  <a:pt x="189347" y="-2636"/>
                  <a:pt x="210456" y="1382"/>
                </a:cubicBezTo>
                <a:cubicBezTo>
                  <a:pt x="247533" y="8455"/>
                  <a:pt x="274320" y="40869"/>
                  <a:pt x="274320" y="78589"/>
                </a:cubicBezTo>
                <a:lnTo>
                  <a:pt x="274320" y="80358"/>
                </a:lnTo>
                <a:cubicBezTo>
                  <a:pt x="274320" y="102807"/>
                  <a:pt x="264999" y="124237"/>
                  <a:pt x="248548" y="139508"/>
                </a:cubicBezTo>
                <a:lnTo>
                  <a:pt x="154678" y="226678"/>
                </a:lnTo>
                <a:lnTo>
                  <a:pt x="153340" y="227911"/>
                </a:lnTo>
                <a:cubicBezTo>
                  <a:pt x="148945" y="231982"/>
                  <a:pt x="143160" y="234285"/>
                  <a:pt x="137160" y="234285"/>
                </a:cubicBezTo>
                <a:cubicBezTo>
                  <a:pt x="131161" y="234285"/>
                  <a:pt x="125373" y="232036"/>
                  <a:pt x="120981" y="227911"/>
                </a:cubicBezTo>
                <a:lnTo>
                  <a:pt x="120981" y="227911"/>
                </a:lnTo>
                <a:moveTo>
                  <a:pt x="128105" y="54746"/>
                </a:moveTo>
                <a:cubicBezTo>
                  <a:pt x="127891" y="54584"/>
                  <a:pt x="127729" y="54371"/>
                  <a:pt x="127570" y="54155"/>
                </a:cubicBezTo>
                <a:lnTo>
                  <a:pt x="118032" y="43439"/>
                </a:lnTo>
                <a:lnTo>
                  <a:pt x="117977" y="43385"/>
                </a:lnTo>
                <a:lnTo>
                  <a:pt x="117977" y="43385"/>
                </a:lnTo>
                <a:cubicBezTo>
                  <a:pt x="105599" y="29508"/>
                  <a:pt x="86902" y="23185"/>
                  <a:pt x="68684" y="26669"/>
                </a:cubicBezTo>
                <a:cubicBezTo>
                  <a:pt x="43716" y="31437"/>
                  <a:pt x="25715" y="53190"/>
                  <a:pt x="25715" y="78586"/>
                </a:cubicBezTo>
                <a:lnTo>
                  <a:pt x="25715" y="80355"/>
                </a:lnTo>
                <a:cubicBezTo>
                  <a:pt x="25715" y="95626"/>
                  <a:pt x="32090" y="110252"/>
                  <a:pt x="43288" y="120645"/>
                </a:cubicBezTo>
                <a:lnTo>
                  <a:pt x="137157" y="207816"/>
                </a:lnTo>
                <a:lnTo>
                  <a:pt x="231027" y="120645"/>
                </a:lnTo>
                <a:cubicBezTo>
                  <a:pt x="242225" y="110250"/>
                  <a:pt x="248600" y="95624"/>
                  <a:pt x="248600" y="80355"/>
                </a:cubicBezTo>
                <a:lnTo>
                  <a:pt x="248600" y="78586"/>
                </a:lnTo>
                <a:cubicBezTo>
                  <a:pt x="248600" y="53244"/>
                  <a:pt x="230596" y="31439"/>
                  <a:pt x="205682" y="26669"/>
                </a:cubicBezTo>
                <a:cubicBezTo>
                  <a:pt x="187465" y="23187"/>
                  <a:pt x="168712" y="29562"/>
                  <a:pt x="156390" y="43385"/>
                </a:cubicBezTo>
                <a:cubicBezTo>
                  <a:pt x="156390" y="43385"/>
                  <a:pt x="156390" y="43385"/>
                  <a:pt x="156335" y="43439"/>
                </a:cubicBezTo>
                <a:cubicBezTo>
                  <a:pt x="156280" y="43493"/>
                  <a:pt x="156335" y="43439"/>
                  <a:pt x="156280" y="43493"/>
                </a:cubicBezTo>
                <a:lnTo>
                  <a:pt x="146742" y="54209"/>
                </a:lnTo>
                <a:cubicBezTo>
                  <a:pt x="146580" y="54422"/>
                  <a:pt x="146366" y="54584"/>
                  <a:pt x="146207" y="54799"/>
                </a:cubicBezTo>
                <a:cubicBezTo>
                  <a:pt x="143796" y="57210"/>
                  <a:pt x="140529" y="58550"/>
                  <a:pt x="137152" y="58550"/>
                </a:cubicBezTo>
                <a:cubicBezTo>
                  <a:pt x="133778" y="58550"/>
                  <a:pt x="130508" y="57210"/>
                  <a:pt x="128096" y="54799"/>
                </a:cubicBezTo>
                <a:lnTo>
                  <a:pt x="128105" y="54746"/>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335"/>
              </a:spcBef>
              <a:buNone/>
            </a:pPr>
            <a:r>
              <a:rPr lang="en-US" sz="1603" dirty="0">
                <a:solidFill>
                  <a:srgbClr val="FFFFFF"/>
                </a:solidFill>
                <a:latin typeface="Figtree Regular" pitchFamily="34" charset="0"/>
                <a:ea typeface="Figtree Regular" pitchFamily="34" charset="-122"/>
                <a:cs typeface="Figtree Regular" pitchFamily="34" charset="-120"/>
              </a:rPr>
              <a:t>Attackers use advanced deepfake technology to conduct live fraud across language barriers. A criminal speaking one language can impersonate a native speaker in another during interactive video calls, widening the scope and plausibility of deception.</a:t>
            </a:r>
            <a:endParaRPr lang="en-US" sz="1603"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Real-Time Translation Deepfakes</a:t>
            </a:r>
            <a:endParaRPr lang="en-US" sz="2030" dirty="0"/>
          </a:p>
        </p:txBody>
      </p:sp>
      <p:sp>
        <p:nvSpPr>
          <p:cNvPr id="21" name="Text 19"/>
          <p:cNvSpPr/>
          <p:nvPr/>
        </p:nvSpPr>
        <p:spPr>
          <a:xfrm>
            <a:off x="6398692" y="1746007"/>
            <a:ext cx="274320" cy="274320"/>
          </a:xfrm>
          <a:custGeom>
            <a:avLst/>
            <a:gdLst/>
            <a:ahLst/>
            <a:cxnLst/>
            <a:rect l="l" t="t" r="r" b="b"/>
            <a:pathLst>
              <a:path w="274320" h="274320">
                <a:moveTo>
                  <a:pt x="137160" y="248603"/>
                </a:moveTo>
                <a:cubicBezTo>
                  <a:pt x="141124" y="248603"/>
                  <a:pt x="151625" y="244746"/>
                  <a:pt x="162664" y="222671"/>
                </a:cubicBezTo>
                <a:cubicBezTo>
                  <a:pt x="167379" y="213188"/>
                  <a:pt x="171450" y="201669"/>
                  <a:pt x="174451" y="188595"/>
                </a:cubicBezTo>
                <a:lnTo>
                  <a:pt x="99872" y="188595"/>
                </a:lnTo>
                <a:cubicBezTo>
                  <a:pt x="102873" y="201669"/>
                  <a:pt x="106944" y="213188"/>
                  <a:pt x="111659" y="222671"/>
                </a:cubicBezTo>
                <a:cubicBezTo>
                  <a:pt x="122695" y="244746"/>
                  <a:pt x="133199" y="248603"/>
                  <a:pt x="137163" y="248603"/>
                </a:cubicBezTo>
                <a:lnTo>
                  <a:pt x="137160" y="248603"/>
                </a:lnTo>
                <a:moveTo>
                  <a:pt x="95636" y="162878"/>
                </a:moveTo>
                <a:lnTo>
                  <a:pt x="178681" y="162878"/>
                </a:lnTo>
                <a:cubicBezTo>
                  <a:pt x="179540" y="154681"/>
                  <a:pt x="180020" y="146053"/>
                  <a:pt x="180020" y="137160"/>
                </a:cubicBezTo>
                <a:cubicBezTo>
                  <a:pt x="180020" y="128267"/>
                  <a:pt x="179537" y="119639"/>
                  <a:pt x="178681" y="111443"/>
                </a:cubicBezTo>
                <a:lnTo>
                  <a:pt x="95636" y="111443"/>
                </a:lnTo>
                <a:cubicBezTo>
                  <a:pt x="94780" y="119639"/>
                  <a:pt x="94298" y="128267"/>
                  <a:pt x="94298" y="137160"/>
                </a:cubicBezTo>
                <a:cubicBezTo>
                  <a:pt x="94298" y="146053"/>
                  <a:pt x="94780" y="154681"/>
                  <a:pt x="95636" y="162878"/>
                </a:cubicBezTo>
                <a:lnTo>
                  <a:pt x="95636" y="162878"/>
                </a:lnTo>
                <a:moveTo>
                  <a:pt x="99869" y="85725"/>
                </a:moveTo>
                <a:lnTo>
                  <a:pt x="174451" y="85725"/>
                </a:lnTo>
                <a:cubicBezTo>
                  <a:pt x="171450" y="72651"/>
                  <a:pt x="167379" y="61132"/>
                  <a:pt x="162663" y="51649"/>
                </a:cubicBezTo>
                <a:cubicBezTo>
                  <a:pt x="151628" y="29574"/>
                  <a:pt x="141124" y="25718"/>
                  <a:pt x="137160" y="25718"/>
                </a:cubicBezTo>
                <a:cubicBezTo>
                  <a:pt x="133196" y="25718"/>
                  <a:pt x="122695" y="29574"/>
                  <a:pt x="111656" y="51649"/>
                </a:cubicBezTo>
                <a:cubicBezTo>
                  <a:pt x="106941" y="61132"/>
                  <a:pt x="102870" y="72651"/>
                  <a:pt x="99869" y="85725"/>
                </a:cubicBezTo>
                <a:lnTo>
                  <a:pt x="99869" y="85725"/>
                </a:lnTo>
                <a:moveTo>
                  <a:pt x="204508" y="111443"/>
                </a:moveTo>
                <a:cubicBezTo>
                  <a:pt x="205312" y="119746"/>
                  <a:pt x="205688" y="128374"/>
                  <a:pt x="205688" y="137160"/>
                </a:cubicBezTo>
                <a:cubicBezTo>
                  <a:pt x="205688" y="145946"/>
                  <a:pt x="205260" y="154574"/>
                  <a:pt x="204508" y="162877"/>
                </a:cubicBezTo>
                <a:lnTo>
                  <a:pt x="245601" y="162877"/>
                </a:lnTo>
                <a:cubicBezTo>
                  <a:pt x="247530" y="154626"/>
                  <a:pt x="248603" y="146001"/>
                  <a:pt x="248603" y="137160"/>
                </a:cubicBezTo>
                <a:cubicBezTo>
                  <a:pt x="248603" y="128319"/>
                  <a:pt x="247585" y="119694"/>
                  <a:pt x="245601" y="111443"/>
                </a:cubicBezTo>
                <a:lnTo>
                  <a:pt x="204508" y="111443"/>
                </a:lnTo>
                <a:moveTo>
                  <a:pt x="236011" y="85725"/>
                </a:moveTo>
                <a:cubicBezTo>
                  <a:pt x="224545" y="63705"/>
                  <a:pt x="205954" y="46023"/>
                  <a:pt x="183290" y="35684"/>
                </a:cubicBezTo>
                <a:cubicBezTo>
                  <a:pt x="190844" y="49400"/>
                  <a:pt x="196844" y="66490"/>
                  <a:pt x="200756" y="85725"/>
                </a:cubicBezTo>
                <a:lnTo>
                  <a:pt x="236063" y="85725"/>
                </a:lnTo>
                <a:lnTo>
                  <a:pt x="236011" y="85725"/>
                </a:lnTo>
                <a:moveTo>
                  <a:pt x="73510" y="85725"/>
                </a:moveTo>
                <a:cubicBezTo>
                  <a:pt x="77421" y="66490"/>
                  <a:pt x="83421" y="49452"/>
                  <a:pt x="90976" y="35684"/>
                </a:cubicBezTo>
                <a:cubicBezTo>
                  <a:pt x="68311" y="46025"/>
                  <a:pt x="49721" y="63705"/>
                  <a:pt x="38254" y="85725"/>
                </a:cubicBezTo>
                <a:lnTo>
                  <a:pt x="73562" y="85725"/>
                </a:lnTo>
                <a:lnTo>
                  <a:pt x="73510" y="85725"/>
                </a:lnTo>
                <a:moveTo>
                  <a:pt x="28719" y="111443"/>
                </a:moveTo>
                <a:cubicBezTo>
                  <a:pt x="26790" y="119694"/>
                  <a:pt x="25718" y="128319"/>
                  <a:pt x="25718" y="137160"/>
                </a:cubicBezTo>
                <a:cubicBezTo>
                  <a:pt x="25718" y="146001"/>
                  <a:pt x="26735" y="154626"/>
                  <a:pt x="28719" y="162877"/>
                </a:cubicBezTo>
                <a:lnTo>
                  <a:pt x="69812" y="162877"/>
                </a:lnTo>
                <a:cubicBezTo>
                  <a:pt x="69008" y="154574"/>
                  <a:pt x="68632" y="145946"/>
                  <a:pt x="68632" y="137160"/>
                </a:cubicBezTo>
                <a:cubicBezTo>
                  <a:pt x="68632" y="128374"/>
                  <a:pt x="69060" y="119746"/>
                  <a:pt x="69812" y="111443"/>
                </a:cubicBezTo>
                <a:lnTo>
                  <a:pt x="28719" y="111443"/>
                </a:lnTo>
                <a:moveTo>
                  <a:pt x="183290" y="238636"/>
                </a:moveTo>
                <a:cubicBezTo>
                  <a:pt x="205954" y="228295"/>
                  <a:pt x="224545" y="210615"/>
                  <a:pt x="236011" y="188595"/>
                </a:cubicBezTo>
                <a:lnTo>
                  <a:pt x="200703" y="188595"/>
                </a:lnTo>
                <a:cubicBezTo>
                  <a:pt x="196792" y="207830"/>
                  <a:pt x="190792" y="224868"/>
                  <a:pt x="183237" y="238636"/>
                </a:cubicBezTo>
                <a:lnTo>
                  <a:pt x="183290" y="238636"/>
                </a:lnTo>
                <a:moveTo>
                  <a:pt x="91030" y="238636"/>
                </a:moveTo>
                <a:cubicBezTo>
                  <a:pt x="83476" y="224920"/>
                  <a:pt x="77476" y="207830"/>
                  <a:pt x="73564" y="188595"/>
                </a:cubicBezTo>
                <a:lnTo>
                  <a:pt x="38257" y="188595"/>
                </a:lnTo>
                <a:cubicBezTo>
                  <a:pt x="49723" y="210615"/>
                  <a:pt x="68314" y="228297"/>
                  <a:pt x="90978" y="238636"/>
                </a:cubicBezTo>
                <a:lnTo>
                  <a:pt x="91030" y="238636"/>
                </a:lnTo>
                <a:moveTo>
                  <a:pt x="137160" y="274320"/>
                </a:moveTo>
                <a:cubicBezTo>
                  <a:pt x="61409" y="274320"/>
                  <a:pt x="0" y="212911"/>
                  <a:pt x="0" y="137160"/>
                </a:cubicBezTo>
                <a:cubicBezTo>
                  <a:pt x="0" y="61409"/>
                  <a:pt x="61409" y="0"/>
                  <a:pt x="137160" y="0"/>
                </a:cubicBezTo>
                <a:cubicBezTo>
                  <a:pt x="212911" y="0"/>
                  <a:pt x="274320" y="61409"/>
                  <a:pt x="274320" y="137160"/>
                </a:cubicBezTo>
                <a:cubicBezTo>
                  <a:pt x="274320" y="212911"/>
                  <a:pt x="212911" y="274320"/>
                  <a:pt x="137160" y="274320"/>
                </a:cubicBez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335"/>
              </a:spcBef>
              <a:buNone/>
            </a:pPr>
            <a:r>
              <a:rPr lang="en-US" sz="1603" dirty="0">
                <a:solidFill>
                  <a:srgbClr val="FFFFFF"/>
                </a:solidFill>
                <a:latin typeface="Figtree Regular" pitchFamily="34" charset="0"/>
                <a:ea typeface="Figtree Regular" pitchFamily="34" charset="-122"/>
                <a:cs typeface="Figtree Regular" pitchFamily="34" charset="-120"/>
              </a:rPr>
              <a:t>Deepfake personas appear in remote hiring processes passing video interviews, collecting paychecks, and possibly stealing data or installing malware before vanishing. These synthetic candidates exploit trust in virtual recruitment.</a:t>
            </a:r>
            <a:endParaRPr lang="en-US" sz="1603"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Job Interview Fraud</a:t>
            </a:r>
            <a:endParaRPr lang="en-US" sz="2030" dirty="0"/>
          </a:p>
        </p:txBody>
      </p:sp>
      <p:sp>
        <p:nvSpPr>
          <p:cNvPr id="24" name="Text 22"/>
          <p:cNvSpPr/>
          <p:nvPr/>
        </p:nvSpPr>
        <p:spPr>
          <a:xfrm>
            <a:off x="588503" y="4211460"/>
            <a:ext cx="274320" cy="257175"/>
          </a:xfrm>
          <a:custGeom>
            <a:avLst/>
            <a:gdLst/>
            <a:ahLst/>
            <a:cxnLst/>
            <a:rect l="l" t="t" r="r" b="b"/>
            <a:pathLst>
              <a:path w="274320" h="257175">
                <a:moveTo>
                  <a:pt x="94298" y="30005"/>
                </a:moveTo>
                <a:lnTo>
                  <a:pt x="94298" y="51435"/>
                </a:lnTo>
                <a:lnTo>
                  <a:pt x="180023" y="51435"/>
                </a:lnTo>
                <a:lnTo>
                  <a:pt x="180023" y="30005"/>
                </a:lnTo>
                <a:cubicBezTo>
                  <a:pt x="180023" y="27646"/>
                  <a:pt x="178094" y="25718"/>
                  <a:pt x="175738" y="25718"/>
                </a:cubicBezTo>
                <a:lnTo>
                  <a:pt x="98585" y="25718"/>
                </a:lnTo>
                <a:cubicBezTo>
                  <a:pt x="96229" y="25718"/>
                  <a:pt x="94300" y="27646"/>
                  <a:pt x="94300" y="30005"/>
                </a:cubicBezTo>
                <a:lnTo>
                  <a:pt x="94298" y="30005"/>
                </a:lnTo>
                <a:moveTo>
                  <a:pt x="68580" y="51435"/>
                </a:moveTo>
                <a:lnTo>
                  <a:pt x="68580" y="30005"/>
                </a:lnTo>
                <a:cubicBezTo>
                  <a:pt x="68580" y="13450"/>
                  <a:pt x="82027" y="0"/>
                  <a:pt x="98585" y="0"/>
                </a:cubicBezTo>
                <a:lnTo>
                  <a:pt x="175738" y="0"/>
                </a:lnTo>
                <a:cubicBezTo>
                  <a:pt x="192293" y="0"/>
                  <a:pt x="205743" y="13448"/>
                  <a:pt x="205743" y="30005"/>
                </a:cubicBezTo>
                <a:lnTo>
                  <a:pt x="205743" y="51435"/>
                </a:lnTo>
                <a:lnTo>
                  <a:pt x="240033" y="51435"/>
                </a:lnTo>
                <a:cubicBezTo>
                  <a:pt x="258947" y="51435"/>
                  <a:pt x="274323" y="66811"/>
                  <a:pt x="274323" y="85724"/>
                </a:cubicBezTo>
                <a:lnTo>
                  <a:pt x="274323" y="150018"/>
                </a:lnTo>
                <a:lnTo>
                  <a:pt x="274323" y="222883"/>
                </a:lnTo>
                <a:cubicBezTo>
                  <a:pt x="274323" y="241796"/>
                  <a:pt x="258947" y="257172"/>
                  <a:pt x="240033" y="257172"/>
                </a:cubicBezTo>
                <a:lnTo>
                  <a:pt x="34293" y="257172"/>
                </a:lnTo>
                <a:cubicBezTo>
                  <a:pt x="15378" y="257172"/>
                  <a:pt x="3" y="241796"/>
                  <a:pt x="3" y="222883"/>
                </a:cubicBezTo>
                <a:lnTo>
                  <a:pt x="3" y="150018"/>
                </a:lnTo>
                <a:lnTo>
                  <a:pt x="3" y="85724"/>
                </a:lnTo>
                <a:cubicBezTo>
                  <a:pt x="3" y="66811"/>
                  <a:pt x="15378" y="51435"/>
                  <a:pt x="34293" y="51435"/>
                </a:cubicBezTo>
                <a:lnTo>
                  <a:pt x="68580" y="51435"/>
                </a:lnTo>
                <a:moveTo>
                  <a:pt x="25718" y="162877"/>
                </a:moveTo>
                <a:lnTo>
                  <a:pt x="25718" y="222883"/>
                </a:lnTo>
                <a:cubicBezTo>
                  <a:pt x="25718" y="227597"/>
                  <a:pt x="29574" y="231455"/>
                  <a:pt x="34290" y="231455"/>
                </a:cubicBezTo>
                <a:lnTo>
                  <a:pt x="240030" y="231455"/>
                </a:lnTo>
                <a:cubicBezTo>
                  <a:pt x="244746" y="231455"/>
                  <a:pt x="248603" y="227597"/>
                  <a:pt x="248603" y="222883"/>
                </a:cubicBezTo>
                <a:lnTo>
                  <a:pt x="248603" y="162877"/>
                </a:lnTo>
                <a:lnTo>
                  <a:pt x="171450" y="162877"/>
                </a:lnTo>
                <a:lnTo>
                  <a:pt x="171450" y="171448"/>
                </a:lnTo>
                <a:cubicBezTo>
                  <a:pt x="171450" y="180930"/>
                  <a:pt x="163788" y="188594"/>
                  <a:pt x="154305" y="188594"/>
                </a:cubicBezTo>
                <a:lnTo>
                  <a:pt x="120015" y="188594"/>
                </a:lnTo>
                <a:cubicBezTo>
                  <a:pt x="110532" y="188594"/>
                  <a:pt x="102870" y="180933"/>
                  <a:pt x="102870" y="171448"/>
                </a:cubicBezTo>
                <a:lnTo>
                  <a:pt x="102870" y="162877"/>
                </a:lnTo>
                <a:lnTo>
                  <a:pt x="25718" y="162877"/>
                </a:lnTo>
                <a:moveTo>
                  <a:pt x="102870" y="137159"/>
                </a:moveTo>
                <a:lnTo>
                  <a:pt x="171450" y="137159"/>
                </a:lnTo>
                <a:lnTo>
                  <a:pt x="248603" y="137159"/>
                </a:lnTo>
                <a:lnTo>
                  <a:pt x="248603" y="85724"/>
                </a:lnTo>
                <a:cubicBezTo>
                  <a:pt x="248603" y="81010"/>
                  <a:pt x="244746" y="77152"/>
                  <a:pt x="240030" y="77152"/>
                </a:cubicBezTo>
                <a:lnTo>
                  <a:pt x="192883" y="77152"/>
                </a:lnTo>
                <a:lnTo>
                  <a:pt x="81440" y="77152"/>
                </a:lnTo>
                <a:lnTo>
                  <a:pt x="34293" y="77152"/>
                </a:lnTo>
                <a:cubicBezTo>
                  <a:pt x="29577" y="77152"/>
                  <a:pt x="25720" y="81010"/>
                  <a:pt x="25720" y="85724"/>
                </a:cubicBezTo>
                <a:lnTo>
                  <a:pt x="25720" y="137159"/>
                </a:lnTo>
                <a:lnTo>
                  <a:pt x="102870" y="137159"/>
                </a:lnTo>
              </a:path>
            </a:pathLst>
          </a:custGeom>
          <a:solidFill>
            <a:srgbClr val="FFFFFF"/>
          </a:solidFill>
          <a:ln/>
        </p:spPr>
        <p:txBody>
          <a:bodyPr wrap="square" lIns="0" tIns="0" rIns="0" bIns="0" rtlCol="0" anchor="ctr"/>
          <a:lstStyle/>
          <a:p>
            <a:pPr indent="0" marL="0">
              <a:buNone/>
            </a:pPr>
            <a:endParaRPr lang="en-US"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335"/>
              </a:spcBef>
              <a:buNone/>
            </a:pPr>
            <a:r>
              <a:rPr lang="en-US" sz="1603" dirty="0">
                <a:solidFill>
                  <a:srgbClr val="FFFFFF"/>
                </a:solidFill>
                <a:latin typeface="Figtree Regular" pitchFamily="34" charset="0"/>
                <a:ea typeface="Figtree Regular" pitchFamily="34" charset="-122"/>
                <a:cs typeface="Figtree Regular" pitchFamily="34" charset="-120"/>
              </a:rPr>
              <a:t>Criminals clone voices of young family members to deceive elderly relatives into sending emergency bail money. The synthetic voices mimic speech patterns and emotional tone, making the deception highly convincing and emotionally manipulative.</a:t>
            </a:r>
            <a:endParaRPr lang="en-US" sz="1603"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Grandparent Scams</a:t>
            </a:r>
            <a:endParaRPr lang="en-US" sz="2030" dirty="0"/>
          </a:p>
        </p:txBody>
      </p:sp>
      <p:sp>
        <p:nvSpPr>
          <p:cNvPr id="27" name="Text 25"/>
          <p:cNvSpPr/>
          <p:nvPr/>
        </p:nvSpPr>
        <p:spPr>
          <a:xfrm>
            <a:off x="588530" y="1746007"/>
            <a:ext cx="274266" cy="274320"/>
          </a:xfrm>
          <a:custGeom>
            <a:avLst/>
            <a:gdLst/>
            <a:ahLst/>
            <a:cxnLst/>
            <a:rect l="l" t="t" r="r" b="b"/>
            <a:pathLst>
              <a:path w="274266" h="274320">
                <a:moveTo>
                  <a:pt x="201312" y="147414"/>
                </a:moveTo>
                <a:cubicBezTo>
                  <a:pt x="192527" y="143664"/>
                  <a:pt x="182349" y="146128"/>
                  <a:pt x="176296" y="153520"/>
                </a:cubicBezTo>
                <a:lnTo>
                  <a:pt x="158509" y="175268"/>
                </a:lnTo>
                <a:cubicBezTo>
                  <a:pt x="133867" y="160965"/>
                  <a:pt x="113297" y="140394"/>
                  <a:pt x="98994" y="115755"/>
                </a:cubicBezTo>
                <a:lnTo>
                  <a:pt x="120688" y="98023"/>
                </a:lnTo>
                <a:cubicBezTo>
                  <a:pt x="128080" y="91968"/>
                  <a:pt x="130597" y="81791"/>
                  <a:pt x="126796" y="73005"/>
                </a:cubicBezTo>
                <a:lnTo>
                  <a:pt x="101084" y="13008"/>
                </a:lnTo>
                <a:cubicBezTo>
                  <a:pt x="97066" y="3580"/>
                  <a:pt x="86942" y="-1671"/>
                  <a:pt x="76923" y="472"/>
                </a:cubicBezTo>
                <a:lnTo>
                  <a:pt x="16928" y="13329"/>
                </a:lnTo>
                <a:cubicBezTo>
                  <a:pt x="7071" y="15420"/>
                  <a:pt x="0" y="24151"/>
                  <a:pt x="0" y="34274"/>
                </a:cubicBezTo>
                <a:lnTo>
                  <a:pt x="0" y="34274"/>
                </a:lnTo>
                <a:cubicBezTo>
                  <a:pt x="0" y="158123"/>
                  <a:pt x="93854" y="260118"/>
                  <a:pt x="214328" y="272924"/>
                </a:cubicBezTo>
                <a:cubicBezTo>
                  <a:pt x="219578" y="273459"/>
                  <a:pt x="224827" y="273889"/>
                  <a:pt x="230183" y="274103"/>
                </a:cubicBezTo>
                <a:lnTo>
                  <a:pt x="230183" y="274103"/>
                </a:lnTo>
                <a:lnTo>
                  <a:pt x="230238" y="274103"/>
                </a:lnTo>
                <a:cubicBezTo>
                  <a:pt x="233505" y="274210"/>
                  <a:pt x="236719" y="274317"/>
                  <a:pt x="239988" y="274317"/>
                </a:cubicBezTo>
                <a:lnTo>
                  <a:pt x="239988" y="274317"/>
                </a:lnTo>
                <a:cubicBezTo>
                  <a:pt x="250112" y="274317"/>
                  <a:pt x="258844" y="267245"/>
                  <a:pt x="260934" y="257389"/>
                </a:cubicBezTo>
                <a:lnTo>
                  <a:pt x="273792" y="197392"/>
                </a:lnTo>
                <a:cubicBezTo>
                  <a:pt x="275934" y="187374"/>
                  <a:pt x="270684" y="177252"/>
                  <a:pt x="261258" y="173233"/>
                </a:cubicBezTo>
                <a:lnTo>
                  <a:pt x="201262" y="147521"/>
                </a:lnTo>
                <a:lnTo>
                  <a:pt x="201312" y="147414"/>
                </a:lnTo>
                <a:moveTo>
                  <a:pt x="236505" y="248553"/>
                </a:moveTo>
                <a:cubicBezTo>
                  <a:pt x="120957" y="246680"/>
                  <a:pt x="27586" y="153306"/>
                  <a:pt x="25765" y="37760"/>
                </a:cubicBezTo>
                <a:lnTo>
                  <a:pt x="78904" y="26351"/>
                </a:lnTo>
                <a:lnTo>
                  <a:pt x="101939" y="80134"/>
                </a:lnTo>
                <a:lnTo>
                  <a:pt x="82708" y="95883"/>
                </a:lnTo>
                <a:cubicBezTo>
                  <a:pt x="72958" y="103866"/>
                  <a:pt x="70440" y="117738"/>
                  <a:pt x="76762" y="128667"/>
                </a:cubicBezTo>
                <a:cubicBezTo>
                  <a:pt x="93314" y="157218"/>
                  <a:pt x="117098" y="181005"/>
                  <a:pt x="145652" y="197557"/>
                </a:cubicBezTo>
                <a:cubicBezTo>
                  <a:pt x="156579" y="203877"/>
                  <a:pt x="170454" y="201359"/>
                  <a:pt x="178435" y="191610"/>
                </a:cubicBezTo>
                <a:lnTo>
                  <a:pt x="194183" y="172377"/>
                </a:lnTo>
                <a:lnTo>
                  <a:pt x="247967" y="195412"/>
                </a:lnTo>
                <a:lnTo>
                  <a:pt x="236505" y="248553"/>
                </a:lnTo>
                <a:moveTo>
                  <a:pt x="25712" y="34279"/>
                </a:move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lnTo>
                  <a:pt x="25712" y="34279"/>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957"/>
              </a:spcBef>
              <a:buNone/>
            </a:pPr>
            <a:r>
              <a:rPr lang="en-US" sz="1532" dirty="0">
                <a:solidFill>
                  <a:srgbClr val="FFFFFF"/>
                </a:solidFill>
                <a:latin typeface="Figtree Regular" pitchFamily="34" charset="0"/>
                <a:ea typeface="Figtree Regular" pitchFamily="34" charset="-122"/>
                <a:cs typeface="Figtree Regular" pitchFamily="34" charset="-120"/>
              </a:rPr>
              <a:t>Effects on Victims</a:t>
            </a:r>
            <a:endParaRPr lang="en-US" sz="1532" dirty="0"/>
          </a:p>
          <a:p>
            <a:pPr algn="l" marL="142875" indent="0">
              <a:lnSpc>
                <a:spcPct val="100000"/>
              </a:lnSpc>
              <a:spcBef>
                <a:spcPts val="957"/>
              </a:spcBef>
              <a:buNone/>
            </a:pPr>
            <a:r>
              <a:rPr lang="en-US" sz="1302" dirty="0">
                <a:solidFill>
                  <a:srgbClr val="FFFFFF"/>
                </a:solidFill>
                <a:latin typeface="Figtree Regular" pitchFamily="34" charset="0"/>
                <a:ea typeface="Figtree Regular" pitchFamily="34" charset="-122"/>
                <a:cs typeface="Figtree Regular" pitchFamily="34" charset="-120"/>
              </a:rPr>
              <a:t>Victims of AI-powered deepfake fraud often experience profound psychological effects that extend beyond financial loss. Many suffer from self-doubt, questioning their own perception and judgment in ways that can persist long after the incident. Trust erosion is common, causing difficulty in trusting legitimate communications and leading to operational paralysis. Victims also report feelings of shame and isolation, as they may be reluctant to share their experiences due to embarrassment. Hypervigilance becomes a lasting state, with victims approaching routine communications with exhausting levels of suspicion.</a:t>
            </a:r>
            <a:endParaRPr lang="en-US" sz="1532" dirty="0"/>
          </a:p>
          <a:p>
            <a:pPr algn="l" marL="0" indent="0">
              <a:lnSpc>
                <a:spcPct val="100000"/>
              </a:lnSpc>
              <a:spcBef>
                <a:spcPts val="957"/>
              </a:spcBef>
              <a:buNone/>
            </a:pPr>
            <a:r>
              <a:rPr lang="en-US" sz="1532" dirty="0">
                <a:solidFill>
                  <a:srgbClr val="FFFFFF"/>
                </a:solidFill>
                <a:latin typeface="Figtree Regular" pitchFamily="34" charset="0"/>
                <a:ea typeface="Figtree Regular" pitchFamily="34" charset="-122"/>
                <a:cs typeface="Figtree Regular" pitchFamily="34" charset="-120"/>
              </a:rPr>
              <a:t>Organizational Impacts</a:t>
            </a:r>
            <a:endParaRPr lang="en-US" sz="1532" dirty="0"/>
          </a:p>
          <a:p>
            <a:pPr algn="l" marL="142875" indent="0">
              <a:lnSpc>
                <a:spcPct val="100000"/>
              </a:lnSpc>
              <a:spcBef>
                <a:spcPts val="957"/>
              </a:spcBef>
              <a:buNone/>
            </a:pPr>
            <a:r>
              <a:rPr lang="en-US" sz="1302" dirty="0">
                <a:solidFill>
                  <a:srgbClr val="FFFFFF"/>
                </a:solidFill>
                <a:latin typeface="Figtree Regular" pitchFamily="34" charset="0"/>
                <a:ea typeface="Figtree Regular" pitchFamily="34" charset="-122"/>
                <a:cs typeface="Figtree Regular" pitchFamily="34" charset="-120"/>
              </a:rPr>
              <a:t>The psychological toll also affects organizations as a whole. When employees become aware that any communication might be synthetic, collaboration and decision-making slow considerably. Trust, which is essential for effective business relationships, becomes scarce. This erosion of trust within organizational culture can reduce efficiency and increase risk as individuals hesitate to act on decisions or communications they cannot confidently verify.</a:t>
            </a:r>
            <a:endParaRPr lang="en-US" sz="1532"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Psychological Toll</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7" name="Text 5"/>
          <p:cNvSpPr/>
          <p:nvPr/>
        </p:nvSpPr>
        <p:spPr>
          <a:xfrm>
            <a:off x="6266413" y="2817373"/>
            <a:ext cx="5212080" cy="2926080"/>
          </a:xfrm>
          <a:prstGeom prst="rect">
            <a:avLst/>
          </a:prstGeom>
          <a:noFill/>
          <a:ln/>
        </p:spPr>
        <p:txBody>
          <a:bodyPr wrap="square" lIns="0" tIns="0" rIns="0" bIns="0" rtlCol="0" anchor="t"/>
          <a:lstStyle/>
          <a:p>
            <a:pPr algn="l" marL="182880" indent="-182880">
              <a:lnSpc>
                <a:spcPct val="100000"/>
              </a:lnSpc>
              <a:buSzPct val="120000"/>
              <a:buFont typeface="Arial"/>
              <a:buChar char="•"/>
            </a:pPr>
            <a:r>
              <a:rPr lang="en-US" sz="1634" dirty="0">
                <a:solidFill>
                  <a:srgbClr val="FFFFFF"/>
                </a:solidFill>
                <a:latin typeface="Figtree Regular" pitchFamily="34" charset="0"/>
                <a:ea typeface="Figtree Regular" pitchFamily="34" charset="-122"/>
                <a:cs typeface="Figtree Regular" pitchFamily="34" charset="-120"/>
              </a:rPr>
              <a:t>Verification protocols can be bypassed if attackers obtain or compromise contact databases. Code words, while secret, may be socially engineered from unsuspecting colleagues. Multi-party authorization can slow legitimate business processes and may be waived under pressure, reducing effectiveness. AI detection tools struggle against advanced generation techniques and often lag behind evolving deepfake methods. The fundamental challenge is that detection will always trail generation advancements, creating a persistent gap in defense capability.</a:t>
            </a:r>
            <a:endParaRPr lang="en-US" sz="1634" dirty="0"/>
          </a:p>
        </p:txBody>
      </p:sp>
      <p:sp>
        <p:nvSpPr>
          <p:cNvPr id="8" name="Text 6"/>
          <p:cNvSpPr/>
          <p:nvPr/>
        </p:nvSpPr>
        <p:spPr>
          <a:xfrm>
            <a:off x="6266417" y="2105232"/>
            <a:ext cx="5212080" cy="551640"/>
          </a:xfrm>
          <a:custGeom>
            <a:avLst/>
            <a:gdLst/>
            <a:ahLst/>
            <a:cxnLst/>
            <a:rect l="l" t="t" r="r" b="b"/>
            <a:pathLst>
              <a:path w="5212080" h="551640">
                <a:moveTo>
                  <a:pt x="99290" y="551640"/>
                </a:moveTo>
                <a:cubicBezTo>
                  <a:pt x="44459" y="551640"/>
                  <a:pt x="0" y="507183"/>
                  <a:pt x="0" y="452345"/>
                </a:cubicBezTo>
                <a:lnTo>
                  <a:pt x="0" y="99295"/>
                </a:lnTo>
                <a:cubicBezTo>
                  <a:pt x="0" y="44457"/>
                  <a:pt x="44459" y="0"/>
                  <a:pt x="99290" y="0"/>
                </a:cubicBezTo>
                <a:lnTo>
                  <a:pt x="5112790" y="0"/>
                </a:lnTo>
                <a:cubicBezTo>
                  <a:pt x="5167621" y="0"/>
                  <a:pt x="5212080" y="44457"/>
                  <a:pt x="5212080" y="99295"/>
                </a:cubicBezTo>
                <a:lnTo>
                  <a:pt x="5212080" y="452345"/>
                </a:lnTo>
                <a:cubicBezTo>
                  <a:pt x="5212080" y="507183"/>
                  <a:pt x="5167621" y="551640"/>
                  <a:pt x="5112790" y="551640"/>
                </a:cubicBezTo>
                <a:lnTo>
                  <a:pt x="99290" y="551640"/>
                </a:lnTo>
              </a:path>
            </a:pathLst>
          </a:custGeom>
          <a:solidFill>
            <a:srgbClr val="156082"/>
          </a:solidFill>
          <a:ln/>
        </p:spPr>
        <p:txBody>
          <a:bodyPr wrap="square" lIns="0" tIns="0" rIns="0" bIns="0" rtlCol="0" anchor="ctr"/>
          <a:lstStyle/>
          <a:p>
            <a:pPr indent="0" marL="0">
              <a:buNone/>
            </a:pPr>
            <a:endParaRPr lang="en-US" dirty="0"/>
          </a:p>
        </p:txBody>
      </p:sp>
      <p:sp>
        <p:nvSpPr>
          <p:cNvPr id="9" name="Text 7"/>
          <p:cNvSpPr/>
          <p:nvPr/>
        </p:nvSpPr>
        <p:spPr>
          <a:xfrm>
            <a:off x="6266417" y="2242392"/>
            <a:ext cx="5212080" cy="277320"/>
          </a:xfrm>
          <a:prstGeom prst="rect">
            <a:avLst/>
          </a:prstGeom>
          <a:noFill/>
          <a:ln/>
        </p:spPr>
        <p:txBody>
          <a:bodyPr wrap="square" lIns="0" tIns="0" rIns="0" bIns="0" rtlCol="0" anchor="t"/>
          <a:lstStyle/>
          <a:p>
            <a:pPr algn="ctr"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Limitations and Challenges</a:t>
            </a:r>
            <a:endParaRPr lang="en-US" sz="2320" dirty="0"/>
          </a:p>
        </p:txBody>
      </p:sp>
      <p:sp>
        <p:nvSpPr>
          <p:cNvPr id="10" name="Text 8"/>
          <p:cNvSpPr/>
          <p:nvPr/>
        </p:nvSpPr>
        <p:spPr>
          <a:xfrm>
            <a:off x="518159" y="2817373"/>
            <a:ext cx="5212080" cy="2926080"/>
          </a:xfrm>
          <a:prstGeom prst="rect">
            <a:avLst/>
          </a:prstGeom>
          <a:noFill/>
          <a:ln/>
        </p:spPr>
        <p:txBody>
          <a:bodyPr wrap="square" lIns="0" tIns="0" rIns="0" bIns="0" rtlCol="0" anchor="t"/>
          <a:lstStyle/>
          <a:p>
            <a:pPr algn="l" marL="182880" indent="-182880">
              <a:lnSpc>
                <a:spcPct val="100000"/>
              </a:lnSpc>
              <a:buSzPct val="120000"/>
              <a:buFont typeface="Arial"/>
              <a:buChar char="•"/>
            </a:pPr>
            <a:r>
              <a:rPr lang="en-US" sz="1634" dirty="0">
                <a:solidFill>
                  <a:srgbClr val="FFFFFF"/>
                </a:solidFill>
                <a:latin typeface="Figtree Regular" pitchFamily="34" charset="0"/>
                <a:ea typeface="Figtree Regular" pitchFamily="34" charset="-122"/>
                <a:cs typeface="Figtree Regular" pitchFamily="34" charset="-120"/>
              </a:rPr>
              <a:t>Organizations implement verification protocols such as callback procedures using pre-established numbers rather than those given in suspicious communications. Code words act as shared secrets to authenticate identities during critical conversations. Multi-party authorization requires multiple independent approvals for significant transactions to prevent unilateral decisions. AI detection tools analyze audio and video for synthetic artifacts to identify potential deepfakes. These measures aim to rebuild trust through methods less susceptible to AI-generated deception.</a:t>
            </a:r>
            <a:endParaRPr lang="en-US" sz="1634" dirty="0"/>
          </a:p>
        </p:txBody>
      </p:sp>
      <p:sp>
        <p:nvSpPr>
          <p:cNvPr id="11" name="Text 9"/>
          <p:cNvSpPr/>
          <p:nvPr/>
        </p:nvSpPr>
        <p:spPr>
          <a:xfrm>
            <a:off x="518159" y="2105232"/>
            <a:ext cx="5212080" cy="551640"/>
          </a:xfrm>
          <a:custGeom>
            <a:avLst/>
            <a:gdLst/>
            <a:ahLst/>
            <a:cxnLst/>
            <a:rect l="l" t="t" r="r" b="b"/>
            <a:pathLst>
              <a:path w="5212080" h="551640">
                <a:moveTo>
                  <a:pt x="99290" y="551640"/>
                </a:moveTo>
                <a:cubicBezTo>
                  <a:pt x="44459" y="551640"/>
                  <a:pt x="0" y="507183"/>
                  <a:pt x="0" y="452345"/>
                </a:cubicBezTo>
                <a:lnTo>
                  <a:pt x="0" y="99295"/>
                </a:lnTo>
                <a:cubicBezTo>
                  <a:pt x="0" y="44457"/>
                  <a:pt x="44459" y="0"/>
                  <a:pt x="99290" y="0"/>
                </a:cubicBezTo>
                <a:lnTo>
                  <a:pt x="5112790" y="0"/>
                </a:lnTo>
                <a:cubicBezTo>
                  <a:pt x="5167621" y="0"/>
                  <a:pt x="5212080" y="44457"/>
                  <a:pt x="5212080" y="99295"/>
                </a:cubicBezTo>
                <a:lnTo>
                  <a:pt x="5212080" y="452345"/>
                </a:lnTo>
                <a:cubicBezTo>
                  <a:pt x="5212080" y="507183"/>
                  <a:pt x="5167621" y="551640"/>
                  <a:pt x="5112790" y="551640"/>
                </a:cubicBezTo>
                <a:lnTo>
                  <a:pt x="99290" y="55164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18159" y="2242392"/>
            <a:ext cx="5212080" cy="277320"/>
          </a:xfrm>
          <a:prstGeom prst="rect">
            <a:avLst/>
          </a:prstGeom>
          <a:noFill/>
          <a:ln/>
        </p:spPr>
        <p:txBody>
          <a:bodyPr wrap="square" lIns="0" tIns="0" rIns="0" bIns="0" rtlCol="0" anchor="t"/>
          <a:lstStyle/>
          <a:p>
            <a:pPr algn="ctr"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Organizational Countermeasures</a:t>
            </a:r>
            <a:endParaRPr lang="en-US" sz="2320" dirty="0"/>
          </a:p>
        </p:txBody>
      </p:sp>
      <p:sp>
        <p:nvSpPr>
          <p:cNvPr id="13" name="Text 1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4" name="Text 12"/>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Defensive Measures vs Their Limitations</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835933"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156082"/>
          </a:solidFill>
          <a:ln/>
        </p:spPr>
        <p:txBody>
          <a:bodyPr wrap="square" lIns="0" tIns="0" rIns="0" bIns="0" rtlCol="0" anchor="ctr"/>
          <a:lstStyle/>
          <a:p>
            <a:pPr indent="0" marL="0">
              <a:buNone/>
            </a:pPr>
            <a:endParaRPr lang="en-US" dirty="0"/>
          </a:p>
        </p:txBody>
      </p:sp>
      <p:sp>
        <p:nvSpPr>
          <p:cNvPr id="7" name="Text 5"/>
          <p:cNvSpPr/>
          <p:nvPr/>
        </p:nvSpPr>
        <p:spPr>
          <a:xfrm>
            <a:off x="4126340"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104862"/>
          </a:solidFill>
          <a:ln/>
        </p:spPr>
        <p:txBody>
          <a:bodyPr wrap="square" lIns="0" tIns="0" rIns="0" bIns="0" rtlCol="0" anchor="ctr"/>
          <a:lstStyle/>
          <a:p>
            <a:pPr indent="0" marL="0">
              <a:buNone/>
            </a:pPr>
            <a:endParaRPr lang="en-US" dirty="0"/>
          </a:p>
        </p:txBody>
      </p:sp>
      <p:sp>
        <p:nvSpPr>
          <p:cNvPr id="8" name="Text 6"/>
          <p:cNvSpPr/>
          <p:nvPr/>
        </p:nvSpPr>
        <p:spPr>
          <a:xfrm>
            <a:off x="7419087"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Automated Vulnerability Discovery: When AI Learns to Hack</a:t>
            </a:r>
            <a:endParaRPr lang="en-US" sz="2800" dirty="0"/>
          </a:p>
        </p:txBody>
      </p:sp>
      <p:sp>
        <p:nvSpPr>
          <p:cNvPr id="12" name="Text 10"/>
          <p:cNvSpPr/>
          <p:nvPr/>
        </p:nvSpPr>
        <p:spPr>
          <a:xfrm>
            <a:off x="8176569" y="2667474"/>
            <a:ext cx="2391743" cy="1985535"/>
          </a:xfrm>
          <a:prstGeom prst="rect">
            <a:avLst/>
          </a:prstGeom>
          <a:noFill/>
          <a:ln/>
        </p:spPr>
        <p:txBody>
          <a:bodyPr wrap="square" lIns="0" tIns="0" rIns="0" bIns="0" rtlCol="0" anchor="ctr"/>
          <a:lstStyle/>
          <a:p>
            <a:pPr algn="l" marL="0" indent="0">
              <a:lnSpc>
                <a:spcPct val="100000"/>
              </a:lnSpc>
              <a:spcBef>
                <a:spcPts val="1230"/>
              </a:spcBef>
              <a:buNone/>
            </a:pPr>
            <a:r>
              <a:rPr lang="en-US" sz="1230" dirty="0">
                <a:solidFill>
                  <a:srgbClr val="FFFFFF"/>
                </a:solidFill>
                <a:latin typeface="Figtree Bold" pitchFamily="34" charset="0"/>
                <a:ea typeface="Figtree Bold" pitchFamily="34" charset="-122"/>
                <a:cs typeface="Figtree Bold" pitchFamily="34" charset="-120"/>
              </a:rPr>
              <a:t>Step 3: Continuous Learning and Improvement</a:t>
            </a:r>
            <a:endParaRPr lang="en-US" sz="1230" dirty="0"/>
          </a:p>
          <a:p>
            <a:pPr algn="l" marL="142875" indent="0">
              <a:lnSpc>
                <a:spcPct val="100000"/>
              </a:lnSpc>
              <a:spcBef>
                <a:spcPts val="1230"/>
              </a:spcBef>
              <a:buNone/>
            </a:pPr>
            <a:r>
              <a:rPr lang="en-US" sz="1045" dirty="0">
                <a:solidFill>
                  <a:srgbClr val="FFFFFF"/>
                </a:solidFill>
                <a:latin typeface="Figtree Regular" pitchFamily="34" charset="0"/>
                <a:ea typeface="Figtree Regular" pitchFamily="34" charset="-122"/>
                <a:cs typeface="Figtree Regular" pitchFamily="34" charset="-120"/>
              </a:rPr>
              <a:t>The AI system continuously learns from each test, refining its input generation strategies and becoming more effective over time. This persistent cycle of learning and adaptation allows AI-powered fuzzers to discover vulnerabilities that human testers or traditional tools might miss, often uncovering long-standing flaws.</a:t>
            </a:r>
            <a:endParaRPr lang="en-US" sz="1230" dirty="0"/>
          </a:p>
        </p:txBody>
      </p:sp>
      <p:sp>
        <p:nvSpPr>
          <p:cNvPr id="13" name="Text 11"/>
          <p:cNvSpPr/>
          <p:nvPr/>
        </p:nvSpPr>
        <p:spPr>
          <a:xfrm>
            <a:off x="4912552" y="2667474"/>
            <a:ext cx="2391743" cy="1985535"/>
          </a:xfrm>
          <a:prstGeom prst="rect">
            <a:avLst/>
          </a:prstGeom>
          <a:noFill/>
          <a:ln/>
        </p:spPr>
        <p:txBody>
          <a:bodyPr wrap="square" lIns="0" tIns="0" rIns="0" bIns="0" rtlCol="0" anchor="ctr"/>
          <a:lstStyle/>
          <a:p>
            <a:pPr algn="l" marL="0" indent="0">
              <a:lnSpc>
                <a:spcPct val="100000"/>
              </a:lnSpc>
              <a:spcBef>
                <a:spcPts val="1230"/>
              </a:spcBef>
              <a:buNone/>
            </a:pPr>
            <a:r>
              <a:rPr lang="en-US" sz="1230" dirty="0">
                <a:solidFill>
                  <a:srgbClr val="FFFFFF"/>
                </a:solidFill>
                <a:latin typeface="Figtree Bold" pitchFamily="34" charset="0"/>
                <a:ea typeface="Figtree Bold" pitchFamily="34" charset="-122"/>
                <a:cs typeface="Figtree Bold" pitchFamily="34" charset="-120"/>
              </a:rPr>
              <a:t>Step 2: Automated Analysis</a:t>
            </a:r>
            <a:endParaRPr lang="en-US" sz="1230" dirty="0"/>
          </a:p>
          <a:p>
            <a:pPr algn="l" marL="142875" indent="0">
              <a:lnSpc>
                <a:spcPct val="100000"/>
              </a:lnSpc>
              <a:spcBef>
                <a:spcPts val="1230"/>
              </a:spcBef>
              <a:buNone/>
            </a:pPr>
            <a:r>
              <a:rPr lang="en-US" sz="1045" dirty="0">
                <a:solidFill>
                  <a:srgbClr val="FFFFFF"/>
                </a:solidFill>
                <a:latin typeface="Figtree Regular" pitchFamily="34" charset="0"/>
                <a:ea typeface="Figtree Regular" pitchFamily="34" charset="-122"/>
                <a:cs typeface="Figtree Regular" pitchFamily="34" charset="-120"/>
              </a:rPr>
              <a:t>After feeding inputs into the software, machine learning algorithms analyze the resulting crashes and errors. This step classifies failures to determine which represent exploitable vulnerabilities, filtering out false alarms and prioritizing critical issues.</a:t>
            </a:r>
            <a:endParaRPr lang="en-US" sz="1230" dirty="0"/>
          </a:p>
        </p:txBody>
      </p:sp>
      <p:sp>
        <p:nvSpPr>
          <p:cNvPr id="14" name="Text 12"/>
          <p:cNvSpPr/>
          <p:nvPr/>
        </p:nvSpPr>
        <p:spPr>
          <a:xfrm>
            <a:off x="1647749" y="2667474"/>
            <a:ext cx="2391743" cy="1985535"/>
          </a:xfrm>
          <a:prstGeom prst="rect">
            <a:avLst/>
          </a:prstGeom>
          <a:noFill/>
          <a:ln/>
        </p:spPr>
        <p:txBody>
          <a:bodyPr wrap="square" lIns="0" tIns="0" rIns="0" bIns="0" rtlCol="0" anchor="ctr"/>
          <a:lstStyle/>
          <a:p>
            <a:pPr algn="l" marL="0" indent="0">
              <a:lnSpc>
                <a:spcPct val="100000"/>
              </a:lnSpc>
              <a:spcBef>
                <a:spcPts val="1230"/>
              </a:spcBef>
              <a:buNone/>
            </a:pPr>
            <a:r>
              <a:rPr lang="en-US" sz="1230" dirty="0">
                <a:solidFill>
                  <a:srgbClr val="FFFFFF"/>
                </a:solidFill>
                <a:latin typeface="Figtree Bold" pitchFamily="34" charset="0"/>
                <a:ea typeface="Figtree Bold" pitchFamily="34" charset="-122"/>
                <a:cs typeface="Figtree Bold" pitchFamily="34" charset="-120"/>
              </a:rPr>
              <a:t>Step 1: Intelligent Input Generation</a:t>
            </a:r>
            <a:endParaRPr lang="en-US" sz="1230" dirty="0"/>
          </a:p>
          <a:p>
            <a:pPr algn="l" marL="142875" indent="0">
              <a:lnSpc>
                <a:spcPct val="100000"/>
              </a:lnSpc>
              <a:spcBef>
                <a:spcPts val="1230"/>
              </a:spcBef>
              <a:buNone/>
            </a:pPr>
            <a:r>
              <a:rPr lang="en-US" sz="1045" dirty="0">
                <a:solidFill>
                  <a:srgbClr val="FFFFFF"/>
                </a:solidFill>
                <a:latin typeface="Figtree Regular" pitchFamily="34" charset="0"/>
                <a:ea typeface="Figtree Regular" pitchFamily="34" charset="-122"/>
                <a:cs typeface="Figtree Regular" pitchFamily="34" charset="-120"/>
              </a:rPr>
              <a:t>AI-powered fuzzing begins by creating inputs that are far more targeted and intelligent compared to traditional random methods. The AI learns from previous tests to focus on code paths that are most likely to contain vulnerabilities, increasing the efficiency of discovery.</a:t>
            </a:r>
            <a:endParaRPr lang="en-US" sz="123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853440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5464" y="289560"/>
            <a:ext cx="768806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Real-World Discoveries with AI Fuzzing</a:t>
            </a:r>
            <a:endParaRPr lang="en-US" sz="2800" dirty="0"/>
          </a:p>
        </p:txBody>
      </p:sp>
      <p:sp>
        <p:nvSpPr>
          <p:cNvPr id="7" name="Text 5"/>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8" name="Text 6"/>
          <p:cNvSpPr/>
          <p:nvPr/>
        </p:nvSpPr>
        <p:spPr>
          <a:xfrm>
            <a:off x="853440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4762" b="34762"/>
            </a:stretch>
          </a:blipFill>
          <a:ln/>
        </p:spPr>
        <p:txBody>
          <a:bodyPr wrap="square" lIns="0" tIns="0" rIns="0" bIns="0" rtlCol="0" anchor="ctr"/>
          <a:lstStyle/>
          <a:p>
            <a:pPr indent="0" marL="0">
              <a:buNone/>
            </a:pPr>
            <a:endParaRPr lang="en-US" dirty="0"/>
          </a:p>
        </p:txBody>
      </p:sp>
      <p:sp>
        <p:nvSpPr>
          <p:cNvPr id="9" name="Text 7"/>
          <p:cNvSpPr/>
          <p:nvPr/>
        </p:nvSpPr>
        <p:spPr>
          <a:xfrm>
            <a:off x="507997"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3105838"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5703680"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707076"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707076"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4" name="Text 12"/>
          <p:cNvSpPr/>
          <p:nvPr/>
        </p:nvSpPr>
        <p:spPr>
          <a:xfrm>
            <a:off x="3307525"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3307525"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6" name="Text 14"/>
          <p:cNvSpPr/>
          <p:nvPr/>
        </p:nvSpPr>
        <p:spPr>
          <a:xfrm>
            <a:off x="5907974"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7" name="Text 15"/>
          <p:cNvSpPr/>
          <p:nvPr/>
        </p:nvSpPr>
        <p:spPr>
          <a:xfrm>
            <a:off x="5907974"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8" name="Text 16"/>
          <p:cNvSpPr/>
          <p:nvPr/>
        </p:nvSpPr>
        <p:spPr>
          <a:xfrm>
            <a:off x="5907974" y="2655067"/>
            <a:ext cx="2101454" cy="3172398"/>
          </a:xfrm>
          <a:prstGeom prst="rect">
            <a:avLst/>
          </a:prstGeom>
          <a:noFill/>
          <a:ln/>
        </p:spPr>
        <p:txBody>
          <a:bodyPr wrap="square" lIns="0" tIns="0" rIns="0" bIns="0" rtlCol="0" anchor="t"/>
          <a:lstStyle/>
          <a:p>
            <a:pPr algn="l" marL="0" indent="0">
              <a:lnSpc>
                <a:spcPct val="100000"/>
              </a:lnSpc>
              <a:spcBef>
                <a:spcPts val="1371"/>
              </a:spcBef>
              <a:buNone/>
            </a:pPr>
            <a:r>
              <a:rPr lang="en-US" sz="1509" dirty="0">
                <a:solidFill>
                  <a:srgbClr val="FFFFFF"/>
                </a:solidFill>
                <a:latin typeface="Figtree Regular" pitchFamily="34" charset="0"/>
                <a:ea typeface="Figtree Regular" pitchFamily="34" charset="-122"/>
                <a:cs typeface="Figtree Regular" pitchFamily="34" charset="-120"/>
              </a:rPr>
              <a:t>AI-powered fuzzing enhances traditional methods by intelligently generating inputs targeted at specific code paths and continuously learning from results. This approach accelerates vulnerability detection and improves software security, uncovering hidden flaws quicker than manual methods.</a:t>
            </a:r>
            <a:endParaRPr lang="en-US" sz="1509" dirty="0"/>
          </a:p>
        </p:txBody>
      </p:sp>
      <p:sp>
        <p:nvSpPr>
          <p:cNvPr id="19" name="Text 17"/>
          <p:cNvSpPr/>
          <p:nvPr/>
        </p:nvSpPr>
        <p:spPr>
          <a:xfrm>
            <a:off x="5912094"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Impact on Security Testing</a:t>
            </a:r>
            <a:endParaRPr lang="en-US" sz="1567" dirty="0"/>
          </a:p>
        </p:txBody>
      </p:sp>
      <p:sp>
        <p:nvSpPr>
          <p:cNvPr id="20" name="Text 18"/>
          <p:cNvSpPr/>
          <p:nvPr/>
        </p:nvSpPr>
        <p:spPr>
          <a:xfrm>
            <a:off x="3307525" y="2655067"/>
            <a:ext cx="2101454" cy="3172398"/>
          </a:xfrm>
          <a:prstGeom prst="rect">
            <a:avLst/>
          </a:prstGeom>
          <a:noFill/>
          <a:ln/>
        </p:spPr>
        <p:txBody>
          <a:bodyPr wrap="square" lIns="0" tIns="0" rIns="0" bIns="0" rtlCol="0" anchor="t"/>
          <a:lstStyle/>
          <a:p>
            <a:pPr algn="l" marL="0" indent="0">
              <a:lnSpc>
                <a:spcPct val="100000"/>
              </a:lnSpc>
              <a:spcBef>
                <a:spcPts val="1371"/>
              </a:spcBef>
              <a:buNone/>
            </a:pPr>
            <a:r>
              <a:rPr lang="en-US" sz="1509" dirty="0">
                <a:solidFill>
                  <a:srgbClr val="FFFFFF"/>
                </a:solidFill>
                <a:latin typeface="Figtree Regular" pitchFamily="34" charset="0"/>
                <a:ea typeface="Figtree Regular" pitchFamily="34" charset="-122"/>
                <a:cs typeface="Figtree Regular" pitchFamily="34" charset="-120"/>
              </a:rPr>
              <a:t>AI fuzzing tools also identified vulnerabilities in wolfSSL, a cryptographic library, and SQLite, a widely used database engine. These discoveries highlight how AI can detect bugs that have evaded even thorough human examination for years.</a:t>
            </a:r>
            <a:endParaRPr lang="en-US" sz="1509" dirty="0"/>
          </a:p>
        </p:txBody>
      </p:sp>
      <p:sp>
        <p:nvSpPr>
          <p:cNvPr id="21" name="Text 19"/>
          <p:cNvSpPr/>
          <p:nvPr/>
        </p:nvSpPr>
        <p:spPr>
          <a:xfrm>
            <a:off x="3311645"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wolfSSL and SQLite Flaws</a:t>
            </a:r>
            <a:endParaRPr lang="en-US" sz="1567" dirty="0"/>
          </a:p>
        </p:txBody>
      </p:sp>
      <p:sp>
        <p:nvSpPr>
          <p:cNvPr id="22" name="Text 20"/>
          <p:cNvSpPr/>
          <p:nvPr/>
        </p:nvSpPr>
        <p:spPr>
          <a:xfrm>
            <a:off x="707076" y="2655067"/>
            <a:ext cx="2101454" cy="3172398"/>
          </a:xfrm>
          <a:prstGeom prst="rect">
            <a:avLst/>
          </a:prstGeom>
          <a:noFill/>
          <a:ln/>
        </p:spPr>
        <p:txBody>
          <a:bodyPr wrap="square" lIns="0" tIns="0" rIns="0" bIns="0" rtlCol="0" anchor="t"/>
          <a:lstStyle/>
          <a:p>
            <a:pPr algn="l" marL="0" indent="0">
              <a:lnSpc>
                <a:spcPct val="100000"/>
              </a:lnSpc>
              <a:spcBef>
                <a:spcPts val="1371"/>
              </a:spcBef>
              <a:buNone/>
            </a:pPr>
            <a:r>
              <a:rPr lang="en-US" sz="1509" dirty="0">
                <a:solidFill>
                  <a:srgbClr val="FFFFFF"/>
                </a:solidFill>
                <a:latin typeface="Figtree Regular" pitchFamily="34" charset="0"/>
                <a:ea typeface="Figtree Regular" pitchFamily="34" charset="-122"/>
                <a:cs typeface="Figtree Regular" pitchFamily="34" charset="-120"/>
              </a:rPr>
              <a:t>In November 2024, Google's AI-powered OSS-Fuzz tool discovered a critical vulnerability in OpenSSL that had been present for nearly 20 years. This flaw was missed by traditional testing despite strong code coverage, demonstrating AI's ability to uncover subtle issues.</a:t>
            </a:r>
            <a:endParaRPr lang="en-US" sz="1509" dirty="0"/>
          </a:p>
        </p:txBody>
      </p:sp>
      <p:sp>
        <p:nvSpPr>
          <p:cNvPr id="23" name="Text 21"/>
          <p:cNvSpPr/>
          <p:nvPr/>
        </p:nvSpPr>
        <p:spPr>
          <a:xfrm>
            <a:off x="711196"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OpenSSL Vulnerability</a:t>
            </a:r>
            <a:endParaRPr lang="en-US" sz="1567"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20" name="Text 1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Democratization of Hacking</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49"/>
              </a:spcBef>
              <a:buNone/>
            </a:pPr>
            <a:r>
              <a:rPr lang="en-US" sz="1594" dirty="0">
                <a:solidFill>
                  <a:srgbClr val="FFFFFF"/>
                </a:solidFill>
                <a:latin typeface="Figtree Regular" pitchFamily="34" charset="0"/>
                <a:ea typeface="Figtree Regular" pitchFamily="34" charset="-122"/>
                <a:cs typeface="Figtree Regular" pitchFamily="34" charset="-120"/>
              </a:rPr>
              <a:t>Unlike humans, AI systems do not get tired or distracted. They perform exhaustive and systematic exploration of every accessible code path continuously, making the discovery process relentless and more thorough than manual methods.</a:t>
            </a:r>
            <a:endParaRPr lang="en-US" sz="1594"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Relentlessness</a:t>
            </a:r>
            <a:endParaRPr lang="en-US" sz="2030"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49"/>
              </a:spcBef>
              <a:buNone/>
            </a:pPr>
            <a:r>
              <a:rPr lang="en-US" sz="1594" dirty="0">
                <a:solidFill>
                  <a:srgbClr val="FFFFFF"/>
                </a:solidFill>
                <a:latin typeface="Figtree Regular" pitchFamily="34" charset="0"/>
                <a:ea typeface="Figtree Regular" pitchFamily="34" charset="-122"/>
                <a:cs typeface="Figtree Regular" pitchFamily="34" charset="-120"/>
              </a:rPr>
              <a:t>Sophisticated fuzzing and vulnerability discovery tools are now commercially available and accessible even on the dark web. This lowers barriers to entry, allowing criminals without deep expertise to launch advanced hacking campaigns using AI-powered methods.</a:t>
            </a:r>
            <a:endParaRPr lang="en-US" sz="1594"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Accessibility</a:t>
            </a:r>
            <a:endParaRPr lang="en-US" sz="2030"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49"/>
              </a:spcBef>
              <a:buNone/>
            </a:pPr>
            <a:r>
              <a:rPr lang="en-US" sz="1594" dirty="0">
                <a:solidFill>
                  <a:srgbClr val="FFFFFF"/>
                </a:solidFill>
                <a:latin typeface="Figtree Regular" pitchFamily="34" charset="0"/>
                <a:ea typeface="Figtree Regular" pitchFamily="34" charset="-122"/>
                <a:cs typeface="Figtree Regular" pitchFamily="34" charset="-120"/>
              </a:rPr>
              <a:t>AI systems can simultaneously analyze thousands of targets, overcoming the limitations of human researchers who focus on one project at a time. This vast scale increases the breadth of attack surfaces that can be probed and exploited automatically.</a:t>
            </a:r>
            <a:endParaRPr lang="en-US" sz="1594"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Scale</a:t>
            </a:r>
            <a:endParaRPr lang="en-US" sz="2030"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49"/>
              </a:spcBef>
              <a:buNone/>
            </a:pPr>
            <a:r>
              <a:rPr lang="en-US" sz="1594" dirty="0">
                <a:solidFill>
                  <a:srgbClr val="FFFFFF"/>
                </a:solidFill>
                <a:latin typeface="Figtree Regular" pitchFamily="34" charset="0"/>
                <a:ea typeface="Figtree Regular" pitchFamily="34" charset="-122"/>
                <a:cs typeface="Figtree Regular" pitchFamily="34" charset="-120"/>
              </a:rPr>
              <a:t>AI can scan and analyze large codebases in hours, significantly faster than human security audits that might take months. This acceleration means vulnerabilities are discovered with unprecedented rapidity, shrinking the window between exposure and potential exploitation.</a:t>
            </a:r>
            <a:endParaRPr lang="en-US" sz="1594"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Speed</a:t>
            </a:r>
            <a:endParaRPr lang="en-US" sz="203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AI-generated campaigns achieve higher success rates and generate larger returns per attack, sometimes an order of magnitude greater than traditional methods. This efficiency creates a favorable return on investment that drives continued growth of AI-powered crime.</a:t>
            </a:r>
            <a:endParaRPr lang="en-US" sz="1539"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Higher Success and Return</a:t>
            </a:r>
            <a:endParaRPr lang="en-US" sz="1797"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AI lowers the barrier to entry by automating technical and creative stages of attacks. What once relied on high programming and social engineering skills now requires only basic prompt writing and tool operation, enabling more attackers to participate.</a:t>
            </a:r>
            <a:endParaRPr lang="en-US" sz="1539"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Lower Skill Requirement</a:t>
            </a:r>
            <a:endParaRPr lang="en-US" sz="1797"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Launching attacks has become significantly quicker with AI. While traditional campaigns might take days or weeks to prepare, AI-powered attacks can be launched within minutes to hours, accelerating the pace and frequency of cyber threats.</a:t>
            </a:r>
            <a:endParaRPr lang="en-US" sz="1539"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Faster Time to Launch</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AI technology allows cybercrime operations to scale almost without limit. Unlike traditional human-limited campaigns, AI enables attackers to target vast numbers of victims simultaneously with personalized attacks, increasing reach and impact.</a:t>
            </a:r>
            <a:endParaRPr lang="en-US" sz="1539"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Increased Scalability</a:t>
            </a:r>
            <a:endParaRPr lang="en-US" sz="1797"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282"/>
              </a:spcBef>
              <a:buNone/>
            </a:pPr>
            <a:r>
              <a:rPr lang="en-US" sz="1539" dirty="0">
                <a:solidFill>
                  <a:srgbClr val="FFFFFF"/>
                </a:solidFill>
                <a:latin typeface="Figtree Regular" pitchFamily="34" charset="0"/>
                <a:ea typeface="Figtree Regular" pitchFamily="34" charset="-122"/>
                <a:cs typeface="Figtree Regular" pitchFamily="34" charset="-120"/>
              </a:rPr>
              <a:t>AI dramatically lowers the initial investment required for cybercrime. Traditional attacks cost tens of thousands of dollars, while AI tools and subscriptions range from just a few hundred to a few thousand dollars, making crime accessible to more actors.</a:t>
            </a:r>
            <a:endParaRPr lang="en-US" sz="1539"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Reduced Startup Costs</a:t>
            </a:r>
            <a:endParaRPr lang="en-US" sz="1797"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Economics of AI-Powered Crime</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28" name="Text 26"/>
          <p:cNvSpPr/>
          <p:nvPr/>
        </p:nvSpPr>
        <p:spPr>
          <a:xfrm>
            <a:off x="9762515" y="1699487"/>
            <a:ext cx="182880" cy="160020"/>
          </a:xfrm>
          <a:custGeom>
            <a:avLst/>
            <a:gdLst/>
            <a:ahLst/>
            <a:cxnLst/>
            <a:rect l="l" t="t" r="r" b="b"/>
            <a:pathLst>
              <a:path w="182880" h="160020">
                <a:moveTo>
                  <a:pt x="148590" y="17145"/>
                </a:moveTo>
                <a:cubicBezTo>
                  <a:pt x="151734" y="17145"/>
                  <a:pt x="154305" y="19716"/>
                  <a:pt x="154305" y="22859"/>
                </a:cubicBezTo>
                <a:cubicBezTo>
                  <a:pt x="154305" y="26002"/>
                  <a:pt x="151734" y="28573"/>
                  <a:pt x="148590" y="28573"/>
                </a:cubicBezTo>
                <a:lnTo>
                  <a:pt x="34290" y="28573"/>
                </a:lnTo>
                <a:cubicBezTo>
                  <a:pt x="31146" y="28573"/>
                  <a:pt x="28575" y="26002"/>
                  <a:pt x="28575" y="22859"/>
                </a:cubicBezTo>
                <a:cubicBezTo>
                  <a:pt x="28575" y="19716"/>
                  <a:pt x="31146" y="17145"/>
                  <a:pt x="34290" y="17145"/>
                </a:cubicBezTo>
                <a:lnTo>
                  <a:pt x="148590" y="17145"/>
                </a:lnTo>
                <a:moveTo>
                  <a:pt x="34290" y="0"/>
                </a:moveTo>
                <a:cubicBezTo>
                  <a:pt x="21680" y="0"/>
                  <a:pt x="11430" y="10251"/>
                  <a:pt x="11430" y="22860"/>
                </a:cubicBezTo>
                <a:cubicBezTo>
                  <a:pt x="11430" y="35468"/>
                  <a:pt x="21680" y="45721"/>
                  <a:pt x="34290" y="45721"/>
                </a:cubicBezTo>
                <a:lnTo>
                  <a:pt x="82868" y="45721"/>
                </a:lnTo>
                <a:lnTo>
                  <a:pt x="82868" y="51435"/>
                </a:lnTo>
                <a:lnTo>
                  <a:pt x="79332" y="54972"/>
                </a:lnTo>
                <a:lnTo>
                  <a:pt x="69295" y="65008"/>
                </a:lnTo>
                <a:lnTo>
                  <a:pt x="65723" y="68580"/>
                </a:lnTo>
                <a:lnTo>
                  <a:pt x="45722" y="68580"/>
                </a:lnTo>
                <a:cubicBezTo>
                  <a:pt x="28363" y="68580"/>
                  <a:pt x="14290" y="82654"/>
                  <a:pt x="14290" y="100013"/>
                </a:cubicBezTo>
                <a:lnTo>
                  <a:pt x="14290" y="114301"/>
                </a:lnTo>
                <a:lnTo>
                  <a:pt x="11434" y="114301"/>
                </a:lnTo>
                <a:cubicBezTo>
                  <a:pt x="5112" y="114301"/>
                  <a:pt x="4" y="119409"/>
                  <a:pt x="4" y="125731"/>
                </a:cubicBezTo>
                <a:lnTo>
                  <a:pt x="4" y="148591"/>
                </a:lnTo>
                <a:cubicBezTo>
                  <a:pt x="4" y="154914"/>
                  <a:pt x="5112" y="160022"/>
                  <a:pt x="11434" y="160022"/>
                </a:cubicBezTo>
                <a:lnTo>
                  <a:pt x="34294" y="160022"/>
                </a:lnTo>
                <a:cubicBezTo>
                  <a:pt x="40616" y="160022"/>
                  <a:pt x="45724" y="154914"/>
                  <a:pt x="45724" y="148591"/>
                </a:cubicBezTo>
                <a:lnTo>
                  <a:pt x="45724" y="125731"/>
                </a:lnTo>
                <a:cubicBezTo>
                  <a:pt x="45724" y="119409"/>
                  <a:pt x="40616" y="114301"/>
                  <a:pt x="34294" y="114301"/>
                </a:cubicBezTo>
                <a:lnTo>
                  <a:pt x="31437" y="114301"/>
                </a:lnTo>
                <a:lnTo>
                  <a:pt x="31437" y="100013"/>
                </a:lnTo>
                <a:cubicBezTo>
                  <a:pt x="31437" y="92119"/>
                  <a:pt x="37831" y="85724"/>
                  <a:pt x="45726" y="85724"/>
                </a:cubicBezTo>
                <a:lnTo>
                  <a:pt x="65729" y="85724"/>
                </a:lnTo>
                <a:lnTo>
                  <a:pt x="69266" y="89261"/>
                </a:lnTo>
                <a:lnTo>
                  <a:pt x="79302" y="99297"/>
                </a:lnTo>
                <a:lnTo>
                  <a:pt x="82874" y="102869"/>
                </a:lnTo>
                <a:lnTo>
                  <a:pt x="82874" y="114299"/>
                </a:lnTo>
                <a:lnTo>
                  <a:pt x="80018" y="114299"/>
                </a:lnTo>
                <a:cubicBezTo>
                  <a:pt x="73695" y="114299"/>
                  <a:pt x="68588" y="119407"/>
                  <a:pt x="68588" y="125729"/>
                </a:cubicBezTo>
                <a:lnTo>
                  <a:pt x="68588" y="148590"/>
                </a:lnTo>
                <a:cubicBezTo>
                  <a:pt x="68588" y="154912"/>
                  <a:pt x="73695" y="160020"/>
                  <a:pt x="80018" y="160020"/>
                </a:cubicBezTo>
                <a:lnTo>
                  <a:pt x="102878" y="160020"/>
                </a:lnTo>
                <a:cubicBezTo>
                  <a:pt x="109200" y="160020"/>
                  <a:pt x="114308" y="154912"/>
                  <a:pt x="114308" y="148590"/>
                </a:cubicBezTo>
                <a:lnTo>
                  <a:pt x="114308" y="125729"/>
                </a:lnTo>
                <a:cubicBezTo>
                  <a:pt x="114308" y="119407"/>
                  <a:pt x="109200" y="114299"/>
                  <a:pt x="102878" y="114299"/>
                </a:cubicBezTo>
                <a:lnTo>
                  <a:pt x="100021" y="114299"/>
                </a:lnTo>
                <a:lnTo>
                  <a:pt x="100021" y="102869"/>
                </a:lnTo>
                <a:lnTo>
                  <a:pt x="103558" y="99333"/>
                </a:lnTo>
                <a:lnTo>
                  <a:pt x="113594" y="89296"/>
                </a:lnTo>
                <a:lnTo>
                  <a:pt x="117166" y="85724"/>
                </a:lnTo>
                <a:lnTo>
                  <a:pt x="137170" y="85724"/>
                </a:lnTo>
                <a:cubicBezTo>
                  <a:pt x="145063" y="85724"/>
                  <a:pt x="151458" y="92119"/>
                  <a:pt x="151458" y="100013"/>
                </a:cubicBezTo>
                <a:lnTo>
                  <a:pt x="151458" y="114301"/>
                </a:lnTo>
                <a:lnTo>
                  <a:pt x="148602" y="114301"/>
                </a:lnTo>
                <a:cubicBezTo>
                  <a:pt x="142279" y="114301"/>
                  <a:pt x="137172" y="119409"/>
                  <a:pt x="137172" y="125731"/>
                </a:cubicBezTo>
                <a:lnTo>
                  <a:pt x="137172" y="148591"/>
                </a:lnTo>
                <a:cubicBezTo>
                  <a:pt x="137172" y="154914"/>
                  <a:pt x="142279" y="160022"/>
                  <a:pt x="148602" y="160022"/>
                </a:cubicBezTo>
                <a:lnTo>
                  <a:pt x="171462" y="160022"/>
                </a:lnTo>
                <a:cubicBezTo>
                  <a:pt x="177784" y="160022"/>
                  <a:pt x="182892" y="154914"/>
                  <a:pt x="182892" y="148591"/>
                </a:cubicBezTo>
                <a:lnTo>
                  <a:pt x="182892" y="125731"/>
                </a:lnTo>
                <a:cubicBezTo>
                  <a:pt x="182892" y="119409"/>
                  <a:pt x="177784" y="114301"/>
                  <a:pt x="171462" y="114301"/>
                </a:cubicBezTo>
                <a:lnTo>
                  <a:pt x="168605" y="114301"/>
                </a:lnTo>
                <a:lnTo>
                  <a:pt x="168605" y="100013"/>
                </a:lnTo>
                <a:cubicBezTo>
                  <a:pt x="168605" y="82654"/>
                  <a:pt x="154532" y="68580"/>
                  <a:pt x="137173" y="68580"/>
                </a:cubicBezTo>
                <a:lnTo>
                  <a:pt x="117172" y="68580"/>
                </a:lnTo>
                <a:lnTo>
                  <a:pt x="113635" y="65043"/>
                </a:lnTo>
                <a:lnTo>
                  <a:pt x="103598" y="55007"/>
                </a:lnTo>
                <a:lnTo>
                  <a:pt x="100027" y="51435"/>
                </a:lnTo>
                <a:lnTo>
                  <a:pt x="100027" y="45721"/>
                </a:lnTo>
                <a:lnTo>
                  <a:pt x="148605" y="45721"/>
                </a:lnTo>
                <a:cubicBezTo>
                  <a:pt x="161215" y="45721"/>
                  <a:pt x="171465" y="35470"/>
                  <a:pt x="171465" y="22860"/>
                </a:cubicBezTo>
                <a:cubicBezTo>
                  <a:pt x="171465" y="10253"/>
                  <a:pt x="161215" y="0"/>
                  <a:pt x="148605" y="0"/>
                </a:cubicBezTo>
                <a:lnTo>
                  <a:pt x="34290" y="0"/>
                </a:lnTo>
                <a:moveTo>
                  <a:pt x="17145" y="142875"/>
                </a:moveTo>
                <a:lnTo>
                  <a:pt x="17145" y="131445"/>
                </a:lnTo>
                <a:lnTo>
                  <a:pt x="28575" y="131445"/>
                </a:lnTo>
                <a:lnTo>
                  <a:pt x="28575" y="142875"/>
                </a:lnTo>
                <a:lnTo>
                  <a:pt x="17145" y="142875"/>
                </a:lnTo>
                <a:moveTo>
                  <a:pt x="85725" y="142875"/>
                </a:moveTo>
                <a:lnTo>
                  <a:pt x="85725" y="131445"/>
                </a:lnTo>
                <a:lnTo>
                  <a:pt x="97155" y="131445"/>
                </a:lnTo>
                <a:lnTo>
                  <a:pt x="97155" y="142875"/>
                </a:lnTo>
                <a:lnTo>
                  <a:pt x="85725" y="142875"/>
                </a:lnTo>
                <a:moveTo>
                  <a:pt x="154305" y="142875"/>
                </a:moveTo>
                <a:lnTo>
                  <a:pt x="154305" y="131445"/>
                </a:lnTo>
                <a:lnTo>
                  <a:pt x="165735" y="131445"/>
                </a:lnTo>
                <a:lnTo>
                  <a:pt x="165735" y="142875"/>
                </a:lnTo>
                <a:lnTo>
                  <a:pt x="154305" y="142875"/>
                </a:lnTo>
                <a:moveTo>
                  <a:pt x="81404" y="77152"/>
                </a:moveTo>
                <a:lnTo>
                  <a:pt x="91440" y="67116"/>
                </a:lnTo>
                <a:lnTo>
                  <a:pt x="101476" y="77152"/>
                </a:lnTo>
                <a:lnTo>
                  <a:pt x="91440" y="87189"/>
                </a:lnTo>
                <a:lnTo>
                  <a:pt x="81404" y="77152"/>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42084" y="1698668"/>
            <a:ext cx="108584" cy="182880"/>
          </a:xfrm>
          <a:custGeom>
            <a:avLst/>
            <a:gdLst/>
            <a:ahLst/>
            <a:cxnLst/>
            <a:rect l="l" t="t" r="r" b="b"/>
            <a:pathLst>
              <a:path w="108584" h="182880">
                <a:moveTo>
                  <a:pt x="37143" y="17145"/>
                </a:moveTo>
                <a:cubicBezTo>
                  <a:pt x="37143" y="7675"/>
                  <a:pt x="44819" y="0"/>
                  <a:pt x="54289" y="0"/>
                </a:cubicBezTo>
                <a:cubicBezTo>
                  <a:pt x="63758" y="0"/>
                  <a:pt x="71434" y="7675"/>
                  <a:pt x="71434" y="17145"/>
                </a:cubicBezTo>
                <a:cubicBezTo>
                  <a:pt x="71434" y="26615"/>
                  <a:pt x="63759" y="34290"/>
                  <a:pt x="54289" y="34290"/>
                </a:cubicBezTo>
                <a:cubicBezTo>
                  <a:pt x="44820" y="34290"/>
                  <a:pt x="37143" y="26615"/>
                  <a:pt x="37143" y="17145"/>
                </a:cubicBezTo>
                <a:lnTo>
                  <a:pt x="37143" y="17145"/>
                </a:lnTo>
                <a:moveTo>
                  <a:pt x="48573" y="62902"/>
                </a:moveTo>
                <a:lnTo>
                  <a:pt x="48573" y="108585"/>
                </a:lnTo>
                <a:lnTo>
                  <a:pt x="60003" y="108585"/>
                </a:lnTo>
                <a:lnTo>
                  <a:pt x="60003" y="62902"/>
                </a:lnTo>
                <a:cubicBezTo>
                  <a:pt x="59753" y="62902"/>
                  <a:pt x="59467" y="62865"/>
                  <a:pt x="59181" y="62865"/>
                </a:cubicBezTo>
                <a:lnTo>
                  <a:pt x="49358" y="62865"/>
                </a:lnTo>
                <a:cubicBezTo>
                  <a:pt x="49073" y="62865"/>
                  <a:pt x="48823" y="62865"/>
                  <a:pt x="48536" y="62902"/>
                </a:cubicBezTo>
                <a:lnTo>
                  <a:pt x="48573" y="62902"/>
                </a:lnTo>
                <a:moveTo>
                  <a:pt x="48573" y="125730"/>
                </a:moveTo>
                <a:lnTo>
                  <a:pt x="48573" y="174308"/>
                </a:lnTo>
                <a:cubicBezTo>
                  <a:pt x="48573" y="179060"/>
                  <a:pt x="44751" y="182882"/>
                  <a:pt x="40000" y="182882"/>
                </a:cubicBezTo>
                <a:cubicBezTo>
                  <a:pt x="35250" y="182882"/>
                  <a:pt x="31428" y="179060"/>
                  <a:pt x="31428" y="174310"/>
                </a:cubicBezTo>
                <a:lnTo>
                  <a:pt x="31428" y="79869"/>
                </a:lnTo>
                <a:lnTo>
                  <a:pt x="16032" y="107087"/>
                </a:lnTo>
                <a:cubicBezTo>
                  <a:pt x="13711" y="111195"/>
                  <a:pt x="8460" y="112660"/>
                  <a:pt x="4352" y="110337"/>
                </a:cubicBezTo>
                <a:cubicBezTo>
                  <a:pt x="244" y="108015"/>
                  <a:pt x="-1221" y="102764"/>
                  <a:pt x="1102" y="98657"/>
                </a:cubicBezTo>
                <a:lnTo>
                  <a:pt x="22033" y="61687"/>
                </a:lnTo>
                <a:cubicBezTo>
                  <a:pt x="27605" y="51828"/>
                  <a:pt x="38071" y="45722"/>
                  <a:pt x="49393" y="45722"/>
                </a:cubicBezTo>
                <a:lnTo>
                  <a:pt x="59215" y="45722"/>
                </a:lnTo>
                <a:cubicBezTo>
                  <a:pt x="70539" y="45722"/>
                  <a:pt x="81004" y="51830"/>
                  <a:pt x="86575" y="61687"/>
                </a:cubicBezTo>
                <a:lnTo>
                  <a:pt x="107471" y="98657"/>
                </a:lnTo>
                <a:cubicBezTo>
                  <a:pt x="109793" y="102764"/>
                  <a:pt x="108364" y="108015"/>
                  <a:pt x="104222" y="110337"/>
                </a:cubicBezTo>
                <a:cubicBezTo>
                  <a:pt x="100078" y="112660"/>
                  <a:pt x="94864" y="111230"/>
                  <a:pt x="92541" y="107087"/>
                </a:cubicBezTo>
                <a:lnTo>
                  <a:pt x="77146" y="79869"/>
                </a:lnTo>
                <a:lnTo>
                  <a:pt x="77146" y="174310"/>
                </a:lnTo>
                <a:cubicBezTo>
                  <a:pt x="77146" y="179062"/>
                  <a:pt x="73324" y="182884"/>
                  <a:pt x="68573" y="182884"/>
                </a:cubicBezTo>
                <a:cubicBezTo>
                  <a:pt x="63823" y="182884"/>
                  <a:pt x="60000" y="179062"/>
                  <a:pt x="60000" y="174312"/>
                </a:cubicBezTo>
                <a:lnTo>
                  <a:pt x="60000" y="125736"/>
                </a:lnTo>
                <a:lnTo>
                  <a:pt x="48573" y="125730"/>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47356" y="1709279"/>
            <a:ext cx="182880" cy="182880"/>
          </a:xfrm>
          <a:custGeom>
            <a:avLst/>
            <a:gdLst/>
            <a:ahLst/>
            <a:cxnLst/>
            <a:rect l="l" t="t" r="r" b="b"/>
            <a:pathLst>
              <a:path w="182880" h="182880">
                <a:moveTo>
                  <a:pt x="165735" y="91440"/>
                </a:moveTo>
                <a:cubicBezTo>
                  <a:pt x="165735" y="132473"/>
                  <a:pt x="132473" y="165735"/>
                  <a:pt x="91440" y="165735"/>
                </a:cubicBezTo>
                <a:cubicBezTo>
                  <a:pt x="50407" y="165735"/>
                  <a:pt x="17145" y="132473"/>
                  <a:pt x="17145" y="91440"/>
                </a:cubicBezTo>
                <a:cubicBezTo>
                  <a:pt x="17145" y="50407"/>
                  <a:pt x="50407" y="17145"/>
                  <a:pt x="91440" y="17145"/>
                </a:cubicBezTo>
                <a:cubicBezTo>
                  <a:pt x="132473" y="17145"/>
                  <a:pt x="165735" y="50407"/>
                  <a:pt x="165735" y="91440"/>
                </a:cubicBezTo>
                <a:lnTo>
                  <a:pt x="165735" y="91440"/>
                </a:lnTo>
                <a:moveTo>
                  <a:pt x="0" y="91440"/>
                </a:moveTo>
                <a:cubicBezTo>
                  <a:pt x="0" y="141941"/>
                  <a:pt x="40939" y="182880"/>
                  <a:pt x="91440" y="182880"/>
                </a:cubicBezTo>
                <a:cubicBezTo>
                  <a:pt x="141941" y="182880"/>
                  <a:pt x="182880" y="141941"/>
                  <a:pt x="182880" y="91440"/>
                </a:cubicBezTo>
                <a:cubicBezTo>
                  <a:pt x="182880" y="40939"/>
                  <a:pt x="141941" y="0"/>
                  <a:pt x="91440" y="0"/>
                </a:cubicBezTo>
                <a:cubicBezTo>
                  <a:pt x="40939" y="0"/>
                  <a:pt x="0" y="40939"/>
                  <a:pt x="0" y="91440"/>
                </a:cubicBezTo>
                <a:moveTo>
                  <a:pt x="82868" y="42863"/>
                </a:moveTo>
                <a:lnTo>
                  <a:pt x="82868" y="91442"/>
                </a:lnTo>
                <a:cubicBezTo>
                  <a:pt x="82868" y="94300"/>
                  <a:pt x="84297" y="96978"/>
                  <a:pt x="86691" y="98585"/>
                </a:cubicBezTo>
                <a:lnTo>
                  <a:pt x="120981" y="121445"/>
                </a:lnTo>
                <a:cubicBezTo>
                  <a:pt x="124909" y="124088"/>
                  <a:pt x="130233" y="123016"/>
                  <a:pt x="132875" y="119051"/>
                </a:cubicBezTo>
                <a:cubicBezTo>
                  <a:pt x="135518" y="115086"/>
                  <a:pt x="134446" y="109799"/>
                  <a:pt x="130481" y="107157"/>
                </a:cubicBezTo>
                <a:lnTo>
                  <a:pt x="100013" y="86868"/>
                </a:lnTo>
                <a:lnTo>
                  <a:pt x="100013" y="42863"/>
                </a:lnTo>
                <a:cubicBezTo>
                  <a:pt x="100013" y="38112"/>
                  <a:pt x="96191" y="34292"/>
                  <a:pt x="91442" y="34292"/>
                </a:cubicBezTo>
                <a:cubicBezTo>
                  <a:pt x="86691" y="34292"/>
                  <a:pt x="82870" y="38114"/>
                  <a:pt x="82870" y="42865"/>
                </a:cubicBezTo>
                <a:lnTo>
                  <a:pt x="82868" y="42863"/>
                </a:ln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32958"/>
            <a:ext cx="182880" cy="156744"/>
          </a:xfrm>
          <a:custGeom>
            <a:avLst/>
            <a:gdLst/>
            <a:ahLst/>
            <a:cxnLst/>
            <a:rect l="l" t="t" r="r" b="b"/>
            <a:pathLst>
              <a:path w="182880" h="156744">
                <a:moveTo>
                  <a:pt x="179859" y="85504"/>
                </a:moveTo>
                <a:cubicBezTo>
                  <a:pt x="181777" y="83667"/>
                  <a:pt x="182880" y="81095"/>
                  <a:pt x="182880" y="78400"/>
                </a:cubicBezTo>
                <a:cubicBezTo>
                  <a:pt x="182880" y="75706"/>
                  <a:pt x="181777" y="73174"/>
                  <a:pt x="179859" y="71297"/>
                </a:cubicBezTo>
                <a:lnTo>
                  <a:pt x="108013" y="2716"/>
                </a:lnTo>
                <a:cubicBezTo>
                  <a:pt x="104093" y="-1039"/>
                  <a:pt x="97888" y="-876"/>
                  <a:pt x="94174" y="3042"/>
                </a:cubicBezTo>
                <a:cubicBezTo>
                  <a:pt x="90460" y="6961"/>
                  <a:pt x="90582" y="13167"/>
                  <a:pt x="94502" y="16881"/>
                </a:cubicBezTo>
                <a:lnTo>
                  <a:pt x="148630" y="68602"/>
                </a:lnTo>
                <a:lnTo>
                  <a:pt x="9797" y="68602"/>
                </a:lnTo>
                <a:cubicBezTo>
                  <a:pt x="4367" y="68602"/>
                  <a:pt x="0" y="72971"/>
                  <a:pt x="0" y="78399"/>
                </a:cubicBezTo>
                <a:cubicBezTo>
                  <a:pt x="0" y="83828"/>
                  <a:pt x="4367" y="88195"/>
                  <a:pt x="9797" y="88195"/>
                </a:cubicBezTo>
                <a:lnTo>
                  <a:pt x="148630" y="88195"/>
                </a:lnTo>
                <a:lnTo>
                  <a:pt x="94460" y="139876"/>
                </a:lnTo>
                <a:cubicBezTo>
                  <a:pt x="90540" y="143631"/>
                  <a:pt x="90418" y="149796"/>
                  <a:pt x="94132" y="153715"/>
                </a:cubicBezTo>
                <a:cubicBezTo>
                  <a:pt x="97846" y="157633"/>
                  <a:pt x="104052" y="157755"/>
                  <a:pt x="107971" y="154041"/>
                </a:cubicBezTo>
                <a:lnTo>
                  <a:pt x="179817" y="85460"/>
                </a:lnTo>
                <a:lnTo>
                  <a:pt x="179859" y="85504"/>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2196" y="1730501"/>
            <a:ext cx="182880" cy="182880"/>
          </a:xfrm>
          <a:custGeom>
            <a:avLst/>
            <a:gdLst/>
            <a:ahLst/>
            <a:cxnLst/>
            <a:rect l="l" t="t" r="r" b="b"/>
            <a:pathLst>
              <a:path w="182880" h="182880">
                <a:moveTo>
                  <a:pt x="78117" y="54293"/>
                </a:moveTo>
                <a:lnTo>
                  <a:pt x="104763" y="54293"/>
                </a:lnTo>
                <a:lnTo>
                  <a:pt x="109691" y="57437"/>
                </a:lnTo>
                <a:cubicBezTo>
                  <a:pt x="128980" y="69796"/>
                  <a:pt x="165735" y="98942"/>
                  <a:pt x="165735" y="148592"/>
                </a:cubicBezTo>
                <a:cubicBezTo>
                  <a:pt x="165735" y="158058"/>
                  <a:pt x="158056" y="165737"/>
                  <a:pt x="148590" y="165737"/>
                </a:cubicBezTo>
                <a:lnTo>
                  <a:pt x="34290" y="165737"/>
                </a:lnTo>
                <a:cubicBezTo>
                  <a:pt x="24824" y="165737"/>
                  <a:pt x="17145" y="158058"/>
                  <a:pt x="17145" y="148592"/>
                </a:cubicBezTo>
                <a:cubicBezTo>
                  <a:pt x="17145" y="98944"/>
                  <a:pt x="53900" y="69796"/>
                  <a:pt x="73189" y="57437"/>
                </a:cubicBezTo>
                <a:lnTo>
                  <a:pt x="78117" y="54293"/>
                </a:lnTo>
                <a:moveTo>
                  <a:pt x="102155" y="37148"/>
                </a:moveTo>
                <a:lnTo>
                  <a:pt x="80723" y="37148"/>
                </a:lnTo>
                <a:lnTo>
                  <a:pt x="78044" y="33291"/>
                </a:lnTo>
                <a:lnTo>
                  <a:pt x="66936" y="17147"/>
                </a:lnTo>
                <a:lnTo>
                  <a:pt x="115942" y="17147"/>
                </a:lnTo>
                <a:lnTo>
                  <a:pt x="104834" y="33291"/>
                </a:lnTo>
                <a:lnTo>
                  <a:pt x="102155" y="37148"/>
                </a:lnTo>
                <a:moveTo>
                  <a:pt x="53864" y="49970"/>
                </a:moveTo>
                <a:cubicBezTo>
                  <a:pt x="31933" y="66257"/>
                  <a:pt x="0" y="98155"/>
                  <a:pt x="0" y="148590"/>
                </a:cubicBezTo>
                <a:cubicBezTo>
                  <a:pt x="0" y="167522"/>
                  <a:pt x="15358" y="182880"/>
                  <a:pt x="34290" y="182880"/>
                </a:cubicBezTo>
                <a:lnTo>
                  <a:pt x="148590" y="182880"/>
                </a:lnTo>
                <a:cubicBezTo>
                  <a:pt x="167522" y="182880"/>
                  <a:pt x="182880" y="167522"/>
                  <a:pt x="182880" y="148590"/>
                </a:cubicBezTo>
                <a:cubicBezTo>
                  <a:pt x="182880" y="98155"/>
                  <a:pt x="150947" y="66257"/>
                  <a:pt x="129016" y="49970"/>
                </a:cubicBezTo>
                <a:cubicBezTo>
                  <a:pt x="125302" y="47220"/>
                  <a:pt x="121873" y="44899"/>
                  <a:pt x="118943" y="43041"/>
                </a:cubicBezTo>
                <a:lnTo>
                  <a:pt x="128694" y="28932"/>
                </a:lnTo>
                <a:lnTo>
                  <a:pt x="139338" y="13502"/>
                </a:lnTo>
                <a:cubicBezTo>
                  <a:pt x="143232" y="7750"/>
                  <a:pt x="139159" y="0"/>
                  <a:pt x="132266" y="0"/>
                </a:cubicBezTo>
                <a:lnTo>
                  <a:pt x="50614" y="0"/>
                </a:lnTo>
                <a:cubicBezTo>
                  <a:pt x="43719" y="0"/>
                  <a:pt x="39648" y="7750"/>
                  <a:pt x="43542" y="13431"/>
                </a:cubicBezTo>
                <a:lnTo>
                  <a:pt x="54185" y="28862"/>
                </a:lnTo>
                <a:lnTo>
                  <a:pt x="63937" y="43006"/>
                </a:lnTo>
                <a:cubicBezTo>
                  <a:pt x="61007" y="44899"/>
                  <a:pt x="57578" y="47185"/>
                  <a:pt x="53863" y="49935"/>
                </a:cubicBezTo>
                <a:lnTo>
                  <a:pt x="53864" y="49970"/>
                </a:lnTo>
                <a:moveTo>
                  <a:pt x="98583" y="77153"/>
                </a:moveTo>
                <a:cubicBezTo>
                  <a:pt x="98583" y="73225"/>
                  <a:pt x="95368" y="70010"/>
                  <a:pt x="91440" y="70010"/>
                </a:cubicBezTo>
                <a:cubicBezTo>
                  <a:pt x="87512" y="70010"/>
                  <a:pt x="84297" y="73225"/>
                  <a:pt x="84297" y="77153"/>
                </a:cubicBezTo>
                <a:lnTo>
                  <a:pt x="84297" y="82153"/>
                </a:lnTo>
                <a:cubicBezTo>
                  <a:pt x="81583" y="82761"/>
                  <a:pt x="78867" y="83724"/>
                  <a:pt x="76367" y="85189"/>
                </a:cubicBezTo>
                <a:cubicBezTo>
                  <a:pt x="71402" y="88154"/>
                  <a:pt x="67115" y="93333"/>
                  <a:pt x="67152" y="100869"/>
                </a:cubicBezTo>
                <a:cubicBezTo>
                  <a:pt x="67188" y="108121"/>
                  <a:pt x="71438" y="112693"/>
                  <a:pt x="75974" y="115407"/>
                </a:cubicBezTo>
                <a:cubicBezTo>
                  <a:pt x="79902" y="117764"/>
                  <a:pt x="84796" y="119263"/>
                  <a:pt x="88690" y="120406"/>
                </a:cubicBezTo>
                <a:lnTo>
                  <a:pt x="89297" y="120586"/>
                </a:lnTo>
                <a:cubicBezTo>
                  <a:pt x="93797" y="121943"/>
                  <a:pt x="97084" y="123014"/>
                  <a:pt x="99298" y="124408"/>
                </a:cubicBezTo>
                <a:cubicBezTo>
                  <a:pt x="101120" y="125551"/>
                  <a:pt x="101370" y="126337"/>
                  <a:pt x="101405" y="127338"/>
                </a:cubicBezTo>
                <a:cubicBezTo>
                  <a:pt x="101442" y="129124"/>
                  <a:pt x="100761" y="130196"/>
                  <a:pt x="99298" y="131088"/>
                </a:cubicBezTo>
                <a:cubicBezTo>
                  <a:pt x="97512" y="132195"/>
                  <a:pt x="94690" y="132875"/>
                  <a:pt x="91654" y="132767"/>
                </a:cubicBezTo>
                <a:cubicBezTo>
                  <a:pt x="87689" y="132625"/>
                  <a:pt x="83975" y="131374"/>
                  <a:pt x="79118" y="129732"/>
                </a:cubicBezTo>
                <a:cubicBezTo>
                  <a:pt x="78296" y="129446"/>
                  <a:pt x="77439" y="129159"/>
                  <a:pt x="76546" y="128874"/>
                </a:cubicBezTo>
                <a:cubicBezTo>
                  <a:pt x="72795" y="127623"/>
                  <a:pt x="68759" y="129660"/>
                  <a:pt x="67510" y="133374"/>
                </a:cubicBezTo>
                <a:cubicBezTo>
                  <a:pt x="66259" y="137089"/>
                  <a:pt x="68297" y="141162"/>
                  <a:pt x="72011" y="142411"/>
                </a:cubicBezTo>
                <a:cubicBezTo>
                  <a:pt x="72689" y="142624"/>
                  <a:pt x="73439" y="142875"/>
                  <a:pt x="74189" y="143160"/>
                </a:cubicBezTo>
                <a:lnTo>
                  <a:pt x="74189" y="143160"/>
                </a:lnTo>
                <a:lnTo>
                  <a:pt x="74189" y="143160"/>
                </a:lnTo>
                <a:cubicBezTo>
                  <a:pt x="77153" y="144195"/>
                  <a:pt x="80582" y="145375"/>
                  <a:pt x="84262" y="146161"/>
                </a:cubicBezTo>
                <a:lnTo>
                  <a:pt x="84262" y="151377"/>
                </a:lnTo>
                <a:cubicBezTo>
                  <a:pt x="84262" y="155305"/>
                  <a:pt x="87477" y="158520"/>
                  <a:pt x="91405" y="158520"/>
                </a:cubicBezTo>
                <a:cubicBezTo>
                  <a:pt x="95334" y="158520"/>
                  <a:pt x="98549" y="155305"/>
                  <a:pt x="98549" y="151377"/>
                </a:cubicBezTo>
                <a:lnTo>
                  <a:pt x="98549" y="146448"/>
                </a:lnTo>
                <a:cubicBezTo>
                  <a:pt x="101407" y="145841"/>
                  <a:pt x="104264" y="144841"/>
                  <a:pt x="106835" y="143233"/>
                </a:cubicBezTo>
                <a:cubicBezTo>
                  <a:pt x="111943" y="140055"/>
                  <a:pt x="115800" y="134625"/>
                  <a:pt x="115694" y="127160"/>
                </a:cubicBezTo>
                <a:cubicBezTo>
                  <a:pt x="115586" y="119909"/>
                  <a:pt x="111515" y="115231"/>
                  <a:pt x="106906" y="112301"/>
                </a:cubicBezTo>
                <a:cubicBezTo>
                  <a:pt x="102799" y="109730"/>
                  <a:pt x="97654" y="108157"/>
                  <a:pt x="93655" y="106943"/>
                </a:cubicBezTo>
                <a:lnTo>
                  <a:pt x="93655" y="106943"/>
                </a:lnTo>
                <a:lnTo>
                  <a:pt x="93404" y="106871"/>
                </a:lnTo>
                <a:cubicBezTo>
                  <a:pt x="88832" y="105478"/>
                  <a:pt x="85583" y="104477"/>
                  <a:pt x="83297" y="103121"/>
                </a:cubicBezTo>
                <a:cubicBezTo>
                  <a:pt x="81438" y="102014"/>
                  <a:pt x="81404" y="101370"/>
                  <a:pt x="81404" y="100727"/>
                </a:cubicBezTo>
                <a:cubicBezTo>
                  <a:pt x="81404" y="99404"/>
                  <a:pt x="81903" y="98404"/>
                  <a:pt x="83618" y="97406"/>
                </a:cubicBezTo>
                <a:cubicBezTo>
                  <a:pt x="85548" y="96263"/>
                  <a:pt x="88476" y="95584"/>
                  <a:pt x="91298" y="95619"/>
                </a:cubicBezTo>
                <a:cubicBezTo>
                  <a:pt x="94727" y="95655"/>
                  <a:pt x="98512" y="96405"/>
                  <a:pt x="102442" y="97477"/>
                </a:cubicBezTo>
                <a:cubicBezTo>
                  <a:pt x="106264" y="98477"/>
                  <a:pt x="110158" y="96226"/>
                  <a:pt x="111193" y="92406"/>
                </a:cubicBezTo>
                <a:cubicBezTo>
                  <a:pt x="112228" y="88583"/>
                  <a:pt x="109942" y="84690"/>
                  <a:pt x="106122" y="83655"/>
                </a:cubicBezTo>
                <a:cubicBezTo>
                  <a:pt x="103799" y="83048"/>
                  <a:pt x="101228" y="82440"/>
                  <a:pt x="98585" y="81976"/>
                </a:cubicBezTo>
                <a:lnTo>
                  <a:pt x="98585" y="77011"/>
                </a:lnTo>
                <a:lnTo>
                  <a:pt x="98583" y="77153"/>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Specialists who breach organizations and sell the obtained access to the highest bidder, using AI to accelerate reconnaissance and exploitation processes.</a:t>
            </a:r>
            <a:endParaRPr lang="en-US" sz="1555"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Initial Access Brokers</a:t>
            </a:r>
            <a:endParaRPr lang="en-US" sz="1797"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Marketplace for stolen usernames, passwords, and session tokens that offers ratings, reviews, and escrow services, treating stolen credentials as commodities.</a:t>
            </a:r>
            <a:endParaRPr lang="en-US" sz="1555"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Credential Markets</a:t>
            </a:r>
            <a:endParaRPr lang="en-US" sz="1797"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Custom voice cloning and video synthesis services enable attackers to create controllable digital puppets from submitted samples, facilitating sophisticated impersonation attacks.</a:t>
            </a:r>
            <a:endParaRPr lang="en-US" sz="1555"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Deepfake Services</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Ready-made phishing campaigns provide convincing websites, email templates, and hosting infrastructure. AI-enhanced versions generate unique, personalized content for each target, making detection difficult.</a:t>
            </a:r>
            <a:endParaRPr lang="en-US" sz="1555"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Phishing Kits</a:t>
            </a:r>
            <a:endParaRPr lang="en-US" sz="1797"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296"/>
              </a:spcBef>
              <a:buNone/>
            </a:pPr>
            <a:r>
              <a:rPr lang="en-US" sz="1555" dirty="0">
                <a:solidFill>
                  <a:srgbClr val="FFFFFF"/>
                </a:solidFill>
                <a:latin typeface="Figtree Regular" pitchFamily="34" charset="0"/>
                <a:ea typeface="Figtree Regular" pitchFamily="34" charset="-122"/>
                <a:cs typeface="Figtree Regular" pitchFamily="34" charset="-120"/>
              </a:rPr>
              <a:t>Complete ransomware operations are available for purchase, including encryption tools, payment processing, and victim communication support. The service manages everything, requiring only target identification from the buyer.</a:t>
            </a:r>
            <a:endParaRPr lang="en-US" sz="1555"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Ransomware-as-a-Service</a:t>
            </a:r>
            <a:endParaRPr lang="en-US" sz="1797"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Crime-as-a-Service: The Underground Marketplace</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28" name="Text 26"/>
          <p:cNvSpPr/>
          <p:nvPr/>
        </p:nvSpPr>
        <p:spPr>
          <a:xfrm>
            <a:off x="9762515" y="1698217"/>
            <a:ext cx="182880" cy="162560"/>
          </a:xfrm>
          <a:custGeom>
            <a:avLst/>
            <a:gdLst/>
            <a:ahLst/>
            <a:cxnLst/>
            <a:rect l="l" t="t" r="r" b="b"/>
            <a:pathLst>
              <a:path w="182880" h="162560">
                <a:moveTo>
                  <a:pt x="86360" y="15780"/>
                </a:moveTo>
                <a:lnTo>
                  <a:pt x="86360" y="147320"/>
                </a:lnTo>
                <a:lnTo>
                  <a:pt x="35559" y="147320"/>
                </a:lnTo>
                <a:lnTo>
                  <a:pt x="35559" y="29464"/>
                </a:lnTo>
                <a:lnTo>
                  <a:pt x="86360" y="15780"/>
                </a:lnTo>
                <a:moveTo>
                  <a:pt x="101601" y="147320"/>
                </a:moveTo>
                <a:lnTo>
                  <a:pt x="101601" y="13462"/>
                </a:lnTo>
                <a:cubicBezTo>
                  <a:pt x="101601" y="6033"/>
                  <a:pt x="95568" y="0"/>
                  <a:pt x="88139" y="0"/>
                </a:cubicBezTo>
                <a:cubicBezTo>
                  <a:pt x="86965" y="0"/>
                  <a:pt x="85789" y="159"/>
                  <a:pt x="84646" y="476"/>
                </a:cubicBezTo>
                <a:lnTo>
                  <a:pt x="31593" y="14733"/>
                </a:lnTo>
                <a:cubicBezTo>
                  <a:pt x="24958" y="16542"/>
                  <a:pt x="20322" y="22575"/>
                  <a:pt x="20322" y="29466"/>
                </a:cubicBezTo>
                <a:lnTo>
                  <a:pt x="20322" y="147322"/>
                </a:lnTo>
                <a:lnTo>
                  <a:pt x="7622" y="147322"/>
                </a:lnTo>
                <a:cubicBezTo>
                  <a:pt x="3400" y="147322"/>
                  <a:pt x="2" y="150719"/>
                  <a:pt x="2" y="154943"/>
                </a:cubicBezTo>
                <a:cubicBezTo>
                  <a:pt x="2" y="159166"/>
                  <a:pt x="3400" y="162563"/>
                  <a:pt x="7622" y="162563"/>
                </a:cubicBezTo>
                <a:lnTo>
                  <a:pt x="20322" y="162563"/>
                </a:lnTo>
                <a:lnTo>
                  <a:pt x="30482" y="162563"/>
                </a:lnTo>
                <a:lnTo>
                  <a:pt x="35563" y="162563"/>
                </a:lnTo>
                <a:lnTo>
                  <a:pt x="86363" y="162563"/>
                </a:lnTo>
                <a:lnTo>
                  <a:pt x="101603" y="162563"/>
                </a:lnTo>
                <a:lnTo>
                  <a:pt x="101601" y="147320"/>
                </a:lnTo>
                <a:moveTo>
                  <a:pt x="71120" y="91440"/>
                </a:moveTo>
                <a:cubicBezTo>
                  <a:pt x="75312" y="91440"/>
                  <a:pt x="78741" y="86869"/>
                  <a:pt x="78741" y="81280"/>
                </a:cubicBezTo>
                <a:cubicBezTo>
                  <a:pt x="78741" y="75691"/>
                  <a:pt x="75312" y="71120"/>
                  <a:pt x="71120" y="71120"/>
                </a:cubicBezTo>
                <a:cubicBezTo>
                  <a:pt x="66929" y="71120"/>
                  <a:pt x="63500" y="75693"/>
                  <a:pt x="63500" y="81280"/>
                </a:cubicBezTo>
                <a:cubicBezTo>
                  <a:pt x="63500" y="86869"/>
                  <a:pt x="66898" y="91440"/>
                  <a:pt x="71120" y="91440"/>
                </a:cubicBezTo>
                <a:moveTo>
                  <a:pt x="111760" y="35560"/>
                </a:moveTo>
                <a:lnTo>
                  <a:pt x="144781" y="35560"/>
                </a:lnTo>
                <a:cubicBezTo>
                  <a:pt x="146178" y="35560"/>
                  <a:pt x="147321" y="36703"/>
                  <a:pt x="147321" y="38101"/>
                </a:cubicBezTo>
                <a:lnTo>
                  <a:pt x="147321" y="154941"/>
                </a:lnTo>
                <a:cubicBezTo>
                  <a:pt x="147321" y="159164"/>
                  <a:pt x="150719" y="162562"/>
                  <a:pt x="154941" y="162562"/>
                </a:cubicBezTo>
                <a:lnTo>
                  <a:pt x="175261" y="162562"/>
                </a:lnTo>
                <a:cubicBezTo>
                  <a:pt x="179484" y="162562"/>
                  <a:pt x="182882" y="159164"/>
                  <a:pt x="182882" y="154943"/>
                </a:cubicBezTo>
                <a:cubicBezTo>
                  <a:pt x="182882" y="150719"/>
                  <a:pt x="179484" y="147323"/>
                  <a:pt x="175261" y="147323"/>
                </a:cubicBezTo>
                <a:lnTo>
                  <a:pt x="162562" y="147323"/>
                </a:lnTo>
                <a:lnTo>
                  <a:pt x="162562" y="38104"/>
                </a:lnTo>
                <a:cubicBezTo>
                  <a:pt x="162562" y="28294"/>
                  <a:pt x="154592" y="20325"/>
                  <a:pt x="144782" y="20325"/>
                </a:cubicBezTo>
                <a:lnTo>
                  <a:pt x="111762" y="20325"/>
                </a:lnTo>
                <a:lnTo>
                  <a:pt x="111760" y="35560"/>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698686"/>
            <a:ext cx="182880" cy="182844"/>
          </a:xfrm>
          <a:custGeom>
            <a:avLst/>
            <a:gdLst/>
            <a:ahLst/>
            <a:cxnLst/>
            <a:rect l="l" t="t" r="r" b="b"/>
            <a:pathLst>
              <a:path w="182880" h="182844">
                <a:moveTo>
                  <a:pt x="74280" y="62853"/>
                </a:moveTo>
                <a:cubicBezTo>
                  <a:pt x="74280" y="37604"/>
                  <a:pt x="94743" y="17142"/>
                  <a:pt x="119991" y="17142"/>
                </a:cubicBezTo>
                <a:cubicBezTo>
                  <a:pt x="145240" y="17142"/>
                  <a:pt x="165702" y="37604"/>
                  <a:pt x="165702" y="62853"/>
                </a:cubicBezTo>
                <a:cubicBezTo>
                  <a:pt x="165702" y="88102"/>
                  <a:pt x="145240" y="108564"/>
                  <a:pt x="119991" y="108564"/>
                </a:cubicBezTo>
                <a:cubicBezTo>
                  <a:pt x="116277" y="108564"/>
                  <a:pt x="112670" y="108136"/>
                  <a:pt x="109241" y="107278"/>
                </a:cubicBezTo>
                <a:cubicBezTo>
                  <a:pt x="106348" y="106563"/>
                  <a:pt x="103278" y="107421"/>
                  <a:pt x="101171" y="109564"/>
                </a:cubicBezTo>
                <a:lnTo>
                  <a:pt x="90743" y="119991"/>
                </a:lnTo>
                <a:lnTo>
                  <a:pt x="71424" y="119991"/>
                </a:lnTo>
                <a:cubicBezTo>
                  <a:pt x="66674" y="119991"/>
                  <a:pt x="62852" y="123813"/>
                  <a:pt x="62852" y="128563"/>
                </a:cubicBezTo>
                <a:lnTo>
                  <a:pt x="62852" y="142849"/>
                </a:lnTo>
                <a:lnTo>
                  <a:pt x="48567" y="142849"/>
                </a:lnTo>
                <a:cubicBezTo>
                  <a:pt x="43818" y="142849"/>
                  <a:pt x="39996" y="146670"/>
                  <a:pt x="39996" y="151421"/>
                </a:cubicBezTo>
                <a:lnTo>
                  <a:pt x="39996" y="165706"/>
                </a:lnTo>
                <a:lnTo>
                  <a:pt x="17139" y="165706"/>
                </a:lnTo>
                <a:lnTo>
                  <a:pt x="17139" y="137815"/>
                </a:lnTo>
                <a:lnTo>
                  <a:pt x="73278" y="81676"/>
                </a:lnTo>
                <a:cubicBezTo>
                  <a:pt x="75385" y="79570"/>
                  <a:pt x="76243" y="76498"/>
                  <a:pt x="75564" y="73606"/>
                </a:cubicBezTo>
                <a:cubicBezTo>
                  <a:pt x="74743" y="70177"/>
                  <a:pt x="74278" y="66570"/>
                  <a:pt x="74278" y="62856"/>
                </a:cubicBezTo>
                <a:lnTo>
                  <a:pt x="74280" y="62853"/>
                </a:lnTo>
                <a:moveTo>
                  <a:pt x="119991" y="0"/>
                </a:moveTo>
                <a:cubicBezTo>
                  <a:pt x="85279" y="0"/>
                  <a:pt x="57139" y="28142"/>
                  <a:pt x="57139" y="62853"/>
                </a:cubicBezTo>
                <a:cubicBezTo>
                  <a:pt x="57139" y="66244"/>
                  <a:pt x="57389" y="69567"/>
                  <a:pt x="57925" y="72816"/>
                </a:cubicBezTo>
                <a:lnTo>
                  <a:pt x="2500" y="128205"/>
                </a:lnTo>
                <a:cubicBezTo>
                  <a:pt x="892" y="129812"/>
                  <a:pt x="0" y="131990"/>
                  <a:pt x="0" y="134275"/>
                </a:cubicBezTo>
                <a:lnTo>
                  <a:pt x="0" y="174273"/>
                </a:lnTo>
                <a:cubicBezTo>
                  <a:pt x="0" y="179023"/>
                  <a:pt x="3820" y="182844"/>
                  <a:pt x="8572" y="182844"/>
                </a:cubicBezTo>
                <a:lnTo>
                  <a:pt x="48569" y="182844"/>
                </a:lnTo>
                <a:cubicBezTo>
                  <a:pt x="53319" y="182844"/>
                  <a:pt x="57141" y="179023"/>
                  <a:pt x="57141" y="174274"/>
                </a:cubicBezTo>
                <a:lnTo>
                  <a:pt x="57141" y="159991"/>
                </a:lnTo>
                <a:lnTo>
                  <a:pt x="71425" y="159991"/>
                </a:lnTo>
                <a:cubicBezTo>
                  <a:pt x="76175" y="159991"/>
                  <a:pt x="79997" y="156169"/>
                  <a:pt x="79997" y="151421"/>
                </a:cubicBezTo>
                <a:lnTo>
                  <a:pt x="79997" y="137137"/>
                </a:lnTo>
                <a:lnTo>
                  <a:pt x="94282" y="137137"/>
                </a:lnTo>
                <a:cubicBezTo>
                  <a:pt x="96568" y="137137"/>
                  <a:pt x="98746" y="136245"/>
                  <a:pt x="100353" y="134637"/>
                </a:cubicBezTo>
                <a:lnTo>
                  <a:pt x="110066" y="124925"/>
                </a:lnTo>
                <a:cubicBezTo>
                  <a:pt x="113316" y="125424"/>
                  <a:pt x="116637" y="125711"/>
                  <a:pt x="120029" y="125711"/>
                </a:cubicBezTo>
                <a:cubicBezTo>
                  <a:pt x="154742" y="125711"/>
                  <a:pt x="182882" y="97569"/>
                  <a:pt x="182882" y="62858"/>
                </a:cubicBezTo>
                <a:cubicBezTo>
                  <a:pt x="182882" y="28147"/>
                  <a:pt x="154705" y="6"/>
                  <a:pt x="119993" y="6"/>
                </a:cubicBezTo>
                <a:lnTo>
                  <a:pt x="119991" y="0"/>
                </a:lnTo>
                <a:moveTo>
                  <a:pt x="131419" y="62853"/>
                </a:moveTo>
                <a:cubicBezTo>
                  <a:pt x="137731" y="62853"/>
                  <a:pt x="142848" y="57737"/>
                  <a:pt x="142848" y="51425"/>
                </a:cubicBezTo>
                <a:cubicBezTo>
                  <a:pt x="142848" y="45113"/>
                  <a:pt x="137731" y="39997"/>
                  <a:pt x="131419" y="39997"/>
                </a:cubicBezTo>
                <a:cubicBezTo>
                  <a:pt x="125108" y="39997"/>
                  <a:pt x="119991" y="45113"/>
                  <a:pt x="119991" y="51425"/>
                </a:cubicBezTo>
                <a:cubicBezTo>
                  <a:pt x="119991" y="57737"/>
                  <a:pt x="125108" y="62853"/>
                  <a:pt x="131419" y="62853"/>
                </a:cubicBez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47356" y="1709279"/>
            <a:ext cx="182880" cy="182880"/>
          </a:xfrm>
          <a:custGeom>
            <a:avLst/>
            <a:gdLst/>
            <a:ahLst/>
            <a:cxnLst/>
            <a:rect l="l" t="t" r="r" b="b"/>
            <a:pathLst>
              <a:path w="182880" h="182880">
                <a:moveTo>
                  <a:pt x="165735" y="91440"/>
                </a:moveTo>
                <a:cubicBezTo>
                  <a:pt x="165735" y="50407"/>
                  <a:pt x="132473" y="17145"/>
                  <a:pt x="91440" y="17145"/>
                </a:cubicBezTo>
                <a:cubicBezTo>
                  <a:pt x="50407" y="17145"/>
                  <a:pt x="17145" y="50407"/>
                  <a:pt x="17145" y="91440"/>
                </a:cubicBezTo>
                <a:cubicBezTo>
                  <a:pt x="17145" y="132473"/>
                  <a:pt x="50407" y="165735"/>
                  <a:pt x="91440" y="165735"/>
                </a:cubicBezTo>
                <a:cubicBezTo>
                  <a:pt x="132473" y="165735"/>
                  <a:pt x="165735" y="132473"/>
                  <a:pt x="165735" y="91440"/>
                </a:cubicBezTo>
                <a:lnTo>
                  <a:pt x="165735" y="91440"/>
                </a:lnTo>
                <a:moveTo>
                  <a:pt x="0" y="91440"/>
                </a:moveTo>
                <a:cubicBezTo>
                  <a:pt x="0" y="40939"/>
                  <a:pt x="40939" y="0"/>
                  <a:pt x="91440" y="0"/>
                </a:cubicBezTo>
                <a:cubicBezTo>
                  <a:pt x="141941" y="0"/>
                  <a:pt x="182880" y="40939"/>
                  <a:pt x="182880" y="91440"/>
                </a:cubicBezTo>
                <a:cubicBezTo>
                  <a:pt x="182880" y="141941"/>
                  <a:pt x="141941" y="182880"/>
                  <a:pt x="91440" y="182880"/>
                </a:cubicBezTo>
                <a:cubicBezTo>
                  <a:pt x="40939" y="182880"/>
                  <a:pt x="0" y="141941"/>
                  <a:pt x="0" y="91440"/>
                </a:cubicBezTo>
                <a:moveTo>
                  <a:pt x="63437" y="113622"/>
                </a:moveTo>
                <a:cubicBezTo>
                  <a:pt x="68867" y="119479"/>
                  <a:pt x="78154" y="125730"/>
                  <a:pt x="91442" y="125730"/>
                </a:cubicBezTo>
                <a:cubicBezTo>
                  <a:pt x="104730" y="125730"/>
                  <a:pt x="114017" y="119479"/>
                  <a:pt x="119444" y="113622"/>
                </a:cubicBezTo>
                <a:cubicBezTo>
                  <a:pt x="122660" y="110156"/>
                  <a:pt x="128089" y="109907"/>
                  <a:pt x="131553" y="113122"/>
                </a:cubicBezTo>
                <a:cubicBezTo>
                  <a:pt x="135018" y="116337"/>
                  <a:pt x="135267" y="121767"/>
                  <a:pt x="132052" y="125231"/>
                </a:cubicBezTo>
                <a:cubicBezTo>
                  <a:pt x="124194" y="133731"/>
                  <a:pt x="110620" y="142875"/>
                  <a:pt x="91475" y="142875"/>
                </a:cubicBezTo>
                <a:cubicBezTo>
                  <a:pt x="72329" y="142875"/>
                  <a:pt x="58721" y="133768"/>
                  <a:pt x="50899" y="125231"/>
                </a:cubicBezTo>
                <a:cubicBezTo>
                  <a:pt x="47684" y="121765"/>
                  <a:pt x="47898" y="116337"/>
                  <a:pt x="51399" y="113122"/>
                </a:cubicBezTo>
                <a:cubicBezTo>
                  <a:pt x="54899" y="109907"/>
                  <a:pt x="60292" y="110121"/>
                  <a:pt x="63507" y="113622"/>
                </a:cubicBezTo>
                <a:lnTo>
                  <a:pt x="63437" y="113622"/>
                </a:lnTo>
                <a:moveTo>
                  <a:pt x="51578" y="74295"/>
                </a:moveTo>
                <a:cubicBezTo>
                  <a:pt x="51578" y="67982"/>
                  <a:pt x="56695" y="62865"/>
                  <a:pt x="63008" y="62865"/>
                </a:cubicBezTo>
                <a:cubicBezTo>
                  <a:pt x="69321" y="62865"/>
                  <a:pt x="74438" y="67982"/>
                  <a:pt x="74438" y="74295"/>
                </a:cubicBezTo>
                <a:cubicBezTo>
                  <a:pt x="74438" y="80608"/>
                  <a:pt x="69321" y="85725"/>
                  <a:pt x="63008" y="85725"/>
                </a:cubicBezTo>
                <a:cubicBezTo>
                  <a:pt x="56695" y="85725"/>
                  <a:pt x="51578" y="80608"/>
                  <a:pt x="51578" y="74295"/>
                </a:cubicBezTo>
                <a:moveTo>
                  <a:pt x="120158" y="62865"/>
                </a:moveTo>
                <a:cubicBezTo>
                  <a:pt x="126471" y="62865"/>
                  <a:pt x="131588" y="67982"/>
                  <a:pt x="131588" y="74295"/>
                </a:cubicBezTo>
                <a:cubicBezTo>
                  <a:pt x="131588" y="80608"/>
                  <a:pt x="126471" y="85725"/>
                  <a:pt x="120158" y="85725"/>
                </a:cubicBezTo>
                <a:cubicBezTo>
                  <a:pt x="113845" y="85725"/>
                  <a:pt x="108728" y="80608"/>
                  <a:pt x="108728" y="74295"/>
                </a:cubicBezTo>
                <a:cubicBezTo>
                  <a:pt x="108728" y="67982"/>
                  <a:pt x="113845" y="62865"/>
                  <a:pt x="120158" y="62865"/>
                </a:cubicBez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42750"/>
            <a:ext cx="182880" cy="137160"/>
          </a:xfrm>
          <a:custGeom>
            <a:avLst/>
            <a:gdLst/>
            <a:ahLst/>
            <a:cxnLst/>
            <a:rect l="l" t="t" r="r" b="b"/>
            <a:pathLst>
              <a:path w="182880" h="137160">
                <a:moveTo>
                  <a:pt x="22860" y="17145"/>
                </a:moveTo>
                <a:cubicBezTo>
                  <a:pt x="19716" y="17145"/>
                  <a:pt x="17145" y="19717"/>
                  <a:pt x="17145" y="22860"/>
                </a:cubicBezTo>
                <a:lnTo>
                  <a:pt x="17145" y="30754"/>
                </a:lnTo>
                <a:lnTo>
                  <a:pt x="78759" y="81332"/>
                </a:lnTo>
                <a:cubicBezTo>
                  <a:pt x="86153" y="87404"/>
                  <a:pt x="96762" y="87404"/>
                  <a:pt x="104156" y="81332"/>
                </a:cubicBezTo>
                <a:lnTo>
                  <a:pt x="165735" y="30754"/>
                </a:lnTo>
                <a:lnTo>
                  <a:pt x="165735" y="22860"/>
                </a:lnTo>
                <a:cubicBezTo>
                  <a:pt x="165735" y="19717"/>
                  <a:pt x="163164" y="17145"/>
                  <a:pt x="160020" y="17145"/>
                </a:cubicBezTo>
                <a:lnTo>
                  <a:pt x="22860" y="17145"/>
                </a:lnTo>
                <a:moveTo>
                  <a:pt x="17145" y="52936"/>
                </a:moveTo>
                <a:lnTo>
                  <a:pt x="17145" y="114301"/>
                </a:lnTo>
                <a:cubicBezTo>
                  <a:pt x="17145" y="117445"/>
                  <a:pt x="19716" y="120016"/>
                  <a:pt x="22860" y="120016"/>
                </a:cubicBezTo>
                <a:lnTo>
                  <a:pt x="160020" y="120016"/>
                </a:lnTo>
                <a:cubicBezTo>
                  <a:pt x="163164" y="120016"/>
                  <a:pt x="165735" y="117445"/>
                  <a:pt x="165735" y="114301"/>
                </a:cubicBezTo>
                <a:lnTo>
                  <a:pt x="165735" y="52936"/>
                </a:lnTo>
                <a:lnTo>
                  <a:pt x="115015" y="94584"/>
                </a:lnTo>
                <a:cubicBezTo>
                  <a:pt x="101299" y="105835"/>
                  <a:pt x="81546" y="105835"/>
                  <a:pt x="67867" y="94584"/>
                </a:cubicBezTo>
                <a:lnTo>
                  <a:pt x="17145" y="52936"/>
                </a:lnTo>
                <a:moveTo>
                  <a:pt x="0" y="22860"/>
                </a:moveTo>
                <a:cubicBezTo>
                  <a:pt x="0" y="10251"/>
                  <a:pt x="10250" y="0"/>
                  <a:pt x="22860" y="0"/>
                </a:cubicBezTo>
                <a:lnTo>
                  <a:pt x="160020" y="0"/>
                </a:lnTo>
                <a:cubicBezTo>
                  <a:pt x="172630" y="0"/>
                  <a:pt x="182880" y="10251"/>
                  <a:pt x="182880" y="22860"/>
                </a:cubicBezTo>
                <a:lnTo>
                  <a:pt x="182880" y="114301"/>
                </a:lnTo>
                <a:cubicBezTo>
                  <a:pt x="182880" y="126910"/>
                  <a:pt x="172630" y="137161"/>
                  <a:pt x="160020" y="137161"/>
                </a:cubicBezTo>
                <a:lnTo>
                  <a:pt x="22860" y="137161"/>
                </a:lnTo>
                <a:cubicBezTo>
                  <a:pt x="10250" y="137161"/>
                  <a:pt x="0" y="126910"/>
                  <a:pt x="0" y="114301"/>
                </a:cubicBezTo>
                <a:lnTo>
                  <a:pt x="0" y="22860"/>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7439" y="1730501"/>
            <a:ext cx="172393" cy="182880"/>
          </a:xfrm>
          <a:custGeom>
            <a:avLst/>
            <a:gdLst/>
            <a:ahLst/>
            <a:cxnLst/>
            <a:rect l="l" t="t" r="r" b="b"/>
            <a:pathLst>
              <a:path w="172393" h="182880">
                <a:moveTo>
                  <a:pt x="86197" y="17741"/>
                </a:moveTo>
                <a:lnTo>
                  <a:pt x="20472" y="45612"/>
                </a:lnTo>
                <a:cubicBezTo>
                  <a:pt x="18353" y="46510"/>
                  <a:pt x="17203" y="48414"/>
                  <a:pt x="17239" y="50210"/>
                </a:cubicBezTo>
                <a:cubicBezTo>
                  <a:pt x="17419" y="83037"/>
                  <a:pt x="31031" y="139746"/>
                  <a:pt x="84185" y="165174"/>
                </a:cubicBezTo>
                <a:cubicBezTo>
                  <a:pt x="85478" y="165784"/>
                  <a:pt x="86986" y="165784"/>
                  <a:pt x="88243" y="165174"/>
                </a:cubicBezTo>
                <a:cubicBezTo>
                  <a:pt x="141397" y="139709"/>
                  <a:pt x="155009" y="83035"/>
                  <a:pt x="155152" y="50173"/>
                </a:cubicBezTo>
                <a:cubicBezTo>
                  <a:pt x="155152" y="48377"/>
                  <a:pt x="154038" y="46510"/>
                  <a:pt x="151920" y="45576"/>
                </a:cubicBezTo>
                <a:lnTo>
                  <a:pt x="86197" y="17741"/>
                </a:lnTo>
                <a:moveTo>
                  <a:pt x="91010" y="1042"/>
                </a:moveTo>
                <a:lnTo>
                  <a:pt x="158638" y="29738"/>
                </a:lnTo>
                <a:cubicBezTo>
                  <a:pt x="166539" y="33077"/>
                  <a:pt x="172429" y="40872"/>
                  <a:pt x="172393" y="50281"/>
                </a:cubicBezTo>
                <a:cubicBezTo>
                  <a:pt x="172214" y="85910"/>
                  <a:pt x="157560" y="151095"/>
                  <a:pt x="95678" y="180726"/>
                </a:cubicBezTo>
                <a:cubicBezTo>
                  <a:pt x="89681" y="183599"/>
                  <a:pt x="82712" y="183599"/>
                  <a:pt x="76715" y="180726"/>
                </a:cubicBezTo>
                <a:cubicBezTo>
                  <a:pt x="14833" y="151096"/>
                  <a:pt x="179" y="85910"/>
                  <a:pt x="0" y="50281"/>
                </a:cubicBezTo>
                <a:cubicBezTo>
                  <a:pt x="-36" y="40872"/>
                  <a:pt x="5854" y="33078"/>
                  <a:pt x="13755" y="29738"/>
                </a:cubicBezTo>
                <a:lnTo>
                  <a:pt x="81420" y="1042"/>
                </a:lnTo>
                <a:cubicBezTo>
                  <a:pt x="82892" y="360"/>
                  <a:pt x="84543" y="0"/>
                  <a:pt x="86196" y="0"/>
                </a:cubicBezTo>
                <a:cubicBezTo>
                  <a:pt x="87848" y="0"/>
                  <a:pt x="89501" y="358"/>
                  <a:pt x="91010" y="1042"/>
                </a:cubicBezTo>
                <a:lnTo>
                  <a:pt x="91010" y="1042"/>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013027" y="3883239"/>
            <a:ext cx="2463895" cy="731520"/>
          </a:xfrm>
          <a:custGeom>
            <a:avLst/>
            <a:gdLst/>
            <a:ahLst/>
            <a:cxnLst/>
            <a:rect l="l" t="t" r="r" b="b"/>
            <a:pathLst>
              <a:path w="2463895" h="731520">
                <a:moveTo>
                  <a:pt x="258389" y="731520"/>
                </a:moveTo>
                <a:lnTo>
                  <a:pt x="2205506" y="731520"/>
                </a:lnTo>
                <a:lnTo>
                  <a:pt x="2463895" y="0"/>
                </a:lnTo>
                <a:lnTo>
                  <a:pt x="0" y="0"/>
                </a:lnTo>
                <a:lnTo>
                  <a:pt x="258389" y="73152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8529816" y="4614759"/>
            <a:ext cx="1688712" cy="228830"/>
          </a:xfrm>
          <a:custGeom>
            <a:avLst/>
            <a:gdLst/>
            <a:ahLst/>
            <a:cxnLst/>
            <a:rect l="l" t="t" r="r" b="b"/>
            <a:pathLst>
              <a:path w="1688712" h="228830">
                <a:moveTo>
                  <a:pt x="1688712" y="0"/>
                </a:moveTo>
                <a:lnTo>
                  <a:pt x="715119" y="0"/>
                </a:lnTo>
                <a:lnTo>
                  <a:pt x="0" y="228830"/>
                </a:lnTo>
                <a:lnTo>
                  <a:pt x="973526" y="228830"/>
                </a:lnTo>
                <a:lnTo>
                  <a:pt x="1688712" y="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7673103" y="3053526"/>
            <a:ext cx="176957" cy="109027"/>
          </a:xfrm>
          <a:custGeom>
            <a:avLst/>
            <a:gdLst/>
            <a:ahLst/>
            <a:cxnLst/>
            <a:rect l="l" t="t" r="r" b="b"/>
            <a:pathLst>
              <a:path w="176957" h="109027">
                <a:moveTo>
                  <a:pt x="0" y="0"/>
                </a:moveTo>
                <a:lnTo>
                  <a:pt x="176958" y="109027"/>
                </a:lnTo>
                <a:lnTo>
                  <a:pt x="176958" y="109027"/>
                </a:lnTo>
                <a:lnTo>
                  <a:pt x="0" y="0"/>
                </a:lnTo>
              </a:path>
            </a:pathLst>
          </a:custGeom>
          <a:solidFill>
            <a:srgbClr val="156082">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496238" y="2726497"/>
            <a:ext cx="3727675" cy="218028"/>
          </a:xfrm>
          <a:custGeom>
            <a:avLst/>
            <a:gdLst/>
            <a:ahLst/>
            <a:cxnLst/>
            <a:rect l="l" t="t" r="r" b="b"/>
            <a:pathLst>
              <a:path w="3727675" h="218028">
                <a:moveTo>
                  <a:pt x="3727675" y="0"/>
                </a:moveTo>
                <a:lnTo>
                  <a:pt x="1686885" y="0"/>
                </a:lnTo>
                <a:lnTo>
                  <a:pt x="0" y="218028"/>
                </a:lnTo>
                <a:lnTo>
                  <a:pt x="2040716" y="218028"/>
                </a:lnTo>
                <a:lnTo>
                  <a:pt x="3727675" y="0"/>
                </a:lnTo>
              </a:path>
            </a:pathLst>
          </a:custGeom>
          <a:solidFill>
            <a:srgbClr val="156082">
              <a:alpha val="80000"/>
            </a:srgbClr>
          </a:solidFill>
          <a:ln/>
        </p:spPr>
        <p:txBody>
          <a:bodyPr wrap="square" lIns="0" tIns="0" rIns="0" bIns="0" rtlCol="0" anchor="ctr"/>
          <a:lstStyle/>
          <a:p>
            <a:pPr indent="0" marL="0">
              <a:buNone/>
            </a:pPr>
            <a:endParaRPr lang="en-US" dirty="0"/>
          </a:p>
        </p:txBody>
      </p:sp>
      <p:sp>
        <p:nvSpPr>
          <p:cNvPr id="8" name="Text 6"/>
          <p:cNvSpPr/>
          <p:nvPr/>
        </p:nvSpPr>
        <p:spPr>
          <a:xfrm>
            <a:off x="8142190" y="4010302"/>
            <a:ext cx="129230" cy="114417"/>
          </a:xfrm>
          <a:custGeom>
            <a:avLst/>
            <a:gdLst/>
            <a:ahLst/>
            <a:cxnLst/>
            <a:rect l="l" t="t" r="r" b="b"/>
            <a:pathLst>
              <a:path w="129230" h="114417">
                <a:moveTo>
                  <a:pt x="0" y="0"/>
                </a:moveTo>
                <a:lnTo>
                  <a:pt x="129231" y="114417"/>
                </a:lnTo>
                <a:lnTo>
                  <a:pt x="129231" y="114417"/>
                </a:lnTo>
                <a:lnTo>
                  <a:pt x="0" y="0"/>
                </a:lnTo>
              </a:path>
            </a:pathLst>
          </a:custGeom>
          <a:solidFill>
            <a:srgbClr val="104862">
              <a:alpha val="80000"/>
            </a:srgbClr>
          </a:solidFill>
          <a:ln/>
        </p:spPr>
        <p:txBody>
          <a:bodyPr wrap="square" lIns="0" tIns="0" rIns="0" bIns="0" rtlCol="0" anchor="ctr"/>
          <a:lstStyle/>
          <a:p>
            <a:pPr indent="0" marL="0">
              <a:buNone/>
            </a:pPr>
            <a:endParaRPr lang="en-US" dirty="0"/>
          </a:p>
        </p:txBody>
      </p:sp>
      <p:sp>
        <p:nvSpPr>
          <p:cNvPr id="9" name="Text 7"/>
          <p:cNvSpPr/>
          <p:nvPr/>
        </p:nvSpPr>
        <p:spPr>
          <a:xfrm>
            <a:off x="8013027" y="3667107"/>
            <a:ext cx="2722289" cy="228806"/>
          </a:xfrm>
          <a:custGeom>
            <a:avLst/>
            <a:gdLst/>
            <a:ahLst/>
            <a:cxnLst/>
            <a:rect l="l" t="t" r="r" b="b"/>
            <a:pathLst>
              <a:path w="2722289" h="228806">
                <a:moveTo>
                  <a:pt x="2722289" y="0"/>
                </a:moveTo>
                <a:lnTo>
                  <a:pt x="1231917" y="0"/>
                </a:lnTo>
                <a:lnTo>
                  <a:pt x="0" y="228806"/>
                </a:lnTo>
                <a:lnTo>
                  <a:pt x="1490317" y="228806"/>
                </a:lnTo>
                <a:lnTo>
                  <a:pt x="2722289" y="0"/>
                </a:lnTo>
              </a:path>
            </a:pathLst>
          </a:custGeom>
          <a:solidFill>
            <a:srgbClr val="104862">
              <a:alpha val="80000"/>
            </a:srgbClr>
          </a:solidFill>
          <a:ln/>
        </p:spPr>
        <p:txBody>
          <a:bodyPr wrap="square" lIns="0" tIns="0" rIns="0" bIns="0" rtlCol="0" anchor="ctr"/>
          <a:lstStyle/>
          <a:p>
            <a:pPr indent="0" marL="0">
              <a:buNone/>
            </a:pPr>
            <a:endParaRPr lang="en-US" dirty="0"/>
          </a:p>
        </p:txBody>
      </p:sp>
      <p:sp>
        <p:nvSpPr>
          <p:cNvPr id="10" name="Text 8"/>
          <p:cNvSpPr/>
          <p:nvPr/>
        </p:nvSpPr>
        <p:spPr>
          <a:xfrm>
            <a:off x="8529816" y="4845405"/>
            <a:ext cx="1430317" cy="731520"/>
          </a:xfrm>
          <a:custGeom>
            <a:avLst/>
            <a:gdLst/>
            <a:ahLst/>
            <a:cxnLst/>
            <a:rect l="l" t="t" r="r" b="b"/>
            <a:pathLst>
              <a:path w="1430317" h="731520">
                <a:moveTo>
                  <a:pt x="0" y="0"/>
                </a:moveTo>
                <a:lnTo>
                  <a:pt x="258387" y="731520"/>
                </a:lnTo>
                <a:lnTo>
                  <a:pt x="1171916" y="731520"/>
                </a:lnTo>
                <a:lnTo>
                  <a:pt x="1430317" y="0"/>
                </a:lnTo>
                <a:lnTo>
                  <a:pt x="0" y="0"/>
                </a:lnTo>
              </a:path>
            </a:pathLst>
          </a:custGeom>
          <a:solidFill>
            <a:srgbClr val="46B1E1"/>
          </a:solidFill>
          <a:ln/>
        </p:spPr>
        <p:txBody>
          <a:bodyPr wrap="square" lIns="0" tIns="0" rIns="0" bIns="0" rtlCol="0" anchor="ctr"/>
          <a:lstStyle/>
          <a:p>
            <a:pPr indent="0" marL="0">
              <a:buNone/>
            </a:pPr>
            <a:endParaRPr lang="en-US" dirty="0"/>
          </a:p>
        </p:txBody>
      </p:sp>
      <p:sp>
        <p:nvSpPr>
          <p:cNvPr id="11" name="Text 9"/>
          <p:cNvSpPr/>
          <p:nvPr/>
        </p:nvSpPr>
        <p:spPr>
          <a:xfrm>
            <a:off x="7496238" y="2937355"/>
            <a:ext cx="3497405" cy="731520"/>
          </a:xfrm>
          <a:custGeom>
            <a:avLst/>
            <a:gdLst/>
            <a:ahLst/>
            <a:cxnLst/>
            <a:rect l="l" t="t" r="r" b="b"/>
            <a:pathLst>
              <a:path w="3497405" h="731520">
                <a:moveTo>
                  <a:pt x="3239087" y="731520"/>
                </a:moveTo>
                <a:lnTo>
                  <a:pt x="3497405" y="0"/>
                </a:lnTo>
                <a:lnTo>
                  <a:pt x="0" y="0"/>
                </a:lnTo>
                <a:lnTo>
                  <a:pt x="258388" y="731520"/>
                </a:lnTo>
                <a:lnTo>
                  <a:pt x="3239087" y="73152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8986412" y="5562435"/>
            <a:ext cx="715259" cy="544596"/>
          </a:xfrm>
          <a:custGeom>
            <a:avLst/>
            <a:gdLst/>
            <a:ahLst/>
            <a:cxnLst/>
            <a:rect l="l" t="t" r="r" b="b"/>
            <a:pathLst>
              <a:path w="715259" h="544596">
                <a:moveTo>
                  <a:pt x="198406" y="0"/>
                </a:moveTo>
                <a:lnTo>
                  <a:pt x="0" y="236518"/>
                </a:lnTo>
                <a:lnTo>
                  <a:pt x="258394" y="544596"/>
                </a:lnTo>
                <a:lnTo>
                  <a:pt x="715259" y="0"/>
                </a:lnTo>
                <a:lnTo>
                  <a:pt x="198406" y="0"/>
                </a:lnTo>
              </a:path>
            </a:pathLst>
          </a:custGeom>
          <a:solidFill>
            <a:srgbClr val="46B1E1">
              <a:alpha val="80000"/>
            </a:srgbClr>
          </a:solidFill>
          <a:ln/>
        </p:spPr>
        <p:txBody>
          <a:bodyPr wrap="square" lIns="0" tIns="0" rIns="0" bIns="0" rtlCol="0" anchor="ctr"/>
          <a:lstStyle/>
          <a:p>
            <a:pPr indent="0" marL="0">
              <a:buNone/>
            </a:pPr>
            <a:endParaRPr lang="en-US" dirty="0"/>
          </a:p>
        </p:txBody>
      </p:sp>
      <p:sp>
        <p:nvSpPr>
          <p:cNvPr id="13" name="Text 11"/>
          <p:cNvSpPr/>
          <p:nvPr/>
        </p:nvSpPr>
        <p:spPr>
          <a:xfrm>
            <a:off x="7032978" y="1996745"/>
            <a:ext cx="4525121" cy="731520"/>
          </a:xfrm>
          <a:custGeom>
            <a:avLst/>
            <a:gdLst/>
            <a:ahLst/>
            <a:cxnLst/>
            <a:rect l="l" t="t" r="r" b="b"/>
            <a:pathLst>
              <a:path w="4525121" h="731520">
                <a:moveTo>
                  <a:pt x="4190896" y="731520"/>
                </a:moveTo>
                <a:lnTo>
                  <a:pt x="4525121" y="0"/>
                </a:lnTo>
                <a:lnTo>
                  <a:pt x="0" y="0"/>
                </a:lnTo>
                <a:lnTo>
                  <a:pt x="334316" y="731520"/>
                </a:lnTo>
                <a:lnTo>
                  <a:pt x="4190896" y="73152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9112658" y="2230872"/>
            <a:ext cx="365760" cy="256032"/>
          </a:xfrm>
          <a:custGeom>
            <a:avLst/>
            <a:gdLst/>
            <a:ahLst/>
            <a:cxnLst/>
            <a:rect l="l" t="t" r="r" b="b"/>
            <a:pathLst>
              <a:path w="365760" h="256032">
                <a:moveTo>
                  <a:pt x="234774" y="58406"/>
                </a:moveTo>
                <a:cubicBezTo>
                  <a:pt x="223743" y="63322"/>
                  <a:pt x="210769" y="60406"/>
                  <a:pt x="202828" y="51263"/>
                </a:cubicBezTo>
                <a:cubicBezTo>
                  <a:pt x="190199" y="36633"/>
                  <a:pt x="171626" y="27431"/>
                  <a:pt x="150880" y="27431"/>
                </a:cubicBezTo>
                <a:cubicBezTo>
                  <a:pt x="112991" y="27431"/>
                  <a:pt x="82300" y="58122"/>
                  <a:pt x="82300" y="96012"/>
                </a:cubicBezTo>
                <a:lnTo>
                  <a:pt x="82300" y="96012"/>
                </a:lnTo>
                <a:lnTo>
                  <a:pt x="82300" y="96012"/>
                </a:lnTo>
                <a:lnTo>
                  <a:pt x="82300" y="96127"/>
                </a:lnTo>
                <a:cubicBezTo>
                  <a:pt x="82300" y="107787"/>
                  <a:pt x="74984" y="118131"/>
                  <a:pt x="64012" y="122017"/>
                </a:cubicBezTo>
                <a:cubicBezTo>
                  <a:pt x="42637" y="129560"/>
                  <a:pt x="27436" y="149907"/>
                  <a:pt x="27436" y="173738"/>
                </a:cubicBezTo>
                <a:cubicBezTo>
                  <a:pt x="27436" y="204027"/>
                  <a:pt x="52011" y="228604"/>
                  <a:pt x="82300" y="228604"/>
                </a:cubicBezTo>
                <a:lnTo>
                  <a:pt x="288040" y="228604"/>
                </a:lnTo>
                <a:lnTo>
                  <a:pt x="289927" y="228604"/>
                </a:lnTo>
                <a:cubicBezTo>
                  <a:pt x="290271" y="228547"/>
                  <a:pt x="290669" y="228547"/>
                  <a:pt x="291013" y="228488"/>
                </a:cubicBezTo>
                <a:cubicBezTo>
                  <a:pt x="317417" y="226944"/>
                  <a:pt x="338335" y="205056"/>
                  <a:pt x="338335" y="178311"/>
                </a:cubicBezTo>
                <a:cubicBezTo>
                  <a:pt x="338335" y="157736"/>
                  <a:pt x="325991" y="139963"/>
                  <a:pt x="308160" y="132192"/>
                </a:cubicBezTo>
                <a:cubicBezTo>
                  <a:pt x="296672" y="127164"/>
                  <a:pt x="290099" y="115048"/>
                  <a:pt x="292100" y="102646"/>
                </a:cubicBezTo>
                <a:cubicBezTo>
                  <a:pt x="292443" y="100475"/>
                  <a:pt x="292615" y="98245"/>
                  <a:pt x="292615" y="95958"/>
                </a:cubicBezTo>
                <a:cubicBezTo>
                  <a:pt x="292615" y="73213"/>
                  <a:pt x="274214" y="54812"/>
                  <a:pt x="251467" y="54812"/>
                </a:cubicBezTo>
                <a:cubicBezTo>
                  <a:pt x="245465" y="54812"/>
                  <a:pt x="239810" y="56069"/>
                  <a:pt x="234781" y="58355"/>
                </a:cubicBezTo>
                <a:lnTo>
                  <a:pt x="234774" y="58406"/>
                </a:lnTo>
                <a:moveTo>
                  <a:pt x="292608" y="255917"/>
                </a:moveTo>
                <a:lnTo>
                  <a:pt x="292608" y="256032"/>
                </a:lnTo>
                <a:lnTo>
                  <a:pt x="288036" y="256032"/>
                </a:lnTo>
                <a:lnTo>
                  <a:pt x="265176" y="256032"/>
                </a:lnTo>
                <a:lnTo>
                  <a:pt x="82296" y="256032"/>
                </a:lnTo>
                <a:cubicBezTo>
                  <a:pt x="36861" y="256032"/>
                  <a:pt x="0" y="219171"/>
                  <a:pt x="0" y="173736"/>
                </a:cubicBezTo>
                <a:cubicBezTo>
                  <a:pt x="0" y="137901"/>
                  <a:pt x="22918" y="107441"/>
                  <a:pt x="54864" y="96127"/>
                </a:cubicBezTo>
                <a:lnTo>
                  <a:pt x="54864" y="96012"/>
                </a:lnTo>
                <a:cubicBezTo>
                  <a:pt x="54864" y="42977"/>
                  <a:pt x="97841" y="0"/>
                  <a:pt x="150876" y="0"/>
                </a:cubicBezTo>
                <a:cubicBezTo>
                  <a:pt x="179965" y="0"/>
                  <a:pt x="205967" y="12917"/>
                  <a:pt x="223629" y="33317"/>
                </a:cubicBezTo>
                <a:cubicBezTo>
                  <a:pt x="232144" y="29546"/>
                  <a:pt x="241519" y="27431"/>
                  <a:pt x="251460" y="27431"/>
                </a:cubicBezTo>
                <a:cubicBezTo>
                  <a:pt x="289349" y="27431"/>
                  <a:pt x="320040" y="58122"/>
                  <a:pt x="320040" y="96012"/>
                </a:cubicBezTo>
                <a:cubicBezTo>
                  <a:pt x="320040" y="99783"/>
                  <a:pt x="319755" y="103442"/>
                  <a:pt x="319184" y="107042"/>
                </a:cubicBezTo>
                <a:cubicBezTo>
                  <a:pt x="346616" y="119044"/>
                  <a:pt x="365760" y="146417"/>
                  <a:pt x="365760" y="178308"/>
                </a:cubicBezTo>
                <a:cubicBezTo>
                  <a:pt x="365760" y="219686"/>
                  <a:pt x="333412" y="253518"/>
                  <a:pt x="292608" y="255917"/>
                </a:cubicBezTo>
              </a:path>
            </a:pathLst>
          </a:custGeom>
          <a:solidFill>
            <a:srgbClr val="FFFFFF"/>
          </a:solidFill>
          <a:ln/>
        </p:spPr>
        <p:txBody>
          <a:bodyPr wrap="square" lIns="0" tIns="0" rIns="0" bIns="0" rtlCol="0" anchor="ctr"/>
          <a:lstStyle/>
          <a:p>
            <a:pPr indent="0" marL="0">
              <a:buNone/>
            </a:pPr>
            <a:endParaRPr lang="en-US" dirty="0"/>
          </a:p>
        </p:txBody>
      </p:sp>
      <p:sp>
        <p:nvSpPr>
          <p:cNvPr id="15" name="Text 13"/>
          <p:cNvSpPr/>
          <p:nvPr/>
        </p:nvSpPr>
        <p:spPr>
          <a:xfrm>
            <a:off x="9142075" y="3120235"/>
            <a:ext cx="205729" cy="365760"/>
          </a:xfrm>
          <a:custGeom>
            <a:avLst/>
            <a:gdLst/>
            <a:ahLst/>
            <a:cxnLst/>
            <a:rect l="l" t="t" r="r" b="b"/>
            <a:pathLst>
              <a:path w="205729" h="365760">
                <a:moveTo>
                  <a:pt x="120023" y="17147"/>
                </a:moveTo>
                <a:cubicBezTo>
                  <a:pt x="120023" y="7644"/>
                  <a:pt x="112378" y="0"/>
                  <a:pt x="102875" y="0"/>
                </a:cubicBezTo>
                <a:cubicBezTo>
                  <a:pt x="93372" y="0"/>
                  <a:pt x="85727" y="7644"/>
                  <a:pt x="85727" y="17147"/>
                </a:cubicBezTo>
                <a:lnTo>
                  <a:pt x="85727" y="51228"/>
                </a:lnTo>
                <a:cubicBezTo>
                  <a:pt x="83512" y="51301"/>
                  <a:pt x="81298" y="51444"/>
                  <a:pt x="79082" y="51656"/>
                </a:cubicBezTo>
                <a:cubicBezTo>
                  <a:pt x="62505" y="53013"/>
                  <a:pt x="45357" y="56945"/>
                  <a:pt x="31067" y="66020"/>
                </a:cubicBezTo>
                <a:cubicBezTo>
                  <a:pt x="16205" y="75453"/>
                  <a:pt x="5345" y="90028"/>
                  <a:pt x="1415" y="110178"/>
                </a:cubicBezTo>
                <a:cubicBezTo>
                  <a:pt x="-1372" y="124684"/>
                  <a:pt x="-14" y="137902"/>
                  <a:pt x="5775" y="149618"/>
                </a:cubicBezTo>
                <a:cubicBezTo>
                  <a:pt x="11490" y="161051"/>
                  <a:pt x="20709" y="169340"/>
                  <a:pt x="30639" y="175484"/>
                </a:cubicBezTo>
                <a:cubicBezTo>
                  <a:pt x="49358" y="187061"/>
                  <a:pt x="74867" y="193560"/>
                  <a:pt x="97018" y="199207"/>
                </a:cubicBezTo>
                <a:lnTo>
                  <a:pt x="98662" y="199635"/>
                </a:lnTo>
                <a:cubicBezTo>
                  <a:pt x="122884" y="205780"/>
                  <a:pt x="143389" y="211139"/>
                  <a:pt x="157037" y="219642"/>
                </a:cubicBezTo>
                <a:cubicBezTo>
                  <a:pt x="163468" y="223644"/>
                  <a:pt x="167256" y="227645"/>
                  <a:pt x="169256" y="231716"/>
                </a:cubicBezTo>
                <a:cubicBezTo>
                  <a:pt x="171185" y="235502"/>
                  <a:pt x="172257" y="240860"/>
                  <a:pt x="170685" y="249221"/>
                </a:cubicBezTo>
                <a:cubicBezTo>
                  <a:pt x="168614" y="259726"/>
                  <a:pt x="161111" y="268442"/>
                  <a:pt x="146035" y="274159"/>
                </a:cubicBezTo>
                <a:cubicBezTo>
                  <a:pt x="130601" y="280018"/>
                  <a:pt x="108880" y="281946"/>
                  <a:pt x="83444" y="278376"/>
                </a:cubicBezTo>
                <a:cubicBezTo>
                  <a:pt x="67296" y="276017"/>
                  <a:pt x="39286" y="269302"/>
                  <a:pt x="24138" y="262586"/>
                </a:cubicBezTo>
                <a:cubicBezTo>
                  <a:pt x="15493" y="258727"/>
                  <a:pt x="5347" y="262659"/>
                  <a:pt x="1487" y="271302"/>
                </a:cubicBezTo>
                <a:cubicBezTo>
                  <a:pt x="-2370" y="279949"/>
                  <a:pt x="1559" y="290095"/>
                  <a:pt x="10204" y="293954"/>
                </a:cubicBezTo>
                <a:cubicBezTo>
                  <a:pt x="29281" y="302385"/>
                  <a:pt x="60791" y="309674"/>
                  <a:pt x="78582" y="312245"/>
                </a:cubicBezTo>
                <a:lnTo>
                  <a:pt x="78654" y="312245"/>
                </a:lnTo>
                <a:cubicBezTo>
                  <a:pt x="81012" y="312604"/>
                  <a:pt x="83370" y="312889"/>
                  <a:pt x="85727" y="313101"/>
                </a:cubicBezTo>
                <a:lnTo>
                  <a:pt x="85727" y="348613"/>
                </a:lnTo>
                <a:cubicBezTo>
                  <a:pt x="85727" y="358115"/>
                  <a:pt x="93372" y="365760"/>
                  <a:pt x="102875" y="365760"/>
                </a:cubicBezTo>
                <a:cubicBezTo>
                  <a:pt x="112378" y="365760"/>
                  <a:pt x="120023" y="358115"/>
                  <a:pt x="120023" y="348613"/>
                </a:cubicBezTo>
                <a:lnTo>
                  <a:pt x="120023" y="313888"/>
                </a:lnTo>
                <a:cubicBezTo>
                  <a:pt x="133813" y="312959"/>
                  <a:pt x="146745" y="310387"/>
                  <a:pt x="158249" y="306027"/>
                </a:cubicBezTo>
                <a:cubicBezTo>
                  <a:pt x="181042" y="297381"/>
                  <a:pt x="199477" y="280878"/>
                  <a:pt x="204335" y="255582"/>
                </a:cubicBezTo>
                <a:cubicBezTo>
                  <a:pt x="207122" y="241076"/>
                  <a:pt x="205764" y="227857"/>
                  <a:pt x="199975" y="216142"/>
                </a:cubicBezTo>
                <a:cubicBezTo>
                  <a:pt x="194260" y="204708"/>
                  <a:pt x="185041" y="196420"/>
                  <a:pt x="175111" y="190275"/>
                </a:cubicBezTo>
                <a:cubicBezTo>
                  <a:pt x="156391" y="178699"/>
                  <a:pt x="130883" y="172200"/>
                  <a:pt x="108732" y="166552"/>
                </a:cubicBezTo>
                <a:lnTo>
                  <a:pt x="107088" y="166124"/>
                </a:lnTo>
                <a:cubicBezTo>
                  <a:pt x="82866" y="159980"/>
                  <a:pt x="62361" y="154621"/>
                  <a:pt x="48713" y="146117"/>
                </a:cubicBezTo>
                <a:cubicBezTo>
                  <a:pt x="42281" y="142116"/>
                  <a:pt x="38494" y="138114"/>
                  <a:pt x="36494" y="134044"/>
                </a:cubicBezTo>
                <a:cubicBezTo>
                  <a:pt x="34565" y="130258"/>
                  <a:pt x="33493" y="124900"/>
                  <a:pt x="35064" y="116538"/>
                </a:cubicBezTo>
                <a:cubicBezTo>
                  <a:pt x="37136" y="105964"/>
                  <a:pt x="42281" y="99391"/>
                  <a:pt x="49498" y="94816"/>
                </a:cubicBezTo>
                <a:cubicBezTo>
                  <a:pt x="57287" y="89885"/>
                  <a:pt x="68290" y="86813"/>
                  <a:pt x="81866" y="85741"/>
                </a:cubicBezTo>
                <a:cubicBezTo>
                  <a:pt x="109232" y="83525"/>
                  <a:pt x="141241" y="89527"/>
                  <a:pt x="163248" y="94673"/>
                </a:cubicBezTo>
                <a:cubicBezTo>
                  <a:pt x="172465" y="96890"/>
                  <a:pt x="181684" y="91173"/>
                  <a:pt x="183897" y="81956"/>
                </a:cubicBezTo>
                <a:cubicBezTo>
                  <a:pt x="186113" y="72739"/>
                  <a:pt x="180324" y="63591"/>
                  <a:pt x="171107" y="61447"/>
                </a:cubicBezTo>
                <a:cubicBezTo>
                  <a:pt x="157745" y="58302"/>
                  <a:pt x="139526" y="54516"/>
                  <a:pt x="120018" y="52516"/>
                </a:cubicBezTo>
                <a:lnTo>
                  <a:pt x="120023" y="17147"/>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9062094" y="4102695"/>
            <a:ext cx="365760" cy="292608"/>
          </a:xfrm>
          <a:custGeom>
            <a:avLst/>
            <a:gdLst/>
            <a:ahLst/>
            <a:cxnLst/>
            <a:rect l="l" t="t" r="r" b="b"/>
            <a:pathLst>
              <a:path w="365760" h="292608">
                <a:moveTo>
                  <a:pt x="182880" y="0"/>
                </a:moveTo>
                <a:cubicBezTo>
                  <a:pt x="190480" y="0"/>
                  <a:pt x="196596" y="6116"/>
                  <a:pt x="196596" y="13717"/>
                </a:cubicBezTo>
                <a:lnTo>
                  <a:pt x="196596" y="54867"/>
                </a:lnTo>
                <a:lnTo>
                  <a:pt x="256032" y="54867"/>
                </a:lnTo>
                <a:cubicBezTo>
                  <a:pt x="286321" y="54867"/>
                  <a:pt x="310896" y="79440"/>
                  <a:pt x="310896" y="109731"/>
                </a:cubicBezTo>
                <a:lnTo>
                  <a:pt x="310896" y="237747"/>
                </a:lnTo>
                <a:cubicBezTo>
                  <a:pt x="310896" y="268038"/>
                  <a:pt x="286321" y="292611"/>
                  <a:pt x="256032" y="292611"/>
                </a:cubicBezTo>
                <a:lnTo>
                  <a:pt x="109728" y="292611"/>
                </a:lnTo>
                <a:cubicBezTo>
                  <a:pt x="79439" y="292611"/>
                  <a:pt x="54864" y="268038"/>
                  <a:pt x="54864" y="237747"/>
                </a:cubicBezTo>
                <a:lnTo>
                  <a:pt x="54864" y="109731"/>
                </a:lnTo>
                <a:cubicBezTo>
                  <a:pt x="54864" y="79440"/>
                  <a:pt x="79439" y="54867"/>
                  <a:pt x="109728" y="54867"/>
                </a:cubicBezTo>
                <a:lnTo>
                  <a:pt x="169164" y="54867"/>
                </a:lnTo>
                <a:lnTo>
                  <a:pt x="169164" y="13720"/>
                </a:lnTo>
                <a:cubicBezTo>
                  <a:pt x="169164" y="6118"/>
                  <a:pt x="175280" y="6"/>
                  <a:pt x="182880" y="6"/>
                </a:cubicBezTo>
                <a:lnTo>
                  <a:pt x="182880" y="0"/>
                </a:lnTo>
                <a:moveTo>
                  <a:pt x="109728" y="82296"/>
                </a:moveTo>
                <a:cubicBezTo>
                  <a:pt x="94582" y="82296"/>
                  <a:pt x="82296" y="94583"/>
                  <a:pt x="82296" y="109728"/>
                </a:cubicBezTo>
                <a:lnTo>
                  <a:pt x="82296" y="237744"/>
                </a:lnTo>
                <a:cubicBezTo>
                  <a:pt x="82296" y="252889"/>
                  <a:pt x="94582" y="265176"/>
                  <a:pt x="109728" y="265176"/>
                </a:cubicBezTo>
                <a:lnTo>
                  <a:pt x="256032" y="265176"/>
                </a:lnTo>
                <a:cubicBezTo>
                  <a:pt x="271178" y="265176"/>
                  <a:pt x="283464" y="252889"/>
                  <a:pt x="283464" y="237744"/>
                </a:cubicBezTo>
                <a:lnTo>
                  <a:pt x="283464" y="109728"/>
                </a:lnTo>
                <a:cubicBezTo>
                  <a:pt x="283464" y="94583"/>
                  <a:pt x="271178" y="82296"/>
                  <a:pt x="256032" y="82296"/>
                </a:cubicBezTo>
                <a:lnTo>
                  <a:pt x="182880" y="82296"/>
                </a:lnTo>
                <a:lnTo>
                  <a:pt x="109728" y="82296"/>
                </a:lnTo>
                <a:moveTo>
                  <a:pt x="27432" y="128016"/>
                </a:moveTo>
                <a:lnTo>
                  <a:pt x="36576" y="128016"/>
                </a:lnTo>
                <a:lnTo>
                  <a:pt x="36576" y="237744"/>
                </a:lnTo>
                <a:lnTo>
                  <a:pt x="27432" y="237744"/>
                </a:lnTo>
                <a:cubicBezTo>
                  <a:pt x="12286" y="237744"/>
                  <a:pt x="0" y="225457"/>
                  <a:pt x="0" y="210312"/>
                </a:cubicBezTo>
                <a:lnTo>
                  <a:pt x="0" y="155448"/>
                </a:lnTo>
                <a:cubicBezTo>
                  <a:pt x="0" y="140303"/>
                  <a:pt x="12286" y="128016"/>
                  <a:pt x="27432" y="128016"/>
                </a:cubicBezTo>
                <a:lnTo>
                  <a:pt x="27432" y="128016"/>
                </a:lnTo>
                <a:moveTo>
                  <a:pt x="338328" y="128016"/>
                </a:moveTo>
                <a:cubicBezTo>
                  <a:pt x="353474" y="128016"/>
                  <a:pt x="365760" y="140303"/>
                  <a:pt x="365760" y="155448"/>
                </a:cubicBezTo>
                <a:lnTo>
                  <a:pt x="365760" y="210312"/>
                </a:lnTo>
                <a:cubicBezTo>
                  <a:pt x="365760" y="225457"/>
                  <a:pt x="353474" y="237744"/>
                  <a:pt x="338328" y="237744"/>
                </a:cubicBezTo>
                <a:lnTo>
                  <a:pt x="329184" y="237744"/>
                </a:lnTo>
                <a:lnTo>
                  <a:pt x="329184" y="128016"/>
                </a:lnTo>
                <a:lnTo>
                  <a:pt x="338328" y="128016"/>
                </a:lnTo>
                <a:moveTo>
                  <a:pt x="118872" y="219456"/>
                </a:moveTo>
                <a:lnTo>
                  <a:pt x="137160" y="219456"/>
                </a:lnTo>
                <a:cubicBezTo>
                  <a:pt x="142189" y="219456"/>
                  <a:pt x="146304" y="223570"/>
                  <a:pt x="146304" y="228600"/>
                </a:cubicBezTo>
                <a:cubicBezTo>
                  <a:pt x="146304" y="233630"/>
                  <a:pt x="142189" y="237744"/>
                  <a:pt x="137160" y="237744"/>
                </a:cubicBezTo>
                <a:lnTo>
                  <a:pt x="118872" y="237744"/>
                </a:lnTo>
                <a:cubicBezTo>
                  <a:pt x="113843" y="237744"/>
                  <a:pt x="109728" y="233630"/>
                  <a:pt x="109728" y="228600"/>
                </a:cubicBezTo>
                <a:cubicBezTo>
                  <a:pt x="109728" y="223570"/>
                  <a:pt x="113843" y="219456"/>
                  <a:pt x="118872" y="219456"/>
                </a:cubicBezTo>
                <a:moveTo>
                  <a:pt x="173736" y="219456"/>
                </a:moveTo>
                <a:lnTo>
                  <a:pt x="192024" y="219456"/>
                </a:lnTo>
                <a:cubicBezTo>
                  <a:pt x="197053" y="219456"/>
                  <a:pt x="201168" y="223570"/>
                  <a:pt x="201168" y="228600"/>
                </a:cubicBezTo>
                <a:cubicBezTo>
                  <a:pt x="201168" y="233630"/>
                  <a:pt x="197053" y="237744"/>
                  <a:pt x="192024" y="237744"/>
                </a:cubicBezTo>
                <a:lnTo>
                  <a:pt x="173736" y="237744"/>
                </a:lnTo>
                <a:cubicBezTo>
                  <a:pt x="168707" y="237744"/>
                  <a:pt x="164592" y="233630"/>
                  <a:pt x="164592" y="228600"/>
                </a:cubicBezTo>
                <a:cubicBezTo>
                  <a:pt x="164592" y="223570"/>
                  <a:pt x="168707" y="219456"/>
                  <a:pt x="173736" y="219456"/>
                </a:cubicBezTo>
                <a:lnTo>
                  <a:pt x="173736" y="219456"/>
                </a:lnTo>
                <a:moveTo>
                  <a:pt x="228600" y="219456"/>
                </a:moveTo>
                <a:lnTo>
                  <a:pt x="246888" y="219456"/>
                </a:lnTo>
                <a:cubicBezTo>
                  <a:pt x="251917" y="219456"/>
                  <a:pt x="256032" y="223570"/>
                  <a:pt x="256032" y="228600"/>
                </a:cubicBezTo>
                <a:cubicBezTo>
                  <a:pt x="256032" y="233630"/>
                  <a:pt x="251917" y="237744"/>
                  <a:pt x="246888" y="237744"/>
                </a:cubicBezTo>
                <a:lnTo>
                  <a:pt x="228600" y="237744"/>
                </a:lnTo>
                <a:cubicBezTo>
                  <a:pt x="223571" y="237744"/>
                  <a:pt x="219456" y="233630"/>
                  <a:pt x="219456" y="228600"/>
                </a:cubicBezTo>
                <a:cubicBezTo>
                  <a:pt x="219456" y="223570"/>
                  <a:pt x="223571" y="219456"/>
                  <a:pt x="228600" y="219456"/>
                </a:cubicBezTo>
                <a:moveTo>
                  <a:pt x="114300" y="146304"/>
                </a:moveTo>
                <a:cubicBezTo>
                  <a:pt x="114300" y="133678"/>
                  <a:pt x="124534" y="123445"/>
                  <a:pt x="137160" y="123445"/>
                </a:cubicBezTo>
                <a:cubicBezTo>
                  <a:pt x="149786" y="123445"/>
                  <a:pt x="160020" y="133681"/>
                  <a:pt x="160020" y="146307"/>
                </a:cubicBezTo>
                <a:cubicBezTo>
                  <a:pt x="160020" y="158933"/>
                  <a:pt x="149786" y="169168"/>
                  <a:pt x="137160" y="169168"/>
                </a:cubicBezTo>
                <a:cubicBezTo>
                  <a:pt x="124534" y="169168"/>
                  <a:pt x="114300" y="158933"/>
                  <a:pt x="114300" y="146310"/>
                </a:cubicBezTo>
                <a:lnTo>
                  <a:pt x="114300" y="146304"/>
                </a:lnTo>
                <a:moveTo>
                  <a:pt x="228600" y="123445"/>
                </a:moveTo>
                <a:cubicBezTo>
                  <a:pt x="241226" y="123445"/>
                  <a:pt x="251460" y="133681"/>
                  <a:pt x="251460" y="146307"/>
                </a:cubicBezTo>
                <a:cubicBezTo>
                  <a:pt x="251460" y="158933"/>
                  <a:pt x="241226" y="169168"/>
                  <a:pt x="228600" y="169168"/>
                </a:cubicBezTo>
                <a:cubicBezTo>
                  <a:pt x="215974" y="169168"/>
                  <a:pt x="205740" y="158933"/>
                  <a:pt x="205740" y="146310"/>
                </a:cubicBezTo>
                <a:cubicBezTo>
                  <a:pt x="205740" y="133684"/>
                  <a:pt x="215974" y="123451"/>
                  <a:pt x="228600" y="123451"/>
                </a:cubicBezTo>
                <a:lnTo>
                  <a:pt x="228600" y="123445"/>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9084954" y="5028285"/>
            <a:ext cx="320040" cy="365760"/>
          </a:xfrm>
          <a:custGeom>
            <a:avLst/>
            <a:gdLst/>
            <a:ahLst/>
            <a:cxnLst/>
            <a:rect l="l" t="t" r="r" b="b"/>
            <a:pathLst>
              <a:path w="320040" h="365760">
                <a:moveTo>
                  <a:pt x="217170" y="91440"/>
                </a:moveTo>
                <a:cubicBezTo>
                  <a:pt x="217170" y="59879"/>
                  <a:pt x="191582" y="34290"/>
                  <a:pt x="160020" y="34290"/>
                </a:cubicBezTo>
                <a:cubicBezTo>
                  <a:pt x="128458" y="34290"/>
                  <a:pt x="102870" y="59879"/>
                  <a:pt x="102870" y="91440"/>
                </a:cubicBezTo>
                <a:cubicBezTo>
                  <a:pt x="102870" y="123001"/>
                  <a:pt x="128458" y="148590"/>
                  <a:pt x="160020" y="148590"/>
                </a:cubicBezTo>
                <a:cubicBezTo>
                  <a:pt x="191582" y="148590"/>
                  <a:pt x="217170" y="123001"/>
                  <a:pt x="217170" y="91440"/>
                </a:cubicBezTo>
                <a:lnTo>
                  <a:pt x="217170" y="91440"/>
                </a:lnTo>
                <a:moveTo>
                  <a:pt x="68581" y="91440"/>
                </a:moveTo>
                <a:cubicBezTo>
                  <a:pt x="68581" y="40939"/>
                  <a:pt x="109521" y="0"/>
                  <a:pt x="160020" y="0"/>
                </a:cubicBezTo>
                <a:cubicBezTo>
                  <a:pt x="210522" y="0"/>
                  <a:pt x="251459" y="40939"/>
                  <a:pt x="251459" y="91440"/>
                </a:cubicBezTo>
                <a:cubicBezTo>
                  <a:pt x="251459" y="141941"/>
                  <a:pt x="210519" y="182880"/>
                  <a:pt x="160020" y="182880"/>
                </a:cubicBezTo>
                <a:cubicBezTo>
                  <a:pt x="109518" y="182880"/>
                  <a:pt x="68581" y="141941"/>
                  <a:pt x="68581" y="91440"/>
                </a:cubicBezTo>
                <a:lnTo>
                  <a:pt x="68581" y="91440"/>
                </a:lnTo>
                <a:moveTo>
                  <a:pt x="35217" y="331470"/>
                </a:moveTo>
                <a:lnTo>
                  <a:pt x="284890" y="331470"/>
                </a:lnTo>
                <a:cubicBezTo>
                  <a:pt x="278531" y="286251"/>
                  <a:pt x="239672" y="251460"/>
                  <a:pt x="192734" y="251460"/>
                </a:cubicBezTo>
                <a:lnTo>
                  <a:pt x="127440" y="251460"/>
                </a:lnTo>
                <a:cubicBezTo>
                  <a:pt x="80506" y="251460"/>
                  <a:pt x="41644" y="286251"/>
                  <a:pt x="35284" y="331470"/>
                </a:cubicBezTo>
                <a:lnTo>
                  <a:pt x="35217" y="331470"/>
                </a:lnTo>
                <a:moveTo>
                  <a:pt x="0" y="344542"/>
                </a:moveTo>
                <a:cubicBezTo>
                  <a:pt x="0" y="274177"/>
                  <a:pt x="57006" y="217170"/>
                  <a:pt x="127373" y="217170"/>
                </a:cubicBezTo>
                <a:lnTo>
                  <a:pt x="192667" y="217170"/>
                </a:lnTo>
                <a:cubicBezTo>
                  <a:pt x="263034" y="217170"/>
                  <a:pt x="320040" y="274177"/>
                  <a:pt x="320040" y="344542"/>
                </a:cubicBezTo>
                <a:cubicBezTo>
                  <a:pt x="320040" y="356258"/>
                  <a:pt x="310538" y="365760"/>
                  <a:pt x="298824" y="365760"/>
                </a:cubicBezTo>
                <a:lnTo>
                  <a:pt x="21219" y="365760"/>
                </a:lnTo>
                <a:cubicBezTo>
                  <a:pt x="9502" y="365760"/>
                  <a:pt x="3" y="356258"/>
                  <a:pt x="3" y="344542"/>
                </a:cubicBezTo>
                <a:lnTo>
                  <a:pt x="0" y="344542"/>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545544" y="1996745"/>
            <a:ext cx="45719" cy="731520"/>
          </a:xfrm>
          <a:prstGeom prst="rect">
            <a:avLst/>
          </a:prstGeom>
          <a:solidFill>
            <a:srgbClr val="156082"/>
          </a:solidFill>
          <a:ln/>
        </p:spPr>
        <p:txBody>
          <a:bodyPr wrap="square" lIns="0" tIns="0" rIns="0" bIns="0" rtlCol="0" anchor="ctr"/>
          <a:lstStyle/>
          <a:p>
            <a:pPr indent="0" marL="0">
              <a:buNone/>
            </a:pPr>
            <a:endParaRPr lang="en-US" dirty="0"/>
          </a:p>
        </p:txBody>
      </p:sp>
      <p:sp>
        <p:nvSpPr>
          <p:cNvPr id="19" name="Text 17"/>
          <p:cNvSpPr/>
          <p:nvPr/>
        </p:nvSpPr>
        <p:spPr>
          <a:xfrm>
            <a:off x="545544" y="2956195"/>
            <a:ext cx="45719" cy="731520"/>
          </a:xfrm>
          <a:prstGeom prst="rect">
            <a:avLst/>
          </a:prstGeom>
          <a:solidFill>
            <a:srgbClr val="104862"/>
          </a:solidFill>
          <a:ln/>
        </p:spPr>
        <p:txBody>
          <a:bodyPr wrap="square" lIns="0" tIns="0" rIns="0" bIns="0" rtlCol="0" anchor="ctr"/>
          <a:lstStyle/>
          <a:p>
            <a:pPr indent="0" marL="0">
              <a:buNone/>
            </a:pPr>
            <a:endParaRPr lang="en-US" dirty="0"/>
          </a:p>
        </p:txBody>
      </p:sp>
      <p:sp>
        <p:nvSpPr>
          <p:cNvPr id="20" name="Text 18"/>
          <p:cNvSpPr/>
          <p:nvPr/>
        </p:nvSpPr>
        <p:spPr>
          <a:xfrm>
            <a:off x="545544" y="3912898"/>
            <a:ext cx="45719" cy="731520"/>
          </a:xfrm>
          <a:prstGeom prst="rect">
            <a:avLst/>
          </a:prstGeom>
          <a:solidFill>
            <a:srgbClr val="0B3041"/>
          </a:solidFill>
          <a:ln/>
        </p:spPr>
        <p:txBody>
          <a:bodyPr wrap="square" lIns="0" tIns="0" rIns="0" bIns="0" rtlCol="0" anchor="ctr"/>
          <a:lstStyle/>
          <a:p>
            <a:pPr indent="0" marL="0">
              <a:buNone/>
            </a:pPr>
            <a:endParaRPr lang="en-US" dirty="0"/>
          </a:p>
        </p:txBody>
      </p:sp>
      <p:sp>
        <p:nvSpPr>
          <p:cNvPr id="21" name="Text 19"/>
          <p:cNvSpPr/>
          <p:nvPr/>
        </p:nvSpPr>
        <p:spPr>
          <a:xfrm>
            <a:off x="545544" y="4863291"/>
            <a:ext cx="45719" cy="731520"/>
          </a:xfrm>
          <a:prstGeom prst="rect">
            <a:avLst/>
          </a:prstGeom>
          <a:solidFill>
            <a:srgbClr val="46B1E1"/>
          </a:solidFill>
          <a:ln/>
        </p:spPr>
        <p:txBody>
          <a:bodyPr wrap="square" lIns="0" tIns="0" rIns="0" bIns="0" rtlCol="0" anchor="ctr"/>
          <a:lstStyle/>
          <a:p>
            <a:pPr indent="0" marL="0">
              <a:buNone/>
            </a:pPr>
            <a:endParaRPr lang="en-US" dirty="0"/>
          </a:p>
        </p:txBody>
      </p:sp>
      <p:sp>
        <p:nvSpPr>
          <p:cNvPr id="22" name="Text 20"/>
          <p:cNvSpPr/>
          <p:nvPr/>
        </p:nvSpPr>
        <p:spPr>
          <a:xfrm>
            <a:off x="788610" y="4869600"/>
            <a:ext cx="5120640" cy="731520"/>
          </a:xfrm>
          <a:prstGeom prst="rect">
            <a:avLst/>
          </a:prstGeom>
          <a:noFill/>
          <a:ln/>
        </p:spPr>
        <p:txBody>
          <a:bodyPr wrap="square" lIns="0" tIns="0" rIns="0" bIns="0" rtlCol="0" anchor="ctr"/>
          <a:lstStyle/>
          <a:p>
            <a:pPr algn="l" marL="0" indent="0">
              <a:lnSpc>
                <a:spcPct val="100000"/>
              </a:lnSpc>
              <a:spcBef>
                <a:spcPts val="930"/>
              </a:spcBef>
              <a:buNone/>
            </a:pPr>
            <a:r>
              <a:rPr lang="en-US" sz="1085" dirty="0">
                <a:solidFill>
                  <a:srgbClr val="FFFFFF"/>
                </a:solidFill>
                <a:latin typeface="Figtree Bold" pitchFamily="34" charset="0"/>
                <a:ea typeface="Figtree Bold" pitchFamily="34" charset="-122"/>
                <a:cs typeface="Figtree Bold" pitchFamily="34" charset="-120"/>
              </a:rPr>
              <a:t>Democratization of Cybercrime</a:t>
            </a:r>
            <a:endParaRPr lang="en-US" sz="1085" dirty="0"/>
          </a:p>
          <a:p>
            <a:pPr algn="l" marL="142875" indent="0">
              <a:lnSpc>
                <a:spcPct val="100000"/>
              </a:lnSpc>
              <a:spcBef>
                <a:spcPts val="930"/>
              </a:spcBef>
              <a:buNone/>
            </a:pPr>
            <a:r>
              <a:rPr lang="en-US" sz="922" dirty="0">
                <a:solidFill>
                  <a:srgbClr val="FFFFFF"/>
                </a:solidFill>
                <a:latin typeface="Figtree Regular" pitchFamily="34" charset="0"/>
                <a:ea typeface="Figtree Regular" pitchFamily="34" charset="-122"/>
                <a:cs typeface="Figtree Regular" pitchFamily="34" charset="-120"/>
              </a:rPr>
              <a:t>The combination of accessibility, low cost, and automation enables individuals with limited experience to conduct advanced cyberattacks, resulting in a surge of AI-powered criminal activities across broader populations.</a:t>
            </a:r>
            <a:endParaRPr lang="en-US" sz="1085" dirty="0"/>
          </a:p>
        </p:txBody>
      </p:sp>
      <p:sp>
        <p:nvSpPr>
          <p:cNvPr id="23" name="Text 21"/>
          <p:cNvSpPr/>
          <p:nvPr/>
        </p:nvSpPr>
        <p:spPr>
          <a:xfrm>
            <a:off x="788610" y="3912898"/>
            <a:ext cx="5120640" cy="731520"/>
          </a:xfrm>
          <a:prstGeom prst="rect">
            <a:avLst/>
          </a:prstGeom>
          <a:noFill/>
          <a:ln/>
        </p:spPr>
        <p:txBody>
          <a:bodyPr wrap="square" lIns="0" tIns="0" rIns="0" bIns="0" rtlCol="0" anchor="ctr"/>
          <a:lstStyle/>
          <a:p>
            <a:pPr algn="l" marL="0" indent="0">
              <a:lnSpc>
                <a:spcPct val="100000"/>
              </a:lnSpc>
              <a:spcBef>
                <a:spcPts val="930"/>
              </a:spcBef>
              <a:buNone/>
            </a:pPr>
            <a:r>
              <a:rPr lang="en-US" sz="1085" dirty="0">
                <a:solidFill>
                  <a:srgbClr val="FFFFFF"/>
                </a:solidFill>
                <a:latin typeface="Figtree Bold" pitchFamily="34" charset="0"/>
                <a:ea typeface="Figtree Bold" pitchFamily="34" charset="-122"/>
                <a:cs typeface="Figtree Bold" pitchFamily="34" charset="-120"/>
              </a:rPr>
              <a:t>Automated Attack Generation</a:t>
            </a:r>
            <a:endParaRPr lang="en-US" sz="1085" dirty="0"/>
          </a:p>
          <a:p>
            <a:pPr algn="l" marL="142875" indent="0">
              <a:lnSpc>
                <a:spcPct val="100000"/>
              </a:lnSpc>
              <a:spcBef>
                <a:spcPts val="930"/>
              </a:spcBef>
              <a:buNone/>
            </a:pPr>
            <a:r>
              <a:rPr lang="en-US" sz="922" dirty="0">
                <a:solidFill>
                  <a:srgbClr val="FFFFFF"/>
                </a:solidFill>
                <a:latin typeface="Figtree Regular" pitchFamily="34" charset="0"/>
                <a:ea typeface="Figtree Regular" pitchFamily="34" charset="-122"/>
                <a:cs typeface="Figtree Regular" pitchFamily="34" charset="-120"/>
              </a:rPr>
              <a:t>AI tools automate complex stages of attacks, including personalized content creation, vulnerability discovery, and coordination across multiple channels, reducing reliance on human labor and speeding up attack launch times.</a:t>
            </a:r>
            <a:endParaRPr lang="en-US" sz="1085" dirty="0"/>
          </a:p>
        </p:txBody>
      </p:sp>
      <p:sp>
        <p:nvSpPr>
          <p:cNvPr id="24" name="Text 22"/>
          <p:cNvSpPr/>
          <p:nvPr/>
        </p:nvSpPr>
        <p:spPr>
          <a:xfrm>
            <a:off x="788610" y="2956196"/>
            <a:ext cx="5120640" cy="731520"/>
          </a:xfrm>
          <a:prstGeom prst="rect">
            <a:avLst/>
          </a:prstGeom>
          <a:noFill/>
          <a:ln/>
        </p:spPr>
        <p:txBody>
          <a:bodyPr wrap="square" lIns="0" tIns="0" rIns="0" bIns="0" rtlCol="0" anchor="ctr"/>
          <a:lstStyle/>
          <a:p>
            <a:pPr algn="l" marL="0" indent="0">
              <a:lnSpc>
                <a:spcPct val="100000"/>
              </a:lnSpc>
              <a:spcBef>
                <a:spcPts val="930"/>
              </a:spcBef>
              <a:buNone/>
            </a:pPr>
            <a:r>
              <a:rPr lang="en-US" sz="1085" dirty="0">
                <a:solidFill>
                  <a:srgbClr val="FFFFFF"/>
                </a:solidFill>
                <a:latin typeface="Figtree Bold" pitchFamily="34" charset="0"/>
                <a:ea typeface="Figtree Bold" pitchFamily="34" charset="-122"/>
                <a:cs typeface="Figtree Bold" pitchFamily="34" charset="-120"/>
              </a:rPr>
              <a:t>Minimal Investment Needed</a:t>
            </a:r>
            <a:endParaRPr lang="en-US" sz="1085" dirty="0"/>
          </a:p>
          <a:p>
            <a:pPr algn="l" marL="142875" indent="0">
              <a:lnSpc>
                <a:spcPct val="100000"/>
              </a:lnSpc>
              <a:spcBef>
                <a:spcPts val="930"/>
              </a:spcBef>
              <a:buNone/>
            </a:pPr>
            <a:r>
              <a:rPr lang="en-US" sz="922" dirty="0">
                <a:solidFill>
                  <a:srgbClr val="FFFFFF"/>
                </a:solidFill>
                <a:latin typeface="Figtree Regular" pitchFamily="34" charset="0"/>
                <a:ea typeface="Figtree Regular" pitchFamily="34" charset="-122"/>
                <a:cs typeface="Figtree Regular" pitchFamily="34" charset="-120"/>
              </a:rPr>
              <a:t>Advancements mean attackers can begin operations with minimal financial outlay. AI services range from free to low-cost subscriptions, making sophisticated attacks affordable, even for novices.</a:t>
            </a:r>
            <a:endParaRPr lang="en-US" sz="1085" dirty="0"/>
          </a:p>
        </p:txBody>
      </p:sp>
      <p:sp>
        <p:nvSpPr>
          <p:cNvPr id="25" name="Text 23"/>
          <p:cNvSpPr/>
          <p:nvPr/>
        </p:nvSpPr>
        <p:spPr>
          <a:xfrm>
            <a:off x="788610" y="1999493"/>
            <a:ext cx="5120640" cy="731520"/>
          </a:xfrm>
          <a:prstGeom prst="rect">
            <a:avLst/>
          </a:prstGeom>
          <a:noFill/>
          <a:ln/>
        </p:spPr>
        <p:txBody>
          <a:bodyPr wrap="square" lIns="0" tIns="0" rIns="0" bIns="0" rtlCol="0" anchor="ctr"/>
          <a:lstStyle/>
          <a:p>
            <a:pPr algn="l" marL="0" indent="0">
              <a:lnSpc>
                <a:spcPct val="100000"/>
              </a:lnSpc>
              <a:spcBef>
                <a:spcPts val="930"/>
              </a:spcBef>
              <a:buNone/>
            </a:pPr>
            <a:r>
              <a:rPr lang="en-US" sz="1085" dirty="0">
                <a:solidFill>
                  <a:srgbClr val="FFFFFF"/>
                </a:solidFill>
                <a:latin typeface="Figtree Bold" pitchFamily="34" charset="0"/>
                <a:ea typeface="Figtree Bold" pitchFamily="34" charset="-122"/>
                <a:cs typeface="Figtree Bold" pitchFamily="34" charset="-120"/>
              </a:rPr>
              <a:t>Widespread Access to AI Tools</a:t>
            </a:r>
            <a:endParaRPr lang="en-US" sz="1085" dirty="0"/>
          </a:p>
          <a:p>
            <a:pPr algn="l" marL="142875" indent="0">
              <a:lnSpc>
                <a:spcPct val="100000"/>
              </a:lnSpc>
              <a:spcBef>
                <a:spcPts val="930"/>
              </a:spcBef>
              <a:buNone/>
            </a:pPr>
            <a:r>
              <a:rPr lang="en-US" sz="922" dirty="0">
                <a:solidFill>
                  <a:srgbClr val="FFFFFF"/>
                </a:solidFill>
                <a:latin typeface="Figtree Regular" pitchFamily="34" charset="0"/>
                <a:ea typeface="Figtree Regular" pitchFamily="34" charset="-122"/>
                <a:cs typeface="Figtree Regular" pitchFamily="34" charset="-120"/>
              </a:rPr>
              <a:t>Commercially available AI software and services have dramatically reduced the technical know-how required to launch cyberattacks. Tasks such as voice cloning, phishing content generation, and network reconnaissance no longer require programming skills or deep expertise.</a:t>
            </a:r>
            <a:endParaRPr lang="en-US" sz="1085" dirty="0"/>
          </a:p>
        </p:txBody>
      </p:sp>
      <p:sp>
        <p:nvSpPr>
          <p:cNvPr id="26" name="Text 2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27" name="Text 25"/>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8" name="Text 26"/>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9" name="Text 27"/>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30" name="Text 2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Lowered Barriers to Entry</a:t>
            </a:r>
            <a:endParaRPr 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00000">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6" name="Text 4"/>
          <p:cNvSpPr/>
          <p:nvPr/>
        </p:nvSpPr>
        <p:spPr>
          <a:xfrm>
            <a:off x="507996" y="1713796"/>
            <a:ext cx="7481459" cy="4305530"/>
          </a:xfrm>
          <a:custGeom>
            <a:avLst/>
            <a:gdLst/>
            <a:ahLst/>
            <a:cxnLst/>
            <a:rect l="l" t="t" r="r" b="b"/>
            <a:pathLst>
              <a:path w="7481459" h="4305530">
                <a:moveTo>
                  <a:pt x="204393" y="4305530"/>
                </a:moveTo>
                <a:cubicBezTo>
                  <a:pt x="91498" y="4305530"/>
                  <a:pt x="0" y="4214038"/>
                  <a:pt x="0" y="4101146"/>
                </a:cubicBezTo>
                <a:lnTo>
                  <a:pt x="0" y="204384"/>
                </a:lnTo>
                <a:cubicBezTo>
                  <a:pt x="0" y="91493"/>
                  <a:pt x="91498" y="0"/>
                  <a:pt x="204393" y="0"/>
                </a:cubicBezTo>
                <a:lnTo>
                  <a:pt x="7277066" y="0"/>
                </a:lnTo>
                <a:cubicBezTo>
                  <a:pt x="7389961" y="0"/>
                  <a:pt x="7481459" y="91492"/>
                  <a:pt x="7481459" y="204384"/>
                </a:cubicBezTo>
                <a:lnTo>
                  <a:pt x="7481459" y="4101146"/>
                </a:lnTo>
                <a:cubicBezTo>
                  <a:pt x="7481459" y="4214037"/>
                  <a:pt x="7389961" y="4305530"/>
                  <a:pt x="7277066" y="4305530"/>
                </a:cubicBezTo>
                <a:lnTo>
                  <a:pt x="204393"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01874" y="2715637"/>
            <a:ext cx="6637362" cy="2932924"/>
          </a:xfrm>
          <a:prstGeom prst="rect">
            <a:avLst/>
          </a:prstGeom>
          <a:noFill/>
          <a:ln/>
        </p:spPr>
        <p:txBody>
          <a:bodyPr wrap="square" lIns="0" tIns="0" rIns="0" bIns="0" rtlCol="0" anchor="t"/>
          <a:lstStyle/>
          <a:p>
            <a:pPr algn="l" marL="0" indent="0">
              <a:lnSpc>
                <a:spcPct val="100000"/>
              </a:lnSpc>
              <a:spcBef>
                <a:spcPts val="1138"/>
              </a:spcBef>
              <a:buNone/>
            </a:pPr>
            <a:r>
              <a:rPr lang="en-US" sz="1593" dirty="0">
                <a:solidFill>
                  <a:srgbClr val="FFFFFF"/>
                </a:solidFill>
                <a:latin typeface="Figtree Regular" pitchFamily="34" charset="0"/>
                <a:ea typeface="Figtree Regular" pitchFamily="34" charset="-122"/>
                <a:cs typeface="Figtree Regular" pitchFamily="34" charset="-120"/>
              </a:rPr>
              <a:t>Investment vs. Return</a:t>
            </a:r>
            <a:endParaRPr lang="en-US" sz="1593" dirty="0"/>
          </a:p>
          <a:p>
            <a:pPr algn="l" marL="142875" indent="0">
              <a:lnSpc>
                <a:spcPct val="100000"/>
              </a:lnSpc>
              <a:spcBef>
                <a:spcPts val="1138"/>
              </a:spcBef>
              <a:buNone/>
            </a:pPr>
            <a:r>
              <a:rPr lang="en-US" sz="1354" dirty="0">
                <a:solidFill>
                  <a:srgbClr val="FFFFFF"/>
                </a:solidFill>
                <a:latin typeface="Figtree Regular" pitchFamily="34" charset="0"/>
                <a:ea typeface="Figtree Regular" pitchFamily="34" charset="-122"/>
                <a:cs typeface="Figtree Regular" pitchFamily="34" charset="-120"/>
              </a:rPr>
              <a:t>The deepfake CEO fraud involved a relatively modest investment in AI voice synthesis software, likely costing a few hundred dollars, combined with target research and phone calls. In return, the criminals managed to fraudulently transfer $243,000 in a single afternoon, demonstrating an exceptional return on investment. This low cost contrasts sharply with traditional cybercrime methods requiring extensive technical expertise and infrastructure.</a:t>
            </a:r>
            <a:endParaRPr lang="en-US" sz="1593" dirty="0"/>
          </a:p>
          <a:p>
            <a:pPr algn="l" marL="0" indent="0">
              <a:lnSpc>
                <a:spcPct val="100000"/>
              </a:lnSpc>
              <a:spcBef>
                <a:spcPts val="1138"/>
              </a:spcBef>
              <a:buNone/>
            </a:pPr>
            <a:r>
              <a:rPr lang="en-US" sz="1593" dirty="0">
                <a:solidFill>
                  <a:srgbClr val="FFFFFF"/>
                </a:solidFill>
                <a:latin typeface="Figtree Regular" pitchFamily="34" charset="0"/>
                <a:ea typeface="Figtree Regular" pitchFamily="34" charset="-122"/>
                <a:cs typeface="Figtree Regular" pitchFamily="34" charset="-120"/>
              </a:rPr>
              <a:t>Scalability Potential</a:t>
            </a:r>
            <a:endParaRPr lang="en-US" sz="1593" dirty="0"/>
          </a:p>
          <a:p>
            <a:pPr algn="l" marL="142875" indent="0">
              <a:lnSpc>
                <a:spcPct val="100000"/>
              </a:lnSpc>
              <a:spcBef>
                <a:spcPts val="1138"/>
              </a:spcBef>
              <a:buNone/>
            </a:pPr>
            <a:r>
              <a:rPr lang="en-US" sz="1354" dirty="0">
                <a:solidFill>
                  <a:srgbClr val="FFFFFF"/>
                </a:solidFill>
                <a:latin typeface="Figtree Regular" pitchFamily="34" charset="0"/>
                <a:ea typeface="Figtree Regular" pitchFamily="34" charset="-122"/>
                <a:cs typeface="Figtree Regular" pitchFamily="34" charset="-120"/>
              </a:rPr>
              <a:t>This method of attack is highly scalable. The same AI tools and tactics can be reused against countless targets with minimal extra investment. Even a 1% success rate across a wider campaign could generate significant returns, making voice cloning a cost-effective and powerful tool for criminals seeking extensive financial gain.</a:t>
            </a:r>
            <a:endParaRPr lang="en-US" sz="1593" dirty="0"/>
          </a:p>
        </p:txBody>
      </p:sp>
      <p:sp>
        <p:nvSpPr>
          <p:cNvPr id="8" name="Text 6"/>
          <p:cNvSpPr/>
          <p:nvPr/>
        </p:nvSpPr>
        <p:spPr>
          <a:xfrm>
            <a:off x="911894" y="1999369"/>
            <a:ext cx="257162" cy="457200"/>
          </a:xfrm>
          <a:custGeom>
            <a:avLst/>
            <a:gdLst/>
            <a:ahLst/>
            <a:cxnLst/>
            <a:rect l="l" t="t" r="r" b="b"/>
            <a:pathLst>
              <a:path w="257162" h="457200">
                <a:moveTo>
                  <a:pt x="150028" y="21434"/>
                </a:moveTo>
                <a:cubicBezTo>
                  <a:pt x="150028" y="9555"/>
                  <a:pt x="140472" y="0"/>
                  <a:pt x="128594" y="0"/>
                </a:cubicBezTo>
                <a:cubicBezTo>
                  <a:pt x="116715" y="0"/>
                  <a:pt x="107159" y="9555"/>
                  <a:pt x="107159" y="21434"/>
                </a:cubicBezTo>
                <a:lnTo>
                  <a:pt x="107159" y="64035"/>
                </a:lnTo>
                <a:cubicBezTo>
                  <a:pt x="104390" y="64127"/>
                  <a:pt x="101623" y="64305"/>
                  <a:pt x="98853" y="64570"/>
                </a:cubicBezTo>
                <a:cubicBezTo>
                  <a:pt x="78131" y="66267"/>
                  <a:pt x="56697" y="71181"/>
                  <a:pt x="38834" y="82525"/>
                </a:cubicBezTo>
                <a:cubicBezTo>
                  <a:pt x="20257" y="94316"/>
                  <a:pt x="6681" y="112535"/>
                  <a:pt x="1769" y="137722"/>
                </a:cubicBezTo>
                <a:cubicBezTo>
                  <a:pt x="-1715" y="155855"/>
                  <a:pt x="-18" y="172378"/>
                  <a:pt x="7219" y="187022"/>
                </a:cubicBezTo>
                <a:cubicBezTo>
                  <a:pt x="14362" y="201314"/>
                  <a:pt x="25886" y="211674"/>
                  <a:pt x="38299" y="219355"/>
                </a:cubicBezTo>
                <a:cubicBezTo>
                  <a:pt x="61698" y="233826"/>
                  <a:pt x="93584" y="241950"/>
                  <a:pt x="121272" y="249009"/>
                </a:cubicBezTo>
                <a:lnTo>
                  <a:pt x="123327" y="249544"/>
                </a:lnTo>
                <a:cubicBezTo>
                  <a:pt x="153605" y="257225"/>
                  <a:pt x="179237" y="263923"/>
                  <a:pt x="196297" y="274553"/>
                </a:cubicBezTo>
                <a:cubicBezTo>
                  <a:pt x="204336" y="279555"/>
                  <a:pt x="209070" y="284557"/>
                  <a:pt x="211570" y="289645"/>
                </a:cubicBezTo>
                <a:cubicBezTo>
                  <a:pt x="213982" y="294377"/>
                  <a:pt x="215322" y="301075"/>
                  <a:pt x="213357" y="311527"/>
                </a:cubicBezTo>
                <a:cubicBezTo>
                  <a:pt x="210767" y="324658"/>
                  <a:pt x="201389" y="335553"/>
                  <a:pt x="182544" y="342699"/>
                </a:cubicBezTo>
                <a:cubicBezTo>
                  <a:pt x="163251" y="350023"/>
                  <a:pt x="136100" y="352433"/>
                  <a:pt x="104305" y="347970"/>
                </a:cubicBezTo>
                <a:cubicBezTo>
                  <a:pt x="84120" y="345021"/>
                  <a:pt x="49108" y="336627"/>
                  <a:pt x="30173" y="328233"/>
                </a:cubicBezTo>
                <a:cubicBezTo>
                  <a:pt x="19367" y="323410"/>
                  <a:pt x="6684" y="328324"/>
                  <a:pt x="1859" y="339128"/>
                </a:cubicBezTo>
                <a:cubicBezTo>
                  <a:pt x="-2962" y="349936"/>
                  <a:pt x="1949" y="362619"/>
                  <a:pt x="12755" y="367442"/>
                </a:cubicBezTo>
                <a:cubicBezTo>
                  <a:pt x="36602" y="377981"/>
                  <a:pt x="75989" y="387093"/>
                  <a:pt x="98228" y="390307"/>
                </a:cubicBezTo>
                <a:lnTo>
                  <a:pt x="98318" y="390307"/>
                </a:lnTo>
                <a:cubicBezTo>
                  <a:pt x="101265" y="390755"/>
                  <a:pt x="104212" y="391112"/>
                  <a:pt x="107159" y="391377"/>
                </a:cubicBezTo>
                <a:lnTo>
                  <a:pt x="107159" y="435766"/>
                </a:lnTo>
                <a:cubicBezTo>
                  <a:pt x="107159" y="447645"/>
                  <a:pt x="116715" y="457200"/>
                  <a:pt x="128594" y="457200"/>
                </a:cubicBezTo>
                <a:cubicBezTo>
                  <a:pt x="140472" y="457200"/>
                  <a:pt x="150028" y="447645"/>
                  <a:pt x="150028" y="435766"/>
                </a:cubicBezTo>
                <a:lnTo>
                  <a:pt x="150028" y="392360"/>
                </a:lnTo>
                <a:cubicBezTo>
                  <a:pt x="167266" y="391199"/>
                  <a:pt x="183431" y="387984"/>
                  <a:pt x="197811" y="382535"/>
                </a:cubicBezTo>
                <a:cubicBezTo>
                  <a:pt x="226302" y="371726"/>
                  <a:pt x="249346" y="351098"/>
                  <a:pt x="255418" y="319478"/>
                </a:cubicBezTo>
                <a:cubicBezTo>
                  <a:pt x="258903" y="301345"/>
                  <a:pt x="257205" y="284822"/>
                  <a:pt x="249969" y="270178"/>
                </a:cubicBezTo>
                <a:cubicBezTo>
                  <a:pt x="242825" y="255886"/>
                  <a:pt x="231301" y="245526"/>
                  <a:pt x="218888" y="237845"/>
                </a:cubicBezTo>
                <a:cubicBezTo>
                  <a:pt x="195489" y="223374"/>
                  <a:pt x="163604" y="215250"/>
                  <a:pt x="135915" y="208191"/>
                </a:cubicBezTo>
                <a:lnTo>
                  <a:pt x="133860" y="207656"/>
                </a:lnTo>
                <a:cubicBezTo>
                  <a:pt x="103582" y="199975"/>
                  <a:pt x="77951" y="193277"/>
                  <a:pt x="60891" y="182647"/>
                </a:cubicBezTo>
                <a:cubicBezTo>
                  <a:pt x="52852" y="177645"/>
                  <a:pt x="48117" y="172643"/>
                  <a:pt x="45618" y="167555"/>
                </a:cubicBezTo>
                <a:cubicBezTo>
                  <a:pt x="43206" y="162823"/>
                  <a:pt x="41866" y="156125"/>
                  <a:pt x="43831" y="145673"/>
                </a:cubicBezTo>
                <a:cubicBezTo>
                  <a:pt x="46420" y="132455"/>
                  <a:pt x="52852" y="124240"/>
                  <a:pt x="61873" y="118520"/>
                </a:cubicBezTo>
                <a:cubicBezTo>
                  <a:pt x="71609" y="112357"/>
                  <a:pt x="85362" y="108516"/>
                  <a:pt x="102332" y="107177"/>
                </a:cubicBezTo>
                <a:cubicBezTo>
                  <a:pt x="136540" y="104406"/>
                  <a:pt x="176552" y="111909"/>
                  <a:pt x="204060" y="118342"/>
                </a:cubicBezTo>
                <a:cubicBezTo>
                  <a:pt x="215581" y="121112"/>
                  <a:pt x="227105" y="113966"/>
                  <a:pt x="229872" y="102445"/>
                </a:cubicBezTo>
                <a:cubicBezTo>
                  <a:pt x="232641" y="90923"/>
                  <a:pt x="225405" y="79489"/>
                  <a:pt x="213884" y="76810"/>
                </a:cubicBezTo>
                <a:cubicBezTo>
                  <a:pt x="197181" y="72878"/>
                  <a:pt x="174407" y="68146"/>
                  <a:pt x="150023" y="65645"/>
                </a:cubicBezTo>
                <a:lnTo>
                  <a:pt x="150028" y="21434"/>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0" name="Text 8"/>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nvSpPr>
        <p:spPr>
          <a:xfrm>
            <a:off x="505463" y="289560"/>
            <a:ext cx="7483992"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ROI of Voice Cloning</a:t>
            </a:r>
            <a:endParaRPr lang="en-US" sz="2800"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909606" y="1673233"/>
            <a:ext cx="2689265" cy="2021933"/>
          </a:xfrm>
          <a:custGeom>
            <a:avLst/>
            <a:gdLst/>
            <a:ahLst/>
            <a:cxnLst/>
            <a:rect l="l" t="t" r="r" b="b"/>
            <a:pathLst>
              <a:path w="2689265" h="2021933">
                <a:moveTo>
                  <a:pt x="2279394" y="2042"/>
                </a:moveTo>
                <a:cubicBezTo>
                  <a:pt x="2248521" y="728"/>
                  <a:pt x="2217541" y="0"/>
                  <a:pt x="2186319" y="0"/>
                </a:cubicBezTo>
                <a:cubicBezTo>
                  <a:pt x="1038029" y="0"/>
                  <a:pt x="95926" y="882048"/>
                  <a:pt x="-27" y="2005596"/>
                </a:cubicBezTo>
                <a:lnTo>
                  <a:pt x="540381" y="1600299"/>
                </a:lnTo>
                <a:lnTo>
                  <a:pt x="1102626" y="2021933"/>
                </a:lnTo>
                <a:cubicBezTo>
                  <a:pt x="1185482" y="1497990"/>
                  <a:pt x="1639053" y="1097364"/>
                  <a:pt x="2186319" y="1097364"/>
                </a:cubicBezTo>
                <a:cubicBezTo>
                  <a:pt x="2216223" y="1097364"/>
                  <a:pt x="2245752" y="1098557"/>
                  <a:pt x="2275065" y="1100963"/>
                </a:cubicBezTo>
                <a:lnTo>
                  <a:pt x="2689238" y="548672"/>
                </a:lnTo>
                <a:lnTo>
                  <a:pt x="2279394" y="2042"/>
                </a:lnTo>
              </a:path>
            </a:pathLst>
          </a:custGeom>
          <a:solidFill>
            <a:srgbClr val="156082"/>
          </a:solidFill>
          <a:ln/>
        </p:spPr>
        <p:txBody>
          <a:bodyPr wrap="square" lIns="0" tIns="0" rIns="0" bIns="0" rtlCol="0" anchor="ctr"/>
          <a:lstStyle/>
          <a:p>
            <a:pPr indent="0" marL="0">
              <a:buNone/>
            </a:pPr>
            <a:endParaRPr lang="en-US" dirty="0"/>
          </a:p>
        </p:txBody>
      </p:sp>
      <p:sp>
        <p:nvSpPr>
          <p:cNvPr id="5" name="Text 3"/>
          <p:cNvSpPr/>
          <p:nvPr/>
        </p:nvSpPr>
        <p:spPr>
          <a:xfrm>
            <a:off x="6268748" y="1681399"/>
            <a:ext cx="2021812" cy="2689265"/>
          </a:xfrm>
          <a:custGeom>
            <a:avLst/>
            <a:gdLst/>
            <a:ahLst/>
            <a:cxnLst/>
            <a:rect l="l" t="t" r="r" b="b"/>
            <a:pathLst>
              <a:path w="2021812" h="2689265">
                <a:moveTo>
                  <a:pt x="0" y="1102652"/>
                </a:moveTo>
                <a:cubicBezTo>
                  <a:pt x="523953" y="1185509"/>
                  <a:pt x="924554" y="1639080"/>
                  <a:pt x="924554" y="2186346"/>
                </a:cubicBezTo>
                <a:cubicBezTo>
                  <a:pt x="924554" y="2216250"/>
                  <a:pt x="923362" y="2245778"/>
                  <a:pt x="920956" y="2275091"/>
                </a:cubicBezTo>
                <a:lnTo>
                  <a:pt x="1473234" y="2689265"/>
                </a:lnTo>
                <a:lnTo>
                  <a:pt x="2019750" y="2279394"/>
                </a:lnTo>
                <a:cubicBezTo>
                  <a:pt x="2021064" y="2248522"/>
                  <a:pt x="2021792" y="2217541"/>
                  <a:pt x="2021792" y="2186319"/>
                </a:cubicBezTo>
                <a:cubicBezTo>
                  <a:pt x="2021913" y="1038030"/>
                  <a:pt x="1139857" y="95926"/>
                  <a:pt x="16316" y="-27"/>
                </a:cubicBezTo>
                <a:lnTo>
                  <a:pt x="421609" y="540489"/>
                </a:lnTo>
                <a:lnTo>
                  <a:pt x="-20" y="1102733"/>
                </a:lnTo>
                <a:lnTo>
                  <a:pt x="0" y="1102652"/>
                </a:lnTo>
              </a:path>
            </a:pathLst>
          </a:custGeom>
          <a:solidFill>
            <a:srgbClr val="104862"/>
          </a:solidFill>
          <a:ln/>
        </p:spPr>
        <p:txBody>
          <a:bodyPr wrap="square" lIns="0" tIns="0" rIns="0" bIns="0" rtlCol="0" anchor="ctr"/>
          <a:lstStyle/>
          <a:p>
            <a:pPr indent="0" marL="0">
              <a:buNone/>
            </a:pPr>
            <a:endParaRPr lang="en-US" dirty="0"/>
          </a:p>
        </p:txBody>
      </p:sp>
      <p:sp>
        <p:nvSpPr>
          <p:cNvPr id="6" name="Text 4"/>
          <p:cNvSpPr/>
          <p:nvPr/>
        </p:nvSpPr>
        <p:spPr>
          <a:xfrm>
            <a:off x="5593128" y="4040541"/>
            <a:ext cx="2689385" cy="2021812"/>
          </a:xfrm>
          <a:custGeom>
            <a:avLst/>
            <a:gdLst/>
            <a:ahLst/>
            <a:cxnLst/>
            <a:rect l="l" t="t" r="r" b="b"/>
            <a:pathLst>
              <a:path w="2689385" h="2021812">
                <a:moveTo>
                  <a:pt x="2148872" y="421629"/>
                </a:moveTo>
                <a:lnTo>
                  <a:pt x="1586630" y="0"/>
                </a:lnTo>
                <a:cubicBezTo>
                  <a:pt x="1503770" y="523953"/>
                  <a:pt x="1050205" y="924554"/>
                  <a:pt x="502942" y="924554"/>
                </a:cubicBezTo>
                <a:cubicBezTo>
                  <a:pt x="473036" y="924554"/>
                  <a:pt x="443506" y="923362"/>
                  <a:pt x="414192" y="920956"/>
                </a:cubicBezTo>
                <a:lnTo>
                  <a:pt x="0" y="1473234"/>
                </a:lnTo>
                <a:lnTo>
                  <a:pt x="409862" y="2019750"/>
                </a:lnTo>
                <a:cubicBezTo>
                  <a:pt x="440736" y="2021064"/>
                  <a:pt x="471718" y="2021792"/>
                  <a:pt x="502942" y="2021792"/>
                </a:cubicBezTo>
                <a:cubicBezTo>
                  <a:pt x="1651363" y="2021792"/>
                  <a:pt x="2593455" y="1139736"/>
                  <a:pt x="2689385" y="16195"/>
                </a:cubicBezTo>
                <a:lnTo>
                  <a:pt x="2148980" y="421487"/>
                </a:lnTo>
                <a:lnTo>
                  <a:pt x="2148872" y="421629"/>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3901440" y="3364921"/>
            <a:ext cx="2021933" cy="2689385"/>
          </a:xfrm>
          <a:custGeom>
            <a:avLst/>
            <a:gdLst/>
            <a:ahLst/>
            <a:cxnLst/>
            <a:rect l="l" t="t" r="r" b="b"/>
            <a:pathLst>
              <a:path w="2021933" h="2689385">
                <a:moveTo>
                  <a:pt x="1097242" y="502942"/>
                </a:moveTo>
                <a:cubicBezTo>
                  <a:pt x="1097242" y="473036"/>
                  <a:pt x="1098435" y="443506"/>
                  <a:pt x="1100841" y="414192"/>
                </a:cubicBezTo>
                <a:lnTo>
                  <a:pt x="548550" y="0"/>
                </a:lnTo>
                <a:lnTo>
                  <a:pt x="2022" y="409862"/>
                </a:lnTo>
                <a:cubicBezTo>
                  <a:pt x="708" y="440737"/>
                  <a:pt x="-20" y="471718"/>
                  <a:pt x="-20" y="502942"/>
                </a:cubicBezTo>
                <a:cubicBezTo>
                  <a:pt x="-20" y="1651363"/>
                  <a:pt x="882028" y="2593455"/>
                  <a:pt x="2005576" y="2689385"/>
                </a:cubicBezTo>
                <a:lnTo>
                  <a:pt x="1600279" y="2148980"/>
                </a:lnTo>
                <a:lnTo>
                  <a:pt x="2021913" y="1586737"/>
                </a:lnTo>
                <a:cubicBezTo>
                  <a:pt x="1497969" y="1503877"/>
                  <a:pt x="1097343" y="1050312"/>
                  <a:pt x="1097343" y="503049"/>
                </a:cubicBezTo>
                <a:lnTo>
                  <a:pt x="1097242" y="502942"/>
                </a:lnTo>
              </a:path>
            </a:pathLst>
          </a:custGeom>
          <a:solidFill>
            <a:srgbClr val="46B1E1"/>
          </a:solidFill>
          <a:ln/>
        </p:spPr>
        <p:txBody>
          <a:bodyPr wrap="square" lIns="0" tIns="0" rIns="0" bIns="0" rtlCol="0" anchor="ctr"/>
          <a:lstStyle/>
          <a:p>
            <a:pPr indent="0" marL="0">
              <a:buNone/>
            </a:pPr>
            <a:endParaRPr lang="en-US" dirty="0"/>
          </a:p>
        </p:txBody>
      </p:sp>
      <p:sp>
        <p:nvSpPr>
          <p:cNvPr id="8" name="Text 6"/>
          <p:cNvSpPr/>
          <p:nvPr/>
        </p:nvSpPr>
        <p:spPr>
          <a:xfrm>
            <a:off x="5025638" y="2309549"/>
            <a:ext cx="457200" cy="342900"/>
          </a:xfrm>
          <a:custGeom>
            <a:avLst/>
            <a:gdLst/>
            <a:ahLst/>
            <a:cxnLst/>
            <a:rect l="l" t="t" r="r" b="b"/>
            <a:pathLst>
              <a:path w="457200" h="342900">
                <a:moveTo>
                  <a:pt x="87956" y="182166"/>
                </a:moveTo>
                <a:cubicBezTo>
                  <a:pt x="52775" y="162343"/>
                  <a:pt x="42863" y="141714"/>
                  <a:pt x="42863" y="128588"/>
                </a:cubicBezTo>
                <a:cubicBezTo>
                  <a:pt x="42863" y="115461"/>
                  <a:pt x="52775" y="94832"/>
                  <a:pt x="87956" y="75009"/>
                </a:cubicBezTo>
                <a:cubicBezTo>
                  <a:pt x="121798" y="55989"/>
                  <a:pt x="171450" y="42863"/>
                  <a:pt x="228600" y="42863"/>
                </a:cubicBezTo>
                <a:cubicBezTo>
                  <a:pt x="285750" y="42863"/>
                  <a:pt x="335397" y="55989"/>
                  <a:pt x="369244" y="75009"/>
                </a:cubicBezTo>
                <a:cubicBezTo>
                  <a:pt x="404425" y="94832"/>
                  <a:pt x="414338" y="115461"/>
                  <a:pt x="414338" y="128588"/>
                </a:cubicBezTo>
                <a:cubicBezTo>
                  <a:pt x="414338" y="141714"/>
                  <a:pt x="404425" y="162343"/>
                  <a:pt x="369244" y="182166"/>
                </a:cubicBezTo>
                <a:cubicBezTo>
                  <a:pt x="335402" y="201186"/>
                  <a:pt x="285750" y="214313"/>
                  <a:pt x="228600" y="214313"/>
                </a:cubicBezTo>
                <a:cubicBezTo>
                  <a:pt x="171450" y="214313"/>
                  <a:pt x="121803" y="201186"/>
                  <a:pt x="87956" y="182166"/>
                </a:cubicBezTo>
                <a:moveTo>
                  <a:pt x="228600" y="0"/>
                </a:moveTo>
                <a:cubicBezTo>
                  <a:pt x="102335" y="0"/>
                  <a:pt x="0" y="57597"/>
                  <a:pt x="0" y="128588"/>
                </a:cubicBezTo>
                <a:lnTo>
                  <a:pt x="0" y="171450"/>
                </a:lnTo>
                <a:lnTo>
                  <a:pt x="0" y="228601"/>
                </a:lnTo>
                <a:cubicBezTo>
                  <a:pt x="0" y="291732"/>
                  <a:pt x="102335" y="342900"/>
                  <a:pt x="228600" y="342900"/>
                </a:cubicBezTo>
                <a:cubicBezTo>
                  <a:pt x="354865" y="342900"/>
                  <a:pt x="457200" y="291732"/>
                  <a:pt x="457200" y="228601"/>
                </a:cubicBezTo>
                <a:lnTo>
                  <a:pt x="457200" y="171450"/>
                </a:lnTo>
                <a:lnTo>
                  <a:pt x="457200" y="128588"/>
                </a:lnTo>
                <a:cubicBezTo>
                  <a:pt x="457200" y="57597"/>
                  <a:pt x="354865" y="0"/>
                  <a:pt x="228600" y="0"/>
                </a:cubicBezTo>
                <a:lnTo>
                  <a:pt x="228600" y="0"/>
                </a:lnTo>
                <a:moveTo>
                  <a:pt x="192884" y="255656"/>
                </a:moveTo>
                <a:cubicBezTo>
                  <a:pt x="204492" y="256637"/>
                  <a:pt x="216457" y="257175"/>
                  <a:pt x="228605" y="257175"/>
                </a:cubicBezTo>
                <a:cubicBezTo>
                  <a:pt x="240748" y="257175"/>
                  <a:pt x="252713" y="256640"/>
                  <a:pt x="264326" y="255656"/>
                </a:cubicBezTo>
                <a:lnTo>
                  <a:pt x="264326" y="298518"/>
                </a:lnTo>
                <a:cubicBezTo>
                  <a:pt x="252804" y="299499"/>
                  <a:pt x="240839" y="300038"/>
                  <a:pt x="228609" y="300038"/>
                </a:cubicBezTo>
                <a:cubicBezTo>
                  <a:pt x="216374" y="300038"/>
                  <a:pt x="204410" y="299503"/>
                  <a:pt x="192893" y="298518"/>
                </a:cubicBezTo>
                <a:lnTo>
                  <a:pt x="192884" y="255656"/>
                </a:lnTo>
                <a:moveTo>
                  <a:pt x="164309" y="252086"/>
                </a:moveTo>
                <a:lnTo>
                  <a:pt x="164309" y="295038"/>
                </a:lnTo>
                <a:cubicBezTo>
                  <a:pt x="143145" y="291554"/>
                  <a:pt x="123855" y="286466"/>
                  <a:pt x="107159" y="280214"/>
                </a:cubicBezTo>
                <a:lnTo>
                  <a:pt x="107159" y="237619"/>
                </a:lnTo>
                <a:cubicBezTo>
                  <a:pt x="124752" y="243870"/>
                  <a:pt x="143949" y="248781"/>
                  <a:pt x="164309" y="252086"/>
                </a:cubicBezTo>
                <a:moveTo>
                  <a:pt x="42863" y="203597"/>
                </a:moveTo>
                <a:cubicBezTo>
                  <a:pt x="53223" y="211724"/>
                  <a:pt x="65188" y="219134"/>
                  <a:pt x="78584" y="225652"/>
                </a:cubicBezTo>
                <a:lnTo>
                  <a:pt x="78584" y="267174"/>
                </a:lnTo>
                <a:cubicBezTo>
                  <a:pt x="48399" y="250207"/>
                  <a:pt x="42867" y="234670"/>
                  <a:pt x="42867" y="228598"/>
                </a:cubicBezTo>
                <a:lnTo>
                  <a:pt x="42863" y="203597"/>
                </a:lnTo>
                <a:moveTo>
                  <a:pt x="292896" y="294949"/>
                </a:moveTo>
                <a:lnTo>
                  <a:pt x="292896" y="251997"/>
                </a:lnTo>
                <a:cubicBezTo>
                  <a:pt x="313255" y="248602"/>
                  <a:pt x="332453" y="243781"/>
                  <a:pt x="350046" y="237530"/>
                </a:cubicBezTo>
                <a:lnTo>
                  <a:pt x="350046" y="280125"/>
                </a:lnTo>
                <a:cubicBezTo>
                  <a:pt x="333349" y="286376"/>
                  <a:pt x="314060" y="291465"/>
                  <a:pt x="292896" y="294949"/>
                </a:cubicBezTo>
                <a:lnTo>
                  <a:pt x="292896" y="294949"/>
                </a:lnTo>
                <a:moveTo>
                  <a:pt x="378621" y="267088"/>
                </a:moveTo>
                <a:lnTo>
                  <a:pt x="378621" y="225566"/>
                </a:lnTo>
                <a:cubicBezTo>
                  <a:pt x="392017" y="219048"/>
                  <a:pt x="403982" y="211634"/>
                  <a:pt x="414342" y="203511"/>
                </a:cubicBezTo>
                <a:lnTo>
                  <a:pt x="414342" y="228515"/>
                </a:lnTo>
                <a:cubicBezTo>
                  <a:pt x="414342" y="234588"/>
                  <a:pt x="408805" y="250125"/>
                  <a:pt x="378626" y="267003"/>
                </a:cubicBezTo>
                <a:lnTo>
                  <a:pt x="378621" y="267088"/>
                </a:lnTo>
                <a:moveTo>
                  <a:pt x="228600" y="107156"/>
                </a:moveTo>
                <a:cubicBezTo>
                  <a:pt x="264499" y="107156"/>
                  <a:pt x="296197" y="111799"/>
                  <a:pt x="318165" y="118674"/>
                </a:cubicBezTo>
                <a:cubicBezTo>
                  <a:pt x="328704" y="121980"/>
                  <a:pt x="335937" y="125549"/>
                  <a:pt x="340221" y="128588"/>
                </a:cubicBezTo>
                <a:cubicBezTo>
                  <a:pt x="335932" y="131622"/>
                  <a:pt x="328699" y="135106"/>
                  <a:pt x="318165" y="138501"/>
                </a:cubicBezTo>
                <a:cubicBezTo>
                  <a:pt x="296197" y="145465"/>
                  <a:pt x="264586" y="150019"/>
                  <a:pt x="228600" y="150019"/>
                </a:cubicBezTo>
                <a:cubicBezTo>
                  <a:pt x="192614" y="150019"/>
                  <a:pt x="161003" y="145376"/>
                  <a:pt x="139035" y="138501"/>
                </a:cubicBezTo>
                <a:cubicBezTo>
                  <a:pt x="128496" y="135195"/>
                  <a:pt x="121263" y="131626"/>
                  <a:pt x="116979" y="128588"/>
                </a:cubicBezTo>
                <a:cubicBezTo>
                  <a:pt x="121268" y="125553"/>
                  <a:pt x="128501" y="122069"/>
                  <a:pt x="139035" y="118674"/>
                </a:cubicBezTo>
                <a:cubicBezTo>
                  <a:pt x="161003" y="111710"/>
                  <a:pt x="192614" y="107156"/>
                  <a:pt x="228600" y="107156"/>
                </a:cubicBezTo>
                <a:moveTo>
                  <a:pt x="343613" y="131622"/>
                </a:moveTo>
                <a:cubicBezTo>
                  <a:pt x="343613" y="131622"/>
                  <a:pt x="343613" y="131533"/>
                  <a:pt x="343522" y="131444"/>
                </a:cubicBezTo>
                <a:cubicBezTo>
                  <a:pt x="343613" y="131533"/>
                  <a:pt x="343613" y="131622"/>
                  <a:pt x="343613" y="131622"/>
                </a:cubicBezTo>
                <a:moveTo>
                  <a:pt x="343526" y="125731"/>
                </a:moveTo>
                <a:cubicBezTo>
                  <a:pt x="343618" y="125642"/>
                  <a:pt x="343618" y="125553"/>
                  <a:pt x="343618" y="125553"/>
                </a:cubicBezTo>
                <a:cubicBezTo>
                  <a:pt x="343618" y="125553"/>
                  <a:pt x="343526" y="125642"/>
                  <a:pt x="343526" y="125731"/>
                </a:cubicBezTo>
                <a:moveTo>
                  <a:pt x="113674" y="125553"/>
                </a:moveTo>
                <a:cubicBezTo>
                  <a:pt x="113674" y="125553"/>
                  <a:pt x="113674" y="125642"/>
                  <a:pt x="113765" y="125731"/>
                </a:cubicBezTo>
                <a:cubicBezTo>
                  <a:pt x="113674" y="125642"/>
                  <a:pt x="113674" y="125553"/>
                  <a:pt x="113674" y="125553"/>
                </a:cubicBezTo>
                <a:moveTo>
                  <a:pt x="113765" y="131444"/>
                </a:moveTo>
                <a:cubicBezTo>
                  <a:pt x="113674" y="131533"/>
                  <a:pt x="113674" y="131622"/>
                  <a:pt x="113674" y="131622"/>
                </a:cubicBezTo>
                <a:cubicBezTo>
                  <a:pt x="113674" y="131622"/>
                  <a:pt x="113765" y="131533"/>
                  <a:pt x="113765" y="131444"/>
                </a:cubicBezTo>
                <a:moveTo>
                  <a:pt x="385763" y="128588"/>
                </a:moveTo>
                <a:cubicBezTo>
                  <a:pt x="385763" y="112783"/>
                  <a:pt x="375672" y="101529"/>
                  <a:pt x="366473" y="94743"/>
                </a:cubicBezTo>
                <a:cubicBezTo>
                  <a:pt x="356918" y="87601"/>
                  <a:pt x="344505" y="82063"/>
                  <a:pt x="331022" y="77866"/>
                </a:cubicBezTo>
                <a:cubicBezTo>
                  <a:pt x="303878" y="69293"/>
                  <a:pt x="267622" y="64294"/>
                  <a:pt x="228600" y="64294"/>
                </a:cubicBezTo>
                <a:cubicBezTo>
                  <a:pt x="189578" y="64294"/>
                  <a:pt x="153322" y="69293"/>
                  <a:pt x="126178" y="77866"/>
                </a:cubicBezTo>
                <a:cubicBezTo>
                  <a:pt x="112695" y="82152"/>
                  <a:pt x="100282" y="87601"/>
                  <a:pt x="90727" y="94743"/>
                </a:cubicBezTo>
                <a:cubicBezTo>
                  <a:pt x="81528" y="101529"/>
                  <a:pt x="71438" y="112780"/>
                  <a:pt x="71438" y="128588"/>
                </a:cubicBezTo>
                <a:cubicBezTo>
                  <a:pt x="71438" y="144392"/>
                  <a:pt x="81528" y="155646"/>
                  <a:pt x="90727" y="162432"/>
                </a:cubicBezTo>
                <a:cubicBezTo>
                  <a:pt x="100282" y="169574"/>
                  <a:pt x="112695" y="175112"/>
                  <a:pt x="126178" y="179309"/>
                </a:cubicBezTo>
                <a:cubicBezTo>
                  <a:pt x="153327" y="187882"/>
                  <a:pt x="189578" y="192881"/>
                  <a:pt x="228600" y="192881"/>
                </a:cubicBezTo>
                <a:cubicBezTo>
                  <a:pt x="267622" y="192881"/>
                  <a:pt x="303878" y="187882"/>
                  <a:pt x="331022" y="179309"/>
                </a:cubicBezTo>
                <a:cubicBezTo>
                  <a:pt x="344505" y="175023"/>
                  <a:pt x="356918" y="169574"/>
                  <a:pt x="366473" y="162432"/>
                </a:cubicBezTo>
                <a:cubicBezTo>
                  <a:pt x="375672" y="155557"/>
                  <a:pt x="385763" y="144395"/>
                  <a:pt x="385763" y="128587"/>
                </a:cubicBezTo>
                <a:lnTo>
                  <a:pt x="385763" y="128588"/>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7228854" y="2797431"/>
            <a:ext cx="457200" cy="457200"/>
          </a:xfrm>
          <a:custGeom>
            <a:avLst/>
            <a:gdLst/>
            <a:ahLst/>
            <a:cxnLst/>
            <a:rect l="l" t="t" r="r" b="b"/>
            <a:pathLst>
              <a:path w="457200" h="457200">
                <a:moveTo>
                  <a:pt x="171450" y="42863"/>
                </a:moveTo>
                <a:cubicBezTo>
                  <a:pt x="191183" y="42863"/>
                  <a:pt x="207171" y="58846"/>
                  <a:pt x="207171" y="78584"/>
                </a:cubicBezTo>
                <a:lnTo>
                  <a:pt x="207171" y="114305"/>
                </a:lnTo>
                <a:lnTo>
                  <a:pt x="189935" y="114305"/>
                </a:lnTo>
                <a:cubicBezTo>
                  <a:pt x="184398" y="101713"/>
                  <a:pt x="171807" y="92876"/>
                  <a:pt x="157163" y="92876"/>
                </a:cubicBezTo>
                <a:cubicBezTo>
                  <a:pt x="137430" y="92876"/>
                  <a:pt x="121446" y="108859"/>
                  <a:pt x="121446" y="128597"/>
                </a:cubicBezTo>
                <a:cubicBezTo>
                  <a:pt x="121446" y="148329"/>
                  <a:pt x="137430" y="164318"/>
                  <a:pt x="157167" y="164318"/>
                </a:cubicBezTo>
                <a:cubicBezTo>
                  <a:pt x="171811" y="164318"/>
                  <a:pt x="184402" y="155475"/>
                  <a:pt x="189939" y="142889"/>
                </a:cubicBezTo>
                <a:lnTo>
                  <a:pt x="207176" y="142889"/>
                </a:lnTo>
                <a:lnTo>
                  <a:pt x="207176" y="228614"/>
                </a:lnTo>
                <a:lnTo>
                  <a:pt x="171459" y="228614"/>
                </a:lnTo>
                <a:cubicBezTo>
                  <a:pt x="147794" y="228614"/>
                  <a:pt x="128597" y="247812"/>
                  <a:pt x="128597" y="271476"/>
                </a:cubicBezTo>
                <a:lnTo>
                  <a:pt x="128597" y="281567"/>
                </a:lnTo>
                <a:cubicBezTo>
                  <a:pt x="116005" y="287103"/>
                  <a:pt x="107168" y="299695"/>
                  <a:pt x="107168" y="314339"/>
                </a:cubicBezTo>
                <a:cubicBezTo>
                  <a:pt x="107168" y="334071"/>
                  <a:pt x="123151" y="350060"/>
                  <a:pt x="142889" y="350060"/>
                </a:cubicBezTo>
                <a:cubicBezTo>
                  <a:pt x="162621" y="350060"/>
                  <a:pt x="178610" y="334076"/>
                  <a:pt x="178610" y="314343"/>
                </a:cubicBezTo>
                <a:cubicBezTo>
                  <a:pt x="178610" y="299699"/>
                  <a:pt x="169768" y="287108"/>
                  <a:pt x="157181" y="281571"/>
                </a:cubicBezTo>
                <a:lnTo>
                  <a:pt x="157181" y="271481"/>
                </a:lnTo>
                <a:cubicBezTo>
                  <a:pt x="157181" y="263622"/>
                  <a:pt x="163609" y="257193"/>
                  <a:pt x="171468" y="257193"/>
                </a:cubicBezTo>
                <a:lnTo>
                  <a:pt x="207189" y="257193"/>
                </a:lnTo>
                <a:lnTo>
                  <a:pt x="207189" y="375064"/>
                </a:lnTo>
                <a:cubicBezTo>
                  <a:pt x="207189" y="396763"/>
                  <a:pt x="189596" y="414356"/>
                  <a:pt x="167898" y="414356"/>
                </a:cubicBezTo>
                <a:cubicBezTo>
                  <a:pt x="152001" y="414356"/>
                  <a:pt x="138253" y="404892"/>
                  <a:pt x="132090" y="391226"/>
                </a:cubicBezTo>
                <a:cubicBezTo>
                  <a:pt x="128697" y="383723"/>
                  <a:pt x="121373" y="378813"/>
                  <a:pt x="113157" y="378635"/>
                </a:cubicBezTo>
                <a:cubicBezTo>
                  <a:pt x="90027" y="378008"/>
                  <a:pt x="71456" y="359080"/>
                  <a:pt x="71456" y="335772"/>
                </a:cubicBezTo>
                <a:cubicBezTo>
                  <a:pt x="71456" y="333450"/>
                  <a:pt x="71634" y="331127"/>
                  <a:pt x="71991" y="328987"/>
                </a:cubicBezTo>
                <a:cubicBezTo>
                  <a:pt x="73239" y="321398"/>
                  <a:pt x="70203" y="313717"/>
                  <a:pt x="64223" y="308893"/>
                </a:cubicBezTo>
                <a:cubicBezTo>
                  <a:pt x="51184" y="298355"/>
                  <a:pt x="42881" y="282371"/>
                  <a:pt x="42881" y="264335"/>
                </a:cubicBezTo>
                <a:cubicBezTo>
                  <a:pt x="42881" y="247098"/>
                  <a:pt x="50470" y="231654"/>
                  <a:pt x="62614" y="221203"/>
                </a:cubicBezTo>
                <a:cubicBezTo>
                  <a:pt x="69760" y="215039"/>
                  <a:pt x="71991" y="204862"/>
                  <a:pt x="68059" y="196198"/>
                </a:cubicBezTo>
                <a:cubicBezTo>
                  <a:pt x="65649" y="190840"/>
                  <a:pt x="64310" y="184947"/>
                  <a:pt x="64310" y="178605"/>
                </a:cubicBezTo>
                <a:cubicBezTo>
                  <a:pt x="64310" y="161817"/>
                  <a:pt x="73952" y="147264"/>
                  <a:pt x="88153" y="140210"/>
                </a:cubicBezTo>
                <a:cubicBezTo>
                  <a:pt x="95386" y="136639"/>
                  <a:pt x="100031" y="129228"/>
                  <a:pt x="100031" y="121190"/>
                </a:cubicBezTo>
                <a:cubicBezTo>
                  <a:pt x="100122" y="103954"/>
                  <a:pt x="110478" y="89044"/>
                  <a:pt x="125300" y="82346"/>
                </a:cubicBezTo>
                <a:cubicBezTo>
                  <a:pt x="131015" y="79759"/>
                  <a:pt x="135391" y="74757"/>
                  <a:pt x="137087" y="68685"/>
                </a:cubicBezTo>
                <a:cubicBezTo>
                  <a:pt x="141375" y="53771"/>
                  <a:pt x="155215" y="42876"/>
                  <a:pt x="171468" y="42876"/>
                </a:cubicBezTo>
                <a:lnTo>
                  <a:pt x="171450" y="42863"/>
                </a:lnTo>
                <a:moveTo>
                  <a:pt x="167879" y="457200"/>
                </a:moveTo>
                <a:cubicBezTo>
                  <a:pt x="191901" y="457200"/>
                  <a:pt x="213599" y="446840"/>
                  <a:pt x="228600" y="430413"/>
                </a:cubicBezTo>
                <a:cubicBezTo>
                  <a:pt x="243601" y="446931"/>
                  <a:pt x="265299" y="457200"/>
                  <a:pt x="289321" y="457200"/>
                </a:cubicBezTo>
                <a:cubicBezTo>
                  <a:pt x="318074" y="457200"/>
                  <a:pt x="343343" y="442464"/>
                  <a:pt x="357992" y="420144"/>
                </a:cubicBezTo>
                <a:cubicBezTo>
                  <a:pt x="398175" y="413002"/>
                  <a:pt x="428625" y="377908"/>
                  <a:pt x="428625" y="335759"/>
                </a:cubicBezTo>
                <a:cubicBezTo>
                  <a:pt x="428625" y="335310"/>
                  <a:pt x="428625" y="334776"/>
                  <a:pt x="428625" y="334328"/>
                </a:cubicBezTo>
                <a:cubicBezTo>
                  <a:pt x="446305" y="316291"/>
                  <a:pt x="457200" y="291556"/>
                  <a:pt x="457200" y="264321"/>
                </a:cubicBezTo>
                <a:cubicBezTo>
                  <a:pt x="457200" y="239495"/>
                  <a:pt x="448179" y="216813"/>
                  <a:pt x="433270" y="199403"/>
                </a:cubicBezTo>
                <a:cubicBezTo>
                  <a:pt x="434879" y="192705"/>
                  <a:pt x="435771" y="185742"/>
                  <a:pt x="435771" y="178596"/>
                </a:cubicBezTo>
                <a:cubicBezTo>
                  <a:pt x="435771" y="149486"/>
                  <a:pt x="421214" y="123677"/>
                  <a:pt x="399072" y="108228"/>
                </a:cubicBezTo>
                <a:cubicBezTo>
                  <a:pt x="395053" y="82419"/>
                  <a:pt x="379604" y="60456"/>
                  <a:pt x="358084" y="47686"/>
                </a:cubicBezTo>
                <a:cubicBezTo>
                  <a:pt x="346027" y="19646"/>
                  <a:pt x="318170" y="0"/>
                  <a:pt x="285755" y="0"/>
                </a:cubicBezTo>
                <a:cubicBezTo>
                  <a:pt x="263251" y="0"/>
                  <a:pt x="242892" y="9464"/>
                  <a:pt x="228605" y="24648"/>
                </a:cubicBezTo>
                <a:cubicBezTo>
                  <a:pt x="214317" y="9469"/>
                  <a:pt x="193958" y="0"/>
                  <a:pt x="171455" y="0"/>
                </a:cubicBezTo>
                <a:cubicBezTo>
                  <a:pt x="139039" y="0"/>
                  <a:pt x="111177" y="19646"/>
                  <a:pt x="99212" y="47686"/>
                </a:cubicBezTo>
                <a:cubicBezTo>
                  <a:pt x="77601" y="60456"/>
                  <a:pt x="62156" y="82424"/>
                  <a:pt x="58138" y="108228"/>
                </a:cubicBezTo>
                <a:cubicBezTo>
                  <a:pt x="35991" y="123677"/>
                  <a:pt x="21438" y="149482"/>
                  <a:pt x="21438" y="178596"/>
                </a:cubicBezTo>
                <a:cubicBezTo>
                  <a:pt x="21438" y="185742"/>
                  <a:pt x="22330" y="192705"/>
                  <a:pt x="23939" y="199403"/>
                </a:cubicBezTo>
                <a:cubicBezTo>
                  <a:pt x="9025" y="216818"/>
                  <a:pt x="9" y="239500"/>
                  <a:pt x="9" y="264321"/>
                </a:cubicBezTo>
                <a:cubicBezTo>
                  <a:pt x="9" y="291556"/>
                  <a:pt x="10904" y="316291"/>
                  <a:pt x="28584" y="334328"/>
                </a:cubicBezTo>
                <a:cubicBezTo>
                  <a:pt x="28584" y="334776"/>
                  <a:pt x="28584" y="335310"/>
                  <a:pt x="28584" y="335759"/>
                </a:cubicBezTo>
                <a:cubicBezTo>
                  <a:pt x="28584" y="377995"/>
                  <a:pt x="59034" y="413002"/>
                  <a:pt x="99217" y="420144"/>
                </a:cubicBezTo>
                <a:cubicBezTo>
                  <a:pt x="113861" y="442469"/>
                  <a:pt x="139131" y="457200"/>
                  <a:pt x="167888" y="457200"/>
                </a:cubicBezTo>
                <a:lnTo>
                  <a:pt x="167879" y="457200"/>
                </a:lnTo>
                <a:moveTo>
                  <a:pt x="289321" y="414338"/>
                </a:moveTo>
                <a:cubicBezTo>
                  <a:pt x="267622" y="414338"/>
                  <a:pt x="250029" y="396744"/>
                  <a:pt x="250029" y="375046"/>
                </a:cubicBezTo>
                <a:lnTo>
                  <a:pt x="250029" y="314325"/>
                </a:lnTo>
                <a:lnTo>
                  <a:pt x="295840" y="314325"/>
                </a:lnTo>
                <a:cubicBezTo>
                  <a:pt x="301377" y="326916"/>
                  <a:pt x="313968" y="335759"/>
                  <a:pt x="328613" y="335759"/>
                </a:cubicBezTo>
                <a:cubicBezTo>
                  <a:pt x="348345" y="335759"/>
                  <a:pt x="364334" y="319775"/>
                  <a:pt x="364334" y="300042"/>
                </a:cubicBezTo>
                <a:cubicBezTo>
                  <a:pt x="364334" y="280309"/>
                  <a:pt x="348350" y="264326"/>
                  <a:pt x="328617" y="264326"/>
                </a:cubicBezTo>
                <a:cubicBezTo>
                  <a:pt x="313973" y="264326"/>
                  <a:pt x="301382" y="273168"/>
                  <a:pt x="295845" y="285759"/>
                </a:cubicBezTo>
                <a:lnTo>
                  <a:pt x="250034" y="285759"/>
                </a:lnTo>
                <a:lnTo>
                  <a:pt x="250034" y="142884"/>
                </a:lnTo>
                <a:lnTo>
                  <a:pt x="285755" y="142884"/>
                </a:lnTo>
                <a:cubicBezTo>
                  <a:pt x="293614" y="142884"/>
                  <a:pt x="300042" y="149312"/>
                  <a:pt x="300042" y="157172"/>
                </a:cubicBezTo>
                <a:lnTo>
                  <a:pt x="300042" y="167262"/>
                </a:lnTo>
                <a:cubicBezTo>
                  <a:pt x="287451" y="172799"/>
                  <a:pt x="278613" y="185390"/>
                  <a:pt x="278613" y="200034"/>
                </a:cubicBezTo>
                <a:cubicBezTo>
                  <a:pt x="278613" y="219767"/>
                  <a:pt x="294597" y="235755"/>
                  <a:pt x="314334" y="235755"/>
                </a:cubicBezTo>
                <a:cubicBezTo>
                  <a:pt x="334067" y="235755"/>
                  <a:pt x="350055" y="219771"/>
                  <a:pt x="350055" y="200039"/>
                </a:cubicBezTo>
                <a:cubicBezTo>
                  <a:pt x="350055" y="185395"/>
                  <a:pt x="341213" y="172803"/>
                  <a:pt x="328626" y="167267"/>
                </a:cubicBezTo>
                <a:lnTo>
                  <a:pt x="328626" y="157176"/>
                </a:lnTo>
                <a:cubicBezTo>
                  <a:pt x="328626" y="133512"/>
                  <a:pt x="309428" y="114314"/>
                  <a:pt x="285764" y="114314"/>
                </a:cubicBezTo>
                <a:lnTo>
                  <a:pt x="250047" y="114314"/>
                </a:lnTo>
                <a:lnTo>
                  <a:pt x="250047" y="78597"/>
                </a:lnTo>
                <a:cubicBezTo>
                  <a:pt x="250047" y="58864"/>
                  <a:pt x="266031" y="42881"/>
                  <a:pt x="285768" y="42881"/>
                </a:cubicBezTo>
                <a:cubicBezTo>
                  <a:pt x="302022" y="42881"/>
                  <a:pt x="315861" y="53776"/>
                  <a:pt x="320150" y="68690"/>
                </a:cubicBezTo>
                <a:cubicBezTo>
                  <a:pt x="321846" y="74761"/>
                  <a:pt x="326221" y="79763"/>
                  <a:pt x="331936" y="82351"/>
                </a:cubicBezTo>
                <a:cubicBezTo>
                  <a:pt x="346759" y="89049"/>
                  <a:pt x="357119" y="103871"/>
                  <a:pt x="357206" y="121195"/>
                </a:cubicBezTo>
                <a:cubicBezTo>
                  <a:pt x="357297" y="129319"/>
                  <a:pt x="361851" y="136643"/>
                  <a:pt x="369084" y="140214"/>
                </a:cubicBezTo>
                <a:cubicBezTo>
                  <a:pt x="383280" y="147269"/>
                  <a:pt x="392927" y="161826"/>
                  <a:pt x="392927" y="178610"/>
                </a:cubicBezTo>
                <a:cubicBezTo>
                  <a:pt x="392927" y="184951"/>
                  <a:pt x="391587" y="190844"/>
                  <a:pt x="389178" y="196203"/>
                </a:cubicBezTo>
                <a:cubicBezTo>
                  <a:pt x="385250" y="204867"/>
                  <a:pt x="387482" y="214957"/>
                  <a:pt x="394623" y="221207"/>
                </a:cubicBezTo>
                <a:cubicBezTo>
                  <a:pt x="406679" y="231746"/>
                  <a:pt x="414356" y="247103"/>
                  <a:pt x="414356" y="264339"/>
                </a:cubicBezTo>
                <a:cubicBezTo>
                  <a:pt x="414356" y="282376"/>
                  <a:pt x="406053" y="298360"/>
                  <a:pt x="393014" y="308898"/>
                </a:cubicBezTo>
                <a:cubicBezTo>
                  <a:pt x="387029" y="313721"/>
                  <a:pt x="384085" y="321398"/>
                  <a:pt x="385246" y="328992"/>
                </a:cubicBezTo>
                <a:cubicBezTo>
                  <a:pt x="385602" y="331223"/>
                  <a:pt x="385781" y="333459"/>
                  <a:pt x="385781" y="335777"/>
                </a:cubicBezTo>
                <a:cubicBezTo>
                  <a:pt x="385781" y="359085"/>
                  <a:pt x="367205" y="378013"/>
                  <a:pt x="344080" y="378639"/>
                </a:cubicBezTo>
                <a:cubicBezTo>
                  <a:pt x="335864" y="378909"/>
                  <a:pt x="328544" y="383728"/>
                  <a:pt x="325147" y="391231"/>
                </a:cubicBezTo>
                <a:cubicBezTo>
                  <a:pt x="318984" y="404892"/>
                  <a:pt x="305236" y="414360"/>
                  <a:pt x="289339" y="414360"/>
                </a:cubicBezTo>
                <a:lnTo>
                  <a:pt x="289321" y="414338"/>
                </a:lnTo>
                <a:moveTo>
                  <a:pt x="157163" y="114300"/>
                </a:moveTo>
                <a:cubicBezTo>
                  <a:pt x="165054" y="114300"/>
                  <a:pt x="171450" y="120696"/>
                  <a:pt x="171450" y="128588"/>
                </a:cubicBezTo>
                <a:cubicBezTo>
                  <a:pt x="171450" y="136479"/>
                  <a:pt x="165054" y="142875"/>
                  <a:pt x="157163" y="142875"/>
                </a:cubicBezTo>
                <a:cubicBezTo>
                  <a:pt x="149271" y="142875"/>
                  <a:pt x="142875" y="136479"/>
                  <a:pt x="142875" y="128588"/>
                </a:cubicBezTo>
                <a:cubicBezTo>
                  <a:pt x="142875" y="120696"/>
                  <a:pt x="149271" y="114300"/>
                  <a:pt x="157163" y="114300"/>
                </a:cubicBezTo>
                <a:moveTo>
                  <a:pt x="142875" y="300038"/>
                </a:moveTo>
                <a:cubicBezTo>
                  <a:pt x="150766" y="300038"/>
                  <a:pt x="157163" y="306434"/>
                  <a:pt x="157163" y="314325"/>
                </a:cubicBezTo>
                <a:cubicBezTo>
                  <a:pt x="157163" y="322216"/>
                  <a:pt x="150766" y="328613"/>
                  <a:pt x="142875" y="328613"/>
                </a:cubicBezTo>
                <a:cubicBezTo>
                  <a:pt x="134984" y="328613"/>
                  <a:pt x="128588" y="322216"/>
                  <a:pt x="128588" y="314325"/>
                </a:cubicBezTo>
                <a:cubicBezTo>
                  <a:pt x="128588" y="306434"/>
                  <a:pt x="134984" y="300038"/>
                  <a:pt x="142875" y="300038"/>
                </a:cubicBezTo>
                <a:moveTo>
                  <a:pt x="300038" y="200025"/>
                </a:moveTo>
                <a:cubicBezTo>
                  <a:pt x="300038" y="192134"/>
                  <a:pt x="306434" y="185738"/>
                  <a:pt x="314325" y="185738"/>
                </a:cubicBezTo>
                <a:cubicBezTo>
                  <a:pt x="322216" y="185738"/>
                  <a:pt x="328613" y="192134"/>
                  <a:pt x="328613" y="200025"/>
                </a:cubicBezTo>
                <a:cubicBezTo>
                  <a:pt x="328613" y="207916"/>
                  <a:pt x="322216" y="214313"/>
                  <a:pt x="314325" y="214313"/>
                </a:cubicBezTo>
                <a:cubicBezTo>
                  <a:pt x="306434" y="214313"/>
                  <a:pt x="300038" y="207916"/>
                  <a:pt x="300038" y="200025"/>
                </a:cubicBezTo>
                <a:moveTo>
                  <a:pt x="328613" y="285750"/>
                </a:moveTo>
                <a:cubicBezTo>
                  <a:pt x="336504" y="285750"/>
                  <a:pt x="342900" y="292146"/>
                  <a:pt x="342900" y="300038"/>
                </a:cubicBezTo>
                <a:cubicBezTo>
                  <a:pt x="342900" y="307929"/>
                  <a:pt x="336504" y="314325"/>
                  <a:pt x="328613" y="314325"/>
                </a:cubicBezTo>
                <a:cubicBezTo>
                  <a:pt x="320721" y="314325"/>
                  <a:pt x="314325" y="307929"/>
                  <a:pt x="314325" y="300038"/>
                </a:cubicBezTo>
                <a:cubicBezTo>
                  <a:pt x="314325" y="292146"/>
                  <a:pt x="320721" y="285750"/>
                  <a:pt x="328613" y="285750"/>
                </a:cubicBezTo>
              </a:path>
            </a:pathLst>
          </a:custGeom>
          <a:solidFill>
            <a:srgbClr val="FFFFFF"/>
          </a:solidFill>
          <a:ln/>
        </p:spPr>
        <p:txBody>
          <a:bodyPr wrap="square" lIns="0" tIns="0" rIns="0" bIns="0" rtlCol="0" anchor="ctr"/>
          <a:lstStyle/>
          <a:p>
            <a:pPr indent="0" marL="0">
              <a:buNone/>
            </a:pPr>
            <a:endParaRPr lang="en-US" dirty="0"/>
          </a:p>
        </p:txBody>
      </p:sp>
      <p:sp>
        <p:nvSpPr>
          <p:cNvPr id="10" name="Text 8"/>
          <p:cNvSpPr/>
          <p:nvPr/>
        </p:nvSpPr>
        <p:spPr>
          <a:xfrm>
            <a:off x="6709220" y="5062409"/>
            <a:ext cx="457200" cy="409876"/>
          </a:xfrm>
          <a:custGeom>
            <a:avLst/>
            <a:gdLst/>
            <a:ahLst/>
            <a:cxnLst/>
            <a:rect l="l" t="t" r="r" b="b"/>
            <a:pathLst>
              <a:path w="457200" h="409876">
                <a:moveTo>
                  <a:pt x="19212" y="0"/>
                </a:moveTo>
                <a:cubicBezTo>
                  <a:pt x="8563" y="0"/>
                  <a:pt x="0" y="8566"/>
                  <a:pt x="0" y="19215"/>
                </a:cubicBezTo>
                <a:cubicBezTo>
                  <a:pt x="0" y="29864"/>
                  <a:pt x="8568" y="38430"/>
                  <a:pt x="19212" y="38430"/>
                </a:cubicBezTo>
                <a:lnTo>
                  <a:pt x="55637" y="38430"/>
                </a:lnTo>
                <a:cubicBezTo>
                  <a:pt x="58677" y="38430"/>
                  <a:pt x="61320" y="40590"/>
                  <a:pt x="61960" y="43635"/>
                </a:cubicBezTo>
                <a:lnTo>
                  <a:pt x="103268" y="260583"/>
                </a:lnTo>
                <a:cubicBezTo>
                  <a:pt x="108471" y="287802"/>
                  <a:pt x="132245" y="307415"/>
                  <a:pt x="159865" y="307415"/>
                </a:cubicBezTo>
                <a:lnTo>
                  <a:pt x="390659" y="307415"/>
                </a:lnTo>
                <a:cubicBezTo>
                  <a:pt x="401307" y="307415"/>
                  <a:pt x="409871" y="298849"/>
                  <a:pt x="409871" y="288204"/>
                </a:cubicBezTo>
                <a:cubicBezTo>
                  <a:pt x="409871" y="277556"/>
                  <a:pt x="401303" y="268993"/>
                  <a:pt x="390659" y="268993"/>
                </a:cubicBezTo>
                <a:lnTo>
                  <a:pt x="159865" y="268993"/>
                </a:lnTo>
                <a:cubicBezTo>
                  <a:pt x="150657" y="268993"/>
                  <a:pt x="142733" y="262427"/>
                  <a:pt x="140973" y="253381"/>
                </a:cubicBezTo>
                <a:lnTo>
                  <a:pt x="136648" y="230567"/>
                </a:lnTo>
                <a:lnTo>
                  <a:pt x="367603" y="230567"/>
                </a:lnTo>
                <a:cubicBezTo>
                  <a:pt x="393699" y="230567"/>
                  <a:pt x="416514" y="213115"/>
                  <a:pt x="423239" y="187899"/>
                </a:cubicBezTo>
                <a:lnTo>
                  <a:pt x="456062" y="65978"/>
                </a:lnTo>
                <a:cubicBezTo>
                  <a:pt x="461585" y="45644"/>
                  <a:pt x="446213" y="25629"/>
                  <a:pt x="425159" y="25629"/>
                </a:cubicBezTo>
                <a:lnTo>
                  <a:pt x="96140" y="25629"/>
                </a:lnTo>
                <a:cubicBezTo>
                  <a:pt x="88857" y="10259"/>
                  <a:pt x="73326" y="12"/>
                  <a:pt x="55632" y="12"/>
                </a:cubicBezTo>
                <a:lnTo>
                  <a:pt x="19212" y="0"/>
                </a:lnTo>
                <a:moveTo>
                  <a:pt x="104950" y="64043"/>
                </a:moveTo>
                <a:lnTo>
                  <a:pt x="416838" y="64043"/>
                </a:lnTo>
                <a:lnTo>
                  <a:pt x="386179" y="177878"/>
                </a:lnTo>
                <a:cubicBezTo>
                  <a:pt x="383938" y="186284"/>
                  <a:pt x="376330" y="192129"/>
                  <a:pt x="367607" y="192129"/>
                </a:cubicBezTo>
                <a:lnTo>
                  <a:pt x="129365" y="192129"/>
                </a:lnTo>
                <a:lnTo>
                  <a:pt x="104950" y="64043"/>
                </a:lnTo>
                <a:moveTo>
                  <a:pt x="140895" y="409876"/>
                </a:moveTo>
                <a:cubicBezTo>
                  <a:pt x="162119" y="409876"/>
                  <a:pt x="179323" y="392673"/>
                  <a:pt x="179323" y="371450"/>
                </a:cubicBezTo>
                <a:cubicBezTo>
                  <a:pt x="179323" y="350227"/>
                  <a:pt x="162119" y="333024"/>
                  <a:pt x="140895" y="333024"/>
                </a:cubicBezTo>
                <a:cubicBezTo>
                  <a:pt x="119672" y="333024"/>
                  <a:pt x="102468" y="350227"/>
                  <a:pt x="102468" y="371450"/>
                </a:cubicBezTo>
                <a:cubicBezTo>
                  <a:pt x="102468" y="392673"/>
                  <a:pt x="119672" y="409876"/>
                  <a:pt x="140895" y="409876"/>
                </a:cubicBezTo>
                <a:moveTo>
                  <a:pt x="409875" y="371450"/>
                </a:moveTo>
                <a:cubicBezTo>
                  <a:pt x="409875" y="350227"/>
                  <a:pt x="392671" y="333024"/>
                  <a:pt x="371448" y="333024"/>
                </a:cubicBezTo>
                <a:cubicBezTo>
                  <a:pt x="350224" y="333024"/>
                  <a:pt x="333020" y="350227"/>
                  <a:pt x="333020" y="371450"/>
                </a:cubicBezTo>
                <a:cubicBezTo>
                  <a:pt x="333020" y="392673"/>
                  <a:pt x="350224" y="409876"/>
                  <a:pt x="371448" y="409876"/>
                </a:cubicBezTo>
                <a:cubicBezTo>
                  <a:pt x="392671" y="409876"/>
                  <a:pt x="409875" y="392673"/>
                  <a:pt x="409875" y="371450"/>
                </a:cubicBezTo>
              </a:path>
            </a:pathLst>
          </a:custGeom>
          <a:solidFill>
            <a:srgbClr val="FFFFFF"/>
          </a:solidFill>
          <a:ln/>
        </p:spPr>
        <p:txBody>
          <a:bodyPr wrap="square" lIns="0" tIns="0" rIns="0" bIns="0" rtlCol="0" anchor="ctr"/>
          <a:lstStyle/>
          <a:p>
            <a:pPr indent="0" marL="0">
              <a:buNone/>
            </a:pPr>
            <a:endParaRPr lang="en-US" dirty="0"/>
          </a:p>
        </p:txBody>
      </p:sp>
      <p:sp>
        <p:nvSpPr>
          <p:cNvPr id="11" name="Text 9"/>
          <p:cNvSpPr/>
          <p:nvPr/>
        </p:nvSpPr>
        <p:spPr>
          <a:xfrm>
            <a:off x="4518706" y="4531813"/>
            <a:ext cx="457200" cy="355600"/>
          </a:xfrm>
          <a:custGeom>
            <a:avLst/>
            <a:gdLst/>
            <a:ahLst/>
            <a:cxnLst/>
            <a:rect l="l" t="t" r="r" b="b"/>
            <a:pathLst>
              <a:path w="457200" h="355600">
                <a:moveTo>
                  <a:pt x="254002" y="38099"/>
                </a:moveTo>
                <a:lnTo>
                  <a:pt x="254002" y="88900"/>
                </a:lnTo>
                <a:lnTo>
                  <a:pt x="203203" y="88900"/>
                </a:lnTo>
                <a:lnTo>
                  <a:pt x="203203" y="38099"/>
                </a:lnTo>
                <a:lnTo>
                  <a:pt x="254002" y="38099"/>
                </a:lnTo>
                <a:moveTo>
                  <a:pt x="203198" y="0"/>
                </a:moveTo>
                <a:cubicBezTo>
                  <a:pt x="182162" y="0"/>
                  <a:pt x="165099" y="17065"/>
                  <a:pt x="165099" y="38099"/>
                </a:cubicBezTo>
                <a:lnTo>
                  <a:pt x="165099" y="88900"/>
                </a:lnTo>
                <a:cubicBezTo>
                  <a:pt x="165099" y="109934"/>
                  <a:pt x="182167" y="126999"/>
                  <a:pt x="203198" y="126999"/>
                </a:cubicBezTo>
                <a:lnTo>
                  <a:pt x="209548" y="126999"/>
                </a:lnTo>
                <a:lnTo>
                  <a:pt x="209548" y="158750"/>
                </a:lnTo>
                <a:lnTo>
                  <a:pt x="88898" y="158750"/>
                </a:lnTo>
                <a:cubicBezTo>
                  <a:pt x="64369" y="158750"/>
                  <a:pt x="44449" y="178675"/>
                  <a:pt x="44449" y="203200"/>
                </a:cubicBezTo>
                <a:lnTo>
                  <a:pt x="44449" y="228601"/>
                </a:lnTo>
                <a:lnTo>
                  <a:pt x="38098" y="228601"/>
                </a:lnTo>
                <a:cubicBezTo>
                  <a:pt x="17063" y="228601"/>
                  <a:pt x="0" y="245666"/>
                  <a:pt x="0" y="266700"/>
                </a:cubicBezTo>
                <a:lnTo>
                  <a:pt x="0" y="317501"/>
                </a:lnTo>
                <a:cubicBezTo>
                  <a:pt x="0" y="338535"/>
                  <a:pt x="17067" y="355600"/>
                  <a:pt x="38098" y="355600"/>
                </a:cubicBezTo>
                <a:lnTo>
                  <a:pt x="88898" y="355600"/>
                </a:lnTo>
                <a:cubicBezTo>
                  <a:pt x="109934" y="355600"/>
                  <a:pt x="126996" y="338535"/>
                  <a:pt x="126996" y="317501"/>
                </a:cubicBezTo>
                <a:lnTo>
                  <a:pt x="126996" y="266700"/>
                </a:lnTo>
                <a:cubicBezTo>
                  <a:pt x="126996" y="245666"/>
                  <a:pt x="109929" y="228601"/>
                  <a:pt x="88898" y="228601"/>
                </a:cubicBezTo>
                <a:lnTo>
                  <a:pt x="82547" y="228601"/>
                </a:lnTo>
                <a:lnTo>
                  <a:pt x="82547" y="203200"/>
                </a:lnTo>
                <a:cubicBezTo>
                  <a:pt x="82547" y="199708"/>
                  <a:pt x="85405" y="196849"/>
                  <a:pt x="88898" y="196849"/>
                </a:cubicBezTo>
                <a:lnTo>
                  <a:pt x="209548" y="196849"/>
                </a:lnTo>
                <a:lnTo>
                  <a:pt x="209548" y="228601"/>
                </a:lnTo>
                <a:lnTo>
                  <a:pt x="203198" y="228601"/>
                </a:lnTo>
                <a:cubicBezTo>
                  <a:pt x="182162" y="228601"/>
                  <a:pt x="165099" y="245666"/>
                  <a:pt x="165099" y="266700"/>
                </a:cubicBezTo>
                <a:lnTo>
                  <a:pt x="165099" y="317501"/>
                </a:lnTo>
                <a:cubicBezTo>
                  <a:pt x="165099" y="338535"/>
                  <a:pt x="182167" y="355600"/>
                  <a:pt x="203198" y="355600"/>
                </a:cubicBezTo>
                <a:lnTo>
                  <a:pt x="253997" y="355600"/>
                </a:lnTo>
                <a:cubicBezTo>
                  <a:pt x="275033" y="355600"/>
                  <a:pt x="292096" y="338535"/>
                  <a:pt x="292096" y="317501"/>
                </a:cubicBezTo>
                <a:lnTo>
                  <a:pt x="292096" y="266700"/>
                </a:lnTo>
                <a:cubicBezTo>
                  <a:pt x="292096" y="245666"/>
                  <a:pt x="275029" y="228601"/>
                  <a:pt x="253997" y="228601"/>
                </a:cubicBezTo>
                <a:lnTo>
                  <a:pt x="247647" y="228601"/>
                </a:lnTo>
                <a:lnTo>
                  <a:pt x="247647" y="196849"/>
                </a:lnTo>
                <a:lnTo>
                  <a:pt x="368297" y="196849"/>
                </a:lnTo>
                <a:cubicBezTo>
                  <a:pt x="371790" y="196849"/>
                  <a:pt x="374648" y="199708"/>
                  <a:pt x="374648" y="203200"/>
                </a:cubicBezTo>
                <a:lnTo>
                  <a:pt x="374648" y="228601"/>
                </a:lnTo>
                <a:lnTo>
                  <a:pt x="368297" y="228601"/>
                </a:lnTo>
                <a:cubicBezTo>
                  <a:pt x="347262" y="228601"/>
                  <a:pt x="330199" y="245666"/>
                  <a:pt x="330199" y="266700"/>
                </a:cubicBezTo>
                <a:lnTo>
                  <a:pt x="330199" y="317501"/>
                </a:lnTo>
                <a:cubicBezTo>
                  <a:pt x="330199" y="338535"/>
                  <a:pt x="347266" y="355600"/>
                  <a:pt x="368297" y="355600"/>
                </a:cubicBezTo>
                <a:lnTo>
                  <a:pt x="419097" y="355600"/>
                </a:lnTo>
                <a:cubicBezTo>
                  <a:pt x="440133" y="355600"/>
                  <a:pt x="457195" y="338535"/>
                  <a:pt x="457195" y="317501"/>
                </a:cubicBezTo>
                <a:lnTo>
                  <a:pt x="457195" y="266700"/>
                </a:lnTo>
                <a:cubicBezTo>
                  <a:pt x="457195" y="245666"/>
                  <a:pt x="440128" y="228601"/>
                  <a:pt x="419097" y="228601"/>
                </a:cubicBezTo>
                <a:lnTo>
                  <a:pt x="412746" y="228601"/>
                </a:lnTo>
                <a:lnTo>
                  <a:pt x="412746" y="203200"/>
                </a:lnTo>
                <a:cubicBezTo>
                  <a:pt x="412746" y="178675"/>
                  <a:pt x="392822" y="158750"/>
                  <a:pt x="368297" y="158750"/>
                </a:cubicBezTo>
                <a:lnTo>
                  <a:pt x="247647" y="158750"/>
                </a:lnTo>
                <a:lnTo>
                  <a:pt x="247647" y="126999"/>
                </a:lnTo>
                <a:lnTo>
                  <a:pt x="253997" y="126999"/>
                </a:lnTo>
                <a:cubicBezTo>
                  <a:pt x="275033" y="126999"/>
                  <a:pt x="292096" y="109934"/>
                  <a:pt x="292096" y="88900"/>
                </a:cubicBezTo>
                <a:lnTo>
                  <a:pt x="292096" y="38099"/>
                </a:lnTo>
                <a:cubicBezTo>
                  <a:pt x="292096" y="17065"/>
                  <a:pt x="275029" y="0"/>
                  <a:pt x="253997" y="0"/>
                </a:cubicBezTo>
                <a:lnTo>
                  <a:pt x="203198" y="0"/>
                </a:lnTo>
                <a:moveTo>
                  <a:pt x="38098" y="266700"/>
                </a:moveTo>
                <a:lnTo>
                  <a:pt x="88898" y="266700"/>
                </a:lnTo>
                <a:lnTo>
                  <a:pt x="88898" y="317501"/>
                </a:lnTo>
                <a:lnTo>
                  <a:pt x="38098" y="317501"/>
                </a:lnTo>
                <a:lnTo>
                  <a:pt x="38098" y="266700"/>
                </a:lnTo>
                <a:moveTo>
                  <a:pt x="203198" y="266700"/>
                </a:moveTo>
                <a:lnTo>
                  <a:pt x="253997" y="266700"/>
                </a:lnTo>
                <a:lnTo>
                  <a:pt x="253997" y="317501"/>
                </a:lnTo>
                <a:lnTo>
                  <a:pt x="203198" y="317501"/>
                </a:lnTo>
                <a:lnTo>
                  <a:pt x="203198" y="266700"/>
                </a:lnTo>
                <a:moveTo>
                  <a:pt x="368302" y="266700"/>
                </a:moveTo>
                <a:lnTo>
                  <a:pt x="419102" y="266700"/>
                </a:lnTo>
                <a:lnTo>
                  <a:pt x="419102" y="317501"/>
                </a:lnTo>
                <a:lnTo>
                  <a:pt x="368302" y="317501"/>
                </a:lnTo>
                <a:lnTo>
                  <a:pt x="368302" y="266700"/>
                </a:lnTo>
              </a:path>
            </a:pathLst>
          </a:custGeom>
          <a:solidFill>
            <a:srgbClr val="FFFFFF"/>
          </a:solidFill>
          <a:ln/>
        </p:spPr>
        <p:txBody>
          <a:bodyPr wrap="square" lIns="0" tIns="0" rIns="0" bIns="0" rtlCol="0" anchor="ctr"/>
          <a:lstStyle/>
          <a:p>
            <a:pPr indent="0" marL="0">
              <a:buNone/>
            </a:pPr>
            <a:endParaRPr lang="en-US" dirty="0"/>
          </a:p>
        </p:txBody>
      </p:sp>
      <p:sp>
        <p:nvSpPr>
          <p:cNvPr id="12" name="Text 10"/>
          <p:cNvSpPr/>
          <p:nvPr/>
        </p:nvSpPr>
        <p:spPr>
          <a:xfrm>
            <a:off x="852637" y="4162395"/>
            <a:ext cx="2743200" cy="221599"/>
          </a:xfrm>
          <a:prstGeom prst="rect">
            <a:avLst/>
          </a:prstGeom>
          <a:noFill/>
          <a:ln/>
        </p:spPr>
        <p:txBody>
          <a:bodyPr wrap="square" lIns="0" tIns="0" rIns="0" bIns="0" rtlCol="0" anchor="t"/>
          <a:lstStyle/>
          <a:p>
            <a:pPr algn="r" marL="0" indent="0">
              <a:lnSpc>
                <a:spcPct val="90000"/>
              </a:lnSpc>
              <a:buNone/>
            </a:pPr>
            <a:r>
              <a:rPr lang="en-US" sz="1046" dirty="0">
                <a:solidFill>
                  <a:srgbClr val="FFFFFF"/>
                </a:solidFill>
                <a:latin typeface="Figtree Bold" pitchFamily="34" charset="0"/>
                <a:ea typeface="Figtree Bold" pitchFamily="34" charset="-122"/>
                <a:cs typeface="Figtree Bold" pitchFamily="34" charset="-120"/>
              </a:rPr>
              <a:t>Diversification into Structured Organizations</a:t>
            </a:r>
            <a:endParaRPr lang="en-US" sz="1046" dirty="0"/>
          </a:p>
        </p:txBody>
      </p:sp>
      <p:sp>
        <p:nvSpPr>
          <p:cNvPr id="13" name="Text 11"/>
          <p:cNvSpPr/>
          <p:nvPr/>
        </p:nvSpPr>
        <p:spPr>
          <a:xfrm>
            <a:off x="852637" y="4478253"/>
            <a:ext cx="2743200" cy="914400"/>
          </a:xfrm>
          <a:prstGeom prst="rect">
            <a:avLst/>
          </a:prstGeom>
          <a:noFill/>
          <a:ln/>
        </p:spPr>
        <p:txBody>
          <a:bodyPr wrap="square" lIns="0" tIns="0" rIns="0" bIns="0" rtlCol="0" anchor="t"/>
          <a:lstStyle/>
          <a:p>
            <a:pPr algn="r" marL="0" indent="0">
              <a:lnSpc>
                <a:spcPct val="110000"/>
              </a:lnSpc>
              <a:buNone/>
            </a:pPr>
            <a:r>
              <a:rPr lang="en-US" sz="808" dirty="0">
                <a:solidFill>
                  <a:srgbClr val="FFFFFF"/>
                </a:solidFill>
                <a:latin typeface="Figtree Regular" pitchFamily="34" charset="0"/>
                <a:ea typeface="Figtree Regular" pitchFamily="34" charset="-122"/>
                <a:cs typeface="Figtree Regular" pitchFamily="34" charset="-120"/>
              </a:rPr>
              <a:t>Criminal enterprises evolve into structured organizations resembling legitimate businesses. They form startups innovating attack techniques, enterprises coordinating large operations, platforms enabling services, and investors funding new ventures. This diversification sustains the ecosystem and drives the continuous cycle forward.</a:t>
            </a:r>
            <a:endParaRPr lang="en-US" sz="808" dirty="0"/>
          </a:p>
        </p:txBody>
      </p:sp>
      <p:sp>
        <p:nvSpPr>
          <p:cNvPr id="14" name="Text 12"/>
          <p:cNvSpPr/>
          <p:nvPr/>
        </p:nvSpPr>
        <p:spPr>
          <a:xfrm>
            <a:off x="8610265" y="4162395"/>
            <a:ext cx="2743200" cy="221599"/>
          </a:xfrm>
          <a:prstGeom prst="rect">
            <a:avLst/>
          </a:prstGeom>
          <a:noFill/>
          <a:ln/>
        </p:spPr>
        <p:txBody>
          <a:bodyPr wrap="square" lIns="0" tIns="0" rIns="0" bIns="0" rtlCol="0" anchor="t"/>
          <a:lstStyle/>
          <a:p>
            <a:pPr algn="l" marL="0" indent="0">
              <a:lnSpc>
                <a:spcPct val="90000"/>
              </a:lnSpc>
              <a:buNone/>
            </a:pPr>
            <a:r>
              <a:rPr lang="en-US" sz="1046" dirty="0">
                <a:solidFill>
                  <a:srgbClr val="FFFFFF"/>
                </a:solidFill>
                <a:latin typeface="Figtree Bold" pitchFamily="34" charset="0"/>
                <a:ea typeface="Figtree Bold" pitchFamily="34" charset="-122"/>
                <a:cs typeface="Figtree Bold" pitchFamily="34" charset="-120"/>
              </a:rPr>
              <a:t>Expansion of Criminal Offerings and Market</a:t>
            </a:r>
            <a:endParaRPr lang="en-US" sz="1046" dirty="0"/>
          </a:p>
        </p:txBody>
      </p:sp>
      <p:sp>
        <p:nvSpPr>
          <p:cNvPr id="15" name="Text 13"/>
          <p:cNvSpPr/>
          <p:nvPr/>
        </p:nvSpPr>
        <p:spPr>
          <a:xfrm>
            <a:off x="8610265" y="4478253"/>
            <a:ext cx="2743200" cy="914400"/>
          </a:xfrm>
          <a:prstGeom prst="rect">
            <a:avLst/>
          </a:prstGeom>
          <a:noFill/>
          <a:ln/>
        </p:spPr>
        <p:txBody>
          <a:bodyPr wrap="square" lIns="0" tIns="0" rIns="0" bIns="0" rtlCol="0" anchor="t"/>
          <a:lstStyle/>
          <a:p>
            <a:pPr algn="l" marL="0" indent="0">
              <a:lnSpc>
                <a:spcPct val="110000"/>
              </a:lnSpc>
              <a:buNone/>
            </a:pPr>
            <a:r>
              <a:rPr lang="en-US" sz="808" dirty="0">
                <a:solidFill>
                  <a:srgbClr val="FFFFFF"/>
                </a:solidFill>
                <a:latin typeface="Figtree Regular" pitchFamily="34" charset="0"/>
                <a:ea typeface="Figtree Regular" pitchFamily="34" charset="-122"/>
                <a:cs typeface="Figtree Regular" pitchFamily="34" charset="-120"/>
              </a:rPr>
              <a:t>With growing resources and advanced AI capabilities, criminal groups expand their service offerings into comprehensive platforms and marketplaces. These include crime-as-a-service, customized phishing campaigns, and AI-generated synthetic media, attracting more participants and enabling easier access to sophisticated cybercrime methods.</a:t>
            </a:r>
            <a:endParaRPr lang="en-US" sz="808" dirty="0"/>
          </a:p>
        </p:txBody>
      </p:sp>
      <p:sp>
        <p:nvSpPr>
          <p:cNvPr id="16" name="Text 14"/>
          <p:cNvSpPr/>
          <p:nvPr/>
        </p:nvSpPr>
        <p:spPr>
          <a:xfrm>
            <a:off x="8610265" y="2104329"/>
            <a:ext cx="2743200" cy="221599"/>
          </a:xfrm>
          <a:prstGeom prst="rect">
            <a:avLst/>
          </a:prstGeom>
          <a:noFill/>
          <a:ln/>
        </p:spPr>
        <p:txBody>
          <a:bodyPr wrap="square" lIns="0" tIns="0" rIns="0" bIns="0" rtlCol="0" anchor="t"/>
          <a:lstStyle/>
          <a:p>
            <a:pPr algn="l" marL="0" indent="0">
              <a:lnSpc>
                <a:spcPct val="90000"/>
              </a:lnSpc>
              <a:buNone/>
            </a:pPr>
            <a:r>
              <a:rPr lang="en-US" sz="1046" dirty="0">
                <a:solidFill>
                  <a:srgbClr val="FFFFFF"/>
                </a:solidFill>
                <a:latin typeface="Figtree Bold" pitchFamily="34" charset="0"/>
                <a:ea typeface="Figtree Bold" pitchFamily="34" charset="-122"/>
                <a:cs typeface="Figtree Bold" pitchFamily="34" charset="-120"/>
              </a:rPr>
              <a:t>Refinement and Training of AI Systems</a:t>
            </a:r>
            <a:endParaRPr lang="en-US" sz="1046" dirty="0"/>
          </a:p>
        </p:txBody>
      </p:sp>
      <p:sp>
        <p:nvSpPr>
          <p:cNvPr id="17" name="Text 15"/>
          <p:cNvSpPr/>
          <p:nvPr/>
        </p:nvSpPr>
        <p:spPr>
          <a:xfrm>
            <a:off x="8610265" y="2420187"/>
            <a:ext cx="2743200" cy="914400"/>
          </a:xfrm>
          <a:prstGeom prst="rect">
            <a:avLst/>
          </a:prstGeom>
          <a:noFill/>
          <a:ln/>
        </p:spPr>
        <p:txBody>
          <a:bodyPr wrap="square" lIns="0" tIns="0" rIns="0" bIns="0" rtlCol="0" anchor="t"/>
          <a:lstStyle/>
          <a:p>
            <a:pPr algn="l" marL="0" indent="0">
              <a:lnSpc>
                <a:spcPct val="110000"/>
              </a:lnSpc>
              <a:buNone/>
            </a:pPr>
            <a:r>
              <a:rPr lang="en-US" sz="808" dirty="0">
                <a:solidFill>
                  <a:srgbClr val="FFFFFF"/>
                </a:solidFill>
                <a:latin typeface="Figtree Regular" pitchFamily="34" charset="0"/>
                <a:ea typeface="Figtree Regular" pitchFamily="34" charset="-122"/>
                <a:cs typeface="Figtree Regular" pitchFamily="34" charset="-120"/>
              </a:rPr>
              <a:t>The capital from successful attacks also provides data and opportunities to refine AI models. Criminals use outcomes and new data to improve their tools, creating more effective AI-powered techniques that can evade detection and increase success rates in future attacks.</a:t>
            </a:r>
            <a:endParaRPr lang="en-US" sz="808" dirty="0"/>
          </a:p>
        </p:txBody>
      </p:sp>
      <p:sp>
        <p:nvSpPr>
          <p:cNvPr id="18" name="Text 16"/>
          <p:cNvSpPr/>
          <p:nvPr/>
        </p:nvSpPr>
        <p:spPr>
          <a:xfrm>
            <a:off x="852637" y="2104329"/>
            <a:ext cx="2743200" cy="221599"/>
          </a:xfrm>
          <a:prstGeom prst="rect">
            <a:avLst/>
          </a:prstGeom>
          <a:noFill/>
          <a:ln/>
        </p:spPr>
        <p:txBody>
          <a:bodyPr wrap="square" lIns="0" tIns="0" rIns="0" bIns="0" rtlCol="0" anchor="t"/>
          <a:lstStyle/>
          <a:p>
            <a:pPr algn="r" marL="0" indent="0">
              <a:lnSpc>
                <a:spcPct val="90000"/>
              </a:lnSpc>
              <a:buNone/>
            </a:pPr>
            <a:r>
              <a:rPr lang="en-US" sz="1046" dirty="0">
                <a:solidFill>
                  <a:srgbClr val="FFFFFF"/>
                </a:solidFill>
                <a:latin typeface="Figtree Bold" pitchFamily="34" charset="0"/>
                <a:ea typeface="Figtree Bold" pitchFamily="34" charset="-122"/>
                <a:cs typeface="Figtree Bold" pitchFamily="34" charset="-120"/>
              </a:rPr>
              <a:t>Successful Attacks Generate Capital</a:t>
            </a:r>
            <a:endParaRPr lang="en-US" sz="1046" dirty="0"/>
          </a:p>
        </p:txBody>
      </p:sp>
      <p:sp>
        <p:nvSpPr>
          <p:cNvPr id="19" name="Text 17"/>
          <p:cNvSpPr/>
          <p:nvPr/>
        </p:nvSpPr>
        <p:spPr>
          <a:xfrm>
            <a:off x="852637" y="2420187"/>
            <a:ext cx="2743200" cy="914400"/>
          </a:xfrm>
          <a:prstGeom prst="rect">
            <a:avLst/>
          </a:prstGeom>
          <a:noFill/>
          <a:ln/>
        </p:spPr>
        <p:txBody>
          <a:bodyPr wrap="square" lIns="0" tIns="0" rIns="0" bIns="0" rtlCol="0" anchor="t"/>
          <a:lstStyle/>
          <a:p>
            <a:pPr algn="r" marL="0" indent="0">
              <a:lnSpc>
                <a:spcPct val="110000"/>
              </a:lnSpc>
              <a:buNone/>
            </a:pPr>
            <a:r>
              <a:rPr lang="en-US" sz="808" dirty="0">
                <a:solidFill>
                  <a:srgbClr val="FFFFFF"/>
                </a:solidFill>
                <a:latin typeface="Figtree Regular" pitchFamily="34" charset="0"/>
                <a:ea typeface="Figtree Regular" pitchFamily="34" charset="-122"/>
                <a:cs typeface="Figtree Regular" pitchFamily="34" charset="-120"/>
              </a:rPr>
              <a:t>Each successful cyber attack generates financial capital that criminals reinvest into more advanced AI tools and services. This capital fuels further innovations and capabilities, enabling increasingly sophisticated and effective criminal operations. The flow of resources ensures a continuous cycle of improvement and scaling of attack methods.</a:t>
            </a:r>
            <a:endParaRPr lang="en-US" sz="808" dirty="0"/>
          </a:p>
        </p:txBody>
      </p:sp>
      <p:sp>
        <p:nvSpPr>
          <p:cNvPr id="20" name="Text 18"/>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Unmasking the Cyber Underworld: The Role of AI in Modern Crime and Defense Strategies</a:t>
            </a:r>
            <a:endParaRPr lang="en-US" sz="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3" name="Text 21"/>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4" name="Text 22"/>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Ecosystem Effect and Organizational Structures</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22D335FCCC4C4BB928D417B8BF84D4" ma:contentTypeVersion="24" ma:contentTypeDescription="Create a new document." ma:contentTypeScope="" ma:versionID="a7f1f5007c6c53ad583af594c9d696d7">
  <xsd:schema xmlns:xsd="http://www.w3.org/2001/XMLSchema" xmlns:xs="http://www.w3.org/2001/XMLSchema" xmlns:p="http://schemas.microsoft.com/office/2006/metadata/properties" xmlns:ns1="http://schemas.microsoft.com/sharepoint/v3" xmlns:ns2="e91edc37-9a59-494a-bb7c-e2689ba07361" xmlns:ns3="f368a68e-44f2-47c0-8dfd-1123d85a2df9" targetNamespace="http://schemas.microsoft.com/office/2006/metadata/properties" ma:root="true" ma:fieldsID="18f7944d9b0d3a729b58adb5a1be051f" ns1:_="" ns2:_="" ns3:_="">
    <xsd:import namespace="http://schemas.microsoft.com/sharepoint/v3"/>
    <xsd:import namespace="e91edc37-9a59-494a-bb7c-e2689ba07361"/>
    <xsd:import namespace="f368a68e-44f2-47c0-8dfd-1123d85a2df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element ref="ns2:MediaServiceBillingMetadata" minOccurs="0"/>
                <xsd:element ref="ns2:Pagenumber" minOccurs="0"/>
                <xsd:element ref="ns2:LogImag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1edc37-9a59-494a-bb7c-e2689ba073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element name="_Flow_SignoffStatus" ma:index="26" nillable="true" ma:displayName="Sign-off status" ma:internalName="Sign_x002d_off_x0020_status">
      <xsd:simpleType>
        <xsd:restriction base="dms:Text"/>
      </xsd:simple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element name="Pagenumber" ma:index="30" nillable="true" ma:displayName="Page number" ma:format="Dropdown" ma:internalName="Pagenumber" ma:percentage="FALSE">
      <xsd:simpleType>
        <xsd:restriction base="dms:Number"/>
      </xsd:simpleType>
    </xsd:element>
    <xsd:element name="LogImages" ma:index="31" nillable="true" ma:displayName="Log Images" ma:format="Dropdown" ma:internalName="LogImag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68a68e-44f2-47c0-8dfd-1123d85a2df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422a70d-5799-49d6-8809-6e12b08b72ba}" ma:internalName="TaxCatchAll" ma:showField="CatchAllData" ma:web="f368a68e-44f2-47c0-8dfd-1123d85a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91edc37-9a59-494a-bb7c-e2689ba07361">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f368a68e-44f2-47c0-8dfd-1123d85a2df9" xsi:nil="true"/>
    <LogImages xmlns="e91edc37-9a59-494a-bb7c-e2689ba07361" xsi:nil="true"/>
    <_Flow_SignoffStatus xmlns="e91edc37-9a59-494a-bb7c-e2689ba07361" xsi:nil="true"/>
    <Pagenumber xmlns="e91edc37-9a59-494a-bb7c-e2689ba07361" xsi:nil="true"/>
  </documentManagement>
</p:properties>
</file>

<file path=customXml/itemProps1.xml><?xml version="1.0" encoding="utf-8"?>
<ds:datastoreItem xmlns:ds="http://schemas.openxmlformats.org/officeDocument/2006/customXml" ds:itemID="{9B3BBC28-17B2-4F51-9B66-39D7E88033FC}"/>
</file>

<file path=customXml/itemProps2.xml><?xml version="1.0" encoding="utf-8"?>
<ds:datastoreItem xmlns:ds="http://schemas.openxmlformats.org/officeDocument/2006/customXml" ds:itemID="{7AAC8668-96C9-48C9-A6B6-05E2E75E851A}"/>
</file>

<file path=customXml/itemProps3.xml><?xml version="1.0" encoding="utf-8"?>
<ds:datastoreItem xmlns:ds="http://schemas.openxmlformats.org/officeDocument/2006/customXml" ds:itemID="{B96A7D5E-3EB7-4668-8BEF-FBB833403CF7}"/>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SlideSpeak</dc:creator>
  <cp:lastModifiedBy>SlideSpeak</cp:lastModifiedBy>
  <cp:revision>1</cp:revision>
  <dcterms:created xsi:type="dcterms:W3CDTF">2026-03-05T20:44:38Z</dcterms:created>
  <dcterms:modified xsi:type="dcterms:W3CDTF">2026-03-05T20:44:38Z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0x0101002322D335FCCC4C4BB928D417B8BF84D4</vt:lpwstr>
  </property>
</Properties>
</file>