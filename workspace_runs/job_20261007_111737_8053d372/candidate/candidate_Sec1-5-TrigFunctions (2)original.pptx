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handoutMasterIdLst>
    <p:handoutMasterId r:id="rId24"/>
  </p:handoutMasterIdLst>
  <p:sldIdLst>
    <p:sldId id="534" r:id="rId5"/>
    <p:sldId id="638" r:id="rId6"/>
    <p:sldId id="449" r:id="rId7"/>
    <p:sldId id="511" r:id="rId8"/>
    <p:sldId id="512" r:id="rId9"/>
    <p:sldId id="513" r:id="rId10"/>
    <p:sldId id="514" r:id="rId11"/>
    <p:sldId id="516" r:id="rId12"/>
    <p:sldId id="518" r:id="rId13"/>
    <p:sldId id="523" r:id="rId14"/>
    <p:sldId id="519" r:id="rId15"/>
    <p:sldId id="525" r:id="rId16"/>
    <p:sldId id="639" r:id="rId17"/>
    <p:sldId id="520" r:id="rId18"/>
    <p:sldId id="529" r:id="rId19"/>
    <p:sldId id="521" r:id="rId20"/>
    <p:sldId id="522" r:id="rId21"/>
    <p:sldId id="531" r:id="rId22"/>
    <p:sldId id="478" r:id="rId23"/>
  </p:sldIdLst>
  <p:sldSz cx="12192000" cy="6858000"/>
  <p:notesSz cx="6858000" cy="93138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3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3447" autoAdjust="0"/>
  </p:normalViewPr>
  <p:slideViewPr>
    <p:cSldViewPr snapToGrid="0">
      <p:cViewPr varScale="1">
        <p:scale>
          <a:sx n="56" d="100"/>
          <a:sy n="56" d="100"/>
        </p:scale>
        <p:origin x="31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handoutMaster" Target="handoutMasters/handout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731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67311"/>
          </a:xfrm>
          <a:prstGeom prst="rect">
            <a:avLst/>
          </a:prstGeom>
        </p:spPr>
        <p:txBody>
          <a:bodyPr vert="horz" lIns="91440" tIns="45720" rIns="91440" bIns="45720" rtlCol="0"/>
          <a:lstStyle>
            <a:lvl1pPr algn="r">
              <a:defRPr sz="1200"/>
            </a:lvl1pPr>
          </a:lstStyle>
          <a:p>
            <a:fld id="{DEFA7DCE-7817-492B-A5F2-EE2333D252BB}" type="datetimeFigureOut">
              <a:rPr lang="en-US" smtClean="0"/>
              <a:t>10/12/2024</a:t>
            </a:fld>
            <a:endParaRPr lang="en-US"/>
          </a:p>
        </p:txBody>
      </p:sp>
      <p:sp>
        <p:nvSpPr>
          <p:cNvPr id="4" name="Footer Placeholder 3"/>
          <p:cNvSpPr>
            <a:spLocks noGrp="1"/>
          </p:cNvSpPr>
          <p:nvPr>
            <p:ph type="ftr" sz="quarter" idx="2"/>
          </p:nvPr>
        </p:nvSpPr>
        <p:spPr>
          <a:xfrm>
            <a:off x="0" y="8846554"/>
            <a:ext cx="2971800" cy="46731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846554"/>
            <a:ext cx="2971800" cy="467310"/>
          </a:xfrm>
          <a:prstGeom prst="rect">
            <a:avLst/>
          </a:prstGeom>
        </p:spPr>
        <p:txBody>
          <a:bodyPr vert="horz" lIns="91440" tIns="45720" rIns="91440" bIns="45720" rtlCol="0" anchor="b"/>
          <a:lstStyle>
            <a:lvl1pPr algn="r">
              <a:defRPr sz="1200"/>
            </a:lvl1pPr>
          </a:lstStyle>
          <a:p>
            <a:fld id="{E7A2249E-F706-4D65-A9E5-053D13F9B7FC}" type="slidenum">
              <a:rPr lang="en-US" smtClean="0"/>
              <a:t>‹#›</a:t>
            </a:fld>
            <a:endParaRPr lang="en-US"/>
          </a:p>
        </p:txBody>
      </p:sp>
    </p:spTree>
    <p:extLst>
      <p:ext uri="{BB962C8B-B14F-4D97-AF65-F5344CB8AC3E}">
        <p14:creationId xmlns:p14="http://schemas.microsoft.com/office/powerpoint/2010/main" val="1095953202"/>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p:cNvSpPr>
            <a:spLocks noGrp="1"/>
          </p:cNvSpPr>
          <p:nvPr>
            <p:ph type="ftr" sz="quarter" idx="11"/>
          </p:nvPr>
        </p:nvSpPr>
        <p:spPr>
          <a:xfrm>
            <a:off x="175717" y="6365681"/>
            <a:ext cx="2764599" cy="365125"/>
          </a:xfrm>
          <a:prstGeom prst="rect">
            <a:avLst/>
          </a:prstGeom>
        </p:spPr>
        <p:txBody>
          <a:bodyPr/>
          <a:lstStyle>
            <a:lvl1pPr>
              <a:defRPr sz="1600" i="1">
                <a:solidFill>
                  <a:srgbClr val="00B0F0"/>
                </a:solidFill>
              </a:defRPr>
            </a:lvl1pPr>
          </a:lstStyle>
          <a:p>
            <a:r>
              <a:rPr lang="en-US" dirty="0"/>
              <a:t>Calculus, Hughes-Hallett, Wiley</a:t>
            </a:r>
          </a:p>
        </p:txBody>
      </p:sp>
      <p:sp>
        <p:nvSpPr>
          <p:cNvPr id="7" name="Rectangle 6"/>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896187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540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84D9B0BF-D1B9-4A0C-A2F3-DC59B7BFCFC9}" type="datetimeFigureOut">
              <a:rPr lang="en-US" smtClean="0"/>
              <a:t>10/12/2024</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64D91961-A438-4BF2-933C-85EEBDE527D3}" type="slidenum">
              <a:rPr lang="en-US" smtClean="0"/>
              <a:t>‹#›</a:t>
            </a:fld>
            <a:endParaRPr lang="en-US"/>
          </a:p>
        </p:txBody>
      </p:sp>
      <p:sp>
        <p:nvSpPr>
          <p:cNvPr id="7" name="Rectangle 6"/>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9433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lvl1pPr>
              <a:defRPr sz="54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84D9B0BF-D1B9-4A0C-A2F3-DC59B7BFCFC9}" type="datetimeFigureOut">
              <a:rPr lang="en-US" smtClean="0"/>
              <a:t>10/12/2024</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64D91961-A438-4BF2-933C-85EEBDE527D3}" type="slidenum">
              <a:rPr lang="en-US" smtClean="0"/>
              <a:t>‹#›</a:t>
            </a:fld>
            <a:endParaRPr lang="en-US"/>
          </a:p>
        </p:txBody>
      </p:sp>
      <p:sp>
        <p:nvSpPr>
          <p:cNvPr id="7" name="Rectangle 6"/>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9609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5400"/>
            </a:lvl1p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84D9B0BF-D1B9-4A0C-A2F3-DC59B7BFCFC9}" type="datetimeFigureOut">
              <a:rPr lang="en-US" smtClean="0"/>
              <a:t>10/12/2024</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64D91961-A438-4BF2-933C-85EEBDE527D3}" type="slidenum">
              <a:rPr lang="en-US" smtClean="0"/>
              <a:t>‹#›</a:t>
            </a:fld>
            <a:endParaRPr lang="en-US"/>
          </a:p>
        </p:txBody>
      </p:sp>
      <p:sp>
        <p:nvSpPr>
          <p:cNvPr id="8" name="Rectangle 7"/>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86237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ormAutofit/>
          </a:bodyPr>
          <a:lstStyle>
            <a:lvl1pPr>
              <a:defRPr sz="5400"/>
            </a:lvl1p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84D9B0BF-D1B9-4A0C-A2F3-DC59B7BFCFC9}" type="datetimeFigureOut">
              <a:rPr lang="en-US" smtClean="0"/>
              <a:t>10/12/2024</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64D91961-A438-4BF2-933C-85EEBDE527D3}" type="slidenum">
              <a:rPr lang="en-US" smtClean="0"/>
              <a:t>‹#›</a:t>
            </a:fld>
            <a:endParaRPr lang="en-US"/>
          </a:p>
        </p:txBody>
      </p:sp>
      <p:sp>
        <p:nvSpPr>
          <p:cNvPr id="10" name="Rectangle 9"/>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3923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5400"/>
            </a:lvl1pPr>
          </a:lstStyle>
          <a:p>
            <a:r>
              <a:rPr lang="en-US" dirty="0"/>
              <a:t>Click to edit Master title style</a:t>
            </a:r>
          </a:p>
        </p:txBody>
      </p:sp>
      <p:sp>
        <p:nvSpPr>
          <p:cNvPr id="6" name="Rectangle 5"/>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1859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84D9B0BF-D1B9-4A0C-A2F3-DC59B7BFCFC9}" type="datetimeFigureOut">
              <a:rPr lang="en-US" smtClean="0"/>
              <a:t>10/12/2024</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64D91961-A438-4BF2-933C-85EEBDE527D3}" type="slidenum">
              <a:rPr lang="en-US" smtClean="0"/>
              <a:t>‹#›</a:t>
            </a:fld>
            <a:endParaRPr lang="en-US"/>
          </a:p>
        </p:txBody>
      </p:sp>
      <p:sp>
        <p:nvSpPr>
          <p:cNvPr id="5" name="Rectangle 4"/>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0967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84D9B0BF-D1B9-4A0C-A2F3-DC59B7BFCFC9}" type="datetimeFigureOut">
              <a:rPr lang="en-US" smtClean="0"/>
              <a:t>10/12/2024</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64D91961-A438-4BF2-933C-85EEBDE527D3}" type="slidenum">
              <a:rPr lang="en-US" smtClean="0"/>
              <a:t>‹#›</a:t>
            </a:fld>
            <a:endParaRPr lang="en-US"/>
          </a:p>
        </p:txBody>
      </p:sp>
      <p:sp>
        <p:nvSpPr>
          <p:cNvPr id="8" name="Rectangle 7"/>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856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84D9B0BF-D1B9-4A0C-A2F3-DC59B7BFCFC9}" type="datetimeFigureOut">
              <a:rPr lang="en-US" smtClean="0"/>
              <a:t>10/12/2024</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64D91961-A438-4BF2-933C-85EEBDE527D3}" type="slidenum">
              <a:rPr lang="en-US" smtClean="0"/>
              <a:t>‹#›</a:t>
            </a:fld>
            <a:endParaRPr lang="en-US"/>
          </a:p>
        </p:txBody>
      </p:sp>
      <p:sp>
        <p:nvSpPr>
          <p:cNvPr id="8" name="Rectangle 7"/>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7262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5400"/>
            </a:lvl1p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84D9B0BF-D1B9-4A0C-A2F3-DC59B7BFCFC9}" type="datetimeFigureOut">
              <a:rPr lang="en-US" smtClean="0"/>
              <a:t>10/12/2024</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64D91961-A438-4BF2-933C-85EEBDE527D3}" type="slidenum">
              <a:rPr lang="en-US" smtClean="0"/>
              <a:t>‹#›</a:t>
            </a:fld>
            <a:endParaRPr lang="en-US"/>
          </a:p>
        </p:txBody>
      </p:sp>
      <p:sp>
        <p:nvSpPr>
          <p:cNvPr id="7" name="Rectangle 6"/>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1019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84D9B0BF-D1B9-4A0C-A2F3-DC59B7BFCFC9}" type="datetimeFigureOut">
              <a:rPr lang="en-US" smtClean="0"/>
              <a:t>10/12/2024</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64D91961-A438-4BF2-933C-85EEBDE527D3}" type="slidenum">
              <a:rPr lang="en-US" smtClean="0"/>
              <a:t>‹#›</a:t>
            </a:fld>
            <a:endParaRPr lang="en-US"/>
          </a:p>
        </p:txBody>
      </p:sp>
      <p:sp>
        <p:nvSpPr>
          <p:cNvPr id="7" name="Rectangle 6"/>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922316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4">
            <a:lumMod val="20000"/>
            <a:lumOff val="80000"/>
            <a:alpha val="2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Section 1.1 – Part 1</a:t>
            </a:r>
          </a:p>
        </p:txBody>
      </p:sp>
      <p:sp>
        <p:nvSpPr>
          <p:cNvPr id="3" name="Text Placeholder 2"/>
          <p:cNvSpPr>
            <a:spLocks noGrp="1"/>
          </p:cNvSpPr>
          <p:nvPr>
            <p:ph type="body" idx="1"/>
          </p:nvPr>
        </p:nvSpPr>
        <p:spPr>
          <a:xfrm>
            <a:off x="838200" y="2637389"/>
            <a:ext cx="10515600" cy="1692016"/>
          </a:xfrm>
          <a:prstGeom prst="rect">
            <a:avLst/>
          </a:prstGeom>
        </p:spPr>
        <p:txBody>
          <a:bodyPr vert="horz" lIns="91440" tIns="45720" rIns="91440" bIns="45720" rtlCol="0">
            <a:normAutofit/>
          </a:bodyPr>
          <a:lstStyle/>
          <a:p>
            <a:pPr lvl="0"/>
            <a:r>
              <a:rPr lang="en-US" dirty="0"/>
              <a:t>Functions</a:t>
            </a:r>
          </a:p>
        </p:txBody>
      </p:sp>
      <p:sp>
        <p:nvSpPr>
          <p:cNvPr id="7" name="Rectangle 6"/>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4"/>
          <p:cNvSpPr txBox="1">
            <a:spLocks/>
          </p:cNvSpPr>
          <p:nvPr userDrawn="1"/>
        </p:nvSpPr>
        <p:spPr>
          <a:xfrm>
            <a:off x="175717" y="6365681"/>
            <a:ext cx="2781026" cy="365125"/>
          </a:xfrm>
          <a:prstGeom prst="rect">
            <a:avLst/>
          </a:prstGeom>
        </p:spPr>
        <p:txBody>
          <a:bodyPr/>
          <a:lstStyle>
            <a:defPPr>
              <a:defRPr lang="en-US"/>
            </a:defPPr>
            <a:lvl1pPr marL="0" algn="l" defTabSz="914400" rtl="0" eaLnBrk="1" latinLnBrk="0" hangingPunct="1">
              <a:defRPr sz="1600" i="1" kern="1200">
                <a:solidFill>
                  <a:srgbClr val="00B0F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Calculus, Hughes-Hallett, Wiley</a:t>
            </a:r>
          </a:p>
        </p:txBody>
      </p:sp>
    </p:spTree>
    <p:extLst>
      <p:ext uri="{BB962C8B-B14F-4D97-AF65-F5344CB8AC3E}">
        <p14:creationId xmlns:p14="http://schemas.microsoft.com/office/powerpoint/2010/main" val="13986030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6000" b="1" kern="1200" baseline="0">
          <a:solidFill>
            <a:srgbClr val="C00000"/>
          </a:solidFill>
          <a:latin typeface="+mj-lt"/>
          <a:ea typeface="+mj-ea"/>
          <a:cs typeface="+mj-cs"/>
        </a:defRPr>
      </a:lvl1pPr>
    </p:titleStyle>
    <p:bodyStyle>
      <a:lvl1pPr marL="0" indent="0" algn="ctr" defTabSz="914400" rtl="0" eaLnBrk="1" latinLnBrk="0" hangingPunct="1">
        <a:lnSpc>
          <a:spcPct val="90000"/>
        </a:lnSpc>
        <a:spcBef>
          <a:spcPts val="1000"/>
        </a:spcBef>
        <a:buFont typeface="Arial" panose="020B0604020202020204" pitchFamily="34" charset="0"/>
        <a:buNone/>
        <a:defRPr sz="8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70.png"/><Relationship Id="rId5" Type="http://schemas.openxmlformats.org/officeDocument/2006/relationships/image" Target="../media/image80.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jpe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jpe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8.jpeg"/><Relationship Id="rId6" Type="http://schemas.openxmlformats.org/officeDocument/2006/relationships/image" Target="../media/image20.png"/><Relationship Id="rId7"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jpeg"/><Relationship Id="rId3" Type="http://schemas.openxmlformats.org/officeDocument/2006/relationships/image" Target="../media/image20.jpe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image" Target="../media/image29.png"/><Relationship Id="rId11" Type="http://schemas.openxmlformats.org/officeDocument/2006/relationships/image" Target="../media/image30.png"/><Relationship Id="rId12" Type="http://schemas.openxmlformats.org/officeDocument/2006/relationships/image" Target="../media/image31.png"/><Relationship Id="rId13" Type="http://schemas.openxmlformats.org/officeDocument/2006/relationships/image" Target="../media/image3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jpe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70.png"/><Relationship Id="rId6"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0.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jpeg"/><Relationship Id="rId3" Type="http://schemas.openxmlformats.org/officeDocument/2006/relationships/image" Target="../media/image45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1.png"/><Relationship Id="rId4" Type="http://schemas.openxmlformats.org/officeDocument/2006/relationships/image" Target="../media/image5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00.png"/><Relationship Id="rId4" Type="http://schemas.openxmlformats.org/officeDocument/2006/relationships/image" Target="../media/image510.png"/><Relationship Id="rId5" Type="http://schemas.openxmlformats.org/officeDocument/2006/relationships/image" Target="../media/image5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69343" y="327809"/>
            <a:ext cx="10998680" cy="1380227"/>
          </a:xfrm>
        </p:spPr>
        <p:txBody>
          <a:bodyPr>
            <a:normAutofit fontScale="90000"/>
          </a:bodyPr>
          <a:lstStyle/>
          <a:p>
            <a:pPr/>
            <a:r>
              <a:rPr lang="en-US" sz="4800" dirty="0">
                <a:solidFill/>
              </a:rPr>
              <a:t>Chapter 1:  </a:t>
            </a:r>
            <a:br>
              <a:rPr lang="en-US" sz="4800" dirty="0"/>
            </a:br>
            <a:r>
              <a:rPr lang="en-US" sz="4800" dirty="0">
                <a:solidFill/>
              </a:rPr>
              <a:t>Foundation for Calculus: Functions and Limits</a:t>
            </a:r>
          </a:p>
        </p:txBody>
      </p:sp>
      <p:sp>
        <p:nvSpPr>
          <p:cNvPr id="3" name="Subtitle 2"/>
          <p:cNvSpPr>
            <a:spLocks noGrp="1"/>
          </p:cNvSpPr>
          <p:nvPr>
            <p:ph type="subTitle" idx="1"/>
          </p:nvPr>
        </p:nvSpPr>
        <p:spPr>
          <a:xfrm>
            <a:off x="1145054" y="2327067"/>
            <a:ext cx="9679459" cy="2599162"/>
          </a:xfrm>
          <a:ln w="38100">
            <a:solidFill>
              <a:srgbClr val="00B0F0"/>
            </a:solidFill>
          </a:ln>
        </p:spPr>
        <p:txBody>
          <a:bodyPr>
            <a:normAutofit fontScale="92500" lnSpcReduction="10000"/>
          </a:bodyPr>
          <a:lstStyle/>
          <a:p>
            <a:pPr/>
            <a:endParaRPr lang="en-US" sz="2100" dirty="0">
              <a:solidFill>
                <a:srgbClr val="C00000"/>
              </a:solidFill>
            </a:endParaRPr>
          </a:p>
          <a:p>
            <a:pPr/>
            <a:r>
              <a:rPr lang="en-US" sz="7200" dirty="0">
                <a:solidFill>
                  <a:srgbClr val="C00000"/>
                </a:solidFill>
              </a:rPr>
              <a:t>Section 1.5</a:t>
            </a:r>
          </a:p>
          <a:p>
            <a:pPr/>
            <a:endParaRPr lang="en-US" sz="1900" dirty="0">
              <a:solidFill>
                <a:srgbClr val="C00000"/>
              </a:solidFill>
            </a:endParaRPr>
          </a:p>
          <a:p>
            <a:pPr/>
            <a:r>
              <a:rPr lang="en-US" sz="7200" b="1" dirty="0">
                <a:solidFill/>
              </a:rPr>
              <a:t>Trigonometric Functions</a:t>
            </a:r>
          </a:p>
        </p:txBody>
      </p:sp>
    </p:spTree>
    <p:extLst>
      <p:ext uri="{BB962C8B-B14F-4D97-AF65-F5344CB8AC3E}">
        <p14:creationId xmlns:p14="http://schemas.microsoft.com/office/powerpoint/2010/main" val="1162125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0C8C1-75BE-1A06-1EA6-4B40A3709E19}"/>
              </a:ext>
            </a:extLst>
          </p:cNvPr>
          <p:cNvSpPr>
            <a:spLocks noGrp="1"/>
          </p:cNvSpPr>
          <p:nvPr>
            <p:ph type="title"/>
          </p:nvPr>
        </p:nvSpPr>
        <p:spPr>
          <a:xfrm>
            <a:off x="838200" y="268303"/>
            <a:ext cx="10515600" cy="1033644"/>
          </a:xfrm>
        </p:spPr>
        <p:txBody>
          <a:bodyPr/>
          <a:lstStyle/>
          <a:p>
            <a:pPr/>
            <a:r>
              <a:rPr lang="en-US" dirty="0">
                <a:solidFill/>
              </a:rPr>
              <a:t>Defining Sine and Cosine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1EECBEA-68D2-5708-C239-93C1995A9213}"/>
                  </a:ext>
                </a:extLst>
              </p:cNvPr>
              <p:cNvSpPr txBox="1"/>
              <p:nvPr/>
            </p:nvSpPr>
            <p:spPr>
              <a:xfrm>
                <a:off x="503744" y="1252674"/>
                <a:ext cx="7802512" cy="3724096"/>
              </a:xfrm>
              <a:prstGeom prst="rect">
                <a:avLst/>
              </a:prstGeom>
              <a:noFill/>
            </p:spPr>
            <p:txBody>
              <a:bodyPr wrap="square" rtlCol="0">
                <a:spAutoFit/>
              </a:bodyPr>
              <a:lstStyle/>
              <a:p>
                <a:r>
                  <a:rPr lang="en-US" sz="2000" dirty="0"/>
                  <a:t>The </a:t>
                </a:r>
                <a:r>
                  <a:rPr lang="en-US" sz="2000" i="1" u="sng" dirty="0"/>
                  <a:t>unit circle</a:t>
                </a:r>
                <a:r>
                  <a:rPr lang="en-US" sz="2000" dirty="0"/>
                  <a:t> is the circle of radius 1 centered at the origin.  Its equation  is </a:t>
                </a:r>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𝑦</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=1</m:t>
                    </m:r>
                  </m:oMath>
                </a14:m>
                <a:r>
                  <a:rPr lang="en-US" sz="2000" dirty="0"/>
                  <a:t>.</a:t>
                </a:r>
              </a:p>
              <a:p>
                <a:endParaRPr lang="en-US" sz="1600" dirty="0"/>
              </a:p>
              <a:p>
                <a:r>
                  <a:rPr lang="en-US" sz="2000" dirty="0"/>
                  <a:t>When using trigonometric functions, we often measure angles in radians. An angle of 1 </a:t>
                </a:r>
                <a:r>
                  <a:rPr lang="en-US" sz="2000" i="1" u="sng" dirty="0"/>
                  <a:t>radian</a:t>
                </a:r>
                <a:r>
                  <a:rPr lang="en-US" sz="2000" dirty="0"/>
                  <a:t> is the angle at the center of the unit circle that cuts off an arc of length 1.</a:t>
                </a:r>
              </a:p>
              <a:p>
                <a:endParaRPr lang="en-US" sz="1600" dirty="0"/>
              </a:p>
              <a:p>
                <a:r>
                  <a:rPr lang="en-US" sz="2000" dirty="0"/>
                  <a:t>We define the </a:t>
                </a:r>
                <a:r>
                  <a:rPr lang="en-US" sz="2000" i="1" u="sng" dirty="0"/>
                  <a:t>sine function</a:t>
                </a:r>
                <a:r>
                  <a:rPr lang="en-US" sz="2000" i="1" dirty="0"/>
                  <a:t> </a:t>
                </a:r>
                <a:r>
                  <a:rPr lang="en-US" sz="2000" dirty="0"/>
                  <a:t>and </a:t>
                </a:r>
                <a:r>
                  <a:rPr lang="en-US" sz="2000" i="1" u="sng" dirty="0"/>
                  <a:t>cosine function</a:t>
                </a:r>
                <a:r>
                  <a:rPr lang="en-US" sz="2000" i="1" dirty="0"/>
                  <a:t> </a:t>
                </a:r>
                <a:r>
                  <a:rPr lang="en-US" sz="2000" dirty="0"/>
                  <a:t>using a unit circle.  </a:t>
                </a:r>
              </a:p>
              <a:p>
                <a:r>
                  <a:rPr lang="en-US" sz="2000" dirty="0"/>
                  <a:t>If </a:t>
                </a:r>
                <a14:m>
                  <m:oMath xmlns:m="http://schemas.openxmlformats.org/officeDocument/2006/math">
                    <m:r>
                      <a:rPr lang="en-US" sz="2000" i="1" dirty="0" smtClean="0">
                        <a:latin typeface="Cambria Math" panose="02040503050406030204" pitchFamily="18" charset="0"/>
                      </a:rPr>
                      <m:t>𝑃</m:t>
                    </m:r>
                    <m:r>
                      <a:rPr lang="en-US" sz="2000" b="0" i="1" dirty="0" smtClean="0">
                        <a:latin typeface="Cambria Math" panose="02040503050406030204" pitchFamily="18" charset="0"/>
                      </a:rPr>
                      <m:t>=(</m:t>
                    </m:r>
                    <m:r>
                      <a:rPr lang="en-US" sz="2000" b="0" i="1" dirty="0" smtClean="0">
                        <a:latin typeface="Cambria Math" panose="02040503050406030204" pitchFamily="18" charset="0"/>
                      </a:rPr>
                      <m:t>𝑥</m:t>
                    </m:r>
                    <m:r>
                      <a:rPr lang="en-US" sz="2000" b="0" i="1" dirty="0" smtClean="0">
                        <a:latin typeface="Cambria Math" panose="02040503050406030204" pitchFamily="18" charset="0"/>
                      </a:rPr>
                      <m:t>, </m:t>
                    </m:r>
                    <m:r>
                      <a:rPr lang="en-US" sz="2000" b="0" i="1" dirty="0" smtClean="0">
                        <a:latin typeface="Cambria Math" panose="02040503050406030204" pitchFamily="18" charset="0"/>
                      </a:rPr>
                      <m:t>𝑦</m:t>
                    </m:r>
                    <m:r>
                      <a:rPr lang="en-US" sz="2000" b="0" i="1" dirty="0" smtClean="0">
                        <a:latin typeface="Cambria Math" panose="02040503050406030204" pitchFamily="18" charset="0"/>
                      </a:rPr>
                      <m:t>)</m:t>
                    </m:r>
                  </m:oMath>
                </a14:m>
                <a:r>
                  <a:rPr lang="en-US" sz="2000" dirty="0"/>
                  <a:t> is a point on the unit circle with an angle of </a:t>
                </a:r>
                <a14:m>
                  <m:oMath xmlns:m="http://schemas.openxmlformats.org/officeDocument/2006/math">
                    <m:r>
                      <a:rPr lang="en-US" sz="2000" i="1" dirty="0" smtClean="0">
                        <a:latin typeface="Cambria Math" panose="02040503050406030204" pitchFamily="18" charset="0"/>
                      </a:rPr>
                      <m:t>𝑡</m:t>
                    </m:r>
                  </m:oMath>
                </a14:m>
                <a:r>
                  <a:rPr lang="en-US" sz="2000" dirty="0"/>
                  <a:t> radians measured counterclockwise around the circle from the point  </a:t>
                </a:r>
                <a14:m>
                  <m:oMath xmlns:m="http://schemas.openxmlformats.org/officeDocument/2006/math">
                    <m:r>
                      <a:rPr lang="en-US" sz="2000" i="1" dirty="0" smtClean="0">
                        <a:latin typeface="Cambria Math" panose="02040503050406030204" pitchFamily="18" charset="0"/>
                      </a:rPr>
                      <m:t>(1, 0), </m:t>
                    </m:r>
                  </m:oMath>
                </a14:m>
                <a:endParaRPr lang="en-US" sz="2000" dirty="0"/>
              </a:p>
              <a:p>
                <a:r>
                  <a:rPr lang="en-US" sz="2000" dirty="0"/>
                  <a:t>then we define</a:t>
                </a:r>
              </a:p>
              <a:p>
                <a:pPr algn="ctr"/>
                <a14:m>
                  <m:oMath xmlns:m="http://schemas.openxmlformats.org/officeDocument/2006/math">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cos</m:t>
                        </m:r>
                      </m:fName>
                      <m:e>
                        <m:r>
                          <a:rPr lang="en-US" sz="2400" b="0" i="1" smtClean="0">
                            <a:latin typeface="Cambria Math" panose="02040503050406030204" pitchFamily="18" charset="0"/>
                          </a:rPr>
                          <m:t>𝑡</m:t>
                        </m:r>
                        <m:r>
                          <a:rPr lang="en-US" sz="2400" b="0" i="1" smtClean="0">
                            <a:latin typeface="Cambria Math" panose="02040503050406030204" pitchFamily="18" charset="0"/>
                          </a:rPr>
                          <m:t>=</m:t>
                        </m:r>
                        <m:r>
                          <a:rPr lang="en-US" sz="2400" b="0" i="1" smtClean="0">
                            <a:latin typeface="Cambria Math" panose="02040503050406030204" pitchFamily="18" charset="0"/>
                          </a:rPr>
                          <m:t>𝑥</m:t>
                        </m:r>
                      </m:e>
                    </m:func>
                  </m:oMath>
                </a14:m>
                <a:r>
                  <a:rPr lang="en-US" sz="2400" dirty="0"/>
                  <a:t>   and   </a:t>
                </a:r>
                <a14:m>
                  <m:oMath xmlns:m="http://schemas.openxmlformats.org/officeDocument/2006/math">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sin</m:t>
                        </m:r>
                      </m:fName>
                      <m:e>
                        <m:r>
                          <a:rPr lang="en-US" sz="2400" b="0" i="1" smtClean="0">
                            <a:latin typeface="Cambria Math" panose="02040503050406030204" pitchFamily="18" charset="0"/>
                          </a:rPr>
                          <m:t>𝑡</m:t>
                        </m:r>
                        <m:r>
                          <a:rPr lang="en-US" sz="2400" b="0" i="1" smtClean="0">
                            <a:latin typeface="Cambria Math" panose="02040503050406030204" pitchFamily="18" charset="0"/>
                          </a:rPr>
                          <m:t>=</m:t>
                        </m:r>
                        <m:r>
                          <a:rPr lang="en-US" sz="2400" b="0" i="1" smtClean="0">
                            <a:latin typeface="Cambria Math" panose="02040503050406030204" pitchFamily="18" charset="0"/>
                          </a:rPr>
                          <m:t>𝑦</m:t>
                        </m:r>
                      </m:e>
                    </m:func>
                  </m:oMath>
                </a14:m>
                <a:r>
                  <a:rPr lang="en-US" sz="2000" dirty="0"/>
                  <a:t>.</a:t>
                </a:r>
              </a:p>
            </p:txBody>
          </p:sp>
        </mc:Choice>
        <mc:Fallback xmlns="">
          <p:sp>
            <p:nvSpPr>
              <p:cNvPr id="3" name="TextBox 2">
                <a:extLst>
                  <a:ext uri="{FF2B5EF4-FFF2-40B4-BE49-F238E27FC236}">
                    <a16:creationId xmlns:a16="http://schemas.microsoft.com/office/drawing/2014/main" id="{F1EECBEA-68D2-5708-C239-93C1995A9213}"/>
                  </a:ext>
                </a:extLst>
              </p:cNvPr>
              <p:cNvSpPr txBox="1">
                <a:spLocks noRot="1" noChangeAspect="1" noMove="1" noResize="1" noEditPoints="1" noAdjustHandles="1" noChangeArrowheads="1" noChangeShapeType="1" noTextEdit="1"/>
              </p:cNvSpPr>
              <p:nvPr/>
            </p:nvSpPr>
            <p:spPr>
              <a:xfrm>
                <a:off x="503744" y="1252674"/>
                <a:ext cx="7802512" cy="3724096"/>
              </a:xfrm>
              <a:prstGeom prst="rect">
                <a:avLst/>
              </a:prstGeom>
              <a:blipFill>
                <a:blip r:embed="rId2"/>
                <a:stretch>
                  <a:fillRect l="-859" t="-818" r="-859" b="-2782"/>
                </a:stretch>
              </a:blipFill>
            </p:spPr>
            <p:txBody>
              <a:bodyPr/>
              <a:lstStyle/>
              <a:p>
                <a:r>
                  <a:rPr lang="en-US">
                    <a:noFill/>
                  </a:rPr>
                  <a:t> </a:t>
                </a:r>
              </a:p>
            </p:txBody>
          </p:sp>
        </mc:Fallback>
      </mc:AlternateContent>
      <p:sp>
        <p:nvSpPr>
          <p:cNvPr id="4" name="AutoShape 2" descr="  A graph plots a unit circle in a coordinate system. The center of the circle is at the origin and the circumference of the circle passes through (1, 0) and (0, 1). A line starts from the origin, rises through the first quadrant at an angle t above the horizontal axis, and intersects with the circle at point P. Point P is at a distance x from the vertical axis and at a height y from the horizontal axis. At this point, x equals cosine of t and y equals sine of t.">
            <a:extLst>
              <a:ext uri="{FF2B5EF4-FFF2-40B4-BE49-F238E27FC236}">
                <a16:creationId xmlns:a16="http://schemas.microsoft.com/office/drawing/2014/main" id="{90F2CA39-878F-1FCF-11D4-F99F54518B3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endParaRPr lang="en-US"/>
          </a:p>
        </p:txBody>
      </p:sp>
      <p:pic>
        <p:nvPicPr>
          <p:cNvPr id="9" name="Picture 8" descr="Graph of a unit circle, on a coordinate plane. The circle is centered at the origin and passes through the following points: (1, 0), (0, negative 1), (negative 1, 0), and (0, 1). An upward-sloping line, making an angle of t with the positive horizontal axis, starts from the origin, slopes up and to the right, intersects the circle at point P, and exits the top right. The vertical distance of the point P from the horizontal axis is labeled y. The horizontal distance corresponding to the point P, from the vertical axis is labeled x. The equations beside read, x equals cos t, y equals sin t. All values are estimated.">
            <a:extLst>
              <a:ext uri="{FF2B5EF4-FFF2-40B4-BE49-F238E27FC236}">
                <a16:creationId xmlns:a16="http://schemas.microsoft.com/office/drawing/2014/main" id="{3942D325-B086-3168-8E1C-1C72FEC132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0122" y="2773472"/>
            <a:ext cx="4013504" cy="3778108"/>
          </a:xfrm>
          <a:prstGeom prst="rect">
            <a:avLst/>
          </a:prstGeom>
        </p:spPr>
      </p:pic>
    </p:spTree>
    <p:extLst>
      <p:ext uri="{BB962C8B-B14F-4D97-AF65-F5344CB8AC3E}">
        <p14:creationId xmlns:p14="http://schemas.microsoft.com/office/powerpoint/2010/main" val="3672253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0657"/>
            <a:ext cx="10515600" cy="883373"/>
          </a:xfrm>
        </p:spPr>
        <p:txBody>
          <a:bodyPr/>
          <a:lstStyle/>
          <a:p>
            <a:pPr/>
            <a:r>
              <a:rPr lang="en-US" dirty="0">
                <a:solidFill/>
              </a:rPr>
              <a:t>Modeling Oscillating Behavior</a:t>
            </a:r>
          </a:p>
        </p:txBody>
      </p:sp>
      <p:sp>
        <p:nvSpPr>
          <p:cNvPr id="3" name="TextBox 2"/>
          <p:cNvSpPr txBox="1"/>
          <p:nvPr/>
        </p:nvSpPr>
        <p:spPr>
          <a:xfrm>
            <a:off x="486032" y="1029724"/>
            <a:ext cx="11285838" cy="1877437"/>
          </a:xfrm>
          <a:prstGeom prst="rect">
            <a:avLst/>
          </a:prstGeom>
          <a:noFill/>
        </p:spPr>
        <p:txBody>
          <a:bodyPr wrap="square" rtlCol="0">
            <a:spAutoFit/>
          </a:bodyPr>
          <a:lstStyle/>
          <a:p>
            <a:pPr algn="ctr"/>
            <a:r>
              <a:rPr lang="en-US" sz="2800" dirty="0">
                <a:solidFill/>
              </a:rPr>
              <a:t>There are many great things to say and learn and know about trig functions.</a:t>
            </a:r>
          </a:p>
          <a:p>
            <a:pPr algn="ctr"/>
            <a:endParaRPr lang="en-US" sz="1600" dirty="0"/>
          </a:p>
          <a:p>
            <a:pPr algn="ctr"/>
            <a:r>
              <a:rPr lang="en-US" sz="2800" dirty="0">
                <a:solidFill/>
              </a:rPr>
              <a:t>One important use of trig </a:t>
            </a:r>
            <a:r>
              <a:rPr lang="en-US" sz="2800">
                <a:solidFill/>
              </a:rPr>
              <a:t>functions is to </a:t>
            </a:r>
            <a:r>
              <a:rPr lang="en-US" sz="2800" dirty="0">
                <a:solidFill/>
              </a:rPr>
              <a:t>model oscillating behavior.</a:t>
            </a:r>
          </a:p>
          <a:p>
            <a:pPr algn="ctr"/>
            <a:endParaRPr lang="en-US" sz="1600" dirty="0"/>
          </a:p>
          <a:p>
            <a:pPr algn="ctr"/>
            <a:r>
              <a:rPr lang="en-US" sz="2800" dirty="0">
                <a:solidFill/>
              </a:rPr>
              <a:t>Lots of things show oscillating behavior!</a:t>
            </a:r>
          </a:p>
        </p:txBody>
      </p:sp>
      <p:pic>
        <p:nvPicPr>
          <p:cNvPr id="4" name="Picture 3" descr="A graph plots twelve points connected through lines, depicting the construction of housing, on a coordinate plane. The horizontal axis is labeled t in quarter years, and ranges from 0 to 12, in increments of 4. The vertical axis is labeled Number of houses, and ranges from 0 to 600, in increments of 100. The points are plotted at (1, 370), (2, 590), (3, 580), (4, 495), (5, 290), (6, 510), (6.5, 495), (7.5, 400), (9, 290), (10, 515), (11, 430), and (12, 380). These points are connected in the same sequence by small line segments. All values are estimated."/>
          <p:cNvPicPr>
            <a:picLocks noChangeAspect="1"/>
          </p:cNvPicPr>
          <p:nvPr/>
        </p:nvPicPr>
        <p:blipFill>
          <a:blip r:embed="rId2"/>
          <a:stretch>
            <a:fillRect/>
          </a:stretch>
        </p:blipFill>
        <p:spPr>
          <a:xfrm>
            <a:off x="160958" y="2910786"/>
            <a:ext cx="2857899" cy="1876687"/>
          </a:xfrm>
          <a:prstGeom prst="rect">
            <a:avLst/>
          </a:prstGeom>
        </p:spPr>
      </p:pic>
      <p:pic>
        <p:nvPicPr>
          <p:cNvPr id="5" name="Picture 4" descr="A graph plots several points connected through lines, depicting the traffic on the Golden Gate Bridge, on a coordinate plane. The horizontal axis is labeled months, and ranges from 0 to 60, in increments of 12. The vertical axis is labeled Number of cars in thousands, and ranges from 0 to 110, with an axis breaker between 0 and 90. The low points are plotted at (1, 90), (13, 88), (28, 90), (37, 88), (48.5, 92), and (60, 93). The high points are plotted at (7, 108), (19, 112), (30, 107), (42, 108), and (56, 109). The low points are connected to the respective high points, in the same sequence by small line segments, connecting several other points. All values are estimated."/>
          <p:cNvPicPr>
            <a:picLocks noChangeAspect="1"/>
          </p:cNvPicPr>
          <p:nvPr/>
        </p:nvPicPr>
        <p:blipFill>
          <a:blip r:embed="rId3"/>
          <a:stretch>
            <a:fillRect/>
          </a:stretch>
        </p:blipFill>
        <p:spPr>
          <a:xfrm>
            <a:off x="3052422" y="4224592"/>
            <a:ext cx="2857899" cy="2000529"/>
          </a:xfrm>
          <a:prstGeom prst="rect">
            <a:avLst/>
          </a:prstGeom>
        </p:spPr>
      </p:pic>
      <p:pic>
        <p:nvPicPr>
          <p:cNvPr id="6" name="Picture 5" descr="Graph of two curves, depicting the Hormones in ovulating females, on a coordinate plane. The horizontal axis is labeled Days, and ranges from 0 to 56, in increments of 14. The days from 0 to 5, are labeled Menses, and the 14th day is labeled ovulation. The first curve labeled Estrogen, starts from the point immediately above the origin, on the vertical axis, and decreases to the right, to a low point. The curve then increases concave up to a high point at a point corresponding to the 11th day and then decreases to the right. The curve then goes rightward, and then decreases to the right, to a low point corresponding to the 30th day. The curve then increases concave up to a high point corresponding to the 38th day, then decreases a little, and then goes rightward. The curve then decreases to the right and proceeds similarly as it goes rightward. The second curve is a dashed curve labeled Progesterone, which starts from the point on the vertical axis, a little above the first curve, decreases to the right, intersecting the first curve, to a low point corresponding to the 8th day. The curve then increases concave up to the right, intersects the first curve corresponding to the 17th day, and then increases to a high point corresponding to 22nd day. The curve then decreases to the right, levels around the 26th day, and then intersects the first curve corresponding to the 32nd day. The curve then decreases concave up to a low point on the 36th day. The curve then proceeds similarly as it goes rightward. All values are estimated."/>
          <p:cNvPicPr>
            <a:picLocks noChangeAspect="1"/>
          </p:cNvPicPr>
          <p:nvPr/>
        </p:nvPicPr>
        <p:blipFill>
          <a:blip r:embed="rId4"/>
          <a:stretch>
            <a:fillRect/>
          </a:stretch>
        </p:blipFill>
        <p:spPr>
          <a:xfrm>
            <a:off x="6028083" y="2859055"/>
            <a:ext cx="2953162" cy="1667108"/>
          </a:xfrm>
          <a:prstGeom prst="rect">
            <a:avLst/>
          </a:prstGeom>
        </p:spPr>
      </p:pic>
      <p:pic>
        <p:nvPicPr>
          <p:cNvPr id="7" name="Picture 6" descr="Graph of a linear curve, depicting the Quarterly beer production, on a coordinate plane. The horizontal axis is labeled quarter-year, and has markings 1, 2, 3, 4, 1, 2, 3, 4, 1, 2, 3, 4, 1, and 2, in order from left to right. The vertical axis is labeled millions of barrels, and has markings 45, 50, and 55, in order from bottom to top. The linear curve starts from the point (1, 51), increases linearly to (2, 54), and then decreases to the right to (4, 46). The curve then increases to the right to (1, 47), and then increases to (2, 55), and then the curve decreases to the right to (3, 53). The curve then linearly decreases to the point (4, 45), and then increases to the right to the point (2, 55). The curve then decreases to the right to the point (4, 45), through (3, 51). The linear curve then increases to the point (2, 55), through (1, 49). All values are estimated."/>
          <p:cNvPicPr>
            <a:picLocks noChangeAspect="1"/>
          </p:cNvPicPr>
          <p:nvPr/>
        </p:nvPicPr>
        <p:blipFill>
          <a:blip r:embed="rId5"/>
          <a:stretch>
            <a:fillRect/>
          </a:stretch>
        </p:blipFill>
        <p:spPr>
          <a:xfrm>
            <a:off x="8336825" y="4572143"/>
            <a:ext cx="3591426" cy="1733792"/>
          </a:xfrm>
          <a:prstGeom prst="rect">
            <a:avLst/>
          </a:prstGeom>
        </p:spPr>
      </p:pic>
      <p:sp>
        <p:nvSpPr>
          <p:cNvPr id="8" name="TextBox 7"/>
          <p:cNvSpPr txBox="1"/>
          <p:nvPr/>
        </p:nvSpPr>
        <p:spPr>
          <a:xfrm>
            <a:off x="271849" y="4802657"/>
            <a:ext cx="2397210" cy="307777"/>
          </a:xfrm>
          <a:prstGeom prst="rect">
            <a:avLst/>
          </a:prstGeom>
          <a:noFill/>
        </p:spPr>
        <p:txBody>
          <a:bodyPr wrap="square" rtlCol="0">
            <a:spAutoFit/>
          </a:bodyPr>
          <a:lstStyle/>
          <a:p>
            <a:pPr/>
            <a:r>
              <a:rPr lang="en-US" sz="1400" dirty="0">
                <a:solidFill/>
              </a:rPr>
              <a:t>Housing Construction Starts</a:t>
            </a:r>
          </a:p>
        </p:txBody>
      </p:sp>
      <p:sp>
        <p:nvSpPr>
          <p:cNvPr id="9" name="TextBox 8"/>
          <p:cNvSpPr txBox="1"/>
          <p:nvPr/>
        </p:nvSpPr>
        <p:spPr>
          <a:xfrm>
            <a:off x="3142727" y="6248403"/>
            <a:ext cx="2679406" cy="307777"/>
          </a:xfrm>
          <a:prstGeom prst="rect">
            <a:avLst/>
          </a:prstGeom>
          <a:noFill/>
        </p:spPr>
        <p:txBody>
          <a:bodyPr wrap="square" rtlCol="0">
            <a:spAutoFit/>
          </a:bodyPr>
          <a:lstStyle/>
          <a:p>
            <a:pPr/>
            <a:r>
              <a:rPr lang="en-US" sz="1400" dirty="0">
                <a:solidFill/>
              </a:rPr>
              <a:t>Traffic on the Golden Gate Bridge</a:t>
            </a:r>
          </a:p>
        </p:txBody>
      </p:sp>
      <p:sp>
        <p:nvSpPr>
          <p:cNvPr id="10" name="TextBox 9"/>
          <p:cNvSpPr txBox="1"/>
          <p:nvPr/>
        </p:nvSpPr>
        <p:spPr>
          <a:xfrm>
            <a:off x="5890047" y="4464911"/>
            <a:ext cx="2679406" cy="307777"/>
          </a:xfrm>
          <a:prstGeom prst="rect">
            <a:avLst/>
          </a:prstGeom>
          <a:noFill/>
        </p:spPr>
        <p:txBody>
          <a:bodyPr wrap="square" rtlCol="0">
            <a:spAutoFit/>
          </a:bodyPr>
          <a:lstStyle/>
          <a:p>
            <a:pPr/>
            <a:r>
              <a:rPr lang="en-US" sz="1400" dirty="0">
                <a:solidFill/>
              </a:rPr>
              <a:t>Hormones in ovulating females</a:t>
            </a:r>
          </a:p>
        </p:txBody>
      </p:sp>
      <p:sp>
        <p:nvSpPr>
          <p:cNvPr id="11" name="TextBox 10"/>
          <p:cNvSpPr txBox="1"/>
          <p:nvPr/>
        </p:nvSpPr>
        <p:spPr>
          <a:xfrm>
            <a:off x="8892735" y="6273124"/>
            <a:ext cx="2679406" cy="307777"/>
          </a:xfrm>
          <a:prstGeom prst="rect">
            <a:avLst/>
          </a:prstGeom>
          <a:noFill/>
        </p:spPr>
        <p:txBody>
          <a:bodyPr wrap="square" rtlCol="0">
            <a:spAutoFit/>
          </a:bodyPr>
          <a:lstStyle/>
          <a:p>
            <a:pPr/>
            <a:r>
              <a:rPr lang="en-US" sz="1400" dirty="0">
                <a:solidFill/>
              </a:rPr>
              <a:t>Quarterly beer production</a:t>
            </a:r>
          </a:p>
        </p:txBody>
      </p:sp>
    </p:spTree>
    <p:extLst>
      <p:ext uri="{BB962C8B-B14F-4D97-AF65-F5344CB8AC3E}">
        <p14:creationId xmlns:p14="http://schemas.microsoft.com/office/powerpoint/2010/main" val="3362844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9" grpId="0"/>
      <p:bldP spid="10" grpId="0"/>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38200" y="280082"/>
                <a:ext cx="10515600" cy="973996"/>
              </a:xfrm>
            </p:spPr>
            <p:txBody>
              <a:bodyPr>
                <a:normAutofit/>
              </a:bodyPr>
              <a:lstStyle/>
              <a:p>
                <a:r>
                  <a:rPr lang="en-US" dirty="0"/>
                  <a:t>Graphs of </a:t>
                </a:r>
                <a14:m>
                  <m:oMath xmlns:m="http://schemas.openxmlformats.org/officeDocument/2006/math">
                    <m:r>
                      <a:rPr lang="en-US" b="1" i="1" smtClean="0">
                        <a:latin typeface="Cambria Math" panose="02040503050406030204" pitchFamily="18" charset="0"/>
                      </a:rPr>
                      <m:t>𝒚</m:t>
                    </m:r>
                    <m:r>
                      <a:rPr lang="en-US" b="1" i="1" smtClean="0">
                        <a:latin typeface="Cambria Math" panose="02040503050406030204" pitchFamily="18" charset="0"/>
                      </a:rPr>
                      <m:t>=</m:t>
                    </m:r>
                    <m:func>
                      <m:funcPr>
                        <m:ctrlPr>
                          <a:rPr lang="en-US" b="1" i="1" smtClean="0">
                            <a:latin typeface="Cambria Math" panose="02040503050406030204" pitchFamily="18" charset="0"/>
                          </a:rPr>
                        </m:ctrlPr>
                      </m:funcPr>
                      <m:fName>
                        <m:r>
                          <a:rPr lang="en-US" b="1" i="0" smtClean="0">
                            <a:latin typeface="Cambria Math" panose="02040503050406030204" pitchFamily="18" charset="0"/>
                          </a:rPr>
                          <m:t>𝐬𝐢𝐧</m:t>
                        </m:r>
                      </m:fName>
                      <m:e>
                        <m:r>
                          <a:rPr lang="en-US" b="1" i="1" smtClean="0">
                            <a:latin typeface="Cambria Math" panose="02040503050406030204" pitchFamily="18" charset="0"/>
                          </a:rPr>
                          <m:t>𝒙</m:t>
                        </m:r>
                      </m:e>
                    </m:func>
                  </m:oMath>
                </a14:m>
                <a:r>
                  <a:rPr lang="en-US" dirty="0"/>
                  <a:t> and </a:t>
                </a:r>
                <a14:m>
                  <m:oMath xmlns:m="http://schemas.openxmlformats.org/officeDocument/2006/math">
                    <m:r>
                      <a:rPr lang="en-US" b="1" i="1" smtClean="0">
                        <a:latin typeface="Cambria Math" panose="02040503050406030204" pitchFamily="18" charset="0"/>
                      </a:rPr>
                      <m:t>𝒚</m:t>
                    </m:r>
                    <m:r>
                      <a:rPr lang="en-US" b="1" i="1" smtClean="0">
                        <a:latin typeface="Cambria Math" panose="02040503050406030204" pitchFamily="18" charset="0"/>
                      </a:rPr>
                      <m:t>=</m:t>
                    </m:r>
                    <m:func>
                      <m:funcPr>
                        <m:ctrlPr>
                          <a:rPr lang="en-US" b="1" i="1" smtClean="0">
                            <a:latin typeface="Cambria Math" panose="02040503050406030204" pitchFamily="18" charset="0"/>
                          </a:rPr>
                        </m:ctrlPr>
                      </m:funcPr>
                      <m:fName>
                        <m:r>
                          <a:rPr lang="en-US" b="1" i="0" smtClean="0">
                            <a:latin typeface="Cambria Math" panose="02040503050406030204" pitchFamily="18" charset="0"/>
                          </a:rPr>
                          <m:t>𝐜𝐨𝐬</m:t>
                        </m:r>
                      </m:fName>
                      <m:e>
                        <m:r>
                          <a:rPr lang="en-US" b="1" i="1" smtClean="0">
                            <a:latin typeface="Cambria Math" panose="02040503050406030204" pitchFamily="18" charset="0"/>
                          </a:rPr>
                          <m:t>𝒙</m:t>
                        </m:r>
                      </m:e>
                    </m:func>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38200" y="280082"/>
                <a:ext cx="10515600" cy="973996"/>
              </a:xfrm>
              <a:blipFill>
                <a:blip r:embed="rId2"/>
                <a:stretch>
                  <a:fillRect l="-406" t="-18125" b="-31250"/>
                </a:stretch>
              </a:blipFill>
            </p:spPr>
            <p:txBody>
              <a:bodyPr/>
              <a:lstStyle/>
              <a:p>
                <a:r>
                  <a:rPr lang="en-US">
                    <a:noFill/>
                  </a:rPr>
                  <a:t> </a:t>
                </a:r>
              </a:p>
            </p:txBody>
          </p:sp>
        </mc:Fallback>
      </mc:AlternateContent>
      <p:pic>
        <p:nvPicPr>
          <p:cNvPr id="3" name="Picture 2" descr="Graph of a function of a sine curve, on a coordinate plane, with equally spaced grid lines. The horizontal axis ranges from negative 10 to 10, in increments of 2. The vertical axis ranges from negative 2 to 2. The curve labeled y equals sine x, enters the left of the graph, decreases to the right, and crosses the negative x-axis at (negative 8.75, 0). The curve then reaches a low point at (negative 8, negative 1), and then increases to the right, and again crosses the negative x-axis at (negative 6.25, 0). The curve then increases to the right, to reach a high point at (negative 4.35, 1), and then decreases to the right, and crosses the negative x-axis. The curve then proceeds in the same manner as it goes rightward. All values are estimated."/>
          <p:cNvPicPr>
            <a:picLocks noChangeAspect="1"/>
          </p:cNvPicPr>
          <p:nvPr/>
        </p:nvPicPr>
        <p:blipFill>
          <a:blip r:embed="rId3"/>
          <a:stretch>
            <a:fillRect/>
          </a:stretch>
        </p:blipFill>
        <p:spPr>
          <a:xfrm>
            <a:off x="3435178" y="1387185"/>
            <a:ext cx="7784761" cy="1703436"/>
          </a:xfrm>
          <a:prstGeom prst="rect">
            <a:avLst/>
          </a:prstGeom>
        </p:spPr>
      </p:pic>
      <mc:AlternateContent xmlns:mc="http://schemas.openxmlformats.org/markup-compatibility/2006" xmlns:a14="http://schemas.microsoft.com/office/drawing/2010/main">
        <mc:Choice Requires="a14">
          <p:sp>
            <p:nvSpPr>
              <p:cNvPr id="4" name="TextBox 3"/>
              <p:cNvSpPr txBox="1"/>
              <p:nvPr/>
            </p:nvSpPr>
            <p:spPr>
              <a:xfrm>
                <a:off x="864973" y="1812322"/>
                <a:ext cx="219950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sin</m:t>
                          </m:r>
                        </m:fName>
                        <m:e>
                          <m:r>
                            <a:rPr lang="en-US" sz="2800" b="0" i="1" smtClean="0">
                              <a:latin typeface="Cambria Math" panose="02040503050406030204" pitchFamily="18" charset="0"/>
                            </a:rPr>
                            <m:t>𝑥</m:t>
                          </m:r>
                        </m:e>
                      </m:func>
                    </m:oMath>
                  </m:oMathPara>
                </a14:m>
                <a:endParaRPr lang="en-US" sz="2800" dirty="0"/>
              </a:p>
            </p:txBody>
          </p:sp>
        </mc:Choice>
        <mc:Fallback xmlns="">
          <p:sp>
            <p:nvSpPr>
              <p:cNvPr id="4" name="TextBox 3"/>
              <p:cNvSpPr txBox="1">
                <a:spLocks noRot="1" noChangeAspect="1" noMove="1" noResize="1" noEditPoints="1" noAdjustHandles="1" noChangeArrowheads="1" noChangeShapeType="1" noTextEdit="1"/>
              </p:cNvSpPr>
              <p:nvPr/>
            </p:nvSpPr>
            <p:spPr>
              <a:xfrm>
                <a:off x="864973" y="1812322"/>
                <a:ext cx="2199503"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794949" y="3826477"/>
                <a:ext cx="219950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cos</m:t>
                          </m:r>
                        </m:fName>
                        <m:e>
                          <m:r>
                            <a:rPr lang="en-US" sz="2800" b="0" i="1" smtClean="0">
                              <a:latin typeface="Cambria Math" panose="02040503050406030204" pitchFamily="18" charset="0"/>
                            </a:rPr>
                            <m:t>𝑥</m:t>
                          </m:r>
                          <m:r>
                            <a:rPr lang="en-US" sz="2800" b="0" i="1" smtClean="0">
                              <a:latin typeface="Cambria Math" panose="02040503050406030204" pitchFamily="18" charset="0"/>
                            </a:rPr>
                            <m:t> </m:t>
                          </m:r>
                        </m:e>
                      </m:func>
                    </m:oMath>
                  </m:oMathPara>
                </a14:m>
                <a:endParaRPr lang="en-US" sz="2800" dirty="0"/>
              </a:p>
            </p:txBody>
          </p:sp>
        </mc:Choice>
        <mc:Fallback xmlns="">
          <p:sp>
            <p:nvSpPr>
              <p:cNvPr id="5" name="TextBox 4"/>
              <p:cNvSpPr txBox="1">
                <a:spLocks noRot="1" noChangeAspect="1" noMove="1" noResize="1" noEditPoints="1" noAdjustHandles="1" noChangeArrowheads="1" noChangeShapeType="1" noTextEdit="1"/>
              </p:cNvSpPr>
              <p:nvPr/>
            </p:nvSpPr>
            <p:spPr>
              <a:xfrm>
                <a:off x="794949" y="3826477"/>
                <a:ext cx="2199503" cy="523220"/>
              </a:xfrm>
              <a:prstGeom prst="rect">
                <a:avLst/>
              </a:prstGeom>
              <a:blipFill rotWithShape="0">
                <a:blip r:embed="rId5"/>
                <a:stretch>
                  <a:fillRect/>
                </a:stretch>
              </a:blipFill>
            </p:spPr>
            <p:txBody>
              <a:bodyPr/>
              <a:lstStyle/>
              <a:p>
                <a:r>
                  <a:rPr lang="en-US">
                    <a:noFill/>
                  </a:rPr>
                  <a:t> </a:t>
                </a:r>
              </a:p>
            </p:txBody>
          </p:sp>
        </mc:Fallback>
      </mc:AlternateContent>
      <p:pic>
        <p:nvPicPr>
          <p:cNvPr id="6" name="Picture 5" descr="Graph of a function of a cosine curve, on a coordinate plane, with equally spaced grid lines. The horizontal axis ranges from negative 10 to 10, in increments of 2. The vertical axis ranges from negative 2 to 2. The curve labeled y equals cosine x, enters the left of the graph, decreases to the right, to a low point at (negative 9.4, negative 1), then increases to the right, and crosses the negative x-axis at (negative 7.9, 0). The curve then reaches a high point at (negative 6.2, 1), and then decreases to the right, and again crosses the negative x-axis at (negative 4.75, 0). The curve then decreases to the right, to reach a low point at (negative 3.15, negative 1), and then increases to the right. The curve then proceeds in the same manner as it goes rightward. All values are estimated."/>
          <p:cNvPicPr>
            <a:picLocks noChangeAspect="1"/>
          </p:cNvPicPr>
          <p:nvPr/>
        </p:nvPicPr>
        <p:blipFill>
          <a:blip r:embed="rId6"/>
          <a:stretch>
            <a:fillRect/>
          </a:stretch>
        </p:blipFill>
        <p:spPr>
          <a:xfrm>
            <a:off x="3385749" y="3269501"/>
            <a:ext cx="7883611" cy="1611660"/>
          </a:xfrm>
          <a:prstGeom prst="rect">
            <a:avLst/>
          </a:prstGeom>
        </p:spPr>
      </p:pic>
      <mc:AlternateContent xmlns:mc="http://schemas.openxmlformats.org/markup-compatibility/2006" xmlns:a14="http://schemas.microsoft.com/office/drawing/2010/main">
        <mc:Choice Requires="a14">
          <p:sp>
            <p:nvSpPr>
              <p:cNvPr id="7" name="TextBox 6"/>
              <p:cNvSpPr txBox="1"/>
              <p:nvPr/>
            </p:nvSpPr>
            <p:spPr>
              <a:xfrm>
                <a:off x="568410" y="5000368"/>
                <a:ext cx="3562883" cy="1200329"/>
              </a:xfrm>
              <a:prstGeom prst="rect">
                <a:avLst/>
              </a:prstGeom>
              <a:noFill/>
              <a:ln>
                <a:solidFill>
                  <a:schemeClr val="accent1"/>
                </a:solidFill>
              </a:ln>
            </p:spPr>
            <p:txBody>
              <a:bodyPr wrap="square" rtlCol="0">
                <a:spAutoFit/>
              </a:bodyPr>
              <a:lstStyle/>
              <a:p>
                <a14:m>
                  <m:oMath xmlns:m="http://schemas.openxmlformats.org/officeDocument/2006/math">
                    <m:func>
                      <m:funcPr>
                        <m:ctrlPr>
                          <a:rPr lang="en-US" b="1" i="1" dirty="0" smtClean="0">
                            <a:latin typeface="Cambria Math" panose="02040503050406030204" pitchFamily="18" charset="0"/>
                          </a:rPr>
                        </m:ctrlPr>
                      </m:funcPr>
                      <m:fName>
                        <m:r>
                          <a:rPr lang="en-US" b="1" i="0" dirty="0" smtClean="0">
                            <a:latin typeface="Cambria Math" panose="02040503050406030204" pitchFamily="18" charset="0"/>
                          </a:rPr>
                          <m:t>𝐬𝐢𝐧</m:t>
                        </m:r>
                      </m:fName>
                      <m:e>
                        <m:r>
                          <a:rPr lang="en-US" b="1" i="1" dirty="0" smtClean="0">
                            <a:latin typeface="Cambria Math" panose="02040503050406030204" pitchFamily="18" charset="0"/>
                          </a:rPr>
                          <m:t>𝟎</m:t>
                        </m:r>
                      </m:e>
                    </m:func>
                    <m:r>
                      <a:rPr lang="en-US" b="1" i="1" dirty="0" smtClean="0">
                        <a:latin typeface="Cambria Math" panose="02040503050406030204" pitchFamily="18" charset="0"/>
                      </a:rPr>
                      <m:t>=</m:t>
                    </m:r>
                    <m:r>
                      <a:rPr lang="en-US" b="1" i="1" dirty="0" smtClean="0">
                        <a:latin typeface="Cambria Math" panose="02040503050406030204" pitchFamily="18" charset="0"/>
                      </a:rPr>
                      <m:t>𝟎</m:t>
                    </m:r>
                    <m:r>
                      <a:rPr lang="en-US" b="1" i="1" dirty="0" smtClean="0">
                        <a:latin typeface="Cambria Math" panose="02040503050406030204" pitchFamily="18" charset="0"/>
                      </a:rPr>
                      <m:t> </m:t>
                    </m:r>
                  </m:oMath>
                </a14:m>
                <a:r>
                  <a:rPr lang="en-US" dirty="0"/>
                  <a:t>(and it crosses the y-axis in the middle of its wave.)</a:t>
                </a:r>
              </a:p>
              <a:p>
                <a14:m>
                  <m:oMath xmlns:m="http://schemas.openxmlformats.org/officeDocument/2006/math">
                    <m:func>
                      <m:funcPr>
                        <m:ctrlPr>
                          <a:rPr lang="en-US" b="1" i="1" smtClean="0">
                            <a:latin typeface="Cambria Math" panose="02040503050406030204" pitchFamily="18" charset="0"/>
                          </a:rPr>
                        </m:ctrlPr>
                      </m:funcPr>
                      <m:fName>
                        <m:r>
                          <a:rPr lang="en-US" b="1" i="0" smtClean="0">
                            <a:latin typeface="Cambria Math" panose="02040503050406030204" pitchFamily="18" charset="0"/>
                          </a:rPr>
                          <m:t>𝐜𝐨𝐬</m:t>
                        </m:r>
                      </m:fName>
                      <m:e>
                        <m:r>
                          <a:rPr lang="en-US" b="1" i="1" smtClean="0">
                            <a:latin typeface="Cambria Math" panose="02040503050406030204" pitchFamily="18" charset="0"/>
                          </a:rPr>
                          <m:t>𝟎</m:t>
                        </m:r>
                      </m:e>
                    </m:func>
                    <m:r>
                      <a:rPr lang="en-US" b="1" i="1" smtClean="0">
                        <a:latin typeface="Cambria Math" panose="02040503050406030204" pitchFamily="18" charset="0"/>
                      </a:rPr>
                      <m:t>=</m:t>
                    </m:r>
                    <m:r>
                      <a:rPr lang="en-US" b="1" i="1" smtClean="0">
                        <a:latin typeface="Cambria Math" panose="02040503050406030204" pitchFamily="18" charset="0"/>
                      </a:rPr>
                      <m:t>𝟏</m:t>
                    </m:r>
                  </m:oMath>
                </a14:m>
                <a:r>
                  <a:rPr lang="en-US" b="1" dirty="0"/>
                  <a:t> </a:t>
                </a:r>
                <a:r>
                  <a:rPr lang="en-US" dirty="0"/>
                  <a:t>(and it crosses the y-axis at the top of its wave.)</a:t>
                </a:r>
              </a:p>
            </p:txBody>
          </p:sp>
        </mc:Choice>
        <mc:Fallback xmlns="">
          <p:sp>
            <p:nvSpPr>
              <p:cNvPr id="7" name="TextBox 6"/>
              <p:cNvSpPr txBox="1">
                <a:spLocks noRot="1" noChangeAspect="1" noMove="1" noResize="1" noEditPoints="1" noAdjustHandles="1" noChangeArrowheads="1" noChangeShapeType="1" noTextEdit="1"/>
              </p:cNvSpPr>
              <p:nvPr/>
            </p:nvSpPr>
            <p:spPr>
              <a:xfrm>
                <a:off x="568410" y="5000368"/>
                <a:ext cx="3562883" cy="1200329"/>
              </a:xfrm>
              <a:prstGeom prst="rect">
                <a:avLst/>
              </a:prstGeom>
              <a:blipFill>
                <a:blip r:embed="rId7"/>
                <a:stretch>
                  <a:fillRect l="-1193" t="-2010" b="-6533"/>
                </a:stretch>
              </a:blipFill>
              <a:ln>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996249" y="5037436"/>
                <a:ext cx="1857635" cy="646331"/>
              </a:xfrm>
              <a:prstGeom prst="rect">
                <a:avLst/>
              </a:prstGeom>
              <a:noFill/>
              <a:ln>
                <a:solidFill>
                  <a:schemeClr val="accent1"/>
                </a:solidFill>
              </a:ln>
            </p:spPr>
            <p:txBody>
              <a:bodyPr wrap="square" rtlCol="0">
                <a:spAutoFit/>
              </a:bodyPr>
              <a:lstStyle/>
              <a:p>
                <a14:m>
                  <m:oMath xmlns:m="http://schemas.openxmlformats.org/officeDocument/2006/math">
                    <m:r>
                      <a:rPr lang="en-US" b="1" i="1" smtClean="0">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ea typeface="Cambria Math" panose="02040503050406030204" pitchFamily="18" charset="0"/>
                      </a:rPr>
                      <m:t>≤</m:t>
                    </m:r>
                    <m:func>
                      <m:funcPr>
                        <m:ctrlPr>
                          <a:rPr lang="en-US" b="1" i="1" smtClean="0">
                            <a:latin typeface="Cambria Math" panose="02040503050406030204" pitchFamily="18" charset="0"/>
                            <a:ea typeface="Cambria Math" panose="02040503050406030204" pitchFamily="18" charset="0"/>
                          </a:rPr>
                        </m:ctrlPr>
                      </m:funcPr>
                      <m:fName>
                        <m:r>
                          <a:rPr lang="en-US" b="1" i="0" smtClean="0">
                            <a:latin typeface="Cambria Math" panose="02040503050406030204" pitchFamily="18" charset="0"/>
                            <a:ea typeface="Cambria Math" panose="02040503050406030204" pitchFamily="18" charset="0"/>
                          </a:rPr>
                          <m:t>𝐬𝐢𝐧</m:t>
                        </m:r>
                      </m:fName>
                      <m:e>
                        <m:r>
                          <a:rPr lang="en-US" b="1" i="1" smtClean="0">
                            <a:latin typeface="Cambria Math" panose="02040503050406030204" pitchFamily="18" charset="0"/>
                            <a:ea typeface="Cambria Math" panose="02040503050406030204" pitchFamily="18" charset="0"/>
                          </a:rPr>
                          <m:t>𝒙</m:t>
                        </m:r>
                      </m:e>
                    </m:func>
                    <m:r>
                      <a:rPr lang="en-US" b="1" i="1" smtClean="0">
                        <a:latin typeface="Cambria Math" panose="02040503050406030204" pitchFamily="18" charset="0"/>
                        <a:ea typeface="Cambria Math" panose="02040503050406030204" pitchFamily="18" charset="0"/>
                      </a:rPr>
                      <m:t> ≤</m:t>
                    </m:r>
                    <m:r>
                      <a:rPr lang="en-US" b="1" i="1" smtClean="0">
                        <a:latin typeface="Cambria Math" panose="02040503050406030204" pitchFamily="18" charset="0"/>
                        <a:ea typeface="Cambria Math" panose="02040503050406030204" pitchFamily="18" charset="0"/>
                      </a:rPr>
                      <m:t>𝟏</m:t>
                    </m:r>
                  </m:oMath>
                </a14:m>
                <a:r>
                  <a:rPr lang="en-US" b="1" dirty="0"/>
                  <a:t> </a:t>
                </a:r>
              </a:p>
              <a:p>
                <a14:m>
                  <m:oMath xmlns:m="http://schemas.openxmlformats.org/officeDocument/2006/math">
                    <m:r>
                      <a:rPr lang="en-US" b="1" i="1" smtClean="0">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ea typeface="Cambria Math" panose="02040503050406030204" pitchFamily="18" charset="0"/>
                      </a:rPr>
                      <m:t>≤</m:t>
                    </m:r>
                    <m:func>
                      <m:funcPr>
                        <m:ctrlPr>
                          <a:rPr lang="en-US" b="1" i="1" smtClean="0">
                            <a:latin typeface="Cambria Math" panose="02040503050406030204" pitchFamily="18" charset="0"/>
                            <a:ea typeface="Cambria Math" panose="02040503050406030204" pitchFamily="18" charset="0"/>
                          </a:rPr>
                        </m:ctrlPr>
                      </m:funcPr>
                      <m:fName>
                        <m:r>
                          <a:rPr lang="en-US" b="1" i="0" smtClean="0">
                            <a:latin typeface="Cambria Math" panose="02040503050406030204" pitchFamily="18" charset="0"/>
                            <a:ea typeface="Cambria Math" panose="02040503050406030204" pitchFamily="18" charset="0"/>
                          </a:rPr>
                          <m:t>𝐜𝐨𝐬</m:t>
                        </m:r>
                      </m:fName>
                      <m:e>
                        <m:r>
                          <a:rPr lang="en-US" b="1" i="1" smtClean="0">
                            <a:latin typeface="Cambria Math" panose="02040503050406030204" pitchFamily="18" charset="0"/>
                            <a:ea typeface="Cambria Math" panose="02040503050406030204" pitchFamily="18" charset="0"/>
                          </a:rPr>
                          <m:t>𝒙</m:t>
                        </m:r>
                      </m:e>
                    </m:func>
                    <m:r>
                      <a:rPr lang="en-US" b="1" i="1" smtClean="0">
                        <a:latin typeface="Cambria Math" panose="02040503050406030204" pitchFamily="18" charset="0"/>
                        <a:ea typeface="Cambria Math" panose="02040503050406030204" pitchFamily="18" charset="0"/>
                      </a:rPr>
                      <m:t> ≤</m:t>
                    </m:r>
                    <m:r>
                      <a:rPr lang="en-US" b="1" i="1" smtClean="0">
                        <a:latin typeface="Cambria Math" panose="02040503050406030204" pitchFamily="18" charset="0"/>
                        <a:ea typeface="Cambria Math" panose="02040503050406030204" pitchFamily="18" charset="0"/>
                      </a:rPr>
                      <m:t>𝟏</m:t>
                    </m:r>
                  </m:oMath>
                </a14:m>
                <a:r>
                  <a:rPr lang="en-US" b="1" dirty="0"/>
                  <a:t> </a:t>
                </a:r>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4996249" y="5037436"/>
                <a:ext cx="1857635" cy="646331"/>
              </a:xfrm>
              <a:prstGeom prst="rect">
                <a:avLst/>
              </a:prstGeom>
              <a:blipFill>
                <a:blip r:embed="rId8"/>
                <a:stretch>
                  <a:fillRect/>
                </a:stretch>
              </a:blipFill>
              <a:ln>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4613199" y="5782962"/>
                <a:ext cx="2504885" cy="375552"/>
              </a:xfrm>
              <a:prstGeom prst="rect">
                <a:avLst/>
              </a:prstGeom>
              <a:noFill/>
              <a:ln>
                <a:solidFill>
                  <a:schemeClr val="accent1"/>
                </a:solidFill>
              </a:ln>
            </p:spPr>
            <p:txBody>
              <a:bodyPr wrap="square" rtlCol="0">
                <a:spAutoFit/>
              </a:bodyPr>
              <a:lstStyle/>
              <a:p>
                <a14:m>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m:t>
                        </m:r>
                        <m:func>
                          <m:funcPr>
                            <m:ctrlPr>
                              <a:rPr lang="en-US" b="1" i="1" smtClean="0">
                                <a:latin typeface="Cambria Math" panose="02040503050406030204" pitchFamily="18" charset="0"/>
                              </a:rPr>
                            </m:ctrlPr>
                          </m:funcPr>
                          <m:fName>
                            <m:r>
                              <a:rPr lang="en-US" b="1" i="0" smtClean="0">
                                <a:latin typeface="Cambria Math" panose="02040503050406030204" pitchFamily="18" charset="0"/>
                              </a:rPr>
                              <m:t>𝐬𝐢𝐧</m:t>
                            </m:r>
                          </m:fName>
                          <m:e>
                            <m:r>
                              <a:rPr lang="en-US" b="1" i="1" smtClean="0">
                                <a:latin typeface="Cambria Math" panose="02040503050406030204" pitchFamily="18" charset="0"/>
                              </a:rPr>
                              <m:t>𝒙</m:t>
                            </m:r>
                          </m:e>
                        </m:func>
                        <m:r>
                          <a:rPr lang="en-US" b="1" i="1" smtClean="0">
                            <a:latin typeface="Cambria Math" panose="02040503050406030204" pitchFamily="18" charset="0"/>
                          </a:rPr>
                          <m:t>)</m:t>
                        </m:r>
                      </m:e>
                      <m:sup>
                        <m:r>
                          <a:rPr lang="en-US" b="1" i="1" smtClean="0">
                            <a:latin typeface="Cambria Math" panose="02040503050406030204" pitchFamily="18" charset="0"/>
                          </a:rPr>
                          <m:t>𝟐</m:t>
                        </m:r>
                      </m:sup>
                    </m:sSup>
                    <m:r>
                      <a:rPr lang="en-US" b="1" i="1" smtClean="0">
                        <a:latin typeface="Cambria Math" panose="02040503050406030204" pitchFamily="18" charset="0"/>
                      </a:rPr>
                      <m:t>+</m:t>
                    </m:r>
                    <m:sSup>
                      <m:sSupPr>
                        <m:ctrlPr>
                          <a:rPr lang="en-US" b="1" i="1" smtClean="0">
                            <a:latin typeface="Cambria Math" panose="02040503050406030204" pitchFamily="18" charset="0"/>
                          </a:rPr>
                        </m:ctrlPr>
                      </m:sSupPr>
                      <m:e>
                        <m:r>
                          <a:rPr lang="en-US" b="1" i="1" smtClean="0">
                            <a:latin typeface="Cambria Math" panose="02040503050406030204" pitchFamily="18" charset="0"/>
                          </a:rPr>
                          <m:t>(</m:t>
                        </m:r>
                        <m:func>
                          <m:funcPr>
                            <m:ctrlPr>
                              <a:rPr lang="en-US" b="1" i="1" smtClean="0">
                                <a:latin typeface="Cambria Math" panose="02040503050406030204" pitchFamily="18" charset="0"/>
                              </a:rPr>
                            </m:ctrlPr>
                          </m:funcPr>
                          <m:fName>
                            <m:r>
                              <a:rPr lang="en-US" b="1" i="0" smtClean="0">
                                <a:latin typeface="Cambria Math" panose="02040503050406030204" pitchFamily="18" charset="0"/>
                              </a:rPr>
                              <m:t>𝐜𝐨𝐬</m:t>
                            </m:r>
                          </m:fName>
                          <m:e>
                            <m:r>
                              <a:rPr lang="en-US" b="1" i="1" smtClean="0">
                                <a:latin typeface="Cambria Math" panose="02040503050406030204" pitchFamily="18" charset="0"/>
                              </a:rPr>
                              <m:t>𝒙</m:t>
                            </m:r>
                          </m:e>
                        </m:func>
                        <m:r>
                          <a:rPr lang="en-US" b="1" i="1" smtClean="0">
                            <a:latin typeface="Cambria Math" panose="02040503050406030204" pitchFamily="18" charset="0"/>
                          </a:rPr>
                          <m:t>)</m:t>
                        </m:r>
                      </m:e>
                      <m:sup>
                        <m:r>
                          <a:rPr lang="en-US" b="1" i="1" smtClean="0">
                            <a:latin typeface="Cambria Math" panose="02040503050406030204" pitchFamily="18" charset="0"/>
                          </a:rPr>
                          <m:t>𝟐</m:t>
                        </m:r>
                      </m:sup>
                    </m:sSup>
                    <m:r>
                      <a:rPr lang="en-US" b="1" i="1" smtClean="0">
                        <a:latin typeface="Cambria Math" panose="02040503050406030204" pitchFamily="18" charset="0"/>
                      </a:rPr>
                      <m:t>=</m:t>
                    </m:r>
                    <m:r>
                      <a:rPr lang="en-US" b="1" i="1" smtClean="0">
                        <a:latin typeface="Cambria Math" panose="02040503050406030204" pitchFamily="18" charset="0"/>
                      </a:rPr>
                      <m:t>𝟏</m:t>
                    </m:r>
                  </m:oMath>
                </a14:m>
                <a:r>
                  <a:rPr lang="en-US" b="1" dirty="0"/>
                  <a:t> </a:t>
                </a:r>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4613199" y="5782962"/>
                <a:ext cx="2504885" cy="375552"/>
              </a:xfrm>
              <a:prstGeom prst="rect">
                <a:avLst/>
              </a:prstGeom>
              <a:blipFill>
                <a:blip r:embed="rId9"/>
                <a:stretch>
                  <a:fillRect l="-484" b="-11111"/>
                </a:stretch>
              </a:blipFill>
              <a:ln>
                <a:solidFill>
                  <a:schemeClr val="accent1"/>
                </a:solidFill>
              </a:ln>
            </p:spPr>
            <p:txBody>
              <a:bodyPr/>
              <a:lstStyle/>
              <a:p>
                <a:r>
                  <a:rPr lang="en-US">
                    <a:noFill/>
                  </a:rPr>
                  <a:t> </a:t>
                </a:r>
              </a:p>
            </p:txBody>
          </p:sp>
        </mc:Fallback>
      </mc:AlternateContent>
      <p:sp>
        <p:nvSpPr>
          <p:cNvPr id="10" name="TextBox 9"/>
          <p:cNvSpPr txBox="1"/>
          <p:nvPr/>
        </p:nvSpPr>
        <p:spPr>
          <a:xfrm>
            <a:off x="7970091" y="5177482"/>
            <a:ext cx="3562883" cy="923330"/>
          </a:xfrm>
          <a:prstGeom prst="rect">
            <a:avLst/>
          </a:prstGeom>
          <a:noFill/>
          <a:ln>
            <a:solidFill>
              <a:schemeClr val="accent1"/>
            </a:solidFill>
          </a:ln>
        </p:spPr>
        <p:txBody>
          <a:bodyPr wrap="square" rtlCol="0">
            <a:spAutoFit/>
          </a:bodyPr>
          <a:lstStyle/>
          <a:p>
            <a:pPr/>
            <a:r>
              <a:rPr lang="en-US" dirty="0">
                <a:solidFill/>
              </a:rPr>
              <a:t>When doing calculus involving trig functions, the argument should always be in </a:t>
            </a:r>
            <a:r>
              <a:rPr lang="en-US" b="1" u="sng" dirty="0">
                <a:solidFill/>
              </a:rPr>
              <a:t>radians</a:t>
            </a:r>
            <a:r>
              <a:rPr lang="en-US" dirty="0">
                <a:solidFill/>
              </a:rPr>
              <a:t> (not degrees).  </a:t>
            </a:r>
          </a:p>
        </p:txBody>
      </p:sp>
    </p:spTree>
    <p:extLst>
      <p:ext uri="{BB962C8B-B14F-4D97-AF65-F5344CB8AC3E}">
        <p14:creationId xmlns:p14="http://schemas.microsoft.com/office/powerpoint/2010/main" val="1959348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animBg="1"/>
      <p:bldP spid="8" grpId="0" animBg="1"/>
      <p:bldP spid="9" grpId="0" animBg="1"/>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C183D7F6-B498-43B3-948B-1728B52AA6E4}">
                    <adec:decorative xmlns:adec="http://schemas.microsoft.com/office/drawing/2017/decorative" val="1"/>
                  </a:ext>
                </a:extLst>
              </p:cNvPr>
              <p:cNvSpPr txBox="1"/>
              <p:nvPr/>
            </p:nvSpPr>
            <p:spPr>
              <a:xfrm>
                <a:off x="576649" y="2240694"/>
                <a:ext cx="1713471" cy="830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r>
                        <a:rPr lang="en-US" sz="2400" b="0" i="1" smtClean="0">
                          <a:latin typeface="Cambria Math" panose="02040503050406030204" pitchFamily="18" charset="0"/>
                        </a:rPr>
                        <m:t>=</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sin</m:t>
                          </m:r>
                        </m:fName>
                        <m:e>
                          <m:r>
                            <a:rPr lang="en-US" sz="2400" b="0" i="1" smtClean="0">
                              <a:latin typeface="Cambria Math" panose="02040503050406030204" pitchFamily="18" charset="0"/>
                            </a:rPr>
                            <m:t>𝑡</m:t>
                          </m:r>
                        </m:e>
                      </m:func>
                    </m:oMath>
                  </m:oMathPara>
                </a14:m>
                <a:endParaRPr lang="en-US" sz="2400" dirty="0"/>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r>
                        <a:rPr lang="en-US" sz="2400" b="0" i="1" smtClean="0">
                          <a:latin typeface="Cambria Math" panose="02040503050406030204" pitchFamily="18" charset="0"/>
                        </a:rPr>
                        <m:t>=</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cos</m:t>
                          </m:r>
                        </m:fName>
                        <m:e>
                          <m:r>
                            <a:rPr lang="en-US" sz="2400" b="0" i="1" smtClean="0">
                              <a:latin typeface="Cambria Math" panose="02040503050406030204" pitchFamily="18" charset="0"/>
                            </a:rPr>
                            <m:t>𝑡</m:t>
                          </m:r>
                        </m:e>
                      </m:func>
                    </m:oMath>
                  </m:oMathPara>
                </a14:m>
                <a:endParaRPr lang="en-US" sz="2400" dirty="0"/>
              </a:p>
            </p:txBody>
          </p:sp>
        </mc:Choice>
        <mc:Fallback>
          <p:sp>
            <p:nvSpPr>
              <p:cNvPr id="5" name="TextBox 4">
                <a:extLs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576649" y="2240694"/>
                <a:ext cx="1713471" cy="830997"/>
              </a:xfrm>
              <a:prstGeom prst="rect">
                <a:avLst/>
              </a:prstGeom>
              <a:blipFill>
                <a:blip r:embed="rId3"/>
                <a:stretch>
                  <a:fillRect b="-5147"/>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8" name="TextBox 7">
                <a:extLst>
                  <a:ext uri="{C183D7F6-B498-43B3-948B-1728B52AA6E4}">
                    <adec:decorative xmlns:adec="http://schemas.microsoft.com/office/drawing/2017/decorative" val="1"/>
                  </a:ext>
                </a:extLst>
              </p:cNvPr>
              <p:cNvSpPr txBox="1"/>
              <p:nvPr/>
            </p:nvSpPr>
            <p:spPr>
              <a:xfrm>
                <a:off x="5844737" y="2236572"/>
                <a:ext cx="2014160" cy="830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r>
                        <a:rPr lang="en-US" sz="2400" b="0" i="1" smtClean="0">
                          <a:latin typeface="Cambria Math" panose="02040503050406030204" pitchFamily="18" charset="0"/>
                        </a:rPr>
                        <m:t>=</m:t>
                      </m:r>
                      <m:r>
                        <a:rPr lang="en-US" sz="2400" b="0" i="1" smtClean="0">
                          <a:latin typeface="Cambria Math" panose="02040503050406030204" pitchFamily="18" charset="0"/>
                        </a:rPr>
                        <m:t>𝐴</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sin</m:t>
                          </m:r>
                        </m:fName>
                        <m:e>
                          <m:r>
                            <a:rPr lang="en-US" sz="2400" b="0" i="1" smtClean="0">
                              <a:latin typeface="Cambria Math" panose="02040503050406030204" pitchFamily="18" charset="0"/>
                            </a:rPr>
                            <m:t>(</m:t>
                          </m:r>
                          <m:r>
                            <a:rPr lang="en-US" sz="2400" b="0" i="1" smtClean="0">
                              <a:latin typeface="Cambria Math" panose="02040503050406030204" pitchFamily="18" charset="0"/>
                            </a:rPr>
                            <m:t>𝐵𝑡</m:t>
                          </m:r>
                          <m:r>
                            <a:rPr lang="en-US" sz="2400" b="0" i="1" smtClean="0">
                              <a:latin typeface="Cambria Math" panose="02040503050406030204" pitchFamily="18" charset="0"/>
                            </a:rPr>
                            <m:t>)</m:t>
                          </m:r>
                        </m:e>
                      </m:func>
                    </m:oMath>
                  </m:oMathPara>
                </a14:m>
                <a:endParaRPr lang="en-US" sz="2400" dirty="0"/>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r>
                        <a:rPr lang="en-US" sz="2400" b="0" i="1" smtClean="0">
                          <a:latin typeface="Cambria Math" panose="02040503050406030204" pitchFamily="18" charset="0"/>
                        </a:rPr>
                        <m:t>=</m:t>
                      </m:r>
                      <m:r>
                        <a:rPr lang="en-US" sz="2400" b="0" i="1" smtClean="0">
                          <a:latin typeface="Cambria Math" panose="02040503050406030204" pitchFamily="18" charset="0"/>
                        </a:rPr>
                        <m:t>𝐴</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cos</m:t>
                          </m:r>
                        </m:fName>
                        <m:e>
                          <m:r>
                            <a:rPr lang="en-US" sz="2400" b="0" i="1" smtClean="0">
                              <a:latin typeface="Cambria Math" panose="02040503050406030204" pitchFamily="18" charset="0"/>
                            </a:rPr>
                            <m:t>(</m:t>
                          </m:r>
                          <m:r>
                            <a:rPr lang="en-US" sz="2400" b="0" i="1" smtClean="0">
                              <a:latin typeface="Cambria Math" panose="02040503050406030204" pitchFamily="18" charset="0"/>
                            </a:rPr>
                            <m:t>𝐵𝑡</m:t>
                          </m:r>
                          <m:r>
                            <a:rPr lang="en-US" sz="2400" b="0" i="1" smtClean="0">
                              <a:latin typeface="Cambria Math" panose="02040503050406030204" pitchFamily="18" charset="0"/>
                            </a:rPr>
                            <m:t>)</m:t>
                          </m:r>
                        </m:e>
                      </m:func>
                    </m:oMath>
                  </m:oMathPara>
                </a14:m>
                <a:endParaRPr lang="en-US" sz="2400" dirty="0"/>
              </a:p>
            </p:txBody>
          </p:sp>
        </mc:Choice>
        <mc:Fallback>
          <p:sp>
            <p:nvSpPr>
              <p:cNvPr id="8" name="TextBox 7">
                <a:extLs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5844737" y="2236572"/>
                <a:ext cx="2014160" cy="830997"/>
              </a:xfrm>
              <a:prstGeom prst="rect">
                <a:avLst/>
              </a:prstGeom>
              <a:blipFill>
                <a:blip r:embed="rId4"/>
                <a:stretch>
                  <a:fillRect l="-909" r="-2424" b="-9559"/>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0" name="TextBox 9">
                <a:extLst>
                  <a:ext uri="{C183D7F6-B498-43B3-948B-1728B52AA6E4}">
                    <adec:decorative xmlns:adec="http://schemas.microsoft.com/office/drawing/2017/decorative" val="1"/>
                  </a:ext>
                </a:extLst>
              </p:cNvPr>
              <p:cNvSpPr txBox="1"/>
              <p:nvPr/>
            </p:nvSpPr>
            <p:spPr>
              <a:xfrm>
                <a:off x="8542641" y="2129477"/>
                <a:ext cx="3558745" cy="1353319"/>
              </a:xfrm>
              <a:prstGeom prst="rect">
                <a:avLst/>
              </a:prstGeom>
              <a:noFill/>
            </p:spPr>
            <p:txBody>
              <a:bodyPr wrap="square" rtlCol="0">
                <a:spAutoFit/>
              </a:bodyPr>
              <a:lstStyle/>
              <a:p>
                <a:r>
                  <a:rPr lang="en-US" sz="2400" dirty="0">
                    <a:solidFill>
                      <a:srgbClr val="C00000"/>
                    </a:solidFill>
                  </a:rPr>
                  <a:t>Amplitude = </a:t>
                </a:r>
                <a14:m>
                  <m:oMath xmlns:m="http://schemas.openxmlformats.org/officeDocument/2006/math">
                    <m:d>
                      <m:dPr>
                        <m:begChr m:val="|"/>
                        <m:endChr m:val="|"/>
                        <m:ctrlPr>
                          <a:rPr lang="en-US" sz="2400" i="1" smtClean="0">
                            <a:solidFill>
                              <a:srgbClr val="C00000"/>
                            </a:solidFill>
                            <a:latin typeface="Cambria Math" panose="02040503050406030204" pitchFamily="18" charset="0"/>
                          </a:rPr>
                        </m:ctrlPr>
                      </m:dPr>
                      <m:e>
                        <m:r>
                          <a:rPr lang="en-US" sz="2400" b="0" i="1" smtClean="0">
                            <a:solidFill>
                              <a:srgbClr val="C00000"/>
                            </a:solidFill>
                            <a:latin typeface="Cambria Math" panose="02040503050406030204" pitchFamily="18" charset="0"/>
                          </a:rPr>
                          <m:t>𝐴</m:t>
                        </m:r>
                      </m:e>
                    </m:d>
                  </m:oMath>
                </a14:m>
                <a:endParaRPr lang="en-US" sz="2400" dirty="0">
                  <a:solidFill>
                    <a:srgbClr val="C00000"/>
                  </a:solidFill>
                </a:endParaRPr>
              </a:p>
              <a:p>
                <a:r>
                  <a:rPr lang="en-US" sz="2400" dirty="0">
                    <a:solidFill>
                      <a:srgbClr val="C00000"/>
                    </a:solidFill>
                  </a:rPr>
                  <a:t>Period = </a:t>
                </a:r>
                <a14:m>
                  <m:oMath xmlns:m="http://schemas.openxmlformats.org/officeDocument/2006/math">
                    <m:f>
                      <m:fPr>
                        <m:ctrlPr>
                          <a:rPr lang="en-US" sz="2400" i="1" smtClean="0">
                            <a:solidFill>
                              <a:srgbClr val="C00000"/>
                            </a:solidFill>
                            <a:latin typeface="Cambria Math" panose="02040503050406030204" pitchFamily="18" charset="0"/>
                          </a:rPr>
                        </m:ctrlPr>
                      </m:fPr>
                      <m:num>
                        <m:r>
                          <a:rPr lang="en-US" sz="2400" b="0" i="1" smtClean="0">
                            <a:solidFill>
                              <a:srgbClr val="C00000"/>
                            </a:solidFill>
                            <a:latin typeface="Cambria Math" panose="02040503050406030204" pitchFamily="18" charset="0"/>
                          </a:rPr>
                          <m:t>2</m:t>
                        </m:r>
                        <m:r>
                          <a:rPr lang="en-US" sz="2400" b="0" i="1" smtClean="0">
                            <a:solidFill>
                              <a:srgbClr val="C00000"/>
                            </a:solidFill>
                            <a:latin typeface="Cambria Math" panose="02040503050406030204" pitchFamily="18" charset="0"/>
                            <a:ea typeface="Cambria Math" panose="02040503050406030204" pitchFamily="18" charset="0"/>
                          </a:rPr>
                          <m:t>𝜋</m:t>
                        </m:r>
                      </m:num>
                      <m:den>
                        <m:r>
                          <a:rPr lang="en-US" sz="2400" b="0" i="1" smtClean="0">
                            <a:solidFill>
                              <a:srgbClr val="C00000"/>
                            </a:solidFill>
                            <a:latin typeface="Cambria Math" panose="02040503050406030204" pitchFamily="18" charset="0"/>
                          </a:rPr>
                          <m:t>𝐵</m:t>
                        </m:r>
                      </m:den>
                    </m:f>
                  </m:oMath>
                </a14:m>
                <a:endParaRPr lang="en-US" sz="2400" dirty="0">
                  <a:solidFill>
                    <a:srgbClr val="C00000"/>
                  </a:solidFill>
                </a:endParaRPr>
              </a:p>
              <a:p>
                <a:r>
                  <a:rPr lang="en-US" sz="2400" dirty="0">
                    <a:solidFill>
                      <a:srgbClr val="C00000"/>
                    </a:solidFill>
                  </a:rPr>
                  <a:t>(alternately, </a:t>
                </a:r>
                <a:r>
                  <a:rPr lang="en-US" sz="2400" i="1" dirty="0" err="1">
                    <a:solidFill>
                      <a:srgbClr val="C00000"/>
                    </a:solidFill>
                  </a:rPr>
                  <a:t>B·Period</a:t>
                </a:r>
                <a:r>
                  <a:rPr lang="en-US" sz="2400" i="1" dirty="0">
                    <a:solidFill>
                      <a:srgbClr val="C00000"/>
                    </a:solidFill>
                  </a:rPr>
                  <a:t> = 2</a:t>
                </a:r>
                <a:r>
                  <a:rPr lang="el-GR" sz="2400" i="1" dirty="0">
                    <a:solidFill>
                      <a:srgbClr val="C00000"/>
                    </a:solidFill>
                  </a:rPr>
                  <a:t>π</a:t>
                </a:r>
                <a:r>
                  <a:rPr lang="en-US" sz="2400" dirty="0">
                    <a:solidFill>
                      <a:srgbClr val="C00000"/>
                    </a:solidFill>
                  </a:rPr>
                  <a:t>)</a:t>
                </a:r>
              </a:p>
            </p:txBody>
          </p:sp>
        </mc:Choice>
        <mc:Fallback>
          <p:sp>
            <p:nvSpPr>
              <p:cNvPr id="10" name="TextBox 9">
                <a:extLs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8542641" y="2129477"/>
                <a:ext cx="3558745" cy="1353319"/>
              </a:xfrm>
              <a:prstGeom prst="rect">
                <a:avLst/>
              </a:prstGeom>
              <a:blipFill>
                <a:blip r:embed="rId5"/>
                <a:stretch>
                  <a:fillRect l="-2568" t="-3604" b="-9459"/>
                </a:stretch>
              </a:blipFill>
            </p:spPr>
            <p:txBody>
              <a:bodyPr/>
              <a:lstStyle/>
              <a:p>
                <a:r>
                  <a:rPr lang="en-IN">
                    <a:noFill/>
                  </a:rPr>
                  <a:t> </a:t>
                </a:r>
              </a:p>
            </p:txBody>
          </p:sp>
        </mc:Fallback>
      </mc:AlternateContent>
      <p:sp>
        <p:nvSpPr>
          <p:cNvPr id="2" name="Title 1"/>
          <p:cNvSpPr>
            <a:spLocks noGrp="1"/>
          </p:cNvSpPr>
          <p:nvPr>
            <p:ph type="title"/>
          </p:nvPr>
        </p:nvSpPr>
        <p:spPr>
          <a:xfrm>
            <a:off x="838200" y="288322"/>
            <a:ext cx="10515600" cy="908093"/>
          </a:xfrm>
        </p:spPr>
        <p:txBody>
          <a:bodyPr/>
          <a:lstStyle/>
          <a:p>
            <a:pPr/>
            <a:r>
              <a:rPr lang="en-US" dirty="0">
                <a:solidFill/>
              </a:rPr>
              <a:t>Amplitude and Period</a:t>
            </a:r>
          </a:p>
        </p:txBody>
      </p:sp>
      <p:sp>
        <p:nvSpPr>
          <p:cNvPr id="4" name="TextBox 3"/>
          <p:cNvSpPr txBox="1"/>
          <p:nvPr/>
        </p:nvSpPr>
        <p:spPr>
          <a:xfrm>
            <a:off x="838200" y="1196415"/>
            <a:ext cx="10744200" cy="830997"/>
          </a:xfrm>
          <a:prstGeom prst="rect">
            <a:avLst/>
          </a:prstGeom>
          <a:noFill/>
        </p:spPr>
        <p:txBody>
          <a:bodyPr wrap="square" rtlCol="0">
            <a:spAutoFit/>
          </a:bodyPr>
          <a:lstStyle/>
          <a:p>
            <a:pPr/>
            <a:r>
              <a:rPr lang="en-US" sz="2400" dirty="0">
                <a:solidFill/>
              </a:rPr>
              <a:t>The </a:t>
            </a:r>
            <a:r>
              <a:rPr lang="en-US" sz="2400" u="sng" dirty="0">
                <a:solidFill/>
              </a:rPr>
              <a:t>amplitude</a:t>
            </a:r>
            <a:r>
              <a:rPr lang="en-US" sz="2400" dirty="0">
                <a:solidFill/>
              </a:rPr>
              <a:t> is the distance the wave goes up and down from the midline.</a:t>
            </a:r>
          </a:p>
          <a:p>
            <a:pPr/>
            <a:r>
              <a:rPr lang="en-US" sz="2400" dirty="0">
                <a:solidFill/>
              </a:rPr>
              <a:t>The </a:t>
            </a:r>
            <a:r>
              <a:rPr lang="en-US" sz="2400" u="sng" dirty="0">
                <a:solidFill/>
              </a:rPr>
              <a:t>period</a:t>
            </a:r>
            <a:r>
              <a:rPr lang="en-US" sz="2400" dirty="0">
                <a:solidFill/>
              </a:rPr>
              <a:t> is the smallest time needed for the wave to include one complete cycle.</a:t>
            </a:r>
          </a:p>
        </p:txBody>
      </p:sp>
      <p:sp>
        <p:nvSpPr>
          <p:cNvPr id="9" name="Right Brace 8">
            <a:extLst>
              <a:ext uri="{C183D7F6-B498-43B3-948B-1728B52AA6E4}">
                <adec:decorative xmlns:adec="http://schemas.microsoft.com/office/drawing/2017/decorative" val="1"/>
              </a:ext>
            </a:extLst>
          </p:cNvPr>
          <p:cNvSpPr/>
          <p:nvPr/>
        </p:nvSpPr>
        <p:spPr>
          <a:xfrm>
            <a:off x="7780621" y="2228331"/>
            <a:ext cx="453081" cy="848497"/>
          </a:xfrm>
          <a:prstGeom prst="righ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Right Brace 5">
            <a:extLst>
              <a:ext uri="{C183D7F6-B498-43B3-948B-1728B52AA6E4}">
                <adec:decorative xmlns:adec="http://schemas.microsoft.com/office/drawing/2017/decorative" val="1"/>
              </a:ext>
            </a:extLst>
          </p:cNvPr>
          <p:cNvSpPr/>
          <p:nvPr/>
        </p:nvSpPr>
        <p:spPr>
          <a:xfrm>
            <a:off x="2133599" y="2265404"/>
            <a:ext cx="453081" cy="848497"/>
          </a:xfrm>
          <a:prstGeom prst="righ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C183D7F6-B498-43B3-948B-1728B52AA6E4}">
                <adec:decorative xmlns:adec="http://schemas.microsoft.com/office/drawing/2017/decorative" val="1"/>
              </a:ext>
            </a:extLst>
          </p:cNvPr>
          <p:cNvSpPr txBox="1"/>
          <p:nvPr/>
        </p:nvSpPr>
        <p:spPr>
          <a:xfrm>
            <a:off x="2924429" y="2281880"/>
            <a:ext cx="2051222" cy="830997"/>
          </a:xfrm>
          <a:prstGeom prst="rect">
            <a:avLst/>
          </a:prstGeom>
          <a:noFill/>
        </p:spPr>
        <p:txBody>
          <a:bodyPr wrap="square" rtlCol="0">
            <a:spAutoFit/>
          </a:bodyPr>
          <a:lstStyle/>
          <a:p>
            <a:pPr/>
            <a:r>
              <a:rPr lang="en-US" sz="2400" dirty="0">
                <a:solidFill>
                  <a:srgbClr val="C00000"/>
                </a:solidFill>
              </a:rPr>
              <a:t>Amplitude = 1</a:t>
            </a:r>
          </a:p>
          <a:p>
            <a:pPr/>
            <a:r>
              <a:rPr lang="en-US" sz="2400" dirty="0">
                <a:solidFill>
                  <a:srgbClr val="C00000"/>
                </a:solidFill>
              </a:rPr>
              <a:t>Period = 2</a:t>
            </a:r>
            <a:r>
              <a:rPr lang="el-GR" sz="2400" dirty="0">
                <a:solidFill>
                  <a:srgbClr val="C00000"/>
                </a:solidFill>
              </a:rPr>
              <a:t>π</a:t>
            </a:r>
            <a:endParaRPr lang="en-US" sz="2400" dirty="0">
              <a:solidFill>
                <a:srgbClr val="C00000"/>
              </a:solidFill>
            </a:endParaRPr>
          </a:p>
        </p:txBody>
      </p:sp>
      <p:pic>
        <p:nvPicPr>
          <p:cNvPr id="12" name="Picture 11" descr="Equations in two lines depict the definition of amplitude and period. Line 1. y equals A sine left parenthesis B t right parenthesis. Line 2. y equals A cosine left parenthesis B t right parenthesis. Both the lines of equations imply Amplitude equals an absolute value of 1, and Period equals 2 pi over B. (alternately, B times period equals 2 pi).">
            <a:extLst>
              <a:ext uri="{FF2B5EF4-FFF2-40B4-BE49-F238E27FC236}">
                <a16:creationId xmlns:a16="http://schemas.microsoft.com/office/drawing/2014/main" id="{B4FFFC6D-17A6-3B5E-7076-90950BCC1241}"/>
              </a:ext>
            </a:extLst>
          </p:cNvPr>
          <p:cNvPicPr>
            <a:picLocks noChangeAspect="1"/>
          </p:cNvPicPr>
          <p:nvPr/>
        </p:nvPicPr>
        <p:blipFill>
          <a:blip r:embed="rId6"/>
          <a:stretch>
            <a:fillRect/>
          </a:stretch>
        </p:blipFill>
        <p:spPr>
          <a:xfrm>
            <a:off x="11413514" y="2461560"/>
            <a:ext cx="292115" cy="190510"/>
          </a:xfrm>
          <a:prstGeom prst="rect">
            <a:avLst/>
          </a:prstGeom>
        </p:spPr>
      </p:pic>
      <p:pic>
        <p:nvPicPr>
          <p:cNvPr id="11" name="Picture 10" descr="Equations in two lines depict the definition of amplitude and period. Line 1. y equals sine t. Line 2. y equals cosine t. Both the lines of equations imply Amplitude equals 1, and Period equals 2 pi.">
            <a:extLst>
              <a:ext uri="{FF2B5EF4-FFF2-40B4-BE49-F238E27FC236}">
                <a16:creationId xmlns:a16="http://schemas.microsoft.com/office/drawing/2014/main" id="{294B7218-BA62-52E0-4678-8E0481A6067F}"/>
              </a:ext>
            </a:extLst>
          </p:cNvPr>
          <p:cNvPicPr>
            <a:picLocks noChangeAspect="1"/>
          </p:cNvPicPr>
          <p:nvPr/>
        </p:nvPicPr>
        <p:blipFill>
          <a:blip r:embed="rId6"/>
          <a:stretch>
            <a:fillRect/>
          </a:stretch>
        </p:blipFill>
        <p:spPr>
          <a:xfrm>
            <a:off x="5118078" y="2529500"/>
            <a:ext cx="292115" cy="190510"/>
          </a:xfrm>
          <a:prstGeom prst="rect">
            <a:avLst/>
          </a:prstGeom>
        </p:spPr>
      </p:pic>
      <p:pic>
        <p:nvPicPr>
          <p:cNvPr id="3" name="Picture 1" descr="Graph of two functions of curves, on a coordinate plane. The horizontal axis is labeled t, and ranges from negative 3 pi to 3 pi, in increments of pi. The vertical axis ranges from negative 1 to 1. The first curve is labeled sine t, enters the left of the graph, decreases concave up to the right, crosses the t-axis, and reaches a low point at (negative 2 pi, negative 1). The curve then increases concave up to the right, crossing the t-axis, and reaches a high point at (negative pi, 1). The curve then decreases to the right, and then proceeds similarly, as it goes rightward. The second curve is labeled cosine t, enters the left of the graph, decreases concave up to the right, and reaches a low point at (negative 3 pi, negative 1). The curve then increases concave up to the right, intersects the first curve, and crosses the t-axis. The curve reaches a high point at (negative 2 pi, 1). The curve then decreases to the right, intersects the first curve again, and crosses the t-axis. The curve then reaches a low point at (negative pi, negative 1), and then proceeds similarly, as it goes rightward. All values are estimated. Period equals 2 pi, and Amplitude equals 1. All values are estimated."/>
          <p:cNvPicPr>
            <a:picLocks noGrp="1" noChangeAspect="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923583" y="3566956"/>
            <a:ext cx="7200900" cy="253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19837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P spid="6" grpId="0" animBg="1"/>
      <p:bldP spid="7" grpId="0"/>
      <p:bldP spid="8" grpId="0"/>
      <p:bldP spid="9" grpId="0" animBg="1"/>
      <p:bldP spid="10"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p:cNvSpPr txBox="1"/>
              <p:nvPr/>
            </p:nvSpPr>
            <p:spPr>
              <a:xfrm>
                <a:off x="893206" y="1383955"/>
                <a:ext cx="2756156" cy="1631216"/>
              </a:xfrm>
              <a:prstGeom prst="rect">
                <a:avLst/>
              </a:prstGeom>
              <a:noFill/>
            </p:spPr>
            <p:txBody>
              <a:bodyPr wrap="square" rtlCol="0">
                <a:spAutoFit/>
              </a:bodyPr>
              <a:lstStyle/>
              <a:p>
                <a:r>
                  <a:rPr lang="en-US" sz="2000" dirty="0"/>
                  <a:t>For </a:t>
                </a:r>
                <a14:m>
                  <m:oMath xmlns:m="http://schemas.openxmlformats.org/officeDocument/2006/math">
                    <m:r>
                      <a:rPr lang="en-US" sz="2000" b="1" i="1" smtClean="0">
                        <a:latin typeface="Cambria Math" panose="02040503050406030204" pitchFamily="18" charset="0"/>
                      </a:rPr>
                      <m:t>𝒚</m:t>
                    </m:r>
                    <m:r>
                      <a:rPr lang="en-US" sz="2000" b="1" i="1" smtClean="0">
                        <a:latin typeface="Cambria Math" panose="02040503050406030204" pitchFamily="18" charset="0"/>
                      </a:rPr>
                      <m:t>=</m:t>
                    </m:r>
                    <m:r>
                      <a:rPr lang="en-US" sz="2000" b="1" i="1" smtClean="0">
                        <a:latin typeface="Cambria Math" panose="02040503050406030204" pitchFamily="18" charset="0"/>
                      </a:rPr>
                      <m:t>𝟓</m:t>
                    </m:r>
                    <m:func>
                      <m:funcPr>
                        <m:ctrlPr>
                          <a:rPr lang="en-US" sz="2000" b="1" i="1" smtClean="0">
                            <a:latin typeface="Cambria Math" panose="02040503050406030204" pitchFamily="18" charset="0"/>
                          </a:rPr>
                        </m:ctrlPr>
                      </m:funcPr>
                      <m:fName>
                        <m:r>
                          <a:rPr lang="en-US" sz="2000" b="1" i="0" smtClean="0">
                            <a:latin typeface="Cambria Math" panose="02040503050406030204" pitchFamily="18" charset="0"/>
                          </a:rPr>
                          <m:t>𝐬𝐢𝐧</m:t>
                        </m:r>
                      </m:fName>
                      <m:e>
                        <m:r>
                          <a:rPr lang="en-US" sz="2000" b="1" i="1" smtClean="0">
                            <a:latin typeface="Cambria Math" panose="02040503050406030204" pitchFamily="18" charset="0"/>
                          </a:rPr>
                          <m:t>𝟐</m:t>
                        </m:r>
                        <m:r>
                          <a:rPr lang="en-US" sz="2000" b="1" i="1" smtClean="0">
                            <a:latin typeface="Cambria Math" panose="02040503050406030204" pitchFamily="18" charset="0"/>
                          </a:rPr>
                          <m:t>𝒕</m:t>
                        </m:r>
                      </m:e>
                    </m:func>
                  </m:oMath>
                </a14:m>
                <a:r>
                  <a:rPr lang="en-US" sz="2000" dirty="0"/>
                  <a:t>,</a:t>
                </a:r>
              </a:p>
              <a:p>
                <a:endParaRPr lang="en-US" sz="2000" dirty="0"/>
              </a:p>
              <a:p>
                <a:r>
                  <a:rPr lang="en-US" sz="2000" dirty="0"/>
                  <a:t>What is the amplitude?</a:t>
                </a:r>
              </a:p>
              <a:p>
                <a:endParaRPr lang="en-US" sz="2000" dirty="0"/>
              </a:p>
              <a:p>
                <a:r>
                  <a:rPr lang="en-US" sz="2000" dirty="0"/>
                  <a:t>What is the period?</a:t>
                </a:r>
              </a:p>
            </p:txBody>
          </p:sp>
        </mc:Choice>
        <mc:Fallback xmlns="">
          <p:sp>
            <p:nvSpPr>
              <p:cNvPr id="4" name="TextBox 3"/>
              <p:cNvSpPr txBox="1">
                <a:spLocks noRot="1" noChangeAspect="1" noMove="1" noResize="1" noEditPoints="1" noAdjustHandles="1" noChangeArrowheads="1" noChangeShapeType="1" noTextEdit="1"/>
              </p:cNvSpPr>
              <p:nvPr/>
            </p:nvSpPr>
            <p:spPr>
              <a:xfrm>
                <a:off x="893206" y="1383955"/>
                <a:ext cx="2756156" cy="1631216"/>
              </a:xfrm>
              <a:prstGeom prst="rect">
                <a:avLst/>
              </a:prstGeom>
              <a:blipFill rotWithShape="0">
                <a:blip r:embed="rId3"/>
                <a:stretch>
                  <a:fillRect l="-2434" t="-1866" b="-55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150967" y="2631998"/>
                <a:ext cx="2697897" cy="527580"/>
              </a:xfrm>
              <a:prstGeom prst="rect">
                <a:avLst/>
              </a:prstGeom>
              <a:noFill/>
            </p:spPr>
            <p:txBody>
              <a:bodyPr wrap="square" rtlCol="0">
                <a:spAutoFit/>
              </a:bodyPr>
              <a:lstStyle/>
              <a:p>
                <a:r>
                  <a:rPr lang="en-US" sz="2000" dirty="0">
                    <a:solidFill>
                      <a:srgbClr val="C00000"/>
                    </a:solidFill>
                  </a:rPr>
                  <a:t>The period is </a:t>
                </a:r>
                <a14:m>
                  <m:oMath xmlns:m="http://schemas.openxmlformats.org/officeDocument/2006/math">
                    <m:f>
                      <m:fPr>
                        <m:ctrlPr>
                          <a:rPr lang="en-US" sz="2000" i="1" smtClean="0">
                            <a:solidFill>
                              <a:srgbClr val="C00000"/>
                            </a:solidFill>
                            <a:latin typeface="Cambria Math" panose="02040503050406030204" pitchFamily="18" charset="0"/>
                          </a:rPr>
                        </m:ctrlPr>
                      </m:fPr>
                      <m:num>
                        <m:r>
                          <a:rPr lang="en-US" sz="2000" b="0" i="1" smtClean="0">
                            <a:solidFill>
                              <a:srgbClr val="C00000"/>
                            </a:solidFill>
                            <a:latin typeface="Cambria Math" panose="02040503050406030204" pitchFamily="18" charset="0"/>
                          </a:rPr>
                          <m:t>2</m:t>
                        </m:r>
                        <m:r>
                          <a:rPr lang="en-US" sz="2000" b="0" i="1" smtClean="0">
                            <a:solidFill>
                              <a:srgbClr val="C00000"/>
                            </a:solidFill>
                            <a:latin typeface="Cambria Math" panose="02040503050406030204" pitchFamily="18" charset="0"/>
                            <a:ea typeface="Cambria Math" panose="02040503050406030204" pitchFamily="18" charset="0"/>
                          </a:rPr>
                          <m:t>𝜋</m:t>
                        </m:r>
                      </m:num>
                      <m:den>
                        <m:r>
                          <a:rPr lang="en-US" sz="2000" b="0" i="1" smtClean="0">
                            <a:solidFill>
                              <a:srgbClr val="C00000"/>
                            </a:solidFill>
                            <a:latin typeface="Cambria Math" panose="02040503050406030204" pitchFamily="18" charset="0"/>
                          </a:rPr>
                          <m:t>2</m:t>
                        </m:r>
                      </m:den>
                    </m:f>
                    <m:r>
                      <a:rPr lang="en-US" sz="2000" b="0" i="1" smtClean="0">
                        <a:solidFill>
                          <a:srgbClr val="C00000"/>
                        </a:solidFill>
                        <a:latin typeface="Cambria Math" panose="02040503050406030204" pitchFamily="18" charset="0"/>
                      </a:rPr>
                      <m:t>=</m:t>
                    </m:r>
                    <m:r>
                      <a:rPr lang="en-US" sz="2000" b="0" i="1" smtClean="0">
                        <a:solidFill>
                          <a:srgbClr val="C00000"/>
                        </a:solidFill>
                        <a:latin typeface="Cambria Math" panose="02040503050406030204" pitchFamily="18" charset="0"/>
                        <a:ea typeface="Cambria Math" panose="02040503050406030204" pitchFamily="18" charset="0"/>
                      </a:rPr>
                      <m:t>𝜋</m:t>
                    </m:r>
                  </m:oMath>
                </a14:m>
                <a:r>
                  <a:rPr lang="en-US" sz="2000" dirty="0">
                    <a:solidFill>
                      <a:srgbClr val="C00000"/>
                    </a:solidFill>
                  </a:rPr>
                  <a:t>.</a:t>
                </a:r>
                <a:r>
                  <a:rPr lang="en-US" dirty="0">
                    <a:solidFill>
                      <a:srgbClr val="C00000"/>
                    </a:solidFill>
                  </a:rPr>
                  <a:t> </a:t>
                </a:r>
              </a:p>
            </p:txBody>
          </p:sp>
        </mc:Choice>
        <mc:Fallback xmlns="">
          <p:sp>
            <p:nvSpPr>
              <p:cNvPr id="6" name="TextBox 5"/>
              <p:cNvSpPr txBox="1">
                <a:spLocks noRot="1" noChangeAspect="1" noMove="1" noResize="1" noEditPoints="1" noAdjustHandles="1" noChangeArrowheads="1" noChangeShapeType="1" noTextEdit="1"/>
              </p:cNvSpPr>
              <p:nvPr/>
            </p:nvSpPr>
            <p:spPr>
              <a:xfrm>
                <a:off x="3150967" y="2631998"/>
                <a:ext cx="2697897" cy="527580"/>
              </a:xfrm>
              <a:prstGeom prst="rect">
                <a:avLst/>
              </a:prstGeom>
              <a:blipFill rotWithShape="0">
                <a:blip r:embed="rId4"/>
                <a:stretch>
                  <a:fillRect l="-2489" b="-93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6564945" y="1429261"/>
                <a:ext cx="2756156" cy="1631216"/>
              </a:xfrm>
              <a:prstGeom prst="rect">
                <a:avLst/>
              </a:prstGeom>
              <a:noFill/>
            </p:spPr>
            <p:txBody>
              <a:bodyPr wrap="square" rtlCol="0">
                <a:spAutoFit/>
              </a:bodyPr>
              <a:lstStyle/>
              <a:p>
                <a:r>
                  <a:rPr lang="en-US" sz="2000" dirty="0"/>
                  <a:t>For </a:t>
                </a:r>
                <a14:m>
                  <m:oMath xmlns:m="http://schemas.openxmlformats.org/officeDocument/2006/math">
                    <m:r>
                      <a:rPr lang="en-US" sz="2000" b="1" i="1" smtClean="0">
                        <a:latin typeface="Cambria Math" panose="02040503050406030204" pitchFamily="18" charset="0"/>
                      </a:rPr>
                      <m:t>𝒚</m:t>
                    </m:r>
                    <m:r>
                      <a:rPr lang="en-US" sz="2000" b="1" i="1" smtClean="0">
                        <a:latin typeface="Cambria Math" panose="02040503050406030204" pitchFamily="18" charset="0"/>
                      </a:rPr>
                      <m:t>=−</m:t>
                    </m:r>
                    <m:r>
                      <a:rPr lang="en-US" sz="2000" b="1" i="1" smtClean="0">
                        <a:latin typeface="Cambria Math" panose="02040503050406030204" pitchFamily="18" charset="0"/>
                      </a:rPr>
                      <m:t>𝟓</m:t>
                    </m:r>
                    <m:func>
                      <m:funcPr>
                        <m:ctrlPr>
                          <a:rPr lang="en-US" sz="2000" b="1" i="1" smtClean="0">
                            <a:latin typeface="Cambria Math" panose="02040503050406030204" pitchFamily="18" charset="0"/>
                          </a:rPr>
                        </m:ctrlPr>
                      </m:funcPr>
                      <m:fName>
                        <m:r>
                          <a:rPr lang="en-US" sz="2000" b="1" i="0" smtClean="0">
                            <a:latin typeface="Cambria Math" panose="02040503050406030204" pitchFamily="18" charset="0"/>
                          </a:rPr>
                          <m:t>𝐬𝐢𝐧</m:t>
                        </m:r>
                      </m:fName>
                      <m:e>
                        <m:r>
                          <a:rPr lang="en-US" sz="2000" b="1" i="1" smtClean="0">
                            <a:latin typeface="Cambria Math" panose="02040503050406030204" pitchFamily="18" charset="0"/>
                          </a:rPr>
                          <m:t>𝟎</m:t>
                        </m:r>
                        <m:r>
                          <a:rPr lang="en-US" sz="2000" b="1" i="1" smtClean="0">
                            <a:latin typeface="Cambria Math" panose="02040503050406030204" pitchFamily="18" charset="0"/>
                          </a:rPr>
                          <m:t>.</m:t>
                        </m:r>
                        <m:r>
                          <a:rPr lang="en-US" sz="2000" b="1" i="1" smtClean="0">
                            <a:latin typeface="Cambria Math" panose="02040503050406030204" pitchFamily="18" charset="0"/>
                          </a:rPr>
                          <m:t>𝟓</m:t>
                        </m:r>
                        <m:r>
                          <a:rPr lang="en-US" sz="2000" b="1" i="1" smtClean="0">
                            <a:latin typeface="Cambria Math" panose="02040503050406030204" pitchFamily="18" charset="0"/>
                          </a:rPr>
                          <m:t>𝒕</m:t>
                        </m:r>
                      </m:e>
                    </m:func>
                  </m:oMath>
                </a14:m>
                <a:r>
                  <a:rPr lang="en-US" sz="2000" dirty="0"/>
                  <a:t>,</a:t>
                </a:r>
              </a:p>
              <a:p>
                <a:endParaRPr lang="en-US" sz="2000" dirty="0"/>
              </a:p>
              <a:p>
                <a:r>
                  <a:rPr lang="en-US" sz="2000" dirty="0"/>
                  <a:t>What is the amplitude?</a:t>
                </a:r>
              </a:p>
              <a:p>
                <a:endParaRPr lang="en-US" sz="2000" dirty="0"/>
              </a:p>
              <a:p>
                <a:r>
                  <a:rPr lang="en-US" sz="2000" dirty="0"/>
                  <a:t>What is the period?</a:t>
                </a:r>
              </a:p>
            </p:txBody>
          </p:sp>
        </mc:Choice>
        <mc:Fallback xmlns="">
          <p:sp>
            <p:nvSpPr>
              <p:cNvPr id="8" name="TextBox 7"/>
              <p:cNvSpPr txBox="1">
                <a:spLocks noRot="1" noChangeAspect="1" noMove="1" noResize="1" noEditPoints="1" noAdjustHandles="1" noChangeArrowheads="1" noChangeShapeType="1" noTextEdit="1"/>
              </p:cNvSpPr>
              <p:nvPr/>
            </p:nvSpPr>
            <p:spPr>
              <a:xfrm>
                <a:off x="6564945" y="1429261"/>
                <a:ext cx="2756156" cy="1631216"/>
              </a:xfrm>
              <a:prstGeom prst="rect">
                <a:avLst/>
              </a:prstGeom>
              <a:blipFill rotWithShape="0">
                <a:blip r:embed="rId6"/>
                <a:stretch>
                  <a:fillRect l="-2434" t="-1866" b="-55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8970986" y="2603162"/>
                <a:ext cx="2697897" cy="527580"/>
              </a:xfrm>
              <a:prstGeom prst="rect">
                <a:avLst/>
              </a:prstGeom>
              <a:noFill/>
            </p:spPr>
            <p:txBody>
              <a:bodyPr wrap="square" rtlCol="0">
                <a:spAutoFit/>
              </a:bodyPr>
              <a:lstStyle/>
              <a:p>
                <a:r>
                  <a:rPr lang="en-US" sz="2000" dirty="0">
                    <a:solidFill>
                      <a:srgbClr val="C00000"/>
                    </a:solidFill>
                  </a:rPr>
                  <a:t>The period is </a:t>
                </a:r>
                <a14:m>
                  <m:oMath xmlns:m="http://schemas.openxmlformats.org/officeDocument/2006/math">
                    <m:f>
                      <m:fPr>
                        <m:ctrlPr>
                          <a:rPr lang="en-US" sz="2000" i="1" smtClean="0">
                            <a:solidFill>
                              <a:srgbClr val="C00000"/>
                            </a:solidFill>
                            <a:latin typeface="Cambria Math" panose="02040503050406030204" pitchFamily="18" charset="0"/>
                          </a:rPr>
                        </m:ctrlPr>
                      </m:fPr>
                      <m:num>
                        <m:r>
                          <a:rPr lang="en-US" sz="2000" b="0" i="1" smtClean="0">
                            <a:solidFill>
                              <a:srgbClr val="C00000"/>
                            </a:solidFill>
                            <a:latin typeface="Cambria Math" panose="02040503050406030204" pitchFamily="18" charset="0"/>
                          </a:rPr>
                          <m:t>2</m:t>
                        </m:r>
                        <m:r>
                          <a:rPr lang="en-US" sz="2000" b="0" i="1" smtClean="0">
                            <a:solidFill>
                              <a:srgbClr val="C00000"/>
                            </a:solidFill>
                            <a:latin typeface="Cambria Math" panose="02040503050406030204" pitchFamily="18" charset="0"/>
                            <a:ea typeface="Cambria Math" panose="02040503050406030204" pitchFamily="18" charset="0"/>
                          </a:rPr>
                          <m:t>𝜋</m:t>
                        </m:r>
                      </m:num>
                      <m:den>
                        <m:r>
                          <a:rPr lang="en-US" sz="2000" b="0" i="1" smtClean="0">
                            <a:solidFill>
                              <a:srgbClr val="C00000"/>
                            </a:solidFill>
                            <a:latin typeface="Cambria Math" panose="02040503050406030204" pitchFamily="18" charset="0"/>
                          </a:rPr>
                          <m:t>0.5</m:t>
                        </m:r>
                      </m:den>
                    </m:f>
                    <m:r>
                      <a:rPr lang="en-US" sz="2000" b="0" i="1" smtClean="0">
                        <a:solidFill>
                          <a:srgbClr val="C00000"/>
                        </a:solidFill>
                        <a:latin typeface="Cambria Math" panose="02040503050406030204" pitchFamily="18" charset="0"/>
                      </a:rPr>
                      <m:t>=4</m:t>
                    </m:r>
                    <m:r>
                      <a:rPr lang="en-US" sz="2000" b="0" i="1" smtClean="0">
                        <a:solidFill>
                          <a:srgbClr val="C00000"/>
                        </a:solidFill>
                        <a:latin typeface="Cambria Math" panose="02040503050406030204" pitchFamily="18" charset="0"/>
                        <a:ea typeface="Cambria Math" panose="02040503050406030204" pitchFamily="18" charset="0"/>
                      </a:rPr>
                      <m:t>𝜋</m:t>
                    </m:r>
                  </m:oMath>
                </a14:m>
                <a:r>
                  <a:rPr lang="en-US" sz="2000" dirty="0">
                    <a:solidFill>
                      <a:srgbClr val="C00000"/>
                    </a:solidFill>
                  </a:rPr>
                  <a:t>.</a:t>
                </a:r>
                <a:r>
                  <a:rPr lang="en-US" dirty="0">
                    <a:solidFill>
                      <a:srgbClr val="C00000"/>
                    </a:solidFill>
                  </a:rPr>
                  <a:t> </a:t>
                </a:r>
              </a:p>
            </p:txBody>
          </p:sp>
        </mc:Choice>
        <mc:Fallback xmlns="">
          <p:sp>
            <p:nvSpPr>
              <p:cNvPr id="10" name="TextBox 9"/>
              <p:cNvSpPr txBox="1">
                <a:spLocks noRot="1" noChangeAspect="1" noMove="1" noResize="1" noEditPoints="1" noAdjustHandles="1" noChangeArrowheads="1" noChangeShapeType="1" noTextEdit="1"/>
              </p:cNvSpPr>
              <p:nvPr/>
            </p:nvSpPr>
            <p:spPr>
              <a:xfrm>
                <a:off x="8970986" y="2603162"/>
                <a:ext cx="2697897" cy="527580"/>
              </a:xfrm>
              <a:prstGeom prst="rect">
                <a:avLst/>
              </a:prstGeom>
              <a:blipFill rotWithShape="0">
                <a:blip r:embed="rId7"/>
                <a:stretch>
                  <a:fillRect l="-2489" b="-8046"/>
                </a:stretch>
              </a:blipFill>
            </p:spPr>
            <p:txBody>
              <a:bodyPr/>
              <a:lstStyle/>
              <a:p>
                <a:r>
                  <a:rPr lang="en-US">
                    <a:noFill/>
                  </a:rPr>
                  <a:t> </a:t>
                </a:r>
              </a:p>
            </p:txBody>
          </p:sp>
        </mc:Fallback>
      </mc:AlternateContent>
      <p:sp>
        <p:nvSpPr>
          <p:cNvPr id="2" name="Title 1"/>
          <p:cNvSpPr>
            <a:spLocks noGrp="1"/>
          </p:cNvSpPr>
          <p:nvPr>
            <p:ph type="title"/>
          </p:nvPr>
        </p:nvSpPr>
        <p:spPr>
          <a:xfrm>
            <a:off x="838200" y="305152"/>
            <a:ext cx="10515600" cy="982234"/>
          </a:xfrm>
        </p:spPr>
        <p:txBody>
          <a:bodyPr/>
          <a:lstStyle/>
          <a:p>
            <a:pPr/>
            <a:r>
              <a:rPr lang="en-US" dirty="0">
                <a:solidFill/>
              </a:rPr>
              <a:t>Sketch the Graph</a:t>
            </a:r>
          </a:p>
        </p:txBody>
      </p:sp>
      <p:sp>
        <p:nvSpPr>
          <p:cNvPr id="5" name="TextBox 4"/>
          <p:cNvSpPr txBox="1"/>
          <p:nvPr/>
        </p:nvSpPr>
        <p:spPr>
          <a:xfrm>
            <a:off x="3418700" y="2067701"/>
            <a:ext cx="2364262" cy="400110"/>
          </a:xfrm>
          <a:prstGeom prst="rect">
            <a:avLst/>
          </a:prstGeom>
          <a:noFill/>
        </p:spPr>
        <p:txBody>
          <a:bodyPr wrap="square" rtlCol="0">
            <a:spAutoFit/>
          </a:bodyPr>
          <a:lstStyle/>
          <a:p>
            <a:pPr/>
            <a:r>
              <a:rPr lang="en-US" sz="2000" dirty="0">
                <a:solidFill>
                  <a:srgbClr val="C00000"/>
                </a:solidFill>
              </a:rPr>
              <a:t>The amplitude is 5.</a:t>
            </a:r>
          </a:p>
        </p:txBody>
      </p:sp>
      <p:pic>
        <p:nvPicPr>
          <p:cNvPr id="3" name="Picture 1" descr="Graph of a function of curve, on a coordinate plane. The horizontal axis is labeled t, and ranges from negative pi to 2 pi, in increments of pi. The vertical axis ranges from negative 5 to 5. The curve is labeled y equals 5 sine 2 t, starts from the point (negative pi, 0), on the negative t-axis, increases concave down to the right, and reaches a high point at (negative 3 pi over 4, 5). The curve then decreases to the right, crosses the t-axis, reaches a low point at (negative pi over 4, negative 5), and then the curve increases concave up, and crosses the origin. The curve then proceeds similarly as it goes rightward. Period equals pi, and Amplitude equals 5. All values are estimated."/>
          <p:cNvPicPr>
            <a:picLocks noGrp="1" noChangeAspect="1"/>
          </p:cNvPicPr>
          <p:nvPr isPhoto="1"/>
        </p:nvPicPr>
        <p:blipFill>
          <a:blip r:embed="rId2" cstate="print">
            <a:extLst>
              <a:ext uri="{28A0092B-C50C-407E-A947-70E740481C1C}">
                <a14:useLocalDpi xmlns:a14="http://schemas.microsoft.com/office/drawing/2010/main" val="0"/>
              </a:ext>
            </a:extLst>
          </a:blip>
          <a:srcRect/>
          <a:stretch>
            <a:fillRect/>
          </a:stretch>
        </p:blipFill>
        <p:spPr bwMode="auto">
          <a:xfrm>
            <a:off x="992060" y="3346677"/>
            <a:ext cx="3637605" cy="2691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9139862" y="2030629"/>
            <a:ext cx="2364262" cy="400110"/>
          </a:xfrm>
          <a:prstGeom prst="rect">
            <a:avLst/>
          </a:prstGeom>
          <a:noFill/>
        </p:spPr>
        <p:txBody>
          <a:bodyPr wrap="square" rtlCol="0">
            <a:spAutoFit/>
          </a:bodyPr>
          <a:lstStyle/>
          <a:p>
            <a:pPr/>
            <a:r>
              <a:rPr lang="en-US" sz="2000" dirty="0">
                <a:solidFill>
                  <a:srgbClr val="C00000"/>
                </a:solidFill>
              </a:rPr>
              <a:t>The amplitude is 5.</a:t>
            </a:r>
          </a:p>
        </p:txBody>
      </p:sp>
      <p:pic>
        <p:nvPicPr>
          <p:cNvPr id="7" name="Picture 1" descr="Graph of a function of curve, on a coordinate plane. The horizontal axis is labeled t, and ranges from negative pi to 4 pi, in increments of pi. The vertical axis ranges from negative 5 to 5. The curve is labeled y equals negative 5 sine left parenthesis t over 2 right parenthesis, and enters the left of the graph, from the point (negative pi, 5), in the second quadrant. The curve then decreases concave down to the right, crossing the origin and reaches a low point at (pi, negative 5). The curve then increases concave up to the right, crosses the t-axis, and reaches a high point at (3 pi, 5). The curve then proceeds similarly as it goes rightward. Period equals 4 pi, and Amplitude equals 5. All values are estimated."/>
          <p:cNvPicPr>
            <a:picLocks noGrp="1" noChangeAspect="1"/>
          </p:cNvPicPr>
          <p:nvPr isPhoto="1"/>
        </p:nvPicPr>
        <p:blipFill>
          <a:blip r:embed="rId5" cstate="print">
            <a:extLst>
              <a:ext uri="{28A0092B-C50C-407E-A947-70E740481C1C}">
                <a14:useLocalDpi xmlns:a14="http://schemas.microsoft.com/office/drawing/2010/main" val="0"/>
              </a:ext>
            </a:extLst>
          </a:blip>
          <a:srcRect/>
          <a:stretch>
            <a:fillRect/>
          </a:stretch>
        </p:blipFill>
        <p:spPr bwMode="auto">
          <a:xfrm>
            <a:off x="6970027" y="3378164"/>
            <a:ext cx="3590881" cy="26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82011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8" grpId="0"/>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p:cNvSpPr txBox="1"/>
              <p:nvPr/>
            </p:nvSpPr>
            <p:spPr>
              <a:xfrm>
                <a:off x="1524000" y="1690688"/>
                <a:ext cx="9028670" cy="3447098"/>
              </a:xfrm>
              <a:prstGeom prst="rect">
                <a:avLst/>
              </a:prstGeom>
              <a:solidFill>
                <a:schemeClr val="bg1"/>
              </a:solidFill>
            </p:spPr>
            <p:txBody>
              <a:bodyPr wrap="square" rtlCol="0">
                <a:spAutoFit/>
              </a:bodyPr>
              <a:lstStyle/>
              <a:p>
                <a:pPr>
                  <a:spcAft>
                    <a:spcPts val="1200"/>
                  </a:spcAft>
                </a:pPr>
                <a:r>
                  <a:rPr lang="en-US" sz="2800" dirty="0"/>
                  <a:t>For the function </a:t>
                </a:r>
                <a14:m>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=−3</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cos</m:t>
                        </m:r>
                      </m:fName>
                      <m:e>
                        <m:r>
                          <a:rPr lang="en-US" sz="2800" b="0" i="1" smtClean="0">
                            <a:latin typeface="Cambria Math" panose="02040503050406030204" pitchFamily="18" charset="0"/>
                          </a:rPr>
                          <m:t>4</m:t>
                        </m:r>
                        <m:r>
                          <a:rPr lang="en-US" sz="2800" b="0" i="1" smtClean="0">
                            <a:latin typeface="Cambria Math" panose="02040503050406030204" pitchFamily="18" charset="0"/>
                          </a:rPr>
                          <m:t>𝑡</m:t>
                        </m:r>
                      </m:e>
                    </m:func>
                  </m:oMath>
                </a14:m>
                <a:r>
                  <a:rPr lang="en-US" sz="2800" dirty="0"/>
                  <a:t>,  what is the amplitude?</a:t>
                </a:r>
              </a:p>
              <a:p>
                <a:pPr marL="457200" indent="-457200">
                  <a:spcAft>
                    <a:spcPts val="1200"/>
                  </a:spcAft>
                  <a:buAutoNum type="alphaUcPeriod"/>
                </a:pPr>
                <a:r>
                  <a:rPr lang="en-US" sz="2800" dirty="0"/>
                  <a:t>    1</a:t>
                </a:r>
              </a:p>
              <a:p>
                <a:pPr marL="457200" indent="-457200">
                  <a:spcAft>
                    <a:spcPts val="1200"/>
                  </a:spcAft>
                  <a:buAutoNum type="alphaUcPeriod"/>
                </a:pPr>
                <a:r>
                  <a:rPr lang="en-US" sz="2800" dirty="0"/>
                  <a:t> </a:t>
                </a:r>
                <a14:m>
                  <m:oMath xmlns:m="http://schemas.openxmlformats.org/officeDocument/2006/math">
                    <m:r>
                      <a:rPr lang="en-US" sz="2800" i="1" dirty="0" smtClean="0">
                        <a:latin typeface="Cambria Math" panose="02040503050406030204" pitchFamily="18" charset="0"/>
                      </a:rPr>
                      <m:t>−1</m:t>
                    </m:r>
                  </m:oMath>
                </a14:m>
                <a:endParaRPr lang="en-US" sz="2800" dirty="0"/>
              </a:p>
              <a:p>
                <a:pPr marL="457200" indent="-457200">
                  <a:spcAft>
                    <a:spcPts val="1200"/>
                  </a:spcAft>
                  <a:buAutoNum type="alphaUcPeriod"/>
                </a:pPr>
                <a:r>
                  <a:rPr lang="en-US" sz="2800" dirty="0"/>
                  <a:t>    3</a:t>
                </a:r>
              </a:p>
              <a:p>
                <a:pPr marL="457200" indent="-457200">
                  <a:spcAft>
                    <a:spcPts val="1200"/>
                  </a:spcAft>
                  <a:buAutoNum type="alphaUcPeriod"/>
                </a:pPr>
                <a:r>
                  <a:rPr lang="en-US" sz="2800" dirty="0"/>
                  <a:t> </a:t>
                </a:r>
                <a14:m>
                  <m:oMath xmlns:m="http://schemas.openxmlformats.org/officeDocument/2006/math">
                    <m:r>
                      <a:rPr lang="en-US" sz="2800" i="1" dirty="0" smtClean="0">
                        <a:latin typeface="Cambria Math" panose="02040503050406030204" pitchFamily="18" charset="0"/>
                      </a:rPr>
                      <m:t>−3</m:t>
                    </m:r>
                  </m:oMath>
                </a14:m>
                <a:endParaRPr lang="en-US" sz="2800" dirty="0"/>
              </a:p>
              <a:p>
                <a:pPr marL="457200" indent="-457200">
                  <a:spcAft>
                    <a:spcPts val="1200"/>
                  </a:spcAft>
                  <a:buAutoNum type="alphaUcPeriod"/>
                </a:pPr>
                <a:r>
                  <a:rPr lang="en-US" sz="2800" dirty="0"/>
                  <a:t>    4</a:t>
                </a:r>
              </a:p>
            </p:txBody>
          </p:sp>
        </mc:Choice>
        <mc:Fallback xmlns="">
          <p:sp>
            <p:nvSpPr>
              <p:cNvPr id="3" name="TextBox 2"/>
              <p:cNvSpPr txBox="1">
                <a:spLocks noRot="1" noChangeAspect="1" noMove="1" noResize="1" noEditPoints="1" noAdjustHandles="1" noChangeArrowheads="1" noChangeShapeType="1" noTextEdit="1"/>
              </p:cNvSpPr>
              <p:nvPr/>
            </p:nvSpPr>
            <p:spPr>
              <a:xfrm>
                <a:off x="1524000" y="1690688"/>
                <a:ext cx="9028670" cy="3447098"/>
              </a:xfrm>
              <a:prstGeom prst="rect">
                <a:avLst/>
              </a:prstGeom>
              <a:blipFill>
                <a:blip r:embed="rId2"/>
                <a:stretch>
                  <a:fillRect l="-1418" t="-1590" b="-4240"/>
                </a:stretch>
              </a:blipFill>
            </p:spPr>
            <p:txBody>
              <a:bodyPr/>
              <a:lstStyle/>
              <a:p>
                <a:r>
                  <a:rPr lang="en-US">
                    <a:noFill/>
                  </a:rPr>
                  <a:t> </a:t>
                </a:r>
              </a:p>
            </p:txBody>
          </p:sp>
        </mc:Fallback>
      </mc:AlternateContent>
      <p:sp>
        <p:nvSpPr>
          <p:cNvPr id="2" name="Title 1"/>
          <p:cNvSpPr>
            <a:spLocks noGrp="1"/>
          </p:cNvSpPr>
          <p:nvPr>
            <p:ph type="title"/>
          </p:nvPr>
        </p:nvSpPr>
        <p:spPr>
          <a:xfrm>
            <a:off x="838200" y="200875"/>
            <a:ext cx="10515600" cy="1325563"/>
          </a:xfrm>
        </p:spPr>
        <p:txBody>
          <a:bodyPr/>
          <a:lstStyle/>
          <a:p>
            <a:pPr/>
            <a:r>
              <a:rPr lang="en-US" dirty="0">
                <a:solidFill/>
              </a:rPr>
              <a:t>Question #1</a:t>
            </a:r>
          </a:p>
        </p:txBody>
      </p:sp>
      <p:cxnSp>
        <p:nvCxnSpPr>
          <p:cNvPr id="7" name="Straight Arrow Connector 6">
            <a:extLst>
              <a:ext uri="{FF2B5EF4-FFF2-40B4-BE49-F238E27FC236}">
                <a16:creationId xmlns:a16="http://schemas.microsoft.com/office/drawing/2014/main" id="{CED504E8-4798-90BD-B2F1-A7632143378F}"/>
              </a:ext>
              <a:ext uri="{C183D7F6-B498-43B3-948B-1728B52AA6E4}">
                <adec:decorative xmlns:adec="http://schemas.microsoft.com/office/drawing/2017/decorative" val="1"/>
              </a:ext>
            </a:extLst>
          </p:cNvPr>
          <p:cNvCxnSpPr/>
          <p:nvPr/>
        </p:nvCxnSpPr>
        <p:spPr>
          <a:xfrm flipH="1" flipV="1">
            <a:off x="5064790" y="2151848"/>
            <a:ext cx="60230" cy="657054"/>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3D95F87D-9275-5ED4-90AD-CC8008A445AA}"/>
              </a:ext>
              <a:ext uri="{C183D7F6-B498-43B3-948B-1728B52AA6E4}">
                <adec:decorative xmlns:adec="http://schemas.microsoft.com/office/drawing/2017/decorative" val="1"/>
              </a:ext>
            </a:extLst>
          </p:cNvPr>
          <p:cNvSpPr/>
          <p:nvPr/>
        </p:nvSpPr>
        <p:spPr>
          <a:xfrm>
            <a:off x="1268111" y="3265172"/>
            <a:ext cx="887062" cy="799415"/>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9A640F83-0B62-4E52-8659-AB48633648E1}"/>
              </a:ext>
            </a:extLst>
          </p:cNvPr>
          <p:cNvSpPr txBox="1"/>
          <p:nvPr/>
        </p:nvSpPr>
        <p:spPr>
          <a:xfrm>
            <a:off x="364855" y="5299784"/>
            <a:ext cx="2966769" cy="1015663"/>
          </a:xfrm>
          <a:prstGeom prst="rect">
            <a:avLst/>
          </a:prstGeom>
          <a:noFill/>
          <a:ln w="57150">
            <a:solidFill>
              <a:schemeClr val="accent1"/>
            </a:solidFill>
          </a:ln>
        </p:spPr>
        <p:txBody>
          <a:bodyPr wrap="square" rtlCol="0">
            <a:spAutoFit/>
          </a:bodyPr>
          <a:lstStyle/>
          <a:p>
            <a:pPr/>
            <a:r>
              <a:rPr lang="en-US" sz="6000" dirty="0">
                <a:solidFill>
                  <a:srgbClr val="C00000"/>
                </a:solidFill>
              </a:rPr>
              <a:t>Solution</a:t>
            </a:r>
          </a:p>
        </p:txBody>
      </p:sp>
      <p:sp>
        <p:nvSpPr>
          <p:cNvPr id="5" name="TextBox 4">
            <a:extLst>
              <a:ext uri="{FF2B5EF4-FFF2-40B4-BE49-F238E27FC236}">
                <a16:creationId xmlns:a16="http://schemas.microsoft.com/office/drawing/2014/main" id="{184BF08F-09D6-63D5-A85B-894A8C91D8F3}"/>
              </a:ext>
            </a:extLst>
          </p:cNvPr>
          <p:cNvSpPr txBox="1"/>
          <p:nvPr/>
        </p:nvSpPr>
        <p:spPr>
          <a:xfrm>
            <a:off x="4424163" y="2874605"/>
            <a:ext cx="5836829" cy="707886"/>
          </a:xfrm>
          <a:prstGeom prst="rect">
            <a:avLst/>
          </a:prstGeom>
          <a:noFill/>
        </p:spPr>
        <p:txBody>
          <a:bodyPr wrap="square" rtlCol="0">
            <a:spAutoFit/>
          </a:bodyPr>
          <a:lstStyle/>
          <a:p>
            <a:pPr/>
            <a:r>
              <a:rPr lang="en-US" sz="2000" i="1" dirty="0">
                <a:solidFill>
                  <a:srgbClr val="C00000"/>
                </a:solidFill>
              </a:rPr>
              <a:t>The amplitude is the vertical stretch, which is the absolute value of this coefficient.</a:t>
            </a:r>
          </a:p>
        </p:txBody>
      </p:sp>
      <p:sp>
        <p:nvSpPr>
          <p:cNvPr id="6" name="TextBox 6">
            <a:extLst>
              <a:ext uri="{FF2B5EF4-FFF2-40B4-BE49-F238E27FC236}">
                <a16:creationId xmlns:a16="http://schemas.microsoft.com/office/drawing/2014/main" id="{535FF81E-02CF-31F3-0497-67FF03E2D5AD}"/>
              </a:ext>
            </a:extLst>
          </p:cNvPr>
          <p:cNvSpPr txBox="1"/>
          <p:nvPr/>
        </p:nvSpPr>
        <p:spPr>
          <a:xfrm>
            <a:off x="10196753" y="6198630"/>
            <a:ext cx="1630392"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r>
              <a:rPr lang="en-US" sz="2400" i="1" dirty="0">
                <a:solidFill>
                  <a:srgbClr val="C00000"/>
                </a:solidFill>
              </a:rPr>
              <a:t>Answer:  C</a:t>
            </a:r>
          </a:p>
        </p:txBody>
      </p:sp>
    </p:spTree>
    <p:extLst>
      <p:ext uri="{BB962C8B-B14F-4D97-AF65-F5344CB8AC3E}">
        <p14:creationId xmlns:p14="http://schemas.microsoft.com/office/powerpoint/2010/main" val="652762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p:cNvSpPr txBox="1"/>
              <p:nvPr/>
            </p:nvSpPr>
            <p:spPr>
              <a:xfrm>
                <a:off x="1524000" y="1219566"/>
                <a:ext cx="9028670" cy="4031873"/>
              </a:xfrm>
              <a:prstGeom prst="rect">
                <a:avLst/>
              </a:prstGeom>
              <a:solidFill>
                <a:schemeClr val="bg1"/>
              </a:solidFill>
            </p:spPr>
            <p:txBody>
              <a:bodyPr wrap="square" rtlCol="0">
                <a:spAutoFit/>
              </a:bodyPr>
              <a:lstStyle/>
              <a:p>
                <a:pPr>
                  <a:spcAft>
                    <a:spcPts val="1200"/>
                  </a:spcAft>
                </a:pPr>
                <a:r>
                  <a:rPr lang="en-US" sz="2800" dirty="0"/>
                  <a:t>For the function </a:t>
                </a:r>
                <a14:m>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=−3</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cos</m:t>
                        </m:r>
                      </m:fName>
                      <m:e>
                        <m:r>
                          <a:rPr lang="en-US" sz="2800" b="0" i="1" smtClean="0">
                            <a:latin typeface="Cambria Math" panose="02040503050406030204" pitchFamily="18" charset="0"/>
                          </a:rPr>
                          <m:t>4</m:t>
                        </m:r>
                        <m:r>
                          <a:rPr lang="en-US" sz="2800" b="0" i="1" smtClean="0">
                            <a:latin typeface="Cambria Math" panose="02040503050406030204" pitchFamily="18" charset="0"/>
                          </a:rPr>
                          <m:t>𝑡</m:t>
                        </m:r>
                      </m:e>
                    </m:func>
                  </m:oMath>
                </a14:m>
                <a:r>
                  <a:rPr lang="en-US" sz="2800" dirty="0"/>
                  <a:t>,  what is the period?</a:t>
                </a:r>
              </a:p>
              <a:p>
                <a:pPr marL="457200" indent="-457200">
                  <a:spcAft>
                    <a:spcPts val="1200"/>
                  </a:spcAft>
                  <a:buAutoNum type="alphaUcPeriod"/>
                </a:pPr>
                <a:r>
                  <a:rPr lang="en-US" sz="2800" dirty="0"/>
                  <a:t>    4</a:t>
                </a:r>
              </a:p>
              <a:p>
                <a:pPr marL="457200" indent="-457200">
                  <a:spcAft>
                    <a:spcPts val="1200"/>
                  </a:spcAft>
                  <a:buAutoNum type="alphaUcPeriod"/>
                </a:pPr>
                <a:r>
                  <a:rPr lang="en-US" sz="2800" dirty="0"/>
                  <a:t> </a:t>
                </a:r>
                <a14:m>
                  <m:oMath xmlns:m="http://schemas.openxmlformats.org/officeDocument/2006/math">
                    <m:r>
                      <a:rPr lang="en-US" sz="2800" i="1" dirty="0" smtClean="0">
                        <a:latin typeface="Cambria Math" panose="02040503050406030204" pitchFamily="18" charset="0"/>
                      </a:rPr>
                      <m:t>−4</m:t>
                    </m:r>
                  </m:oMath>
                </a14:m>
                <a:endParaRPr lang="en-US" sz="2800" dirty="0"/>
              </a:p>
              <a:p>
                <a:pPr marL="457200" indent="-457200">
                  <a:spcAft>
                    <a:spcPts val="1200"/>
                  </a:spcAft>
                  <a:buAutoNum type="alphaUcPeriod"/>
                </a:pPr>
                <a:r>
                  <a:rPr lang="en-US" sz="2800" dirty="0"/>
                  <a:t>  2</a:t>
                </a:r>
                <a:r>
                  <a:rPr lang="el-GR" sz="2800" dirty="0"/>
                  <a:t>π</a:t>
                </a:r>
                <a:endParaRPr lang="en-US" sz="2800" dirty="0"/>
              </a:p>
              <a:p>
                <a:pPr marL="457200" indent="-457200">
                  <a:spcAft>
                    <a:spcPts val="1200"/>
                  </a:spcAft>
                  <a:buAutoNum type="alphaUcPeriod"/>
                </a:pPr>
                <a:r>
                  <a:rPr lang="en-US" sz="2800" dirty="0"/>
                  <a:t>  4</a:t>
                </a:r>
                <a:r>
                  <a:rPr lang="el-GR" sz="2800" dirty="0"/>
                  <a:t>π</a:t>
                </a:r>
                <a:endParaRPr lang="en-US" sz="2800" dirty="0"/>
              </a:p>
              <a:p>
                <a:pPr marL="457200" indent="-457200">
                  <a:spcAft>
                    <a:spcPts val="1200"/>
                  </a:spcAft>
                  <a:buAutoNum type="alphaUcPeriod"/>
                </a:pPr>
                <a:r>
                  <a:rPr lang="en-US" sz="2800" dirty="0"/>
                  <a:t> </a:t>
                </a:r>
                <a:r>
                  <a:rPr lang="el-GR" sz="2800" dirty="0"/>
                  <a:t>π</a:t>
                </a:r>
                <a:r>
                  <a:rPr lang="en-US" sz="2800" dirty="0"/>
                  <a:t>/2</a:t>
                </a:r>
              </a:p>
              <a:p>
                <a:pPr>
                  <a:spcAft>
                    <a:spcPts val="1200"/>
                  </a:spcAft>
                </a:pPr>
                <a:endParaRPr lang="en-US" sz="2800" dirty="0"/>
              </a:p>
            </p:txBody>
          </p:sp>
        </mc:Choice>
        <mc:Fallback xmlns="">
          <p:sp>
            <p:nvSpPr>
              <p:cNvPr id="3" name="TextBox 2"/>
              <p:cNvSpPr txBox="1">
                <a:spLocks noRot="1" noChangeAspect="1" noMove="1" noResize="1" noEditPoints="1" noAdjustHandles="1" noChangeArrowheads="1" noChangeShapeType="1" noTextEdit="1"/>
              </p:cNvSpPr>
              <p:nvPr/>
            </p:nvSpPr>
            <p:spPr>
              <a:xfrm>
                <a:off x="1524000" y="1219566"/>
                <a:ext cx="9028670" cy="4031873"/>
              </a:xfrm>
              <a:prstGeom prst="rect">
                <a:avLst/>
              </a:prstGeom>
              <a:blipFill>
                <a:blip r:embed="rId2"/>
                <a:stretch>
                  <a:fillRect l="-1418" t="-13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012C06B-5E13-9AE9-3819-3DC8266FD302}"/>
                  </a:ext>
                </a:extLst>
              </p:cNvPr>
              <p:cNvSpPr txBox="1"/>
              <p:nvPr/>
            </p:nvSpPr>
            <p:spPr>
              <a:xfrm>
                <a:off x="4424163" y="2469183"/>
                <a:ext cx="5836829" cy="2515176"/>
              </a:xfrm>
              <a:prstGeom prst="rect">
                <a:avLst/>
              </a:prstGeom>
              <a:noFill/>
            </p:spPr>
            <p:txBody>
              <a:bodyPr wrap="square" rtlCol="0">
                <a:spAutoFit/>
              </a:bodyPr>
              <a:lstStyle/>
              <a:p>
                <a:r>
                  <a:rPr lang="en-US" sz="2000" i="1" dirty="0">
                    <a:solidFill>
                      <a:srgbClr val="C00000"/>
                    </a:solidFill>
                  </a:rPr>
                  <a:t>The period is related to the horizontal stretch, in the sense that </a:t>
                </a:r>
                <a14:m>
                  <m:oMath xmlns:m="http://schemas.openxmlformats.org/officeDocument/2006/math">
                    <m:r>
                      <a:rPr lang="en-US" sz="2000" b="0" i="1" smtClean="0">
                        <a:solidFill>
                          <a:srgbClr val="C00000"/>
                        </a:solidFill>
                        <a:latin typeface="Cambria Math" panose="02040503050406030204" pitchFamily="18" charset="0"/>
                      </a:rPr>
                      <m:t>𝐵</m:t>
                    </m:r>
                    <m:r>
                      <a:rPr lang="en-US" sz="2000" b="0" i="1" smtClean="0">
                        <a:solidFill>
                          <a:srgbClr val="C00000"/>
                        </a:solidFill>
                        <a:latin typeface="Cambria Math" panose="02040503050406030204" pitchFamily="18" charset="0"/>
                        <a:ea typeface="Cambria Math" panose="02040503050406030204" pitchFamily="18" charset="0"/>
                      </a:rPr>
                      <m:t>∙</m:t>
                    </m:r>
                    <m:r>
                      <m:rPr>
                        <m:nor/>
                      </m:rPr>
                      <a:rPr lang="en-US" sz="2000" b="0" i="0" smtClean="0">
                        <a:solidFill>
                          <a:srgbClr val="C00000"/>
                        </a:solidFill>
                        <a:latin typeface="Cambria Math" panose="02040503050406030204" pitchFamily="18" charset="0"/>
                        <a:ea typeface="Cambria Math" panose="02040503050406030204" pitchFamily="18" charset="0"/>
                      </a:rPr>
                      <m:t>period</m:t>
                    </m:r>
                    <m:r>
                      <a:rPr lang="en-US" sz="2000" b="0" i="1" smtClean="0">
                        <a:solidFill>
                          <a:srgbClr val="C00000"/>
                        </a:solidFill>
                        <a:latin typeface="Cambria Math" panose="02040503050406030204" pitchFamily="18" charset="0"/>
                        <a:ea typeface="Cambria Math" panose="02040503050406030204" pitchFamily="18" charset="0"/>
                      </a:rPr>
                      <m:t>=2</m:t>
                    </m:r>
                    <m:r>
                      <a:rPr lang="en-US" sz="2000" b="0" i="1" smtClean="0">
                        <a:solidFill>
                          <a:srgbClr val="C00000"/>
                        </a:solidFill>
                        <a:latin typeface="Cambria Math" panose="02040503050406030204" pitchFamily="18" charset="0"/>
                        <a:ea typeface="Cambria Math" panose="02040503050406030204" pitchFamily="18" charset="0"/>
                      </a:rPr>
                      <m:t>𝜋</m:t>
                    </m:r>
                  </m:oMath>
                </a14:m>
                <a:r>
                  <a:rPr lang="en-US" sz="2000" i="1" dirty="0">
                    <a:solidFill>
                      <a:srgbClr val="C00000"/>
                    </a:solidFill>
                  </a:rPr>
                  <a:t>.  The parameter </a:t>
                </a:r>
                <a14:m>
                  <m:oMath xmlns:m="http://schemas.openxmlformats.org/officeDocument/2006/math">
                    <m:r>
                      <a:rPr lang="en-US" sz="2000" i="1" dirty="0" smtClean="0">
                        <a:solidFill>
                          <a:srgbClr val="C00000"/>
                        </a:solidFill>
                        <a:latin typeface="Cambria Math" panose="02040503050406030204" pitchFamily="18" charset="0"/>
                      </a:rPr>
                      <m:t>𝐵</m:t>
                    </m:r>
                  </m:oMath>
                </a14:m>
                <a:r>
                  <a:rPr lang="en-US" sz="2000" i="1" dirty="0">
                    <a:solidFill>
                      <a:srgbClr val="C00000"/>
                    </a:solidFill>
                  </a:rPr>
                  <a:t> refers to this coefficient, so in this case, we have </a:t>
                </a:r>
                <a14:m>
                  <m:oMath xmlns:m="http://schemas.openxmlformats.org/officeDocument/2006/math">
                    <m:r>
                      <a:rPr lang="en-US" sz="2000" i="1" dirty="0" smtClean="0">
                        <a:solidFill>
                          <a:srgbClr val="C00000"/>
                        </a:solidFill>
                        <a:latin typeface="Cambria Math" panose="02040503050406030204" pitchFamily="18" charset="0"/>
                      </a:rPr>
                      <m:t>𝐵</m:t>
                    </m:r>
                    <m:r>
                      <a:rPr lang="en-US" sz="2000" i="1" dirty="0" smtClean="0">
                        <a:solidFill>
                          <a:srgbClr val="C00000"/>
                        </a:solidFill>
                        <a:latin typeface="Cambria Math" panose="02040503050406030204" pitchFamily="18" charset="0"/>
                      </a:rPr>
                      <m:t>=4</m:t>
                    </m:r>
                  </m:oMath>
                </a14:m>
                <a:r>
                  <a:rPr lang="en-US" sz="2000" i="1" dirty="0">
                    <a:solidFill>
                      <a:srgbClr val="C00000"/>
                    </a:solidFill>
                  </a:rPr>
                  <a:t>.</a:t>
                </a:r>
              </a:p>
              <a:p>
                <a:endParaRPr lang="en-US" sz="2000" i="1" dirty="0">
                  <a:solidFill>
                    <a:srgbClr val="C00000"/>
                  </a:solidFill>
                </a:endParaRPr>
              </a:p>
              <a:p>
                <a:pPr/>
                <a14:m>
                  <m:oMathPara xmlns:m="http://schemas.openxmlformats.org/officeDocument/2006/math">
                    <m:oMathParaPr>
                      <m:jc m:val="centerGroup"/>
                    </m:oMathParaPr>
                    <m:oMath xmlns:m="http://schemas.openxmlformats.org/officeDocument/2006/math">
                      <m:r>
                        <a:rPr lang="en-US" sz="2000" b="0" i="1" smtClean="0">
                          <a:solidFill>
                            <a:srgbClr val="C00000"/>
                          </a:solidFill>
                          <a:latin typeface="Cambria Math" panose="02040503050406030204" pitchFamily="18" charset="0"/>
                        </a:rPr>
                        <m:t>𝐵</m:t>
                      </m:r>
                      <m:r>
                        <a:rPr lang="en-US" sz="2000" b="0" i="1" smtClean="0">
                          <a:solidFill>
                            <a:srgbClr val="C00000"/>
                          </a:solidFill>
                          <a:latin typeface="Cambria Math" panose="02040503050406030204" pitchFamily="18" charset="0"/>
                          <a:ea typeface="Cambria Math" panose="02040503050406030204" pitchFamily="18" charset="0"/>
                        </a:rPr>
                        <m:t>∙</m:t>
                      </m:r>
                      <m:r>
                        <m:rPr>
                          <m:nor/>
                        </m:rPr>
                        <a:rPr lang="en-US" sz="2000" b="0" i="0" smtClean="0">
                          <a:solidFill>
                            <a:srgbClr val="C00000"/>
                          </a:solidFill>
                          <a:latin typeface="Cambria Math" panose="02040503050406030204" pitchFamily="18" charset="0"/>
                          <a:ea typeface="Cambria Math" panose="02040503050406030204" pitchFamily="18" charset="0"/>
                        </a:rPr>
                        <m:t>period</m:t>
                      </m:r>
                      <m:r>
                        <a:rPr lang="en-US" sz="2000" b="0" i="1" smtClean="0">
                          <a:solidFill>
                            <a:srgbClr val="C00000"/>
                          </a:solidFill>
                          <a:latin typeface="Cambria Math" panose="02040503050406030204" pitchFamily="18" charset="0"/>
                          <a:ea typeface="Cambria Math" panose="02040503050406030204" pitchFamily="18" charset="0"/>
                        </a:rPr>
                        <m:t>=2</m:t>
                      </m:r>
                      <m:r>
                        <a:rPr lang="en-US" sz="2000" b="0" i="1" smtClean="0">
                          <a:solidFill>
                            <a:srgbClr val="C00000"/>
                          </a:solidFill>
                          <a:latin typeface="Cambria Math" panose="02040503050406030204" pitchFamily="18" charset="0"/>
                          <a:ea typeface="Cambria Math" panose="02040503050406030204" pitchFamily="18" charset="0"/>
                        </a:rPr>
                        <m:t>𝜋</m:t>
                      </m:r>
                    </m:oMath>
                  </m:oMathPara>
                </a14:m>
                <a:endParaRPr lang="en-US" sz="2000" i="1" dirty="0">
                  <a:solidFill>
                    <a:srgbClr val="C00000"/>
                  </a:solidFill>
                </a:endParaRPr>
              </a:p>
              <a:p>
                <a:pPr/>
                <a14:m>
                  <m:oMathPara xmlns:m="http://schemas.openxmlformats.org/officeDocument/2006/math">
                    <m:oMathParaPr>
                      <m:jc m:val="centerGroup"/>
                    </m:oMathParaPr>
                    <m:oMath xmlns:m="http://schemas.openxmlformats.org/officeDocument/2006/math">
                      <m:r>
                        <a:rPr lang="en-US" sz="2000" b="0" i="1" smtClean="0">
                          <a:solidFill>
                            <a:srgbClr val="C00000"/>
                          </a:solidFill>
                          <a:latin typeface="Cambria Math" panose="02040503050406030204" pitchFamily="18" charset="0"/>
                        </a:rPr>
                        <m:t>4</m:t>
                      </m:r>
                      <m:r>
                        <a:rPr lang="en-US" sz="2000" b="0" i="1" smtClean="0">
                          <a:solidFill>
                            <a:srgbClr val="C00000"/>
                          </a:solidFill>
                          <a:latin typeface="Cambria Math" panose="02040503050406030204" pitchFamily="18" charset="0"/>
                          <a:ea typeface="Cambria Math" panose="02040503050406030204" pitchFamily="18" charset="0"/>
                        </a:rPr>
                        <m:t>∙</m:t>
                      </m:r>
                      <m:r>
                        <m:rPr>
                          <m:nor/>
                        </m:rPr>
                        <a:rPr lang="en-US" sz="2000" b="0" i="0" smtClean="0">
                          <a:solidFill>
                            <a:srgbClr val="C00000"/>
                          </a:solidFill>
                          <a:latin typeface="Cambria Math" panose="02040503050406030204" pitchFamily="18" charset="0"/>
                          <a:ea typeface="Cambria Math" panose="02040503050406030204" pitchFamily="18" charset="0"/>
                        </a:rPr>
                        <m:t>period</m:t>
                      </m:r>
                      <m:r>
                        <a:rPr lang="en-US" sz="2000" b="0" i="1" smtClean="0">
                          <a:solidFill>
                            <a:srgbClr val="C00000"/>
                          </a:solidFill>
                          <a:latin typeface="Cambria Math" panose="02040503050406030204" pitchFamily="18" charset="0"/>
                          <a:ea typeface="Cambria Math" panose="02040503050406030204" pitchFamily="18" charset="0"/>
                        </a:rPr>
                        <m:t>=2</m:t>
                      </m:r>
                      <m:r>
                        <a:rPr lang="en-US" sz="2000" b="0" i="1" smtClean="0">
                          <a:solidFill>
                            <a:srgbClr val="C00000"/>
                          </a:solidFill>
                          <a:latin typeface="Cambria Math" panose="02040503050406030204" pitchFamily="18" charset="0"/>
                          <a:ea typeface="Cambria Math" panose="02040503050406030204" pitchFamily="18" charset="0"/>
                        </a:rPr>
                        <m:t>𝜋</m:t>
                      </m:r>
                    </m:oMath>
                  </m:oMathPara>
                </a14:m>
                <a:endParaRPr lang="en-US" sz="2000" i="1" dirty="0">
                  <a:solidFill>
                    <a:srgbClr val="C00000"/>
                  </a:solidFill>
                </a:endParaRPr>
              </a:p>
              <a:p>
                <a:pPr/>
                <a14:m>
                  <m:oMathPara xmlns:m="http://schemas.openxmlformats.org/officeDocument/2006/math">
                    <m:oMathParaPr>
                      <m:jc m:val="centerGroup"/>
                    </m:oMathParaPr>
                    <m:oMath xmlns:m="http://schemas.openxmlformats.org/officeDocument/2006/math">
                      <m:r>
                        <m:rPr>
                          <m:nor/>
                        </m:rPr>
                        <a:rPr lang="en-US" sz="2000" b="0" i="0" smtClean="0">
                          <a:solidFill>
                            <a:srgbClr val="C00000"/>
                          </a:solidFill>
                          <a:latin typeface="Cambria Math" panose="02040503050406030204" pitchFamily="18" charset="0"/>
                        </a:rPr>
                        <m:t>Period</m:t>
                      </m:r>
                      <m:r>
                        <a:rPr lang="en-US" sz="2000" b="0" i="1" smtClean="0">
                          <a:solidFill>
                            <a:srgbClr val="C00000"/>
                          </a:solidFill>
                          <a:latin typeface="Cambria Math" panose="02040503050406030204" pitchFamily="18" charset="0"/>
                        </a:rPr>
                        <m:t>=</m:t>
                      </m:r>
                      <m:f>
                        <m:fPr>
                          <m:ctrlPr>
                            <a:rPr lang="en-US" sz="2000" b="0" i="1" smtClean="0">
                              <a:solidFill>
                                <a:srgbClr val="C00000"/>
                              </a:solidFill>
                              <a:latin typeface="Cambria Math" panose="02040503050406030204" pitchFamily="18" charset="0"/>
                              <a:ea typeface="Cambria Math" panose="02040503050406030204" pitchFamily="18" charset="0"/>
                            </a:rPr>
                          </m:ctrlPr>
                        </m:fPr>
                        <m:num>
                          <m:r>
                            <a:rPr lang="en-US" sz="2000" b="0" i="1" smtClean="0">
                              <a:solidFill>
                                <a:srgbClr val="C00000"/>
                              </a:solidFill>
                              <a:latin typeface="Cambria Math" panose="02040503050406030204" pitchFamily="18" charset="0"/>
                            </a:rPr>
                            <m:t>2</m:t>
                          </m:r>
                          <m:r>
                            <a:rPr lang="en-US" sz="2000" b="0" i="1" smtClean="0">
                              <a:solidFill>
                                <a:srgbClr val="C00000"/>
                              </a:solidFill>
                              <a:latin typeface="Cambria Math" panose="02040503050406030204" pitchFamily="18" charset="0"/>
                              <a:ea typeface="Cambria Math" panose="02040503050406030204" pitchFamily="18" charset="0"/>
                            </a:rPr>
                            <m:t>𝜋</m:t>
                          </m:r>
                        </m:num>
                        <m:den>
                          <m:r>
                            <a:rPr lang="en-US" sz="2000" b="0" i="1" smtClean="0">
                              <a:solidFill>
                                <a:srgbClr val="C00000"/>
                              </a:solidFill>
                              <a:latin typeface="Cambria Math" panose="02040503050406030204" pitchFamily="18" charset="0"/>
                              <a:ea typeface="Cambria Math" panose="02040503050406030204" pitchFamily="18" charset="0"/>
                            </a:rPr>
                            <m:t>4</m:t>
                          </m:r>
                        </m:den>
                      </m:f>
                      <m:r>
                        <a:rPr lang="en-US" sz="2000" b="0" i="1" smtClean="0">
                          <a:solidFill>
                            <a:srgbClr val="C00000"/>
                          </a:solidFill>
                          <a:latin typeface="Cambria Math" panose="02040503050406030204" pitchFamily="18" charset="0"/>
                          <a:ea typeface="Cambria Math" panose="02040503050406030204" pitchFamily="18" charset="0"/>
                        </a:rPr>
                        <m:t>=</m:t>
                      </m:r>
                      <m:r>
                        <a:rPr lang="en-US" sz="2000" b="0" i="1" smtClean="0">
                          <a:solidFill>
                            <a:srgbClr val="C00000"/>
                          </a:solidFill>
                          <a:latin typeface="Cambria Math" panose="02040503050406030204" pitchFamily="18" charset="0"/>
                          <a:ea typeface="Cambria Math" panose="02040503050406030204" pitchFamily="18" charset="0"/>
                        </a:rPr>
                        <m:t>𝜋</m:t>
                      </m:r>
                      <m:r>
                        <a:rPr lang="en-US" sz="2000" b="0" i="1" smtClean="0">
                          <a:solidFill>
                            <a:srgbClr val="C00000"/>
                          </a:solidFill>
                          <a:latin typeface="Cambria Math" panose="02040503050406030204" pitchFamily="18" charset="0"/>
                          <a:ea typeface="Cambria Math" panose="02040503050406030204" pitchFamily="18" charset="0"/>
                        </a:rPr>
                        <m:t>/2</m:t>
                      </m:r>
                    </m:oMath>
                  </m:oMathPara>
                </a14:m>
                <a:endParaRPr lang="en-US" sz="2000" i="1" dirty="0">
                  <a:solidFill>
                    <a:srgbClr val="C00000"/>
                  </a:solidFill>
                </a:endParaRPr>
              </a:p>
            </p:txBody>
          </p:sp>
        </mc:Choice>
        <mc:Fallback xmlns="">
          <p:sp>
            <p:nvSpPr>
              <p:cNvPr id="5" name="TextBox 4">
                <a:extLst>
                  <a:ext uri="{FF2B5EF4-FFF2-40B4-BE49-F238E27FC236}">
                    <a16:creationId xmlns:a16="http://schemas.microsoft.com/office/drawing/2014/main" id="{D012C06B-5E13-9AE9-3819-3DC8266FD302}"/>
                  </a:ext>
                </a:extLst>
              </p:cNvPr>
              <p:cNvSpPr txBox="1">
                <a:spLocks noRot="1" noChangeAspect="1" noMove="1" noResize="1" noEditPoints="1" noAdjustHandles="1" noChangeArrowheads="1" noChangeShapeType="1" noTextEdit="1"/>
              </p:cNvSpPr>
              <p:nvPr/>
            </p:nvSpPr>
            <p:spPr>
              <a:xfrm>
                <a:off x="4424163" y="2469183"/>
                <a:ext cx="5836829" cy="2515176"/>
              </a:xfrm>
              <a:prstGeom prst="rect">
                <a:avLst/>
              </a:prstGeom>
              <a:blipFill>
                <a:blip r:embed="rId3"/>
                <a:stretch>
                  <a:fillRect l="-1149" t="-1211"/>
                </a:stretch>
              </a:blipFill>
            </p:spPr>
            <p:txBody>
              <a:bodyPr/>
              <a:lstStyle/>
              <a:p>
                <a:r>
                  <a:rPr lang="en-US">
                    <a:noFill/>
                  </a:rPr>
                  <a:t> </a:t>
                </a:r>
              </a:p>
            </p:txBody>
          </p:sp>
        </mc:Fallback>
      </mc:AlternateContent>
      <p:sp>
        <p:nvSpPr>
          <p:cNvPr id="2" name="Title 1"/>
          <p:cNvSpPr>
            <a:spLocks noGrp="1"/>
          </p:cNvSpPr>
          <p:nvPr>
            <p:ph type="title"/>
          </p:nvPr>
        </p:nvSpPr>
        <p:spPr>
          <a:xfrm>
            <a:off x="838200" y="155283"/>
            <a:ext cx="10515600" cy="1137038"/>
          </a:xfrm>
        </p:spPr>
        <p:txBody>
          <a:bodyPr/>
          <a:lstStyle/>
          <a:p>
            <a:pPr/>
            <a:r>
              <a:rPr lang="en-US" dirty="0">
                <a:solidFill/>
              </a:rPr>
              <a:t>Question #2</a:t>
            </a:r>
          </a:p>
        </p:txBody>
      </p:sp>
      <p:cxnSp>
        <p:nvCxnSpPr>
          <p:cNvPr id="7" name="Straight Arrow Connector 6">
            <a:extLst>
              <a:ext uri="{FF2B5EF4-FFF2-40B4-BE49-F238E27FC236}">
                <a16:creationId xmlns:a16="http://schemas.microsoft.com/office/drawing/2014/main" id="{B5F990A0-A646-5A52-F227-EA2B15839984}"/>
              </a:ext>
              <a:ext uri="{C183D7F6-B498-43B3-948B-1728B52AA6E4}">
                <adec:decorative xmlns:adec="http://schemas.microsoft.com/office/drawing/2017/decorative" val="1"/>
              </a:ext>
            </a:extLst>
          </p:cNvPr>
          <p:cNvCxnSpPr/>
          <p:nvPr/>
        </p:nvCxnSpPr>
        <p:spPr>
          <a:xfrm flipH="1" flipV="1">
            <a:off x="5891575" y="1746426"/>
            <a:ext cx="60230" cy="657054"/>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9C52354E-7623-2903-E108-ECF14CB3ED54}"/>
              </a:ext>
              <a:ext uri="{C183D7F6-B498-43B3-948B-1728B52AA6E4}">
                <adec:decorative xmlns:adec="http://schemas.microsoft.com/office/drawing/2017/decorative" val="1"/>
              </a:ext>
            </a:extLst>
          </p:cNvPr>
          <p:cNvSpPr/>
          <p:nvPr/>
        </p:nvSpPr>
        <p:spPr>
          <a:xfrm>
            <a:off x="1324478" y="3949390"/>
            <a:ext cx="887062" cy="799415"/>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D0C0B0A0-9DE9-3D4B-EE02-C8AC3BF417BD}"/>
              </a:ext>
            </a:extLst>
          </p:cNvPr>
          <p:cNvSpPr txBox="1"/>
          <p:nvPr/>
        </p:nvSpPr>
        <p:spPr>
          <a:xfrm>
            <a:off x="364855" y="5300059"/>
            <a:ext cx="2966769" cy="1015663"/>
          </a:xfrm>
          <a:prstGeom prst="rect">
            <a:avLst/>
          </a:prstGeom>
          <a:noFill/>
          <a:ln w="57150">
            <a:solidFill>
              <a:schemeClr val="accent1"/>
            </a:solidFill>
          </a:ln>
        </p:spPr>
        <p:txBody>
          <a:bodyPr wrap="square" rtlCol="0">
            <a:spAutoFit/>
          </a:bodyPr>
          <a:lstStyle/>
          <a:p>
            <a:pPr/>
            <a:r>
              <a:rPr lang="en-US" sz="6000" dirty="0">
                <a:solidFill>
                  <a:srgbClr val="C00000"/>
                </a:solidFill>
              </a:rPr>
              <a:t>Solution</a:t>
            </a:r>
          </a:p>
        </p:txBody>
      </p:sp>
      <p:sp>
        <p:nvSpPr>
          <p:cNvPr id="6" name="TextBox 6">
            <a:extLst>
              <a:ext uri="{FF2B5EF4-FFF2-40B4-BE49-F238E27FC236}">
                <a16:creationId xmlns:a16="http://schemas.microsoft.com/office/drawing/2014/main" id="{6CD7837A-5056-37C6-315A-AF548B21AB3B}"/>
              </a:ext>
            </a:extLst>
          </p:cNvPr>
          <p:cNvSpPr txBox="1"/>
          <p:nvPr/>
        </p:nvSpPr>
        <p:spPr>
          <a:xfrm>
            <a:off x="10196753" y="6198630"/>
            <a:ext cx="1630392"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r>
              <a:rPr lang="en-US" sz="2400" i="1" dirty="0">
                <a:solidFill>
                  <a:srgbClr val="C00000"/>
                </a:solidFill>
              </a:rPr>
              <a:t>Answer:  E</a:t>
            </a:r>
          </a:p>
        </p:txBody>
      </p:sp>
    </p:spTree>
    <p:extLst>
      <p:ext uri="{BB962C8B-B14F-4D97-AF65-F5344CB8AC3E}">
        <p14:creationId xmlns:p14="http://schemas.microsoft.com/office/powerpoint/2010/main" val="2554561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par>
                                <p:cTn id="23" presetID="22" presetClass="entr" presetSubtype="4"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down)">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build="p"/>
      <p:bldP spid="6" grpId="0"/>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2383"/>
            <a:ext cx="10515600" cy="899856"/>
          </a:xfrm>
        </p:spPr>
        <p:txBody>
          <a:bodyPr/>
          <a:lstStyle/>
          <a:p>
            <a:pPr/>
            <a:r>
              <a:rPr lang="en-US" dirty="0">
                <a:solidFill/>
              </a:rPr>
              <a:t>Finding Formulas from Graphs</a:t>
            </a:r>
          </a:p>
        </p:txBody>
      </p:sp>
      <p:pic>
        <p:nvPicPr>
          <p:cNvPr id="3" name="Picture 1" descr="Graph (a) of a function g of t, on a coordinate plane. The horizontal axis labeled t, ranges from negative 6 pi to 12 pi, in increments of 6 pi. The vertical axis ranges from negative 3 to 3. The curve enters the left of the graph at (negative 6 pi, 0.6), decreases concave down to the right, and reaches a low point at (negative 3 pi, negative 3). The curve then increases to the right through the origin and reaches a high point at (3 pi, 3). The curve then decreases to the right, crosses the t-axis to a low point at (9 pi, negative 3). and then increases to the right, and crosses the t-axis. All values are estimated."/>
          <p:cNvPicPr>
            <a:picLocks noGrp="1" noChangeAspect="1"/>
          </p:cNvPicPr>
          <p:nvPr isPhoto="1"/>
        </p:nvPicPr>
        <p:blipFill>
          <a:blip r:embed="rId2" cstate="print">
            <a:extLst>
              <a:ext uri="{28A0092B-C50C-407E-A947-70E740481C1C}">
                <a14:useLocalDpi xmlns:a14="http://schemas.microsoft.com/office/drawing/2010/main" val="0"/>
              </a:ext>
            </a:extLst>
          </a:blip>
          <a:srcRect/>
          <a:stretch>
            <a:fillRect/>
          </a:stretch>
        </p:blipFill>
        <p:spPr bwMode="auto">
          <a:xfrm>
            <a:off x="498902" y="1496904"/>
            <a:ext cx="3661201" cy="245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1" descr="Graph of a function of curve, on a coordinate plane. The horizontal axis is labeled t, and ranges from negative 1 to 4, in increments of 1. The vertical axis ranges from negative 2 to 2. The curve is labeled f of t, enters the left of the graph, decreases concave up to the right, crosses the t-axis, and reaches a low point at (0, negative 2). The curve then increases concave up to the right, crosses the t-axis at (1, 0), and reaches a high point at (2, 2). The curve then decreases concave up, crosses the t-axis, reaches a low point at (4, negative 2), and exits the bottom right of the graph. All values are estimated."/>
          <p:cNvPicPr>
            <a:picLocks noGrp="1" noChangeAspect="1"/>
          </p:cNvPicPr>
          <p:nvPr isPhoto="1"/>
        </p:nvPicPr>
        <p:blipFill>
          <a:blip r:embed="rId3" cstate="print">
            <a:extLst>
              <a:ext uri="{28A0092B-C50C-407E-A947-70E740481C1C}">
                <a14:useLocalDpi xmlns:a14="http://schemas.microsoft.com/office/drawing/2010/main" val="0"/>
              </a:ext>
            </a:extLst>
          </a:blip>
          <a:srcRect/>
          <a:stretch>
            <a:fillRect/>
          </a:stretch>
        </p:blipFill>
        <p:spPr bwMode="auto">
          <a:xfrm>
            <a:off x="6086974" y="1502877"/>
            <a:ext cx="3485377" cy="2486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1920695" y="964080"/>
            <a:ext cx="8773297" cy="523220"/>
          </a:xfrm>
          <a:prstGeom prst="rect">
            <a:avLst/>
          </a:prstGeom>
          <a:noFill/>
        </p:spPr>
        <p:txBody>
          <a:bodyPr wrap="square" rtlCol="0">
            <a:spAutoFit/>
          </a:bodyPr>
          <a:lstStyle/>
          <a:p>
            <a:pPr/>
            <a:r>
              <a:rPr lang="en-US" sz="2800" dirty="0">
                <a:solidFill/>
              </a:rPr>
              <a:t>Find formulas for the following trigonometric graphs.</a:t>
            </a:r>
          </a:p>
        </p:txBody>
      </p:sp>
      <p:sp>
        <p:nvSpPr>
          <p:cNvPr id="6" name="TextBox 5"/>
          <p:cNvSpPr txBox="1"/>
          <p:nvPr/>
        </p:nvSpPr>
        <p:spPr>
          <a:xfrm>
            <a:off x="258187" y="4141473"/>
            <a:ext cx="3912973" cy="461665"/>
          </a:xfrm>
          <a:prstGeom prst="rect">
            <a:avLst/>
          </a:prstGeom>
          <a:noFill/>
        </p:spPr>
        <p:txBody>
          <a:bodyPr wrap="square" rtlCol="0">
            <a:spAutoFit/>
          </a:bodyPr>
          <a:lstStyle/>
          <a:p>
            <a:pPr/>
            <a:r>
              <a:rPr lang="en-US" sz="2400" dirty="0">
                <a:solidFill/>
              </a:rPr>
              <a:t>Is this sin?  -sin?  cos? –cos?</a:t>
            </a:r>
          </a:p>
        </p:txBody>
      </p:sp>
      <mc:AlternateContent xmlns:mc="http://schemas.openxmlformats.org/markup-compatibility/2006" xmlns:a14="http://schemas.microsoft.com/office/drawing/2010/main">
        <mc:Choice Requires="a14">
          <p:sp>
            <p:nvSpPr>
              <p:cNvPr id="7" name="TextBox 6"/>
              <p:cNvSpPr txBox="1"/>
              <p:nvPr/>
            </p:nvSpPr>
            <p:spPr>
              <a:xfrm>
                <a:off x="3785273" y="4093508"/>
                <a:ext cx="1832921"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𝑦</m:t>
                      </m:r>
                      <m:r>
                        <a:rPr lang="en-US" sz="2400" b="0" i="1"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𝐴</m:t>
                      </m:r>
                      <m:func>
                        <m:funcPr>
                          <m:ctrlPr>
                            <a:rPr lang="en-US" sz="2400" b="0" i="1" smtClean="0">
                              <a:solidFill>
                                <a:srgbClr val="C00000"/>
                              </a:solidFill>
                              <a:latin typeface="Cambria Math" panose="02040503050406030204" pitchFamily="18" charset="0"/>
                            </a:rPr>
                          </m:ctrlPr>
                        </m:funcPr>
                        <m:fName>
                          <m:r>
                            <m:rPr>
                              <m:sty m:val="p"/>
                            </m:rPr>
                            <a:rPr lang="en-US" sz="2400" b="0" i="0" smtClean="0">
                              <a:solidFill>
                                <a:srgbClr val="C00000"/>
                              </a:solidFill>
                              <a:latin typeface="Cambria Math" panose="02040503050406030204" pitchFamily="18" charset="0"/>
                            </a:rPr>
                            <m:t>sin</m:t>
                          </m:r>
                        </m:fName>
                        <m:e>
                          <m:r>
                            <a:rPr lang="en-US" sz="2400" b="0" i="1" smtClean="0">
                              <a:solidFill>
                                <a:srgbClr val="C00000"/>
                              </a:solidFill>
                              <a:latin typeface="Cambria Math" panose="02040503050406030204" pitchFamily="18" charset="0"/>
                            </a:rPr>
                            <m:t>𝐵𝑡</m:t>
                          </m:r>
                        </m:e>
                      </m:func>
                    </m:oMath>
                  </m:oMathPara>
                </a14:m>
                <a:endParaRPr lang="en-US" sz="2400" dirty="0">
                  <a:solidFill>
                    <a:srgbClr val="C00000"/>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3785273" y="4093508"/>
                <a:ext cx="1832921" cy="461665"/>
              </a:xfrm>
              <a:prstGeom prst="rect">
                <a:avLst/>
              </a:prstGeom>
              <a:blipFill>
                <a:blip r:embed="rId4"/>
                <a:stretch>
                  <a:fillRect b="-10667"/>
                </a:stretch>
              </a:blipFill>
            </p:spPr>
            <p:txBody>
              <a:bodyPr/>
              <a:lstStyle/>
              <a:p>
                <a:r>
                  <a:rPr lang="en-US">
                    <a:noFill/>
                  </a:rPr>
                  <a:t> </a:t>
                </a:r>
              </a:p>
            </p:txBody>
          </p:sp>
        </mc:Fallback>
      </mc:AlternateContent>
      <p:sp>
        <p:nvSpPr>
          <p:cNvPr id="8" name="TextBox 7"/>
          <p:cNvSpPr txBox="1"/>
          <p:nvPr/>
        </p:nvSpPr>
        <p:spPr>
          <a:xfrm>
            <a:off x="218293" y="4532827"/>
            <a:ext cx="3150976" cy="461665"/>
          </a:xfrm>
          <a:prstGeom prst="rect">
            <a:avLst/>
          </a:prstGeom>
          <a:noFill/>
        </p:spPr>
        <p:txBody>
          <a:bodyPr wrap="square" rtlCol="0">
            <a:spAutoFit/>
          </a:bodyPr>
          <a:lstStyle/>
          <a:p>
            <a:pPr/>
            <a:r>
              <a:rPr lang="en-US" sz="2400" dirty="0">
                <a:solidFill/>
              </a:rPr>
              <a:t>What is the amplitude?</a:t>
            </a:r>
          </a:p>
        </p:txBody>
      </p:sp>
      <mc:AlternateContent xmlns:mc="http://schemas.openxmlformats.org/markup-compatibility/2006" xmlns:a14="http://schemas.microsoft.com/office/drawing/2010/main">
        <mc:Choice Requires="a14">
          <p:sp>
            <p:nvSpPr>
              <p:cNvPr id="9" name="TextBox 8"/>
              <p:cNvSpPr txBox="1"/>
              <p:nvPr/>
            </p:nvSpPr>
            <p:spPr>
              <a:xfrm>
                <a:off x="3789393" y="4517759"/>
                <a:ext cx="1832921"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𝑦</m:t>
                      </m:r>
                      <m:r>
                        <a:rPr lang="en-US" sz="2400" b="0" i="1" smtClean="0">
                          <a:solidFill>
                            <a:srgbClr val="C00000"/>
                          </a:solidFill>
                          <a:latin typeface="Cambria Math" panose="02040503050406030204" pitchFamily="18" charset="0"/>
                        </a:rPr>
                        <m:t>=3</m:t>
                      </m:r>
                      <m:func>
                        <m:funcPr>
                          <m:ctrlPr>
                            <a:rPr lang="en-US" sz="2400" b="0" i="1" smtClean="0">
                              <a:solidFill>
                                <a:srgbClr val="C00000"/>
                              </a:solidFill>
                              <a:latin typeface="Cambria Math" panose="02040503050406030204" pitchFamily="18" charset="0"/>
                            </a:rPr>
                          </m:ctrlPr>
                        </m:funcPr>
                        <m:fName>
                          <m:r>
                            <m:rPr>
                              <m:sty m:val="p"/>
                            </m:rPr>
                            <a:rPr lang="en-US" sz="2400" b="0" i="0" smtClean="0">
                              <a:solidFill>
                                <a:srgbClr val="C00000"/>
                              </a:solidFill>
                              <a:latin typeface="Cambria Math" panose="02040503050406030204" pitchFamily="18" charset="0"/>
                            </a:rPr>
                            <m:t>sin</m:t>
                          </m:r>
                        </m:fName>
                        <m:e>
                          <m:r>
                            <a:rPr lang="en-US" sz="2400" b="0" i="1" smtClean="0">
                              <a:solidFill>
                                <a:srgbClr val="C00000"/>
                              </a:solidFill>
                              <a:latin typeface="Cambria Math" panose="02040503050406030204" pitchFamily="18" charset="0"/>
                            </a:rPr>
                            <m:t>𝐵𝑡</m:t>
                          </m:r>
                        </m:e>
                      </m:func>
                    </m:oMath>
                  </m:oMathPara>
                </a14:m>
                <a:endParaRPr lang="en-US" sz="2400" dirty="0">
                  <a:solidFill>
                    <a:srgbClr val="C00000"/>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3789393" y="4517759"/>
                <a:ext cx="1832921" cy="461665"/>
              </a:xfrm>
              <a:prstGeom prst="rect">
                <a:avLst/>
              </a:prstGeom>
              <a:blipFill>
                <a:blip r:embed="rId5"/>
                <a:stretch>
                  <a:fillRect b="-10526"/>
                </a:stretch>
              </a:blipFill>
            </p:spPr>
            <p:txBody>
              <a:bodyPr/>
              <a:lstStyle/>
              <a:p>
                <a:r>
                  <a:rPr lang="en-US">
                    <a:noFill/>
                  </a:rPr>
                  <a:t> </a:t>
                </a:r>
              </a:p>
            </p:txBody>
          </p:sp>
        </mc:Fallback>
      </mc:AlternateContent>
      <p:sp>
        <p:nvSpPr>
          <p:cNvPr id="10" name="Oval 9">
            <a:extLst>
              <a:ext uri="{C183D7F6-B498-43B3-948B-1728B52AA6E4}">
                <adec:decorative xmlns:adec="http://schemas.microsoft.com/office/drawing/2017/decorative" val="1"/>
              </a:ext>
            </a:extLst>
          </p:cNvPr>
          <p:cNvSpPr/>
          <p:nvPr/>
        </p:nvSpPr>
        <p:spPr>
          <a:xfrm>
            <a:off x="972062" y="4105865"/>
            <a:ext cx="757881" cy="527221"/>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280080" y="4918634"/>
            <a:ext cx="3150976" cy="461665"/>
          </a:xfrm>
          <a:prstGeom prst="rect">
            <a:avLst/>
          </a:prstGeom>
          <a:noFill/>
        </p:spPr>
        <p:txBody>
          <a:bodyPr wrap="square" rtlCol="0">
            <a:spAutoFit/>
          </a:bodyPr>
          <a:lstStyle/>
          <a:p>
            <a:pPr/>
            <a:r>
              <a:rPr lang="en-US" sz="2400" dirty="0">
                <a:solidFill/>
              </a:rPr>
              <a:t>What is the period?</a:t>
            </a:r>
          </a:p>
        </p:txBody>
      </p:sp>
      <mc:AlternateContent xmlns:mc="http://schemas.openxmlformats.org/markup-compatibility/2006" xmlns:a14="http://schemas.microsoft.com/office/drawing/2010/main">
        <mc:Choice Requires="a14">
          <p:sp>
            <p:nvSpPr>
              <p:cNvPr id="12" name="TextBox 11"/>
              <p:cNvSpPr txBox="1"/>
              <p:nvPr/>
            </p:nvSpPr>
            <p:spPr>
              <a:xfrm>
                <a:off x="263599" y="5618555"/>
                <a:ext cx="1888252"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sz="2000" i="0" dirty="0" smtClean="0">
                          <a:solidFill>
                            <a:srgbClr val="C00000"/>
                          </a:solidFill>
                          <a:latin typeface="Cambria Math" panose="02040503050406030204" pitchFamily="18" charset="0"/>
                        </a:rPr>
                        <m:t>Period</m:t>
                      </m:r>
                      <m:r>
                        <a:rPr lang="en-US" sz="2000" i="1" dirty="0" smtClean="0">
                          <a:solidFill>
                            <a:srgbClr val="C00000"/>
                          </a:solidFill>
                          <a:latin typeface="Cambria Math" panose="02040503050406030204" pitchFamily="18" charset="0"/>
                        </a:rPr>
                        <m:t>=12</m:t>
                      </m:r>
                      <m:r>
                        <a:rPr lang="el-GR" sz="2000" i="1" dirty="0">
                          <a:solidFill>
                            <a:srgbClr val="C00000"/>
                          </a:solidFill>
                          <a:latin typeface="Cambria Math" panose="02040503050406030204" pitchFamily="18" charset="0"/>
                        </a:rPr>
                        <m:t>𝜋</m:t>
                      </m:r>
                    </m:oMath>
                  </m:oMathPara>
                </a14:m>
                <a:endParaRPr lang="en-US" sz="2000" dirty="0">
                  <a:solidFill>
                    <a:srgbClr val="C00000"/>
                  </a:solidFill>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263599" y="5618555"/>
                <a:ext cx="1888252" cy="40011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1938309" y="5271863"/>
                <a:ext cx="2331939" cy="12861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dirty="0" smtClean="0">
                          <a:solidFill>
                            <a:srgbClr val="C00000"/>
                          </a:solidFill>
                          <a:latin typeface="Cambria Math" panose="02040503050406030204" pitchFamily="18" charset="0"/>
                        </a:rPr>
                        <m:t>𝐵</m:t>
                      </m:r>
                      <m:r>
                        <a:rPr lang="en-US" sz="2000" i="1" dirty="0" smtClean="0">
                          <a:solidFill>
                            <a:srgbClr val="C00000"/>
                          </a:solidFill>
                          <a:latin typeface="Cambria Math" panose="02040503050406030204" pitchFamily="18" charset="0"/>
                        </a:rPr>
                        <m:t>·</m:t>
                      </m:r>
                      <m:r>
                        <m:rPr>
                          <m:nor/>
                        </m:rPr>
                        <a:rPr lang="en-US" sz="2000" i="0" dirty="0" smtClean="0">
                          <a:solidFill>
                            <a:srgbClr val="C00000"/>
                          </a:solidFill>
                          <a:latin typeface="Cambria Math" panose="02040503050406030204" pitchFamily="18" charset="0"/>
                        </a:rPr>
                        <m:t>Period</m:t>
                      </m:r>
                      <m:r>
                        <a:rPr lang="en-US" sz="2000" i="1" dirty="0" smtClean="0">
                          <a:solidFill>
                            <a:srgbClr val="C00000"/>
                          </a:solidFill>
                          <a:latin typeface="Cambria Math" panose="02040503050406030204" pitchFamily="18" charset="0"/>
                        </a:rPr>
                        <m:t> =2</m:t>
                      </m:r>
                      <m:r>
                        <a:rPr lang="el-GR" sz="2000" i="1" dirty="0">
                          <a:solidFill>
                            <a:srgbClr val="C00000"/>
                          </a:solidFill>
                          <a:latin typeface="Cambria Math" panose="02040503050406030204" pitchFamily="18" charset="0"/>
                        </a:rPr>
                        <m:t>𝜋</m:t>
                      </m:r>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r>
                        <a:rPr lang="en-US" sz="2000" i="1" dirty="0" smtClean="0">
                          <a:solidFill>
                            <a:srgbClr val="C00000"/>
                          </a:solidFill>
                          <a:latin typeface="Cambria Math" panose="02040503050406030204" pitchFamily="18" charset="0"/>
                        </a:rPr>
                        <m:t>𝐵</m:t>
                      </m:r>
                      <m:r>
                        <a:rPr lang="en-US" sz="2000" i="1" dirty="0" smtClean="0">
                          <a:solidFill>
                            <a:srgbClr val="C00000"/>
                          </a:solidFill>
                          <a:latin typeface="Cambria Math" panose="02040503050406030204" pitchFamily="18" charset="0"/>
                        </a:rPr>
                        <m:t>·(12</m:t>
                      </m:r>
                      <m:r>
                        <a:rPr lang="el-GR" sz="2000" i="1" dirty="0">
                          <a:solidFill>
                            <a:srgbClr val="C00000"/>
                          </a:solidFill>
                          <a:latin typeface="Cambria Math" panose="02040503050406030204" pitchFamily="18" charset="0"/>
                        </a:rPr>
                        <m:t>𝜋</m:t>
                      </m:r>
                      <m:r>
                        <a:rPr lang="en-US" sz="2000" i="1" dirty="0">
                          <a:solidFill>
                            <a:srgbClr val="C00000"/>
                          </a:solidFill>
                          <a:latin typeface="Cambria Math" panose="02040503050406030204" pitchFamily="18" charset="0"/>
                        </a:rPr>
                        <m:t>)=2</m:t>
                      </m:r>
                      <m:r>
                        <a:rPr lang="el-GR" sz="2000" i="1" dirty="0">
                          <a:solidFill>
                            <a:srgbClr val="C00000"/>
                          </a:solidFill>
                          <a:latin typeface="Cambria Math" panose="02040503050406030204" pitchFamily="18" charset="0"/>
                        </a:rPr>
                        <m:t>𝜋</m:t>
                      </m:r>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r>
                        <a:rPr lang="en-US" sz="2000" i="1" dirty="0" smtClean="0">
                          <a:solidFill>
                            <a:srgbClr val="C00000"/>
                          </a:solidFill>
                          <a:latin typeface="Cambria Math" panose="02040503050406030204" pitchFamily="18" charset="0"/>
                        </a:rPr>
                        <m:t>𝐵</m:t>
                      </m:r>
                      <m:r>
                        <a:rPr lang="en-US" sz="2000" i="1" dirty="0" smtClean="0">
                          <a:solidFill>
                            <a:srgbClr val="C00000"/>
                          </a:solidFill>
                          <a:latin typeface="Cambria Math" panose="02040503050406030204" pitchFamily="18" charset="0"/>
                        </a:rPr>
                        <m:t>=</m:t>
                      </m:r>
                      <m:f>
                        <m:fPr>
                          <m:ctrlPr>
                            <a:rPr lang="en-US" sz="2000" i="1" smtClean="0">
                              <a:solidFill>
                                <a:srgbClr val="C00000"/>
                              </a:solidFill>
                              <a:latin typeface="Cambria Math" panose="02040503050406030204" pitchFamily="18" charset="0"/>
                            </a:rPr>
                          </m:ctrlPr>
                        </m:fPr>
                        <m:num>
                          <m:r>
                            <a:rPr lang="en-US" sz="2000" b="0" i="1" smtClean="0">
                              <a:solidFill>
                                <a:srgbClr val="C00000"/>
                              </a:solidFill>
                              <a:latin typeface="Cambria Math" panose="02040503050406030204" pitchFamily="18" charset="0"/>
                            </a:rPr>
                            <m:t>2</m:t>
                          </m:r>
                          <m:r>
                            <a:rPr lang="en-US" sz="2000" b="0" i="1" smtClean="0">
                              <a:solidFill>
                                <a:srgbClr val="C00000"/>
                              </a:solidFill>
                              <a:latin typeface="Cambria Math" panose="02040503050406030204" pitchFamily="18" charset="0"/>
                              <a:ea typeface="Cambria Math" panose="02040503050406030204" pitchFamily="18" charset="0"/>
                            </a:rPr>
                            <m:t>𝜋</m:t>
                          </m:r>
                        </m:num>
                        <m:den>
                          <m:r>
                            <a:rPr lang="en-US" sz="2000" b="0" i="1" smtClean="0">
                              <a:solidFill>
                                <a:srgbClr val="C00000"/>
                              </a:solidFill>
                              <a:latin typeface="Cambria Math" panose="02040503050406030204" pitchFamily="18" charset="0"/>
                            </a:rPr>
                            <m:t>12</m:t>
                          </m:r>
                          <m:r>
                            <a:rPr lang="en-US" sz="2000" b="0" i="1" smtClean="0">
                              <a:solidFill>
                                <a:srgbClr val="C00000"/>
                              </a:solidFill>
                              <a:latin typeface="Cambria Math" panose="02040503050406030204" pitchFamily="18" charset="0"/>
                              <a:ea typeface="Cambria Math" panose="02040503050406030204" pitchFamily="18" charset="0"/>
                            </a:rPr>
                            <m:t>𝜋</m:t>
                          </m:r>
                        </m:den>
                      </m:f>
                      <m:r>
                        <a:rPr lang="en-US" sz="2000" b="0" i="1" smtClean="0">
                          <a:solidFill>
                            <a:srgbClr val="C00000"/>
                          </a:solidFill>
                          <a:latin typeface="Cambria Math" panose="02040503050406030204" pitchFamily="18" charset="0"/>
                        </a:rPr>
                        <m:t>=</m:t>
                      </m:r>
                      <m:f>
                        <m:fPr>
                          <m:ctrlPr>
                            <a:rPr lang="en-US" sz="2000" b="0" i="1" smtClean="0">
                              <a:solidFill>
                                <a:srgbClr val="C00000"/>
                              </a:solidFill>
                              <a:latin typeface="Cambria Math" panose="02040503050406030204" pitchFamily="18" charset="0"/>
                            </a:rPr>
                          </m:ctrlPr>
                        </m:fPr>
                        <m:num>
                          <m:r>
                            <a:rPr lang="en-US" sz="2000" b="0" i="1" smtClean="0">
                              <a:solidFill>
                                <a:srgbClr val="C00000"/>
                              </a:solidFill>
                              <a:latin typeface="Cambria Math" panose="02040503050406030204" pitchFamily="18" charset="0"/>
                            </a:rPr>
                            <m:t>1</m:t>
                          </m:r>
                        </m:num>
                        <m:den>
                          <m:r>
                            <a:rPr lang="en-US" sz="2000" b="0" i="1" smtClean="0">
                              <a:solidFill>
                                <a:srgbClr val="C00000"/>
                              </a:solidFill>
                              <a:latin typeface="Cambria Math" panose="02040503050406030204" pitchFamily="18" charset="0"/>
                            </a:rPr>
                            <m:t>6</m:t>
                          </m:r>
                        </m:den>
                      </m:f>
                    </m:oMath>
                  </m:oMathPara>
                </a14:m>
                <a:endParaRPr lang="en-US" sz="2000" dirty="0">
                  <a:solidFill>
                    <a:srgbClr val="C00000"/>
                  </a:solidFill>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1938309" y="5271863"/>
                <a:ext cx="2331939" cy="128612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4104865" y="5098532"/>
                <a:ext cx="1832921" cy="786177"/>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𝑦</m:t>
                      </m:r>
                      <m:r>
                        <a:rPr lang="en-US" sz="2400" b="0" i="1" smtClean="0">
                          <a:solidFill>
                            <a:srgbClr val="C00000"/>
                          </a:solidFill>
                          <a:latin typeface="Cambria Math" panose="02040503050406030204" pitchFamily="18" charset="0"/>
                        </a:rPr>
                        <m:t>=3</m:t>
                      </m:r>
                      <m:func>
                        <m:funcPr>
                          <m:ctrlPr>
                            <a:rPr lang="en-US" sz="2400" b="0" i="1" smtClean="0">
                              <a:solidFill>
                                <a:srgbClr val="C00000"/>
                              </a:solidFill>
                              <a:latin typeface="Cambria Math" panose="02040503050406030204" pitchFamily="18" charset="0"/>
                            </a:rPr>
                          </m:ctrlPr>
                        </m:funcPr>
                        <m:fName>
                          <m:r>
                            <m:rPr>
                              <m:sty m:val="p"/>
                            </m:rPr>
                            <a:rPr lang="en-US" sz="2400" b="0" i="0" smtClean="0">
                              <a:solidFill>
                                <a:srgbClr val="C00000"/>
                              </a:solidFill>
                              <a:latin typeface="Cambria Math" panose="02040503050406030204" pitchFamily="18" charset="0"/>
                            </a:rPr>
                            <m:t>sin</m:t>
                          </m:r>
                        </m:fName>
                        <m:e>
                          <m:f>
                            <m:fPr>
                              <m:ctrlPr>
                                <a:rPr lang="en-US" sz="2400" b="0" i="1" smtClean="0">
                                  <a:solidFill>
                                    <a:srgbClr val="C00000"/>
                                  </a:solidFill>
                                  <a:latin typeface="Cambria Math" panose="02040503050406030204" pitchFamily="18" charset="0"/>
                                </a:rPr>
                              </m:ctrlPr>
                            </m:fPr>
                            <m:num>
                              <m:r>
                                <a:rPr lang="en-US" sz="2400" b="0" i="1" smtClean="0">
                                  <a:solidFill>
                                    <a:srgbClr val="C00000"/>
                                  </a:solidFill>
                                  <a:latin typeface="Cambria Math" panose="02040503050406030204" pitchFamily="18" charset="0"/>
                                </a:rPr>
                                <m:t>1</m:t>
                              </m:r>
                            </m:num>
                            <m:den>
                              <m:r>
                                <a:rPr lang="en-US" sz="2400" b="0" i="1" smtClean="0">
                                  <a:solidFill>
                                    <a:srgbClr val="C00000"/>
                                  </a:solidFill>
                                  <a:latin typeface="Cambria Math" panose="02040503050406030204" pitchFamily="18" charset="0"/>
                                </a:rPr>
                                <m:t>6</m:t>
                              </m:r>
                            </m:den>
                          </m:f>
                          <m:r>
                            <a:rPr lang="en-US" sz="2400" b="0" i="1" smtClean="0">
                              <a:solidFill>
                                <a:srgbClr val="C00000"/>
                              </a:solidFill>
                              <a:latin typeface="Cambria Math" panose="02040503050406030204" pitchFamily="18" charset="0"/>
                            </a:rPr>
                            <m:t>𝑡</m:t>
                          </m:r>
                        </m:e>
                      </m:func>
                    </m:oMath>
                  </m:oMathPara>
                </a14:m>
                <a:endParaRPr lang="en-US" sz="2400" dirty="0">
                  <a:solidFill>
                    <a:srgbClr val="C00000"/>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4104865" y="5098532"/>
                <a:ext cx="1832921" cy="786177"/>
              </a:xfrm>
              <a:prstGeom prst="rect">
                <a:avLst/>
              </a:prstGeom>
              <a:blipFill>
                <a:blip r:embed="rId8"/>
                <a:stretch>
                  <a:fillRect/>
                </a:stretch>
              </a:blipFill>
            </p:spPr>
            <p:txBody>
              <a:bodyPr/>
              <a:lstStyle/>
              <a:p>
                <a:r>
                  <a:rPr lang="en-US">
                    <a:noFill/>
                  </a:rPr>
                  <a:t> </a:t>
                </a:r>
              </a:p>
            </p:txBody>
          </p:sp>
        </mc:Fallback>
      </mc:AlternateContent>
      <p:sp>
        <p:nvSpPr>
          <p:cNvPr id="15" name="TextBox 14"/>
          <p:cNvSpPr txBox="1"/>
          <p:nvPr/>
        </p:nvSpPr>
        <p:spPr>
          <a:xfrm>
            <a:off x="6083620" y="4142933"/>
            <a:ext cx="3912973" cy="461665"/>
          </a:xfrm>
          <a:prstGeom prst="rect">
            <a:avLst/>
          </a:prstGeom>
          <a:noFill/>
        </p:spPr>
        <p:txBody>
          <a:bodyPr wrap="square" rtlCol="0">
            <a:spAutoFit/>
          </a:bodyPr>
          <a:lstStyle/>
          <a:p>
            <a:pPr/>
            <a:r>
              <a:rPr lang="en-US" sz="2400" dirty="0">
                <a:solidFill/>
              </a:rPr>
              <a:t>Is this sin?  -sin?  cos? –cos?</a:t>
            </a:r>
          </a:p>
        </p:txBody>
      </p:sp>
      <p:sp>
        <p:nvSpPr>
          <p:cNvPr id="16" name="Oval 15">
            <a:extLst>
              <a:ext uri="{C183D7F6-B498-43B3-948B-1728B52AA6E4}">
                <adec:decorative xmlns:adec="http://schemas.microsoft.com/office/drawing/2017/decorative" val="1"/>
              </a:ext>
            </a:extLst>
          </p:cNvPr>
          <p:cNvSpPr/>
          <p:nvPr/>
        </p:nvSpPr>
        <p:spPr>
          <a:xfrm>
            <a:off x="8843289" y="4118219"/>
            <a:ext cx="757881" cy="527221"/>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p:cNvSpPr txBox="1"/>
              <p:nvPr/>
            </p:nvSpPr>
            <p:spPr>
              <a:xfrm>
                <a:off x="9712383" y="4081150"/>
                <a:ext cx="210891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𝑦</m:t>
                      </m:r>
                      <m:r>
                        <a:rPr lang="en-US" sz="2400" b="0" i="1"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𝐴</m:t>
                      </m:r>
                      <m:func>
                        <m:funcPr>
                          <m:ctrlPr>
                            <a:rPr lang="en-US" sz="2400" b="0" i="1" smtClean="0">
                              <a:solidFill>
                                <a:srgbClr val="C00000"/>
                              </a:solidFill>
                              <a:latin typeface="Cambria Math" panose="02040503050406030204" pitchFamily="18" charset="0"/>
                            </a:rPr>
                          </m:ctrlPr>
                        </m:funcPr>
                        <m:fName>
                          <m:r>
                            <m:rPr>
                              <m:sty m:val="p"/>
                            </m:rPr>
                            <a:rPr lang="en-US" sz="2400" b="0" i="0" smtClean="0">
                              <a:solidFill>
                                <a:srgbClr val="C00000"/>
                              </a:solidFill>
                              <a:latin typeface="Cambria Math" panose="02040503050406030204" pitchFamily="18" charset="0"/>
                            </a:rPr>
                            <m:t>cos</m:t>
                          </m:r>
                          <m:r>
                            <a:rPr lang="en-US" sz="2400" b="0" i="0" smtClean="0">
                              <a:solidFill>
                                <a:srgbClr val="C00000"/>
                              </a:solidFill>
                              <a:latin typeface="Cambria Math" panose="02040503050406030204" pitchFamily="18" charset="0"/>
                            </a:rPr>
                            <m:t> </m:t>
                          </m:r>
                        </m:fName>
                        <m:e>
                          <m:r>
                            <a:rPr lang="en-US" sz="2400" b="0" i="1" smtClean="0">
                              <a:solidFill>
                                <a:srgbClr val="C00000"/>
                              </a:solidFill>
                              <a:latin typeface="Cambria Math" panose="02040503050406030204" pitchFamily="18" charset="0"/>
                            </a:rPr>
                            <m:t>𝐵𝑡</m:t>
                          </m:r>
                        </m:e>
                      </m:func>
                    </m:oMath>
                  </m:oMathPara>
                </a14:m>
                <a:endParaRPr lang="en-US" sz="2400" dirty="0">
                  <a:solidFill>
                    <a:srgbClr val="C00000"/>
                  </a:solidFill>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9712383" y="4081150"/>
                <a:ext cx="2108913" cy="461665"/>
              </a:xfrm>
              <a:prstGeom prst="rect">
                <a:avLst/>
              </a:prstGeom>
              <a:blipFill>
                <a:blip r:embed="rId9"/>
                <a:stretch>
                  <a:fillRect l="-867" r="-578" b="-10526"/>
                </a:stretch>
              </a:blipFill>
            </p:spPr>
            <p:txBody>
              <a:bodyPr/>
              <a:lstStyle/>
              <a:p>
                <a:r>
                  <a:rPr lang="en-US">
                    <a:noFill/>
                  </a:rPr>
                  <a:t> </a:t>
                </a:r>
              </a:p>
            </p:txBody>
          </p:sp>
        </mc:Fallback>
      </mc:AlternateContent>
      <p:sp>
        <p:nvSpPr>
          <p:cNvPr id="18" name="TextBox 17"/>
          <p:cNvSpPr txBox="1"/>
          <p:nvPr/>
        </p:nvSpPr>
        <p:spPr>
          <a:xfrm>
            <a:off x="6137161" y="4550709"/>
            <a:ext cx="3150976" cy="461665"/>
          </a:xfrm>
          <a:prstGeom prst="rect">
            <a:avLst/>
          </a:prstGeom>
          <a:noFill/>
        </p:spPr>
        <p:txBody>
          <a:bodyPr wrap="square" rtlCol="0">
            <a:spAutoFit/>
          </a:bodyPr>
          <a:lstStyle/>
          <a:p>
            <a:pPr/>
            <a:r>
              <a:rPr lang="en-US" sz="2400" dirty="0">
                <a:solidFill/>
              </a:rPr>
              <a:t>What is the amplitude?</a:t>
            </a:r>
          </a:p>
        </p:txBody>
      </p:sp>
      <mc:AlternateContent xmlns:mc="http://schemas.openxmlformats.org/markup-compatibility/2006" xmlns:a14="http://schemas.microsoft.com/office/drawing/2010/main">
        <mc:Choice Requires="a14">
          <p:sp>
            <p:nvSpPr>
              <p:cNvPr id="19" name="TextBox 18"/>
              <p:cNvSpPr txBox="1"/>
              <p:nvPr/>
            </p:nvSpPr>
            <p:spPr>
              <a:xfrm>
                <a:off x="9650601" y="4554827"/>
                <a:ext cx="208008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𝑦</m:t>
                      </m:r>
                      <m:r>
                        <a:rPr lang="en-US" sz="2400" b="0" i="1" smtClean="0">
                          <a:solidFill>
                            <a:srgbClr val="C00000"/>
                          </a:solidFill>
                          <a:latin typeface="Cambria Math" panose="02040503050406030204" pitchFamily="18" charset="0"/>
                        </a:rPr>
                        <m:t>=−2</m:t>
                      </m:r>
                      <m:func>
                        <m:funcPr>
                          <m:ctrlPr>
                            <a:rPr lang="en-US" sz="2400" b="0" i="1" smtClean="0">
                              <a:solidFill>
                                <a:srgbClr val="C00000"/>
                              </a:solidFill>
                              <a:latin typeface="Cambria Math" panose="02040503050406030204" pitchFamily="18" charset="0"/>
                            </a:rPr>
                          </m:ctrlPr>
                        </m:funcPr>
                        <m:fName>
                          <m:r>
                            <m:rPr>
                              <m:sty m:val="p"/>
                            </m:rPr>
                            <a:rPr lang="en-US" sz="2400" b="0" i="0" smtClean="0">
                              <a:solidFill>
                                <a:srgbClr val="C00000"/>
                              </a:solidFill>
                              <a:latin typeface="Cambria Math" panose="02040503050406030204" pitchFamily="18" charset="0"/>
                            </a:rPr>
                            <m:t>cos</m:t>
                          </m:r>
                        </m:fName>
                        <m:e>
                          <m:r>
                            <a:rPr lang="en-US" sz="2400" b="0" i="1" smtClean="0">
                              <a:solidFill>
                                <a:srgbClr val="C00000"/>
                              </a:solidFill>
                              <a:latin typeface="Cambria Math" panose="02040503050406030204" pitchFamily="18" charset="0"/>
                            </a:rPr>
                            <m:t>𝐵𝑡</m:t>
                          </m:r>
                        </m:e>
                      </m:func>
                    </m:oMath>
                  </m:oMathPara>
                </a14:m>
                <a:endParaRPr lang="en-US" sz="2400" dirty="0">
                  <a:solidFill>
                    <a:srgbClr val="C00000"/>
                  </a:solidFill>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9650601" y="4554827"/>
                <a:ext cx="2080080" cy="461665"/>
              </a:xfrm>
              <a:prstGeom prst="rect">
                <a:avLst/>
              </a:prstGeom>
              <a:blipFill>
                <a:blip r:embed="rId10"/>
                <a:stretch>
                  <a:fillRect b="-10526"/>
                </a:stretch>
              </a:blipFill>
            </p:spPr>
            <p:txBody>
              <a:bodyPr/>
              <a:lstStyle/>
              <a:p>
                <a:r>
                  <a:rPr lang="en-US">
                    <a:noFill/>
                  </a:rPr>
                  <a:t> </a:t>
                </a:r>
              </a:p>
            </p:txBody>
          </p:sp>
        </mc:Fallback>
      </mc:AlternateContent>
      <p:sp>
        <p:nvSpPr>
          <p:cNvPr id="20" name="TextBox 19"/>
          <p:cNvSpPr txBox="1"/>
          <p:nvPr/>
        </p:nvSpPr>
        <p:spPr>
          <a:xfrm>
            <a:off x="6133050" y="4983196"/>
            <a:ext cx="3150976" cy="461665"/>
          </a:xfrm>
          <a:prstGeom prst="rect">
            <a:avLst/>
          </a:prstGeom>
          <a:noFill/>
        </p:spPr>
        <p:txBody>
          <a:bodyPr wrap="square" rtlCol="0">
            <a:spAutoFit/>
          </a:bodyPr>
          <a:lstStyle/>
          <a:p>
            <a:pPr/>
            <a:r>
              <a:rPr lang="en-US" sz="2400" dirty="0">
                <a:solidFill/>
              </a:rPr>
              <a:t>What is the period?</a:t>
            </a:r>
          </a:p>
        </p:txBody>
      </p:sp>
      <mc:AlternateContent xmlns:mc="http://schemas.openxmlformats.org/markup-compatibility/2006" xmlns:a14="http://schemas.microsoft.com/office/drawing/2010/main">
        <mc:Choice Requires="a14">
          <p:sp>
            <p:nvSpPr>
              <p:cNvPr id="21" name="TextBox 20"/>
              <p:cNvSpPr txBox="1"/>
              <p:nvPr/>
            </p:nvSpPr>
            <p:spPr>
              <a:xfrm>
                <a:off x="6168963" y="5532461"/>
                <a:ext cx="1540475"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sz="2000" i="0" dirty="0" smtClean="0">
                          <a:solidFill>
                            <a:srgbClr val="C00000"/>
                          </a:solidFill>
                          <a:latin typeface="Cambria Math" panose="02040503050406030204" pitchFamily="18" charset="0"/>
                        </a:rPr>
                        <m:t>Period</m:t>
                      </m:r>
                      <m:r>
                        <a:rPr lang="en-US" sz="2000" i="1" dirty="0" smtClean="0">
                          <a:solidFill>
                            <a:srgbClr val="C00000"/>
                          </a:solidFill>
                          <a:latin typeface="Cambria Math" panose="02040503050406030204" pitchFamily="18" charset="0"/>
                        </a:rPr>
                        <m:t>=4</m:t>
                      </m:r>
                    </m:oMath>
                  </m:oMathPara>
                </a14:m>
                <a:endParaRPr lang="en-US" sz="2000" dirty="0">
                  <a:solidFill>
                    <a:srgbClr val="C00000"/>
                  </a:solidFill>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6168963" y="5532461"/>
                <a:ext cx="1540475" cy="40011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7674473" y="5339069"/>
                <a:ext cx="2080080" cy="128406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dirty="0" smtClean="0">
                          <a:solidFill>
                            <a:srgbClr val="C00000"/>
                          </a:solidFill>
                          <a:latin typeface="Cambria Math" panose="02040503050406030204" pitchFamily="18" charset="0"/>
                        </a:rPr>
                        <m:t>𝐵</m:t>
                      </m:r>
                      <m:r>
                        <a:rPr lang="en-US" sz="2000" i="1" dirty="0" smtClean="0">
                          <a:solidFill>
                            <a:srgbClr val="C00000"/>
                          </a:solidFill>
                          <a:latin typeface="Cambria Math" panose="02040503050406030204" pitchFamily="18" charset="0"/>
                        </a:rPr>
                        <m:t>·</m:t>
                      </m:r>
                      <m:r>
                        <m:rPr>
                          <m:nor/>
                        </m:rPr>
                        <a:rPr lang="en-US" sz="2000" i="0" dirty="0" smtClean="0">
                          <a:solidFill>
                            <a:srgbClr val="C00000"/>
                          </a:solidFill>
                          <a:latin typeface="Cambria Math" panose="02040503050406030204" pitchFamily="18" charset="0"/>
                        </a:rPr>
                        <m:t>Period</m:t>
                      </m:r>
                      <m:r>
                        <a:rPr lang="en-US" sz="2000" i="1" dirty="0" smtClean="0">
                          <a:solidFill>
                            <a:srgbClr val="C00000"/>
                          </a:solidFill>
                          <a:latin typeface="Cambria Math" panose="02040503050406030204" pitchFamily="18" charset="0"/>
                        </a:rPr>
                        <m:t>=2</m:t>
                      </m:r>
                      <m:r>
                        <a:rPr lang="el-GR" sz="2000" i="1" dirty="0">
                          <a:solidFill>
                            <a:srgbClr val="C00000"/>
                          </a:solidFill>
                          <a:latin typeface="Cambria Math" panose="02040503050406030204" pitchFamily="18" charset="0"/>
                        </a:rPr>
                        <m:t>𝜋</m:t>
                      </m:r>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r>
                        <a:rPr lang="en-US" sz="2000" i="1" dirty="0" smtClean="0">
                          <a:solidFill>
                            <a:srgbClr val="C00000"/>
                          </a:solidFill>
                          <a:latin typeface="Cambria Math" panose="02040503050406030204" pitchFamily="18" charset="0"/>
                        </a:rPr>
                        <m:t>𝐵</m:t>
                      </m:r>
                      <m:r>
                        <a:rPr lang="en-US" sz="2000" i="1" dirty="0" smtClean="0">
                          <a:solidFill>
                            <a:srgbClr val="C00000"/>
                          </a:solidFill>
                          <a:latin typeface="Cambria Math" panose="02040503050406030204" pitchFamily="18" charset="0"/>
                        </a:rPr>
                        <m:t>·(4)=2</m:t>
                      </m:r>
                      <m:r>
                        <a:rPr lang="el-GR" sz="2000" i="1" dirty="0">
                          <a:solidFill>
                            <a:srgbClr val="C00000"/>
                          </a:solidFill>
                          <a:latin typeface="Cambria Math" panose="02040503050406030204" pitchFamily="18" charset="0"/>
                        </a:rPr>
                        <m:t>𝜋</m:t>
                      </m:r>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r>
                        <a:rPr lang="en-US" sz="2000" i="1" dirty="0" smtClean="0">
                          <a:solidFill>
                            <a:srgbClr val="C00000"/>
                          </a:solidFill>
                          <a:latin typeface="Cambria Math" panose="02040503050406030204" pitchFamily="18" charset="0"/>
                        </a:rPr>
                        <m:t>𝐵</m:t>
                      </m:r>
                      <m:r>
                        <a:rPr lang="en-US" sz="2000" i="1" dirty="0" smtClean="0">
                          <a:solidFill>
                            <a:srgbClr val="C00000"/>
                          </a:solidFill>
                          <a:latin typeface="Cambria Math" panose="02040503050406030204" pitchFamily="18" charset="0"/>
                        </a:rPr>
                        <m:t>=</m:t>
                      </m:r>
                      <m:f>
                        <m:fPr>
                          <m:ctrlPr>
                            <a:rPr lang="en-US" sz="2000" i="1" smtClean="0">
                              <a:solidFill>
                                <a:srgbClr val="C00000"/>
                              </a:solidFill>
                              <a:latin typeface="Cambria Math" panose="02040503050406030204" pitchFamily="18" charset="0"/>
                            </a:rPr>
                          </m:ctrlPr>
                        </m:fPr>
                        <m:num>
                          <m:r>
                            <a:rPr lang="en-US" sz="2000" b="0" i="1" smtClean="0">
                              <a:solidFill>
                                <a:srgbClr val="C00000"/>
                              </a:solidFill>
                              <a:latin typeface="Cambria Math" panose="02040503050406030204" pitchFamily="18" charset="0"/>
                            </a:rPr>
                            <m:t>2</m:t>
                          </m:r>
                          <m:r>
                            <a:rPr lang="en-US" sz="2000" b="0" i="1" smtClean="0">
                              <a:solidFill>
                                <a:srgbClr val="C00000"/>
                              </a:solidFill>
                              <a:latin typeface="Cambria Math" panose="02040503050406030204" pitchFamily="18" charset="0"/>
                              <a:ea typeface="Cambria Math" panose="02040503050406030204" pitchFamily="18" charset="0"/>
                            </a:rPr>
                            <m:t>𝜋</m:t>
                          </m:r>
                        </m:num>
                        <m:den>
                          <m:r>
                            <a:rPr lang="en-US" sz="2000" b="0" i="1" smtClean="0">
                              <a:solidFill>
                                <a:srgbClr val="C00000"/>
                              </a:solidFill>
                              <a:latin typeface="Cambria Math" panose="02040503050406030204" pitchFamily="18" charset="0"/>
                            </a:rPr>
                            <m:t>4</m:t>
                          </m:r>
                        </m:den>
                      </m:f>
                      <m:r>
                        <a:rPr lang="en-US" sz="2000" b="0" i="1" smtClean="0">
                          <a:solidFill>
                            <a:srgbClr val="C00000"/>
                          </a:solidFill>
                          <a:latin typeface="Cambria Math" panose="02040503050406030204" pitchFamily="18" charset="0"/>
                        </a:rPr>
                        <m:t>=</m:t>
                      </m:r>
                      <m:f>
                        <m:fPr>
                          <m:ctrlPr>
                            <a:rPr lang="en-US" sz="2000" b="0" i="1" smtClean="0">
                              <a:solidFill>
                                <a:srgbClr val="C00000"/>
                              </a:solidFill>
                              <a:latin typeface="Cambria Math" panose="02040503050406030204" pitchFamily="18" charset="0"/>
                            </a:rPr>
                          </m:ctrlPr>
                        </m:fPr>
                        <m:num>
                          <m:r>
                            <a:rPr lang="en-US" sz="2000" b="0" i="1" smtClean="0">
                              <a:solidFill>
                                <a:srgbClr val="C00000"/>
                              </a:solidFill>
                              <a:latin typeface="Cambria Math" panose="02040503050406030204" pitchFamily="18" charset="0"/>
                              <a:ea typeface="Cambria Math" panose="02040503050406030204" pitchFamily="18" charset="0"/>
                            </a:rPr>
                            <m:t>𝜋</m:t>
                          </m:r>
                        </m:num>
                        <m:den>
                          <m:r>
                            <a:rPr lang="en-US" sz="2000" b="0" i="1" smtClean="0">
                              <a:solidFill>
                                <a:srgbClr val="C00000"/>
                              </a:solidFill>
                              <a:latin typeface="Cambria Math" panose="02040503050406030204" pitchFamily="18" charset="0"/>
                            </a:rPr>
                            <m:t>2</m:t>
                          </m:r>
                        </m:den>
                      </m:f>
                    </m:oMath>
                  </m:oMathPara>
                </a14:m>
                <a:endParaRPr lang="en-US" sz="2000" dirty="0">
                  <a:solidFill>
                    <a:srgbClr val="C00000"/>
                  </a:solidFill>
                </a:endParaRPr>
              </a:p>
            </p:txBody>
          </p:sp>
        </mc:Choice>
        <mc:Fallback xmlns="">
          <p:sp>
            <p:nvSpPr>
              <p:cNvPr id="22" name="TextBox 21"/>
              <p:cNvSpPr txBox="1">
                <a:spLocks noRot="1" noChangeAspect="1" noMove="1" noResize="1" noEditPoints="1" noAdjustHandles="1" noChangeArrowheads="1" noChangeShapeType="1" noTextEdit="1"/>
              </p:cNvSpPr>
              <p:nvPr/>
            </p:nvSpPr>
            <p:spPr>
              <a:xfrm>
                <a:off x="7674473" y="5339069"/>
                <a:ext cx="2080080" cy="1284069"/>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9689336" y="5275646"/>
                <a:ext cx="2257198" cy="719941"/>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𝑦</m:t>
                      </m:r>
                      <m:r>
                        <a:rPr lang="en-US" sz="2400" b="0" i="1" smtClean="0">
                          <a:solidFill>
                            <a:srgbClr val="C00000"/>
                          </a:solidFill>
                          <a:latin typeface="Cambria Math" panose="02040503050406030204" pitchFamily="18" charset="0"/>
                        </a:rPr>
                        <m:t>=−2</m:t>
                      </m:r>
                      <m:func>
                        <m:funcPr>
                          <m:ctrlPr>
                            <a:rPr lang="en-US" sz="2400" b="0" i="1" smtClean="0">
                              <a:solidFill>
                                <a:srgbClr val="C00000"/>
                              </a:solidFill>
                              <a:latin typeface="Cambria Math" panose="02040503050406030204" pitchFamily="18" charset="0"/>
                            </a:rPr>
                          </m:ctrlPr>
                        </m:funcPr>
                        <m:fName>
                          <m:r>
                            <m:rPr>
                              <m:sty m:val="p"/>
                            </m:rPr>
                            <a:rPr lang="en-US" sz="2400" b="0" i="0" smtClean="0">
                              <a:solidFill>
                                <a:srgbClr val="C00000"/>
                              </a:solidFill>
                              <a:latin typeface="Cambria Math" panose="02040503050406030204" pitchFamily="18" charset="0"/>
                            </a:rPr>
                            <m:t>cos</m:t>
                          </m:r>
                        </m:fName>
                        <m:e>
                          <m:f>
                            <m:fPr>
                              <m:ctrlPr>
                                <a:rPr lang="en-US" sz="2400" b="0" i="1" smtClean="0">
                                  <a:solidFill>
                                    <a:srgbClr val="C00000"/>
                                  </a:solidFill>
                                  <a:latin typeface="Cambria Math" panose="02040503050406030204" pitchFamily="18" charset="0"/>
                                </a:rPr>
                              </m:ctrlPr>
                            </m:fPr>
                            <m:num>
                              <m:r>
                                <a:rPr lang="en-US" sz="2400" b="0" i="1" smtClean="0">
                                  <a:solidFill>
                                    <a:srgbClr val="C00000"/>
                                  </a:solidFill>
                                  <a:latin typeface="Cambria Math" panose="02040503050406030204" pitchFamily="18" charset="0"/>
                                  <a:ea typeface="Cambria Math" panose="02040503050406030204" pitchFamily="18" charset="0"/>
                                </a:rPr>
                                <m:t>𝜋</m:t>
                              </m:r>
                            </m:num>
                            <m:den>
                              <m:r>
                                <a:rPr lang="en-US" sz="2400" b="0" i="1" smtClean="0">
                                  <a:solidFill>
                                    <a:srgbClr val="C00000"/>
                                  </a:solidFill>
                                  <a:latin typeface="Cambria Math" panose="02040503050406030204" pitchFamily="18" charset="0"/>
                                </a:rPr>
                                <m:t>2</m:t>
                              </m:r>
                            </m:den>
                          </m:f>
                          <m:r>
                            <a:rPr lang="en-US" sz="2400" b="0" i="1" smtClean="0">
                              <a:solidFill>
                                <a:srgbClr val="C00000"/>
                              </a:solidFill>
                              <a:latin typeface="Cambria Math" panose="02040503050406030204" pitchFamily="18" charset="0"/>
                            </a:rPr>
                            <m:t>𝑡</m:t>
                          </m:r>
                        </m:e>
                      </m:func>
                    </m:oMath>
                  </m:oMathPara>
                </a14:m>
                <a:endParaRPr lang="en-US" sz="2400" dirty="0">
                  <a:solidFill>
                    <a:srgbClr val="C00000"/>
                  </a:solidFill>
                </a:endParaRPr>
              </a:p>
            </p:txBody>
          </p:sp>
        </mc:Choice>
        <mc:Fallback xmlns="">
          <p:sp>
            <p:nvSpPr>
              <p:cNvPr id="23" name="TextBox 22"/>
              <p:cNvSpPr txBox="1">
                <a:spLocks noRot="1" noChangeAspect="1" noMove="1" noResize="1" noEditPoints="1" noAdjustHandles="1" noChangeArrowheads="1" noChangeShapeType="1" noTextEdit="1"/>
              </p:cNvSpPr>
              <p:nvPr/>
            </p:nvSpPr>
            <p:spPr>
              <a:xfrm>
                <a:off x="9689336" y="5275646"/>
                <a:ext cx="2257198" cy="719941"/>
              </a:xfrm>
              <a:prstGeom prst="rect">
                <a:avLst/>
              </a:prstGeom>
              <a:blipFill>
                <a:blip r:embed="rId1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11080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animBg="1"/>
      <p:bldP spid="11" grpId="0"/>
      <p:bldP spid="12" grpId="0"/>
      <p:bldP spid="13" grpId="0"/>
      <p:bldP spid="14" grpId="0" animBg="1"/>
      <p:bldP spid="15" grpId="0"/>
      <p:bldP spid="16" grpId="0" animBg="1"/>
      <p:bldP spid="17" grpId="0"/>
      <p:bldP spid="18" grpId="0"/>
      <p:bldP spid="19" grpId="0"/>
      <p:bldP spid="20" grpId="0"/>
      <p:bldP spid="21" grpId="0"/>
      <p:bldP spid="22" grpId="0"/>
      <p:bldP spid="2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E14BFEF-A04E-A68D-29A0-07F8594FDC44}"/>
                  </a:ext>
                </a:extLst>
              </p:cNvPr>
              <p:cNvSpPr txBox="1"/>
              <p:nvPr/>
            </p:nvSpPr>
            <p:spPr>
              <a:xfrm>
                <a:off x="1664536" y="1015637"/>
                <a:ext cx="9231607" cy="4031873"/>
              </a:xfrm>
              <a:prstGeom prst="rect">
                <a:avLst/>
              </a:prstGeom>
              <a:solidFill>
                <a:schemeClr val="bg1"/>
              </a:solidFill>
            </p:spPr>
            <p:txBody>
              <a:bodyPr wrap="square" rtlCol="0">
                <a:spAutoFit/>
              </a:bodyPr>
              <a:lstStyle/>
              <a:p>
                <a:pPr>
                  <a:spcAft>
                    <a:spcPts val="1200"/>
                  </a:spcAft>
                </a:pPr>
                <a:r>
                  <a:rPr lang="en-US" sz="2800" dirty="0"/>
                  <a:t>Which of the following could describe the graph shown?</a:t>
                </a:r>
              </a:p>
              <a:p>
                <a:pPr marL="342900" indent="-342900">
                  <a:spcAft>
                    <a:spcPts val="1200"/>
                  </a:spcAft>
                  <a:buAutoNum type="alphaUcPeriod"/>
                </a:pPr>
                <a:r>
                  <a:rPr lang="en-US" sz="2800" b="0" dirty="0"/>
                  <a:t> </a:t>
                </a:r>
                <a14:m>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=3</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cos</m:t>
                        </m:r>
                      </m:fName>
                      <m:e>
                        <m:r>
                          <a:rPr lang="en-US" sz="2800" b="0" i="1" smtClean="0">
                            <a:latin typeface="Cambria Math" panose="02040503050406030204" pitchFamily="18" charset="0"/>
                          </a:rPr>
                          <m:t>(2</m:t>
                        </m:r>
                        <m:r>
                          <a:rPr lang="en-US" sz="2800" b="0" i="1" smtClean="0">
                            <a:latin typeface="Cambria Math" panose="02040503050406030204" pitchFamily="18" charset="0"/>
                          </a:rPr>
                          <m:t>𝑥</m:t>
                        </m:r>
                        <m:r>
                          <a:rPr lang="en-US" sz="2800" b="0" i="1" smtClean="0">
                            <a:latin typeface="Cambria Math" panose="02040503050406030204" pitchFamily="18" charset="0"/>
                          </a:rPr>
                          <m:t>)</m:t>
                        </m:r>
                      </m:e>
                    </m:func>
                  </m:oMath>
                </a14:m>
                <a:endParaRPr lang="en-US" sz="2800" dirty="0"/>
              </a:p>
              <a:p>
                <a:pPr marL="342900" indent="-342900">
                  <a:spcAft>
                    <a:spcPts val="1200"/>
                  </a:spcAft>
                  <a:buAutoNum type="alphaUcPeriod"/>
                </a:pPr>
                <a:r>
                  <a:rPr lang="en-US" sz="2800" b="0" dirty="0"/>
                  <a:t> </a:t>
                </a:r>
                <a14:m>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=3</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cos</m:t>
                        </m:r>
                      </m:fName>
                      <m:e>
                        <m:r>
                          <a:rPr lang="en-US" sz="2800" b="0" i="1" smtClean="0">
                            <a:latin typeface="Cambria Math" panose="02040503050406030204" pitchFamily="18" charset="0"/>
                          </a:rPr>
                          <m:t>(0.5</m:t>
                        </m:r>
                        <m:r>
                          <a:rPr lang="en-US" sz="2800" b="0" i="1" smtClean="0">
                            <a:latin typeface="Cambria Math" panose="02040503050406030204" pitchFamily="18" charset="0"/>
                          </a:rPr>
                          <m:t>𝑥</m:t>
                        </m:r>
                        <m:r>
                          <a:rPr lang="en-US" sz="2800" b="0" i="1" smtClean="0">
                            <a:latin typeface="Cambria Math" panose="02040503050406030204" pitchFamily="18" charset="0"/>
                          </a:rPr>
                          <m:t>)</m:t>
                        </m:r>
                      </m:e>
                    </m:func>
                  </m:oMath>
                </a14:m>
                <a:endParaRPr lang="en-US" sz="2800" dirty="0"/>
              </a:p>
              <a:p>
                <a:pPr marL="342900" indent="-342900">
                  <a:spcAft>
                    <a:spcPts val="1200"/>
                  </a:spcAft>
                  <a:buAutoNum type="alphaUcPeriod"/>
                </a:pPr>
                <a:r>
                  <a:rPr lang="en-US" sz="2800" b="0" dirty="0"/>
                  <a:t> </a:t>
                </a:r>
                <a14:m>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=3</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sin</m:t>
                        </m:r>
                      </m:fName>
                      <m:e>
                        <m:r>
                          <a:rPr lang="en-US" sz="2800" b="0" i="1" smtClean="0">
                            <a:latin typeface="Cambria Math" panose="02040503050406030204" pitchFamily="18" charset="0"/>
                          </a:rPr>
                          <m:t>(2</m:t>
                        </m:r>
                        <m:r>
                          <a:rPr lang="en-US" sz="2800" b="0" i="1" smtClean="0">
                            <a:latin typeface="Cambria Math" panose="02040503050406030204" pitchFamily="18" charset="0"/>
                          </a:rPr>
                          <m:t>𝑥</m:t>
                        </m:r>
                        <m:r>
                          <a:rPr lang="en-US" sz="2800" b="0" i="1" smtClean="0">
                            <a:latin typeface="Cambria Math" panose="02040503050406030204" pitchFamily="18" charset="0"/>
                          </a:rPr>
                          <m:t>)</m:t>
                        </m:r>
                      </m:e>
                    </m:func>
                  </m:oMath>
                </a14:m>
                <a:endParaRPr lang="en-US" sz="2800" dirty="0"/>
              </a:p>
              <a:p>
                <a:pPr marL="342900" indent="-342900">
                  <a:spcAft>
                    <a:spcPts val="1200"/>
                  </a:spcAft>
                  <a:buAutoNum type="alphaUcPeriod"/>
                </a:pPr>
                <a:r>
                  <a:rPr lang="en-US" sz="2800" b="0" dirty="0"/>
                  <a:t> </a:t>
                </a:r>
                <a14:m>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=3</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sin</m:t>
                        </m:r>
                      </m:fName>
                      <m:e>
                        <m:r>
                          <a:rPr lang="en-US" sz="2800" b="0" i="1" smtClean="0">
                            <a:latin typeface="Cambria Math" panose="02040503050406030204" pitchFamily="18" charset="0"/>
                          </a:rPr>
                          <m:t>(0.5</m:t>
                        </m:r>
                        <m:r>
                          <a:rPr lang="en-US" sz="2800" b="0" i="1" smtClean="0">
                            <a:latin typeface="Cambria Math" panose="02040503050406030204" pitchFamily="18" charset="0"/>
                          </a:rPr>
                          <m:t>𝑥</m:t>
                        </m:r>
                        <m:r>
                          <a:rPr lang="en-US" sz="2800" b="0" i="1" smtClean="0">
                            <a:latin typeface="Cambria Math" panose="02040503050406030204" pitchFamily="18" charset="0"/>
                          </a:rPr>
                          <m:t>)</m:t>
                        </m:r>
                      </m:e>
                    </m:func>
                  </m:oMath>
                </a14:m>
                <a:endParaRPr lang="en-US" sz="2800" dirty="0"/>
              </a:p>
              <a:p>
                <a:pPr marL="342900" indent="-342900">
                  <a:spcAft>
                    <a:spcPts val="1200"/>
                  </a:spcAft>
                  <a:buAutoNum type="alphaUcPeriod"/>
                </a:pPr>
                <a:r>
                  <a:rPr lang="en-US" sz="2800" b="0" dirty="0"/>
                  <a:t> </a:t>
                </a:r>
                <a14:m>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cos</m:t>
                        </m:r>
                      </m:fName>
                      <m:e>
                        <m:d>
                          <m:dPr>
                            <m:ctrlPr>
                              <a:rPr lang="en-US" sz="2800" b="0" i="1" smtClean="0">
                                <a:latin typeface="Cambria Math" panose="02040503050406030204" pitchFamily="18" charset="0"/>
                              </a:rPr>
                            </m:ctrlPr>
                          </m:dPr>
                          <m:e>
                            <m:r>
                              <a:rPr lang="en-US" sz="2800" b="0" i="1" smtClean="0">
                                <a:latin typeface="Cambria Math" panose="02040503050406030204" pitchFamily="18" charset="0"/>
                              </a:rPr>
                              <m:t>2</m:t>
                            </m:r>
                            <m:r>
                              <a:rPr lang="en-US" sz="2800" b="0" i="1" smtClean="0">
                                <a:latin typeface="Cambria Math" panose="02040503050406030204" pitchFamily="18" charset="0"/>
                              </a:rPr>
                              <m:t>𝑥</m:t>
                            </m:r>
                          </m:e>
                        </m:d>
                        <m:r>
                          <a:rPr lang="en-US" sz="2800" b="0" i="1" smtClean="0">
                            <a:latin typeface="Cambria Math" panose="02040503050406030204" pitchFamily="18" charset="0"/>
                          </a:rPr>
                          <m:t>+3</m:t>
                        </m:r>
                      </m:e>
                    </m:func>
                  </m:oMath>
                </a14:m>
                <a:r>
                  <a:rPr lang="en-US" sz="2800" dirty="0"/>
                  <a:t> </a:t>
                </a:r>
              </a:p>
              <a:p>
                <a:pPr>
                  <a:spcAft>
                    <a:spcPts val="1200"/>
                  </a:spcAft>
                </a:pPr>
                <a:endParaRPr lang="en-US" sz="2800" dirty="0"/>
              </a:p>
            </p:txBody>
          </p:sp>
        </mc:Choice>
        <mc:Fallback xmlns="">
          <p:sp>
            <p:nvSpPr>
              <p:cNvPr id="4" name="TextBox 3">
                <a:extLst>
                  <a:ext uri="{FF2B5EF4-FFF2-40B4-BE49-F238E27FC236}">
                    <a16:creationId xmlns:a16="http://schemas.microsoft.com/office/drawing/2014/main" id="{BE14BFEF-A04E-A68D-29A0-07F8594FDC44}"/>
                  </a:ext>
                </a:extLst>
              </p:cNvPr>
              <p:cNvSpPr txBox="1">
                <a:spLocks noRot="1" noChangeAspect="1" noMove="1" noResize="1" noEditPoints="1" noAdjustHandles="1" noChangeArrowheads="1" noChangeShapeType="1" noTextEdit="1"/>
              </p:cNvSpPr>
              <p:nvPr/>
            </p:nvSpPr>
            <p:spPr>
              <a:xfrm>
                <a:off x="1664536" y="1015637"/>
                <a:ext cx="9231607" cy="4031873"/>
              </a:xfrm>
              <a:prstGeom prst="rect">
                <a:avLst/>
              </a:prstGeom>
              <a:blipFill>
                <a:blip r:embed="rId2"/>
                <a:stretch>
                  <a:fillRect l="-1387" t="-15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EA1F7B9-681D-D4F9-FCF8-63E77E3DE02F}"/>
                  </a:ext>
                </a:extLst>
              </p:cNvPr>
              <p:cNvSpPr txBox="1"/>
              <p:nvPr/>
            </p:nvSpPr>
            <p:spPr>
              <a:xfrm>
                <a:off x="4714366" y="1580817"/>
                <a:ext cx="2901984" cy="2554545"/>
              </a:xfrm>
              <a:prstGeom prst="rect">
                <a:avLst/>
              </a:prstGeom>
              <a:noFill/>
            </p:spPr>
            <p:txBody>
              <a:bodyPr wrap="square" rtlCol="0">
                <a:spAutoFit/>
              </a:bodyPr>
              <a:lstStyle/>
              <a:p>
                <a:r>
                  <a:rPr lang="en-US" sz="2000" i="1" dirty="0">
                    <a:solidFill>
                      <a:srgbClr val="C00000"/>
                    </a:solidFill>
                  </a:rPr>
                  <a:t>This is a cosine function, with amplitude 3 and period approximately 12.  In fact, the period is </a:t>
                </a:r>
                <a14:m>
                  <m:oMath xmlns:m="http://schemas.openxmlformats.org/officeDocument/2006/math">
                    <m:r>
                      <a:rPr lang="en-US" sz="2000" b="0" i="1" smtClean="0">
                        <a:solidFill>
                          <a:srgbClr val="C00000"/>
                        </a:solidFill>
                        <a:latin typeface="Cambria Math" panose="02040503050406030204" pitchFamily="18" charset="0"/>
                      </a:rPr>
                      <m:t>4</m:t>
                    </m:r>
                    <m:r>
                      <a:rPr lang="en-US" sz="2000" b="0" i="1" smtClean="0">
                        <a:solidFill>
                          <a:srgbClr val="C00000"/>
                        </a:solidFill>
                        <a:latin typeface="Cambria Math" panose="02040503050406030204" pitchFamily="18" charset="0"/>
                        <a:ea typeface="Cambria Math" panose="02040503050406030204" pitchFamily="18" charset="0"/>
                      </a:rPr>
                      <m:t>𝜋</m:t>
                    </m:r>
                  </m:oMath>
                </a14:m>
                <a:r>
                  <a:rPr lang="en-US" sz="2000" i="1" dirty="0">
                    <a:solidFill>
                      <a:srgbClr val="C00000"/>
                    </a:solidFill>
                  </a:rPr>
                  <a:t>.  Using the period, we see that the coefficient, </a:t>
                </a:r>
                <a14:m>
                  <m:oMath xmlns:m="http://schemas.openxmlformats.org/officeDocument/2006/math">
                    <m:r>
                      <a:rPr lang="en-US" sz="2000" i="1" dirty="0" smtClean="0">
                        <a:solidFill>
                          <a:srgbClr val="C00000"/>
                        </a:solidFill>
                        <a:latin typeface="Cambria Math" panose="02040503050406030204" pitchFamily="18" charset="0"/>
                      </a:rPr>
                      <m:t>𝐵</m:t>
                    </m:r>
                  </m:oMath>
                </a14:m>
                <a:r>
                  <a:rPr lang="en-US" sz="2000" i="1" dirty="0">
                    <a:solidFill>
                      <a:srgbClr val="C00000"/>
                    </a:solidFill>
                  </a:rPr>
                  <a:t>, of </a:t>
                </a:r>
                <a14:m>
                  <m:oMath xmlns:m="http://schemas.openxmlformats.org/officeDocument/2006/math">
                    <m:r>
                      <a:rPr lang="en-US" sz="2000" i="1" dirty="0" smtClean="0">
                        <a:solidFill>
                          <a:srgbClr val="C00000"/>
                        </a:solidFill>
                        <a:latin typeface="Cambria Math" panose="02040503050406030204" pitchFamily="18" charset="0"/>
                      </a:rPr>
                      <m:t>𝑥</m:t>
                    </m:r>
                  </m:oMath>
                </a14:m>
                <a:r>
                  <a:rPr lang="en-US" sz="2000" i="1" dirty="0">
                    <a:solidFill>
                      <a:srgbClr val="C00000"/>
                    </a:solidFill>
                  </a:rPr>
                  <a:t> is 0.5.</a:t>
                </a:r>
              </a:p>
              <a:p>
                <a:endParaRPr lang="en-US" sz="2000" i="1" dirty="0">
                  <a:solidFill>
                    <a:srgbClr val="C00000"/>
                  </a:solidFill>
                </a:endParaRPr>
              </a:p>
            </p:txBody>
          </p:sp>
        </mc:Choice>
        <mc:Fallback xmlns="">
          <p:sp>
            <p:nvSpPr>
              <p:cNvPr id="8" name="TextBox 7">
                <a:extLst>
                  <a:ext uri="{FF2B5EF4-FFF2-40B4-BE49-F238E27FC236}">
                    <a16:creationId xmlns:a16="http://schemas.microsoft.com/office/drawing/2014/main" id="{9EA1F7B9-681D-D4F9-FCF8-63E77E3DE02F}"/>
                  </a:ext>
                </a:extLst>
              </p:cNvPr>
              <p:cNvSpPr txBox="1">
                <a:spLocks noRot="1" noChangeAspect="1" noMove="1" noResize="1" noEditPoints="1" noAdjustHandles="1" noChangeArrowheads="1" noChangeShapeType="1" noTextEdit="1"/>
              </p:cNvSpPr>
              <p:nvPr/>
            </p:nvSpPr>
            <p:spPr>
              <a:xfrm>
                <a:off x="4714366" y="1580817"/>
                <a:ext cx="2901984" cy="2554545"/>
              </a:xfrm>
              <a:prstGeom prst="rect">
                <a:avLst/>
              </a:prstGeom>
              <a:blipFill>
                <a:blip r:embed="rId3"/>
                <a:stretch>
                  <a:fillRect l="-2101" t="-1193" r="-1261"/>
                </a:stretch>
              </a:blipFill>
            </p:spPr>
            <p:txBody>
              <a:bodyPr/>
              <a:lstStyle/>
              <a:p>
                <a:r>
                  <a:rPr lang="en-US">
                    <a:noFill/>
                  </a:rPr>
                  <a:t> </a:t>
                </a:r>
              </a:p>
            </p:txBody>
          </p:sp>
        </mc:Fallback>
      </mc:AlternateContent>
      <p:sp>
        <p:nvSpPr>
          <p:cNvPr id="2" name="Title 1"/>
          <p:cNvSpPr>
            <a:spLocks noGrp="1"/>
          </p:cNvSpPr>
          <p:nvPr>
            <p:ph type="title"/>
          </p:nvPr>
        </p:nvSpPr>
        <p:spPr>
          <a:xfrm>
            <a:off x="838200" y="112111"/>
            <a:ext cx="10515600" cy="1015663"/>
          </a:xfrm>
        </p:spPr>
        <p:txBody>
          <a:bodyPr/>
          <a:lstStyle/>
          <a:p>
            <a:pPr/>
            <a:r>
              <a:rPr lang="en-US" dirty="0">
                <a:solidFill/>
              </a:rPr>
              <a:t>Question #3</a:t>
            </a:r>
          </a:p>
        </p:txBody>
      </p:sp>
      <p:sp>
        <p:nvSpPr>
          <p:cNvPr id="6" name="Oval 5">
            <a:extLst>
              <a:ext uri="{FF2B5EF4-FFF2-40B4-BE49-F238E27FC236}">
                <a16:creationId xmlns:a16="http://schemas.microsoft.com/office/drawing/2014/main" id="{158AB540-0BDB-8AAD-3549-FDA8B0F1F634}"/>
              </a:ext>
              <a:ext uri="{C183D7F6-B498-43B3-948B-1728B52AA6E4}">
                <adec:decorative xmlns:adec="http://schemas.microsoft.com/office/drawing/2017/decorative" val="1"/>
              </a:ext>
            </a:extLst>
          </p:cNvPr>
          <p:cNvSpPr/>
          <p:nvPr/>
        </p:nvSpPr>
        <p:spPr>
          <a:xfrm>
            <a:off x="1406365" y="2059171"/>
            <a:ext cx="887062" cy="799415"/>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8D4DBDF4-4DE6-EB60-9E0A-7ECABE396E81}"/>
              </a:ext>
            </a:extLst>
          </p:cNvPr>
          <p:cNvSpPr txBox="1"/>
          <p:nvPr/>
        </p:nvSpPr>
        <p:spPr>
          <a:xfrm>
            <a:off x="374778" y="5238064"/>
            <a:ext cx="2966769" cy="1015663"/>
          </a:xfrm>
          <a:prstGeom prst="rect">
            <a:avLst/>
          </a:prstGeom>
          <a:noFill/>
          <a:ln w="57150">
            <a:solidFill>
              <a:schemeClr val="accent1"/>
            </a:solidFill>
          </a:ln>
        </p:spPr>
        <p:txBody>
          <a:bodyPr wrap="square" rtlCol="0">
            <a:spAutoFit/>
          </a:bodyPr>
          <a:lstStyle/>
          <a:p>
            <a:pPr/>
            <a:r>
              <a:rPr lang="en-US" sz="6000" dirty="0">
                <a:solidFill>
                  <a:srgbClr val="C00000"/>
                </a:solidFill>
              </a:rPr>
              <a:t>Solution</a:t>
            </a:r>
          </a:p>
        </p:txBody>
      </p:sp>
      <p:pic>
        <p:nvPicPr>
          <p:cNvPr id="5" name="Picture 4" descr="Graph of a cosine curve, on an x y coordinate plane. The x-axis ranges from negative 6 to 6, in increments of 2. The y-axis ranges from negative 4 to 4, in increments of 1. The curve enters the bottom left of the curve, increases concave up to the right, and crosses the x-axis at (negative 3, 0). The curve then increases to a high point at (0, 3), on the positive y-axis. The curve then decreases concave down to the right, crosses the x-axis at (3, 0), passes through (5, negative 2.5), in the fourth quadrant, and exits the bottom right of the graph. All values are estimated.">
            <a:extLst>
              <a:ext uri="{FF2B5EF4-FFF2-40B4-BE49-F238E27FC236}">
                <a16:creationId xmlns:a16="http://schemas.microsoft.com/office/drawing/2014/main" id="{F71C2A95-4A98-C408-093A-7A7A3CA1F4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33774" y="1656294"/>
            <a:ext cx="3191451" cy="3342625"/>
          </a:xfrm>
          <a:prstGeom prst="rect">
            <a:avLst/>
          </a:prstGeom>
        </p:spPr>
      </p:pic>
      <p:sp>
        <p:nvSpPr>
          <p:cNvPr id="3" name="TextBox 6">
            <a:extLst>
              <a:ext uri="{FF2B5EF4-FFF2-40B4-BE49-F238E27FC236}">
                <a16:creationId xmlns:a16="http://schemas.microsoft.com/office/drawing/2014/main" id="{65B00673-986C-1032-AC81-A8D778AD3B96}"/>
              </a:ext>
            </a:extLst>
          </p:cNvPr>
          <p:cNvSpPr txBox="1"/>
          <p:nvPr/>
        </p:nvSpPr>
        <p:spPr>
          <a:xfrm>
            <a:off x="10196753" y="6198630"/>
            <a:ext cx="1630392"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r>
              <a:rPr lang="en-US" sz="2400" i="1" dirty="0">
                <a:solidFill>
                  <a:srgbClr val="C00000"/>
                </a:solidFill>
              </a:rPr>
              <a:t>Answer:  B</a:t>
            </a:r>
          </a:p>
        </p:txBody>
      </p:sp>
    </p:spTree>
    <p:extLst>
      <p:ext uri="{BB962C8B-B14F-4D97-AF65-F5344CB8AC3E}">
        <p14:creationId xmlns:p14="http://schemas.microsoft.com/office/powerpoint/2010/main" val="1586297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build="p"/>
      <p:bldP spid="3" grpId="0"/>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Box 3">
                <a:extLst>
                  <a:ext uri="{C183D7F6-B498-43B3-948B-1728B52AA6E4}">
                    <adec:decorative xmlns:adec="http://schemas.microsoft.com/office/drawing/2017/decorative" val="1"/>
                  </a:ext>
                </a:extLst>
              </p:cNvPr>
              <p:cNvSpPr txBox="1"/>
              <p:nvPr/>
            </p:nvSpPr>
            <p:spPr>
              <a:xfrm>
                <a:off x="263609" y="1342768"/>
                <a:ext cx="5535827"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𝑦</m:t>
                      </m:r>
                      <m:r>
                        <a:rPr lang="en-US" sz="3200" b="0" i="1" smtClean="0">
                          <a:latin typeface="Cambria Math" panose="02040503050406030204" pitchFamily="18" charset="0"/>
                        </a:rPr>
                        <m:t>=</m:t>
                      </m:r>
                      <m:r>
                        <a:rPr lang="en-US" sz="3200" b="0" i="1" smtClean="0">
                          <a:latin typeface="Cambria Math" panose="02040503050406030204" pitchFamily="18" charset="0"/>
                        </a:rPr>
                        <m:t>𝐴</m:t>
                      </m:r>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sin</m:t>
                          </m:r>
                        </m:fName>
                        <m:e>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𝐵𝑡</m:t>
                              </m:r>
                            </m:e>
                          </m:d>
                          <m:r>
                            <a:rPr lang="en-US" sz="3200" b="0" i="1" smtClean="0">
                              <a:latin typeface="Cambria Math" panose="02040503050406030204" pitchFamily="18" charset="0"/>
                            </a:rPr>
                            <m:t>+</m:t>
                          </m:r>
                          <m:r>
                            <a:rPr lang="en-US" sz="3200" b="0" i="1" smtClean="0">
                              <a:latin typeface="Cambria Math" panose="02040503050406030204" pitchFamily="18" charset="0"/>
                            </a:rPr>
                            <m:t>𝐷</m:t>
                          </m:r>
                        </m:e>
                      </m:func>
                    </m:oMath>
                  </m:oMathPara>
                </a14:m>
                <a:endParaRPr lang="en-US" sz="3200" dirty="0"/>
              </a:p>
            </p:txBody>
          </p:sp>
        </mc:Choice>
        <mc:Fallback>
          <p:sp>
            <p:nvSpPr>
              <p:cNvPr id="4" name="TextBox 3">
                <a:extLs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263609" y="1342768"/>
                <a:ext cx="5535827" cy="584775"/>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8" name="TextBox 7">
                <a:extLst>
                  <a:ext uri="{C183D7F6-B498-43B3-948B-1728B52AA6E4}">
                    <adec:decorative xmlns:adec="http://schemas.microsoft.com/office/drawing/2017/decorative" val="1"/>
                  </a:ext>
                </a:extLst>
              </p:cNvPr>
              <p:cNvSpPr txBox="1"/>
              <p:nvPr/>
            </p:nvSpPr>
            <p:spPr>
              <a:xfrm>
                <a:off x="1789612" y="2730846"/>
                <a:ext cx="2574324" cy="707886"/>
              </a:xfrm>
              <a:prstGeom prst="rect">
                <a:avLst/>
              </a:prstGeom>
              <a:noFill/>
            </p:spPr>
            <p:txBody>
              <a:bodyPr wrap="square" rtlCol="0">
                <a:spAutoFit/>
              </a:bodyPr>
              <a:lstStyle/>
              <a:p>
                <a:r>
                  <a:rPr lang="en-US" sz="2000" dirty="0">
                    <a:solidFill>
                      <a:srgbClr val="C00000"/>
                    </a:solidFill>
                  </a:rPr>
                  <a:t>Gives the period,</a:t>
                </a:r>
              </a:p>
              <a:p>
                <a:r>
                  <a:rPr lang="en-US" sz="2000" dirty="0">
                    <a:solidFill>
                      <a:srgbClr val="C00000"/>
                    </a:solidFill>
                  </a:rPr>
                  <a:t>using </a:t>
                </a:r>
                <a14:m>
                  <m:oMath xmlns:m="http://schemas.openxmlformats.org/officeDocument/2006/math">
                    <m:r>
                      <a:rPr lang="en-US" sz="2000" i="1" dirty="0" smtClean="0">
                        <a:solidFill>
                          <a:srgbClr val="C00000"/>
                        </a:solidFill>
                        <a:latin typeface="Cambria Math" panose="02040503050406030204" pitchFamily="18" charset="0"/>
                      </a:rPr>
                      <m:t>𝐵</m:t>
                    </m:r>
                    <m:r>
                      <a:rPr lang="en-US" sz="2000" i="1" dirty="0" smtClean="0">
                        <a:solidFill>
                          <a:srgbClr val="C00000"/>
                        </a:solidFill>
                        <a:latin typeface="Cambria Math" panose="02040503050406030204" pitchFamily="18" charset="0"/>
                      </a:rPr>
                      <m:t>·</m:t>
                    </m:r>
                    <m:r>
                      <m:rPr>
                        <m:nor/>
                      </m:rPr>
                      <a:rPr lang="en-US" sz="2000" i="0" dirty="0" smtClean="0">
                        <a:solidFill>
                          <a:srgbClr val="C00000"/>
                        </a:solidFill>
                        <a:latin typeface="Cambria Math" panose="02040503050406030204" pitchFamily="18" charset="0"/>
                      </a:rPr>
                      <m:t>Period</m:t>
                    </m:r>
                    <m:r>
                      <a:rPr lang="en-US" sz="2000" i="1" dirty="0">
                        <a:solidFill>
                          <a:srgbClr val="C00000"/>
                        </a:solidFill>
                        <a:latin typeface="Cambria Math" panose="02040503050406030204" pitchFamily="18" charset="0"/>
                      </a:rPr>
                      <m:t>=2</m:t>
                    </m:r>
                    <m:r>
                      <a:rPr lang="el-GR" sz="2000" i="1" dirty="0">
                        <a:solidFill>
                          <a:srgbClr val="C00000"/>
                        </a:solidFill>
                        <a:latin typeface="Cambria Math" panose="02040503050406030204" pitchFamily="18" charset="0"/>
                      </a:rPr>
                      <m:t>𝜋</m:t>
                    </m:r>
                  </m:oMath>
                </a14:m>
                <a:endParaRPr lang="en-US" sz="2000" dirty="0">
                  <a:solidFill>
                    <a:srgbClr val="C00000"/>
                  </a:solidFill>
                </a:endParaRPr>
              </a:p>
            </p:txBody>
          </p:sp>
        </mc:Choice>
        <mc:Fallback>
          <p:sp>
            <p:nvSpPr>
              <p:cNvPr id="8" name="TextBox 7">
                <a:extLs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1789612" y="2730846"/>
                <a:ext cx="2574324" cy="707886"/>
              </a:xfrm>
              <a:prstGeom prst="rect">
                <a:avLst/>
              </a:prstGeom>
              <a:blipFill>
                <a:blip r:embed="rId4"/>
                <a:stretch>
                  <a:fillRect l="-2607" t="-5172" b="-1465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3719372" y="4567886"/>
                <a:ext cx="2080064" cy="461665"/>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𝑦</m:t>
                      </m:r>
                      <m:r>
                        <a:rPr lang="en-US" sz="2400" b="0" i="1" smtClean="0">
                          <a:solidFill>
                            <a:srgbClr val="C00000"/>
                          </a:solidFill>
                          <a:latin typeface="Cambria Math" panose="02040503050406030204" pitchFamily="18" charset="0"/>
                        </a:rPr>
                        <m:t>=2</m:t>
                      </m:r>
                      <m:func>
                        <m:funcPr>
                          <m:ctrlPr>
                            <a:rPr lang="en-US" sz="2400" b="0" i="1" smtClean="0">
                              <a:solidFill>
                                <a:srgbClr val="C00000"/>
                              </a:solidFill>
                              <a:latin typeface="Cambria Math" panose="02040503050406030204" pitchFamily="18" charset="0"/>
                            </a:rPr>
                          </m:ctrlPr>
                        </m:funcPr>
                        <m:fName>
                          <m:r>
                            <m:rPr>
                              <m:sty m:val="p"/>
                            </m:rPr>
                            <a:rPr lang="en-US" sz="2400" b="0" i="0" smtClean="0">
                              <a:solidFill>
                                <a:srgbClr val="C00000"/>
                              </a:solidFill>
                              <a:latin typeface="Cambria Math" panose="02040503050406030204" pitchFamily="18" charset="0"/>
                            </a:rPr>
                            <m:t>sin</m:t>
                          </m:r>
                        </m:fName>
                        <m:e>
                          <m:r>
                            <a:rPr lang="en-US" sz="2400" b="0" i="1" smtClean="0">
                              <a:solidFill>
                                <a:srgbClr val="C00000"/>
                              </a:solidFill>
                              <a:latin typeface="Cambria Math" panose="02040503050406030204" pitchFamily="18" charset="0"/>
                            </a:rPr>
                            <m:t>𝑡</m:t>
                          </m:r>
                          <m:r>
                            <a:rPr lang="en-US" sz="2400" b="0" i="1" smtClean="0">
                              <a:solidFill>
                                <a:srgbClr val="C00000"/>
                              </a:solidFill>
                              <a:latin typeface="Cambria Math" panose="02040503050406030204" pitchFamily="18" charset="0"/>
                            </a:rPr>
                            <m:t>+1</m:t>
                          </m:r>
                        </m:e>
                      </m:func>
                    </m:oMath>
                  </m:oMathPara>
                </a14:m>
                <a:endParaRPr lang="en-US" sz="2400" dirty="0">
                  <a:solidFill>
                    <a:srgbClr val="C00000"/>
                  </a:solidFill>
                </a:endParaRPr>
              </a:p>
            </p:txBody>
          </p:sp>
        </mc:Choice>
        <mc:Fallback xmlns="">
          <p:sp>
            <p:nvSpPr>
              <p:cNvPr id="18" name="TextBox 17"/>
              <p:cNvSpPr txBox="1">
                <a:spLocks noRot="1" noChangeAspect="1" noMove="1" noResize="1" noEditPoints="1" noAdjustHandles="1" noChangeArrowheads="1" noChangeShapeType="1" noTextEdit="1"/>
              </p:cNvSpPr>
              <p:nvPr/>
            </p:nvSpPr>
            <p:spPr>
              <a:xfrm>
                <a:off x="3719372" y="4567886"/>
                <a:ext cx="2080064" cy="461665"/>
              </a:xfrm>
              <a:prstGeom prst="rect">
                <a:avLst/>
              </a:prstGeom>
              <a:blipFill rotWithShape="0">
                <a:blip r:embed="rId5"/>
                <a:stretch>
                  <a:fillRect l="-587" r="-880" b="-10526"/>
                </a:stretch>
              </a:blipFill>
            </p:spPr>
            <p:txBody>
              <a:bodyPr/>
              <a:lstStyle/>
              <a:p>
                <a:r>
                  <a:rPr lang="en-US">
                    <a:noFill/>
                  </a:rPr>
                  <a:t> </a:t>
                </a:r>
              </a:p>
            </p:txBody>
          </p:sp>
        </mc:Fallback>
      </mc:AlternateContent>
      <p:sp>
        <p:nvSpPr>
          <p:cNvPr id="2" name="Title 1"/>
          <p:cNvSpPr>
            <a:spLocks noGrp="1"/>
          </p:cNvSpPr>
          <p:nvPr>
            <p:ph type="title"/>
          </p:nvPr>
        </p:nvSpPr>
        <p:spPr>
          <a:xfrm>
            <a:off x="838200" y="280085"/>
            <a:ext cx="10515600" cy="932807"/>
          </a:xfrm>
        </p:spPr>
        <p:txBody>
          <a:bodyPr/>
          <a:lstStyle/>
          <a:p>
            <a:pPr/>
            <a:r>
              <a:rPr lang="en-US" dirty="0">
                <a:solidFill/>
              </a:rPr>
              <a:t>What About Vertical Shifts?</a:t>
            </a:r>
          </a:p>
        </p:txBody>
      </p:sp>
      <p:cxnSp>
        <p:nvCxnSpPr>
          <p:cNvPr id="15" name="Straight Arrow Connector 14">
            <a:extLst>
              <a:ext uri="{C183D7F6-B498-43B3-948B-1728B52AA6E4}">
                <adec:decorative xmlns:adec="http://schemas.microsoft.com/office/drawing/2017/decorative" val="1"/>
              </a:ext>
            </a:extLst>
          </p:cNvPr>
          <p:cNvCxnSpPr/>
          <p:nvPr/>
        </p:nvCxnSpPr>
        <p:spPr>
          <a:xfrm flipH="1" flipV="1">
            <a:off x="4477266" y="1832916"/>
            <a:ext cx="630194" cy="50663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C183D7F6-B498-43B3-948B-1728B52AA6E4}">
                <adec:decorative xmlns:adec="http://schemas.microsoft.com/office/drawing/2017/decorative" val="1"/>
              </a:ext>
            </a:extLst>
          </p:cNvPr>
          <p:cNvCxnSpPr/>
          <p:nvPr/>
        </p:nvCxnSpPr>
        <p:spPr>
          <a:xfrm flipV="1">
            <a:off x="1713470" y="1845276"/>
            <a:ext cx="535460" cy="510746"/>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C183D7F6-B498-43B3-948B-1728B52AA6E4}">
                <adec:decorative xmlns:adec="http://schemas.microsoft.com/office/drawing/2017/decorative" val="1"/>
              </a:ext>
            </a:extLst>
          </p:cNvPr>
          <p:cNvCxnSpPr>
            <a:cxnSpLocks/>
            <a:stCxn id="8" idx="0"/>
          </p:cNvCxnSpPr>
          <p:nvPr/>
        </p:nvCxnSpPr>
        <p:spPr>
          <a:xfrm flipV="1">
            <a:off x="3076774" y="1927543"/>
            <a:ext cx="226599" cy="803303"/>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C183D7F6-B498-43B3-948B-1728B52AA6E4}">
                <adec:decorative xmlns:adec="http://schemas.microsoft.com/office/drawing/2017/decorative" val="1"/>
              </a:ext>
            </a:extLst>
          </p:cNvPr>
          <p:cNvSpPr txBox="1"/>
          <p:nvPr/>
        </p:nvSpPr>
        <p:spPr>
          <a:xfrm>
            <a:off x="4209538" y="2240693"/>
            <a:ext cx="2281878" cy="707886"/>
          </a:xfrm>
          <a:prstGeom prst="rect">
            <a:avLst/>
          </a:prstGeom>
          <a:noFill/>
        </p:spPr>
        <p:txBody>
          <a:bodyPr wrap="square" rtlCol="0">
            <a:spAutoFit/>
          </a:bodyPr>
          <a:lstStyle/>
          <a:p>
            <a:pPr/>
            <a:r>
              <a:rPr lang="en-US" sz="2000" dirty="0">
                <a:solidFill>
                  <a:srgbClr val="C00000"/>
                </a:solidFill>
              </a:rPr>
              <a:t>Gives the vertical shift to the midline</a:t>
            </a:r>
          </a:p>
        </p:txBody>
      </p:sp>
      <p:sp>
        <p:nvSpPr>
          <p:cNvPr id="5" name="TextBox 4">
            <a:extLst>
              <a:ext uri="{C183D7F6-B498-43B3-948B-1728B52AA6E4}">
                <adec:decorative xmlns:adec="http://schemas.microsoft.com/office/drawing/2017/decorative" val="1"/>
              </a:ext>
            </a:extLst>
          </p:cNvPr>
          <p:cNvSpPr txBox="1"/>
          <p:nvPr/>
        </p:nvSpPr>
        <p:spPr>
          <a:xfrm>
            <a:off x="659027" y="2356022"/>
            <a:ext cx="1589903" cy="707886"/>
          </a:xfrm>
          <a:prstGeom prst="rect">
            <a:avLst/>
          </a:prstGeom>
          <a:noFill/>
        </p:spPr>
        <p:txBody>
          <a:bodyPr wrap="square" rtlCol="0">
            <a:spAutoFit/>
          </a:bodyPr>
          <a:lstStyle/>
          <a:p>
            <a:pPr/>
            <a:r>
              <a:rPr lang="en-US" sz="2000" dirty="0">
                <a:solidFill>
                  <a:srgbClr val="C00000"/>
                </a:solidFill>
              </a:rPr>
              <a:t>Gives the amplitude</a:t>
            </a:r>
          </a:p>
        </p:txBody>
      </p:sp>
      <p:sp>
        <p:nvSpPr>
          <p:cNvPr id="17" name="TextBox 16"/>
          <p:cNvSpPr txBox="1"/>
          <p:nvPr/>
        </p:nvSpPr>
        <p:spPr>
          <a:xfrm>
            <a:off x="659027" y="4242035"/>
            <a:ext cx="2858530" cy="1569660"/>
          </a:xfrm>
          <a:prstGeom prst="rect">
            <a:avLst/>
          </a:prstGeom>
          <a:noFill/>
        </p:spPr>
        <p:txBody>
          <a:bodyPr wrap="square" rtlCol="0">
            <a:spAutoFit/>
          </a:bodyPr>
          <a:lstStyle/>
          <a:p>
            <a:pPr/>
            <a:r>
              <a:rPr lang="en-US" sz="2400" i="1" dirty="0">
                <a:solidFill/>
              </a:rPr>
              <a:t>Wave is +sin curve</a:t>
            </a:r>
          </a:p>
          <a:p>
            <a:pPr/>
            <a:r>
              <a:rPr lang="en-US" sz="2400" i="1" dirty="0">
                <a:solidFill/>
              </a:rPr>
              <a:t>Vertical shift is +1</a:t>
            </a:r>
          </a:p>
          <a:p>
            <a:pPr/>
            <a:r>
              <a:rPr lang="en-US" sz="2400" i="1" dirty="0">
                <a:solidFill/>
              </a:rPr>
              <a:t>Amplitude is 2</a:t>
            </a:r>
          </a:p>
          <a:p>
            <a:pPr/>
            <a:r>
              <a:rPr lang="en-US" sz="2400" i="1" dirty="0">
                <a:solidFill/>
              </a:rPr>
              <a:t>Period is 2</a:t>
            </a:r>
            <a:r>
              <a:rPr lang="el-GR" sz="2400" i="1" dirty="0">
                <a:solidFill/>
              </a:rPr>
              <a:t>π</a:t>
            </a:r>
            <a:r>
              <a:rPr lang="en-US" sz="2400" i="1" dirty="0">
                <a:solidFill/>
              </a:rPr>
              <a:t> so B is 1</a:t>
            </a:r>
          </a:p>
        </p:txBody>
      </p:sp>
      <p:pic>
        <p:nvPicPr>
          <p:cNvPr id="6" name="Picture 5" descr="The equation of a vertical shift and its explanation are as follows: y equals A sine left parenthesis B t right parenthesis plus D, Where A gives the amplitude, B gives the period, using B times Period equals 2 pi. D gives the vertical shift to the midline.">
            <a:extLst>
              <a:ext uri="{FF2B5EF4-FFF2-40B4-BE49-F238E27FC236}">
                <a16:creationId xmlns:a16="http://schemas.microsoft.com/office/drawing/2014/main" id="{533C0B23-B2C5-4859-1866-191F7B68A43E}"/>
              </a:ext>
            </a:extLst>
          </p:cNvPr>
          <p:cNvPicPr>
            <a:picLocks noChangeAspect="1"/>
          </p:cNvPicPr>
          <p:nvPr/>
        </p:nvPicPr>
        <p:blipFill>
          <a:blip r:embed="rId6"/>
          <a:stretch>
            <a:fillRect/>
          </a:stretch>
        </p:blipFill>
        <p:spPr>
          <a:xfrm>
            <a:off x="7056189" y="1730816"/>
            <a:ext cx="292115" cy="190510"/>
          </a:xfrm>
          <a:prstGeom prst="rect">
            <a:avLst/>
          </a:prstGeom>
        </p:spPr>
      </p:pic>
      <p:pic>
        <p:nvPicPr>
          <p:cNvPr id="3" name="Picture 1" descr="Graph of a vertical shift of a sine curve, on an x y coordinate plane. The x-axis ranges from 0 to 2 pi, in increments of pi. The y-axis has the markings negative 1, 1, and 3. The curve enters the left of the graph at (0, 1), increases concave down to the right, and reaches a high point at (pi over 2, 3). The curve then decreases to the right, crossing the x-axis, and reaches a low point at (3 pi over 2, negative 1), then increases to the right, crosses the x-axis, and exits the top right of the graph. A horizontal dashed line starts from the point (0, 1), and goes rightward, intersects the curves until (2 pi, 1), and depicts the period. The vertical distance between the horizontal dashed line and the high point depicts the amplitude. All values are estimated."/>
          <p:cNvPicPr>
            <a:picLocks noGrp="1" noChangeAspect="1"/>
          </p:cNvPicPr>
          <p:nvPr isPhoto="1"/>
        </p:nvPicPr>
        <p:blipFill>
          <a:blip r:embed="rId2" cstate="print">
            <a:extLst>
              <a:ext uri="{28A0092B-C50C-407E-A947-70E740481C1C}">
                <a14:useLocalDpi xmlns:a14="http://schemas.microsoft.com/office/drawing/2010/main" val="0"/>
              </a:ext>
            </a:extLst>
          </a:blip>
          <a:srcRect/>
          <a:stretch>
            <a:fillRect/>
          </a:stretch>
        </p:blipFill>
        <p:spPr bwMode="auto">
          <a:xfrm>
            <a:off x="6549897" y="3124813"/>
            <a:ext cx="4653562" cy="3113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18">
            <a:extLst>
              <a:ext uri="{C183D7F6-B498-43B3-948B-1728B52AA6E4}">
                <adec:decorative xmlns:adec="http://schemas.microsoft.com/office/drawing/2017/decorative" val="1"/>
              </a:ext>
            </a:extLst>
          </p:cNvPr>
          <p:cNvSpPr/>
          <p:nvPr/>
        </p:nvSpPr>
        <p:spPr>
          <a:xfrm>
            <a:off x="7941275" y="3212756"/>
            <a:ext cx="1738183" cy="3542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5886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7" grpId="0"/>
      <p:bldP spid="18" grpId="0" animBg="1"/>
      <p:bldP spid="1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8277" y="144156"/>
            <a:ext cx="10515600" cy="897552"/>
          </a:xfrm>
        </p:spPr>
        <p:txBody>
          <a:bodyPr/>
          <a:lstStyle/>
          <a:p>
            <a:pPr/>
            <a:r>
              <a:rPr lang="en-US" dirty="0">
                <a:solidFill/>
              </a:rPr>
              <a:t>Question #4</a:t>
            </a:r>
          </a:p>
        </p:txBody>
      </p:sp>
      <p:sp>
        <p:nvSpPr>
          <p:cNvPr id="4" name="TextBox 3">
            <a:extLst>
              <a:ext uri="{FF2B5EF4-FFF2-40B4-BE49-F238E27FC236}">
                <a16:creationId xmlns:a16="http://schemas.microsoft.com/office/drawing/2014/main" id="{F97C586B-38E2-71A9-5E56-68D81EA392E3}"/>
              </a:ext>
            </a:extLst>
          </p:cNvPr>
          <p:cNvSpPr txBox="1"/>
          <p:nvPr/>
        </p:nvSpPr>
        <p:spPr>
          <a:xfrm>
            <a:off x="1910932" y="1051511"/>
            <a:ext cx="8410290" cy="3970318"/>
          </a:xfrm>
          <a:prstGeom prst="rect">
            <a:avLst/>
          </a:prstGeom>
          <a:solidFill>
            <a:schemeClr val="bg1"/>
          </a:solidFill>
        </p:spPr>
        <p:txBody>
          <a:bodyPr wrap="square" rtlCol="0">
            <a:spAutoFit/>
          </a:bodyPr>
          <a:lstStyle/>
          <a:p>
            <a:pPr/>
            <a:r>
              <a:rPr lang="en-US" sz="2800" dirty="0">
                <a:solidFill/>
              </a:rPr>
              <a:t>What are the amplitude and period of the periodic function shown in the figure?</a:t>
            </a:r>
          </a:p>
          <a:p>
            <a:pPr/>
            <a:endParaRPr lang="en-US" sz="2800" dirty="0"/>
          </a:p>
          <a:p>
            <a:pPr/>
            <a:endParaRPr lang="en-US" sz="2800" dirty="0"/>
          </a:p>
          <a:p>
            <a:pPr/>
            <a:endParaRPr lang="en-US" sz="2800" dirty="0"/>
          </a:p>
          <a:p>
            <a:pPr/>
            <a:endParaRPr lang="en-US" sz="2800" dirty="0"/>
          </a:p>
          <a:p>
            <a:pPr/>
            <a:endParaRPr lang="en-US" sz="2800" dirty="0"/>
          </a:p>
          <a:p>
            <a:pPr/>
            <a:endParaRPr lang="en-US" sz="2800" dirty="0"/>
          </a:p>
          <a:p>
            <a:pPr/>
            <a:endParaRPr lang="en-US" sz="2800" dirty="0"/>
          </a:p>
        </p:txBody>
      </p:sp>
      <p:graphicFrame>
        <p:nvGraphicFramePr>
          <p:cNvPr id="9" name="Table 8">
            <a:extLst>
              <a:ext uri="{FF2B5EF4-FFF2-40B4-BE49-F238E27FC236}">
                <a16:creationId xmlns:a16="http://schemas.microsoft.com/office/drawing/2014/main" id="{94ABD3AD-7A73-6A5D-DCEF-58B76A780855}"/>
              </a:ext>
            </a:extLst>
          </p:cNvPr>
          <p:cNvGraphicFramePr>
            <a:graphicFrameLocks noGrp="1"/>
          </p:cNvGraphicFramePr>
          <p:nvPr>
            <p:extLst>
              <p:ext uri="{D42A27DB-BD31-4B8C-83A1-F6EECF244321}">
                <p14:modId xmlns:p14="http://schemas.microsoft.com/office/powerpoint/2010/main" val="3915417523"/>
              </p:ext>
            </p:extLst>
          </p:nvPr>
        </p:nvGraphicFramePr>
        <p:xfrm>
          <a:off x="2202657" y="2256078"/>
          <a:ext cx="3624583" cy="2225040"/>
        </p:xfrm>
        <a:graphic>
          <a:graphicData uri="http://schemas.openxmlformats.org/drawingml/2006/table">
            <a:tbl>
              <a:tblPr firstRow="1" bandRow="1">
                <a:tableStyleId>{5940675A-B579-460E-94D1-54222C63F5DA}</a:tableStyleId>
              </a:tblPr>
              <a:tblGrid>
                <a:gridCol w="696341">
                  <a:extLst>
                    <a:ext uri="{9D8B030D-6E8A-4147-A177-3AD203B41FA5}">
                      <a16:colId xmlns:a16="http://schemas.microsoft.com/office/drawing/2014/main" val="1354246122"/>
                    </a:ext>
                  </a:extLst>
                </a:gridCol>
                <a:gridCol w="1588539">
                  <a:extLst>
                    <a:ext uri="{9D8B030D-6E8A-4147-A177-3AD203B41FA5}">
                      <a16:colId xmlns:a16="http://schemas.microsoft.com/office/drawing/2014/main" val="3031578605"/>
                    </a:ext>
                  </a:extLst>
                </a:gridCol>
                <a:gridCol w="1339703">
                  <a:extLst>
                    <a:ext uri="{9D8B030D-6E8A-4147-A177-3AD203B41FA5}">
                      <a16:colId xmlns:a16="http://schemas.microsoft.com/office/drawing/2014/main" val="3664071820"/>
                    </a:ext>
                  </a:extLst>
                </a:gridCol>
              </a:tblGrid>
              <a:tr h="370840">
                <a:tc>
                  <a:txBody>
                    <a:bodyPr/>
                    <a:lstStyle/>
                    <a:p>
                      <a:endParaRPr lang="en-IN"/>
                    </a:p>
                  </a:txBody>
                  <a:tcPr/>
                </a:tc>
                <a:tc>
                  <a:txBody>
                    <a:bodyPr/>
                    <a:lstStyle/>
                    <a:p>
                      <a:pPr algn="ctr"/>
                      <a:r>
                        <a:rPr lang="en-IN" dirty="0"/>
                        <a:t>Amplitude</a:t>
                      </a:r>
                    </a:p>
                  </a:txBody>
                  <a:tcPr/>
                </a:tc>
                <a:tc>
                  <a:txBody>
                    <a:bodyPr/>
                    <a:lstStyle/>
                    <a:p>
                      <a:pPr algn="ctr"/>
                      <a:r>
                        <a:rPr lang="en-IN" dirty="0"/>
                        <a:t>Period</a:t>
                      </a:r>
                    </a:p>
                  </a:txBody>
                  <a:tcPr/>
                </a:tc>
                <a:extLst>
                  <a:ext uri="{0D108BD9-81ED-4DB2-BD59-A6C34878D82A}">
                    <a16:rowId xmlns:a16="http://schemas.microsoft.com/office/drawing/2014/main" val="851393592"/>
                  </a:ext>
                </a:extLst>
              </a:tr>
              <a:tr h="370840">
                <a:tc>
                  <a:txBody>
                    <a:bodyPr/>
                    <a:lstStyle/>
                    <a:p>
                      <a:r>
                        <a:rPr lang="en-IN" dirty="0"/>
                        <a:t>(a)</a:t>
                      </a:r>
                    </a:p>
                  </a:txBody>
                  <a:tcPr/>
                </a:tc>
                <a:tc>
                  <a:txBody>
                    <a:bodyPr/>
                    <a:lstStyle/>
                    <a:p>
                      <a:pPr algn="ctr"/>
                      <a:r>
                        <a:rPr lang="en-IN" dirty="0"/>
                        <a:t>2</a:t>
                      </a:r>
                    </a:p>
                  </a:txBody>
                  <a:tcPr/>
                </a:tc>
                <a:tc>
                  <a:txBody>
                    <a:bodyPr/>
                    <a:lstStyle/>
                    <a:p>
                      <a:pPr algn="ctr"/>
                      <a:r>
                        <a:rPr lang="en-IN" dirty="0"/>
                        <a:t>2</a:t>
                      </a:r>
                    </a:p>
                  </a:txBody>
                  <a:tcPr/>
                </a:tc>
                <a:extLst>
                  <a:ext uri="{0D108BD9-81ED-4DB2-BD59-A6C34878D82A}">
                    <a16:rowId xmlns:a16="http://schemas.microsoft.com/office/drawing/2014/main" val="2007683654"/>
                  </a:ext>
                </a:extLst>
              </a:tr>
              <a:tr h="370840">
                <a:tc>
                  <a:txBody>
                    <a:bodyPr/>
                    <a:lstStyle/>
                    <a:p>
                      <a:r>
                        <a:rPr lang="en-IN" dirty="0"/>
                        <a:t>(b)</a:t>
                      </a:r>
                    </a:p>
                  </a:txBody>
                  <a:tcPr/>
                </a:tc>
                <a:tc>
                  <a:txBody>
                    <a:bodyPr/>
                    <a:lstStyle/>
                    <a:p>
                      <a:pPr algn="ctr"/>
                      <a:r>
                        <a:rPr lang="en-IN" dirty="0"/>
                        <a:t>2</a:t>
                      </a:r>
                    </a:p>
                  </a:txBody>
                  <a:tcPr/>
                </a:tc>
                <a:tc>
                  <a:txBody>
                    <a:bodyPr/>
                    <a:lstStyle/>
                    <a:p>
                      <a:pPr algn="ctr"/>
                      <a:r>
                        <a:rPr lang="en-IN" dirty="0"/>
                        <a:t>3</a:t>
                      </a:r>
                    </a:p>
                  </a:txBody>
                  <a:tcPr/>
                </a:tc>
                <a:extLst>
                  <a:ext uri="{0D108BD9-81ED-4DB2-BD59-A6C34878D82A}">
                    <a16:rowId xmlns:a16="http://schemas.microsoft.com/office/drawing/2014/main" val="161758528"/>
                  </a:ext>
                </a:extLst>
              </a:tr>
              <a:tr h="370840">
                <a:tc>
                  <a:txBody>
                    <a:bodyPr/>
                    <a:lstStyle/>
                    <a:p>
                      <a:r>
                        <a:rPr lang="en-IN" dirty="0"/>
                        <a:t>(c)</a:t>
                      </a:r>
                    </a:p>
                  </a:txBody>
                  <a:tcPr/>
                </a:tc>
                <a:tc>
                  <a:txBody>
                    <a:bodyPr/>
                    <a:lstStyle/>
                    <a:p>
                      <a:pPr algn="ctr"/>
                      <a:r>
                        <a:rPr lang="en-IN" dirty="0"/>
                        <a:t>2</a:t>
                      </a:r>
                    </a:p>
                  </a:txBody>
                  <a:tcPr/>
                </a:tc>
                <a:tc>
                  <a:txBody>
                    <a:bodyPr/>
                    <a:lstStyle/>
                    <a:p>
                      <a:pPr algn="ctr"/>
                      <a:r>
                        <a:rPr lang="en-IN" dirty="0"/>
                        <a:t>1/2</a:t>
                      </a:r>
                    </a:p>
                  </a:txBody>
                  <a:tcPr/>
                </a:tc>
                <a:extLst>
                  <a:ext uri="{0D108BD9-81ED-4DB2-BD59-A6C34878D82A}">
                    <a16:rowId xmlns:a16="http://schemas.microsoft.com/office/drawing/2014/main" val="1625076958"/>
                  </a:ext>
                </a:extLst>
              </a:tr>
              <a:tr h="370840">
                <a:tc>
                  <a:txBody>
                    <a:bodyPr/>
                    <a:lstStyle/>
                    <a:p>
                      <a:r>
                        <a:rPr lang="en-IN" dirty="0"/>
                        <a:t>(d)</a:t>
                      </a:r>
                    </a:p>
                  </a:txBody>
                  <a:tcPr/>
                </a:tc>
                <a:tc>
                  <a:txBody>
                    <a:bodyPr/>
                    <a:lstStyle/>
                    <a:p>
                      <a:pPr algn="ctr"/>
                      <a:r>
                        <a:rPr lang="en-IN" dirty="0"/>
                        <a:t>3</a:t>
                      </a:r>
                    </a:p>
                  </a:txBody>
                  <a:tcPr/>
                </a:tc>
                <a:tc>
                  <a:txBody>
                    <a:bodyPr/>
                    <a:lstStyle/>
                    <a:p>
                      <a:pPr algn="ctr"/>
                      <a:r>
                        <a:rPr lang="en-IN" dirty="0"/>
                        <a:t>2</a:t>
                      </a:r>
                    </a:p>
                  </a:txBody>
                  <a:tcPr/>
                </a:tc>
                <a:extLst>
                  <a:ext uri="{0D108BD9-81ED-4DB2-BD59-A6C34878D82A}">
                    <a16:rowId xmlns:a16="http://schemas.microsoft.com/office/drawing/2014/main" val="1583706826"/>
                  </a:ext>
                </a:extLst>
              </a:tr>
              <a:tr h="370840">
                <a:tc>
                  <a:txBody>
                    <a:bodyPr/>
                    <a:lstStyle/>
                    <a:p>
                      <a:r>
                        <a:rPr lang="en-IN" dirty="0"/>
                        <a:t>(e)</a:t>
                      </a:r>
                    </a:p>
                  </a:txBody>
                  <a:tcPr/>
                </a:tc>
                <a:tc>
                  <a:txBody>
                    <a:bodyPr/>
                    <a:lstStyle/>
                    <a:p>
                      <a:pPr algn="ctr"/>
                      <a:r>
                        <a:rPr lang="en-IN" dirty="0"/>
                        <a:t>3</a:t>
                      </a:r>
                    </a:p>
                  </a:txBody>
                  <a:tcPr/>
                </a:tc>
                <a:tc>
                  <a:txBody>
                    <a:bodyPr/>
                    <a:lstStyle/>
                    <a:p>
                      <a:pPr algn="ctr"/>
                      <a:r>
                        <a:rPr lang="en-IN" dirty="0"/>
                        <a:t>1/2</a:t>
                      </a:r>
                    </a:p>
                  </a:txBody>
                  <a:tcPr/>
                </a:tc>
                <a:extLst>
                  <a:ext uri="{0D108BD9-81ED-4DB2-BD59-A6C34878D82A}">
                    <a16:rowId xmlns:a16="http://schemas.microsoft.com/office/drawing/2014/main" val="1106147174"/>
                  </a:ext>
                </a:extLst>
              </a:tr>
            </a:tbl>
          </a:graphicData>
        </a:graphic>
      </p:graphicFrame>
      <p:pic>
        <p:nvPicPr>
          <p:cNvPr id="5" name="Picture 4" descr="Graph of a function of a sine curve and a horizontal dashed line depicts the vertical shift, on an x y coordinate plane. The x-axis ranges from negative 3 to 3, in increments of 1. The y-axis ranges from negative 2 to 6, in increments of 1. The curve starts from the point (negative 3, 2), decreases to the right, crosses the negative x-axis, and reaches a low point at (negative 2.5, negative 1). The curve then crosses the negative x-axis and reaches a high point at (negative 1.5, 5), then decreases to the right, and crosses the negative x-axis to reach a low point at (negative 0.5, negative 1). The curve then proceeds similarly as it goes rightward. The horizontal line enters the left of the graph, goes rightward, and intersects the curves at several points including (negative 3, 2), and (negative 1, 2). The curve intersects the y-axis at (0, 2), and exits the right of the graph. All values are estimated.">
            <a:extLst>
              <a:ext uri="{FF2B5EF4-FFF2-40B4-BE49-F238E27FC236}">
                <a16:creationId xmlns:a16="http://schemas.microsoft.com/office/drawing/2014/main" id="{CE0268F3-AB10-5DCF-6C9E-5A4A8A5A958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81811" y="1774046"/>
            <a:ext cx="3152933" cy="2938336"/>
          </a:xfrm>
          <a:prstGeom prst="rect">
            <a:avLst/>
          </a:prstGeom>
        </p:spPr>
      </p:pic>
      <p:sp>
        <p:nvSpPr>
          <p:cNvPr id="7" name="TextBox 6">
            <a:extLst>
              <a:ext uri="{FF2B5EF4-FFF2-40B4-BE49-F238E27FC236}">
                <a16:creationId xmlns:a16="http://schemas.microsoft.com/office/drawing/2014/main" id="{FA8B5D37-8CE1-8F30-F1B9-F1F9F630F4E7}"/>
              </a:ext>
            </a:extLst>
          </p:cNvPr>
          <p:cNvSpPr txBox="1"/>
          <p:nvPr/>
        </p:nvSpPr>
        <p:spPr>
          <a:xfrm>
            <a:off x="310255" y="5133967"/>
            <a:ext cx="2966769" cy="1015663"/>
          </a:xfrm>
          <a:prstGeom prst="rect">
            <a:avLst/>
          </a:prstGeom>
          <a:noFill/>
          <a:ln w="57150">
            <a:solidFill>
              <a:schemeClr val="accent1"/>
            </a:solidFill>
          </a:ln>
        </p:spPr>
        <p:txBody>
          <a:bodyPr wrap="square" rtlCol="0">
            <a:spAutoFit/>
          </a:bodyPr>
          <a:lstStyle/>
          <a:p>
            <a:pPr/>
            <a:r>
              <a:rPr lang="en-US" sz="6000" dirty="0">
                <a:solidFill>
                  <a:srgbClr val="C00000"/>
                </a:solidFill>
              </a:rPr>
              <a:t>Solution</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8D1B458-2BD5-1030-6F84-05E2D45F3BAD}"/>
                  </a:ext>
                </a:extLst>
              </p:cNvPr>
              <p:cNvSpPr txBox="1"/>
              <p:nvPr/>
            </p:nvSpPr>
            <p:spPr>
              <a:xfrm>
                <a:off x="3387513" y="5083250"/>
                <a:ext cx="7769663" cy="400110"/>
              </a:xfrm>
              <a:prstGeom prst="rect">
                <a:avLst/>
              </a:prstGeom>
              <a:noFill/>
            </p:spPr>
            <p:txBody>
              <a:bodyPr wrap="square" rtlCol="0">
                <a:spAutoFit/>
              </a:bodyPr>
              <a:lstStyle/>
              <a:p>
                <a:r>
                  <a:rPr lang="en-US" sz="2000" i="1" dirty="0">
                    <a:solidFill>
                      <a:srgbClr val="C00000"/>
                    </a:solidFill>
                  </a:rPr>
                  <a:t>The range of this function is from </a:t>
                </a:r>
                <a14:m>
                  <m:oMath xmlns:m="http://schemas.openxmlformats.org/officeDocument/2006/math">
                    <m:r>
                      <a:rPr lang="en-US" sz="2000" i="1" dirty="0" smtClean="0">
                        <a:solidFill>
                          <a:srgbClr val="C00000"/>
                        </a:solidFill>
                        <a:latin typeface="Cambria Math" panose="02040503050406030204" pitchFamily="18" charset="0"/>
                      </a:rPr>
                      <m:t>−1</m:t>
                    </m:r>
                  </m:oMath>
                </a14:m>
                <a:r>
                  <a:rPr lang="en-US" sz="2000" i="1" dirty="0">
                    <a:solidFill>
                      <a:srgbClr val="C00000"/>
                    </a:solidFill>
                  </a:rPr>
                  <a:t> to </a:t>
                </a:r>
                <a14:m>
                  <m:oMath xmlns:m="http://schemas.openxmlformats.org/officeDocument/2006/math">
                    <m:r>
                      <a:rPr lang="en-US" sz="2000" i="1" dirty="0" smtClean="0">
                        <a:solidFill>
                          <a:srgbClr val="C00000"/>
                        </a:solidFill>
                        <a:latin typeface="Cambria Math" panose="02040503050406030204" pitchFamily="18" charset="0"/>
                      </a:rPr>
                      <m:t>5</m:t>
                    </m:r>
                  </m:oMath>
                </a14:m>
                <a:r>
                  <a:rPr lang="en-US" sz="2000" i="1" dirty="0">
                    <a:solidFill>
                      <a:srgbClr val="C00000"/>
                    </a:solidFill>
                  </a:rPr>
                  <a:t>, so the midline is </a:t>
                </a:r>
                <a14:m>
                  <m:oMath xmlns:m="http://schemas.openxmlformats.org/officeDocument/2006/math">
                    <m:r>
                      <a:rPr lang="en-US" sz="2000" i="1" dirty="0" smtClean="0">
                        <a:solidFill>
                          <a:srgbClr val="C00000"/>
                        </a:solidFill>
                        <a:latin typeface="Cambria Math" panose="02040503050406030204" pitchFamily="18" charset="0"/>
                      </a:rPr>
                      <m:t>𝑦</m:t>
                    </m:r>
                    <m:r>
                      <a:rPr lang="en-US" sz="2000" i="1" dirty="0" smtClean="0">
                        <a:solidFill>
                          <a:srgbClr val="C00000"/>
                        </a:solidFill>
                        <a:latin typeface="Cambria Math" panose="02040503050406030204" pitchFamily="18" charset="0"/>
                      </a:rPr>
                      <m:t>=2</m:t>
                    </m:r>
                  </m:oMath>
                </a14:m>
                <a:r>
                  <a:rPr lang="en-US" sz="2000" i="1" dirty="0">
                    <a:solidFill>
                      <a:srgbClr val="C00000"/>
                    </a:solidFill>
                  </a:rPr>
                  <a:t>.</a:t>
                </a:r>
              </a:p>
            </p:txBody>
          </p:sp>
        </mc:Choice>
        <mc:Fallback xmlns="">
          <p:sp>
            <p:nvSpPr>
              <p:cNvPr id="8" name="TextBox 7">
                <a:extLst>
                  <a:ext uri="{FF2B5EF4-FFF2-40B4-BE49-F238E27FC236}">
                    <a16:creationId xmlns:a16="http://schemas.microsoft.com/office/drawing/2014/main" id="{48D1B458-2BD5-1030-6F84-05E2D45F3BAD}"/>
                  </a:ext>
                </a:extLst>
              </p:cNvPr>
              <p:cNvSpPr txBox="1">
                <a:spLocks noRot="1" noChangeAspect="1" noMove="1" noResize="1" noEditPoints="1" noAdjustHandles="1" noChangeArrowheads="1" noChangeShapeType="1" noTextEdit="1"/>
              </p:cNvSpPr>
              <p:nvPr/>
            </p:nvSpPr>
            <p:spPr>
              <a:xfrm>
                <a:off x="3387513" y="5083250"/>
                <a:ext cx="7769663" cy="400110"/>
              </a:xfrm>
              <a:prstGeom prst="rect">
                <a:avLst/>
              </a:prstGeom>
              <a:blipFill>
                <a:blip r:embed="rId4"/>
                <a:stretch>
                  <a:fillRect l="-863" t="-9091" b="-25758"/>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9AAFF7EF-1628-4C9A-3724-126365C7ED26}"/>
              </a:ext>
              <a:ext uri="{C183D7F6-B498-43B3-948B-1728B52AA6E4}">
                <adec:decorative xmlns:adec="http://schemas.microsoft.com/office/drawing/2017/decorative" val="1"/>
              </a:ext>
            </a:extLst>
          </p:cNvPr>
          <p:cNvCxnSpPr>
            <a:cxnSpLocks/>
          </p:cNvCxnSpPr>
          <p:nvPr/>
        </p:nvCxnSpPr>
        <p:spPr>
          <a:xfrm>
            <a:off x="6631442" y="3234707"/>
            <a:ext cx="3701404" cy="0"/>
          </a:xfrm>
          <a:prstGeom prst="line">
            <a:avLst/>
          </a:prstGeom>
          <a:ln w="1905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E726F8D-E52F-B8C9-0FA9-4B08FBFE0459}"/>
              </a:ext>
            </a:extLst>
          </p:cNvPr>
          <p:cNvSpPr txBox="1"/>
          <p:nvPr/>
        </p:nvSpPr>
        <p:spPr>
          <a:xfrm>
            <a:off x="3683277" y="5408278"/>
            <a:ext cx="7769663" cy="400110"/>
          </a:xfrm>
          <a:prstGeom prst="rect">
            <a:avLst/>
          </a:prstGeom>
          <a:noFill/>
        </p:spPr>
        <p:txBody>
          <a:bodyPr wrap="square" rtlCol="0">
            <a:spAutoFit/>
          </a:bodyPr>
          <a:lstStyle/>
          <a:p>
            <a:pPr/>
            <a:r>
              <a:rPr lang="en-US" sz="2000" i="1" dirty="0">
                <a:solidFill>
                  <a:srgbClr val="C00000"/>
                </a:solidFill>
              </a:rPr>
              <a:t>The amplitude is 3.</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465A7A2-3152-EFFD-7AD3-6050B555A0DF}"/>
                  </a:ext>
                </a:extLst>
              </p:cNvPr>
              <p:cNvSpPr txBox="1"/>
              <p:nvPr/>
            </p:nvSpPr>
            <p:spPr>
              <a:xfrm>
                <a:off x="4014949" y="5753351"/>
                <a:ext cx="6265715" cy="707886"/>
              </a:xfrm>
              <a:prstGeom prst="rect">
                <a:avLst/>
              </a:prstGeom>
              <a:noFill/>
            </p:spPr>
            <p:txBody>
              <a:bodyPr wrap="square" rtlCol="0">
                <a:spAutoFit/>
              </a:bodyPr>
              <a:lstStyle/>
              <a:p>
                <a:r>
                  <a:rPr lang="en-US" sz="2000" i="1" dirty="0">
                    <a:solidFill>
                      <a:srgbClr val="C00000"/>
                    </a:solidFill>
                  </a:rPr>
                  <a:t>The graph completes a full cycle between </a:t>
                </a:r>
                <a14:m>
                  <m:oMath xmlns:m="http://schemas.openxmlformats.org/officeDocument/2006/math">
                    <m:r>
                      <a:rPr lang="en-US" sz="2000" i="1" dirty="0" smtClean="0">
                        <a:solidFill>
                          <a:srgbClr val="C00000"/>
                        </a:solidFill>
                        <a:latin typeface="Cambria Math" panose="02040503050406030204" pitchFamily="18" charset="0"/>
                      </a:rPr>
                      <m:t>𝑥</m:t>
                    </m:r>
                    <m:r>
                      <a:rPr lang="en-US" sz="2000" i="1" dirty="0" smtClean="0">
                        <a:solidFill>
                          <a:srgbClr val="C00000"/>
                        </a:solidFill>
                        <a:latin typeface="Cambria Math" panose="02040503050406030204" pitchFamily="18" charset="0"/>
                      </a:rPr>
                      <m:t>=0</m:t>
                    </m:r>
                  </m:oMath>
                </a14:m>
                <a:r>
                  <a:rPr lang="en-US" sz="2000" i="1" dirty="0">
                    <a:solidFill>
                      <a:srgbClr val="C00000"/>
                    </a:solidFill>
                  </a:rPr>
                  <a:t> and </a:t>
                </a:r>
                <a14:m>
                  <m:oMath xmlns:m="http://schemas.openxmlformats.org/officeDocument/2006/math">
                    <m:r>
                      <a:rPr lang="en-US" sz="2000" i="1" dirty="0" smtClean="0">
                        <a:solidFill>
                          <a:srgbClr val="C00000"/>
                        </a:solidFill>
                        <a:latin typeface="Cambria Math" panose="02040503050406030204" pitchFamily="18" charset="0"/>
                      </a:rPr>
                      <m:t>𝑥</m:t>
                    </m:r>
                    <m:r>
                      <a:rPr lang="en-US" sz="2000" i="1" dirty="0" smtClean="0">
                        <a:solidFill>
                          <a:srgbClr val="C00000"/>
                        </a:solidFill>
                        <a:latin typeface="Cambria Math" panose="02040503050406030204" pitchFamily="18" charset="0"/>
                      </a:rPr>
                      <m:t>=2</m:t>
                    </m:r>
                  </m:oMath>
                </a14:m>
                <a:r>
                  <a:rPr lang="en-US" sz="2000" i="1" dirty="0">
                    <a:solidFill>
                      <a:srgbClr val="C00000"/>
                    </a:solidFill>
                  </a:rPr>
                  <a:t>, so the period is 2.</a:t>
                </a:r>
              </a:p>
            </p:txBody>
          </p:sp>
        </mc:Choice>
        <mc:Fallback xmlns="">
          <p:sp>
            <p:nvSpPr>
              <p:cNvPr id="16" name="TextBox 15">
                <a:extLst>
                  <a:ext uri="{FF2B5EF4-FFF2-40B4-BE49-F238E27FC236}">
                    <a16:creationId xmlns:a16="http://schemas.microsoft.com/office/drawing/2014/main" id="{0465A7A2-3152-EFFD-7AD3-6050B555A0DF}"/>
                  </a:ext>
                </a:extLst>
              </p:cNvPr>
              <p:cNvSpPr txBox="1">
                <a:spLocks noRot="1" noChangeAspect="1" noMove="1" noResize="1" noEditPoints="1" noAdjustHandles="1" noChangeArrowheads="1" noChangeShapeType="1" noTextEdit="1"/>
              </p:cNvSpPr>
              <p:nvPr/>
            </p:nvSpPr>
            <p:spPr>
              <a:xfrm>
                <a:off x="4014949" y="5753351"/>
                <a:ext cx="6265715" cy="707886"/>
              </a:xfrm>
              <a:prstGeom prst="rect">
                <a:avLst/>
              </a:prstGeom>
              <a:blipFill>
                <a:blip r:embed="rId5"/>
                <a:stretch>
                  <a:fillRect l="-1071" t="-5172" r="-1850" b="-14655"/>
                </a:stretch>
              </a:blipFill>
            </p:spPr>
            <p:txBody>
              <a:bodyPr/>
              <a:lstStyle/>
              <a:p>
                <a:r>
                  <a:rPr lang="en-US">
                    <a:noFill/>
                  </a:rPr>
                  <a:t> </a:t>
                </a:r>
              </a:p>
            </p:txBody>
          </p:sp>
        </mc:Fallback>
      </mc:AlternateContent>
      <p:sp>
        <p:nvSpPr>
          <p:cNvPr id="3" name="TextBox 6">
            <a:extLst>
              <a:ext uri="{FF2B5EF4-FFF2-40B4-BE49-F238E27FC236}">
                <a16:creationId xmlns:a16="http://schemas.microsoft.com/office/drawing/2014/main" id="{3E617D41-BC05-0DD3-0403-7A3862DAB88A}"/>
              </a:ext>
            </a:extLst>
          </p:cNvPr>
          <p:cNvSpPr txBox="1"/>
          <p:nvPr/>
        </p:nvSpPr>
        <p:spPr>
          <a:xfrm>
            <a:off x="10420687" y="6198630"/>
            <a:ext cx="1630392"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r>
              <a:rPr lang="en-US" sz="2400" i="1" dirty="0">
                <a:solidFill>
                  <a:srgbClr val="C00000"/>
                </a:solidFill>
              </a:rPr>
              <a:t>Answer:  D</a:t>
            </a:r>
          </a:p>
        </p:txBody>
      </p:sp>
      <p:sp>
        <p:nvSpPr>
          <p:cNvPr id="6" name="Oval 5">
            <a:extLst>
              <a:ext uri="{FF2B5EF4-FFF2-40B4-BE49-F238E27FC236}">
                <a16:creationId xmlns:a16="http://schemas.microsoft.com/office/drawing/2014/main" id="{DD076347-8BC2-6B11-A155-61C68700FCC1}"/>
              </a:ext>
              <a:ext uri="{C183D7F6-B498-43B3-948B-1728B52AA6E4}">
                <adec:decorative xmlns:adec="http://schemas.microsoft.com/office/drawing/2017/decorative" val="1"/>
              </a:ext>
            </a:extLst>
          </p:cNvPr>
          <p:cNvSpPr/>
          <p:nvPr/>
        </p:nvSpPr>
        <p:spPr>
          <a:xfrm>
            <a:off x="2161357" y="3701162"/>
            <a:ext cx="550795" cy="496375"/>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05612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6697"/>
            <a:ext cx="10515600" cy="922319"/>
          </a:xfrm>
        </p:spPr>
        <p:txBody>
          <a:bodyPr/>
          <a:lstStyle/>
          <a:p>
            <a:pPr/>
            <a:r>
              <a:rPr lang="en-US" dirty="0">
                <a:solidFill/>
              </a:rPr>
              <a:t>Question #5</a:t>
            </a:r>
          </a:p>
        </p:txBody>
      </p:sp>
      <p:sp>
        <p:nvSpPr>
          <p:cNvPr id="4" name="TextBox 3">
            <a:extLst>
              <a:ext uri="{FF2B5EF4-FFF2-40B4-BE49-F238E27FC236}">
                <a16:creationId xmlns:a16="http://schemas.microsoft.com/office/drawing/2014/main" id="{F97C586B-38E2-71A9-5E56-68D81EA392E3}"/>
              </a:ext>
            </a:extLst>
          </p:cNvPr>
          <p:cNvSpPr txBox="1"/>
          <p:nvPr/>
        </p:nvSpPr>
        <p:spPr>
          <a:xfrm>
            <a:off x="1910932" y="1129145"/>
            <a:ext cx="8410290" cy="3970318"/>
          </a:xfrm>
          <a:prstGeom prst="rect">
            <a:avLst/>
          </a:prstGeom>
          <a:solidFill>
            <a:schemeClr val="bg1"/>
          </a:solidFill>
        </p:spPr>
        <p:txBody>
          <a:bodyPr wrap="square" rtlCol="0">
            <a:spAutoFit/>
          </a:bodyPr>
          <a:lstStyle/>
          <a:p>
            <a:pPr/>
            <a:r>
              <a:rPr lang="en-US" sz="2800" dirty="0">
                <a:solidFill/>
              </a:rPr>
              <a:t>What are the amplitude and period of the periodic function shown in the figure?</a:t>
            </a:r>
          </a:p>
          <a:p>
            <a:pPr/>
            <a:endParaRPr lang="en-US" sz="2800" dirty="0"/>
          </a:p>
          <a:p>
            <a:pPr/>
            <a:endParaRPr lang="en-US" sz="2800" dirty="0"/>
          </a:p>
          <a:p>
            <a:pPr/>
            <a:endParaRPr lang="en-US" sz="2800" dirty="0"/>
          </a:p>
          <a:p>
            <a:pPr/>
            <a:endParaRPr lang="en-US" sz="2800" dirty="0"/>
          </a:p>
          <a:p>
            <a:pPr/>
            <a:endParaRPr lang="en-US" sz="2800" dirty="0"/>
          </a:p>
          <a:p>
            <a:pPr/>
            <a:endParaRPr lang="en-US" sz="2800" dirty="0"/>
          </a:p>
          <a:p>
            <a:pPr/>
            <a:endParaRPr lang="en-US" sz="2800" dirty="0"/>
          </a:p>
        </p:txBody>
      </p:sp>
      <p:graphicFrame>
        <p:nvGraphicFramePr>
          <p:cNvPr id="11" name="Table 10">
            <a:extLst>
              <a:ext uri="{FF2B5EF4-FFF2-40B4-BE49-F238E27FC236}">
                <a16:creationId xmlns:a16="http://schemas.microsoft.com/office/drawing/2014/main" id="{8E5BA9A6-BE58-F5B9-3BC9-FC3750FDFB17}"/>
              </a:ext>
            </a:extLst>
          </p:cNvPr>
          <p:cNvGraphicFramePr>
            <a:graphicFrameLocks noGrp="1"/>
          </p:cNvGraphicFramePr>
          <p:nvPr>
            <p:extLst>
              <p:ext uri="{D42A27DB-BD31-4B8C-83A1-F6EECF244321}">
                <p14:modId xmlns:p14="http://schemas.microsoft.com/office/powerpoint/2010/main" val="1905998565"/>
              </p:ext>
            </p:extLst>
          </p:nvPr>
        </p:nvGraphicFramePr>
        <p:xfrm>
          <a:off x="2202657" y="2256078"/>
          <a:ext cx="3624583" cy="2225040"/>
        </p:xfrm>
        <a:graphic>
          <a:graphicData uri="http://schemas.openxmlformats.org/drawingml/2006/table">
            <a:tbl>
              <a:tblPr firstRow="1" bandRow="1">
                <a:tableStyleId>{5940675A-B579-460E-94D1-54222C63F5DA}</a:tableStyleId>
              </a:tblPr>
              <a:tblGrid>
                <a:gridCol w="696341">
                  <a:extLst>
                    <a:ext uri="{9D8B030D-6E8A-4147-A177-3AD203B41FA5}">
                      <a16:colId xmlns:a16="http://schemas.microsoft.com/office/drawing/2014/main" val="1354246122"/>
                    </a:ext>
                  </a:extLst>
                </a:gridCol>
                <a:gridCol w="1588539">
                  <a:extLst>
                    <a:ext uri="{9D8B030D-6E8A-4147-A177-3AD203B41FA5}">
                      <a16:colId xmlns:a16="http://schemas.microsoft.com/office/drawing/2014/main" val="3031578605"/>
                    </a:ext>
                  </a:extLst>
                </a:gridCol>
                <a:gridCol w="1339703">
                  <a:extLst>
                    <a:ext uri="{9D8B030D-6E8A-4147-A177-3AD203B41FA5}">
                      <a16:colId xmlns:a16="http://schemas.microsoft.com/office/drawing/2014/main" val="3664071820"/>
                    </a:ext>
                  </a:extLst>
                </a:gridCol>
              </a:tblGrid>
              <a:tr h="370840">
                <a:tc>
                  <a:txBody>
                    <a:bodyPr/>
                    <a:lstStyle/>
                    <a:p>
                      <a:endParaRPr lang="en-IN"/>
                    </a:p>
                  </a:txBody>
                  <a:tcPr/>
                </a:tc>
                <a:tc>
                  <a:txBody>
                    <a:bodyPr/>
                    <a:lstStyle/>
                    <a:p>
                      <a:pPr algn="ctr"/>
                      <a:r>
                        <a:rPr lang="en-IN" dirty="0"/>
                        <a:t>Amplitude</a:t>
                      </a:r>
                    </a:p>
                  </a:txBody>
                  <a:tcPr/>
                </a:tc>
                <a:tc>
                  <a:txBody>
                    <a:bodyPr/>
                    <a:lstStyle/>
                    <a:p>
                      <a:pPr algn="ctr"/>
                      <a:r>
                        <a:rPr lang="en-IN" dirty="0"/>
                        <a:t>Period</a:t>
                      </a:r>
                    </a:p>
                  </a:txBody>
                  <a:tcPr/>
                </a:tc>
                <a:extLst>
                  <a:ext uri="{0D108BD9-81ED-4DB2-BD59-A6C34878D82A}">
                    <a16:rowId xmlns:a16="http://schemas.microsoft.com/office/drawing/2014/main" val="851393592"/>
                  </a:ext>
                </a:extLst>
              </a:tr>
              <a:tr h="370840">
                <a:tc>
                  <a:txBody>
                    <a:bodyPr/>
                    <a:lstStyle/>
                    <a:p>
                      <a:r>
                        <a:rPr lang="en-IN" dirty="0"/>
                        <a:t>(a)</a:t>
                      </a:r>
                    </a:p>
                  </a:txBody>
                  <a:tcPr/>
                </a:tc>
                <a:tc>
                  <a:txBody>
                    <a:bodyPr/>
                    <a:lstStyle/>
                    <a:p>
                      <a:pPr algn="ctr"/>
                      <a:r>
                        <a:rPr lang="en-IN" dirty="0"/>
                        <a:t>2</a:t>
                      </a:r>
                    </a:p>
                  </a:txBody>
                  <a:tcPr/>
                </a:tc>
                <a:tc>
                  <a:txBody>
                    <a:bodyPr/>
                    <a:lstStyle/>
                    <a:p>
                      <a:pPr algn="ctr"/>
                      <a:r>
                        <a:rPr lang="en-IN" dirty="0"/>
                        <a:t>2</a:t>
                      </a:r>
                    </a:p>
                  </a:txBody>
                  <a:tcPr/>
                </a:tc>
                <a:extLst>
                  <a:ext uri="{0D108BD9-81ED-4DB2-BD59-A6C34878D82A}">
                    <a16:rowId xmlns:a16="http://schemas.microsoft.com/office/drawing/2014/main" val="2007683654"/>
                  </a:ext>
                </a:extLst>
              </a:tr>
              <a:tr h="370840">
                <a:tc>
                  <a:txBody>
                    <a:bodyPr/>
                    <a:lstStyle/>
                    <a:p>
                      <a:r>
                        <a:rPr lang="en-IN" dirty="0"/>
                        <a:t>(b)</a:t>
                      </a:r>
                    </a:p>
                  </a:txBody>
                  <a:tcPr/>
                </a:tc>
                <a:tc>
                  <a:txBody>
                    <a:bodyPr/>
                    <a:lstStyle/>
                    <a:p>
                      <a:pPr algn="ctr"/>
                      <a:r>
                        <a:rPr lang="en-IN" dirty="0"/>
                        <a:t>2</a:t>
                      </a:r>
                    </a:p>
                  </a:txBody>
                  <a:tcPr/>
                </a:tc>
                <a:tc>
                  <a:txBody>
                    <a:bodyPr/>
                    <a:lstStyle/>
                    <a:p>
                      <a:pPr algn="ctr"/>
                      <a:r>
                        <a:rPr lang="en-IN" dirty="0"/>
                        <a:t>3</a:t>
                      </a:r>
                    </a:p>
                  </a:txBody>
                  <a:tcPr/>
                </a:tc>
                <a:extLst>
                  <a:ext uri="{0D108BD9-81ED-4DB2-BD59-A6C34878D82A}">
                    <a16:rowId xmlns:a16="http://schemas.microsoft.com/office/drawing/2014/main" val="161758528"/>
                  </a:ext>
                </a:extLst>
              </a:tr>
              <a:tr h="370840">
                <a:tc>
                  <a:txBody>
                    <a:bodyPr/>
                    <a:lstStyle/>
                    <a:p>
                      <a:r>
                        <a:rPr lang="en-IN" dirty="0"/>
                        <a:t>(c)</a:t>
                      </a:r>
                    </a:p>
                  </a:txBody>
                  <a:tcPr/>
                </a:tc>
                <a:tc>
                  <a:txBody>
                    <a:bodyPr/>
                    <a:lstStyle/>
                    <a:p>
                      <a:pPr algn="ctr"/>
                      <a:r>
                        <a:rPr lang="en-IN" dirty="0"/>
                        <a:t>2</a:t>
                      </a:r>
                    </a:p>
                  </a:txBody>
                  <a:tcPr/>
                </a:tc>
                <a:tc>
                  <a:txBody>
                    <a:bodyPr/>
                    <a:lstStyle/>
                    <a:p>
                      <a:pPr algn="ctr"/>
                      <a:r>
                        <a:rPr lang="en-IN" dirty="0"/>
                        <a:t>1/2</a:t>
                      </a:r>
                    </a:p>
                  </a:txBody>
                  <a:tcPr/>
                </a:tc>
                <a:extLst>
                  <a:ext uri="{0D108BD9-81ED-4DB2-BD59-A6C34878D82A}">
                    <a16:rowId xmlns:a16="http://schemas.microsoft.com/office/drawing/2014/main" val="1625076958"/>
                  </a:ext>
                </a:extLst>
              </a:tr>
              <a:tr h="370840">
                <a:tc>
                  <a:txBody>
                    <a:bodyPr/>
                    <a:lstStyle/>
                    <a:p>
                      <a:r>
                        <a:rPr lang="en-IN" dirty="0"/>
                        <a:t>(d)</a:t>
                      </a:r>
                    </a:p>
                  </a:txBody>
                  <a:tcPr/>
                </a:tc>
                <a:tc>
                  <a:txBody>
                    <a:bodyPr/>
                    <a:lstStyle/>
                    <a:p>
                      <a:pPr algn="ctr"/>
                      <a:r>
                        <a:rPr lang="en-IN" dirty="0"/>
                        <a:t>3</a:t>
                      </a:r>
                    </a:p>
                  </a:txBody>
                  <a:tcPr/>
                </a:tc>
                <a:tc>
                  <a:txBody>
                    <a:bodyPr/>
                    <a:lstStyle/>
                    <a:p>
                      <a:pPr algn="ctr"/>
                      <a:r>
                        <a:rPr lang="en-IN" dirty="0"/>
                        <a:t>2</a:t>
                      </a:r>
                    </a:p>
                  </a:txBody>
                  <a:tcPr/>
                </a:tc>
                <a:extLst>
                  <a:ext uri="{0D108BD9-81ED-4DB2-BD59-A6C34878D82A}">
                    <a16:rowId xmlns:a16="http://schemas.microsoft.com/office/drawing/2014/main" val="1583706826"/>
                  </a:ext>
                </a:extLst>
              </a:tr>
              <a:tr h="370840">
                <a:tc>
                  <a:txBody>
                    <a:bodyPr/>
                    <a:lstStyle/>
                    <a:p>
                      <a:r>
                        <a:rPr lang="en-IN" dirty="0"/>
                        <a:t>(e)</a:t>
                      </a:r>
                    </a:p>
                  </a:txBody>
                  <a:tcPr/>
                </a:tc>
                <a:tc>
                  <a:txBody>
                    <a:bodyPr/>
                    <a:lstStyle/>
                    <a:p>
                      <a:pPr algn="ctr"/>
                      <a:r>
                        <a:rPr lang="en-IN" dirty="0"/>
                        <a:t>3</a:t>
                      </a:r>
                    </a:p>
                  </a:txBody>
                  <a:tcPr/>
                </a:tc>
                <a:tc>
                  <a:txBody>
                    <a:bodyPr/>
                    <a:lstStyle/>
                    <a:p>
                      <a:pPr algn="ctr"/>
                      <a:r>
                        <a:rPr lang="en-IN" dirty="0"/>
                        <a:t>1/2</a:t>
                      </a:r>
                    </a:p>
                  </a:txBody>
                  <a:tcPr/>
                </a:tc>
                <a:extLst>
                  <a:ext uri="{0D108BD9-81ED-4DB2-BD59-A6C34878D82A}">
                    <a16:rowId xmlns:a16="http://schemas.microsoft.com/office/drawing/2014/main" val="1106147174"/>
                  </a:ext>
                </a:extLst>
              </a:tr>
            </a:tbl>
          </a:graphicData>
        </a:graphic>
      </p:graphicFrame>
      <p:sp>
        <p:nvSpPr>
          <p:cNvPr id="7" name="TextBox 6">
            <a:extLst>
              <a:ext uri="{FF2B5EF4-FFF2-40B4-BE49-F238E27FC236}">
                <a16:creationId xmlns:a16="http://schemas.microsoft.com/office/drawing/2014/main" id="{FA8B5D37-8CE1-8F30-F1B9-F1F9F630F4E7}"/>
              </a:ext>
            </a:extLst>
          </p:cNvPr>
          <p:cNvSpPr txBox="1"/>
          <p:nvPr/>
        </p:nvSpPr>
        <p:spPr>
          <a:xfrm>
            <a:off x="370640" y="5157281"/>
            <a:ext cx="2966769" cy="1015663"/>
          </a:xfrm>
          <a:prstGeom prst="rect">
            <a:avLst/>
          </a:prstGeom>
          <a:noFill/>
          <a:ln w="57150">
            <a:solidFill>
              <a:schemeClr val="accent1"/>
            </a:solidFill>
          </a:ln>
        </p:spPr>
        <p:txBody>
          <a:bodyPr wrap="square" rtlCol="0">
            <a:spAutoFit/>
          </a:bodyPr>
          <a:lstStyle/>
          <a:p>
            <a:pPr/>
            <a:r>
              <a:rPr lang="en-US" sz="6000" dirty="0">
                <a:solidFill>
                  <a:srgbClr val="C00000"/>
                </a:solidFill>
              </a:rPr>
              <a:t>Solution</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8D1B458-2BD5-1030-6F84-05E2D45F3BAD}"/>
                  </a:ext>
                </a:extLst>
              </p:cNvPr>
              <p:cNvSpPr txBox="1"/>
              <p:nvPr/>
            </p:nvSpPr>
            <p:spPr>
              <a:xfrm>
                <a:off x="3522583" y="5265003"/>
                <a:ext cx="7769663" cy="400110"/>
              </a:xfrm>
              <a:prstGeom prst="rect">
                <a:avLst/>
              </a:prstGeom>
              <a:noFill/>
            </p:spPr>
            <p:txBody>
              <a:bodyPr wrap="square" rtlCol="0">
                <a:spAutoFit/>
              </a:bodyPr>
              <a:lstStyle/>
              <a:p>
                <a:r>
                  <a:rPr lang="en-US" sz="2000" i="1" dirty="0">
                    <a:solidFill>
                      <a:srgbClr val="C00000"/>
                    </a:solidFill>
                  </a:rPr>
                  <a:t>The range of this function is from </a:t>
                </a:r>
                <a14:m>
                  <m:oMath xmlns:m="http://schemas.openxmlformats.org/officeDocument/2006/math">
                    <m:r>
                      <a:rPr lang="en-US" sz="2000" i="1" dirty="0" smtClean="0">
                        <a:solidFill>
                          <a:srgbClr val="C00000"/>
                        </a:solidFill>
                        <a:latin typeface="Cambria Math" panose="02040503050406030204" pitchFamily="18" charset="0"/>
                      </a:rPr>
                      <m:t>1</m:t>
                    </m:r>
                  </m:oMath>
                </a14:m>
                <a:r>
                  <a:rPr lang="en-US" sz="2000" i="1" dirty="0">
                    <a:solidFill>
                      <a:srgbClr val="C00000"/>
                    </a:solidFill>
                  </a:rPr>
                  <a:t> to </a:t>
                </a:r>
                <a14:m>
                  <m:oMath xmlns:m="http://schemas.openxmlformats.org/officeDocument/2006/math">
                    <m:r>
                      <a:rPr lang="en-US" sz="2000" i="1" dirty="0" smtClean="0">
                        <a:solidFill>
                          <a:srgbClr val="C00000"/>
                        </a:solidFill>
                        <a:latin typeface="Cambria Math" panose="02040503050406030204" pitchFamily="18" charset="0"/>
                      </a:rPr>
                      <m:t>5</m:t>
                    </m:r>
                  </m:oMath>
                </a14:m>
                <a:r>
                  <a:rPr lang="en-US" sz="2000" i="1" dirty="0">
                    <a:solidFill>
                      <a:srgbClr val="C00000"/>
                    </a:solidFill>
                  </a:rPr>
                  <a:t>, so the midline is </a:t>
                </a:r>
                <a14:m>
                  <m:oMath xmlns:m="http://schemas.openxmlformats.org/officeDocument/2006/math">
                    <m:r>
                      <a:rPr lang="en-US" sz="2000" i="1" dirty="0" smtClean="0">
                        <a:solidFill>
                          <a:srgbClr val="C00000"/>
                        </a:solidFill>
                        <a:latin typeface="Cambria Math" panose="02040503050406030204" pitchFamily="18" charset="0"/>
                      </a:rPr>
                      <m:t>𝑦</m:t>
                    </m:r>
                    <m:r>
                      <a:rPr lang="en-US" sz="2000" i="1" dirty="0" smtClean="0">
                        <a:solidFill>
                          <a:srgbClr val="C00000"/>
                        </a:solidFill>
                        <a:latin typeface="Cambria Math" panose="02040503050406030204" pitchFamily="18" charset="0"/>
                      </a:rPr>
                      <m:t>=3</m:t>
                    </m:r>
                  </m:oMath>
                </a14:m>
                <a:r>
                  <a:rPr lang="en-US" sz="2000" i="1" dirty="0">
                    <a:solidFill>
                      <a:srgbClr val="C00000"/>
                    </a:solidFill>
                  </a:rPr>
                  <a:t>.</a:t>
                </a:r>
              </a:p>
            </p:txBody>
          </p:sp>
        </mc:Choice>
        <mc:Fallback xmlns="">
          <p:sp>
            <p:nvSpPr>
              <p:cNvPr id="8" name="TextBox 7">
                <a:extLst>
                  <a:ext uri="{FF2B5EF4-FFF2-40B4-BE49-F238E27FC236}">
                    <a16:creationId xmlns:a16="http://schemas.microsoft.com/office/drawing/2014/main" id="{48D1B458-2BD5-1030-6F84-05E2D45F3BAD}"/>
                  </a:ext>
                </a:extLst>
              </p:cNvPr>
              <p:cNvSpPr txBox="1">
                <a:spLocks noRot="1" noChangeAspect="1" noMove="1" noResize="1" noEditPoints="1" noAdjustHandles="1" noChangeArrowheads="1" noChangeShapeType="1" noTextEdit="1"/>
              </p:cNvSpPr>
              <p:nvPr/>
            </p:nvSpPr>
            <p:spPr>
              <a:xfrm>
                <a:off x="3522583" y="5265003"/>
                <a:ext cx="7769663" cy="400110"/>
              </a:xfrm>
              <a:prstGeom prst="rect">
                <a:avLst/>
              </a:prstGeom>
              <a:blipFill>
                <a:blip r:embed="rId3"/>
                <a:stretch>
                  <a:fillRect l="-863" t="-9231" b="-27692"/>
                </a:stretch>
              </a:blipFill>
            </p:spPr>
            <p:txBody>
              <a:bodyPr/>
              <a:lstStyle/>
              <a:p>
                <a:r>
                  <a:rPr lang="en-US">
                    <a:noFill/>
                  </a:rPr>
                  <a:t> </a:t>
                </a:r>
              </a:p>
            </p:txBody>
          </p:sp>
        </mc:Fallback>
      </mc:AlternateContent>
      <p:pic>
        <p:nvPicPr>
          <p:cNvPr id="9" name="Picture 8" descr="Graph of a sine curve and a horizontal dashed line, depicts the vertical shift, on an x y coordinate plane. The x-axis ranges from negative 1 to 1. The y-axis ranges from negative 2 to 6, in increments of 1. The curve enters the left of the graph at (negative 1, 4), increases concave down to the right, and reaches a high point at (negative 0.9, 5). The curve then decreases to the right and reaches a low point at (negative 0.6, 1), then increases to the right, to a high point at (negative 0.4, 5). The curve then proceeds similarly as it goes rightward. The horizontal dashed line enters the left of the graph, goes rightward through ((negative 1, 3), intersects the curves at several points along y equals 3, and exits the right of the curve. All values are estimated.">
            <a:extLst>
              <a:ext uri="{FF2B5EF4-FFF2-40B4-BE49-F238E27FC236}">
                <a16:creationId xmlns:a16="http://schemas.microsoft.com/office/drawing/2014/main" id="{3F2D5F13-AB3A-17E8-892B-9DD628A56C8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14460" y="2168363"/>
            <a:ext cx="3043936" cy="2914751"/>
          </a:xfrm>
          <a:prstGeom prst="rect">
            <a:avLst/>
          </a:prstGeom>
        </p:spPr>
      </p:pic>
      <p:cxnSp>
        <p:nvCxnSpPr>
          <p:cNvPr id="10" name="Straight Connector 9">
            <a:extLst>
              <a:ext uri="{FF2B5EF4-FFF2-40B4-BE49-F238E27FC236}">
                <a16:creationId xmlns:a16="http://schemas.microsoft.com/office/drawing/2014/main" id="{9AAFF7EF-1628-4C9A-3724-126365C7ED26}"/>
              </a:ext>
              <a:ext uri="{C183D7F6-B498-43B3-948B-1728B52AA6E4}">
                <adec:decorative xmlns:adec="http://schemas.microsoft.com/office/drawing/2017/decorative" val="1"/>
              </a:ext>
            </a:extLst>
          </p:cNvPr>
          <p:cNvCxnSpPr>
            <a:cxnSpLocks/>
          </p:cNvCxnSpPr>
          <p:nvPr/>
        </p:nvCxnSpPr>
        <p:spPr>
          <a:xfrm>
            <a:off x="6565067" y="3297052"/>
            <a:ext cx="3701404" cy="0"/>
          </a:xfrm>
          <a:prstGeom prst="line">
            <a:avLst/>
          </a:prstGeom>
          <a:ln w="1905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E726F8D-E52F-B8C9-0FA9-4B08FBFE0459}"/>
              </a:ext>
            </a:extLst>
          </p:cNvPr>
          <p:cNvSpPr txBox="1"/>
          <p:nvPr/>
        </p:nvSpPr>
        <p:spPr>
          <a:xfrm>
            <a:off x="3836204" y="5614540"/>
            <a:ext cx="7769663" cy="400110"/>
          </a:xfrm>
          <a:prstGeom prst="rect">
            <a:avLst/>
          </a:prstGeom>
          <a:noFill/>
        </p:spPr>
        <p:txBody>
          <a:bodyPr wrap="square" rtlCol="0">
            <a:spAutoFit/>
          </a:bodyPr>
          <a:lstStyle/>
          <a:p>
            <a:pPr/>
            <a:r>
              <a:rPr lang="en-US" sz="2000" i="1" dirty="0">
                <a:solidFill>
                  <a:srgbClr val="C00000"/>
                </a:solidFill>
              </a:rPr>
              <a:t>The amplitude is 2.</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465A7A2-3152-EFFD-7AD3-6050B555A0DF}"/>
                  </a:ext>
                </a:extLst>
              </p:cNvPr>
              <p:cNvSpPr txBox="1"/>
              <p:nvPr/>
            </p:nvSpPr>
            <p:spPr>
              <a:xfrm>
                <a:off x="4092617" y="5902999"/>
                <a:ext cx="6228605" cy="707886"/>
              </a:xfrm>
              <a:prstGeom prst="rect">
                <a:avLst/>
              </a:prstGeom>
              <a:noFill/>
            </p:spPr>
            <p:txBody>
              <a:bodyPr wrap="square" rtlCol="0">
                <a:spAutoFit/>
              </a:bodyPr>
              <a:lstStyle/>
              <a:p>
                <a:r>
                  <a:rPr lang="en-US" sz="2000" i="1" dirty="0">
                    <a:solidFill>
                      <a:srgbClr val="C00000"/>
                    </a:solidFill>
                  </a:rPr>
                  <a:t>The graph completes a full cycle between </a:t>
                </a:r>
                <a14:m>
                  <m:oMath xmlns:m="http://schemas.openxmlformats.org/officeDocument/2006/math">
                    <m:r>
                      <a:rPr lang="en-US" sz="2000" i="1" dirty="0" smtClean="0">
                        <a:solidFill>
                          <a:srgbClr val="C00000"/>
                        </a:solidFill>
                        <a:latin typeface="Cambria Math" panose="02040503050406030204" pitchFamily="18" charset="0"/>
                      </a:rPr>
                      <m:t>𝑥</m:t>
                    </m:r>
                    <m:r>
                      <a:rPr lang="en-US" sz="2000" i="1" dirty="0" smtClean="0">
                        <a:solidFill>
                          <a:srgbClr val="C00000"/>
                        </a:solidFill>
                        <a:latin typeface="Cambria Math" panose="02040503050406030204" pitchFamily="18" charset="0"/>
                      </a:rPr>
                      <m:t>=0</m:t>
                    </m:r>
                  </m:oMath>
                </a14:m>
                <a:r>
                  <a:rPr lang="en-US" sz="2000" i="1" dirty="0">
                    <a:solidFill>
                      <a:srgbClr val="C00000"/>
                    </a:solidFill>
                  </a:rPr>
                  <a:t> and about  </a:t>
                </a:r>
                <a14:m>
                  <m:oMath xmlns:m="http://schemas.openxmlformats.org/officeDocument/2006/math">
                    <m:r>
                      <a:rPr lang="en-US" sz="2000" i="1" dirty="0" smtClean="0">
                        <a:solidFill>
                          <a:srgbClr val="C00000"/>
                        </a:solidFill>
                        <a:latin typeface="Cambria Math" panose="02040503050406030204" pitchFamily="18" charset="0"/>
                      </a:rPr>
                      <m:t>𝑥</m:t>
                    </m:r>
                    <m:r>
                      <a:rPr lang="en-US" sz="2000" i="1" dirty="0" smtClean="0">
                        <a:solidFill>
                          <a:srgbClr val="C00000"/>
                        </a:solidFill>
                        <a:latin typeface="Cambria Math" panose="02040503050406030204" pitchFamily="18" charset="0"/>
                      </a:rPr>
                      <m:t>=0.5</m:t>
                    </m:r>
                  </m:oMath>
                </a14:m>
                <a:r>
                  <a:rPr lang="en-US" sz="2000" i="1" dirty="0">
                    <a:solidFill>
                      <a:srgbClr val="C00000"/>
                    </a:solidFill>
                  </a:rPr>
                  <a:t>, so the period is 0.5.</a:t>
                </a:r>
              </a:p>
            </p:txBody>
          </p:sp>
        </mc:Choice>
        <mc:Fallback xmlns="">
          <p:sp>
            <p:nvSpPr>
              <p:cNvPr id="16" name="TextBox 15">
                <a:extLst>
                  <a:ext uri="{FF2B5EF4-FFF2-40B4-BE49-F238E27FC236}">
                    <a16:creationId xmlns:a16="http://schemas.microsoft.com/office/drawing/2014/main" id="{0465A7A2-3152-EFFD-7AD3-6050B555A0DF}"/>
                  </a:ext>
                </a:extLst>
              </p:cNvPr>
              <p:cNvSpPr txBox="1">
                <a:spLocks noRot="1" noChangeAspect="1" noMove="1" noResize="1" noEditPoints="1" noAdjustHandles="1" noChangeArrowheads="1" noChangeShapeType="1" noTextEdit="1"/>
              </p:cNvSpPr>
              <p:nvPr/>
            </p:nvSpPr>
            <p:spPr>
              <a:xfrm>
                <a:off x="4092617" y="5902999"/>
                <a:ext cx="6228605" cy="707886"/>
              </a:xfrm>
              <a:prstGeom prst="rect">
                <a:avLst/>
              </a:prstGeom>
              <a:blipFill>
                <a:blip r:embed="rId5"/>
                <a:stretch>
                  <a:fillRect l="-978" t="-4310" r="-2348" b="-14655"/>
                </a:stretch>
              </a:blipFill>
            </p:spPr>
            <p:txBody>
              <a:bodyPr/>
              <a:lstStyle/>
              <a:p>
                <a:r>
                  <a:rPr lang="en-US">
                    <a:noFill/>
                  </a:rPr>
                  <a:t> </a:t>
                </a:r>
              </a:p>
            </p:txBody>
          </p:sp>
        </mc:Fallback>
      </mc:AlternateContent>
      <p:sp>
        <p:nvSpPr>
          <p:cNvPr id="5" name="TextBox 6">
            <a:extLst>
              <a:ext uri="{FF2B5EF4-FFF2-40B4-BE49-F238E27FC236}">
                <a16:creationId xmlns:a16="http://schemas.microsoft.com/office/drawing/2014/main" id="{D8132C58-61B4-409E-6ACE-C3A02B078373}"/>
              </a:ext>
            </a:extLst>
          </p:cNvPr>
          <p:cNvSpPr txBox="1"/>
          <p:nvPr/>
        </p:nvSpPr>
        <p:spPr>
          <a:xfrm>
            <a:off x="10369279" y="6241760"/>
            <a:ext cx="1630392"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r>
              <a:rPr lang="en-US" sz="2400" i="1" dirty="0">
                <a:solidFill>
                  <a:srgbClr val="C00000"/>
                </a:solidFill>
              </a:rPr>
              <a:t>Answer:  C</a:t>
            </a:r>
          </a:p>
        </p:txBody>
      </p:sp>
      <p:sp>
        <p:nvSpPr>
          <p:cNvPr id="6" name="Oval 5">
            <a:extLst>
              <a:ext uri="{FF2B5EF4-FFF2-40B4-BE49-F238E27FC236}">
                <a16:creationId xmlns:a16="http://schemas.microsoft.com/office/drawing/2014/main" id="{34A16144-F764-F9C1-73E4-2AA58F065892}"/>
              </a:ext>
              <a:ext uri="{C183D7F6-B498-43B3-948B-1728B52AA6E4}">
                <adec:decorative xmlns:adec="http://schemas.microsoft.com/office/drawing/2017/decorative" val="1"/>
              </a:ext>
            </a:extLst>
          </p:cNvPr>
          <p:cNvSpPr/>
          <p:nvPr/>
        </p:nvSpPr>
        <p:spPr>
          <a:xfrm>
            <a:off x="2154531" y="3321879"/>
            <a:ext cx="550795" cy="496375"/>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57382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8938"/>
            <a:ext cx="10515600" cy="891618"/>
          </a:xfrm>
        </p:spPr>
        <p:txBody>
          <a:bodyPr>
            <a:normAutofit/>
          </a:bodyPr>
          <a:lstStyle/>
          <a:p>
            <a:pPr/>
            <a:r>
              <a:rPr lang="en-US" dirty="0">
                <a:solidFill/>
              </a:rPr>
              <a:t>Modeling Deer Population</a:t>
            </a:r>
          </a:p>
        </p:txBody>
      </p:sp>
      <mc:AlternateContent xmlns:mc="http://schemas.openxmlformats.org/markup-compatibility/2006" xmlns:a14="http://schemas.microsoft.com/office/drawing/2010/main">
        <mc:Choice Requires="a14">
          <p:sp>
            <p:nvSpPr>
              <p:cNvPr id="3" name="TextBox 2"/>
              <p:cNvSpPr txBox="1"/>
              <p:nvPr/>
            </p:nvSpPr>
            <p:spPr>
              <a:xfrm>
                <a:off x="659024" y="1301577"/>
                <a:ext cx="10816281" cy="1569660"/>
              </a:xfrm>
              <a:prstGeom prst="rect">
                <a:avLst/>
              </a:prstGeom>
              <a:noFill/>
            </p:spPr>
            <p:txBody>
              <a:bodyPr wrap="square" rtlCol="0">
                <a:spAutoFit/>
              </a:bodyPr>
              <a:lstStyle/>
              <a:p>
                <a:r>
                  <a:rPr lang="en-US" sz="2400" dirty="0"/>
                  <a:t>A deer population in the Adirondack Park oscillates </a:t>
                </a:r>
                <a:r>
                  <a:rPr lang="en-US" sz="2400" dirty="0" err="1"/>
                  <a:t>sinusoidally</a:t>
                </a:r>
                <a:r>
                  <a:rPr lang="en-US" sz="2400" dirty="0"/>
                  <a:t> between a low of 300 on January 1</a:t>
                </a:r>
                <a:r>
                  <a:rPr lang="en-US" sz="2400" baseline="30000" dirty="0"/>
                  <a:t>st</a:t>
                </a:r>
                <a:r>
                  <a:rPr lang="en-US" sz="2400" dirty="0"/>
                  <a:t> and a high of 1500 six months later on July 1</a:t>
                </a:r>
                <a:r>
                  <a:rPr lang="en-US" sz="2400" baseline="30000" dirty="0"/>
                  <a:t>st</a:t>
                </a:r>
                <a:r>
                  <a:rPr lang="en-US" sz="2400" dirty="0"/>
                  <a:t> each year.  Sketch a graph and find a formula for the size of the deer population, </a:t>
                </a:r>
                <a14:m>
                  <m:oMath xmlns:m="http://schemas.openxmlformats.org/officeDocument/2006/math">
                    <m:r>
                      <a:rPr lang="en-US" sz="2400" i="1" dirty="0" smtClean="0">
                        <a:latin typeface="Cambria Math" panose="02040503050406030204" pitchFamily="18" charset="0"/>
                      </a:rPr>
                      <m:t>𝑃</m:t>
                    </m:r>
                  </m:oMath>
                </a14:m>
                <a:r>
                  <a:rPr lang="en-US" sz="2400" dirty="0"/>
                  <a:t>, as a function of the number of months, </a:t>
                </a:r>
                <a14:m>
                  <m:oMath xmlns:m="http://schemas.openxmlformats.org/officeDocument/2006/math">
                    <m:r>
                      <a:rPr lang="en-US" sz="2400" i="1" dirty="0" smtClean="0">
                        <a:latin typeface="Cambria Math" panose="02040503050406030204" pitchFamily="18" charset="0"/>
                      </a:rPr>
                      <m:t>𝑡</m:t>
                    </m:r>
                  </m:oMath>
                </a14:m>
                <a:r>
                  <a:rPr lang="en-US" sz="2400" dirty="0"/>
                  <a:t>, since January 1 of this year.</a:t>
                </a:r>
              </a:p>
            </p:txBody>
          </p:sp>
        </mc:Choice>
        <mc:Fallback xmlns="">
          <p:sp>
            <p:nvSpPr>
              <p:cNvPr id="3" name="TextBox 2"/>
              <p:cNvSpPr txBox="1">
                <a:spLocks noRot="1" noChangeAspect="1" noMove="1" noResize="1" noEditPoints="1" noAdjustHandles="1" noChangeArrowheads="1" noChangeShapeType="1" noTextEdit="1"/>
              </p:cNvSpPr>
              <p:nvPr/>
            </p:nvSpPr>
            <p:spPr>
              <a:xfrm>
                <a:off x="659024" y="1301577"/>
                <a:ext cx="10816281" cy="1569660"/>
              </a:xfrm>
              <a:prstGeom prst="rect">
                <a:avLst/>
              </a:prstGeom>
              <a:blipFill>
                <a:blip r:embed="rId2"/>
                <a:stretch>
                  <a:fillRect l="-846" t="-3113" r="-733" b="-8171"/>
                </a:stretch>
              </a:blipFill>
            </p:spPr>
            <p:txBody>
              <a:bodyPr/>
              <a:lstStyle/>
              <a:p>
                <a:r>
                  <a:rPr lang="en-US">
                    <a:noFill/>
                  </a:rPr>
                  <a:t> </a:t>
                </a:r>
              </a:p>
            </p:txBody>
          </p:sp>
        </mc:Fallback>
      </mc:AlternateContent>
      <p:pic>
        <p:nvPicPr>
          <p:cNvPr id="5" name="Picture 4" descr="Graph of a function of curve, on a coordinate plane. The horizontal axis is labeled t, and ranges from 0 to 40, in increments of 10. The vertical axis ranges from 0 to 1400, in increments of 200, with an axis breaker between 0 to 200. The curve enters the left of the graph, increases concave down to the right, and reaches a high point at (negative 8, 1500). The curve then decreases concave up to the right and reaches a low point at (0, 3000), on the vertical axis. The curve then increases concave up, reaches a high point at (8, 1500), and then proceeds similarly as it goes rightward. All values are estimated."/>
          <p:cNvPicPr>
            <a:picLocks noChangeAspect="1"/>
          </p:cNvPicPr>
          <p:nvPr/>
        </p:nvPicPr>
        <p:blipFill>
          <a:blip r:embed="rId3"/>
          <a:stretch>
            <a:fillRect/>
          </a:stretch>
        </p:blipFill>
        <p:spPr>
          <a:xfrm>
            <a:off x="756977" y="3023656"/>
            <a:ext cx="3246611" cy="3106549"/>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4300151" y="3023656"/>
                <a:ext cx="2899719" cy="2677464"/>
              </a:xfrm>
              <a:prstGeom prst="rect">
                <a:avLst/>
              </a:prstGeom>
              <a:noFill/>
            </p:spPr>
            <p:txBody>
              <a:bodyPr wrap="square" rtlCol="0">
                <a:spAutoFit/>
              </a:bodyPr>
              <a:lstStyle/>
              <a:p>
                <a:r>
                  <a:rPr lang="en-US" dirty="0">
                    <a:solidFill>
                      <a:srgbClr val="C00000"/>
                    </a:solidFill>
                  </a:rPr>
                  <a:t>Minimum is 300</a:t>
                </a:r>
              </a:p>
              <a:p>
                <a:r>
                  <a:rPr lang="en-US" dirty="0">
                    <a:solidFill>
                      <a:srgbClr val="C00000"/>
                    </a:solidFill>
                  </a:rPr>
                  <a:t>Maximum is 1500</a:t>
                </a:r>
              </a:p>
              <a:p>
                <a:r>
                  <a:rPr lang="en-US" dirty="0">
                    <a:solidFill>
                      <a:srgbClr val="C00000"/>
                    </a:solidFill>
                  </a:rPr>
                  <a:t>So midline is 900</a:t>
                </a:r>
              </a:p>
              <a:p>
                <a:r>
                  <a:rPr lang="en-US" dirty="0">
                    <a:solidFill>
                      <a:srgbClr val="C00000"/>
                    </a:solidFill>
                  </a:rPr>
                  <a:t>And amplitude is 600.</a:t>
                </a:r>
              </a:p>
              <a:p>
                <a:r>
                  <a:rPr lang="en-US" dirty="0">
                    <a:solidFill>
                      <a:srgbClr val="C00000"/>
                    </a:solidFill>
                  </a:rPr>
                  <a:t>Wave goes through vertical axis at lowest point,</a:t>
                </a:r>
              </a:p>
              <a:p>
                <a:r>
                  <a:rPr lang="en-US" dirty="0">
                    <a:solidFill>
                      <a:srgbClr val="C00000"/>
                    </a:solidFill>
                  </a:rPr>
                  <a:t>so this is – cos.</a:t>
                </a:r>
              </a:p>
              <a:p>
                <a:r>
                  <a:rPr lang="en-US" dirty="0">
                    <a:solidFill>
                      <a:srgbClr val="C00000"/>
                    </a:solidFill>
                  </a:rPr>
                  <a:t>Period is 12 months, </a:t>
                </a:r>
              </a:p>
              <a:p>
                <a:r>
                  <a:rPr lang="en-US" dirty="0">
                    <a:solidFill>
                      <a:srgbClr val="C00000"/>
                    </a:solidFill>
                  </a:rPr>
                  <a:t>So B is </a:t>
                </a:r>
                <a14:m>
                  <m:oMath xmlns:m="http://schemas.openxmlformats.org/officeDocument/2006/math">
                    <m:f>
                      <m:fPr>
                        <m:ctrlPr>
                          <a:rPr lang="en-US" i="1" smtClean="0">
                            <a:solidFill>
                              <a:srgbClr val="C00000"/>
                            </a:solidFill>
                            <a:latin typeface="Cambria Math" panose="02040503050406030204" pitchFamily="18" charset="0"/>
                          </a:rPr>
                        </m:ctrlPr>
                      </m:fPr>
                      <m:num>
                        <m:r>
                          <a:rPr lang="en-US" i="1" smtClean="0">
                            <a:solidFill>
                              <a:srgbClr val="C00000"/>
                            </a:solidFill>
                            <a:latin typeface="Cambria Math" panose="02040503050406030204" pitchFamily="18" charset="0"/>
                            <a:ea typeface="Cambria Math" panose="02040503050406030204" pitchFamily="18" charset="0"/>
                          </a:rPr>
                          <m:t>𝜋</m:t>
                        </m:r>
                      </m:num>
                      <m:den>
                        <m:r>
                          <a:rPr lang="en-US" b="0" i="1" smtClean="0">
                            <a:solidFill>
                              <a:srgbClr val="C00000"/>
                            </a:solidFill>
                            <a:latin typeface="Cambria Math" panose="02040503050406030204" pitchFamily="18" charset="0"/>
                          </a:rPr>
                          <m:t>6</m:t>
                        </m:r>
                      </m:den>
                    </m:f>
                  </m:oMath>
                </a14:m>
                <a:r>
                  <a:rPr lang="en-US" dirty="0">
                    <a:solidFill>
                      <a:srgbClr val="C00000"/>
                    </a:solidFill>
                  </a:rPr>
                  <a:t>.</a:t>
                </a:r>
              </a:p>
            </p:txBody>
          </p:sp>
        </mc:Choice>
        <mc:Fallback xmlns="">
          <p:sp>
            <p:nvSpPr>
              <p:cNvPr id="6" name="TextBox 5"/>
              <p:cNvSpPr txBox="1">
                <a:spLocks noRot="1" noChangeAspect="1" noMove="1" noResize="1" noEditPoints="1" noAdjustHandles="1" noChangeArrowheads="1" noChangeShapeType="1" noTextEdit="1"/>
              </p:cNvSpPr>
              <p:nvPr/>
            </p:nvSpPr>
            <p:spPr>
              <a:xfrm>
                <a:off x="4300151" y="3023656"/>
                <a:ext cx="2899719" cy="2677464"/>
              </a:xfrm>
              <a:prstGeom prst="rect">
                <a:avLst/>
              </a:prstGeom>
              <a:blipFill>
                <a:blip r:embed="rId4"/>
                <a:stretch>
                  <a:fillRect l="-1681" t="-1139" b="-6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6934134" y="2842747"/>
                <a:ext cx="4176584" cy="824456"/>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=−600</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cos</m:t>
                          </m:r>
                        </m:fName>
                        <m:e>
                          <m:d>
                            <m:dPr>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𝜋</m:t>
                                  </m:r>
                                </m:num>
                                <m:den>
                                  <m:r>
                                    <a:rPr lang="en-US" sz="2800" b="0" i="1" smtClean="0">
                                      <a:latin typeface="Cambria Math" panose="02040503050406030204" pitchFamily="18" charset="0"/>
                                    </a:rPr>
                                    <m:t>6</m:t>
                                  </m:r>
                                </m:den>
                              </m:f>
                              <m:r>
                                <a:rPr lang="en-US" sz="2800" b="0" i="1" smtClean="0">
                                  <a:latin typeface="Cambria Math" panose="02040503050406030204" pitchFamily="18" charset="0"/>
                                </a:rPr>
                                <m:t>𝑡</m:t>
                              </m:r>
                            </m:e>
                          </m:d>
                          <m:r>
                            <a:rPr lang="en-US" sz="2800" b="0" i="1" smtClean="0">
                              <a:latin typeface="Cambria Math" panose="02040503050406030204" pitchFamily="18" charset="0"/>
                            </a:rPr>
                            <m:t>+900</m:t>
                          </m:r>
                        </m:e>
                      </m:func>
                    </m:oMath>
                  </m:oMathPara>
                </a14:m>
                <a:endParaRPr lang="en-US" sz="2800" dirty="0"/>
              </a:p>
            </p:txBody>
          </p:sp>
        </mc:Choice>
        <mc:Fallback xmlns="">
          <p:sp>
            <p:nvSpPr>
              <p:cNvPr id="7" name="TextBox 6"/>
              <p:cNvSpPr txBox="1">
                <a:spLocks noRot="1" noChangeAspect="1" noMove="1" noResize="1" noEditPoints="1" noAdjustHandles="1" noChangeArrowheads="1" noChangeShapeType="1" noTextEdit="1"/>
              </p:cNvSpPr>
              <p:nvPr/>
            </p:nvSpPr>
            <p:spPr>
              <a:xfrm>
                <a:off x="6934134" y="2842747"/>
                <a:ext cx="4176584" cy="82445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28857B7-73C7-3307-5DE1-5EDDDB4FE332}"/>
                  </a:ext>
                </a:extLst>
              </p:cNvPr>
              <p:cNvSpPr txBox="1"/>
              <p:nvPr/>
            </p:nvSpPr>
            <p:spPr>
              <a:xfrm>
                <a:off x="7123561" y="3750685"/>
                <a:ext cx="4654130" cy="2031325"/>
              </a:xfrm>
              <a:prstGeom prst="rect">
                <a:avLst/>
              </a:prstGeom>
              <a:noFill/>
              <a:ln w="28575">
                <a:solidFill>
                  <a:srgbClr val="0070C0"/>
                </a:solidFill>
              </a:ln>
            </p:spPr>
            <p:txBody>
              <a:bodyPr wrap="square" rtlCol="0">
                <a:spAutoFit/>
              </a:bodyPr>
              <a:lstStyle/>
              <a:p>
                <a:r>
                  <a:rPr lang="en-US" dirty="0"/>
                  <a:t>Of course, the lowest value of the population might not occur exactly on January 1</a:t>
                </a:r>
                <a:r>
                  <a:rPr lang="en-US" baseline="30000" dirty="0"/>
                  <a:t>st</a:t>
                </a:r>
                <a:r>
                  <a:rPr lang="en-US" dirty="0"/>
                  <a:t>.  And not all sinusoidal functions go through the vertical axis at the highest or lowest or midpoint value.  Sometimes we must use a horizontal shift.  In such a case, we replace </a:t>
                </a:r>
                <a14:m>
                  <m:oMath xmlns:m="http://schemas.openxmlformats.org/officeDocument/2006/math">
                    <m:r>
                      <a:rPr lang="en-US" i="1" dirty="0" smtClean="0">
                        <a:latin typeface="Cambria Math" panose="02040503050406030204" pitchFamily="18" charset="0"/>
                      </a:rPr>
                      <m:t>𝑡</m:t>
                    </m:r>
                  </m:oMath>
                </a14:m>
                <a:r>
                  <a:rPr lang="en-US" dirty="0"/>
                  <a:t> with </a:t>
                </a:r>
                <a14:m>
                  <m:oMath xmlns:m="http://schemas.openxmlformats.org/officeDocument/2006/math">
                    <m:r>
                      <a:rPr lang="en-US" i="1" dirty="0" smtClean="0">
                        <a:latin typeface="Cambria Math" panose="02040503050406030204" pitchFamily="18" charset="0"/>
                      </a:rPr>
                      <m:t>𝑡</m:t>
                    </m:r>
                    <m:r>
                      <a:rPr lang="en-US" i="1" dirty="0" smtClean="0">
                        <a:latin typeface="Cambria Math" panose="02040503050406030204" pitchFamily="18" charset="0"/>
                      </a:rPr>
                      <m:t>−</m:t>
                    </m:r>
                    <m:r>
                      <a:rPr lang="en-US" i="1" dirty="0" smtClean="0">
                        <a:latin typeface="Cambria Math" panose="02040503050406030204" pitchFamily="18" charset="0"/>
                      </a:rPr>
                      <m:t>h</m:t>
                    </m:r>
                  </m:oMath>
                </a14:m>
                <a:r>
                  <a:rPr lang="en-US" dirty="0"/>
                  <a:t> as described in Section 1.3.</a:t>
                </a:r>
              </a:p>
            </p:txBody>
          </p:sp>
        </mc:Choice>
        <mc:Fallback xmlns="">
          <p:sp>
            <p:nvSpPr>
              <p:cNvPr id="4" name="TextBox 3">
                <a:extLst>
                  <a:ext uri="{FF2B5EF4-FFF2-40B4-BE49-F238E27FC236}">
                    <a16:creationId xmlns:a16="http://schemas.microsoft.com/office/drawing/2014/main" id="{628857B7-73C7-3307-5DE1-5EDDDB4FE332}"/>
                  </a:ext>
                </a:extLst>
              </p:cNvPr>
              <p:cNvSpPr txBox="1">
                <a:spLocks noRot="1" noChangeAspect="1" noMove="1" noResize="1" noEditPoints="1" noAdjustHandles="1" noChangeArrowheads="1" noChangeShapeType="1" noTextEdit="1"/>
              </p:cNvSpPr>
              <p:nvPr/>
            </p:nvSpPr>
            <p:spPr>
              <a:xfrm>
                <a:off x="7123561" y="3750685"/>
                <a:ext cx="4654130" cy="2031325"/>
              </a:xfrm>
              <a:prstGeom prst="rect">
                <a:avLst/>
              </a:prstGeom>
              <a:blipFill>
                <a:blip r:embed="rId6"/>
                <a:stretch>
                  <a:fillRect l="-911" t="-888" r="-651" b="-2959"/>
                </a:stretch>
              </a:blipFill>
              <a:ln w="28575">
                <a:solidFill>
                  <a:srgbClr val="0070C0"/>
                </a:solidFill>
              </a:ln>
            </p:spPr>
            <p:txBody>
              <a:bodyPr/>
              <a:lstStyle/>
              <a:p>
                <a:r>
                  <a:rPr lang="en-US">
                    <a:noFill/>
                  </a:rPr>
                  <a:t> </a:t>
                </a:r>
              </a:p>
            </p:txBody>
          </p:sp>
        </mc:Fallback>
      </mc:AlternateContent>
    </p:spTree>
    <p:extLst>
      <p:ext uri="{BB962C8B-B14F-4D97-AF65-F5344CB8AC3E}">
        <p14:creationId xmlns:p14="http://schemas.microsoft.com/office/powerpoint/2010/main" val="3919968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animBg="1"/>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p:cNvSpPr txBox="1"/>
              <p:nvPr/>
            </p:nvSpPr>
            <p:spPr>
              <a:xfrm>
                <a:off x="716690" y="1077301"/>
                <a:ext cx="10610335" cy="4026295"/>
              </a:xfrm>
              <a:prstGeom prst="rect">
                <a:avLst/>
              </a:prstGeom>
              <a:solidFill>
                <a:schemeClr val="bg1"/>
              </a:solidFill>
            </p:spPr>
            <p:txBody>
              <a:bodyPr wrap="square" rtlCol="0">
                <a:spAutoFit/>
              </a:bodyPr>
              <a:lstStyle/>
              <a:p>
                <a:r>
                  <a:rPr lang="en-US" sz="2400" dirty="0"/>
                  <a:t>The temperature in a river, in degrees Fahrenheit, oscillates </a:t>
                </a:r>
                <a:r>
                  <a:rPr lang="en-US" sz="2400" dirty="0" err="1"/>
                  <a:t>sinusoidally</a:t>
                </a:r>
                <a:r>
                  <a:rPr lang="en-US" sz="2400" dirty="0"/>
                  <a:t> from a low of 60 at midnight to a high of 70 at noon.  Which of the following gives a formula for the temperature, </a:t>
                </a:r>
                <a14:m>
                  <m:oMath xmlns:m="http://schemas.openxmlformats.org/officeDocument/2006/math">
                    <m:r>
                      <a:rPr lang="en-US" sz="2400" i="1" dirty="0" smtClean="0">
                        <a:latin typeface="Cambria Math" panose="02040503050406030204" pitchFamily="18" charset="0"/>
                      </a:rPr>
                      <m:t>𝑦</m:t>
                    </m:r>
                  </m:oMath>
                </a14:m>
                <a:r>
                  <a:rPr lang="en-US" sz="2400" dirty="0"/>
                  <a:t>, of the river at time </a:t>
                </a:r>
                <a14:m>
                  <m:oMath xmlns:m="http://schemas.openxmlformats.org/officeDocument/2006/math">
                    <m:r>
                      <a:rPr lang="en-US" sz="2400" i="1" dirty="0" smtClean="0">
                        <a:latin typeface="Cambria Math" panose="02040503050406030204" pitchFamily="18" charset="0"/>
                      </a:rPr>
                      <m:t>𝑡</m:t>
                    </m:r>
                  </m:oMath>
                </a14:m>
                <a:r>
                  <a:rPr lang="en-US" sz="2400" dirty="0"/>
                  <a:t> hours after midnight?</a:t>
                </a:r>
              </a:p>
              <a:p>
                <a:endParaRPr lang="en-US" sz="2400" dirty="0"/>
              </a:p>
              <a:p>
                <a:pPr marL="457200" indent="-457200">
                  <a:buAutoNum type="alphaUcPeriod"/>
                </a:pPr>
                <a:r>
                  <a:rPr lang="en-US" sz="2400" dirty="0"/>
                  <a:t> </a:t>
                </a:r>
                <a14:m>
                  <m:oMath xmlns:m="http://schemas.openxmlformats.org/officeDocument/2006/math">
                    <m:r>
                      <a:rPr lang="en-US" sz="2400" i="1">
                        <a:latin typeface="Cambria Math" panose="02040503050406030204" pitchFamily="18" charset="0"/>
                      </a:rPr>
                      <m:t>𝑦</m:t>
                    </m:r>
                    <m:r>
                      <a:rPr lang="en-US" sz="2400" i="1">
                        <a:latin typeface="Cambria Math" panose="02040503050406030204" pitchFamily="18" charset="0"/>
                      </a:rPr>
                      <m:t>=70</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cos</m:t>
                        </m:r>
                      </m:fName>
                      <m:e>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i="1">
                                <a:latin typeface="Cambria Math" panose="02040503050406030204" pitchFamily="18" charset="0"/>
                              </a:rPr>
                              <m:t>6</m:t>
                            </m:r>
                          </m:den>
                        </m:f>
                        <m:r>
                          <a:rPr lang="en-US" sz="2400" i="1">
                            <a:latin typeface="Cambria Math" panose="02040503050406030204" pitchFamily="18" charset="0"/>
                          </a:rPr>
                          <m:t>𝑡</m:t>
                        </m:r>
                      </m:e>
                    </m:func>
                  </m:oMath>
                </a14:m>
                <a:endParaRPr lang="en-US" sz="2400" dirty="0"/>
              </a:p>
              <a:p>
                <a:pPr marL="457200" indent="-457200">
                  <a:buAutoNum type="alphaUcPeriod"/>
                </a:pPr>
                <a:r>
                  <a:rPr lang="en-US" sz="2400" dirty="0"/>
                  <a:t> </a:t>
                </a:r>
                <a14:m>
                  <m:oMath xmlns:m="http://schemas.openxmlformats.org/officeDocument/2006/math">
                    <m:r>
                      <a:rPr lang="en-US" sz="2400" i="1">
                        <a:latin typeface="Cambria Math" panose="02040503050406030204" pitchFamily="18" charset="0"/>
                      </a:rPr>
                      <m:t>𝑦</m:t>
                    </m:r>
                    <m:r>
                      <a:rPr lang="en-US" sz="2400" i="1">
                        <a:latin typeface="Cambria Math" panose="02040503050406030204" pitchFamily="18" charset="0"/>
                      </a:rPr>
                      <m:t>=65 −5</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cos</m:t>
                        </m:r>
                      </m:fName>
                      <m:e>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b="0" i="1" smtClean="0">
                                <a:latin typeface="Cambria Math" panose="02040503050406030204" pitchFamily="18" charset="0"/>
                                <a:ea typeface="Cambria Math" panose="02040503050406030204" pitchFamily="18" charset="0"/>
                              </a:rPr>
                              <m:t>12</m:t>
                            </m:r>
                          </m:den>
                        </m:f>
                        <m:r>
                          <a:rPr lang="en-US" sz="2400" i="1">
                            <a:latin typeface="Cambria Math" panose="02040503050406030204" pitchFamily="18" charset="0"/>
                          </a:rPr>
                          <m:t>𝑡</m:t>
                        </m:r>
                      </m:e>
                    </m:func>
                  </m:oMath>
                </a14:m>
                <a:endParaRPr lang="en-US" sz="2400" dirty="0"/>
              </a:p>
              <a:p>
                <a:pPr marL="457200" indent="-457200">
                  <a:buAutoNum type="alphaUcPeriod"/>
                </a:pPr>
                <a:r>
                  <a:rPr lang="en-US" sz="2400" dirty="0"/>
                  <a:t> </a:t>
                </a:r>
                <a14:m>
                  <m:oMath xmlns:m="http://schemas.openxmlformats.org/officeDocument/2006/math">
                    <m:r>
                      <a:rPr lang="en-US" sz="2400" i="1">
                        <a:latin typeface="Cambria Math" panose="02040503050406030204" pitchFamily="18" charset="0"/>
                      </a:rPr>
                      <m:t>𝑦</m:t>
                    </m:r>
                    <m:r>
                      <a:rPr lang="en-US" sz="2400" i="1">
                        <a:latin typeface="Cambria Math" panose="02040503050406030204" pitchFamily="18" charset="0"/>
                      </a:rPr>
                      <m:t>=−65</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cos</m:t>
                        </m:r>
                      </m:fName>
                      <m:e>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b="0" i="1" smtClean="0">
                                <a:latin typeface="Cambria Math" panose="02040503050406030204" pitchFamily="18" charset="0"/>
                                <a:ea typeface="Cambria Math" panose="02040503050406030204" pitchFamily="18" charset="0"/>
                              </a:rPr>
                              <m:t>12</m:t>
                            </m:r>
                          </m:den>
                        </m:f>
                        <m:r>
                          <a:rPr lang="en-US" sz="2400" i="1">
                            <a:latin typeface="Cambria Math" panose="02040503050406030204" pitchFamily="18" charset="0"/>
                          </a:rPr>
                          <m:t>𝑡</m:t>
                        </m:r>
                      </m:e>
                    </m:func>
                  </m:oMath>
                </a14:m>
                <a:endParaRPr lang="en-US" sz="2400" dirty="0"/>
              </a:p>
              <a:p>
                <a:pPr marL="457200" indent="-457200">
                  <a:buAutoNum type="alphaUcPeriod"/>
                </a:pPr>
                <a:r>
                  <a:rPr lang="en-US" sz="2400" dirty="0"/>
                  <a:t> </a:t>
                </a:r>
                <a14:m>
                  <m:oMath xmlns:m="http://schemas.openxmlformats.org/officeDocument/2006/math">
                    <m:r>
                      <a:rPr lang="en-US" sz="2400" i="1">
                        <a:latin typeface="Cambria Math" panose="02040503050406030204" pitchFamily="18" charset="0"/>
                      </a:rPr>
                      <m:t>𝑦</m:t>
                    </m:r>
                    <m:r>
                      <a:rPr lang="en-US" sz="2400" i="1">
                        <a:latin typeface="Cambria Math" panose="02040503050406030204" pitchFamily="18" charset="0"/>
                      </a:rPr>
                      <m:t>=65+5</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cos</m:t>
                        </m:r>
                      </m:fName>
                      <m:e>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i="1">
                                <a:latin typeface="Cambria Math" panose="02040503050406030204" pitchFamily="18" charset="0"/>
                              </a:rPr>
                              <m:t>6</m:t>
                            </m:r>
                          </m:den>
                        </m:f>
                        <m:r>
                          <a:rPr lang="en-US" sz="2400" i="1">
                            <a:latin typeface="Cambria Math" panose="02040503050406030204" pitchFamily="18" charset="0"/>
                          </a:rPr>
                          <m:t>𝑡</m:t>
                        </m:r>
                      </m:e>
                    </m:func>
                  </m:oMath>
                </a14:m>
                <a:endParaRPr lang="en-US" sz="2400" dirty="0"/>
              </a:p>
              <a:p>
                <a:pPr marL="457200" indent="-457200">
                  <a:buAutoNum type="alphaUcPeriod"/>
                </a:pPr>
                <a:r>
                  <a:rPr lang="en-US" sz="2400" dirty="0"/>
                  <a:t> </a:t>
                </a:r>
                <a14:m>
                  <m:oMath xmlns:m="http://schemas.openxmlformats.org/officeDocument/2006/math">
                    <m:r>
                      <a:rPr lang="en-US" sz="2400" i="1">
                        <a:latin typeface="Cambria Math" panose="02040503050406030204" pitchFamily="18" charset="0"/>
                      </a:rPr>
                      <m:t>𝑦</m:t>
                    </m:r>
                    <m:r>
                      <a:rPr lang="en-US" sz="2400" i="1">
                        <a:latin typeface="Cambria Math" panose="02040503050406030204" pitchFamily="18" charset="0"/>
                      </a:rPr>
                      <m:t>=65−5</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cos</m:t>
                        </m:r>
                      </m:fName>
                      <m:e>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i="1">
                                <a:latin typeface="Cambria Math" panose="02040503050406030204" pitchFamily="18" charset="0"/>
                              </a:rPr>
                              <m:t>6</m:t>
                            </m:r>
                          </m:den>
                        </m:f>
                        <m:r>
                          <a:rPr lang="en-US" sz="2400" i="1">
                            <a:latin typeface="Cambria Math" panose="02040503050406030204" pitchFamily="18" charset="0"/>
                          </a:rPr>
                          <m:t>𝑡</m:t>
                        </m:r>
                      </m:e>
                    </m:func>
                  </m:oMath>
                </a14:m>
                <a:endParaRPr lang="en-US" sz="2400" dirty="0"/>
              </a:p>
            </p:txBody>
          </p:sp>
        </mc:Choice>
        <mc:Fallback xmlns="">
          <p:sp>
            <p:nvSpPr>
              <p:cNvPr id="3" name="TextBox 2"/>
              <p:cNvSpPr txBox="1">
                <a:spLocks noRot="1" noChangeAspect="1" noMove="1" noResize="1" noEditPoints="1" noAdjustHandles="1" noChangeArrowheads="1" noChangeShapeType="1" noTextEdit="1"/>
              </p:cNvSpPr>
              <p:nvPr/>
            </p:nvSpPr>
            <p:spPr>
              <a:xfrm>
                <a:off x="716690" y="1077301"/>
                <a:ext cx="10610335" cy="4026295"/>
              </a:xfrm>
              <a:prstGeom prst="rect">
                <a:avLst/>
              </a:prstGeom>
              <a:blipFill>
                <a:blip r:embed="rId2"/>
                <a:stretch>
                  <a:fillRect l="-920" t="-1212" r="-920" b="-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F8288EE-8E0A-0152-0D31-24A57E4C5331}"/>
                  </a:ext>
                </a:extLst>
              </p:cNvPr>
              <p:cNvSpPr txBox="1"/>
              <p:nvPr/>
            </p:nvSpPr>
            <p:spPr>
              <a:xfrm>
                <a:off x="5930538" y="2419812"/>
                <a:ext cx="2899719" cy="2675732"/>
              </a:xfrm>
              <a:prstGeom prst="rect">
                <a:avLst/>
              </a:prstGeom>
              <a:noFill/>
            </p:spPr>
            <p:txBody>
              <a:bodyPr wrap="square" rtlCol="0">
                <a:spAutoFit/>
              </a:bodyPr>
              <a:lstStyle/>
              <a:p>
                <a:r>
                  <a:rPr lang="en-US" dirty="0">
                    <a:solidFill>
                      <a:srgbClr val="C00000"/>
                    </a:solidFill>
                  </a:rPr>
                  <a:t>Minimum is 60</a:t>
                </a:r>
              </a:p>
              <a:p>
                <a:r>
                  <a:rPr lang="en-US" dirty="0">
                    <a:solidFill>
                      <a:srgbClr val="C00000"/>
                    </a:solidFill>
                  </a:rPr>
                  <a:t>Maximum is 70</a:t>
                </a:r>
              </a:p>
              <a:p>
                <a:r>
                  <a:rPr lang="en-US" dirty="0">
                    <a:solidFill>
                      <a:srgbClr val="C00000"/>
                    </a:solidFill>
                  </a:rPr>
                  <a:t>So midline is 65</a:t>
                </a:r>
              </a:p>
              <a:p>
                <a:r>
                  <a:rPr lang="en-US" dirty="0">
                    <a:solidFill>
                      <a:srgbClr val="C00000"/>
                    </a:solidFill>
                  </a:rPr>
                  <a:t>And amplitude is 5.</a:t>
                </a:r>
              </a:p>
              <a:p>
                <a:r>
                  <a:rPr lang="en-US" dirty="0">
                    <a:solidFill>
                      <a:srgbClr val="C00000"/>
                    </a:solidFill>
                  </a:rPr>
                  <a:t>Wave goes through vertical axis at lowest point.</a:t>
                </a:r>
              </a:p>
              <a:p>
                <a:r>
                  <a:rPr lang="en-US" dirty="0">
                    <a:solidFill>
                      <a:srgbClr val="C00000"/>
                    </a:solidFill>
                  </a:rPr>
                  <a:t>So this is – cos.</a:t>
                </a:r>
              </a:p>
              <a:p>
                <a:r>
                  <a:rPr lang="en-US" dirty="0">
                    <a:solidFill>
                      <a:srgbClr val="C00000"/>
                    </a:solidFill>
                  </a:rPr>
                  <a:t>Period is 24 hours, </a:t>
                </a:r>
              </a:p>
              <a:p>
                <a:r>
                  <a:rPr lang="en-US" dirty="0">
                    <a:solidFill>
                      <a:srgbClr val="C00000"/>
                    </a:solidFill>
                  </a:rPr>
                  <a:t>So B is </a:t>
                </a:r>
                <a14:m>
                  <m:oMath xmlns:m="http://schemas.openxmlformats.org/officeDocument/2006/math">
                    <m:f>
                      <m:fPr>
                        <m:ctrlPr>
                          <a:rPr lang="en-US" i="1" smtClean="0">
                            <a:solidFill>
                              <a:srgbClr val="C00000"/>
                            </a:solidFill>
                            <a:latin typeface="Cambria Math" panose="02040503050406030204" pitchFamily="18" charset="0"/>
                          </a:rPr>
                        </m:ctrlPr>
                      </m:fPr>
                      <m:num>
                        <m:r>
                          <a:rPr lang="en-US" i="1" smtClean="0">
                            <a:solidFill>
                              <a:srgbClr val="C00000"/>
                            </a:solidFill>
                            <a:latin typeface="Cambria Math" panose="02040503050406030204" pitchFamily="18" charset="0"/>
                            <a:ea typeface="Cambria Math" panose="02040503050406030204" pitchFamily="18" charset="0"/>
                          </a:rPr>
                          <m:t>𝜋</m:t>
                        </m:r>
                      </m:num>
                      <m:den>
                        <m:r>
                          <a:rPr lang="en-US" b="0" i="1" smtClean="0">
                            <a:solidFill>
                              <a:srgbClr val="C00000"/>
                            </a:solidFill>
                            <a:latin typeface="Cambria Math" panose="02040503050406030204" pitchFamily="18" charset="0"/>
                            <a:ea typeface="Cambria Math" panose="02040503050406030204" pitchFamily="18" charset="0"/>
                          </a:rPr>
                          <m:t>12</m:t>
                        </m:r>
                      </m:den>
                    </m:f>
                  </m:oMath>
                </a14:m>
                <a:r>
                  <a:rPr lang="en-US" dirty="0">
                    <a:solidFill>
                      <a:srgbClr val="C00000"/>
                    </a:solidFill>
                  </a:rPr>
                  <a:t>.</a:t>
                </a:r>
              </a:p>
            </p:txBody>
          </p:sp>
        </mc:Choice>
        <mc:Fallback xmlns="">
          <p:sp>
            <p:nvSpPr>
              <p:cNvPr id="5" name="TextBox 4">
                <a:extLst>
                  <a:ext uri="{FF2B5EF4-FFF2-40B4-BE49-F238E27FC236}">
                    <a16:creationId xmlns:a16="http://schemas.microsoft.com/office/drawing/2014/main" id="{EF8288EE-8E0A-0152-0D31-24A57E4C5331}"/>
                  </a:ext>
                </a:extLst>
              </p:cNvPr>
              <p:cNvSpPr txBox="1">
                <a:spLocks noRot="1" noChangeAspect="1" noMove="1" noResize="1" noEditPoints="1" noAdjustHandles="1" noChangeArrowheads="1" noChangeShapeType="1" noTextEdit="1"/>
              </p:cNvSpPr>
              <p:nvPr/>
            </p:nvSpPr>
            <p:spPr>
              <a:xfrm>
                <a:off x="5930538" y="2419812"/>
                <a:ext cx="2899719" cy="2675732"/>
              </a:xfrm>
              <a:prstGeom prst="rect">
                <a:avLst/>
              </a:prstGeom>
              <a:blipFill>
                <a:blip r:embed="rId3"/>
                <a:stretch>
                  <a:fillRect l="-1891" t="-1367" b="-683"/>
                </a:stretch>
              </a:blipFill>
            </p:spPr>
            <p:txBody>
              <a:bodyPr/>
              <a:lstStyle/>
              <a:p>
                <a:r>
                  <a:rPr lang="en-US">
                    <a:noFill/>
                  </a:rPr>
                  <a:t> </a:t>
                </a:r>
              </a:p>
            </p:txBody>
          </p:sp>
        </mc:Fallback>
      </mc:AlternateContent>
      <p:sp>
        <p:nvSpPr>
          <p:cNvPr id="2" name="Title 1"/>
          <p:cNvSpPr>
            <a:spLocks noGrp="1"/>
          </p:cNvSpPr>
          <p:nvPr>
            <p:ph type="title"/>
          </p:nvPr>
        </p:nvSpPr>
        <p:spPr>
          <a:xfrm>
            <a:off x="838200" y="180929"/>
            <a:ext cx="10515600" cy="924569"/>
          </a:xfrm>
        </p:spPr>
        <p:txBody>
          <a:bodyPr/>
          <a:lstStyle/>
          <a:p>
            <a:pPr/>
            <a:r>
              <a:rPr lang="en-US" dirty="0">
                <a:solidFill/>
              </a:rPr>
              <a:t>Question #6</a:t>
            </a:r>
          </a:p>
        </p:txBody>
      </p:sp>
      <p:sp>
        <p:nvSpPr>
          <p:cNvPr id="6" name="Oval 5">
            <a:extLst>
              <a:ext uri="{FF2B5EF4-FFF2-40B4-BE49-F238E27FC236}">
                <a16:creationId xmlns:a16="http://schemas.microsoft.com/office/drawing/2014/main" id="{2AF8F7ED-3F35-719B-0D13-B058890D6089}"/>
              </a:ext>
              <a:ext uri="{C183D7F6-B498-43B3-948B-1728B52AA6E4}">
                <adec:decorative xmlns:adec="http://schemas.microsoft.com/office/drawing/2017/decorative" val="1"/>
              </a:ext>
            </a:extLst>
          </p:cNvPr>
          <p:cNvSpPr/>
          <p:nvPr/>
        </p:nvSpPr>
        <p:spPr>
          <a:xfrm>
            <a:off x="471489" y="2932634"/>
            <a:ext cx="887062" cy="799415"/>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246FF21E-04FF-0D73-9F49-4D8D3019EE73}"/>
              </a:ext>
            </a:extLst>
          </p:cNvPr>
          <p:cNvSpPr txBox="1"/>
          <p:nvPr/>
        </p:nvSpPr>
        <p:spPr>
          <a:xfrm>
            <a:off x="838200" y="5192594"/>
            <a:ext cx="2966769" cy="1015663"/>
          </a:xfrm>
          <a:prstGeom prst="rect">
            <a:avLst/>
          </a:prstGeom>
          <a:noFill/>
          <a:ln w="57150">
            <a:solidFill>
              <a:schemeClr val="accent1"/>
            </a:solidFill>
          </a:ln>
        </p:spPr>
        <p:txBody>
          <a:bodyPr wrap="square" rtlCol="0">
            <a:spAutoFit/>
          </a:bodyPr>
          <a:lstStyle/>
          <a:p>
            <a:pPr/>
            <a:r>
              <a:rPr lang="en-US" sz="6000" dirty="0">
                <a:solidFill>
                  <a:srgbClr val="C00000"/>
                </a:solidFill>
              </a:rPr>
              <a:t>Solution</a:t>
            </a:r>
          </a:p>
        </p:txBody>
      </p:sp>
      <p:sp>
        <p:nvSpPr>
          <p:cNvPr id="7" name="TextBox 6">
            <a:extLst>
              <a:ext uri="{FF2B5EF4-FFF2-40B4-BE49-F238E27FC236}">
                <a16:creationId xmlns:a16="http://schemas.microsoft.com/office/drawing/2014/main" id="{DEFB4860-DFA5-65DF-8830-A06B2C8E1485}"/>
              </a:ext>
            </a:extLst>
          </p:cNvPr>
          <p:cNvSpPr txBox="1"/>
          <p:nvPr/>
        </p:nvSpPr>
        <p:spPr>
          <a:xfrm>
            <a:off x="10196753" y="6198630"/>
            <a:ext cx="1630392"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r>
              <a:rPr lang="en-US" sz="2400" i="1" dirty="0">
                <a:solidFill>
                  <a:srgbClr val="C00000"/>
                </a:solidFill>
              </a:rPr>
              <a:t>Answer:  B</a:t>
            </a:r>
          </a:p>
        </p:txBody>
      </p:sp>
    </p:spTree>
    <p:extLst>
      <p:ext uri="{BB962C8B-B14F-4D97-AF65-F5344CB8AC3E}">
        <p14:creationId xmlns:p14="http://schemas.microsoft.com/office/powerpoint/2010/main" val="2140410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build="p"/>
      <p:bldP spid="7" grpId="0"/>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r>
              <a:rPr lang="en-US" dirty="0">
                <a:solidFill/>
              </a:rPr>
              <a:t>The Tangent Function</a:t>
            </a:r>
          </a:p>
        </p:txBody>
      </p:sp>
      <p:pic>
        <p:nvPicPr>
          <p:cNvPr id="3" name="Picture 1" descr="Graph of a tangent function labeled tangent t, on a coordinate plane. The horizontal axis is labeled t and ranges from negative pi to pi. The vertical axis ranges from negative 10 to 10. The function consists of vertical dashed lines and similar curves alternately. The first vertical dashed line crosses the t-axis at (negative 3 pi over 2, 0). The second vertical dashed line crosses the t-axis at (negative pi over 2, 0). The third and fourth vertical dashed lines cross the t-axis at (pi over 2, 0) and (3 pi over 2), respectively. The first curve enters the bottom of the graph, along the first vertical dashed line, increases concave down to the right, and crosses the t-axis at (negative pi, 0). The curve then increases concave up, approaches the second dashed line, then rises along the dashed line, and exits the top of the graph. The second curve enters the bottom of the graph, along the second vertical dashed line, increases concave down to the right, and crosses the t-axis at (0, 0). The curve then increases concave up, approaches the third dashed line, then rises along the dashed line, and exits the top of the graph. The third curve enters the bottom of the graph, along the third vertical dashed line, increases concave down to the right, and crosses the t-axis at (pi, 0). The curve then increases concave up, approaches the fourth dashed line, then rises along the dashed line, and exits the top of the graph. All values are estimated."/>
          <p:cNvPicPr>
            <a:picLocks noGrp="1" noChangeAspect="1"/>
          </p:cNvPicPr>
          <p:nvPr isPhoto="1"/>
        </p:nvPicPr>
        <p:blipFill>
          <a:blip r:embed="rId2" cstate="print">
            <a:extLst>
              <a:ext uri="{28A0092B-C50C-407E-A947-70E740481C1C}">
                <a14:useLocalDpi xmlns:a14="http://schemas.microsoft.com/office/drawing/2010/main" val="0"/>
              </a:ext>
            </a:extLst>
          </a:blip>
          <a:srcRect/>
          <a:stretch>
            <a:fillRect/>
          </a:stretch>
        </p:blipFill>
        <p:spPr bwMode="auto">
          <a:xfrm>
            <a:off x="6512270" y="1723040"/>
            <a:ext cx="4322763" cy="429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4" name="TextBox 3"/>
              <p:cNvSpPr txBox="1"/>
              <p:nvPr/>
            </p:nvSpPr>
            <p:spPr>
              <a:xfrm>
                <a:off x="510746" y="1556951"/>
                <a:ext cx="5280454" cy="11256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𝑦</m:t>
                      </m:r>
                      <m:r>
                        <a:rPr lang="en-US" sz="3600" b="0" i="1" smtClean="0">
                          <a:latin typeface="Cambria Math" panose="02040503050406030204" pitchFamily="18" charset="0"/>
                        </a:rPr>
                        <m:t>=</m:t>
                      </m:r>
                      <m:func>
                        <m:funcPr>
                          <m:ctrlPr>
                            <a:rPr lang="en-US" sz="3600" b="0" i="1" smtClean="0">
                              <a:latin typeface="Cambria Math" panose="02040503050406030204" pitchFamily="18" charset="0"/>
                            </a:rPr>
                          </m:ctrlPr>
                        </m:funcPr>
                        <m:fName>
                          <m:r>
                            <m:rPr>
                              <m:sty m:val="p"/>
                            </m:rPr>
                            <a:rPr lang="en-US" sz="3600" b="0" i="0" smtClean="0">
                              <a:latin typeface="Cambria Math" panose="02040503050406030204" pitchFamily="18" charset="0"/>
                            </a:rPr>
                            <m:t>tan</m:t>
                          </m:r>
                        </m:fName>
                        <m:e>
                          <m:r>
                            <a:rPr lang="en-US" sz="3600" b="0" i="1" smtClean="0">
                              <a:latin typeface="Cambria Math" panose="02040503050406030204" pitchFamily="18" charset="0"/>
                            </a:rPr>
                            <m:t>𝑥</m:t>
                          </m:r>
                        </m:e>
                      </m:func>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func>
                            <m:funcPr>
                              <m:ctrlPr>
                                <a:rPr lang="en-US" sz="3600" b="0" i="1" smtClean="0">
                                  <a:latin typeface="Cambria Math" panose="02040503050406030204" pitchFamily="18" charset="0"/>
                                </a:rPr>
                              </m:ctrlPr>
                            </m:funcPr>
                            <m:fName>
                              <m:r>
                                <m:rPr>
                                  <m:sty m:val="p"/>
                                </m:rPr>
                                <a:rPr lang="en-US" sz="3600" b="0" i="0" smtClean="0">
                                  <a:latin typeface="Cambria Math" panose="02040503050406030204" pitchFamily="18" charset="0"/>
                                </a:rPr>
                                <m:t>sin</m:t>
                              </m:r>
                            </m:fName>
                            <m:e>
                              <m:r>
                                <a:rPr lang="en-US" sz="3600" b="0" i="1" smtClean="0">
                                  <a:latin typeface="Cambria Math" panose="02040503050406030204" pitchFamily="18" charset="0"/>
                                </a:rPr>
                                <m:t>𝑥</m:t>
                              </m:r>
                            </m:e>
                          </m:func>
                        </m:num>
                        <m:den>
                          <m:func>
                            <m:funcPr>
                              <m:ctrlPr>
                                <a:rPr lang="en-US" sz="3600" b="0" i="1" smtClean="0">
                                  <a:latin typeface="Cambria Math" panose="02040503050406030204" pitchFamily="18" charset="0"/>
                                </a:rPr>
                              </m:ctrlPr>
                            </m:funcPr>
                            <m:fName>
                              <m:r>
                                <m:rPr>
                                  <m:sty m:val="p"/>
                                </m:rPr>
                                <a:rPr lang="en-US" sz="3600" b="0" i="0" smtClean="0">
                                  <a:latin typeface="Cambria Math" panose="02040503050406030204" pitchFamily="18" charset="0"/>
                                </a:rPr>
                                <m:t>cos</m:t>
                              </m:r>
                            </m:fName>
                            <m:e>
                              <m:r>
                                <a:rPr lang="en-US" sz="3600" b="0" i="1" smtClean="0">
                                  <a:latin typeface="Cambria Math" panose="02040503050406030204" pitchFamily="18" charset="0"/>
                                </a:rPr>
                                <m:t>𝑥</m:t>
                              </m:r>
                            </m:e>
                          </m:func>
                        </m:den>
                      </m:f>
                    </m:oMath>
                  </m:oMathPara>
                </a14:m>
                <a:endParaRPr lang="en-US" sz="3600" dirty="0"/>
              </a:p>
            </p:txBody>
          </p:sp>
        </mc:Choice>
        <mc:Fallback xmlns="">
          <p:sp>
            <p:nvSpPr>
              <p:cNvPr id="4" name="TextBox 3"/>
              <p:cNvSpPr txBox="1">
                <a:spLocks noRot="1" noChangeAspect="1" noMove="1" noResize="1" noEditPoints="1" noAdjustHandles="1" noChangeArrowheads="1" noChangeShapeType="1" noTextEdit="1"/>
              </p:cNvSpPr>
              <p:nvPr/>
            </p:nvSpPr>
            <p:spPr>
              <a:xfrm>
                <a:off x="510746" y="1556951"/>
                <a:ext cx="5280454" cy="1125629"/>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0623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5399"/>
            <a:ext cx="10515600" cy="1325563"/>
          </a:xfrm>
        </p:spPr>
        <p:txBody>
          <a:bodyPr/>
          <a:lstStyle/>
          <a:p>
            <a:pPr/>
            <a:r>
              <a:rPr lang="en-US" dirty="0">
                <a:solidFill/>
              </a:rPr>
              <a:t>Inverse Trig Functions</a:t>
            </a:r>
          </a:p>
        </p:txBody>
      </p:sp>
      <p:sp>
        <p:nvSpPr>
          <p:cNvPr id="3" name="TextBox 2"/>
          <p:cNvSpPr txBox="1"/>
          <p:nvPr/>
        </p:nvSpPr>
        <p:spPr>
          <a:xfrm>
            <a:off x="713600" y="1319374"/>
            <a:ext cx="10653584" cy="1354217"/>
          </a:xfrm>
          <a:prstGeom prst="rect">
            <a:avLst/>
          </a:prstGeom>
          <a:noFill/>
        </p:spPr>
        <p:txBody>
          <a:bodyPr wrap="square" rtlCol="0">
            <a:spAutoFit/>
          </a:bodyPr>
          <a:lstStyle/>
          <a:p>
            <a:pPr algn="ctr"/>
            <a:r>
              <a:rPr lang="en-US" sz="2800" dirty="0">
                <a:solidFill/>
              </a:rPr>
              <a:t>An inverse trig function “undoes” a trig function.</a:t>
            </a:r>
          </a:p>
          <a:p>
            <a:pPr algn="ctr"/>
            <a:r>
              <a:rPr lang="en-US" dirty="0">
                <a:solidFill/>
              </a:rPr>
              <a:t>Note that the sine and cosine functions are not invertible, since a horizontal line might intersect the graph in infinitely many places!  We need to restrict the domain of the function to define an inverse.  Solutions in this domain are the preferred solutions and can be translated to find other solutions.</a:t>
            </a:r>
          </a:p>
        </p:txBody>
      </p:sp>
      <mc:AlternateContent xmlns:mc="http://schemas.openxmlformats.org/markup-compatibility/2006" xmlns:a14="http://schemas.microsoft.com/office/drawing/2010/main">
        <mc:Choice Requires="a14">
          <p:sp>
            <p:nvSpPr>
              <p:cNvPr id="4" name="TextBox 3"/>
              <p:cNvSpPr txBox="1"/>
              <p:nvPr/>
            </p:nvSpPr>
            <p:spPr>
              <a:xfrm>
                <a:off x="626076" y="2792181"/>
                <a:ext cx="10840994" cy="500650"/>
              </a:xfrm>
              <a:prstGeom prst="rect">
                <a:avLst/>
              </a:prstGeom>
              <a:noFill/>
            </p:spPr>
            <p:txBody>
              <a:bodyPr wrap="square" rtlCol="0">
                <a:spAutoFit/>
              </a:bodyPr>
              <a:lstStyle/>
              <a:p>
                <a:r>
                  <a:rPr lang="en-US" sz="2000" dirty="0"/>
                  <a:t>For </a:t>
                </a:r>
                <a14:m>
                  <m:oMath xmlns:m="http://schemas.openxmlformats.org/officeDocument/2006/math">
                    <m:r>
                      <a:rPr lang="en-US" sz="2000" b="0" i="1" smtClean="0">
                        <a:latin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≤1</m:t>
                    </m:r>
                  </m:oMath>
                </a14:m>
                <a:r>
                  <a:rPr lang="en-US" sz="2000" dirty="0"/>
                  <a:t>, we define </a:t>
                </a:r>
                <a14:m>
                  <m:oMath xmlns:m="http://schemas.openxmlformats.org/officeDocument/2006/math">
                    <m:r>
                      <a:rPr lang="en-US" sz="2000" b="1" i="1" smtClean="0">
                        <a:latin typeface="Cambria Math" panose="02040503050406030204" pitchFamily="18" charset="0"/>
                      </a:rPr>
                      <m:t>𝒚</m:t>
                    </m:r>
                    <m:r>
                      <a:rPr lang="en-US" sz="2000" b="1" i="1" smtClean="0">
                        <a:latin typeface="Cambria Math" panose="02040503050406030204" pitchFamily="18" charset="0"/>
                      </a:rPr>
                      <m:t>=</m:t>
                    </m:r>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𝒔𝒊𝒏</m:t>
                        </m:r>
                      </m:e>
                      <m:sup>
                        <m:r>
                          <a:rPr lang="en-US" sz="2000" b="1" i="1" smtClean="0">
                            <a:latin typeface="Cambria Math" panose="02040503050406030204" pitchFamily="18" charset="0"/>
                          </a:rPr>
                          <m:t>−</m:t>
                        </m:r>
                        <m:r>
                          <a:rPr lang="en-US" sz="2000" b="1" i="1" smtClean="0">
                            <a:latin typeface="Cambria Math" panose="02040503050406030204" pitchFamily="18" charset="0"/>
                          </a:rPr>
                          <m:t>𝟏</m:t>
                        </m:r>
                      </m:sup>
                    </m:sSup>
                    <m:r>
                      <a:rPr lang="en-US" sz="2000" b="1" i="1" smtClean="0">
                        <a:latin typeface="Cambria Math" panose="02040503050406030204" pitchFamily="18" charset="0"/>
                      </a:rPr>
                      <m:t>𝒙</m:t>
                    </m:r>
                  </m:oMath>
                </a14:m>
                <a:r>
                  <a:rPr lang="en-US" sz="2000" b="1" dirty="0"/>
                  <a:t> </a:t>
                </a:r>
                <a:r>
                  <a:rPr lang="en-US" sz="2000" dirty="0"/>
                  <a:t>or </a:t>
                </a:r>
                <a14:m>
                  <m:oMath xmlns:m="http://schemas.openxmlformats.org/officeDocument/2006/math">
                    <m:r>
                      <a:rPr lang="en-US" sz="2000" b="1" i="1" smtClean="0">
                        <a:latin typeface="Cambria Math" panose="02040503050406030204" pitchFamily="18" charset="0"/>
                      </a:rPr>
                      <m:t>𝒚</m:t>
                    </m:r>
                    <m:r>
                      <a:rPr lang="en-US" sz="2000" b="1" i="1" smtClean="0">
                        <a:latin typeface="Cambria Math" panose="02040503050406030204" pitchFamily="18" charset="0"/>
                      </a:rPr>
                      <m:t>=</m:t>
                    </m:r>
                    <m:func>
                      <m:funcPr>
                        <m:ctrlPr>
                          <a:rPr lang="en-US" sz="2000" b="1" i="1" smtClean="0">
                            <a:latin typeface="Cambria Math" panose="02040503050406030204" pitchFamily="18" charset="0"/>
                          </a:rPr>
                        </m:ctrlPr>
                      </m:funcPr>
                      <m:fName>
                        <m:r>
                          <a:rPr lang="en-US" sz="2000" b="1" i="0" smtClean="0">
                            <a:latin typeface="Cambria Math" panose="02040503050406030204" pitchFamily="18" charset="0"/>
                          </a:rPr>
                          <m:t>𝐚𝐫𝐜𝐬𝐢𝐧</m:t>
                        </m:r>
                      </m:fName>
                      <m:e>
                        <m:r>
                          <a:rPr lang="en-US" sz="2000" b="1" i="1" smtClean="0">
                            <a:latin typeface="Cambria Math" panose="02040503050406030204" pitchFamily="18" charset="0"/>
                          </a:rPr>
                          <m:t>𝒙</m:t>
                        </m:r>
                      </m:e>
                    </m:func>
                  </m:oMath>
                </a14:m>
                <a:r>
                  <a:rPr lang="en-US" sz="2000" dirty="0"/>
                  <a:t> to mean </a:t>
                </a:r>
                <a14:m>
                  <m:oMath xmlns:m="http://schemas.openxmlformats.org/officeDocument/2006/math">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sin</m:t>
                        </m:r>
                      </m:fName>
                      <m:e>
                        <m:r>
                          <a:rPr lang="en-US" sz="2000" b="0" i="1" smtClean="0">
                            <a:latin typeface="Cambria Math" panose="02040503050406030204" pitchFamily="18" charset="0"/>
                          </a:rPr>
                          <m:t>𝑦</m:t>
                        </m:r>
                        <m:r>
                          <a:rPr lang="en-US" sz="2000" b="0" i="1" smtClean="0">
                            <a:latin typeface="Cambria Math" panose="02040503050406030204" pitchFamily="18" charset="0"/>
                          </a:rPr>
                          <m:t>=</m:t>
                        </m:r>
                        <m:r>
                          <a:rPr lang="en-US" sz="2000" b="0" i="1" smtClean="0">
                            <a:latin typeface="Cambria Math" panose="02040503050406030204" pitchFamily="18" charset="0"/>
                          </a:rPr>
                          <m:t>𝑥</m:t>
                        </m:r>
                      </m:e>
                    </m:func>
                  </m:oMath>
                </a14:m>
                <a:r>
                  <a:rPr lang="en-US" sz="2000" dirty="0"/>
                  <a:t>, restricted to </a:t>
                </a:r>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𝜋</m:t>
                        </m:r>
                      </m:num>
                      <m:den>
                        <m:r>
                          <a:rPr lang="en-US" sz="2000" b="0" i="1" smtClean="0">
                            <a:latin typeface="Cambria Math" panose="02040503050406030204" pitchFamily="18" charset="0"/>
                          </a:rPr>
                          <m:t>2</m:t>
                        </m:r>
                      </m:den>
                    </m:f>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𝑦</m:t>
                    </m:r>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𝜋</m:t>
                        </m:r>
                      </m:num>
                      <m:den>
                        <m:r>
                          <a:rPr lang="en-US" sz="2000" b="0" i="1" smtClean="0">
                            <a:latin typeface="Cambria Math" panose="02040503050406030204" pitchFamily="18" charset="0"/>
                            <a:ea typeface="Cambria Math" panose="02040503050406030204" pitchFamily="18" charset="0"/>
                          </a:rPr>
                          <m:t>2</m:t>
                        </m:r>
                      </m:den>
                    </m:f>
                  </m:oMath>
                </a14:m>
                <a:r>
                  <a:rPr lang="en-US" sz="2000" dirty="0"/>
                  <a:t>.</a:t>
                </a:r>
              </a:p>
            </p:txBody>
          </p:sp>
        </mc:Choice>
        <mc:Fallback xmlns="">
          <p:sp>
            <p:nvSpPr>
              <p:cNvPr id="4" name="TextBox 3"/>
              <p:cNvSpPr txBox="1">
                <a:spLocks noRot="1" noChangeAspect="1" noMove="1" noResize="1" noEditPoints="1" noAdjustHandles="1" noChangeArrowheads="1" noChangeShapeType="1" noTextEdit="1"/>
              </p:cNvSpPr>
              <p:nvPr/>
            </p:nvSpPr>
            <p:spPr>
              <a:xfrm>
                <a:off x="626076" y="2792181"/>
                <a:ext cx="10840994" cy="500650"/>
              </a:xfrm>
              <a:prstGeom prst="rect">
                <a:avLst/>
              </a:prstGeom>
              <a:blipFill>
                <a:blip r:embed="rId2"/>
                <a:stretch>
                  <a:fillRect l="-619" b="-85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2649884" y="4133961"/>
                <a:ext cx="6160109" cy="1446550"/>
              </a:xfrm>
              <a:prstGeom prst="rect">
                <a:avLst/>
              </a:prstGeom>
              <a:noFill/>
            </p:spPr>
            <p:txBody>
              <a:bodyPr wrap="square" rtlCol="0">
                <a:spAutoFit/>
              </a:bodyPr>
              <a:lstStyle/>
              <a:p>
                <a:r>
                  <a:rPr lang="en-US" sz="2000" dirty="0"/>
                  <a:t>When using the appropriate domain and range, we have</a:t>
                </a:r>
              </a:p>
              <a:p>
                <a:endParaRPr lang="en-US" sz="800" dirty="0"/>
              </a:p>
              <a:p>
                <a:pPr/>
                <a14:m>
                  <m:oMathPara xmlns:m="http://schemas.openxmlformats.org/officeDocument/2006/math">
                    <m:oMathParaPr>
                      <m:jc m:val="centerGroup"/>
                    </m:oMathParaPr>
                    <m:oMath xmlns:m="http://schemas.openxmlformats.org/officeDocument/2006/math">
                      <m:func>
                        <m:funcPr>
                          <m:ctrlPr>
                            <a:rPr lang="en-US" sz="2000" i="1" smtClean="0">
                              <a:latin typeface="Cambria Math" panose="02040503050406030204" pitchFamily="18" charset="0"/>
                            </a:rPr>
                          </m:ctrlPr>
                        </m:funcPr>
                        <m:fName>
                          <m:sSup>
                            <m:sSupPr>
                              <m:ctrlPr>
                                <a:rPr lang="en-US" sz="2000" i="1" smtClean="0">
                                  <a:latin typeface="Cambria Math" panose="02040503050406030204" pitchFamily="18" charset="0"/>
                                </a:rPr>
                              </m:ctrlPr>
                            </m:sSupPr>
                            <m:e>
                              <m:r>
                                <m:rPr>
                                  <m:sty m:val="p"/>
                                </m:rPr>
                                <a:rPr lang="en-US" sz="2000" i="0" smtClean="0">
                                  <a:latin typeface="Cambria Math" panose="02040503050406030204" pitchFamily="18" charset="0"/>
                                </a:rPr>
                                <m:t>sin</m:t>
                              </m:r>
                            </m:e>
                            <m:sup>
                              <m:r>
                                <a:rPr lang="en-US" sz="2000" i="1" smtClean="0">
                                  <a:latin typeface="Cambria Math" panose="02040503050406030204" pitchFamily="18" charset="0"/>
                                </a:rPr>
                                <m:t>−1</m:t>
                              </m:r>
                            </m:sup>
                          </m:sSup>
                        </m:fName>
                        <m:e>
                          <m:r>
                            <a:rPr lang="en-US" sz="2000" b="0" i="1" smtClean="0">
                              <a:latin typeface="Cambria Math" panose="02040503050406030204" pitchFamily="18" charset="0"/>
                            </a:rPr>
                            <m:t>(</m:t>
                          </m:r>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sin</m:t>
                              </m:r>
                            </m:fName>
                            <m:e>
                              <m:r>
                                <a:rPr lang="en-IE" sz="2000" b="0" i="1" smtClean="0">
                                  <a:latin typeface="Cambria Math" panose="02040503050406030204" pitchFamily="18" charset="0"/>
                                </a:rPr>
                                <m:t>𝑥</m:t>
                              </m:r>
                            </m:e>
                          </m:func>
                          <m:r>
                            <a:rPr lang="en-US" sz="2000" b="0" i="1" smtClean="0">
                              <a:latin typeface="Cambria Math" panose="02040503050406030204" pitchFamily="18" charset="0"/>
                            </a:rPr>
                            <m:t>)</m:t>
                          </m:r>
                        </m:e>
                      </m:func>
                      <m:r>
                        <a:rPr lang="en-US" sz="2000" b="0" i="1" smtClean="0">
                          <a:latin typeface="Cambria Math" panose="02040503050406030204" pitchFamily="18" charset="0"/>
                        </a:rPr>
                        <m:t>=</m:t>
                      </m:r>
                      <m:r>
                        <a:rPr lang="en-IE" sz="2000" b="0" i="1" smtClean="0">
                          <a:latin typeface="Cambria Math" panose="02040503050406030204" pitchFamily="18" charset="0"/>
                        </a:rPr>
                        <m:t>𝑥</m:t>
                      </m:r>
                    </m:oMath>
                  </m:oMathPara>
                </a14:m>
                <a:endParaRPr lang="en-US" sz="2000" dirty="0"/>
              </a:p>
              <a:p>
                <a:r>
                  <a:rPr lang="en-US" sz="2000" dirty="0"/>
                  <a:t>and</a:t>
                </a:r>
              </a:p>
              <a:p>
                <a:pPr/>
                <a14:m>
                  <m:oMathPara xmlns:m="http://schemas.openxmlformats.org/officeDocument/2006/math">
                    <m:oMathParaPr>
                      <m:jc m:val="centerGroup"/>
                    </m:oMathParaPr>
                    <m:oMath xmlns:m="http://schemas.openxmlformats.org/officeDocument/2006/math">
                      <m:func>
                        <m:funcPr>
                          <m:ctrlPr>
                            <a:rPr lang="en-US" sz="2000" i="1">
                              <a:latin typeface="Cambria Math" panose="02040503050406030204" pitchFamily="18" charset="0"/>
                            </a:rPr>
                          </m:ctrlPr>
                        </m:funcPr>
                        <m:fName>
                          <m:sSup>
                            <m:sSupPr>
                              <m:ctrlPr>
                                <a:rPr lang="en-US" sz="2000" i="1">
                                  <a:latin typeface="Cambria Math" panose="02040503050406030204" pitchFamily="18" charset="0"/>
                                </a:rPr>
                              </m:ctrlPr>
                            </m:sSupPr>
                            <m:e>
                              <m:r>
                                <m:rPr>
                                  <m:sty m:val="p"/>
                                </m:rPr>
                                <a:rPr lang="en-US" sz="2000">
                                  <a:latin typeface="Cambria Math" panose="02040503050406030204" pitchFamily="18" charset="0"/>
                                </a:rPr>
                                <m:t>cos</m:t>
                              </m:r>
                            </m:e>
                            <m:sup>
                              <m:r>
                                <a:rPr lang="en-US" sz="2000" i="1">
                                  <a:latin typeface="Cambria Math" panose="02040503050406030204" pitchFamily="18" charset="0"/>
                                </a:rPr>
                                <m:t>−1</m:t>
                              </m:r>
                            </m:sup>
                          </m:sSup>
                        </m:fName>
                        <m:e>
                          <m:func>
                            <m:funcPr>
                              <m:ctrlPr>
                                <a:rPr lang="en-US" sz="2000" i="1">
                                  <a:latin typeface="Cambria Math" panose="02040503050406030204" pitchFamily="18" charset="0"/>
                                </a:rPr>
                              </m:ctrlPr>
                            </m:funcPr>
                            <m:fName>
                              <m:r>
                                <a:rPr lang="en-US" sz="2000">
                                  <a:latin typeface="Cambria Math" panose="02040503050406030204" pitchFamily="18" charset="0"/>
                                </a:rPr>
                                <m:t>(</m:t>
                              </m:r>
                              <m:r>
                                <m:rPr>
                                  <m:sty m:val="p"/>
                                </m:rPr>
                                <a:rPr lang="en-US" sz="2000">
                                  <a:latin typeface="Cambria Math" panose="02040503050406030204" pitchFamily="18" charset="0"/>
                                </a:rPr>
                                <m:t>cos</m:t>
                              </m:r>
                            </m:fName>
                            <m:e>
                              <m:r>
                                <a:rPr lang="en-IE" sz="2000" b="0" i="1" smtClean="0">
                                  <a:latin typeface="Cambria Math" panose="02040503050406030204" pitchFamily="18" charset="0"/>
                                </a:rPr>
                                <m:t>𝑥</m:t>
                              </m:r>
                            </m:e>
                          </m:func>
                          <m:r>
                            <a:rPr lang="en-US" sz="2000" i="1">
                              <a:latin typeface="Cambria Math" panose="02040503050406030204" pitchFamily="18" charset="0"/>
                            </a:rPr>
                            <m:t>)</m:t>
                          </m:r>
                        </m:e>
                      </m:func>
                      <m:r>
                        <a:rPr lang="en-US" sz="2000" i="1">
                          <a:latin typeface="Cambria Math" panose="02040503050406030204" pitchFamily="18" charset="0"/>
                        </a:rPr>
                        <m:t>=</m:t>
                      </m:r>
                      <m:r>
                        <a:rPr lang="en-IE" sz="2000" b="0" i="1" smtClean="0">
                          <a:latin typeface="Cambria Math" panose="02040503050406030204" pitchFamily="18" charset="0"/>
                        </a:rPr>
                        <m:t>𝑥</m:t>
                      </m:r>
                    </m:oMath>
                  </m:oMathPara>
                </a14:m>
                <a:endParaRPr lang="en-US" sz="2000" dirty="0"/>
              </a:p>
            </p:txBody>
          </p:sp>
        </mc:Choice>
        <mc:Fallback xmlns="">
          <p:sp>
            <p:nvSpPr>
              <p:cNvPr id="5" name="TextBox 4"/>
              <p:cNvSpPr txBox="1">
                <a:spLocks noRot="1" noChangeAspect="1" noMove="1" noResize="1" noEditPoints="1" noAdjustHandles="1" noChangeArrowheads="1" noChangeShapeType="1" noTextEdit="1"/>
              </p:cNvSpPr>
              <p:nvPr/>
            </p:nvSpPr>
            <p:spPr>
              <a:xfrm>
                <a:off x="2649884" y="4133961"/>
                <a:ext cx="6160109" cy="1446550"/>
              </a:xfrm>
              <a:prstGeom prst="rect">
                <a:avLst/>
              </a:prstGeom>
              <a:blipFill>
                <a:blip r:embed="rId3"/>
                <a:stretch>
                  <a:fillRect l="-1029" t="-1739" b="-2609"/>
                </a:stretch>
              </a:blipFill>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48C84F4-22E6-DE7F-03A9-CB1354CFC9C7}"/>
                  </a:ext>
                </a:extLst>
              </p:cNvPr>
              <p:cNvSpPr txBox="1"/>
              <p:nvPr/>
            </p:nvSpPr>
            <p:spPr>
              <a:xfrm>
                <a:off x="608739" y="3393564"/>
                <a:ext cx="10840994" cy="407099"/>
              </a:xfrm>
              <a:prstGeom prst="rect">
                <a:avLst/>
              </a:prstGeom>
              <a:noFill/>
            </p:spPr>
            <p:txBody>
              <a:bodyPr wrap="square" rtlCol="0">
                <a:spAutoFit/>
              </a:bodyPr>
              <a:lstStyle/>
              <a:p>
                <a:r>
                  <a:rPr lang="en-US" sz="2000" dirty="0"/>
                  <a:t>For </a:t>
                </a:r>
                <a14:m>
                  <m:oMath xmlns:m="http://schemas.openxmlformats.org/officeDocument/2006/math">
                    <m:r>
                      <a:rPr lang="en-US" sz="2000" b="0" i="1" smtClean="0">
                        <a:latin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≤1</m:t>
                    </m:r>
                  </m:oMath>
                </a14:m>
                <a:r>
                  <a:rPr lang="en-US" sz="2000" dirty="0"/>
                  <a:t>, we define </a:t>
                </a:r>
                <a14:m>
                  <m:oMath xmlns:m="http://schemas.openxmlformats.org/officeDocument/2006/math">
                    <m:r>
                      <a:rPr lang="en-US" sz="2000" b="1" i="1" smtClean="0">
                        <a:latin typeface="Cambria Math" panose="02040503050406030204" pitchFamily="18" charset="0"/>
                      </a:rPr>
                      <m:t>𝒚</m:t>
                    </m:r>
                    <m:r>
                      <a:rPr lang="en-US" sz="2000" b="1" i="1" smtClean="0">
                        <a:latin typeface="Cambria Math" panose="02040503050406030204" pitchFamily="18" charset="0"/>
                      </a:rPr>
                      <m:t>=</m:t>
                    </m:r>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𝒄𝒐𝒔</m:t>
                        </m:r>
                      </m:e>
                      <m:sup>
                        <m:r>
                          <a:rPr lang="en-US" sz="2000" b="1" i="1" smtClean="0">
                            <a:latin typeface="Cambria Math" panose="02040503050406030204" pitchFamily="18" charset="0"/>
                          </a:rPr>
                          <m:t>−</m:t>
                        </m:r>
                        <m:r>
                          <a:rPr lang="en-US" sz="2000" b="1" i="1" smtClean="0">
                            <a:latin typeface="Cambria Math" panose="02040503050406030204" pitchFamily="18" charset="0"/>
                          </a:rPr>
                          <m:t>𝟏</m:t>
                        </m:r>
                      </m:sup>
                    </m:sSup>
                    <m:r>
                      <a:rPr lang="en-US" sz="2000" b="1" i="1" smtClean="0">
                        <a:latin typeface="Cambria Math" panose="02040503050406030204" pitchFamily="18" charset="0"/>
                      </a:rPr>
                      <m:t>𝒙</m:t>
                    </m:r>
                  </m:oMath>
                </a14:m>
                <a:r>
                  <a:rPr lang="en-US" sz="2000" b="1" dirty="0"/>
                  <a:t> </a:t>
                </a:r>
                <a:r>
                  <a:rPr lang="en-US" sz="2000" dirty="0"/>
                  <a:t>or </a:t>
                </a:r>
                <a14:m>
                  <m:oMath xmlns:m="http://schemas.openxmlformats.org/officeDocument/2006/math">
                    <m:r>
                      <a:rPr lang="en-US" sz="2000" b="1" i="1" smtClean="0">
                        <a:latin typeface="Cambria Math" panose="02040503050406030204" pitchFamily="18" charset="0"/>
                      </a:rPr>
                      <m:t>𝒚</m:t>
                    </m:r>
                    <m:r>
                      <a:rPr lang="en-US" sz="2000" b="1" i="1" smtClean="0">
                        <a:latin typeface="Cambria Math" panose="02040503050406030204" pitchFamily="18" charset="0"/>
                      </a:rPr>
                      <m:t>=</m:t>
                    </m:r>
                    <m:func>
                      <m:funcPr>
                        <m:ctrlPr>
                          <a:rPr lang="en-US" sz="2000" b="1" i="1" smtClean="0">
                            <a:latin typeface="Cambria Math" panose="02040503050406030204" pitchFamily="18" charset="0"/>
                          </a:rPr>
                        </m:ctrlPr>
                      </m:funcPr>
                      <m:fName>
                        <m:r>
                          <a:rPr lang="en-US" sz="2000" b="1" i="0" smtClean="0">
                            <a:latin typeface="Cambria Math" panose="02040503050406030204" pitchFamily="18" charset="0"/>
                          </a:rPr>
                          <m:t>𝐚𝐫𝐜𝐜𝐨𝐬</m:t>
                        </m:r>
                      </m:fName>
                      <m:e>
                        <m:r>
                          <a:rPr lang="en-US" sz="2000" b="1" i="1" smtClean="0">
                            <a:latin typeface="Cambria Math" panose="02040503050406030204" pitchFamily="18" charset="0"/>
                          </a:rPr>
                          <m:t>𝒙</m:t>
                        </m:r>
                      </m:e>
                    </m:func>
                  </m:oMath>
                </a14:m>
                <a:r>
                  <a:rPr lang="en-US" sz="2000" dirty="0"/>
                  <a:t> to mean </a:t>
                </a:r>
                <a14:m>
                  <m:oMath xmlns:m="http://schemas.openxmlformats.org/officeDocument/2006/math">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cos</m:t>
                        </m:r>
                      </m:fName>
                      <m:e>
                        <m:r>
                          <a:rPr lang="en-US" sz="2000" b="0" i="1" smtClean="0">
                            <a:latin typeface="Cambria Math" panose="02040503050406030204" pitchFamily="18" charset="0"/>
                          </a:rPr>
                          <m:t>𝑦</m:t>
                        </m:r>
                        <m:r>
                          <a:rPr lang="en-US" sz="2000" b="0" i="1" smtClean="0">
                            <a:latin typeface="Cambria Math" panose="02040503050406030204" pitchFamily="18" charset="0"/>
                          </a:rPr>
                          <m:t>=</m:t>
                        </m:r>
                        <m:r>
                          <a:rPr lang="en-US" sz="2000" b="0" i="1" smtClean="0">
                            <a:latin typeface="Cambria Math" panose="02040503050406030204" pitchFamily="18" charset="0"/>
                          </a:rPr>
                          <m:t>𝑥</m:t>
                        </m:r>
                      </m:e>
                    </m:func>
                  </m:oMath>
                </a14:m>
                <a:r>
                  <a:rPr lang="en-US" sz="2000" dirty="0"/>
                  <a:t>, restricted to </a:t>
                </a:r>
                <a14:m>
                  <m:oMath xmlns:m="http://schemas.openxmlformats.org/officeDocument/2006/math">
                    <m:r>
                      <a:rPr lang="en-US" sz="2000" b="0" i="0" smtClean="0">
                        <a:latin typeface="Cambria Math" panose="02040503050406030204" pitchFamily="18" charset="0"/>
                        <a:ea typeface="Cambria Math" panose="02040503050406030204" pitchFamily="18" charset="0"/>
                      </a:rPr>
                      <m:t>0</m:t>
                    </m:r>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𝑦</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𝜋</m:t>
                    </m:r>
                  </m:oMath>
                </a14:m>
                <a:r>
                  <a:rPr lang="en-US" sz="2000" dirty="0"/>
                  <a:t>.</a:t>
                </a:r>
              </a:p>
            </p:txBody>
          </p:sp>
        </mc:Choice>
        <mc:Fallback xmlns="">
          <p:sp>
            <p:nvSpPr>
              <p:cNvPr id="7" name="TextBox 6">
                <a:extLst>
                  <a:ext uri="{FF2B5EF4-FFF2-40B4-BE49-F238E27FC236}">
                    <a16:creationId xmlns:a16="http://schemas.microsoft.com/office/drawing/2014/main" id="{048C84F4-22E6-DE7F-03A9-CB1354CFC9C7}"/>
                  </a:ext>
                </a:extLst>
              </p:cNvPr>
              <p:cNvSpPr txBox="1">
                <a:spLocks noRot="1" noChangeAspect="1" noMove="1" noResize="1" noEditPoints="1" noAdjustHandles="1" noChangeArrowheads="1" noChangeShapeType="1" noTextEdit="1"/>
              </p:cNvSpPr>
              <p:nvPr/>
            </p:nvSpPr>
            <p:spPr>
              <a:xfrm>
                <a:off x="608739" y="3393564"/>
                <a:ext cx="10840994" cy="407099"/>
              </a:xfrm>
              <a:prstGeom prst="rect">
                <a:avLst/>
              </a:prstGeom>
              <a:blipFill>
                <a:blip r:embed="rId4"/>
                <a:stretch>
                  <a:fillRect l="-619" t="-6061" b="-28788"/>
                </a:stretch>
              </a:blipFill>
            </p:spPr>
            <p:txBody>
              <a:bodyPr/>
              <a:lstStyle/>
              <a:p>
                <a:r>
                  <a:rPr lang="en-US">
                    <a:noFill/>
                  </a:rPr>
                  <a:t> </a:t>
                </a:r>
              </a:p>
            </p:txBody>
          </p:sp>
        </mc:Fallback>
      </mc:AlternateContent>
    </p:spTree>
    <p:extLst>
      <p:ext uri="{BB962C8B-B14F-4D97-AF65-F5344CB8AC3E}">
        <p14:creationId xmlns:p14="http://schemas.microsoft.com/office/powerpoint/2010/main" val="2353971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54225"/>
            <a:ext cx="10515600" cy="1039899"/>
          </a:xfrm>
        </p:spPr>
        <p:txBody>
          <a:bodyPr/>
          <a:lstStyle/>
          <a:p>
            <a:pPr/>
            <a:r>
              <a:rPr lang="en-US" dirty="0">
                <a:solidFill/>
              </a:rPr>
              <a:t>Solving Trig Equations</a:t>
            </a:r>
          </a:p>
        </p:txBody>
      </p:sp>
      <mc:AlternateContent xmlns:mc="http://schemas.openxmlformats.org/markup-compatibility/2006" xmlns:a14="http://schemas.microsoft.com/office/drawing/2010/main">
        <mc:Choice Requires="a14">
          <p:sp>
            <p:nvSpPr>
              <p:cNvPr id="3" name="TextBox 2"/>
              <p:cNvSpPr txBox="1"/>
              <p:nvPr/>
            </p:nvSpPr>
            <p:spPr>
              <a:xfrm>
                <a:off x="749643" y="1235674"/>
                <a:ext cx="10495007" cy="2200602"/>
              </a:xfrm>
              <a:prstGeom prst="rect">
                <a:avLst/>
              </a:prstGeom>
              <a:noFill/>
            </p:spPr>
            <p:txBody>
              <a:bodyPr wrap="square" rtlCol="0">
                <a:spAutoFit/>
              </a:bodyPr>
              <a:lstStyle/>
              <a:p>
                <a:pPr>
                  <a:spcAft>
                    <a:spcPts val="1800"/>
                  </a:spcAft>
                </a:pPr>
                <a:r>
                  <a:rPr lang="en-US" sz="2400" dirty="0"/>
                  <a:t>Solve for </a:t>
                </a:r>
                <a14:m>
                  <m:oMath xmlns:m="http://schemas.openxmlformats.org/officeDocument/2006/math">
                    <m:r>
                      <a:rPr lang="en-US" sz="2400" i="1" dirty="0" smtClean="0">
                        <a:latin typeface="Cambria Math" panose="02040503050406030204" pitchFamily="18" charset="0"/>
                      </a:rPr>
                      <m:t>𝑡</m:t>
                    </m:r>
                  </m:oMath>
                </a14:m>
                <a:r>
                  <a:rPr lang="en-US" sz="2400" dirty="0"/>
                  <a:t> in each of the following.  (Be sure to use radians for your answer.)</a:t>
                </a:r>
              </a:p>
              <a:p>
                <a:pPr>
                  <a:spcAft>
                    <a:spcPts val="6000"/>
                  </a:spcAft>
                </a:pPr>
                <a:r>
                  <a:rPr lang="en-US" sz="2400" dirty="0"/>
                  <a:t>(a).  </a:t>
                </a:r>
                <a14:m>
                  <m:oMath xmlns:m="http://schemas.openxmlformats.org/officeDocument/2006/math">
                    <m:func>
                      <m:funcPr>
                        <m:ctrlPr>
                          <a:rPr lang="en-US" sz="2400" i="1" smtClean="0">
                            <a:latin typeface="Cambria Math" panose="02040503050406030204" pitchFamily="18" charset="0"/>
                          </a:rPr>
                        </m:ctrlPr>
                      </m:funcPr>
                      <m:fName>
                        <m:r>
                          <m:rPr>
                            <m:sty m:val="p"/>
                          </m:rPr>
                          <a:rPr lang="en-US" sz="2400" i="0" smtClean="0">
                            <a:latin typeface="Cambria Math" panose="02040503050406030204" pitchFamily="18" charset="0"/>
                          </a:rPr>
                          <m:t>sin</m:t>
                        </m:r>
                      </m:fName>
                      <m:e>
                        <m:r>
                          <a:rPr lang="en-US" sz="2400" b="0" i="1" smtClean="0">
                            <a:latin typeface="Cambria Math" panose="02040503050406030204" pitchFamily="18" charset="0"/>
                          </a:rPr>
                          <m:t>𝑡</m:t>
                        </m:r>
                      </m:e>
                    </m:func>
                    <m:r>
                      <a:rPr lang="en-US" sz="2400" b="0" i="1" smtClean="0">
                        <a:latin typeface="Cambria Math" panose="02040503050406030204" pitchFamily="18" charset="0"/>
                      </a:rPr>
                      <m:t>=0.75</m:t>
                    </m:r>
                  </m:oMath>
                </a14:m>
                <a:r>
                  <a:rPr lang="en-US" sz="2400" b="0" dirty="0"/>
                  <a:t>		</a:t>
                </a:r>
                <a:r>
                  <a:rPr lang="en-US" sz="2400" dirty="0"/>
                  <a:t>(b).  </a:t>
                </a:r>
                <a14:m>
                  <m:oMath xmlns:m="http://schemas.openxmlformats.org/officeDocument/2006/math">
                    <m:r>
                      <a:rPr lang="en-US" sz="2400" b="0" i="1" smtClean="0">
                        <a:latin typeface="Cambria Math" panose="02040503050406030204" pitchFamily="18" charset="0"/>
                      </a:rPr>
                      <m:t>1=4</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sin</m:t>
                        </m:r>
                      </m:fName>
                      <m:e>
                        <m:r>
                          <a:rPr lang="en-US" sz="2400" b="0" i="1" smtClean="0">
                            <a:latin typeface="Cambria Math" panose="02040503050406030204" pitchFamily="18" charset="0"/>
                          </a:rPr>
                          <m:t>𝑡</m:t>
                        </m:r>
                      </m:e>
                    </m:func>
                  </m:oMath>
                </a14:m>
                <a:r>
                  <a:rPr lang="en-US" sz="2400" dirty="0"/>
                  <a:t>		(c).   </a:t>
                </a:r>
                <a14:m>
                  <m:oMath xmlns:m="http://schemas.openxmlformats.org/officeDocument/2006/math">
                    <m:r>
                      <a:rPr lang="en-US" sz="2400" b="0" i="1" smtClean="0">
                        <a:latin typeface="Cambria Math" panose="02040503050406030204" pitchFamily="18" charset="0"/>
                      </a:rPr>
                      <m:t>5</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cos</m:t>
                        </m:r>
                      </m:fName>
                      <m:e>
                        <m:r>
                          <a:rPr lang="en-US" sz="2400" b="0" i="1" smtClean="0">
                            <a:latin typeface="Cambria Math" panose="02040503050406030204" pitchFamily="18" charset="0"/>
                          </a:rPr>
                          <m:t>2</m:t>
                        </m:r>
                        <m:r>
                          <a:rPr lang="en-US" sz="2400" b="0" i="1" smtClean="0">
                            <a:latin typeface="Cambria Math" panose="02040503050406030204" pitchFamily="18" charset="0"/>
                          </a:rPr>
                          <m:t>𝑡</m:t>
                        </m:r>
                      </m:e>
                    </m:func>
                    <m:r>
                      <a:rPr lang="en-US" sz="2400" b="0" i="1" smtClean="0">
                        <a:latin typeface="Cambria Math" panose="02040503050406030204" pitchFamily="18" charset="0"/>
                      </a:rPr>
                      <m:t>=3</m:t>
                    </m:r>
                  </m:oMath>
                </a14:m>
                <a:endParaRPr lang="en-US" sz="2400" dirty="0"/>
              </a:p>
              <a:p>
                <a:endParaRPr lang="en-US" sz="2400" dirty="0"/>
              </a:p>
            </p:txBody>
          </p:sp>
        </mc:Choice>
        <mc:Fallback xmlns="">
          <p:sp>
            <p:nvSpPr>
              <p:cNvPr id="3" name="TextBox 2"/>
              <p:cNvSpPr txBox="1">
                <a:spLocks noRot="1" noChangeAspect="1" noMove="1" noResize="1" noEditPoints="1" noAdjustHandles="1" noChangeArrowheads="1" noChangeShapeType="1" noTextEdit="1"/>
              </p:cNvSpPr>
              <p:nvPr/>
            </p:nvSpPr>
            <p:spPr>
              <a:xfrm>
                <a:off x="749643" y="1235674"/>
                <a:ext cx="10495007" cy="2200602"/>
              </a:xfrm>
              <a:prstGeom prst="rect">
                <a:avLst/>
              </a:prstGeom>
              <a:blipFill>
                <a:blip r:embed="rId2"/>
                <a:stretch>
                  <a:fillRect l="-967" t="-1724"/>
                </a:stretch>
              </a:blipFill>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607536" y="2594919"/>
                <a:ext cx="2910016" cy="101566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sz="2000" i="1" smtClean="0">
                              <a:solidFill>
                                <a:srgbClr val="C00000"/>
                              </a:solidFill>
                              <a:latin typeface="Cambria Math" panose="02040503050406030204" pitchFamily="18" charset="0"/>
                            </a:rPr>
                          </m:ctrlPr>
                        </m:funcPr>
                        <m:fName>
                          <m:r>
                            <m:rPr>
                              <m:sty m:val="p"/>
                            </m:rPr>
                            <a:rPr lang="en-US" sz="2000" i="0" smtClean="0">
                              <a:solidFill>
                                <a:srgbClr val="C00000"/>
                              </a:solidFill>
                              <a:latin typeface="Cambria Math" panose="02040503050406030204" pitchFamily="18" charset="0"/>
                            </a:rPr>
                            <m:t>sin</m:t>
                          </m:r>
                        </m:fName>
                        <m:e>
                          <m:r>
                            <a:rPr lang="en-US" sz="2000" b="0" i="1" smtClean="0">
                              <a:solidFill>
                                <a:srgbClr val="C00000"/>
                              </a:solidFill>
                              <a:latin typeface="Cambria Math" panose="02040503050406030204" pitchFamily="18" charset="0"/>
                            </a:rPr>
                            <m:t>𝑡</m:t>
                          </m:r>
                        </m:e>
                      </m:func>
                      <m:r>
                        <a:rPr lang="en-US" sz="2000" b="0" i="1" smtClean="0">
                          <a:solidFill>
                            <a:srgbClr val="C00000"/>
                          </a:solidFill>
                          <a:latin typeface="Cambria Math" panose="02040503050406030204" pitchFamily="18" charset="0"/>
                        </a:rPr>
                        <m:t>=0.75</m:t>
                      </m:r>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func>
                        <m:funcPr>
                          <m:ctrlPr>
                            <a:rPr lang="en-US" sz="2000" i="1" smtClean="0">
                              <a:solidFill>
                                <a:srgbClr val="C00000"/>
                              </a:solidFill>
                              <a:latin typeface="Cambria Math" panose="02040503050406030204" pitchFamily="18" charset="0"/>
                            </a:rPr>
                          </m:ctrlPr>
                        </m:funcPr>
                        <m:fName>
                          <m:sSup>
                            <m:sSupPr>
                              <m:ctrlPr>
                                <a:rPr lang="en-US" sz="2000" i="1" smtClean="0">
                                  <a:solidFill>
                                    <a:srgbClr val="C00000"/>
                                  </a:solidFill>
                                  <a:latin typeface="Cambria Math" panose="02040503050406030204" pitchFamily="18" charset="0"/>
                                </a:rPr>
                              </m:ctrlPr>
                            </m:sSupPr>
                            <m:e>
                              <m:r>
                                <m:rPr>
                                  <m:sty m:val="p"/>
                                </m:rPr>
                                <a:rPr lang="en-US" sz="2000" i="0" smtClean="0">
                                  <a:solidFill>
                                    <a:srgbClr val="C00000"/>
                                  </a:solidFill>
                                  <a:latin typeface="Cambria Math" panose="02040503050406030204" pitchFamily="18" charset="0"/>
                                </a:rPr>
                                <m:t>sin</m:t>
                              </m:r>
                            </m:e>
                            <m:sup>
                              <m:r>
                                <a:rPr lang="en-US" sz="2000" i="1" smtClean="0">
                                  <a:solidFill>
                                    <a:srgbClr val="C00000"/>
                                  </a:solidFill>
                                  <a:latin typeface="Cambria Math" panose="02040503050406030204" pitchFamily="18" charset="0"/>
                                </a:rPr>
                                <m:t>−1</m:t>
                              </m:r>
                            </m:sup>
                          </m:sSup>
                        </m:fName>
                        <m:e>
                          <m:d>
                            <m:dPr>
                              <m:ctrlPr>
                                <a:rPr lang="en-US" sz="2000" b="0" i="1" smtClean="0">
                                  <a:solidFill>
                                    <a:srgbClr val="C00000"/>
                                  </a:solidFill>
                                  <a:latin typeface="Cambria Math" panose="02040503050406030204" pitchFamily="18" charset="0"/>
                                </a:rPr>
                              </m:ctrlPr>
                            </m:dPr>
                            <m:e>
                              <m:func>
                                <m:funcPr>
                                  <m:ctrlPr>
                                    <a:rPr lang="en-US" sz="2000" b="0" i="1" smtClean="0">
                                      <a:solidFill>
                                        <a:srgbClr val="C00000"/>
                                      </a:solidFill>
                                      <a:latin typeface="Cambria Math" panose="02040503050406030204" pitchFamily="18" charset="0"/>
                                    </a:rPr>
                                  </m:ctrlPr>
                                </m:funcPr>
                                <m:fName>
                                  <m:r>
                                    <m:rPr>
                                      <m:sty m:val="p"/>
                                    </m:rPr>
                                    <a:rPr lang="en-US" sz="2000" b="0" i="0" smtClean="0">
                                      <a:solidFill>
                                        <a:srgbClr val="C00000"/>
                                      </a:solidFill>
                                      <a:latin typeface="Cambria Math" panose="02040503050406030204" pitchFamily="18" charset="0"/>
                                    </a:rPr>
                                    <m:t>sin</m:t>
                                  </m:r>
                                </m:fName>
                                <m:e>
                                  <m:r>
                                    <a:rPr lang="en-US" sz="2000" b="0" i="1" smtClean="0">
                                      <a:solidFill>
                                        <a:srgbClr val="C00000"/>
                                      </a:solidFill>
                                      <a:latin typeface="Cambria Math" panose="02040503050406030204" pitchFamily="18" charset="0"/>
                                    </a:rPr>
                                    <m:t>𝑡</m:t>
                                  </m:r>
                                </m:e>
                              </m:func>
                            </m:e>
                          </m:d>
                          <m:r>
                            <a:rPr lang="en-US" sz="2000" b="0" i="1" smtClean="0">
                              <a:solidFill>
                                <a:srgbClr val="C00000"/>
                              </a:solidFill>
                              <a:latin typeface="Cambria Math" panose="02040503050406030204" pitchFamily="18" charset="0"/>
                            </a:rPr>
                            <m:t>=</m:t>
                          </m:r>
                          <m:func>
                            <m:funcPr>
                              <m:ctrlPr>
                                <a:rPr lang="en-US" sz="2000" b="0" i="1" smtClean="0">
                                  <a:solidFill>
                                    <a:srgbClr val="C00000"/>
                                  </a:solidFill>
                                  <a:latin typeface="Cambria Math" panose="02040503050406030204" pitchFamily="18" charset="0"/>
                                </a:rPr>
                              </m:ctrlPr>
                            </m:funcPr>
                            <m:fName>
                              <m:sSup>
                                <m:sSupPr>
                                  <m:ctrlPr>
                                    <a:rPr lang="en-US" sz="2000" b="0" i="1" smtClean="0">
                                      <a:solidFill>
                                        <a:srgbClr val="C00000"/>
                                      </a:solidFill>
                                      <a:latin typeface="Cambria Math" panose="02040503050406030204" pitchFamily="18" charset="0"/>
                                    </a:rPr>
                                  </m:ctrlPr>
                                </m:sSupPr>
                                <m:e>
                                  <m:r>
                                    <m:rPr>
                                      <m:sty m:val="p"/>
                                    </m:rPr>
                                    <a:rPr lang="en-US" sz="2000" b="0" i="0" smtClean="0">
                                      <a:solidFill>
                                        <a:srgbClr val="C00000"/>
                                      </a:solidFill>
                                      <a:latin typeface="Cambria Math" panose="02040503050406030204" pitchFamily="18" charset="0"/>
                                    </a:rPr>
                                    <m:t>sin</m:t>
                                  </m:r>
                                </m:e>
                                <m:sup>
                                  <m:r>
                                    <a:rPr lang="en-US" sz="2000" b="0" i="1" smtClean="0">
                                      <a:solidFill>
                                        <a:srgbClr val="C00000"/>
                                      </a:solidFill>
                                      <a:latin typeface="Cambria Math" panose="02040503050406030204" pitchFamily="18" charset="0"/>
                                    </a:rPr>
                                    <m:t>−1</m:t>
                                  </m:r>
                                </m:sup>
                              </m:sSup>
                            </m:fName>
                            <m:e>
                              <m:r>
                                <a:rPr lang="en-US" sz="2000" b="0" i="1" smtClean="0">
                                  <a:solidFill>
                                    <a:srgbClr val="C00000"/>
                                  </a:solidFill>
                                  <a:latin typeface="Cambria Math" panose="02040503050406030204" pitchFamily="18" charset="0"/>
                                </a:rPr>
                                <m:t>(0.75)</m:t>
                              </m:r>
                            </m:e>
                          </m:func>
                        </m:e>
                      </m:func>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r>
                        <a:rPr lang="en-US" sz="2000" b="0" i="1" smtClean="0">
                          <a:solidFill>
                            <a:srgbClr val="C00000"/>
                          </a:solidFill>
                          <a:latin typeface="Cambria Math" panose="02040503050406030204" pitchFamily="18" charset="0"/>
                        </a:rPr>
                        <m:t>𝑡</m:t>
                      </m:r>
                      <m:r>
                        <a:rPr lang="en-US" sz="2000" b="0" i="1" smtClean="0">
                          <a:solidFill>
                            <a:srgbClr val="C00000"/>
                          </a:solidFill>
                          <a:latin typeface="Cambria Math" panose="02040503050406030204" pitchFamily="18" charset="0"/>
                        </a:rPr>
                        <m:t>=</m:t>
                      </m:r>
                      <m:func>
                        <m:funcPr>
                          <m:ctrlPr>
                            <a:rPr lang="en-US" sz="2000" b="0" i="1" smtClean="0">
                              <a:solidFill>
                                <a:srgbClr val="C00000"/>
                              </a:solidFill>
                              <a:latin typeface="Cambria Math" panose="02040503050406030204" pitchFamily="18" charset="0"/>
                            </a:rPr>
                          </m:ctrlPr>
                        </m:funcPr>
                        <m:fName>
                          <m:sSup>
                            <m:sSupPr>
                              <m:ctrlPr>
                                <a:rPr lang="en-US" sz="2000" b="0" i="1" smtClean="0">
                                  <a:solidFill>
                                    <a:srgbClr val="C00000"/>
                                  </a:solidFill>
                                  <a:latin typeface="Cambria Math" panose="02040503050406030204" pitchFamily="18" charset="0"/>
                                </a:rPr>
                              </m:ctrlPr>
                            </m:sSupPr>
                            <m:e>
                              <m:r>
                                <m:rPr>
                                  <m:sty m:val="p"/>
                                </m:rPr>
                                <a:rPr lang="en-US" sz="2000" b="0" i="0" smtClean="0">
                                  <a:solidFill>
                                    <a:srgbClr val="C00000"/>
                                  </a:solidFill>
                                  <a:latin typeface="Cambria Math" panose="02040503050406030204" pitchFamily="18" charset="0"/>
                                </a:rPr>
                                <m:t>sin</m:t>
                              </m:r>
                            </m:e>
                            <m:sup>
                              <m:r>
                                <a:rPr lang="en-US" sz="2000" b="0" i="1" smtClean="0">
                                  <a:solidFill>
                                    <a:srgbClr val="C00000"/>
                                  </a:solidFill>
                                  <a:latin typeface="Cambria Math" panose="02040503050406030204" pitchFamily="18" charset="0"/>
                                </a:rPr>
                                <m:t>−1</m:t>
                              </m:r>
                            </m:sup>
                          </m:sSup>
                        </m:fName>
                        <m:e>
                          <m:r>
                            <a:rPr lang="en-US" sz="2000" b="0" i="1" smtClean="0">
                              <a:solidFill>
                                <a:srgbClr val="C00000"/>
                              </a:solidFill>
                              <a:latin typeface="Cambria Math" panose="02040503050406030204" pitchFamily="18" charset="0"/>
                            </a:rPr>
                            <m:t>(0.75)</m:t>
                          </m:r>
                        </m:e>
                      </m:func>
                      <m:r>
                        <a:rPr lang="en-US" sz="2000" b="0" i="1" smtClean="0">
                          <a:solidFill>
                            <a:srgbClr val="C00000"/>
                          </a:solidFill>
                          <a:latin typeface="Cambria Math" panose="02040503050406030204" pitchFamily="18" charset="0"/>
                        </a:rPr>
                        <m:t>=0.848</m:t>
                      </m:r>
                    </m:oMath>
                  </m:oMathPara>
                </a14:m>
                <a:endParaRPr lang="en-US" sz="2000" dirty="0">
                  <a:solidFill>
                    <a:srgbClr val="C00000"/>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607536" y="2594919"/>
                <a:ext cx="2910016" cy="1015663"/>
              </a:xfrm>
              <a:prstGeom prst="rect">
                <a:avLst/>
              </a:prstGeom>
              <a:blipFill rotWithShape="0">
                <a:blip r:embed="rId3"/>
                <a:stretch>
                  <a:fillRect r="-5241" b="-54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178706" y="2607273"/>
                <a:ext cx="2910016" cy="132343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rgbClr val="C00000"/>
                          </a:solidFill>
                          <a:latin typeface="Cambria Math" panose="02040503050406030204" pitchFamily="18" charset="0"/>
                        </a:rPr>
                        <m:t>1=4</m:t>
                      </m:r>
                      <m:func>
                        <m:funcPr>
                          <m:ctrlPr>
                            <a:rPr lang="en-US" sz="2000" i="1" smtClean="0">
                              <a:solidFill>
                                <a:srgbClr val="C00000"/>
                              </a:solidFill>
                              <a:latin typeface="Cambria Math" panose="02040503050406030204" pitchFamily="18" charset="0"/>
                            </a:rPr>
                          </m:ctrlPr>
                        </m:funcPr>
                        <m:fName>
                          <m:r>
                            <m:rPr>
                              <m:sty m:val="p"/>
                            </m:rPr>
                            <a:rPr lang="en-US" sz="2000" i="0" smtClean="0">
                              <a:solidFill>
                                <a:srgbClr val="C00000"/>
                              </a:solidFill>
                              <a:latin typeface="Cambria Math" panose="02040503050406030204" pitchFamily="18" charset="0"/>
                            </a:rPr>
                            <m:t>sin</m:t>
                          </m:r>
                        </m:fName>
                        <m:e>
                          <m:r>
                            <a:rPr lang="en-US" sz="2000" b="0" i="1" smtClean="0">
                              <a:solidFill>
                                <a:srgbClr val="C00000"/>
                              </a:solidFill>
                              <a:latin typeface="Cambria Math" panose="02040503050406030204" pitchFamily="18" charset="0"/>
                            </a:rPr>
                            <m:t>𝑡</m:t>
                          </m:r>
                        </m:e>
                      </m:func>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r>
                        <a:rPr lang="en-US" sz="2000" b="0" i="1" smtClean="0">
                          <a:solidFill>
                            <a:srgbClr val="C00000"/>
                          </a:solidFill>
                          <a:latin typeface="Cambria Math" panose="02040503050406030204" pitchFamily="18" charset="0"/>
                        </a:rPr>
                        <m:t>0.25=</m:t>
                      </m:r>
                      <m:func>
                        <m:funcPr>
                          <m:ctrlPr>
                            <a:rPr lang="en-US" sz="2000" b="0" i="1" smtClean="0">
                              <a:solidFill>
                                <a:srgbClr val="C00000"/>
                              </a:solidFill>
                              <a:latin typeface="Cambria Math" panose="02040503050406030204" pitchFamily="18" charset="0"/>
                            </a:rPr>
                          </m:ctrlPr>
                        </m:funcPr>
                        <m:fName>
                          <m:r>
                            <m:rPr>
                              <m:sty m:val="p"/>
                            </m:rPr>
                            <a:rPr lang="en-US" sz="2000" b="0" i="0" smtClean="0">
                              <a:solidFill>
                                <a:srgbClr val="C00000"/>
                              </a:solidFill>
                              <a:latin typeface="Cambria Math" panose="02040503050406030204" pitchFamily="18" charset="0"/>
                            </a:rPr>
                            <m:t>sin</m:t>
                          </m:r>
                        </m:fName>
                        <m:e>
                          <m:r>
                            <a:rPr lang="en-US" sz="2000" b="0" i="1" smtClean="0">
                              <a:solidFill>
                                <a:srgbClr val="C00000"/>
                              </a:solidFill>
                              <a:latin typeface="Cambria Math" panose="02040503050406030204" pitchFamily="18" charset="0"/>
                            </a:rPr>
                            <m:t>𝑡</m:t>
                          </m:r>
                        </m:e>
                      </m:func>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func>
                        <m:funcPr>
                          <m:ctrlPr>
                            <a:rPr lang="en-US" sz="2000" i="1" smtClean="0">
                              <a:solidFill>
                                <a:srgbClr val="C00000"/>
                              </a:solidFill>
                              <a:latin typeface="Cambria Math" panose="02040503050406030204" pitchFamily="18" charset="0"/>
                            </a:rPr>
                          </m:ctrlPr>
                        </m:funcPr>
                        <m:fName>
                          <m:sSup>
                            <m:sSupPr>
                              <m:ctrlPr>
                                <a:rPr lang="en-US" sz="2000" i="1" smtClean="0">
                                  <a:solidFill>
                                    <a:srgbClr val="C00000"/>
                                  </a:solidFill>
                                  <a:latin typeface="Cambria Math" panose="02040503050406030204" pitchFamily="18" charset="0"/>
                                </a:rPr>
                              </m:ctrlPr>
                            </m:sSupPr>
                            <m:e>
                              <m:r>
                                <m:rPr>
                                  <m:sty m:val="p"/>
                                </m:rPr>
                                <a:rPr lang="en-US" sz="2000" i="0" smtClean="0">
                                  <a:solidFill>
                                    <a:srgbClr val="C00000"/>
                                  </a:solidFill>
                                  <a:latin typeface="Cambria Math" panose="02040503050406030204" pitchFamily="18" charset="0"/>
                                </a:rPr>
                                <m:t>sin</m:t>
                              </m:r>
                            </m:e>
                            <m:sup>
                              <m:r>
                                <a:rPr lang="en-US" sz="2000" i="1" smtClean="0">
                                  <a:solidFill>
                                    <a:srgbClr val="C00000"/>
                                  </a:solidFill>
                                  <a:latin typeface="Cambria Math" panose="02040503050406030204" pitchFamily="18" charset="0"/>
                                </a:rPr>
                                <m:t>−1</m:t>
                              </m:r>
                            </m:sup>
                          </m:sSup>
                        </m:fName>
                        <m:e>
                          <m:d>
                            <m:dPr>
                              <m:ctrlPr>
                                <a:rPr lang="en-US" sz="2000" b="0" i="1" smtClean="0">
                                  <a:solidFill>
                                    <a:srgbClr val="C00000"/>
                                  </a:solidFill>
                                  <a:latin typeface="Cambria Math" panose="02040503050406030204" pitchFamily="18" charset="0"/>
                                </a:rPr>
                              </m:ctrlPr>
                            </m:dPr>
                            <m:e>
                              <m:r>
                                <a:rPr lang="en-US" sz="2000" b="0" i="1" smtClean="0">
                                  <a:solidFill>
                                    <a:srgbClr val="C00000"/>
                                  </a:solidFill>
                                  <a:latin typeface="Cambria Math" panose="02040503050406030204" pitchFamily="18" charset="0"/>
                                </a:rPr>
                                <m:t>0.25</m:t>
                              </m:r>
                            </m:e>
                          </m:d>
                          <m:r>
                            <a:rPr lang="en-US" sz="2000" b="0" i="1" smtClean="0">
                              <a:solidFill>
                                <a:srgbClr val="C00000"/>
                              </a:solidFill>
                              <a:latin typeface="Cambria Math" panose="02040503050406030204" pitchFamily="18" charset="0"/>
                            </a:rPr>
                            <m:t>=</m:t>
                          </m:r>
                          <m:func>
                            <m:funcPr>
                              <m:ctrlPr>
                                <a:rPr lang="en-US" sz="2000" b="0" i="1" smtClean="0">
                                  <a:solidFill>
                                    <a:srgbClr val="C00000"/>
                                  </a:solidFill>
                                  <a:latin typeface="Cambria Math" panose="02040503050406030204" pitchFamily="18" charset="0"/>
                                </a:rPr>
                              </m:ctrlPr>
                            </m:funcPr>
                            <m:fName>
                              <m:sSup>
                                <m:sSupPr>
                                  <m:ctrlPr>
                                    <a:rPr lang="en-US" sz="2000" b="0" i="1" smtClean="0">
                                      <a:solidFill>
                                        <a:srgbClr val="C00000"/>
                                      </a:solidFill>
                                      <a:latin typeface="Cambria Math" panose="02040503050406030204" pitchFamily="18" charset="0"/>
                                    </a:rPr>
                                  </m:ctrlPr>
                                </m:sSupPr>
                                <m:e>
                                  <m:r>
                                    <m:rPr>
                                      <m:sty m:val="p"/>
                                    </m:rPr>
                                    <a:rPr lang="en-US" sz="2000" b="0" i="0" smtClean="0">
                                      <a:solidFill>
                                        <a:srgbClr val="C00000"/>
                                      </a:solidFill>
                                      <a:latin typeface="Cambria Math" panose="02040503050406030204" pitchFamily="18" charset="0"/>
                                    </a:rPr>
                                    <m:t>sin</m:t>
                                  </m:r>
                                </m:e>
                                <m:sup>
                                  <m:r>
                                    <a:rPr lang="en-US" sz="2000" b="0" i="1" smtClean="0">
                                      <a:solidFill>
                                        <a:srgbClr val="C00000"/>
                                      </a:solidFill>
                                      <a:latin typeface="Cambria Math" panose="02040503050406030204" pitchFamily="18" charset="0"/>
                                    </a:rPr>
                                    <m:t>−1</m:t>
                                  </m:r>
                                </m:sup>
                              </m:sSup>
                            </m:fName>
                            <m:e>
                              <m:r>
                                <a:rPr lang="en-US" sz="2000" b="0" i="1" smtClean="0">
                                  <a:solidFill>
                                    <a:srgbClr val="C00000"/>
                                  </a:solidFill>
                                  <a:latin typeface="Cambria Math" panose="02040503050406030204" pitchFamily="18" charset="0"/>
                                </a:rPr>
                                <m:t>(</m:t>
                              </m:r>
                              <m:func>
                                <m:funcPr>
                                  <m:ctrlPr>
                                    <a:rPr lang="en-US" sz="2000" b="0" i="1" smtClean="0">
                                      <a:solidFill>
                                        <a:srgbClr val="C00000"/>
                                      </a:solidFill>
                                      <a:latin typeface="Cambria Math" panose="02040503050406030204" pitchFamily="18" charset="0"/>
                                    </a:rPr>
                                  </m:ctrlPr>
                                </m:funcPr>
                                <m:fName>
                                  <m:r>
                                    <m:rPr>
                                      <m:sty m:val="p"/>
                                    </m:rPr>
                                    <a:rPr lang="en-US" sz="2000" b="0" i="0" smtClean="0">
                                      <a:solidFill>
                                        <a:srgbClr val="C00000"/>
                                      </a:solidFill>
                                      <a:latin typeface="Cambria Math" panose="02040503050406030204" pitchFamily="18" charset="0"/>
                                    </a:rPr>
                                    <m:t>sin</m:t>
                                  </m:r>
                                </m:fName>
                                <m:e>
                                  <m:r>
                                    <a:rPr lang="en-US" sz="2000" b="0" i="1" smtClean="0">
                                      <a:solidFill>
                                        <a:srgbClr val="C00000"/>
                                      </a:solidFill>
                                      <a:latin typeface="Cambria Math" panose="02040503050406030204" pitchFamily="18" charset="0"/>
                                    </a:rPr>
                                    <m:t>𝑡</m:t>
                                  </m:r>
                                </m:e>
                              </m:func>
                              <m:r>
                                <a:rPr lang="en-US" sz="2000" b="0" i="1" smtClean="0">
                                  <a:solidFill>
                                    <a:srgbClr val="C00000"/>
                                  </a:solidFill>
                                  <a:latin typeface="Cambria Math" panose="02040503050406030204" pitchFamily="18" charset="0"/>
                                </a:rPr>
                                <m:t>)</m:t>
                              </m:r>
                            </m:e>
                          </m:func>
                        </m:e>
                      </m:func>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r>
                        <a:rPr lang="en-US" sz="2000" b="0" i="1" smtClean="0">
                          <a:solidFill>
                            <a:srgbClr val="C00000"/>
                          </a:solidFill>
                          <a:latin typeface="Cambria Math" panose="02040503050406030204" pitchFamily="18" charset="0"/>
                        </a:rPr>
                        <m:t>𝑡</m:t>
                      </m:r>
                      <m:r>
                        <a:rPr lang="en-US" sz="2000" b="0" i="1" smtClean="0">
                          <a:solidFill>
                            <a:srgbClr val="C00000"/>
                          </a:solidFill>
                          <a:latin typeface="Cambria Math" panose="02040503050406030204" pitchFamily="18" charset="0"/>
                        </a:rPr>
                        <m:t>=</m:t>
                      </m:r>
                      <m:func>
                        <m:funcPr>
                          <m:ctrlPr>
                            <a:rPr lang="en-US" sz="2000" b="0" i="1" smtClean="0">
                              <a:solidFill>
                                <a:srgbClr val="C00000"/>
                              </a:solidFill>
                              <a:latin typeface="Cambria Math" panose="02040503050406030204" pitchFamily="18" charset="0"/>
                            </a:rPr>
                          </m:ctrlPr>
                        </m:funcPr>
                        <m:fName>
                          <m:sSup>
                            <m:sSupPr>
                              <m:ctrlPr>
                                <a:rPr lang="en-US" sz="2000" b="0" i="1" smtClean="0">
                                  <a:solidFill>
                                    <a:srgbClr val="C00000"/>
                                  </a:solidFill>
                                  <a:latin typeface="Cambria Math" panose="02040503050406030204" pitchFamily="18" charset="0"/>
                                </a:rPr>
                              </m:ctrlPr>
                            </m:sSupPr>
                            <m:e>
                              <m:r>
                                <m:rPr>
                                  <m:sty m:val="p"/>
                                </m:rPr>
                                <a:rPr lang="en-US" sz="2000" b="0" i="0" smtClean="0">
                                  <a:solidFill>
                                    <a:srgbClr val="C00000"/>
                                  </a:solidFill>
                                  <a:latin typeface="Cambria Math" panose="02040503050406030204" pitchFamily="18" charset="0"/>
                                </a:rPr>
                                <m:t>sin</m:t>
                              </m:r>
                            </m:e>
                            <m:sup>
                              <m:r>
                                <a:rPr lang="en-US" sz="2000" b="0" i="1" smtClean="0">
                                  <a:solidFill>
                                    <a:srgbClr val="C00000"/>
                                  </a:solidFill>
                                  <a:latin typeface="Cambria Math" panose="02040503050406030204" pitchFamily="18" charset="0"/>
                                </a:rPr>
                                <m:t>−1</m:t>
                              </m:r>
                            </m:sup>
                          </m:sSup>
                        </m:fName>
                        <m:e>
                          <m:r>
                            <a:rPr lang="en-US" sz="2000" b="0" i="1" smtClean="0">
                              <a:solidFill>
                                <a:srgbClr val="C00000"/>
                              </a:solidFill>
                              <a:latin typeface="Cambria Math" panose="02040503050406030204" pitchFamily="18" charset="0"/>
                            </a:rPr>
                            <m:t>(0.25)</m:t>
                          </m:r>
                        </m:e>
                      </m:func>
                      <m:r>
                        <a:rPr lang="en-US" sz="2000" b="0" i="1" smtClean="0">
                          <a:solidFill>
                            <a:srgbClr val="C00000"/>
                          </a:solidFill>
                          <a:latin typeface="Cambria Math" panose="02040503050406030204" pitchFamily="18" charset="0"/>
                        </a:rPr>
                        <m:t>=0.253</m:t>
                      </m:r>
                    </m:oMath>
                  </m:oMathPara>
                </a14:m>
                <a:endParaRPr lang="en-US" sz="2000" dirty="0">
                  <a:solidFill>
                    <a:srgbClr val="C00000"/>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4178706" y="2607273"/>
                <a:ext cx="2910016" cy="1323439"/>
              </a:xfrm>
              <a:prstGeom prst="rect">
                <a:avLst/>
              </a:prstGeom>
              <a:blipFill rotWithShape="0">
                <a:blip r:embed="rId4"/>
                <a:stretch>
                  <a:fillRect r="-5021" b="-36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8013492" y="2669055"/>
                <a:ext cx="3471036" cy="19261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rgbClr val="C00000"/>
                          </a:solidFill>
                          <a:latin typeface="Cambria Math" panose="02040503050406030204" pitchFamily="18" charset="0"/>
                        </a:rPr>
                        <m:t>5 </m:t>
                      </m:r>
                      <m:func>
                        <m:funcPr>
                          <m:ctrlPr>
                            <a:rPr lang="en-US" sz="2000" b="0" i="1" smtClean="0">
                              <a:solidFill>
                                <a:srgbClr val="C00000"/>
                              </a:solidFill>
                              <a:latin typeface="Cambria Math" panose="02040503050406030204" pitchFamily="18" charset="0"/>
                            </a:rPr>
                          </m:ctrlPr>
                        </m:funcPr>
                        <m:fName>
                          <m:r>
                            <m:rPr>
                              <m:sty m:val="p"/>
                            </m:rPr>
                            <a:rPr lang="en-US" sz="2000" b="0" i="0" smtClean="0">
                              <a:solidFill>
                                <a:srgbClr val="C00000"/>
                              </a:solidFill>
                              <a:latin typeface="Cambria Math" panose="02040503050406030204" pitchFamily="18" charset="0"/>
                            </a:rPr>
                            <m:t>cos</m:t>
                          </m:r>
                        </m:fName>
                        <m:e>
                          <m:r>
                            <a:rPr lang="en-US" sz="2000" b="0" i="1" smtClean="0">
                              <a:solidFill>
                                <a:srgbClr val="C00000"/>
                              </a:solidFill>
                              <a:latin typeface="Cambria Math" panose="02040503050406030204" pitchFamily="18" charset="0"/>
                            </a:rPr>
                            <m:t>(2</m:t>
                          </m:r>
                          <m:r>
                            <a:rPr lang="en-US" sz="2000" b="0" i="1" smtClean="0">
                              <a:solidFill>
                                <a:srgbClr val="C00000"/>
                              </a:solidFill>
                              <a:latin typeface="Cambria Math" panose="02040503050406030204" pitchFamily="18" charset="0"/>
                            </a:rPr>
                            <m:t>𝑡</m:t>
                          </m:r>
                          <m:r>
                            <a:rPr lang="en-US" sz="2000" b="0" i="1" smtClean="0">
                              <a:solidFill>
                                <a:srgbClr val="C00000"/>
                              </a:solidFill>
                              <a:latin typeface="Cambria Math" panose="02040503050406030204" pitchFamily="18" charset="0"/>
                            </a:rPr>
                            <m:t>)</m:t>
                          </m:r>
                        </m:e>
                      </m:func>
                      <m:r>
                        <a:rPr lang="en-US" sz="2000" b="0" i="1" smtClean="0">
                          <a:solidFill>
                            <a:srgbClr val="C00000"/>
                          </a:solidFill>
                          <a:latin typeface="Cambria Math" panose="02040503050406030204" pitchFamily="18" charset="0"/>
                        </a:rPr>
                        <m:t>=3</m:t>
                      </m:r>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func>
                        <m:funcPr>
                          <m:ctrlPr>
                            <a:rPr lang="en-US" sz="2000" b="0" i="1" smtClean="0">
                              <a:solidFill>
                                <a:srgbClr val="C00000"/>
                              </a:solidFill>
                              <a:latin typeface="Cambria Math" panose="02040503050406030204" pitchFamily="18" charset="0"/>
                            </a:rPr>
                          </m:ctrlPr>
                        </m:funcPr>
                        <m:fName>
                          <m:r>
                            <m:rPr>
                              <m:sty m:val="p"/>
                            </m:rPr>
                            <a:rPr lang="en-US" sz="2000" b="0" i="0" smtClean="0">
                              <a:solidFill>
                                <a:srgbClr val="C00000"/>
                              </a:solidFill>
                              <a:latin typeface="Cambria Math" panose="02040503050406030204" pitchFamily="18" charset="0"/>
                            </a:rPr>
                            <m:t>cos</m:t>
                          </m:r>
                        </m:fName>
                        <m:e>
                          <m:r>
                            <a:rPr lang="en-US" sz="2000" b="0" i="1" smtClean="0">
                              <a:solidFill>
                                <a:srgbClr val="C00000"/>
                              </a:solidFill>
                              <a:latin typeface="Cambria Math" panose="02040503050406030204" pitchFamily="18" charset="0"/>
                            </a:rPr>
                            <m:t>(2</m:t>
                          </m:r>
                          <m:r>
                            <a:rPr lang="en-US" sz="2000" b="0" i="1" smtClean="0">
                              <a:solidFill>
                                <a:srgbClr val="C00000"/>
                              </a:solidFill>
                              <a:latin typeface="Cambria Math" panose="02040503050406030204" pitchFamily="18" charset="0"/>
                            </a:rPr>
                            <m:t>𝑡</m:t>
                          </m:r>
                          <m:r>
                            <a:rPr lang="en-US" sz="2000" b="0" i="1" smtClean="0">
                              <a:solidFill>
                                <a:srgbClr val="C00000"/>
                              </a:solidFill>
                              <a:latin typeface="Cambria Math" panose="02040503050406030204" pitchFamily="18" charset="0"/>
                            </a:rPr>
                            <m:t>)</m:t>
                          </m:r>
                        </m:e>
                      </m:func>
                      <m:r>
                        <a:rPr lang="en-US" sz="2000" b="0" i="1" smtClean="0">
                          <a:solidFill>
                            <a:srgbClr val="C00000"/>
                          </a:solidFill>
                          <a:latin typeface="Cambria Math" panose="02040503050406030204" pitchFamily="18" charset="0"/>
                        </a:rPr>
                        <m:t>=0.6</m:t>
                      </m:r>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func>
                        <m:funcPr>
                          <m:ctrlPr>
                            <a:rPr lang="en-US" sz="2000" i="1" smtClean="0">
                              <a:solidFill>
                                <a:srgbClr val="C00000"/>
                              </a:solidFill>
                              <a:latin typeface="Cambria Math" panose="02040503050406030204" pitchFamily="18" charset="0"/>
                            </a:rPr>
                          </m:ctrlPr>
                        </m:funcPr>
                        <m:fName>
                          <m:sSup>
                            <m:sSupPr>
                              <m:ctrlPr>
                                <a:rPr lang="en-US" sz="2000" i="1" smtClean="0">
                                  <a:solidFill>
                                    <a:srgbClr val="C00000"/>
                                  </a:solidFill>
                                  <a:latin typeface="Cambria Math" panose="02040503050406030204" pitchFamily="18" charset="0"/>
                                </a:rPr>
                              </m:ctrlPr>
                            </m:sSupPr>
                            <m:e>
                              <m:r>
                                <m:rPr>
                                  <m:sty m:val="p"/>
                                </m:rPr>
                                <a:rPr lang="en-US" sz="2000" i="0" smtClean="0">
                                  <a:solidFill>
                                    <a:srgbClr val="C00000"/>
                                  </a:solidFill>
                                  <a:latin typeface="Cambria Math" panose="02040503050406030204" pitchFamily="18" charset="0"/>
                                </a:rPr>
                                <m:t>cos</m:t>
                              </m:r>
                            </m:e>
                            <m:sup>
                              <m:r>
                                <a:rPr lang="en-US" sz="2000" i="1" smtClean="0">
                                  <a:solidFill>
                                    <a:srgbClr val="C00000"/>
                                  </a:solidFill>
                                  <a:latin typeface="Cambria Math" panose="02040503050406030204" pitchFamily="18" charset="0"/>
                                </a:rPr>
                                <m:t>−1</m:t>
                              </m:r>
                            </m:sup>
                          </m:sSup>
                        </m:fName>
                        <m:e>
                          <m:r>
                            <a:rPr lang="en-US" sz="2000" b="0" i="1" smtClean="0">
                              <a:solidFill>
                                <a:srgbClr val="C00000"/>
                              </a:solidFill>
                              <a:latin typeface="Cambria Math" panose="02040503050406030204" pitchFamily="18" charset="0"/>
                            </a:rPr>
                            <m:t>(</m:t>
                          </m:r>
                          <m:func>
                            <m:funcPr>
                              <m:ctrlPr>
                                <a:rPr lang="en-US" sz="2000" b="0" i="1" smtClean="0">
                                  <a:solidFill>
                                    <a:srgbClr val="C00000"/>
                                  </a:solidFill>
                                  <a:latin typeface="Cambria Math" panose="02040503050406030204" pitchFamily="18" charset="0"/>
                                </a:rPr>
                              </m:ctrlPr>
                            </m:funcPr>
                            <m:fName>
                              <m:r>
                                <m:rPr>
                                  <m:sty m:val="p"/>
                                </m:rPr>
                                <a:rPr lang="en-US" sz="2000" b="0" i="0" smtClean="0">
                                  <a:solidFill>
                                    <a:srgbClr val="C00000"/>
                                  </a:solidFill>
                                  <a:latin typeface="Cambria Math" panose="02040503050406030204" pitchFamily="18" charset="0"/>
                                </a:rPr>
                                <m:t>cos</m:t>
                              </m:r>
                            </m:fName>
                            <m:e>
                              <m:d>
                                <m:dPr>
                                  <m:ctrlPr>
                                    <a:rPr lang="en-US" sz="2000" b="0" i="1" smtClean="0">
                                      <a:solidFill>
                                        <a:srgbClr val="C00000"/>
                                      </a:solidFill>
                                      <a:latin typeface="Cambria Math" panose="02040503050406030204" pitchFamily="18" charset="0"/>
                                    </a:rPr>
                                  </m:ctrlPr>
                                </m:dPr>
                                <m:e>
                                  <m:r>
                                    <a:rPr lang="en-US" sz="2000" b="0" i="1" smtClean="0">
                                      <a:solidFill>
                                        <a:srgbClr val="C00000"/>
                                      </a:solidFill>
                                      <a:latin typeface="Cambria Math" panose="02040503050406030204" pitchFamily="18" charset="0"/>
                                    </a:rPr>
                                    <m:t>2</m:t>
                                  </m:r>
                                  <m:r>
                                    <a:rPr lang="en-US" sz="2000" b="0" i="1" smtClean="0">
                                      <a:solidFill>
                                        <a:srgbClr val="C00000"/>
                                      </a:solidFill>
                                      <a:latin typeface="Cambria Math" panose="02040503050406030204" pitchFamily="18" charset="0"/>
                                    </a:rPr>
                                    <m:t>𝑡</m:t>
                                  </m:r>
                                </m:e>
                              </m:d>
                            </m:e>
                          </m:func>
                          <m:r>
                            <a:rPr lang="en-US" sz="2000" b="0" i="1" smtClean="0">
                              <a:solidFill>
                                <a:srgbClr val="C00000"/>
                              </a:solidFill>
                              <a:latin typeface="Cambria Math" panose="02040503050406030204" pitchFamily="18" charset="0"/>
                            </a:rPr>
                            <m:t>)</m:t>
                          </m:r>
                        </m:e>
                      </m:func>
                      <m:r>
                        <a:rPr lang="en-US" sz="2000" b="0" i="1" smtClean="0">
                          <a:solidFill>
                            <a:srgbClr val="C00000"/>
                          </a:solidFill>
                          <a:latin typeface="Cambria Math" panose="02040503050406030204" pitchFamily="18" charset="0"/>
                        </a:rPr>
                        <m:t>=</m:t>
                      </m:r>
                      <m:func>
                        <m:funcPr>
                          <m:ctrlPr>
                            <a:rPr lang="en-US" sz="2000" b="0" i="1" smtClean="0">
                              <a:solidFill>
                                <a:srgbClr val="C00000"/>
                              </a:solidFill>
                              <a:latin typeface="Cambria Math" panose="02040503050406030204" pitchFamily="18" charset="0"/>
                            </a:rPr>
                          </m:ctrlPr>
                        </m:funcPr>
                        <m:fName>
                          <m:sSup>
                            <m:sSupPr>
                              <m:ctrlPr>
                                <a:rPr lang="en-US" sz="2000" b="0" i="1" smtClean="0">
                                  <a:solidFill>
                                    <a:srgbClr val="C00000"/>
                                  </a:solidFill>
                                  <a:latin typeface="Cambria Math" panose="02040503050406030204" pitchFamily="18" charset="0"/>
                                </a:rPr>
                              </m:ctrlPr>
                            </m:sSupPr>
                            <m:e>
                              <m:r>
                                <m:rPr>
                                  <m:sty m:val="p"/>
                                </m:rPr>
                                <a:rPr lang="en-US" sz="2000" b="0" i="0" smtClean="0">
                                  <a:solidFill>
                                    <a:srgbClr val="C00000"/>
                                  </a:solidFill>
                                  <a:latin typeface="Cambria Math" panose="02040503050406030204" pitchFamily="18" charset="0"/>
                                </a:rPr>
                                <m:t>cos</m:t>
                              </m:r>
                            </m:e>
                            <m:sup>
                              <m:r>
                                <a:rPr lang="en-US" sz="2000" b="0" i="1" smtClean="0">
                                  <a:solidFill>
                                    <a:srgbClr val="C00000"/>
                                  </a:solidFill>
                                  <a:latin typeface="Cambria Math" panose="02040503050406030204" pitchFamily="18" charset="0"/>
                                </a:rPr>
                                <m:t>−1</m:t>
                              </m:r>
                            </m:sup>
                          </m:sSup>
                        </m:fName>
                        <m:e>
                          <m:r>
                            <a:rPr lang="en-US" sz="2000" b="0" i="1" smtClean="0">
                              <a:solidFill>
                                <a:srgbClr val="C00000"/>
                              </a:solidFill>
                              <a:latin typeface="Cambria Math" panose="02040503050406030204" pitchFamily="18" charset="0"/>
                            </a:rPr>
                            <m:t>(0.6)</m:t>
                          </m:r>
                        </m:e>
                      </m:func>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r>
                        <a:rPr lang="en-US" sz="2000" b="0" i="1" smtClean="0">
                          <a:solidFill>
                            <a:srgbClr val="C00000"/>
                          </a:solidFill>
                          <a:latin typeface="Cambria Math" panose="02040503050406030204" pitchFamily="18" charset="0"/>
                        </a:rPr>
                        <m:t>2</m:t>
                      </m:r>
                      <m:r>
                        <a:rPr lang="en-US" sz="2000" b="0" i="1" smtClean="0">
                          <a:solidFill>
                            <a:srgbClr val="C00000"/>
                          </a:solidFill>
                          <a:latin typeface="Cambria Math" panose="02040503050406030204" pitchFamily="18" charset="0"/>
                        </a:rPr>
                        <m:t>𝑡</m:t>
                      </m:r>
                      <m:r>
                        <a:rPr lang="en-US" sz="2000" b="0" i="1" smtClean="0">
                          <a:solidFill>
                            <a:srgbClr val="C00000"/>
                          </a:solidFill>
                          <a:latin typeface="Cambria Math" panose="02040503050406030204" pitchFamily="18" charset="0"/>
                        </a:rPr>
                        <m:t>=</m:t>
                      </m:r>
                      <m:func>
                        <m:funcPr>
                          <m:ctrlPr>
                            <a:rPr lang="en-US" sz="2000" b="0" i="1" smtClean="0">
                              <a:solidFill>
                                <a:srgbClr val="C00000"/>
                              </a:solidFill>
                              <a:latin typeface="Cambria Math" panose="02040503050406030204" pitchFamily="18" charset="0"/>
                            </a:rPr>
                          </m:ctrlPr>
                        </m:funcPr>
                        <m:fName>
                          <m:sSup>
                            <m:sSupPr>
                              <m:ctrlPr>
                                <a:rPr lang="en-US" sz="2000" b="0" i="1" smtClean="0">
                                  <a:solidFill>
                                    <a:srgbClr val="C00000"/>
                                  </a:solidFill>
                                  <a:latin typeface="Cambria Math" panose="02040503050406030204" pitchFamily="18" charset="0"/>
                                </a:rPr>
                              </m:ctrlPr>
                            </m:sSupPr>
                            <m:e>
                              <m:r>
                                <m:rPr>
                                  <m:sty m:val="p"/>
                                </m:rPr>
                                <a:rPr lang="en-US" sz="2000" b="0" i="0" smtClean="0">
                                  <a:solidFill>
                                    <a:srgbClr val="C00000"/>
                                  </a:solidFill>
                                  <a:latin typeface="Cambria Math" panose="02040503050406030204" pitchFamily="18" charset="0"/>
                                </a:rPr>
                                <m:t>cos</m:t>
                              </m:r>
                            </m:e>
                            <m:sup>
                              <m:r>
                                <a:rPr lang="en-US" sz="2000" b="0" i="1" smtClean="0">
                                  <a:solidFill>
                                    <a:srgbClr val="C00000"/>
                                  </a:solidFill>
                                  <a:latin typeface="Cambria Math" panose="02040503050406030204" pitchFamily="18" charset="0"/>
                                </a:rPr>
                                <m:t>−1</m:t>
                              </m:r>
                            </m:sup>
                          </m:sSup>
                        </m:fName>
                        <m:e>
                          <m:r>
                            <a:rPr lang="en-US" sz="2000" b="0" i="1" smtClean="0">
                              <a:solidFill>
                                <a:srgbClr val="C00000"/>
                              </a:solidFill>
                              <a:latin typeface="Cambria Math" panose="02040503050406030204" pitchFamily="18" charset="0"/>
                            </a:rPr>
                            <m:t>(0.6)</m:t>
                          </m:r>
                        </m:e>
                      </m:func>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r>
                        <a:rPr lang="en-US" sz="2000" b="0" i="1" smtClean="0">
                          <a:solidFill>
                            <a:srgbClr val="C00000"/>
                          </a:solidFill>
                          <a:latin typeface="Cambria Math" panose="02040503050406030204" pitchFamily="18" charset="0"/>
                        </a:rPr>
                        <m:t>𝑡</m:t>
                      </m:r>
                      <m:r>
                        <a:rPr lang="en-US" sz="2000" b="0" i="1" smtClean="0">
                          <a:solidFill>
                            <a:srgbClr val="C00000"/>
                          </a:solidFill>
                          <a:latin typeface="Cambria Math" panose="02040503050406030204" pitchFamily="18" charset="0"/>
                        </a:rPr>
                        <m:t>=</m:t>
                      </m:r>
                      <m:f>
                        <m:fPr>
                          <m:ctrlPr>
                            <a:rPr lang="en-US" sz="2000" b="0" i="1" smtClean="0">
                              <a:solidFill>
                                <a:srgbClr val="C00000"/>
                              </a:solidFill>
                              <a:latin typeface="Cambria Math" panose="02040503050406030204" pitchFamily="18" charset="0"/>
                            </a:rPr>
                          </m:ctrlPr>
                        </m:fPr>
                        <m:num>
                          <m:func>
                            <m:funcPr>
                              <m:ctrlPr>
                                <a:rPr lang="en-US" sz="2000" b="0" i="1" smtClean="0">
                                  <a:solidFill>
                                    <a:srgbClr val="C00000"/>
                                  </a:solidFill>
                                  <a:latin typeface="Cambria Math" panose="02040503050406030204" pitchFamily="18" charset="0"/>
                                </a:rPr>
                              </m:ctrlPr>
                            </m:funcPr>
                            <m:fName>
                              <m:sSup>
                                <m:sSupPr>
                                  <m:ctrlPr>
                                    <a:rPr lang="en-US" sz="2000" b="0" i="1" smtClean="0">
                                      <a:solidFill>
                                        <a:srgbClr val="C00000"/>
                                      </a:solidFill>
                                      <a:latin typeface="Cambria Math" panose="02040503050406030204" pitchFamily="18" charset="0"/>
                                    </a:rPr>
                                  </m:ctrlPr>
                                </m:sSupPr>
                                <m:e>
                                  <m:r>
                                    <m:rPr>
                                      <m:sty m:val="p"/>
                                    </m:rPr>
                                    <a:rPr lang="en-US" sz="2000" b="0" i="0" smtClean="0">
                                      <a:solidFill>
                                        <a:srgbClr val="C00000"/>
                                      </a:solidFill>
                                      <a:latin typeface="Cambria Math" panose="02040503050406030204" pitchFamily="18" charset="0"/>
                                    </a:rPr>
                                    <m:t>cos</m:t>
                                  </m:r>
                                </m:e>
                                <m:sup>
                                  <m:r>
                                    <a:rPr lang="en-US" sz="2000" b="0" i="1" smtClean="0">
                                      <a:solidFill>
                                        <a:srgbClr val="C00000"/>
                                      </a:solidFill>
                                      <a:latin typeface="Cambria Math" panose="02040503050406030204" pitchFamily="18" charset="0"/>
                                    </a:rPr>
                                    <m:t>−1</m:t>
                                  </m:r>
                                </m:sup>
                              </m:sSup>
                            </m:fName>
                            <m:e>
                              <m:r>
                                <a:rPr lang="en-US" sz="2000" b="0" i="1" smtClean="0">
                                  <a:solidFill>
                                    <a:srgbClr val="C00000"/>
                                  </a:solidFill>
                                  <a:latin typeface="Cambria Math" panose="02040503050406030204" pitchFamily="18" charset="0"/>
                                </a:rPr>
                                <m:t>(0.6)</m:t>
                              </m:r>
                            </m:e>
                          </m:func>
                        </m:num>
                        <m:den>
                          <m:r>
                            <a:rPr lang="en-US" sz="2000" b="0" i="1" smtClean="0">
                              <a:solidFill>
                                <a:srgbClr val="C00000"/>
                              </a:solidFill>
                              <a:latin typeface="Cambria Math" panose="02040503050406030204" pitchFamily="18" charset="0"/>
                            </a:rPr>
                            <m:t>2</m:t>
                          </m:r>
                        </m:den>
                      </m:f>
                      <m:r>
                        <a:rPr lang="en-US" sz="2000" b="0" i="1" smtClean="0">
                          <a:solidFill>
                            <a:srgbClr val="C00000"/>
                          </a:solidFill>
                          <a:latin typeface="Cambria Math" panose="02040503050406030204" pitchFamily="18" charset="0"/>
                        </a:rPr>
                        <m:t>=0.464</m:t>
                      </m:r>
                    </m:oMath>
                  </m:oMathPara>
                </a14:m>
                <a:endParaRPr lang="en-US" sz="2000" dirty="0">
                  <a:solidFill>
                    <a:srgbClr val="C0000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8013492" y="2669055"/>
                <a:ext cx="3471036" cy="1926168"/>
              </a:xfrm>
              <a:prstGeom prst="rect">
                <a:avLst/>
              </a:prstGeom>
              <a:blipFill rotWithShape="0">
                <a:blip r:embed="rId5"/>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0C8920E9-2BDB-F316-636E-7635D9F33E27}"/>
              </a:ext>
            </a:extLst>
          </p:cNvPr>
          <p:cNvSpPr txBox="1"/>
          <p:nvPr/>
        </p:nvSpPr>
        <p:spPr>
          <a:xfrm>
            <a:off x="2493034" y="4692770"/>
            <a:ext cx="6280030" cy="646331"/>
          </a:xfrm>
          <a:prstGeom prst="rect">
            <a:avLst/>
          </a:prstGeom>
          <a:noFill/>
        </p:spPr>
        <p:txBody>
          <a:bodyPr wrap="square" rtlCol="0">
            <a:spAutoFit/>
          </a:bodyPr>
          <a:lstStyle/>
          <a:p>
            <a:pPr/>
            <a:r>
              <a:rPr lang="en-US" i="1" dirty="0">
                <a:solidFill>
                  <a:srgbClr val="C00000"/>
                </a:solidFill>
              </a:rPr>
              <a:t>In every case, note that these are the preferred solutions.</a:t>
            </a:r>
          </a:p>
          <a:p>
            <a:pPr/>
            <a:r>
              <a:rPr lang="en-US" i="1" dirty="0">
                <a:solidFill>
                  <a:srgbClr val="C00000"/>
                </a:solidFill>
              </a:rPr>
              <a:t>Additional solutions can be found using translations.</a:t>
            </a:r>
          </a:p>
        </p:txBody>
      </p:sp>
    </p:spTree>
    <p:extLst>
      <p:ext uri="{BB962C8B-B14F-4D97-AF65-F5344CB8AC3E}">
        <p14:creationId xmlns:p14="http://schemas.microsoft.com/office/powerpoint/2010/main" val="3195029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
                                            <p:txEl>
                                              <p:pRg st="0" end="0"/>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6"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r>
              <a:rPr lang="en-US" dirty="0">
                <a:solidFill/>
              </a:rPr>
              <a:t>Summary</a:t>
            </a:r>
          </a:p>
        </p:txBody>
      </p:sp>
      <mc:AlternateContent xmlns:mc="http://schemas.openxmlformats.org/markup-compatibility/2006" xmlns:a14="http://schemas.microsoft.com/office/drawing/2010/main">
        <mc:Choice Requires="a14">
          <p:sp>
            <p:nvSpPr>
              <p:cNvPr id="3" name="TextBox 2"/>
              <p:cNvSpPr txBox="1"/>
              <p:nvPr/>
            </p:nvSpPr>
            <p:spPr>
              <a:xfrm>
                <a:off x="1285103" y="1738178"/>
                <a:ext cx="10190205" cy="3046988"/>
              </a:xfrm>
              <a:prstGeom prst="rect">
                <a:avLst/>
              </a:prstGeom>
              <a:noFill/>
            </p:spPr>
            <p:txBody>
              <a:bodyPr wrap="square" rtlCol="0">
                <a:spAutoFit/>
              </a:bodyPr>
              <a:lstStyle/>
              <a:p>
                <a:r>
                  <a:rPr lang="en-US" sz="3200" dirty="0"/>
                  <a:t>Graphs of </a:t>
                </a:r>
                <a14:m>
                  <m:oMath xmlns:m="http://schemas.openxmlformats.org/officeDocument/2006/math">
                    <m:r>
                      <a:rPr lang="en-US" sz="3200" b="0" i="1" smtClean="0">
                        <a:latin typeface="Cambria Math" panose="02040503050406030204" pitchFamily="18" charset="0"/>
                      </a:rPr>
                      <m:t>𝑦</m:t>
                    </m:r>
                    <m:r>
                      <a:rPr lang="en-US" sz="3200" b="0" i="1" smtClean="0">
                        <a:latin typeface="Cambria Math" panose="02040503050406030204" pitchFamily="18" charset="0"/>
                      </a:rPr>
                      <m:t>=</m:t>
                    </m:r>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sin</m:t>
                        </m:r>
                      </m:fName>
                      <m:e>
                        <m:r>
                          <a:rPr lang="en-US" sz="3200" b="0" i="1" smtClean="0">
                            <a:latin typeface="Cambria Math" panose="02040503050406030204" pitchFamily="18" charset="0"/>
                          </a:rPr>
                          <m:t>𝑥</m:t>
                        </m:r>
                      </m:e>
                    </m:func>
                  </m:oMath>
                </a14:m>
                <a:r>
                  <a:rPr lang="en-US" sz="3200" dirty="0"/>
                  <a:t> and </a:t>
                </a:r>
                <a14:m>
                  <m:oMath xmlns:m="http://schemas.openxmlformats.org/officeDocument/2006/math">
                    <m:r>
                      <a:rPr lang="en-US" sz="3200" b="0" i="1" smtClean="0">
                        <a:latin typeface="Cambria Math" panose="02040503050406030204" pitchFamily="18" charset="0"/>
                      </a:rPr>
                      <m:t>𝑦</m:t>
                    </m:r>
                    <m:r>
                      <a:rPr lang="en-US" sz="3200" b="0" i="1" smtClean="0">
                        <a:latin typeface="Cambria Math" panose="02040503050406030204" pitchFamily="18" charset="0"/>
                      </a:rPr>
                      <m:t>=</m:t>
                    </m:r>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cos</m:t>
                        </m:r>
                      </m:fName>
                      <m:e>
                        <m:r>
                          <a:rPr lang="en-US" sz="3200" b="0" i="1" smtClean="0">
                            <a:latin typeface="Cambria Math" panose="02040503050406030204" pitchFamily="18" charset="0"/>
                          </a:rPr>
                          <m:t>𝑥</m:t>
                        </m:r>
                      </m:e>
                    </m:func>
                  </m:oMath>
                </a14:m>
                <a:endParaRPr lang="en-US" sz="3200" dirty="0"/>
              </a:p>
              <a:p>
                <a:pPr lvl="1"/>
                <a:r>
                  <a:rPr lang="en-US" sz="3200" dirty="0"/>
                  <a:t>	Amplitude, Period</a:t>
                </a:r>
              </a:p>
              <a:p>
                <a:pPr lvl="1"/>
                <a:r>
                  <a:rPr lang="en-US" sz="3200" dirty="0"/>
                  <a:t>	Vertical and Horizontal shifts</a:t>
                </a:r>
              </a:p>
              <a:p>
                <a:endParaRPr lang="en-US" sz="3200" dirty="0"/>
              </a:p>
              <a:p>
                <a:r>
                  <a:rPr lang="en-US" sz="3200" dirty="0"/>
                  <a:t>Modeling Oscillating Behavior with sine and cosine</a:t>
                </a:r>
              </a:p>
              <a:p>
                <a:r>
                  <a:rPr lang="en-US" sz="3200" dirty="0"/>
                  <a:t>Solving trigonometric equations with inverse trig functions</a:t>
                </a:r>
              </a:p>
            </p:txBody>
          </p:sp>
        </mc:Choice>
        <mc:Fallback xmlns="">
          <p:sp>
            <p:nvSpPr>
              <p:cNvPr id="3" name="TextBox 2"/>
              <p:cNvSpPr txBox="1">
                <a:spLocks noRot="1" noChangeAspect="1" noMove="1" noResize="1" noEditPoints="1" noAdjustHandles="1" noChangeArrowheads="1" noChangeShapeType="1" noTextEdit="1"/>
              </p:cNvSpPr>
              <p:nvPr/>
            </p:nvSpPr>
            <p:spPr>
              <a:xfrm>
                <a:off x="1285103" y="1738178"/>
                <a:ext cx="10190205" cy="3046988"/>
              </a:xfrm>
              <a:prstGeom prst="rect">
                <a:avLst/>
              </a:prstGeom>
              <a:blipFill rotWithShape="0">
                <a:blip r:embed="rId2"/>
                <a:stretch>
                  <a:fillRect l="-1556" t="-2400" b="-5600"/>
                </a:stretch>
              </a:blipFill>
            </p:spPr>
            <p:txBody>
              <a:bodyPr/>
              <a:lstStyle/>
              <a:p>
                <a:r>
                  <a:rPr lang="en-US">
                    <a:noFill/>
                  </a:rPr>
                  <a:t> </a:t>
                </a:r>
              </a:p>
            </p:txBody>
          </p:sp>
        </mc:Fallback>
      </mc:AlternateContent>
    </p:spTree>
    <p:extLst>
      <p:ext uri="{BB962C8B-B14F-4D97-AF65-F5344CB8AC3E}">
        <p14:creationId xmlns:p14="http://schemas.microsoft.com/office/powerpoint/2010/main" val="2353374809"/>
      </p:ext>
    </p:extLst>
  </p:cSld>
  <p:clrMapOvr>
    <a:masterClrMapping/>
  </p:clrMapOvr>
</p:sld>
</file>

<file path=ppt/theme/theme1.xml><?xml version="1.0" encoding="utf-8"?>
<a:theme xmlns:a="http://schemas.openxmlformats.org/drawingml/2006/main" name="Office Theme">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F6508D88AFF834D8E8D28C66AB28189" ma:contentTypeVersion="4" ma:contentTypeDescription="Create a new document." ma:contentTypeScope="" ma:versionID="94a8d0943991e044aaa2cf3276a9c4b7">
  <xsd:schema xmlns:xsd="http://www.w3.org/2001/XMLSchema" xmlns:xs="http://www.w3.org/2001/XMLSchema" xmlns:p="http://schemas.microsoft.com/office/2006/metadata/properties" xmlns:ns2="932974ae-279c-4aff-a553-9a852cf20296" targetNamespace="http://schemas.microsoft.com/office/2006/metadata/properties" ma:root="true" ma:fieldsID="c20ecc57354483f870eaf8067abf7da7" ns2:_="">
    <xsd:import namespace="932974ae-279c-4aff-a553-9a852cf2029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2974ae-279c-4aff-a553-9a852cf2029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04055E7-1331-4F5F-9352-F4B696DC9D4E}">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BFB156C-6612-4D5B-8DBC-D4A1A27FFF22}">
  <ds:schemaRefs>
    <ds:schemaRef ds:uri="http://schemas.microsoft.com/sharepoint/v3/contenttype/forms"/>
  </ds:schemaRefs>
</ds:datastoreItem>
</file>

<file path=customXml/itemProps3.xml><?xml version="1.0" encoding="utf-8"?>
<ds:datastoreItem xmlns:ds="http://schemas.openxmlformats.org/officeDocument/2006/customXml" ds:itemID="{A09B64DF-0D71-432C-88C2-1F671D9C64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32974ae-279c-4aff-a553-9a852cf2029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7863</TotalTime>
  <Words>1585</Words>
  <Application>Microsoft Office PowerPoint</Application>
  <PresentationFormat>Widescreen</PresentationFormat>
  <Paragraphs>251</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Cambria Math</vt:lpstr>
      <vt:lpstr>Office Theme</vt:lpstr>
      <vt:lpstr>Chapter 1:   Foundation for Calculus: Functions and Limits</vt:lpstr>
      <vt:lpstr>Defining Sine and Cosine</vt:lpstr>
      <vt:lpstr>Modeling Oscillating Behavior</vt:lpstr>
      <vt:lpstr>Graphs of y=sin⁡x and y=cos⁡x</vt:lpstr>
      <vt:lpstr>Amplitude and Period</vt:lpstr>
      <vt:lpstr>Sketch the Graph</vt:lpstr>
      <vt:lpstr>Question #1</vt:lpstr>
      <vt:lpstr>Question #2</vt:lpstr>
      <vt:lpstr>Finding Formulas from Graphs</vt:lpstr>
      <vt:lpstr>Question #3</vt:lpstr>
      <vt:lpstr>What About Vertical Shifts?</vt:lpstr>
      <vt:lpstr>Question #4</vt:lpstr>
      <vt:lpstr>Question #5</vt:lpstr>
      <vt:lpstr>Modeling Deer Population</vt:lpstr>
      <vt:lpstr>Question #6</vt:lpstr>
      <vt:lpstr>The Tangent Function</vt:lpstr>
      <vt:lpstr>Inverse Trig Functions</vt:lpstr>
      <vt:lpstr>Solving Trig Equations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Patti</dc:creator>
  <cp:lastModifiedBy>Great Minds</cp:lastModifiedBy>
  <cp:revision>630</cp:revision>
  <cp:lastPrinted>2020-08-03T18:05:27Z</cp:lastPrinted>
  <dcterms:created xsi:type="dcterms:W3CDTF">2020-08-02T15:00:57Z</dcterms:created>
  <dcterms:modified xsi:type="dcterms:W3CDTF">2024-10-12T12:09:42Z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0x0101006F6508D88AFF834D8E8D28C66AB28189</vt:lpwstr>
  </property>
</Properties>
</file>