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10" r:id="rId4"/>
  </p:sldMasterIdLst>
  <p:notesMasterIdLst>
    <p:notesMasterId r:id="rId55"/>
  </p:notesMasterIdLst>
  <p:sldIdLst>
    <p:sldId id="399" r:id="rId5"/>
    <p:sldId id="400" r:id="rId6"/>
    <p:sldId id="415" r:id="rId7"/>
    <p:sldId id="416" r:id="rId8"/>
    <p:sldId id="417" r:id="rId9"/>
    <p:sldId id="418" r:id="rId10"/>
    <p:sldId id="419" r:id="rId11"/>
    <p:sldId id="420" r:id="rId12"/>
    <p:sldId id="421" r:id="rId13"/>
    <p:sldId id="422" r:id="rId14"/>
    <p:sldId id="423" r:id="rId15"/>
    <p:sldId id="424" r:id="rId16"/>
    <p:sldId id="425" r:id="rId17"/>
    <p:sldId id="426" r:id="rId18"/>
    <p:sldId id="427" r:id="rId19"/>
    <p:sldId id="429" r:id="rId20"/>
    <p:sldId id="428" r:id="rId21"/>
    <p:sldId id="430" r:id="rId22"/>
    <p:sldId id="431" r:id="rId23"/>
    <p:sldId id="432" r:id="rId24"/>
    <p:sldId id="433" r:id="rId25"/>
    <p:sldId id="434" r:id="rId26"/>
    <p:sldId id="435" r:id="rId27"/>
    <p:sldId id="436" r:id="rId28"/>
    <p:sldId id="437" r:id="rId29"/>
    <p:sldId id="438" r:id="rId30"/>
    <p:sldId id="439" r:id="rId31"/>
    <p:sldId id="440" r:id="rId32"/>
    <p:sldId id="441" r:id="rId33"/>
    <p:sldId id="442" r:id="rId34"/>
    <p:sldId id="443" r:id="rId35"/>
    <p:sldId id="444" r:id="rId36"/>
    <p:sldId id="445" r:id="rId37"/>
    <p:sldId id="446" r:id="rId38"/>
    <p:sldId id="447" r:id="rId39"/>
    <p:sldId id="448" r:id="rId40"/>
    <p:sldId id="449" r:id="rId41"/>
    <p:sldId id="450" r:id="rId42"/>
    <p:sldId id="451" r:id="rId43"/>
    <p:sldId id="452" r:id="rId44"/>
    <p:sldId id="453" r:id="rId45"/>
    <p:sldId id="454" r:id="rId46"/>
    <p:sldId id="455" r:id="rId47"/>
    <p:sldId id="456" r:id="rId48"/>
    <p:sldId id="457" r:id="rId49"/>
    <p:sldId id="458" r:id="rId50"/>
    <p:sldId id="459" r:id="rId51"/>
    <p:sldId id="460" r:id="rId52"/>
    <p:sldId id="461" r:id="rId53"/>
    <p:sldId id="462"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i, Wendy" initials="LW" lastIdx="3" clrIdx="0">
    <p:extLst>
      <p:ext uri="{19B8F6BF-5375-455C-9EA6-DF929625EA0E}">
        <p15:presenceInfo xmlns:p15="http://schemas.microsoft.com/office/powerpoint/2012/main" userId="S::welai@wiley.com::a5371048-0c99-493d-8b6a-2e0d44ed8fc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A6C0B7"/>
    <a:srgbClr val="C0694F"/>
    <a:srgbClr val="007440"/>
    <a:srgbClr val="2326C0"/>
    <a:srgbClr val="0F4FB1"/>
    <a:srgbClr val="8B4B3B"/>
    <a:srgbClr val="D29D65"/>
    <a:srgbClr val="016F1F"/>
    <a:srgbClr val="CBDDE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832" autoAdjust="0"/>
    <p:restoredTop sz="93447" autoAdjust="0"/>
  </p:normalViewPr>
  <p:slideViewPr>
    <p:cSldViewPr snapToGrid="0" snapToObjects="1">
      <p:cViewPr varScale="1">
        <p:scale>
          <a:sx n="29" d="100"/>
          <a:sy n="29" d="100"/>
        </p:scale>
        <p:origin x="964" y="40"/>
      </p:cViewPr>
      <p:guideLst/>
    </p:cSldViewPr>
  </p:slideViewPr>
  <p:outlineViewPr>
    <p:cViewPr>
      <p:scale>
        <a:sx n="33" d="100"/>
        <a:sy n="33" d="100"/>
      </p:scale>
      <p:origin x="0" y="0"/>
    </p:cViewPr>
  </p:outlineViewPr>
  <p:notesTextViewPr>
    <p:cViewPr>
      <p:scale>
        <a:sx n="85" d="100"/>
        <a:sy n="85"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notesMaster" Target="notesMasters/notesMaster1.xml"/><Relationship Id="rId56" Type="http://schemas.openxmlformats.org/officeDocument/2006/relationships/commentAuthors" Target="commentAuthors.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Times"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Times" pitchFamily="2" charset="0"/>
              </a:defRPr>
            </a:lvl1pPr>
          </a:lstStyle>
          <a:p>
            <a:fld id="{4EFE1D2D-E1D2-EB4D-B872-60B7945D79A5}" type="datetimeFigureOut">
              <a:rPr lang="en-US" smtClean="0"/>
              <a:pPr/>
              <a:t>9/28/2026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Times"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Times" pitchFamily="2" charset="0"/>
              </a:defRPr>
            </a:lvl1pPr>
          </a:lstStyle>
          <a:p>
            <a:fld id="{688C51AE-C483-2D4F-8F27-8D6A8821F4E1}" type="slidenum">
              <a:rPr lang="en-US" smtClean="0"/>
              <a:pPr/>
              <a:t>‹#›</a:t>
            </a:fld>
            <a:endParaRPr lang="en-US" dirty="0"/>
          </a:p>
        </p:txBody>
      </p:sp>
    </p:spTree>
    <p:extLst>
      <p:ext uri="{BB962C8B-B14F-4D97-AF65-F5344CB8AC3E}">
        <p14:creationId xmlns:p14="http://schemas.microsoft.com/office/powerpoint/2010/main" val="3514066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Times" pitchFamily="2" charset="0"/>
        <a:ea typeface="+mn-ea"/>
        <a:cs typeface="+mn-cs"/>
      </a:defRPr>
    </a:lvl1pPr>
    <a:lvl2pPr marL="457200" algn="l" defTabSz="914400" rtl="0" eaLnBrk="1" latinLnBrk="0" hangingPunct="1">
      <a:defRPr sz="1200" b="0" i="0" kern="1200">
        <a:solidFill>
          <a:schemeClr val="tx1"/>
        </a:solidFill>
        <a:latin typeface="Times" pitchFamily="2" charset="0"/>
        <a:ea typeface="+mn-ea"/>
        <a:cs typeface="+mn-cs"/>
      </a:defRPr>
    </a:lvl2pPr>
    <a:lvl3pPr marL="914400" algn="l" defTabSz="914400" rtl="0" eaLnBrk="1" latinLnBrk="0" hangingPunct="1">
      <a:defRPr sz="1200" b="0" i="0" kern="1200">
        <a:solidFill>
          <a:schemeClr val="tx1"/>
        </a:solidFill>
        <a:latin typeface="Times" pitchFamily="2" charset="0"/>
        <a:ea typeface="+mn-ea"/>
        <a:cs typeface="+mn-cs"/>
      </a:defRPr>
    </a:lvl3pPr>
    <a:lvl4pPr marL="1371600" algn="l" defTabSz="914400" rtl="0" eaLnBrk="1" latinLnBrk="0" hangingPunct="1">
      <a:defRPr sz="1200" b="0" i="0" kern="1200">
        <a:solidFill>
          <a:schemeClr val="tx1"/>
        </a:solidFill>
        <a:latin typeface="Times" pitchFamily="2" charset="0"/>
        <a:ea typeface="+mn-ea"/>
        <a:cs typeface="+mn-cs"/>
      </a:defRPr>
    </a:lvl4pPr>
    <a:lvl5pPr marL="1828800" algn="l" defTabSz="914400" rtl="0" eaLnBrk="1" latinLnBrk="0" hangingPunct="1">
      <a:defRPr sz="1200" b="0" i="0" kern="1200">
        <a:solidFill>
          <a:schemeClr val="tx1"/>
        </a:solidFill>
        <a:latin typeface="Times"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00E68-2FB7-95B5-B3FC-F6FAE1A12F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275D39-9C9E-D9CD-03D0-792AF940376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E7AD7FA-0F10-D90E-0399-32A34AF452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D0C496-EDD1-CFD9-D22A-54F12F562B14}"/>
              </a:ext>
            </a:extLst>
          </p:cNvPr>
          <p:cNvSpPr>
            <a:spLocks noGrp="1"/>
          </p:cNvSpPr>
          <p:nvPr>
            <p:ph type="sldNum" sz="quarter" idx="5"/>
          </p:nvPr>
        </p:nvSpPr>
        <p:spPr/>
        <p:txBody>
          <a:bodyPr/>
          <a:lstStyle/>
          <a:p>
            <a:fld id="{688C51AE-C483-2D4F-8F27-8D6A8821F4E1}" type="slidenum">
              <a:rPr lang="en-US" smtClean="0"/>
              <a:t>1</a:t>
            </a:fld>
            <a:endParaRPr lang="en-US"/>
          </a:p>
        </p:txBody>
      </p:sp>
    </p:spTree>
    <p:extLst>
      <p:ext uri="{BB962C8B-B14F-4D97-AF65-F5344CB8AC3E}">
        <p14:creationId xmlns:p14="http://schemas.microsoft.com/office/powerpoint/2010/main" val="2443933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39F69-19E9-71AB-4339-F8676131C5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45A315-98C0-EE49-3CC6-EE619E2F4EE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796ABB2-D494-CE78-271B-F4EECC3F3C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28D170-2DDC-EF1D-0C15-21032C27EAF7}"/>
              </a:ext>
            </a:extLst>
          </p:cNvPr>
          <p:cNvSpPr>
            <a:spLocks noGrp="1"/>
          </p:cNvSpPr>
          <p:nvPr>
            <p:ph type="sldNum" sz="quarter" idx="5"/>
          </p:nvPr>
        </p:nvSpPr>
        <p:spPr/>
        <p:txBody>
          <a:bodyPr/>
          <a:lstStyle/>
          <a:p>
            <a:fld id="{688C51AE-C483-2D4F-8F27-8D6A8821F4E1}" type="slidenum">
              <a:rPr lang="en-US" smtClean="0"/>
              <a:t>2</a:t>
            </a:fld>
            <a:endParaRPr lang="en-US"/>
          </a:p>
        </p:txBody>
      </p:sp>
    </p:spTree>
    <p:extLst>
      <p:ext uri="{BB962C8B-B14F-4D97-AF65-F5344CB8AC3E}">
        <p14:creationId xmlns:p14="http://schemas.microsoft.com/office/powerpoint/2010/main" val="3649493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22DFA-AC70-4B1A-7274-6C2EF89D98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D1E55-1CCB-24E1-D471-BA763C36E89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C42B4F4-BF6C-55F9-DB6A-A15ABE5A26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DB56EA-BD8E-14F6-7D63-99264660FC63}"/>
              </a:ext>
            </a:extLst>
          </p:cNvPr>
          <p:cNvSpPr>
            <a:spLocks noGrp="1"/>
          </p:cNvSpPr>
          <p:nvPr>
            <p:ph type="sldNum" sz="quarter" idx="5"/>
          </p:nvPr>
        </p:nvSpPr>
        <p:spPr/>
        <p:txBody>
          <a:bodyPr/>
          <a:lstStyle/>
          <a:p>
            <a:fld id="{688C51AE-C483-2D4F-8F27-8D6A8821F4E1}" type="slidenum">
              <a:rPr lang="en-US" smtClean="0"/>
              <a:t>3</a:t>
            </a:fld>
            <a:endParaRPr lang="en-US"/>
          </a:p>
        </p:txBody>
      </p:sp>
    </p:spTree>
    <p:extLst>
      <p:ext uri="{BB962C8B-B14F-4D97-AF65-F5344CB8AC3E}">
        <p14:creationId xmlns:p14="http://schemas.microsoft.com/office/powerpoint/2010/main" val="25040539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22D8C-B610-B4DD-7927-6723231183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BE814A-FF31-8F11-1D0E-EA1FD416857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595D718-AB95-6F92-5E57-EBF731EEE0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E89609-CC91-39B4-F98B-3BA0EF268F79}"/>
              </a:ext>
            </a:extLst>
          </p:cNvPr>
          <p:cNvSpPr>
            <a:spLocks noGrp="1"/>
          </p:cNvSpPr>
          <p:nvPr>
            <p:ph type="sldNum" sz="quarter" idx="5"/>
          </p:nvPr>
        </p:nvSpPr>
        <p:spPr/>
        <p:txBody>
          <a:bodyPr/>
          <a:lstStyle/>
          <a:p>
            <a:fld id="{688C51AE-C483-2D4F-8F27-8D6A8821F4E1}" type="slidenum">
              <a:rPr lang="en-US" smtClean="0"/>
              <a:t>4</a:t>
            </a:fld>
            <a:endParaRPr lang="en-US"/>
          </a:p>
        </p:txBody>
      </p:sp>
    </p:spTree>
    <p:extLst>
      <p:ext uri="{BB962C8B-B14F-4D97-AF65-F5344CB8AC3E}">
        <p14:creationId xmlns:p14="http://schemas.microsoft.com/office/powerpoint/2010/main" val="10546731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94CD4-380A-3033-6424-6FA71B9166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DFCB6-2229-6246-2BB6-A8E760027F0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33CB30F-5944-3601-79D3-B90753915F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94A0A9-5296-FAE6-461F-81CE0B4A78D7}"/>
              </a:ext>
            </a:extLst>
          </p:cNvPr>
          <p:cNvSpPr>
            <a:spLocks noGrp="1"/>
          </p:cNvSpPr>
          <p:nvPr>
            <p:ph type="sldNum" sz="quarter" idx="5"/>
          </p:nvPr>
        </p:nvSpPr>
        <p:spPr/>
        <p:txBody>
          <a:bodyPr/>
          <a:lstStyle/>
          <a:p>
            <a:fld id="{688C51AE-C483-2D4F-8F27-8D6A8821F4E1}" type="slidenum">
              <a:rPr lang="en-US" smtClean="0"/>
              <a:t>5</a:t>
            </a:fld>
            <a:endParaRPr lang="en-US"/>
          </a:p>
        </p:txBody>
      </p:sp>
    </p:spTree>
    <p:extLst>
      <p:ext uri="{BB962C8B-B14F-4D97-AF65-F5344CB8AC3E}">
        <p14:creationId xmlns:p14="http://schemas.microsoft.com/office/powerpoint/2010/main" val="3659486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C2C23-D1E4-8C9E-EF4C-D72B0A17FE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6C4E79-ECD8-9943-50AE-BC0FD09BE85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AC8F404-39BC-1430-9CAD-D74713F8B1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1E8054-B1FC-1E35-3B76-357CE5CBE31F}"/>
              </a:ext>
            </a:extLst>
          </p:cNvPr>
          <p:cNvSpPr>
            <a:spLocks noGrp="1"/>
          </p:cNvSpPr>
          <p:nvPr>
            <p:ph type="sldNum" sz="quarter" idx="5"/>
          </p:nvPr>
        </p:nvSpPr>
        <p:spPr/>
        <p:txBody>
          <a:bodyPr/>
          <a:lstStyle/>
          <a:p>
            <a:fld id="{688C51AE-C483-2D4F-8F27-8D6A8821F4E1}" type="slidenum">
              <a:rPr lang="en-US" smtClean="0"/>
              <a:t>6</a:t>
            </a:fld>
            <a:endParaRPr lang="en-US"/>
          </a:p>
        </p:txBody>
      </p:sp>
    </p:spTree>
    <p:extLst>
      <p:ext uri="{BB962C8B-B14F-4D97-AF65-F5344CB8AC3E}">
        <p14:creationId xmlns:p14="http://schemas.microsoft.com/office/powerpoint/2010/main" val="2565577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6D94E-CA7D-C159-2AC1-194F4BD38A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D48B51-EB8E-BC45-605C-01DA7C0AB9C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6254E33-DE6C-6B42-8A4D-946A192B5D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37E2DA-717B-11B7-12C8-2036BF99EB44}"/>
              </a:ext>
            </a:extLst>
          </p:cNvPr>
          <p:cNvSpPr>
            <a:spLocks noGrp="1"/>
          </p:cNvSpPr>
          <p:nvPr>
            <p:ph type="sldNum" sz="quarter" idx="5"/>
          </p:nvPr>
        </p:nvSpPr>
        <p:spPr/>
        <p:txBody>
          <a:bodyPr/>
          <a:lstStyle/>
          <a:p>
            <a:fld id="{688C51AE-C483-2D4F-8F27-8D6A8821F4E1}" type="slidenum">
              <a:rPr lang="en-US" smtClean="0"/>
              <a:t>7</a:t>
            </a:fld>
            <a:endParaRPr lang="en-US"/>
          </a:p>
        </p:txBody>
      </p:sp>
    </p:spTree>
    <p:extLst>
      <p:ext uri="{BB962C8B-B14F-4D97-AF65-F5344CB8AC3E}">
        <p14:creationId xmlns:p14="http://schemas.microsoft.com/office/powerpoint/2010/main" val="3416492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17064-F3DD-1EFA-B095-ABD77A9393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0774B8-ACB1-472F-64FC-8286F2D769F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0AAC795-4B87-EB2E-1726-0A8D28D4DD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D3F2B7-D800-E5E2-95E5-E34683AA03C0}"/>
              </a:ext>
            </a:extLst>
          </p:cNvPr>
          <p:cNvSpPr>
            <a:spLocks noGrp="1"/>
          </p:cNvSpPr>
          <p:nvPr>
            <p:ph type="sldNum" sz="quarter" idx="5"/>
          </p:nvPr>
        </p:nvSpPr>
        <p:spPr/>
        <p:txBody>
          <a:bodyPr/>
          <a:lstStyle/>
          <a:p>
            <a:fld id="{688C51AE-C483-2D4F-8F27-8D6A8821F4E1}" type="slidenum">
              <a:rPr lang="en-US" smtClean="0"/>
              <a:t>8</a:t>
            </a:fld>
            <a:endParaRPr lang="en-US"/>
          </a:p>
        </p:txBody>
      </p:sp>
    </p:spTree>
    <p:extLst>
      <p:ext uri="{BB962C8B-B14F-4D97-AF65-F5344CB8AC3E}">
        <p14:creationId xmlns:p14="http://schemas.microsoft.com/office/powerpoint/2010/main" val="26476959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35C0D-169C-1D29-E2AA-2197C2E876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981E32-85FA-C163-C818-94F6F928438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0603CA9-7B63-0FFA-D1F2-86BE0D4DE8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0A983A-3655-B46A-CE8C-955BE5D75DD3}"/>
              </a:ext>
            </a:extLst>
          </p:cNvPr>
          <p:cNvSpPr>
            <a:spLocks noGrp="1"/>
          </p:cNvSpPr>
          <p:nvPr>
            <p:ph type="sldNum" sz="quarter" idx="5"/>
          </p:nvPr>
        </p:nvSpPr>
        <p:spPr/>
        <p:txBody>
          <a:bodyPr/>
          <a:lstStyle/>
          <a:p>
            <a:fld id="{688C51AE-C483-2D4F-8F27-8D6A8821F4E1}" type="slidenum">
              <a:rPr lang="en-US" smtClean="0"/>
              <a:t>9</a:t>
            </a:fld>
            <a:endParaRPr lang="en-US"/>
          </a:p>
        </p:txBody>
      </p:sp>
    </p:spTree>
    <p:extLst>
      <p:ext uri="{BB962C8B-B14F-4D97-AF65-F5344CB8AC3E}">
        <p14:creationId xmlns:p14="http://schemas.microsoft.com/office/powerpoint/2010/main" val="18571584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ACA2A-4EF3-A0D5-F131-8E8D92FFF3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0D624C-BF94-6EBC-B10E-B855FE997C2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0ABBD66-AEB9-861D-913B-A2ECD8A7A9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3AF2F1-A3A6-2D67-A461-FFE4D5848DEF}"/>
              </a:ext>
            </a:extLst>
          </p:cNvPr>
          <p:cNvSpPr>
            <a:spLocks noGrp="1"/>
          </p:cNvSpPr>
          <p:nvPr>
            <p:ph type="sldNum" sz="quarter" idx="5"/>
          </p:nvPr>
        </p:nvSpPr>
        <p:spPr/>
        <p:txBody>
          <a:bodyPr/>
          <a:lstStyle/>
          <a:p>
            <a:fld id="{688C51AE-C483-2D4F-8F27-8D6A8821F4E1}" type="slidenum">
              <a:rPr lang="en-US" smtClean="0"/>
              <a:t>10</a:t>
            </a:fld>
            <a:endParaRPr lang="en-US"/>
          </a:p>
        </p:txBody>
      </p:sp>
    </p:spTree>
    <p:extLst>
      <p:ext uri="{BB962C8B-B14F-4D97-AF65-F5344CB8AC3E}">
        <p14:creationId xmlns:p14="http://schemas.microsoft.com/office/powerpoint/2010/main" val="2131037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BA177-44BF-7912-86D3-CC1788354B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DDEE96-6102-71D0-834B-5B5AC8ED62E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C908138-C300-0322-5A0C-9593FB7BD1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7452A3-73B9-6149-6B70-FB0B8954F629}"/>
              </a:ext>
            </a:extLst>
          </p:cNvPr>
          <p:cNvSpPr>
            <a:spLocks noGrp="1"/>
          </p:cNvSpPr>
          <p:nvPr>
            <p:ph type="sldNum" sz="quarter" idx="5"/>
          </p:nvPr>
        </p:nvSpPr>
        <p:spPr/>
        <p:txBody>
          <a:bodyPr/>
          <a:lstStyle/>
          <a:p>
            <a:fld id="{688C51AE-C483-2D4F-8F27-8D6A8821F4E1}" type="slidenum">
              <a:rPr lang="en-US" smtClean="0"/>
              <a:t>11</a:t>
            </a:fld>
            <a:endParaRPr lang="en-US"/>
          </a:p>
        </p:txBody>
      </p:sp>
    </p:spTree>
    <p:extLst>
      <p:ext uri="{BB962C8B-B14F-4D97-AF65-F5344CB8AC3E}">
        <p14:creationId xmlns:p14="http://schemas.microsoft.com/office/powerpoint/2010/main" val="9598844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EED89-4ACD-C791-4312-8482E8C962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A9BCAE-C69B-BBF0-BD9E-92E602E7858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2B481B0-CBBA-94F3-AA9F-4DC903E958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4E746B-2A01-63F5-EDB2-2E9FB63B9550}"/>
              </a:ext>
            </a:extLst>
          </p:cNvPr>
          <p:cNvSpPr>
            <a:spLocks noGrp="1"/>
          </p:cNvSpPr>
          <p:nvPr>
            <p:ph type="sldNum" sz="quarter" idx="5"/>
          </p:nvPr>
        </p:nvSpPr>
        <p:spPr/>
        <p:txBody>
          <a:bodyPr/>
          <a:lstStyle/>
          <a:p>
            <a:fld id="{688C51AE-C483-2D4F-8F27-8D6A8821F4E1}" type="slidenum">
              <a:rPr lang="en-US" smtClean="0"/>
              <a:t>12</a:t>
            </a:fld>
            <a:endParaRPr lang="en-US"/>
          </a:p>
        </p:txBody>
      </p:sp>
    </p:spTree>
    <p:extLst>
      <p:ext uri="{BB962C8B-B14F-4D97-AF65-F5344CB8AC3E}">
        <p14:creationId xmlns:p14="http://schemas.microsoft.com/office/powerpoint/2010/main" val="27056018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5A047-BA13-E46B-B830-459870888A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2CE59C-2808-E6B7-EDF1-12A452DB357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0F4CE8A-76E2-C566-BBD1-5ACFDB3D36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824351-1D55-A386-2D15-ECA3674AED03}"/>
              </a:ext>
            </a:extLst>
          </p:cNvPr>
          <p:cNvSpPr>
            <a:spLocks noGrp="1"/>
          </p:cNvSpPr>
          <p:nvPr>
            <p:ph type="sldNum" sz="quarter" idx="5"/>
          </p:nvPr>
        </p:nvSpPr>
        <p:spPr/>
        <p:txBody>
          <a:bodyPr/>
          <a:lstStyle/>
          <a:p>
            <a:fld id="{688C51AE-C483-2D4F-8F27-8D6A8821F4E1}" type="slidenum">
              <a:rPr lang="en-US" smtClean="0"/>
              <a:t>13</a:t>
            </a:fld>
            <a:endParaRPr lang="en-US"/>
          </a:p>
        </p:txBody>
      </p:sp>
    </p:spTree>
    <p:extLst>
      <p:ext uri="{BB962C8B-B14F-4D97-AF65-F5344CB8AC3E}">
        <p14:creationId xmlns:p14="http://schemas.microsoft.com/office/powerpoint/2010/main" val="3512224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18F13-153C-FCD2-C437-0B482C3CA4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AB3047-2279-8462-B007-E688E48A175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A37EBD3-6614-3F63-5A18-53C86D1E46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F2D4A3-56E6-8860-873A-C8C5A6CACF1C}"/>
              </a:ext>
            </a:extLst>
          </p:cNvPr>
          <p:cNvSpPr>
            <a:spLocks noGrp="1"/>
          </p:cNvSpPr>
          <p:nvPr>
            <p:ph type="sldNum" sz="quarter" idx="5"/>
          </p:nvPr>
        </p:nvSpPr>
        <p:spPr/>
        <p:txBody>
          <a:bodyPr/>
          <a:lstStyle/>
          <a:p>
            <a:fld id="{688C51AE-C483-2D4F-8F27-8D6A8821F4E1}" type="slidenum">
              <a:rPr lang="en-US" smtClean="0"/>
              <a:t>14</a:t>
            </a:fld>
            <a:endParaRPr lang="en-US"/>
          </a:p>
        </p:txBody>
      </p:sp>
    </p:spTree>
    <p:extLst>
      <p:ext uri="{BB962C8B-B14F-4D97-AF65-F5344CB8AC3E}">
        <p14:creationId xmlns:p14="http://schemas.microsoft.com/office/powerpoint/2010/main" val="21104544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FE07B-5890-1533-AE09-ED1E131C7A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C11C6A-706D-491C-9AC2-736B187EC4E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7665081-1C82-9CA1-613B-ADA03C9377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434BFF-0DFB-0D58-2634-C91FE8442BE9}"/>
              </a:ext>
            </a:extLst>
          </p:cNvPr>
          <p:cNvSpPr>
            <a:spLocks noGrp="1"/>
          </p:cNvSpPr>
          <p:nvPr>
            <p:ph type="sldNum" sz="quarter" idx="5"/>
          </p:nvPr>
        </p:nvSpPr>
        <p:spPr/>
        <p:txBody>
          <a:bodyPr/>
          <a:lstStyle/>
          <a:p>
            <a:fld id="{688C51AE-C483-2D4F-8F27-8D6A8821F4E1}" type="slidenum">
              <a:rPr lang="en-US" smtClean="0"/>
              <a:t>15</a:t>
            </a:fld>
            <a:endParaRPr lang="en-US"/>
          </a:p>
        </p:txBody>
      </p:sp>
    </p:spTree>
    <p:extLst>
      <p:ext uri="{BB962C8B-B14F-4D97-AF65-F5344CB8AC3E}">
        <p14:creationId xmlns:p14="http://schemas.microsoft.com/office/powerpoint/2010/main" val="25792878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6D40F-7CD4-F844-862B-39EF2F4191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8AB548-CEA0-DC08-618F-546FAF566BC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63980C2-D77C-447A-6D05-417A91D702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F838B7-F03D-79EF-BBEB-9BF8BD8FEB50}"/>
              </a:ext>
            </a:extLst>
          </p:cNvPr>
          <p:cNvSpPr>
            <a:spLocks noGrp="1"/>
          </p:cNvSpPr>
          <p:nvPr>
            <p:ph type="sldNum" sz="quarter" idx="5"/>
          </p:nvPr>
        </p:nvSpPr>
        <p:spPr/>
        <p:txBody>
          <a:bodyPr/>
          <a:lstStyle/>
          <a:p>
            <a:fld id="{688C51AE-C483-2D4F-8F27-8D6A8821F4E1}" type="slidenum">
              <a:rPr lang="en-US" smtClean="0"/>
              <a:t>16</a:t>
            </a:fld>
            <a:endParaRPr lang="en-US"/>
          </a:p>
        </p:txBody>
      </p:sp>
    </p:spTree>
    <p:extLst>
      <p:ext uri="{BB962C8B-B14F-4D97-AF65-F5344CB8AC3E}">
        <p14:creationId xmlns:p14="http://schemas.microsoft.com/office/powerpoint/2010/main" val="8343797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19E40-47BA-3414-74F0-B2F342CE99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062888-465B-7DEA-CECB-9436B8823FE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60BD4D4-A3C3-AA14-CF65-A71EE62CF1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64D411-088A-E525-CD5C-3414D931E4B2}"/>
              </a:ext>
            </a:extLst>
          </p:cNvPr>
          <p:cNvSpPr>
            <a:spLocks noGrp="1"/>
          </p:cNvSpPr>
          <p:nvPr>
            <p:ph type="sldNum" sz="quarter" idx="5"/>
          </p:nvPr>
        </p:nvSpPr>
        <p:spPr/>
        <p:txBody>
          <a:bodyPr/>
          <a:lstStyle/>
          <a:p>
            <a:fld id="{688C51AE-C483-2D4F-8F27-8D6A8821F4E1}" type="slidenum">
              <a:rPr lang="en-US" smtClean="0"/>
              <a:t>17</a:t>
            </a:fld>
            <a:endParaRPr lang="en-US"/>
          </a:p>
        </p:txBody>
      </p:sp>
    </p:spTree>
    <p:extLst>
      <p:ext uri="{BB962C8B-B14F-4D97-AF65-F5344CB8AC3E}">
        <p14:creationId xmlns:p14="http://schemas.microsoft.com/office/powerpoint/2010/main" val="32660061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C7E2A-7F6A-6839-6AA5-194F3C8FF8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2B4166-354B-E901-468F-166FFC9CE6B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CD1F8D9-00DB-3803-FC9A-D4B6C1F8A5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453F8E-7807-93A7-62B1-84D6BF5617D1}"/>
              </a:ext>
            </a:extLst>
          </p:cNvPr>
          <p:cNvSpPr>
            <a:spLocks noGrp="1"/>
          </p:cNvSpPr>
          <p:nvPr>
            <p:ph type="sldNum" sz="quarter" idx="5"/>
          </p:nvPr>
        </p:nvSpPr>
        <p:spPr/>
        <p:txBody>
          <a:bodyPr/>
          <a:lstStyle/>
          <a:p>
            <a:fld id="{688C51AE-C483-2D4F-8F27-8D6A8821F4E1}" type="slidenum">
              <a:rPr lang="en-US" smtClean="0"/>
              <a:t>18</a:t>
            </a:fld>
            <a:endParaRPr lang="en-US"/>
          </a:p>
        </p:txBody>
      </p:sp>
    </p:spTree>
    <p:extLst>
      <p:ext uri="{BB962C8B-B14F-4D97-AF65-F5344CB8AC3E}">
        <p14:creationId xmlns:p14="http://schemas.microsoft.com/office/powerpoint/2010/main" val="9282081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4D1AA-D73A-063B-AC0A-6AA828DCCF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C4B4A1-CBD7-00EB-5BC4-41276E8A7E2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944B387-9033-701E-C06F-3BA43DFEC3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050D06-C0D7-1EE5-D054-808F266732A6}"/>
              </a:ext>
            </a:extLst>
          </p:cNvPr>
          <p:cNvSpPr>
            <a:spLocks noGrp="1"/>
          </p:cNvSpPr>
          <p:nvPr>
            <p:ph type="sldNum" sz="quarter" idx="5"/>
          </p:nvPr>
        </p:nvSpPr>
        <p:spPr/>
        <p:txBody>
          <a:bodyPr/>
          <a:lstStyle/>
          <a:p>
            <a:fld id="{688C51AE-C483-2D4F-8F27-8D6A8821F4E1}" type="slidenum">
              <a:rPr lang="en-US" smtClean="0"/>
              <a:t>19</a:t>
            </a:fld>
            <a:endParaRPr lang="en-US"/>
          </a:p>
        </p:txBody>
      </p:sp>
    </p:spTree>
    <p:extLst>
      <p:ext uri="{BB962C8B-B14F-4D97-AF65-F5344CB8AC3E}">
        <p14:creationId xmlns:p14="http://schemas.microsoft.com/office/powerpoint/2010/main" val="30884720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07A37-A73B-FDAA-A7FF-863E09DCC2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AE24E1-4FF1-6F03-7A75-59605BD972B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E53C24A-E751-CAE8-1DAA-0D9F0E80C8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D3BC93-AFC3-0A75-EC44-FD42F4EB28D2}"/>
              </a:ext>
            </a:extLst>
          </p:cNvPr>
          <p:cNvSpPr>
            <a:spLocks noGrp="1"/>
          </p:cNvSpPr>
          <p:nvPr>
            <p:ph type="sldNum" sz="quarter" idx="5"/>
          </p:nvPr>
        </p:nvSpPr>
        <p:spPr/>
        <p:txBody>
          <a:bodyPr/>
          <a:lstStyle/>
          <a:p>
            <a:fld id="{688C51AE-C483-2D4F-8F27-8D6A8821F4E1}" type="slidenum">
              <a:rPr lang="en-US" smtClean="0"/>
              <a:t>20</a:t>
            </a:fld>
            <a:endParaRPr lang="en-US"/>
          </a:p>
        </p:txBody>
      </p:sp>
    </p:spTree>
    <p:extLst>
      <p:ext uri="{BB962C8B-B14F-4D97-AF65-F5344CB8AC3E}">
        <p14:creationId xmlns:p14="http://schemas.microsoft.com/office/powerpoint/2010/main" val="24137439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D3B2B-5E9C-5E11-892C-7E4F2DAA77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BA7E1B-036E-EFA8-8BF8-F8017AE166E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E489C17-FE5D-981C-AC6E-3A1C7C7E6B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2EE981-92CA-6913-7AA8-2EDC69BEBF1D}"/>
              </a:ext>
            </a:extLst>
          </p:cNvPr>
          <p:cNvSpPr>
            <a:spLocks noGrp="1"/>
          </p:cNvSpPr>
          <p:nvPr>
            <p:ph type="sldNum" sz="quarter" idx="5"/>
          </p:nvPr>
        </p:nvSpPr>
        <p:spPr/>
        <p:txBody>
          <a:bodyPr/>
          <a:lstStyle/>
          <a:p>
            <a:fld id="{688C51AE-C483-2D4F-8F27-8D6A8821F4E1}" type="slidenum">
              <a:rPr lang="en-US" smtClean="0"/>
              <a:t>21</a:t>
            </a:fld>
            <a:endParaRPr lang="en-US"/>
          </a:p>
        </p:txBody>
      </p:sp>
    </p:spTree>
    <p:extLst>
      <p:ext uri="{BB962C8B-B14F-4D97-AF65-F5344CB8AC3E}">
        <p14:creationId xmlns:p14="http://schemas.microsoft.com/office/powerpoint/2010/main" val="42923786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E0AB5-CFC5-306C-39B7-2D3F00BF03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BF80FD-E7D0-63F6-0218-DBCDE5E22E1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431A3E8-3BEE-FC63-05FE-C603544AAF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EB71F7-6F15-CDE7-143B-E26782A6EFF0}"/>
              </a:ext>
            </a:extLst>
          </p:cNvPr>
          <p:cNvSpPr>
            <a:spLocks noGrp="1"/>
          </p:cNvSpPr>
          <p:nvPr>
            <p:ph type="sldNum" sz="quarter" idx="5"/>
          </p:nvPr>
        </p:nvSpPr>
        <p:spPr/>
        <p:txBody>
          <a:bodyPr/>
          <a:lstStyle/>
          <a:p>
            <a:fld id="{688C51AE-C483-2D4F-8F27-8D6A8821F4E1}" type="slidenum">
              <a:rPr lang="en-US" smtClean="0"/>
              <a:t>22</a:t>
            </a:fld>
            <a:endParaRPr lang="en-US"/>
          </a:p>
        </p:txBody>
      </p:sp>
    </p:spTree>
    <p:extLst>
      <p:ext uri="{BB962C8B-B14F-4D97-AF65-F5344CB8AC3E}">
        <p14:creationId xmlns:p14="http://schemas.microsoft.com/office/powerpoint/2010/main" val="28760594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D6074-CE3F-9C1B-3B97-67259CF147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234E93-8840-CCFC-4BA4-D986F6310E0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8B0FC92-934E-FE7F-ECE7-F9530504C6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24E5A2-3726-5599-EA07-BD6AFAFB101B}"/>
              </a:ext>
            </a:extLst>
          </p:cNvPr>
          <p:cNvSpPr>
            <a:spLocks noGrp="1"/>
          </p:cNvSpPr>
          <p:nvPr>
            <p:ph type="sldNum" sz="quarter" idx="5"/>
          </p:nvPr>
        </p:nvSpPr>
        <p:spPr/>
        <p:txBody>
          <a:bodyPr/>
          <a:lstStyle/>
          <a:p>
            <a:fld id="{688C51AE-C483-2D4F-8F27-8D6A8821F4E1}" type="slidenum">
              <a:rPr lang="en-US" smtClean="0"/>
              <a:t>23</a:t>
            </a:fld>
            <a:endParaRPr lang="en-US"/>
          </a:p>
        </p:txBody>
      </p:sp>
    </p:spTree>
    <p:extLst>
      <p:ext uri="{BB962C8B-B14F-4D97-AF65-F5344CB8AC3E}">
        <p14:creationId xmlns:p14="http://schemas.microsoft.com/office/powerpoint/2010/main" val="28369831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78C71-0C4B-CF86-90E5-70A2B694A6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B67C82-3279-5F60-2705-F08697902B3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C1CAF9D-31AB-1E18-05D9-E2327239F8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76D510-35C0-EE06-FD1C-3CEDF6CA9AEF}"/>
              </a:ext>
            </a:extLst>
          </p:cNvPr>
          <p:cNvSpPr>
            <a:spLocks noGrp="1"/>
          </p:cNvSpPr>
          <p:nvPr>
            <p:ph type="sldNum" sz="quarter" idx="5"/>
          </p:nvPr>
        </p:nvSpPr>
        <p:spPr/>
        <p:txBody>
          <a:bodyPr/>
          <a:lstStyle/>
          <a:p>
            <a:fld id="{688C51AE-C483-2D4F-8F27-8D6A8821F4E1}" type="slidenum">
              <a:rPr lang="en-US" smtClean="0"/>
              <a:t>24</a:t>
            </a:fld>
            <a:endParaRPr lang="en-US"/>
          </a:p>
        </p:txBody>
      </p:sp>
    </p:spTree>
    <p:extLst>
      <p:ext uri="{BB962C8B-B14F-4D97-AF65-F5344CB8AC3E}">
        <p14:creationId xmlns:p14="http://schemas.microsoft.com/office/powerpoint/2010/main" val="8115844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A4156-5593-ECE8-A5B8-46A738E931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0F1614-DA8E-4A28-B1B1-207723697B8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25B9DE0-8DB6-0EEA-52AA-747152CFD0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F4BC35-3C02-C0FA-5B99-B4DFBB41A69A}"/>
              </a:ext>
            </a:extLst>
          </p:cNvPr>
          <p:cNvSpPr>
            <a:spLocks noGrp="1"/>
          </p:cNvSpPr>
          <p:nvPr>
            <p:ph type="sldNum" sz="quarter" idx="5"/>
          </p:nvPr>
        </p:nvSpPr>
        <p:spPr/>
        <p:txBody>
          <a:bodyPr/>
          <a:lstStyle/>
          <a:p>
            <a:fld id="{688C51AE-C483-2D4F-8F27-8D6A8821F4E1}" type="slidenum">
              <a:rPr lang="en-US" smtClean="0"/>
              <a:t>25</a:t>
            </a:fld>
            <a:endParaRPr lang="en-US"/>
          </a:p>
        </p:txBody>
      </p:sp>
    </p:spTree>
    <p:extLst>
      <p:ext uri="{BB962C8B-B14F-4D97-AF65-F5344CB8AC3E}">
        <p14:creationId xmlns:p14="http://schemas.microsoft.com/office/powerpoint/2010/main" val="32786551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AD806-E7A1-A8CD-FECE-361FC0D5F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DA17C-E7C5-F156-37DC-AB181537E00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97A2A83-EA2E-EE9D-7C4F-34E4EDA5D5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1382CA-4EE7-0888-8C22-46C1A1753DB4}"/>
              </a:ext>
            </a:extLst>
          </p:cNvPr>
          <p:cNvSpPr>
            <a:spLocks noGrp="1"/>
          </p:cNvSpPr>
          <p:nvPr>
            <p:ph type="sldNum" sz="quarter" idx="5"/>
          </p:nvPr>
        </p:nvSpPr>
        <p:spPr/>
        <p:txBody>
          <a:bodyPr/>
          <a:lstStyle/>
          <a:p>
            <a:fld id="{688C51AE-C483-2D4F-8F27-8D6A8821F4E1}" type="slidenum">
              <a:rPr lang="en-US" smtClean="0"/>
              <a:t>26</a:t>
            </a:fld>
            <a:endParaRPr lang="en-US"/>
          </a:p>
        </p:txBody>
      </p:sp>
    </p:spTree>
    <p:extLst>
      <p:ext uri="{BB962C8B-B14F-4D97-AF65-F5344CB8AC3E}">
        <p14:creationId xmlns:p14="http://schemas.microsoft.com/office/powerpoint/2010/main" val="14809003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06A37-5228-7756-94F5-08CC3D2CCB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740BF3-366D-DD23-FAEE-D276B6BF7E8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731BEC3-E895-273E-0639-C9AED552FC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0A0F40-C6F4-31AF-7C0F-4F3EA8A8A386}"/>
              </a:ext>
            </a:extLst>
          </p:cNvPr>
          <p:cNvSpPr>
            <a:spLocks noGrp="1"/>
          </p:cNvSpPr>
          <p:nvPr>
            <p:ph type="sldNum" sz="quarter" idx="5"/>
          </p:nvPr>
        </p:nvSpPr>
        <p:spPr/>
        <p:txBody>
          <a:bodyPr/>
          <a:lstStyle/>
          <a:p>
            <a:fld id="{688C51AE-C483-2D4F-8F27-8D6A8821F4E1}" type="slidenum">
              <a:rPr lang="en-US" smtClean="0"/>
              <a:t>27</a:t>
            </a:fld>
            <a:endParaRPr lang="en-US"/>
          </a:p>
        </p:txBody>
      </p:sp>
    </p:spTree>
    <p:extLst>
      <p:ext uri="{BB962C8B-B14F-4D97-AF65-F5344CB8AC3E}">
        <p14:creationId xmlns:p14="http://schemas.microsoft.com/office/powerpoint/2010/main" val="41955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9B093-2928-8884-CD7F-0BF93F099D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3ACC25-13AE-C145-CD3F-23D50AE9483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C0FB5EB-3257-D03E-E092-772FD8274E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3C4A24-A477-0B40-4365-B8F5A5BC48FA}"/>
              </a:ext>
            </a:extLst>
          </p:cNvPr>
          <p:cNvSpPr>
            <a:spLocks noGrp="1"/>
          </p:cNvSpPr>
          <p:nvPr>
            <p:ph type="sldNum" sz="quarter" idx="5"/>
          </p:nvPr>
        </p:nvSpPr>
        <p:spPr/>
        <p:txBody>
          <a:bodyPr/>
          <a:lstStyle/>
          <a:p>
            <a:fld id="{688C51AE-C483-2D4F-8F27-8D6A8821F4E1}" type="slidenum">
              <a:rPr lang="en-US" smtClean="0"/>
              <a:t>28</a:t>
            </a:fld>
            <a:endParaRPr lang="en-US"/>
          </a:p>
        </p:txBody>
      </p:sp>
    </p:spTree>
    <p:extLst>
      <p:ext uri="{BB962C8B-B14F-4D97-AF65-F5344CB8AC3E}">
        <p14:creationId xmlns:p14="http://schemas.microsoft.com/office/powerpoint/2010/main" val="10018983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2C70C-B255-FF3D-BECD-7B638554BA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BE0F18-BFAF-FE97-55A2-9C69D6417B0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BB34EF8-04C9-25DD-6026-C3A7ACA470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D2710B-67F2-D6FA-8F8D-B6F3FF6ACD99}"/>
              </a:ext>
            </a:extLst>
          </p:cNvPr>
          <p:cNvSpPr>
            <a:spLocks noGrp="1"/>
          </p:cNvSpPr>
          <p:nvPr>
            <p:ph type="sldNum" sz="quarter" idx="5"/>
          </p:nvPr>
        </p:nvSpPr>
        <p:spPr/>
        <p:txBody>
          <a:bodyPr/>
          <a:lstStyle/>
          <a:p>
            <a:fld id="{688C51AE-C483-2D4F-8F27-8D6A8821F4E1}" type="slidenum">
              <a:rPr lang="en-US" smtClean="0"/>
              <a:t>29</a:t>
            </a:fld>
            <a:endParaRPr lang="en-US"/>
          </a:p>
        </p:txBody>
      </p:sp>
    </p:spTree>
    <p:extLst>
      <p:ext uri="{BB962C8B-B14F-4D97-AF65-F5344CB8AC3E}">
        <p14:creationId xmlns:p14="http://schemas.microsoft.com/office/powerpoint/2010/main" val="33725348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F523E-07F7-8C85-B352-0E733F4FAB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55D8D-8FC0-BAEE-313E-AEA0BE8D4C7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7A78BD2-F6BF-5B97-5CF0-EB53FC0AD6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BB21C5-0DDD-D218-3C2D-63CB4808770F}"/>
              </a:ext>
            </a:extLst>
          </p:cNvPr>
          <p:cNvSpPr>
            <a:spLocks noGrp="1"/>
          </p:cNvSpPr>
          <p:nvPr>
            <p:ph type="sldNum" sz="quarter" idx="5"/>
          </p:nvPr>
        </p:nvSpPr>
        <p:spPr/>
        <p:txBody>
          <a:bodyPr/>
          <a:lstStyle/>
          <a:p>
            <a:fld id="{688C51AE-C483-2D4F-8F27-8D6A8821F4E1}" type="slidenum">
              <a:rPr lang="en-US" smtClean="0"/>
              <a:t>30</a:t>
            </a:fld>
            <a:endParaRPr lang="en-US"/>
          </a:p>
        </p:txBody>
      </p:sp>
    </p:spTree>
    <p:extLst>
      <p:ext uri="{BB962C8B-B14F-4D97-AF65-F5344CB8AC3E}">
        <p14:creationId xmlns:p14="http://schemas.microsoft.com/office/powerpoint/2010/main" val="27514219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F8ECC-CA75-76A6-D2F7-164CAF3AE5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B6EB68-B2DB-A84E-0EDD-CB97D333A65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686ECA2-05E2-BCEF-7517-C09EC2DBDE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630317-E55A-66B0-1589-0D62D108D7CA}"/>
              </a:ext>
            </a:extLst>
          </p:cNvPr>
          <p:cNvSpPr>
            <a:spLocks noGrp="1"/>
          </p:cNvSpPr>
          <p:nvPr>
            <p:ph type="sldNum" sz="quarter" idx="5"/>
          </p:nvPr>
        </p:nvSpPr>
        <p:spPr/>
        <p:txBody>
          <a:bodyPr/>
          <a:lstStyle/>
          <a:p>
            <a:fld id="{688C51AE-C483-2D4F-8F27-8D6A8821F4E1}" type="slidenum">
              <a:rPr lang="en-US" smtClean="0"/>
              <a:t>31</a:t>
            </a:fld>
            <a:endParaRPr lang="en-US"/>
          </a:p>
        </p:txBody>
      </p:sp>
    </p:spTree>
    <p:extLst>
      <p:ext uri="{BB962C8B-B14F-4D97-AF65-F5344CB8AC3E}">
        <p14:creationId xmlns:p14="http://schemas.microsoft.com/office/powerpoint/2010/main" val="9693491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1CB94-DB06-2199-0165-DF144C1ABF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7B707-B230-7FE7-EAE1-7FA032C25FF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E0DB811-DCD1-181F-C5D4-7A1B159661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F67408-CEDC-26E4-2F2D-1F9ABD17A5D3}"/>
              </a:ext>
            </a:extLst>
          </p:cNvPr>
          <p:cNvSpPr>
            <a:spLocks noGrp="1"/>
          </p:cNvSpPr>
          <p:nvPr>
            <p:ph type="sldNum" sz="quarter" idx="5"/>
          </p:nvPr>
        </p:nvSpPr>
        <p:spPr/>
        <p:txBody>
          <a:bodyPr/>
          <a:lstStyle/>
          <a:p>
            <a:fld id="{688C51AE-C483-2D4F-8F27-8D6A8821F4E1}" type="slidenum">
              <a:rPr lang="en-US" smtClean="0"/>
              <a:t>32</a:t>
            </a:fld>
            <a:endParaRPr lang="en-US"/>
          </a:p>
        </p:txBody>
      </p:sp>
    </p:spTree>
    <p:extLst>
      <p:ext uri="{BB962C8B-B14F-4D97-AF65-F5344CB8AC3E}">
        <p14:creationId xmlns:p14="http://schemas.microsoft.com/office/powerpoint/2010/main" val="22718643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78A40-29BE-5D89-C325-425B0C2E1E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B72975-53A5-E62F-1079-EE35D392D4F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1E5127D-3B88-CAD5-D3D8-E7ADF1957B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BE475F-A5D9-F914-2F55-01E340587A86}"/>
              </a:ext>
            </a:extLst>
          </p:cNvPr>
          <p:cNvSpPr>
            <a:spLocks noGrp="1"/>
          </p:cNvSpPr>
          <p:nvPr>
            <p:ph type="sldNum" sz="quarter" idx="5"/>
          </p:nvPr>
        </p:nvSpPr>
        <p:spPr/>
        <p:txBody>
          <a:bodyPr/>
          <a:lstStyle/>
          <a:p>
            <a:fld id="{688C51AE-C483-2D4F-8F27-8D6A8821F4E1}" type="slidenum">
              <a:rPr lang="en-US" smtClean="0"/>
              <a:t>33</a:t>
            </a:fld>
            <a:endParaRPr lang="en-US"/>
          </a:p>
        </p:txBody>
      </p:sp>
    </p:spTree>
    <p:extLst>
      <p:ext uri="{BB962C8B-B14F-4D97-AF65-F5344CB8AC3E}">
        <p14:creationId xmlns:p14="http://schemas.microsoft.com/office/powerpoint/2010/main" val="5673549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390E1-B7FF-7820-9DB7-DB645C3395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94EBB5-E9F0-3D9F-D51E-27EDEDFE3AB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B49AC12-B6B7-813B-37A8-BD611C6FE2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011D6B-28E1-2560-14A1-6A62DB30D62A}"/>
              </a:ext>
            </a:extLst>
          </p:cNvPr>
          <p:cNvSpPr>
            <a:spLocks noGrp="1"/>
          </p:cNvSpPr>
          <p:nvPr>
            <p:ph type="sldNum" sz="quarter" idx="5"/>
          </p:nvPr>
        </p:nvSpPr>
        <p:spPr/>
        <p:txBody>
          <a:bodyPr/>
          <a:lstStyle/>
          <a:p>
            <a:fld id="{688C51AE-C483-2D4F-8F27-8D6A8821F4E1}" type="slidenum">
              <a:rPr lang="en-US" smtClean="0"/>
              <a:t>34</a:t>
            </a:fld>
            <a:endParaRPr lang="en-US"/>
          </a:p>
        </p:txBody>
      </p:sp>
    </p:spTree>
    <p:extLst>
      <p:ext uri="{BB962C8B-B14F-4D97-AF65-F5344CB8AC3E}">
        <p14:creationId xmlns:p14="http://schemas.microsoft.com/office/powerpoint/2010/main" val="37215862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282C0-22D1-F2BD-E16E-B860A35B13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482D6-6E23-9EF1-8171-EB705D5B4D7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7F1B463-A017-2D56-830B-CD432130E1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A170AA-D358-5B65-EB42-170F75E7D52C}"/>
              </a:ext>
            </a:extLst>
          </p:cNvPr>
          <p:cNvSpPr>
            <a:spLocks noGrp="1"/>
          </p:cNvSpPr>
          <p:nvPr>
            <p:ph type="sldNum" sz="quarter" idx="5"/>
          </p:nvPr>
        </p:nvSpPr>
        <p:spPr/>
        <p:txBody>
          <a:bodyPr/>
          <a:lstStyle/>
          <a:p>
            <a:fld id="{688C51AE-C483-2D4F-8F27-8D6A8821F4E1}" type="slidenum">
              <a:rPr lang="en-US" smtClean="0"/>
              <a:t>35</a:t>
            </a:fld>
            <a:endParaRPr lang="en-US"/>
          </a:p>
        </p:txBody>
      </p:sp>
    </p:spTree>
    <p:extLst>
      <p:ext uri="{BB962C8B-B14F-4D97-AF65-F5344CB8AC3E}">
        <p14:creationId xmlns:p14="http://schemas.microsoft.com/office/powerpoint/2010/main" val="14847489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A7C25-4F44-2E14-25FC-A2612FF5A9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183A03-E125-6CA5-A9C0-9616455CAA8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FC6CB54-8C69-2269-C2AF-B17AFC6D97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762D2B-4988-8E0A-465E-BF09D4E4E5EA}"/>
              </a:ext>
            </a:extLst>
          </p:cNvPr>
          <p:cNvSpPr>
            <a:spLocks noGrp="1"/>
          </p:cNvSpPr>
          <p:nvPr>
            <p:ph type="sldNum" sz="quarter" idx="5"/>
          </p:nvPr>
        </p:nvSpPr>
        <p:spPr/>
        <p:txBody>
          <a:bodyPr/>
          <a:lstStyle/>
          <a:p>
            <a:fld id="{688C51AE-C483-2D4F-8F27-8D6A8821F4E1}" type="slidenum">
              <a:rPr lang="en-US" smtClean="0"/>
              <a:t>36</a:t>
            </a:fld>
            <a:endParaRPr lang="en-US"/>
          </a:p>
        </p:txBody>
      </p:sp>
    </p:spTree>
    <p:extLst>
      <p:ext uri="{BB962C8B-B14F-4D97-AF65-F5344CB8AC3E}">
        <p14:creationId xmlns:p14="http://schemas.microsoft.com/office/powerpoint/2010/main" val="30705743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E7E8C-945B-BCD9-F5B1-9B9CF3BE29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3F236A-F4F8-5CC9-0E18-65EC9C9E4E7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2A97AA6-EA12-CBEB-8E7A-F83250DB1C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DE7DC7-D3C7-B7C4-528D-BA90CA2210E1}"/>
              </a:ext>
            </a:extLst>
          </p:cNvPr>
          <p:cNvSpPr>
            <a:spLocks noGrp="1"/>
          </p:cNvSpPr>
          <p:nvPr>
            <p:ph type="sldNum" sz="quarter" idx="5"/>
          </p:nvPr>
        </p:nvSpPr>
        <p:spPr/>
        <p:txBody>
          <a:bodyPr/>
          <a:lstStyle/>
          <a:p>
            <a:fld id="{688C51AE-C483-2D4F-8F27-8D6A8821F4E1}" type="slidenum">
              <a:rPr lang="en-US" smtClean="0"/>
              <a:t>37</a:t>
            </a:fld>
            <a:endParaRPr lang="en-US"/>
          </a:p>
        </p:txBody>
      </p:sp>
    </p:spTree>
    <p:extLst>
      <p:ext uri="{BB962C8B-B14F-4D97-AF65-F5344CB8AC3E}">
        <p14:creationId xmlns:p14="http://schemas.microsoft.com/office/powerpoint/2010/main" val="385360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9C97C-9B4B-7901-1DF4-FB544FDF2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D012B2-D4EB-F4A4-B4B4-A276057D679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1C9356E-2045-7B59-107B-1DED7772B6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89F669-09C4-CA2A-E4DE-5A0B89C0D0DE}"/>
              </a:ext>
            </a:extLst>
          </p:cNvPr>
          <p:cNvSpPr>
            <a:spLocks noGrp="1"/>
          </p:cNvSpPr>
          <p:nvPr>
            <p:ph type="sldNum" sz="quarter" idx="5"/>
          </p:nvPr>
        </p:nvSpPr>
        <p:spPr/>
        <p:txBody>
          <a:bodyPr/>
          <a:lstStyle/>
          <a:p>
            <a:fld id="{688C51AE-C483-2D4F-8F27-8D6A8821F4E1}" type="slidenum">
              <a:rPr lang="en-US" smtClean="0"/>
              <a:t>38</a:t>
            </a:fld>
            <a:endParaRPr lang="en-US"/>
          </a:p>
        </p:txBody>
      </p:sp>
    </p:spTree>
    <p:extLst>
      <p:ext uri="{BB962C8B-B14F-4D97-AF65-F5344CB8AC3E}">
        <p14:creationId xmlns:p14="http://schemas.microsoft.com/office/powerpoint/2010/main" val="36098375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5FF0F-286C-71BB-3FA6-E66F7B951A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6B232C-8724-201B-53F9-D7645FF747E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DF61550-B547-C817-C6A4-248D54D8E4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0CA2B8-8CE9-3260-5962-EA9B179BF7DE}"/>
              </a:ext>
            </a:extLst>
          </p:cNvPr>
          <p:cNvSpPr>
            <a:spLocks noGrp="1"/>
          </p:cNvSpPr>
          <p:nvPr>
            <p:ph type="sldNum" sz="quarter" idx="5"/>
          </p:nvPr>
        </p:nvSpPr>
        <p:spPr/>
        <p:txBody>
          <a:bodyPr/>
          <a:lstStyle/>
          <a:p>
            <a:fld id="{688C51AE-C483-2D4F-8F27-8D6A8821F4E1}" type="slidenum">
              <a:rPr lang="en-US" smtClean="0"/>
              <a:t>39</a:t>
            </a:fld>
            <a:endParaRPr lang="en-US"/>
          </a:p>
        </p:txBody>
      </p:sp>
    </p:spTree>
    <p:extLst>
      <p:ext uri="{BB962C8B-B14F-4D97-AF65-F5344CB8AC3E}">
        <p14:creationId xmlns:p14="http://schemas.microsoft.com/office/powerpoint/2010/main" val="2204452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ED89F-36FC-2C75-97E6-1119C48AB7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1E8FE9-08E2-6B25-1211-F90456C0DE4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FAF45EE-15EB-8246-1C2C-ED271569AA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B68481-94B2-ED55-C35A-99F5ACDAAE17}"/>
              </a:ext>
            </a:extLst>
          </p:cNvPr>
          <p:cNvSpPr>
            <a:spLocks noGrp="1"/>
          </p:cNvSpPr>
          <p:nvPr>
            <p:ph type="sldNum" sz="quarter" idx="5"/>
          </p:nvPr>
        </p:nvSpPr>
        <p:spPr/>
        <p:txBody>
          <a:bodyPr/>
          <a:lstStyle/>
          <a:p>
            <a:fld id="{688C51AE-C483-2D4F-8F27-8D6A8821F4E1}" type="slidenum">
              <a:rPr lang="en-US" smtClean="0"/>
              <a:t>40</a:t>
            </a:fld>
            <a:endParaRPr lang="en-US"/>
          </a:p>
        </p:txBody>
      </p:sp>
    </p:spTree>
    <p:extLst>
      <p:ext uri="{BB962C8B-B14F-4D97-AF65-F5344CB8AC3E}">
        <p14:creationId xmlns:p14="http://schemas.microsoft.com/office/powerpoint/2010/main" val="2606544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DB08E-4388-0666-4063-E235265DFF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DD2AA6-50F2-68A2-A0FF-84225DF66E3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F27B151-4288-94E2-0D15-753CACE1DD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3430B4-D5CE-6165-3E36-007C6AEF5E3D}"/>
              </a:ext>
            </a:extLst>
          </p:cNvPr>
          <p:cNvSpPr>
            <a:spLocks noGrp="1"/>
          </p:cNvSpPr>
          <p:nvPr>
            <p:ph type="sldNum" sz="quarter" idx="5"/>
          </p:nvPr>
        </p:nvSpPr>
        <p:spPr/>
        <p:txBody>
          <a:bodyPr/>
          <a:lstStyle/>
          <a:p>
            <a:fld id="{688C51AE-C483-2D4F-8F27-8D6A8821F4E1}" type="slidenum">
              <a:rPr lang="en-US" smtClean="0"/>
              <a:t>41</a:t>
            </a:fld>
            <a:endParaRPr lang="en-US"/>
          </a:p>
        </p:txBody>
      </p:sp>
    </p:spTree>
    <p:extLst>
      <p:ext uri="{BB962C8B-B14F-4D97-AF65-F5344CB8AC3E}">
        <p14:creationId xmlns:p14="http://schemas.microsoft.com/office/powerpoint/2010/main" val="29627037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40350-9D53-5933-8963-BDED728F3A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805A69-25F1-2176-E08C-05E7666AAB9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16C6FBC-177E-0247-94D8-9D00176D4A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877F06-C63D-395A-D5FC-881337C889E6}"/>
              </a:ext>
            </a:extLst>
          </p:cNvPr>
          <p:cNvSpPr>
            <a:spLocks noGrp="1"/>
          </p:cNvSpPr>
          <p:nvPr>
            <p:ph type="sldNum" sz="quarter" idx="5"/>
          </p:nvPr>
        </p:nvSpPr>
        <p:spPr/>
        <p:txBody>
          <a:bodyPr/>
          <a:lstStyle/>
          <a:p>
            <a:fld id="{688C51AE-C483-2D4F-8F27-8D6A8821F4E1}" type="slidenum">
              <a:rPr lang="en-US" smtClean="0"/>
              <a:t>42</a:t>
            </a:fld>
            <a:endParaRPr lang="en-US"/>
          </a:p>
        </p:txBody>
      </p:sp>
    </p:spTree>
    <p:extLst>
      <p:ext uri="{BB962C8B-B14F-4D97-AF65-F5344CB8AC3E}">
        <p14:creationId xmlns:p14="http://schemas.microsoft.com/office/powerpoint/2010/main" val="24810328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823ED-094C-9370-3E18-936788BBF5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2341A0-25B9-73CD-AAD0-8A343121B5E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0BED421-98FE-B17D-CF06-F8A3ECACAD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3BB9B8-F16B-1F5D-58BC-665B8C09ECE5}"/>
              </a:ext>
            </a:extLst>
          </p:cNvPr>
          <p:cNvSpPr>
            <a:spLocks noGrp="1"/>
          </p:cNvSpPr>
          <p:nvPr>
            <p:ph type="sldNum" sz="quarter" idx="5"/>
          </p:nvPr>
        </p:nvSpPr>
        <p:spPr/>
        <p:txBody>
          <a:bodyPr/>
          <a:lstStyle/>
          <a:p>
            <a:fld id="{688C51AE-C483-2D4F-8F27-8D6A8821F4E1}" type="slidenum">
              <a:rPr lang="en-US" smtClean="0"/>
              <a:t>43</a:t>
            </a:fld>
            <a:endParaRPr lang="en-US"/>
          </a:p>
        </p:txBody>
      </p:sp>
    </p:spTree>
    <p:extLst>
      <p:ext uri="{BB962C8B-B14F-4D97-AF65-F5344CB8AC3E}">
        <p14:creationId xmlns:p14="http://schemas.microsoft.com/office/powerpoint/2010/main" val="3996354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8CAD2-2C28-2B94-4264-0B4E5F5C3F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F1E6F-F6F4-8232-9EC2-AA7925AAFB3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F73D469-564D-FE5B-156F-03F88B0F55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BC9B5C-6A1F-9579-CC1F-FC078688AB32}"/>
              </a:ext>
            </a:extLst>
          </p:cNvPr>
          <p:cNvSpPr>
            <a:spLocks noGrp="1"/>
          </p:cNvSpPr>
          <p:nvPr>
            <p:ph type="sldNum" sz="quarter" idx="5"/>
          </p:nvPr>
        </p:nvSpPr>
        <p:spPr/>
        <p:txBody>
          <a:bodyPr/>
          <a:lstStyle/>
          <a:p>
            <a:fld id="{688C51AE-C483-2D4F-8F27-8D6A8821F4E1}" type="slidenum">
              <a:rPr lang="en-US" smtClean="0"/>
              <a:t>44</a:t>
            </a:fld>
            <a:endParaRPr lang="en-US"/>
          </a:p>
        </p:txBody>
      </p:sp>
    </p:spTree>
    <p:extLst>
      <p:ext uri="{BB962C8B-B14F-4D97-AF65-F5344CB8AC3E}">
        <p14:creationId xmlns:p14="http://schemas.microsoft.com/office/powerpoint/2010/main" val="13171422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13C70-AF9E-96F7-1DDE-DCFDE006E8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41F5DA-C9FD-3D8A-EEB0-681C53BE1D7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8457F37-B817-7845-2AB3-9A71999CB3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ABD513-BCE6-994F-DAC2-F001FB60A59B}"/>
              </a:ext>
            </a:extLst>
          </p:cNvPr>
          <p:cNvSpPr>
            <a:spLocks noGrp="1"/>
          </p:cNvSpPr>
          <p:nvPr>
            <p:ph type="sldNum" sz="quarter" idx="5"/>
          </p:nvPr>
        </p:nvSpPr>
        <p:spPr/>
        <p:txBody>
          <a:bodyPr/>
          <a:lstStyle/>
          <a:p>
            <a:fld id="{688C51AE-C483-2D4F-8F27-8D6A8821F4E1}" type="slidenum">
              <a:rPr lang="en-US" smtClean="0"/>
              <a:t>45</a:t>
            </a:fld>
            <a:endParaRPr lang="en-US"/>
          </a:p>
        </p:txBody>
      </p:sp>
    </p:spTree>
    <p:extLst>
      <p:ext uri="{BB962C8B-B14F-4D97-AF65-F5344CB8AC3E}">
        <p14:creationId xmlns:p14="http://schemas.microsoft.com/office/powerpoint/2010/main" val="19251312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A4354-50A9-49C1-835E-A03934CE21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A13571-5126-853A-CEA2-7E43AAB73ED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AD3C26D-B9E7-9BA9-177F-3DDBE7AEF4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7F2878-65F0-1B88-4773-1E42F25F5767}"/>
              </a:ext>
            </a:extLst>
          </p:cNvPr>
          <p:cNvSpPr>
            <a:spLocks noGrp="1"/>
          </p:cNvSpPr>
          <p:nvPr>
            <p:ph type="sldNum" sz="quarter" idx="5"/>
          </p:nvPr>
        </p:nvSpPr>
        <p:spPr/>
        <p:txBody>
          <a:bodyPr/>
          <a:lstStyle/>
          <a:p>
            <a:fld id="{688C51AE-C483-2D4F-8F27-8D6A8821F4E1}" type="slidenum">
              <a:rPr lang="en-US" smtClean="0"/>
              <a:t>46</a:t>
            </a:fld>
            <a:endParaRPr lang="en-US"/>
          </a:p>
        </p:txBody>
      </p:sp>
    </p:spTree>
    <p:extLst>
      <p:ext uri="{BB962C8B-B14F-4D97-AF65-F5344CB8AC3E}">
        <p14:creationId xmlns:p14="http://schemas.microsoft.com/office/powerpoint/2010/main" val="232812984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A2C59-3E9B-CFF1-DF85-38F2C0C4A4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8EF678-C28E-436E-152E-83F841B4BB2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33D0BE4-E237-28A7-DF23-49CCB37ECD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C937BD-7B77-6E0B-9C03-512808D6724E}"/>
              </a:ext>
            </a:extLst>
          </p:cNvPr>
          <p:cNvSpPr>
            <a:spLocks noGrp="1"/>
          </p:cNvSpPr>
          <p:nvPr>
            <p:ph type="sldNum" sz="quarter" idx="5"/>
          </p:nvPr>
        </p:nvSpPr>
        <p:spPr/>
        <p:txBody>
          <a:bodyPr/>
          <a:lstStyle/>
          <a:p>
            <a:fld id="{688C51AE-C483-2D4F-8F27-8D6A8821F4E1}" type="slidenum">
              <a:rPr lang="en-US" smtClean="0"/>
              <a:t>47</a:t>
            </a:fld>
            <a:endParaRPr lang="en-US"/>
          </a:p>
        </p:txBody>
      </p:sp>
    </p:spTree>
    <p:extLst>
      <p:ext uri="{BB962C8B-B14F-4D97-AF65-F5344CB8AC3E}">
        <p14:creationId xmlns:p14="http://schemas.microsoft.com/office/powerpoint/2010/main" val="148864282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C2B6E-155B-7DFC-8925-72E68C460B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5F02BC-FAD6-2BE7-C189-357CBD5ACC0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56B1770-F7D7-5ED7-00CB-F5F09ED43B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00DA9C-92B2-2651-473E-C5416285D2F3}"/>
              </a:ext>
            </a:extLst>
          </p:cNvPr>
          <p:cNvSpPr>
            <a:spLocks noGrp="1"/>
          </p:cNvSpPr>
          <p:nvPr>
            <p:ph type="sldNum" sz="quarter" idx="5"/>
          </p:nvPr>
        </p:nvSpPr>
        <p:spPr/>
        <p:txBody>
          <a:bodyPr/>
          <a:lstStyle/>
          <a:p>
            <a:fld id="{688C51AE-C483-2D4F-8F27-8D6A8821F4E1}" type="slidenum">
              <a:rPr lang="en-US" smtClean="0"/>
              <a:t>48</a:t>
            </a:fld>
            <a:endParaRPr lang="en-US"/>
          </a:p>
        </p:txBody>
      </p:sp>
    </p:spTree>
    <p:extLst>
      <p:ext uri="{BB962C8B-B14F-4D97-AF65-F5344CB8AC3E}">
        <p14:creationId xmlns:p14="http://schemas.microsoft.com/office/powerpoint/2010/main" val="137061485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F87CC-A1E5-0FBA-7B9B-9A5DA85A58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4FFAEA-7328-28F1-5E8E-9D97C086F7C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6139D04-C0E6-48D4-0CA4-795B427D88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9A7978-76DA-DB95-928E-2F59E052CCB7}"/>
              </a:ext>
            </a:extLst>
          </p:cNvPr>
          <p:cNvSpPr>
            <a:spLocks noGrp="1"/>
          </p:cNvSpPr>
          <p:nvPr>
            <p:ph type="sldNum" sz="quarter" idx="5"/>
          </p:nvPr>
        </p:nvSpPr>
        <p:spPr/>
        <p:txBody>
          <a:bodyPr/>
          <a:lstStyle/>
          <a:p>
            <a:fld id="{688C51AE-C483-2D4F-8F27-8D6A8821F4E1}" type="slidenum">
              <a:rPr lang="en-US" smtClean="0"/>
              <a:t>49</a:t>
            </a:fld>
            <a:endParaRPr lang="en-US"/>
          </a:p>
        </p:txBody>
      </p:sp>
    </p:spTree>
    <p:extLst>
      <p:ext uri="{BB962C8B-B14F-4D97-AF65-F5344CB8AC3E}">
        <p14:creationId xmlns:p14="http://schemas.microsoft.com/office/powerpoint/2010/main" val="419393058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08715-AEDC-CE78-C299-9DF2601E38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392DD1-5133-FCF9-5B54-8CE68E18527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A1F5B9A-E0FF-AC30-1FB2-212BBF1E6B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4D86C8-5DD5-2308-AC90-B1FCCD62DB6A}"/>
              </a:ext>
            </a:extLst>
          </p:cNvPr>
          <p:cNvSpPr>
            <a:spLocks noGrp="1"/>
          </p:cNvSpPr>
          <p:nvPr>
            <p:ph type="sldNum" sz="quarter" idx="5"/>
          </p:nvPr>
        </p:nvSpPr>
        <p:spPr/>
        <p:txBody>
          <a:bodyPr/>
          <a:lstStyle/>
          <a:p>
            <a:fld id="{688C51AE-C483-2D4F-8F27-8D6A8821F4E1}" type="slidenum">
              <a:rPr lang="en-US" smtClean="0"/>
              <a:t>50</a:t>
            </a:fld>
            <a:endParaRPr lang="en-US"/>
          </a:p>
        </p:txBody>
      </p:sp>
    </p:spTree>
    <p:extLst>
      <p:ext uri="{BB962C8B-B14F-4D97-AF65-F5344CB8AC3E}">
        <p14:creationId xmlns:p14="http://schemas.microsoft.com/office/powerpoint/2010/main" val="278526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hapter Opener: author at top">
    <p:spTree>
      <p:nvGrpSpPr>
        <p:cNvPr id="1" name=""/>
        <p:cNvGrpSpPr/>
        <p:nvPr/>
      </p:nvGrpSpPr>
      <p:grpSpPr>
        <a:xfrm>
          <a:off x="0" y="0"/>
          <a:ext cx="0" cy="0"/>
          <a:chOff x="0" y="0"/>
          <a:chExt cx="0" cy="0"/>
        </a:xfrm>
      </p:grpSpPr>
      <p:sp>
        <p:nvSpPr>
          <p:cNvPr id="2" name="Title "/>
          <p:cNvSpPr>
            <a:spLocks noGrp="1"/>
          </p:cNvSpPr>
          <p:nvPr>
            <p:ph type="ctrTitle" hasCustomPrompt="1"/>
          </p:nvPr>
        </p:nvSpPr>
        <p:spPr>
          <a:xfrm>
            <a:off x="443345" y="464185"/>
            <a:ext cx="11294227" cy="1066801"/>
          </a:xfrm>
          <a:prstGeom prst="rect">
            <a:avLst/>
          </a:prstGeom>
        </p:spPr>
        <p:txBody>
          <a:bodyPr anchor="t">
            <a:normAutofit/>
          </a:bodyPr>
          <a:lstStyle>
            <a:lvl1pPr algn="ctr">
              <a:defRPr sz="6200" b="0" i="0">
                <a:solidFill>
                  <a:schemeClr val="accent6"/>
                </a:solidFill>
                <a:latin typeface="Times" pitchFamily="2" charset="0"/>
                <a:cs typeface="Calibri" panose="020F0502020204030204" pitchFamily="34" charset="0"/>
              </a:defRPr>
            </a:lvl1pPr>
          </a:lstStyle>
          <a:p>
            <a:r>
              <a:rPr lang="en-US" dirty="0"/>
              <a:t>Click to Edit Book Title</a:t>
            </a:r>
          </a:p>
        </p:txBody>
      </p:sp>
      <p:sp>
        <p:nvSpPr>
          <p:cNvPr id="5" name="Edition">
            <a:extLst>
              <a:ext uri="{FF2B5EF4-FFF2-40B4-BE49-F238E27FC236}">
                <a16:creationId xmlns:a16="http://schemas.microsoft.com/office/drawing/2014/main" id="{B16BE010-E2AD-8943-AA26-A3BD45390A63}"/>
              </a:ext>
            </a:extLst>
          </p:cNvPr>
          <p:cNvSpPr>
            <a:spLocks noGrp="1"/>
          </p:cNvSpPr>
          <p:nvPr>
            <p:ph sz="quarter" idx="24" hasCustomPrompt="1"/>
          </p:nvPr>
        </p:nvSpPr>
        <p:spPr>
          <a:xfrm>
            <a:off x="442384" y="1414249"/>
            <a:ext cx="11294533" cy="603504"/>
          </a:xfrm>
          <a:prstGeom prst="rect">
            <a:avLst/>
          </a:prstGeom>
        </p:spPr>
        <p:txBody>
          <a:bodyPr>
            <a:noAutofit/>
          </a:bodyPr>
          <a:lstStyle>
            <a:lvl1pPr marL="0" indent="0" algn="ctr">
              <a:buNone/>
              <a:defRPr sz="2400" b="0" i="0">
                <a:solidFill>
                  <a:schemeClr val="accent6"/>
                </a:solidFill>
                <a:latin typeface="Times" pitchFamily="2" charset="0"/>
                <a:cs typeface="Calibri Light" panose="020F0302020204030204" pitchFamily="34" charset="0"/>
              </a:defRPr>
            </a:lvl1pPr>
          </a:lstStyle>
          <a:p>
            <a:pPr lvl="0"/>
            <a:r>
              <a:rPr lang="en-US" dirty="0"/>
              <a:t>Third Edition</a:t>
            </a:r>
          </a:p>
        </p:txBody>
      </p:sp>
      <p:sp>
        <p:nvSpPr>
          <p:cNvPr id="7" name="Author">
            <a:extLst>
              <a:ext uri="{FF2B5EF4-FFF2-40B4-BE49-F238E27FC236}">
                <a16:creationId xmlns:a16="http://schemas.microsoft.com/office/drawing/2014/main" id="{D071BBAD-F08D-AA46-8DDD-B137F9C0B7FA}"/>
              </a:ext>
            </a:extLst>
          </p:cNvPr>
          <p:cNvSpPr>
            <a:spLocks noGrp="1"/>
          </p:cNvSpPr>
          <p:nvPr>
            <p:ph sz="quarter" idx="25" hasCustomPrompt="1"/>
          </p:nvPr>
        </p:nvSpPr>
        <p:spPr>
          <a:xfrm>
            <a:off x="442384" y="2234394"/>
            <a:ext cx="11294533" cy="668222"/>
          </a:xfrm>
          <a:prstGeom prst="rect">
            <a:avLst/>
          </a:prstGeom>
        </p:spPr>
        <p:txBody>
          <a:bodyPr>
            <a:normAutofit/>
          </a:bodyPr>
          <a:lstStyle>
            <a:lvl1pPr marL="0" indent="0" algn="ctr">
              <a:buNone/>
              <a:defRPr sz="33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David Klein</a:t>
            </a:r>
          </a:p>
        </p:txBody>
      </p:sp>
      <p:sp>
        <p:nvSpPr>
          <p:cNvPr id="14" name="CN">
            <a:extLst>
              <a:ext uri="{FF2B5EF4-FFF2-40B4-BE49-F238E27FC236}">
                <a16:creationId xmlns:a16="http://schemas.microsoft.com/office/drawing/2014/main" id="{7D7AAD37-2105-EA4E-810B-DEF0E8A3B04B}"/>
              </a:ext>
            </a:extLst>
          </p:cNvPr>
          <p:cNvSpPr>
            <a:spLocks noGrp="1"/>
          </p:cNvSpPr>
          <p:nvPr>
            <p:ph sz="quarter" idx="26" hasCustomPrompt="1"/>
          </p:nvPr>
        </p:nvSpPr>
        <p:spPr>
          <a:xfrm>
            <a:off x="442384" y="3909878"/>
            <a:ext cx="11294533" cy="533400"/>
          </a:xfrm>
          <a:prstGeom prst="rect">
            <a:avLst/>
          </a:prstGeom>
        </p:spPr>
        <p:txBody>
          <a:bodyPr>
            <a:noAutofit/>
          </a:bodyPr>
          <a:lstStyle>
            <a:lvl1pPr marL="0" indent="0" algn="ctr">
              <a:buNone/>
              <a:defRPr sz="2300" b="1" i="0" spc="450">
                <a:solidFill>
                  <a:schemeClr val="accent3"/>
                </a:solidFill>
                <a:latin typeface="Times" pitchFamily="2" charset="0"/>
                <a:cs typeface="Calibri" panose="020F0502020204030204" pitchFamily="34" charset="0"/>
              </a:defRPr>
            </a:lvl1pPr>
          </a:lstStyle>
          <a:p>
            <a:pPr lvl="0"/>
            <a:r>
              <a:rPr lang="en-US" dirty="0"/>
              <a:t>CHAPTER 1</a:t>
            </a:r>
          </a:p>
        </p:txBody>
      </p:sp>
      <p:sp>
        <p:nvSpPr>
          <p:cNvPr id="3" name="CT"/>
          <p:cNvSpPr>
            <a:spLocks noGrp="1"/>
          </p:cNvSpPr>
          <p:nvPr>
            <p:ph type="subTitle" idx="1" hasCustomPrompt="1"/>
          </p:nvPr>
        </p:nvSpPr>
        <p:spPr>
          <a:xfrm>
            <a:off x="443345" y="4226859"/>
            <a:ext cx="11294227" cy="2286000"/>
          </a:xfrm>
          <a:prstGeom prst="rect">
            <a:avLst/>
          </a:prstGeom>
        </p:spPr>
        <p:txBody>
          <a:bodyPr anchor="ctr">
            <a:normAutofit/>
          </a:bodyPr>
          <a:lstStyle>
            <a:lvl1pPr marL="0" indent="0" algn="ctr">
              <a:buNone/>
              <a:defRPr sz="3800" b="0" i="0">
                <a:solidFill>
                  <a:schemeClr val="accent6"/>
                </a:solidFill>
                <a:latin typeface="Times" pitchFamily="2"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Chapter Title</a:t>
            </a:r>
          </a:p>
        </p:txBody>
      </p:sp>
      <p:pic>
        <p:nvPicPr>
          <p:cNvPr id="6" name="Logo">
            <a:extLst>
              <a:ext uri="{FF2B5EF4-FFF2-40B4-BE49-F238E27FC236}">
                <a16:creationId xmlns:a16="http://schemas.microsoft.com/office/drawing/2014/main" id="{076F5C57-EF05-B54E-BD97-6E0EACCBC874}"/>
              </a:ext>
            </a:extLst>
          </p:cNvPr>
          <p:cNvPicPr>
            <a:picLocks noChangeAspect="1"/>
          </p:cNvPicPr>
          <p:nvPr/>
        </p:nvPicPr>
        <p:blipFill>
          <a:blip r:embed="rId2"/>
          <a:srcRect/>
          <a:stretch/>
        </p:blipFill>
        <p:spPr>
          <a:xfrm>
            <a:off x="454428" y="6501725"/>
            <a:ext cx="914401" cy="192617"/>
          </a:xfrm>
          <a:prstGeom prst="rect">
            <a:avLst/>
          </a:prstGeom>
        </p:spPr>
      </p:pic>
      <p:sp>
        <p:nvSpPr>
          <p:cNvPr id="18" name="Invisible animation alert">
            <a:extLst>
              <a:ext uri="{FF2B5EF4-FFF2-40B4-BE49-F238E27FC236}">
                <a16:creationId xmlns:a16="http://schemas.microsoft.com/office/drawing/2014/main" id="{701DEE96-975A-2A49-BF22-625374CB4B0A}"/>
              </a:ext>
            </a:extLst>
          </p:cNvPr>
          <p:cNvSpPr>
            <a:spLocks noGrp="1"/>
          </p:cNvSpPr>
          <p:nvPr>
            <p:ph sz="quarter" idx="28" hasCustomPrompt="1"/>
          </p:nvPr>
        </p:nvSpPr>
        <p:spPr>
          <a:xfrm>
            <a:off x="1938529" y="6530050"/>
            <a:ext cx="9799043" cy="277812"/>
          </a:xfrm>
          <a:prstGeom prst="rect">
            <a:avLst/>
          </a:prstGeom>
        </p:spPr>
        <p:txBody>
          <a:bodyPr>
            <a:noAutofit/>
          </a:bodyPr>
          <a:lstStyle>
            <a:lvl1pPr marL="0" indent="0" algn="r">
              <a:buNone/>
              <a:defRPr sz="1200"/>
            </a:lvl1pPr>
            <a:lvl2pPr marL="253746" indent="0">
              <a:buNone/>
              <a:defRPr sz="900"/>
            </a:lvl2pPr>
            <a:lvl3pPr marL="480060" indent="0">
              <a:buNone/>
              <a:defRPr sz="900"/>
            </a:lvl3pPr>
            <a:lvl4pPr marL="685800" indent="0">
              <a:buNone/>
              <a:defRPr sz="900"/>
            </a:lvl4pPr>
            <a:lvl5pPr marL="891540" indent="0">
              <a:buNone/>
              <a:defRPr sz="900"/>
            </a:lvl5pPr>
          </a:lstStyle>
          <a:p>
            <a:pPr lvl="0"/>
            <a:r>
              <a:rPr lang="en-US" dirty="0"/>
              <a:t>Invisible animation alert</a:t>
            </a:r>
          </a:p>
        </p:txBody>
      </p:sp>
      <p:grpSp>
        <p:nvGrpSpPr>
          <p:cNvPr id="10" name="Decorative">
            <a:extLst>
              <a:ext uri="{FF2B5EF4-FFF2-40B4-BE49-F238E27FC236}">
                <a16:creationId xmlns:a16="http://schemas.microsoft.com/office/drawing/2014/main" id="{03EE7FB3-778B-8D48-B422-96226F5FE35E}"/>
              </a:ext>
              <a:ext uri="{C183D7F6-B498-43B3-948B-1728B52AA6E4}">
                <adec:decorative xmlns:adec="http://schemas.microsoft.com/office/drawing/2017/decorative" val="1"/>
              </a:ext>
            </a:extLst>
          </p:cNvPr>
          <p:cNvGrpSpPr/>
          <p:nvPr/>
        </p:nvGrpSpPr>
        <p:grpSpPr>
          <a:xfrm>
            <a:off x="0" y="3081528"/>
            <a:ext cx="12192000" cy="347472"/>
            <a:chOff x="0" y="3089817"/>
            <a:chExt cx="12192000" cy="347472"/>
          </a:xfrm>
        </p:grpSpPr>
        <p:sp>
          <p:nvSpPr>
            <p:cNvPr id="12" name="Rectangle">
              <a:extLst>
                <a:ext uri="{FF2B5EF4-FFF2-40B4-BE49-F238E27FC236}">
                  <a16:creationId xmlns:a16="http://schemas.microsoft.com/office/drawing/2014/main" id="{2A78E3D0-E07D-7E4F-92F5-2C47C124D0A7}"/>
                </a:ext>
              </a:extLst>
            </p:cNvPr>
            <p:cNvSpPr/>
            <p:nvPr/>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9" name="Rectangle">
              <a:extLst>
                <a:ext uri="{FF2B5EF4-FFF2-40B4-BE49-F238E27FC236}">
                  <a16:creationId xmlns:a16="http://schemas.microsoft.com/office/drawing/2014/main" id="{CA4B4EE4-0763-C24B-BE56-9BEDAE60F35A}"/>
                </a:ext>
              </a:extLst>
            </p:cNvPr>
            <p:cNvSpPr/>
            <p:nvPr/>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3" name="Rectangle">
              <a:extLst>
                <a:ext uri="{FF2B5EF4-FFF2-40B4-BE49-F238E27FC236}">
                  <a16:creationId xmlns:a16="http://schemas.microsoft.com/office/drawing/2014/main" id="{8C5FBFDD-ED67-F54F-8ACE-25B8836B078A}"/>
                </a:ext>
              </a:extLst>
            </p:cNvPr>
            <p:cNvSpPr/>
            <p:nvPr/>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4" name="Logo">
            <a:extLst>
              <a:ext uri="{FF2B5EF4-FFF2-40B4-BE49-F238E27FC236}">
                <a16:creationId xmlns:a16="http://schemas.microsoft.com/office/drawing/2014/main" id="{81428C14-2284-8418-0DEA-19D1F2947537}"/>
              </a:ext>
            </a:extLst>
          </p:cNvPr>
          <p:cNvPicPr>
            <a:picLocks noChangeAspect="1"/>
          </p:cNvPicPr>
          <p:nvPr userDrawn="1"/>
        </p:nvPicPr>
        <p:blipFill>
          <a:blip r:embed="rId2"/>
          <a:srcRect/>
          <a:stretch/>
        </p:blipFill>
        <p:spPr>
          <a:xfrm>
            <a:off x="454428" y="6501725"/>
            <a:ext cx="914401" cy="192617"/>
          </a:xfrm>
          <a:prstGeom prst="rect">
            <a:avLst/>
          </a:prstGeom>
        </p:spPr>
      </p:pic>
      <p:grpSp>
        <p:nvGrpSpPr>
          <p:cNvPr id="8" name="Decorative">
            <a:extLst>
              <a:ext uri="{FF2B5EF4-FFF2-40B4-BE49-F238E27FC236}">
                <a16:creationId xmlns:a16="http://schemas.microsoft.com/office/drawing/2014/main" id="{1A10813D-06D2-AF3A-4502-3B392F9F59B9}"/>
              </a:ext>
              <a:ext uri="{C183D7F6-B498-43B3-948B-1728B52AA6E4}">
                <adec:decorative xmlns:adec="http://schemas.microsoft.com/office/drawing/2017/decorative" val="1"/>
              </a:ext>
            </a:extLst>
          </p:cNvPr>
          <p:cNvGrpSpPr/>
          <p:nvPr userDrawn="1"/>
        </p:nvGrpSpPr>
        <p:grpSpPr>
          <a:xfrm>
            <a:off x="0" y="3081528"/>
            <a:ext cx="12192000" cy="347472"/>
            <a:chOff x="0" y="3089817"/>
            <a:chExt cx="12192000" cy="347472"/>
          </a:xfrm>
        </p:grpSpPr>
        <p:sp>
          <p:nvSpPr>
            <p:cNvPr id="11" name="Rectangle">
              <a:extLst>
                <a:ext uri="{FF2B5EF4-FFF2-40B4-BE49-F238E27FC236}">
                  <a16:creationId xmlns:a16="http://schemas.microsoft.com/office/drawing/2014/main" id="{FB63D611-AF3E-3C9D-444C-8546FC64825E}"/>
                </a:ext>
              </a:extLst>
            </p:cNvPr>
            <p:cNvSpPr/>
            <p:nvPr userDrawn="1"/>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5" name="Rectangle">
              <a:extLst>
                <a:ext uri="{FF2B5EF4-FFF2-40B4-BE49-F238E27FC236}">
                  <a16:creationId xmlns:a16="http://schemas.microsoft.com/office/drawing/2014/main" id="{57A5103B-0112-2BF0-E916-B689CF7C5C4C}"/>
                </a:ext>
              </a:extLst>
            </p:cNvPr>
            <p:cNvSpPr/>
            <p:nvPr userDrawn="1"/>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6" name="Rectangle">
              <a:extLst>
                <a:ext uri="{FF2B5EF4-FFF2-40B4-BE49-F238E27FC236}">
                  <a16:creationId xmlns:a16="http://schemas.microsoft.com/office/drawing/2014/main" id="{206B1838-BD64-855A-E858-2B426AFCB764}"/>
                </a:ext>
              </a:extLst>
            </p:cNvPr>
            <p:cNvSpPr/>
            <p:nvPr userDrawn="1"/>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spTree>
    <p:extLst>
      <p:ext uri="{BB962C8B-B14F-4D97-AF65-F5344CB8AC3E}">
        <p14:creationId xmlns:p14="http://schemas.microsoft.com/office/powerpoint/2010/main" val="1078507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hapter Opener: author at bottom">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4F7FD46-EC67-CB42-BDEB-4574D2915560}"/>
              </a:ext>
            </a:extLst>
          </p:cNvPr>
          <p:cNvSpPr>
            <a:spLocks noGrp="1"/>
          </p:cNvSpPr>
          <p:nvPr>
            <p:ph type="title" hasCustomPrompt="1"/>
          </p:nvPr>
        </p:nvSpPr>
        <p:spPr>
          <a:xfrm>
            <a:off x="442693" y="3239350"/>
            <a:ext cx="11294227" cy="1792150"/>
          </a:xfrm>
          <a:prstGeom prst="rect">
            <a:avLst/>
          </a:prstGeom>
        </p:spPr>
        <p:txBody>
          <a:bodyPr anchor="ctr">
            <a:normAutofit/>
          </a:bodyPr>
          <a:lstStyle>
            <a:lvl1pPr algn="ctr">
              <a:defRPr sz="6200" b="0" i="0">
                <a:solidFill>
                  <a:schemeClr val="accent6"/>
                </a:solidFill>
                <a:latin typeface="Times" pitchFamily="2" charset="0"/>
                <a:cs typeface="Calibri" panose="020F0502020204030204" pitchFamily="34" charset="0"/>
              </a:defRPr>
            </a:lvl1pPr>
          </a:lstStyle>
          <a:p>
            <a:r>
              <a:rPr lang="en-US" dirty="0"/>
              <a:t>Click to Edit Book Title</a:t>
            </a:r>
          </a:p>
        </p:txBody>
      </p:sp>
      <p:sp>
        <p:nvSpPr>
          <p:cNvPr id="14" name="Edition">
            <a:extLst>
              <a:ext uri="{FF2B5EF4-FFF2-40B4-BE49-F238E27FC236}">
                <a16:creationId xmlns:a16="http://schemas.microsoft.com/office/drawing/2014/main" id="{B1132A1D-83C2-484F-8B2B-0AE9CDFA7CE4}"/>
              </a:ext>
            </a:extLst>
          </p:cNvPr>
          <p:cNvSpPr>
            <a:spLocks noGrp="1"/>
          </p:cNvSpPr>
          <p:nvPr>
            <p:ph sz="quarter" idx="26" hasCustomPrompt="1"/>
          </p:nvPr>
        </p:nvSpPr>
        <p:spPr>
          <a:xfrm>
            <a:off x="442384" y="4599979"/>
            <a:ext cx="11294533" cy="606829"/>
          </a:xfrm>
          <a:prstGeom prst="rect">
            <a:avLst/>
          </a:prstGeom>
        </p:spPr>
        <p:txBody>
          <a:bodyPr>
            <a:noAutofit/>
          </a:bodyPr>
          <a:lstStyle>
            <a:lvl1pPr marL="0" indent="0" algn="ctr">
              <a:buNone/>
              <a:defRPr sz="24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Third Edition</a:t>
            </a:r>
          </a:p>
        </p:txBody>
      </p:sp>
      <p:sp>
        <p:nvSpPr>
          <p:cNvPr id="4" name="CN">
            <a:extLst>
              <a:ext uri="{FF2B5EF4-FFF2-40B4-BE49-F238E27FC236}">
                <a16:creationId xmlns:a16="http://schemas.microsoft.com/office/drawing/2014/main" id="{D25FCFE5-AC52-324F-B495-E1961647D016}"/>
              </a:ext>
            </a:extLst>
          </p:cNvPr>
          <p:cNvSpPr>
            <a:spLocks noGrp="1"/>
          </p:cNvSpPr>
          <p:nvPr>
            <p:ph sz="quarter" idx="24" hasCustomPrompt="1"/>
          </p:nvPr>
        </p:nvSpPr>
        <p:spPr>
          <a:xfrm>
            <a:off x="442384" y="469543"/>
            <a:ext cx="11294533" cy="492622"/>
          </a:xfrm>
          <a:prstGeom prst="rect">
            <a:avLst/>
          </a:prstGeom>
        </p:spPr>
        <p:txBody>
          <a:bodyPr>
            <a:noAutofit/>
          </a:bodyPr>
          <a:lstStyle>
            <a:lvl1pPr marL="0" indent="0" algn="ctr">
              <a:buNone/>
              <a:defRPr sz="2300" b="1" spc="450">
                <a:solidFill>
                  <a:schemeClr val="accent3"/>
                </a:solidFill>
              </a:defRPr>
            </a:lvl1pPr>
            <a:lvl2pPr marL="253746" indent="0" algn="ctr">
              <a:buNone/>
              <a:defRPr>
                <a:solidFill>
                  <a:schemeClr val="accent1"/>
                </a:solidFill>
              </a:defRPr>
            </a:lvl2pPr>
            <a:lvl3pPr marL="480060" indent="0" algn="ctr">
              <a:buNone/>
              <a:defRPr>
                <a:solidFill>
                  <a:schemeClr val="accent1"/>
                </a:solidFill>
              </a:defRPr>
            </a:lvl3pPr>
            <a:lvl4pPr marL="685800" indent="0" algn="ctr">
              <a:buNone/>
              <a:defRPr>
                <a:solidFill>
                  <a:schemeClr val="accent1"/>
                </a:solidFill>
              </a:defRPr>
            </a:lvl4pPr>
            <a:lvl5pPr marL="891540" indent="0" algn="ctr">
              <a:buNone/>
              <a:defRPr>
                <a:solidFill>
                  <a:schemeClr val="accent1"/>
                </a:solidFill>
              </a:defRPr>
            </a:lvl5pPr>
          </a:lstStyle>
          <a:p>
            <a:pPr lvl="0"/>
            <a:r>
              <a:rPr lang="en-US" dirty="0"/>
              <a:t>CHAPTER 1</a:t>
            </a:r>
          </a:p>
        </p:txBody>
      </p:sp>
      <p:sp>
        <p:nvSpPr>
          <p:cNvPr id="12" name="CT">
            <a:extLst>
              <a:ext uri="{FF2B5EF4-FFF2-40B4-BE49-F238E27FC236}">
                <a16:creationId xmlns:a16="http://schemas.microsoft.com/office/drawing/2014/main" id="{F735601A-B5EA-F54B-BA38-DCB45C4A1328}"/>
              </a:ext>
            </a:extLst>
          </p:cNvPr>
          <p:cNvSpPr>
            <a:spLocks noGrp="1"/>
          </p:cNvSpPr>
          <p:nvPr>
            <p:ph sz="quarter" idx="25" hasCustomPrompt="1"/>
          </p:nvPr>
        </p:nvSpPr>
        <p:spPr>
          <a:xfrm>
            <a:off x="442384" y="921829"/>
            <a:ext cx="11294533" cy="1748433"/>
          </a:xfrm>
          <a:prstGeom prst="rect">
            <a:avLst/>
          </a:prstGeom>
        </p:spPr>
        <p:txBody>
          <a:bodyPr anchor="ctr">
            <a:normAutofit/>
          </a:bodyPr>
          <a:lstStyle>
            <a:lvl1pPr marL="0" indent="0" algn="ctr">
              <a:buNone/>
              <a:defRPr sz="38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Click to Edit Chapter Title</a:t>
            </a:r>
          </a:p>
        </p:txBody>
      </p:sp>
      <p:sp>
        <p:nvSpPr>
          <p:cNvPr id="16" name="Author">
            <a:extLst>
              <a:ext uri="{FF2B5EF4-FFF2-40B4-BE49-F238E27FC236}">
                <a16:creationId xmlns:a16="http://schemas.microsoft.com/office/drawing/2014/main" id="{B3E3A9B7-50B3-7146-9DE9-810F099F4CC8}"/>
              </a:ext>
            </a:extLst>
          </p:cNvPr>
          <p:cNvSpPr>
            <a:spLocks noGrp="1"/>
          </p:cNvSpPr>
          <p:nvPr>
            <p:ph sz="quarter" idx="27" hasCustomPrompt="1"/>
          </p:nvPr>
        </p:nvSpPr>
        <p:spPr>
          <a:xfrm>
            <a:off x="442384" y="5497561"/>
            <a:ext cx="11294533" cy="622213"/>
          </a:xfrm>
          <a:prstGeom prst="rect">
            <a:avLst/>
          </a:prstGeom>
        </p:spPr>
        <p:txBody>
          <a:bodyPr>
            <a:normAutofit/>
          </a:bodyPr>
          <a:lstStyle>
            <a:lvl1pPr marL="0" indent="0" algn="ctr">
              <a:buNone/>
              <a:defRPr sz="3300" b="0" i="0">
                <a:solidFill>
                  <a:schemeClr val="accent6"/>
                </a:solidFill>
                <a:latin typeface="Times" pitchFamily="2" charset="0"/>
                <a:cs typeface="Calibri Light" panose="020F0302020204030204" pitchFamily="34" charset="0"/>
              </a:defRPr>
            </a:lvl1pPr>
            <a:lvl2pPr marL="253746" indent="0" algn="ctr">
              <a:buNone/>
              <a:defRPr>
                <a:solidFill>
                  <a:schemeClr val="accent2"/>
                </a:solidFill>
              </a:defRPr>
            </a:lvl2pPr>
            <a:lvl3pPr marL="480060" indent="0" algn="ctr">
              <a:buNone/>
              <a:defRPr>
                <a:solidFill>
                  <a:schemeClr val="accent2"/>
                </a:solidFill>
              </a:defRPr>
            </a:lvl3pPr>
            <a:lvl4pPr marL="685800" indent="0" algn="ctr">
              <a:buNone/>
              <a:defRPr>
                <a:solidFill>
                  <a:schemeClr val="accent2"/>
                </a:solidFill>
              </a:defRPr>
            </a:lvl4pPr>
            <a:lvl5pPr marL="891540" indent="0" algn="ctr">
              <a:buNone/>
              <a:defRPr>
                <a:solidFill>
                  <a:schemeClr val="accent2"/>
                </a:solidFill>
              </a:defRPr>
            </a:lvl5pPr>
          </a:lstStyle>
          <a:p>
            <a:pPr lvl="0"/>
            <a:r>
              <a:rPr lang="en-US" dirty="0"/>
              <a:t>David Klein</a:t>
            </a:r>
          </a:p>
        </p:txBody>
      </p:sp>
      <p:pic>
        <p:nvPicPr>
          <p:cNvPr id="19" name="Logo">
            <a:extLst>
              <a:ext uri="{FF2B5EF4-FFF2-40B4-BE49-F238E27FC236}">
                <a16:creationId xmlns:a16="http://schemas.microsoft.com/office/drawing/2014/main" id="{CCE8835F-9AAF-DB47-9FE6-EB4956C44F93}"/>
              </a:ext>
            </a:extLst>
          </p:cNvPr>
          <p:cNvPicPr>
            <a:picLocks noChangeAspect="1"/>
          </p:cNvPicPr>
          <p:nvPr/>
        </p:nvPicPr>
        <p:blipFill>
          <a:blip r:embed="rId2"/>
          <a:srcRect/>
          <a:stretch/>
        </p:blipFill>
        <p:spPr>
          <a:xfrm>
            <a:off x="454428" y="6501725"/>
            <a:ext cx="914401" cy="192617"/>
          </a:xfrm>
          <a:prstGeom prst="rect">
            <a:avLst/>
          </a:prstGeom>
        </p:spPr>
      </p:pic>
      <p:sp>
        <p:nvSpPr>
          <p:cNvPr id="18" name="Invisible animation alert">
            <a:extLst>
              <a:ext uri="{FF2B5EF4-FFF2-40B4-BE49-F238E27FC236}">
                <a16:creationId xmlns:a16="http://schemas.microsoft.com/office/drawing/2014/main" id="{EA806F02-AA3F-8D46-97DD-5954EEE9E3EF}"/>
              </a:ext>
            </a:extLst>
          </p:cNvPr>
          <p:cNvSpPr>
            <a:spLocks noGrp="1"/>
          </p:cNvSpPr>
          <p:nvPr>
            <p:ph sz="quarter" idx="28" hasCustomPrompt="1"/>
          </p:nvPr>
        </p:nvSpPr>
        <p:spPr>
          <a:xfrm>
            <a:off x="1938529" y="6530050"/>
            <a:ext cx="9799043" cy="277812"/>
          </a:xfrm>
          <a:prstGeom prst="rect">
            <a:avLst/>
          </a:prstGeom>
        </p:spPr>
        <p:txBody>
          <a:bodyPr>
            <a:noAutofit/>
          </a:bodyPr>
          <a:lstStyle>
            <a:lvl1pPr marL="0" indent="0" algn="r">
              <a:buNone/>
              <a:defRPr sz="1200"/>
            </a:lvl1pPr>
            <a:lvl2pPr marL="253746" indent="0">
              <a:buNone/>
              <a:defRPr sz="900"/>
            </a:lvl2pPr>
            <a:lvl3pPr marL="480060" indent="0">
              <a:buNone/>
              <a:defRPr sz="900"/>
            </a:lvl3pPr>
            <a:lvl4pPr marL="685800" indent="0">
              <a:buNone/>
              <a:defRPr sz="900"/>
            </a:lvl4pPr>
            <a:lvl5pPr marL="891540" indent="0">
              <a:buNone/>
              <a:defRPr sz="900"/>
            </a:lvl5pPr>
          </a:lstStyle>
          <a:p>
            <a:pPr lvl="0"/>
            <a:r>
              <a:rPr lang="en-US" dirty="0"/>
              <a:t>Invisible animation alert</a:t>
            </a:r>
          </a:p>
        </p:txBody>
      </p:sp>
      <p:grpSp>
        <p:nvGrpSpPr>
          <p:cNvPr id="9" name="Decorative">
            <a:extLst>
              <a:ext uri="{FF2B5EF4-FFF2-40B4-BE49-F238E27FC236}">
                <a16:creationId xmlns:a16="http://schemas.microsoft.com/office/drawing/2014/main" id="{EB8A6A9A-221C-6048-A34B-24FA446C5C9B}"/>
              </a:ext>
              <a:ext uri="{C183D7F6-B498-43B3-948B-1728B52AA6E4}">
                <adec:decorative xmlns:adec="http://schemas.microsoft.com/office/drawing/2017/decorative" val="1"/>
              </a:ext>
            </a:extLst>
          </p:cNvPr>
          <p:cNvGrpSpPr/>
          <p:nvPr/>
        </p:nvGrpSpPr>
        <p:grpSpPr>
          <a:xfrm>
            <a:off x="0" y="2891878"/>
            <a:ext cx="12192000" cy="347472"/>
            <a:chOff x="0" y="3089817"/>
            <a:chExt cx="12192000" cy="347472"/>
          </a:xfrm>
        </p:grpSpPr>
        <p:sp>
          <p:nvSpPr>
            <p:cNvPr id="11" name="Rectangle">
              <a:extLst>
                <a:ext uri="{FF2B5EF4-FFF2-40B4-BE49-F238E27FC236}">
                  <a16:creationId xmlns:a16="http://schemas.microsoft.com/office/drawing/2014/main" id="{8728953C-D98C-3E49-B412-3C134A34E34E}"/>
                </a:ext>
              </a:extLst>
            </p:cNvPr>
            <p:cNvSpPr/>
            <p:nvPr/>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3" name="Rectangle">
              <a:extLst>
                <a:ext uri="{FF2B5EF4-FFF2-40B4-BE49-F238E27FC236}">
                  <a16:creationId xmlns:a16="http://schemas.microsoft.com/office/drawing/2014/main" id="{CD12045F-A611-3641-8B5D-71236DD109E0}"/>
                </a:ext>
              </a:extLst>
            </p:cNvPr>
            <p:cNvSpPr/>
            <p:nvPr/>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5" name="Rectangle">
              <a:extLst>
                <a:ext uri="{FF2B5EF4-FFF2-40B4-BE49-F238E27FC236}">
                  <a16:creationId xmlns:a16="http://schemas.microsoft.com/office/drawing/2014/main" id="{1D403840-98C9-B747-AE17-28C05EE6E322}"/>
                </a:ext>
              </a:extLst>
            </p:cNvPr>
            <p:cNvSpPr/>
            <p:nvPr/>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3" name="Logo">
            <a:extLst>
              <a:ext uri="{FF2B5EF4-FFF2-40B4-BE49-F238E27FC236}">
                <a16:creationId xmlns:a16="http://schemas.microsoft.com/office/drawing/2014/main" id="{059239F5-C55E-1EC2-F1EE-E80C5C7A831F}"/>
              </a:ext>
            </a:extLst>
          </p:cNvPr>
          <p:cNvPicPr>
            <a:picLocks noChangeAspect="1"/>
          </p:cNvPicPr>
          <p:nvPr userDrawn="1"/>
        </p:nvPicPr>
        <p:blipFill>
          <a:blip r:embed="rId2"/>
          <a:srcRect/>
          <a:stretch/>
        </p:blipFill>
        <p:spPr>
          <a:xfrm>
            <a:off x="454428" y="6501725"/>
            <a:ext cx="914401" cy="192617"/>
          </a:xfrm>
          <a:prstGeom prst="rect">
            <a:avLst/>
          </a:prstGeom>
        </p:spPr>
      </p:pic>
      <p:grpSp>
        <p:nvGrpSpPr>
          <p:cNvPr id="5" name="Decorative">
            <a:extLst>
              <a:ext uri="{FF2B5EF4-FFF2-40B4-BE49-F238E27FC236}">
                <a16:creationId xmlns:a16="http://schemas.microsoft.com/office/drawing/2014/main" id="{2A831F51-1B87-9B93-DF35-3279ABBC34A8}"/>
              </a:ext>
              <a:ext uri="{C183D7F6-B498-43B3-948B-1728B52AA6E4}">
                <adec:decorative xmlns:adec="http://schemas.microsoft.com/office/drawing/2017/decorative" val="1"/>
              </a:ext>
            </a:extLst>
          </p:cNvPr>
          <p:cNvGrpSpPr/>
          <p:nvPr userDrawn="1"/>
        </p:nvGrpSpPr>
        <p:grpSpPr>
          <a:xfrm>
            <a:off x="0" y="2891878"/>
            <a:ext cx="12192000" cy="347472"/>
            <a:chOff x="0" y="3089817"/>
            <a:chExt cx="12192000" cy="347472"/>
          </a:xfrm>
        </p:grpSpPr>
        <p:sp>
          <p:nvSpPr>
            <p:cNvPr id="6" name="Rectangle">
              <a:extLst>
                <a:ext uri="{FF2B5EF4-FFF2-40B4-BE49-F238E27FC236}">
                  <a16:creationId xmlns:a16="http://schemas.microsoft.com/office/drawing/2014/main" id="{36B9B088-3FA9-B09A-E6E9-98CFB3D78A44}"/>
                </a:ext>
              </a:extLst>
            </p:cNvPr>
            <p:cNvSpPr/>
            <p:nvPr userDrawn="1"/>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7" name="Rectangle">
              <a:extLst>
                <a:ext uri="{FF2B5EF4-FFF2-40B4-BE49-F238E27FC236}">
                  <a16:creationId xmlns:a16="http://schemas.microsoft.com/office/drawing/2014/main" id="{AE67AD3F-1CE4-4390-3B77-487E19642788}"/>
                </a:ext>
              </a:extLst>
            </p:cNvPr>
            <p:cNvSpPr/>
            <p:nvPr userDrawn="1"/>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8" name="Rectangle">
              <a:extLst>
                <a:ext uri="{FF2B5EF4-FFF2-40B4-BE49-F238E27FC236}">
                  <a16:creationId xmlns:a16="http://schemas.microsoft.com/office/drawing/2014/main" id="{4D67895E-F98D-2922-442A-7D3FA6769419}"/>
                </a:ext>
              </a:extLst>
            </p:cNvPr>
            <p:cNvSpPr/>
            <p:nvPr userDrawn="1"/>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spTree>
    <p:extLst>
      <p:ext uri="{BB962C8B-B14F-4D97-AF65-F5344CB8AC3E}">
        <p14:creationId xmlns:p14="http://schemas.microsoft.com/office/powerpoint/2010/main" val="1038921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hapter Opener: author at bottom with cover image">
    <p:spTree>
      <p:nvGrpSpPr>
        <p:cNvPr id="1" name=""/>
        <p:cNvGrpSpPr/>
        <p:nvPr/>
      </p:nvGrpSpPr>
      <p:grpSpPr>
        <a:xfrm>
          <a:off x="0" y="0"/>
          <a:ext cx="0" cy="0"/>
          <a:chOff x="0" y="0"/>
          <a:chExt cx="0" cy="0"/>
        </a:xfrm>
      </p:grpSpPr>
      <p:sp>
        <p:nvSpPr>
          <p:cNvPr id="4" name="CN">
            <a:extLst>
              <a:ext uri="{FF2B5EF4-FFF2-40B4-BE49-F238E27FC236}">
                <a16:creationId xmlns:a16="http://schemas.microsoft.com/office/drawing/2014/main" id="{0BAE0954-7993-BF44-B26B-B5E3A7B6D192}"/>
              </a:ext>
            </a:extLst>
          </p:cNvPr>
          <p:cNvSpPr>
            <a:spLocks noGrp="1"/>
          </p:cNvSpPr>
          <p:nvPr>
            <p:ph sz="quarter" idx="25" hasCustomPrompt="1"/>
          </p:nvPr>
        </p:nvSpPr>
        <p:spPr>
          <a:xfrm>
            <a:off x="3962400" y="228600"/>
            <a:ext cx="7774517" cy="532341"/>
          </a:xfrm>
          <a:prstGeom prst="rect">
            <a:avLst/>
          </a:prstGeom>
        </p:spPr>
        <p:txBody>
          <a:bodyPr>
            <a:noAutofit/>
          </a:bodyPr>
          <a:lstStyle>
            <a:lvl1pPr marL="0" indent="0" algn="ctr">
              <a:buNone/>
              <a:defRPr sz="2300" b="1" spc="225">
                <a:solidFill>
                  <a:schemeClr val="accent3"/>
                </a:solidFill>
              </a:defRPr>
            </a:lvl1pPr>
            <a:lvl2pPr marL="253746" indent="0" algn="ctr">
              <a:buNone/>
              <a:defRPr>
                <a:solidFill>
                  <a:schemeClr val="accent1"/>
                </a:solidFill>
              </a:defRPr>
            </a:lvl2pPr>
            <a:lvl3pPr marL="480060" indent="0" algn="ctr">
              <a:buNone/>
              <a:defRPr>
                <a:solidFill>
                  <a:schemeClr val="accent1"/>
                </a:solidFill>
              </a:defRPr>
            </a:lvl3pPr>
            <a:lvl4pPr marL="685800" indent="0" algn="ctr">
              <a:buNone/>
              <a:defRPr>
                <a:solidFill>
                  <a:schemeClr val="accent1"/>
                </a:solidFill>
              </a:defRPr>
            </a:lvl4pPr>
            <a:lvl5pPr marL="891540" indent="0" algn="ctr">
              <a:buNone/>
              <a:defRPr>
                <a:solidFill>
                  <a:schemeClr val="accent1"/>
                </a:solidFill>
              </a:defRPr>
            </a:lvl5pPr>
          </a:lstStyle>
          <a:p>
            <a:pPr lvl="0"/>
            <a:r>
              <a:rPr lang="en-US" dirty="0"/>
              <a:t>CHAPTER 1</a:t>
            </a:r>
          </a:p>
        </p:txBody>
      </p:sp>
      <p:sp>
        <p:nvSpPr>
          <p:cNvPr id="13" name="CT">
            <a:extLst>
              <a:ext uri="{FF2B5EF4-FFF2-40B4-BE49-F238E27FC236}">
                <a16:creationId xmlns:a16="http://schemas.microsoft.com/office/drawing/2014/main" id="{A0488DDF-7F81-C647-968D-1B7CBA6AB5FC}"/>
              </a:ext>
            </a:extLst>
          </p:cNvPr>
          <p:cNvSpPr>
            <a:spLocks noGrp="1"/>
          </p:cNvSpPr>
          <p:nvPr>
            <p:ph sz="quarter" idx="26" hasCustomPrompt="1"/>
          </p:nvPr>
        </p:nvSpPr>
        <p:spPr>
          <a:xfrm>
            <a:off x="3962400" y="760944"/>
            <a:ext cx="7774517" cy="2286001"/>
          </a:xfrm>
          <a:prstGeom prst="rect">
            <a:avLst/>
          </a:prstGeom>
        </p:spPr>
        <p:txBody>
          <a:bodyPr anchor="ctr">
            <a:normAutofit/>
          </a:bodyPr>
          <a:lstStyle>
            <a:lvl1pPr marL="0" indent="0" algn="ctr">
              <a:buNone/>
              <a:defRPr sz="38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Click to Edit Chapter Title</a:t>
            </a:r>
          </a:p>
        </p:txBody>
      </p:sp>
      <p:sp>
        <p:nvSpPr>
          <p:cNvPr id="2" name="Title">
            <a:extLst>
              <a:ext uri="{FF2B5EF4-FFF2-40B4-BE49-F238E27FC236}">
                <a16:creationId xmlns:a16="http://schemas.microsoft.com/office/drawing/2014/main" id="{D4299543-EA93-204D-A71A-CDEF1C90B988}"/>
              </a:ext>
            </a:extLst>
          </p:cNvPr>
          <p:cNvSpPr>
            <a:spLocks noGrp="1"/>
          </p:cNvSpPr>
          <p:nvPr>
            <p:ph type="title" hasCustomPrompt="1"/>
          </p:nvPr>
        </p:nvSpPr>
        <p:spPr>
          <a:xfrm>
            <a:off x="443345" y="3506268"/>
            <a:ext cx="11294227" cy="1522941"/>
          </a:xfrm>
          <a:prstGeom prst="rect">
            <a:avLst/>
          </a:prstGeom>
        </p:spPr>
        <p:txBody>
          <a:bodyPr anchor="ctr">
            <a:normAutofit/>
          </a:bodyPr>
          <a:lstStyle>
            <a:lvl1pPr algn="ctr">
              <a:defRPr sz="6200" b="0" i="0">
                <a:solidFill>
                  <a:schemeClr val="accent6"/>
                </a:solidFill>
                <a:latin typeface="Times" pitchFamily="2" charset="0"/>
                <a:cs typeface="Calibri" panose="020F0502020204030204" pitchFamily="34" charset="0"/>
              </a:defRPr>
            </a:lvl1pPr>
          </a:lstStyle>
          <a:p>
            <a:r>
              <a:rPr lang="en-US" dirty="0"/>
              <a:t>Click to Edit Book Title</a:t>
            </a:r>
          </a:p>
        </p:txBody>
      </p:sp>
      <p:sp>
        <p:nvSpPr>
          <p:cNvPr id="15" name="Edition">
            <a:extLst>
              <a:ext uri="{FF2B5EF4-FFF2-40B4-BE49-F238E27FC236}">
                <a16:creationId xmlns:a16="http://schemas.microsoft.com/office/drawing/2014/main" id="{357E9F03-19DB-C04A-9554-E5165B81BE98}"/>
              </a:ext>
            </a:extLst>
          </p:cNvPr>
          <p:cNvSpPr>
            <a:spLocks noGrp="1"/>
          </p:cNvSpPr>
          <p:nvPr>
            <p:ph sz="quarter" idx="27" hasCustomPrompt="1"/>
          </p:nvPr>
        </p:nvSpPr>
        <p:spPr>
          <a:xfrm>
            <a:off x="442384" y="4789320"/>
            <a:ext cx="11294533" cy="674306"/>
          </a:xfrm>
          <a:prstGeom prst="rect">
            <a:avLst/>
          </a:prstGeom>
        </p:spPr>
        <p:txBody>
          <a:bodyPr>
            <a:noAutofit/>
          </a:bodyPr>
          <a:lstStyle>
            <a:lvl1pPr marL="0" indent="0" algn="ctr">
              <a:buNone/>
              <a:defRPr sz="24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Third Edition</a:t>
            </a:r>
          </a:p>
        </p:txBody>
      </p:sp>
      <p:sp>
        <p:nvSpPr>
          <p:cNvPr id="17" name="Author">
            <a:extLst>
              <a:ext uri="{FF2B5EF4-FFF2-40B4-BE49-F238E27FC236}">
                <a16:creationId xmlns:a16="http://schemas.microsoft.com/office/drawing/2014/main" id="{0C002D38-323C-0040-8548-6C0885CCDA25}"/>
              </a:ext>
            </a:extLst>
          </p:cNvPr>
          <p:cNvSpPr>
            <a:spLocks noGrp="1"/>
          </p:cNvSpPr>
          <p:nvPr>
            <p:ph sz="quarter" idx="28" hasCustomPrompt="1"/>
          </p:nvPr>
        </p:nvSpPr>
        <p:spPr>
          <a:xfrm>
            <a:off x="442384" y="5600878"/>
            <a:ext cx="11294533" cy="547398"/>
          </a:xfrm>
          <a:prstGeom prst="rect">
            <a:avLst/>
          </a:prstGeom>
        </p:spPr>
        <p:txBody>
          <a:bodyPr>
            <a:normAutofit/>
          </a:bodyPr>
          <a:lstStyle>
            <a:lvl1pPr marL="0" indent="0" algn="ctr">
              <a:buNone/>
              <a:defRPr sz="33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David Klein</a:t>
            </a:r>
          </a:p>
        </p:txBody>
      </p:sp>
      <p:sp>
        <p:nvSpPr>
          <p:cNvPr id="11" name="Cover image">
            <a:extLst>
              <a:ext uri="{FF2B5EF4-FFF2-40B4-BE49-F238E27FC236}">
                <a16:creationId xmlns:a16="http://schemas.microsoft.com/office/drawing/2014/main" id="{399A8AAF-2AC9-F644-96AD-94B478294DA4}"/>
              </a:ext>
            </a:extLst>
          </p:cNvPr>
          <p:cNvSpPr>
            <a:spLocks noGrp="1"/>
          </p:cNvSpPr>
          <p:nvPr>
            <p:ph type="pic" sz="quarter" idx="24" hasCustomPrompt="1"/>
          </p:nvPr>
        </p:nvSpPr>
        <p:spPr>
          <a:xfrm>
            <a:off x="508003" y="251264"/>
            <a:ext cx="3009676" cy="2647723"/>
          </a:xfrm>
          <a:prstGeom prst="rect">
            <a:avLst/>
          </a:prstGeom>
          <a:solidFill>
            <a:schemeClr val="bg2"/>
          </a:solidFill>
          <a:ln w="6350">
            <a:solidFill>
              <a:schemeClr val="bg1">
                <a:lumMod val="50000"/>
              </a:schemeClr>
            </a:solidFill>
          </a:ln>
        </p:spPr>
        <p:txBody>
          <a:bodyPr anchor="ctr"/>
          <a:lstStyle>
            <a:lvl1pPr marL="0" indent="0" algn="ctr">
              <a:buNone/>
              <a:defRPr sz="1500"/>
            </a:lvl1pPr>
          </a:lstStyle>
          <a:p>
            <a:r>
              <a:rPr lang="en-US" dirty="0"/>
              <a:t>Click to</a:t>
            </a:r>
            <a:br>
              <a:rPr lang="en-US" dirty="0"/>
            </a:br>
            <a:r>
              <a:rPr lang="en-US" dirty="0"/>
              <a:t>Add Cover Image</a:t>
            </a:r>
          </a:p>
        </p:txBody>
      </p:sp>
      <p:pic>
        <p:nvPicPr>
          <p:cNvPr id="19" name="Logo">
            <a:extLst>
              <a:ext uri="{FF2B5EF4-FFF2-40B4-BE49-F238E27FC236}">
                <a16:creationId xmlns:a16="http://schemas.microsoft.com/office/drawing/2014/main" id="{5C941B12-5A6D-2D43-A53E-1056F6FCB3F2}"/>
              </a:ext>
            </a:extLst>
          </p:cNvPr>
          <p:cNvPicPr>
            <a:picLocks noChangeAspect="1"/>
          </p:cNvPicPr>
          <p:nvPr/>
        </p:nvPicPr>
        <p:blipFill>
          <a:blip r:embed="rId2"/>
          <a:srcRect/>
          <a:stretch/>
        </p:blipFill>
        <p:spPr>
          <a:xfrm>
            <a:off x="454428" y="6501725"/>
            <a:ext cx="914401" cy="192617"/>
          </a:xfrm>
          <a:prstGeom prst="rect">
            <a:avLst/>
          </a:prstGeom>
        </p:spPr>
      </p:pic>
      <p:sp>
        <p:nvSpPr>
          <p:cNvPr id="21" name="Invisible animation alert">
            <a:extLst>
              <a:ext uri="{FF2B5EF4-FFF2-40B4-BE49-F238E27FC236}">
                <a16:creationId xmlns:a16="http://schemas.microsoft.com/office/drawing/2014/main" id="{995F79C4-4323-0345-9D75-F40C6CDED105}"/>
              </a:ext>
            </a:extLst>
          </p:cNvPr>
          <p:cNvSpPr>
            <a:spLocks noGrp="1"/>
          </p:cNvSpPr>
          <p:nvPr>
            <p:ph sz="quarter" idx="29" hasCustomPrompt="1"/>
          </p:nvPr>
        </p:nvSpPr>
        <p:spPr>
          <a:xfrm>
            <a:off x="1938529" y="6530050"/>
            <a:ext cx="9799043" cy="277812"/>
          </a:xfrm>
          <a:prstGeom prst="rect">
            <a:avLst/>
          </a:prstGeom>
        </p:spPr>
        <p:txBody>
          <a:bodyPr>
            <a:noAutofit/>
          </a:bodyPr>
          <a:lstStyle>
            <a:lvl1pPr marL="0" indent="0" algn="r">
              <a:buNone/>
              <a:defRPr sz="1200"/>
            </a:lvl1pPr>
            <a:lvl2pPr marL="253746" indent="0">
              <a:buNone/>
              <a:defRPr sz="900"/>
            </a:lvl2pPr>
            <a:lvl3pPr marL="480060" indent="0">
              <a:buNone/>
              <a:defRPr sz="900"/>
            </a:lvl3pPr>
            <a:lvl4pPr marL="685800" indent="0">
              <a:buNone/>
              <a:defRPr sz="900"/>
            </a:lvl4pPr>
            <a:lvl5pPr marL="891540" indent="0">
              <a:buNone/>
              <a:defRPr sz="900"/>
            </a:lvl5pPr>
          </a:lstStyle>
          <a:p>
            <a:pPr lvl="0"/>
            <a:r>
              <a:rPr lang="en-US" dirty="0"/>
              <a:t>Invisible animation alert</a:t>
            </a:r>
          </a:p>
        </p:txBody>
      </p:sp>
      <p:grpSp>
        <p:nvGrpSpPr>
          <p:cNvPr id="12" name="Decorative">
            <a:extLst>
              <a:ext uri="{FF2B5EF4-FFF2-40B4-BE49-F238E27FC236}">
                <a16:creationId xmlns:a16="http://schemas.microsoft.com/office/drawing/2014/main" id="{9333E768-1E6A-5946-86E8-E384A09C91A6}"/>
              </a:ext>
              <a:ext uri="{C183D7F6-B498-43B3-948B-1728B52AA6E4}">
                <adec:decorative xmlns:adec="http://schemas.microsoft.com/office/drawing/2017/decorative" val="1"/>
              </a:ext>
            </a:extLst>
          </p:cNvPr>
          <p:cNvGrpSpPr/>
          <p:nvPr/>
        </p:nvGrpSpPr>
        <p:grpSpPr>
          <a:xfrm>
            <a:off x="0" y="3075637"/>
            <a:ext cx="12192000" cy="347472"/>
            <a:chOff x="0" y="3089817"/>
            <a:chExt cx="12192000" cy="347472"/>
          </a:xfrm>
        </p:grpSpPr>
        <p:sp>
          <p:nvSpPr>
            <p:cNvPr id="14" name="Rectangle">
              <a:extLst>
                <a:ext uri="{FF2B5EF4-FFF2-40B4-BE49-F238E27FC236}">
                  <a16:creationId xmlns:a16="http://schemas.microsoft.com/office/drawing/2014/main" id="{6A9D3241-01B8-CF4F-A8DE-ED3E0B403D8E}"/>
                </a:ext>
              </a:extLst>
            </p:cNvPr>
            <p:cNvSpPr/>
            <p:nvPr/>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6" name="Rectangle">
              <a:extLst>
                <a:ext uri="{FF2B5EF4-FFF2-40B4-BE49-F238E27FC236}">
                  <a16:creationId xmlns:a16="http://schemas.microsoft.com/office/drawing/2014/main" id="{6ED2EEB2-DB69-744E-9E6C-C6C37A29636E}"/>
                </a:ext>
              </a:extLst>
            </p:cNvPr>
            <p:cNvSpPr/>
            <p:nvPr/>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8" name="Rectangle">
              <a:extLst>
                <a:ext uri="{FF2B5EF4-FFF2-40B4-BE49-F238E27FC236}">
                  <a16:creationId xmlns:a16="http://schemas.microsoft.com/office/drawing/2014/main" id="{306368B5-3288-AC43-8ED2-6589E5D1F9D1}"/>
                </a:ext>
              </a:extLst>
            </p:cNvPr>
            <p:cNvSpPr/>
            <p:nvPr/>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3" name="Logo">
            <a:extLst>
              <a:ext uri="{FF2B5EF4-FFF2-40B4-BE49-F238E27FC236}">
                <a16:creationId xmlns:a16="http://schemas.microsoft.com/office/drawing/2014/main" id="{23CB4E80-5493-CB14-580E-5C2B4838FFA6}"/>
              </a:ext>
            </a:extLst>
          </p:cNvPr>
          <p:cNvPicPr>
            <a:picLocks noChangeAspect="1"/>
          </p:cNvPicPr>
          <p:nvPr userDrawn="1"/>
        </p:nvPicPr>
        <p:blipFill>
          <a:blip r:embed="rId2"/>
          <a:srcRect/>
          <a:stretch/>
        </p:blipFill>
        <p:spPr>
          <a:xfrm>
            <a:off x="454428" y="6501725"/>
            <a:ext cx="914401" cy="192617"/>
          </a:xfrm>
          <a:prstGeom prst="rect">
            <a:avLst/>
          </a:prstGeom>
        </p:spPr>
      </p:pic>
      <p:grpSp>
        <p:nvGrpSpPr>
          <p:cNvPr id="5" name="Decorative">
            <a:extLst>
              <a:ext uri="{FF2B5EF4-FFF2-40B4-BE49-F238E27FC236}">
                <a16:creationId xmlns:a16="http://schemas.microsoft.com/office/drawing/2014/main" id="{75897CAD-5433-B79F-D414-4524FF8F6CC9}"/>
              </a:ext>
              <a:ext uri="{C183D7F6-B498-43B3-948B-1728B52AA6E4}">
                <adec:decorative xmlns:adec="http://schemas.microsoft.com/office/drawing/2017/decorative" val="1"/>
              </a:ext>
            </a:extLst>
          </p:cNvPr>
          <p:cNvGrpSpPr/>
          <p:nvPr userDrawn="1"/>
        </p:nvGrpSpPr>
        <p:grpSpPr>
          <a:xfrm>
            <a:off x="0" y="3075637"/>
            <a:ext cx="12192000" cy="347472"/>
            <a:chOff x="0" y="3089817"/>
            <a:chExt cx="12192000" cy="347472"/>
          </a:xfrm>
        </p:grpSpPr>
        <p:sp>
          <p:nvSpPr>
            <p:cNvPr id="6" name="Rectangle">
              <a:extLst>
                <a:ext uri="{FF2B5EF4-FFF2-40B4-BE49-F238E27FC236}">
                  <a16:creationId xmlns:a16="http://schemas.microsoft.com/office/drawing/2014/main" id="{0CCB7099-BA30-F7D9-64C8-7A0C35ABB793}"/>
                </a:ext>
              </a:extLst>
            </p:cNvPr>
            <p:cNvSpPr/>
            <p:nvPr userDrawn="1"/>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7" name="Rectangle">
              <a:extLst>
                <a:ext uri="{FF2B5EF4-FFF2-40B4-BE49-F238E27FC236}">
                  <a16:creationId xmlns:a16="http://schemas.microsoft.com/office/drawing/2014/main" id="{8DFC5D56-8B09-35FD-5273-640F8DEF31C7}"/>
                </a:ext>
              </a:extLst>
            </p:cNvPr>
            <p:cNvSpPr/>
            <p:nvPr userDrawn="1"/>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8" name="Rectangle">
              <a:extLst>
                <a:ext uri="{FF2B5EF4-FFF2-40B4-BE49-F238E27FC236}">
                  <a16:creationId xmlns:a16="http://schemas.microsoft.com/office/drawing/2014/main" id="{A69FBE72-E2C8-8472-736C-1B704EC05125}"/>
                </a:ext>
              </a:extLst>
            </p:cNvPr>
            <p:cNvSpPr/>
            <p:nvPr userDrawn="1"/>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spTree>
    <p:extLst>
      <p:ext uri="{BB962C8B-B14F-4D97-AF65-F5344CB8AC3E}">
        <p14:creationId xmlns:p14="http://schemas.microsoft.com/office/powerpoint/2010/main" val="4231559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lus 1 column">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E04750B-87C8-BA49-9BD3-C465B46973BB}"/>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ntent Placeholder">
            <a:extLst>
              <a:ext uri="{FF2B5EF4-FFF2-40B4-BE49-F238E27FC236}">
                <a16:creationId xmlns:a16="http://schemas.microsoft.com/office/drawing/2014/main" id="{32AC4F3A-7D5E-944E-BEF6-CD50CC99DF69}"/>
              </a:ext>
            </a:extLst>
          </p:cNvPr>
          <p:cNvSpPr>
            <a:spLocks noGrp="1"/>
          </p:cNvSpPr>
          <p:nvPr>
            <p:ph sz="quarter" idx="12" hasCustomPrompt="1"/>
          </p:nvPr>
        </p:nvSpPr>
        <p:spPr>
          <a:xfrm>
            <a:off x="685150" y="1424065"/>
            <a:ext cx="10820401" cy="4961351"/>
          </a:xfrm>
          <a:prstGeom prst="rect">
            <a:avLst/>
          </a:prstGeom>
        </p:spPr>
        <p:txBody>
          <a:bodyPr>
            <a:normAutofit/>
          </a:bodyPr>
          <a:lstStyle>
            <a:lvl1pPr marL="0" indent="0">
              <a:spcBef>
                <a:spcPts val="1000"/>
              </a:spcBef>
              <a:buFont typeface="Arial" panose="020B0604020202020204" pitchFamily="34" charset="0"/>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Click to add text or image</a:t>
            </a:r>
          </a:p>
        </p:txBody>
      </p:sp>
    </p:spTree>
    <p:extLst>
      <p:ext uri="{BB962C8B-B14F-4D97-AF65-F5344CB8AC3E}">
        <p14:creationId xmlns:p14="http://schemas.microsoft.com/office/powerpoint/2010/main" val="3915044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D49E8-6DEF-1BAD-FB0A-7D40E74DD69E}"/>
              </a:ext>
            </a:extLst>
          </p:cNvPr>
          <p:cNvSpPr>
            <a:spLocks noGrp="1"/>
          </p:cNvSpPr>
          <p:nvPr>
            <p:ph type="title"/>
          </p:nvPr>
        </p:nvSpPr>
        <p:spPr/>
        <p:txBody>
          <a:bodyPr/>
          <a:lstStyle/>
          <a:p>
            <a:r>
              <a:rPr lang="en-GB"/>
              <a:t>Click to edit Master title style</a:t>
            </a:r>
            <a:endParaRPr lang="en-US"/>
          </a:p>
        </p:txBody>
      </p:sp>
      <p:sp>
        <p:nvSpPr>
          <p:cNvPr id="6" name="Content Placeholder 5">
            <a:extLst>
              <a:ext uri="{FF2B5EF4-FFF2-40B4-BE49-F238E27FC236}">
                <a16:creationId xmlns:a16="http://schemas.microsoft.com/office/drawing/2014/main" id="{5ED0FBD7-F720-487E-D85C-FDC3058C1C0C}"/>
              </a:ext>
            </a:extLst>
          </p:cNvPr>
          <p:cNvSpPr>
            <a:spLocks noGrp="1"/>
          </p:cNvSpPr>
          <p:nvPr>
            <p:ph sz="quarter" idx="10"/>
          </p:nvPr>
        </p:nvSpPr>
        <p:spPr>
          <a:xfrm>
            <a:off x="858837" y="1684338"/>
            <a:ext cx="1583279" cy="849312"/>
          </a:xfrm>
        </p:spPr>
        <p:txBody>
          <a:bodyPr/>
          <a:lstStyle>
            <a:lvl1pPr>
              <a:buNone/>
              <a:defRPr sz="2400"/>
            </a:lvl1pPr>
          </a:lstStyle>
          <a:p>
            <a:pPr lvl="0"/>
            <a:endParaRPr lang="en-US" dirty="0"/>
          </a:p>
        </p:txBody>
      </p:sp>
      <p:sp>
        <p:nvSpPr>
          <p:cNvPr id="7" name="Content Placeholder 5">
            <a:extLst>
              <a:ext uri="{FF2B5EF4-FFF2-40B4-BE49-F238E27FC236}">
                <a16:creationId xmlns:a16="http://schemas.microsoft.com/office/drawing/2014/main" id="{6E0CBCB1-7BC9-DCA3-1393-DF45F5F98333}"/>
              </a:ext>
            </a:extLst>
          </p:cNvPr>
          <p:cNvSpPr>
            <a:spLocks noGrp="1"/>
          </p:cNvSpPr>
          <p:nvPr>
            <p:ph sz="quarter" idx="11"/>
          </p:nvPr>
        </p:nvSpPr>
        <p:spPr>
          <a:xfrm>
            <a:off x="858836" y="2791561"/>
            <a:ext cx="1583279" cy="849312"/>
          </a:xfrm>
        </p:spPr>
        <p:txBody>
          <a:bodyPr/>
          <a:lstStyle>
            <a:lvl1pPr>
              <a:buNone/>
              <a:defRPr sz="2400"/>
            </a:lvl1pPr>
          </a:lstStyle>
          <a:p>
            <a:pPr lvl="0"/>
            <a:endParaRPr lang="en-US" dirty="0"/>
          </a:p>
        </p:txBody>
      </p:sp>
      <p:sp>
        <p:nvSpPr>
          <p:cNvPr id="8" name="Content Placeholder 5">
            <a:extLst>
              <a:ext uri="{FF2B5EF4-FFF2-40B4-BE49-F238E27FC236}">
                <a16:creationId xmlns:a16="http://schemas.microsoft.com/office/drawing/2014/main" id="{B0D4EB24-47AE-7B02-6E9F-8D180CBEC784}"/>
              </a:ext>
            </a:extLst>
          </p:cNvPr>
          <p:cNvSpPr>
            <a:spLocks noGrp="1"/>
          </p:cNvSpPr>
          <p:nvPr>
            <p:ph sz="quarter" idx="12"/>
          </p:nvPr>
        </p:nvSpPr>
        <p:spPr>
          <a:xfrm>
            <a:off x="858837" y="3590988"/>
            <a:ext cx="1583279" cy="849312"/>
          </a:xfrm>
        </p:spPr>
        <p:txBody>
          <a:bodyPr/>
          <a:lstStyle>
            <a:lvl1pPr>
              <a:buNone/>
              <a:defRPr sz="2400"/>
            </a:lvl1pPr>
          </a:lstStyle>
          <a:p>
            <a:pPr lvl="0"/>
            <a:endParaRPr lang="en-US" dirty="0"/>
          </a:p>
        </p:txBody>
      </p:sp>
      <p:sp>
        <p:nvSpPr>
          <p:cNvPr id="9" name="Content Placeholder 5">
            <a:extLst>
              <a:ext uri="{FF2B5EF4-FFF2-40B4-BE49-F238E27FC236}">
                <a16:creationId xmlns:a16="http://schemas.microsoft.com/office/drawing/2014/main" id="{45085A9C-CC6A-44B8-46D5-BB73418D0962}"/>
              </a:ext>
            </a:extLst>
          </p:cNvPr>
          <p:cNvSpPr>
            <a:spLocks noGrp="1"/>
          </p:cNvSpPr>
          <p:nvPr>
            <p:ph sz="quarter" idx="13"/>
          </p:nvPr>
        </p:nvSpPr>
        <p:spPr>
          <a:xfrm>
            <a:off x="858837" y="4698211"/>
            <a:ext cx="1583279" cy="849312"/>
          </a:xfrm>
        </p:spPr>
        <p:txBody>
          <a:bodyPr/>
          <a:lstStyle>
            <a:lvl1pPr>
              <a:buNone/>
              <a:defRPr sz="2400"/>
            </a:lvl1pPr>
          </a:lstStyle>
          <a:p>
            <a:pPr lvl="0"/>
            <a:endParaRPr lang="en-US" dirty="0"/>
          </a:p>
        </p:txBody>
      </p:sp>
      <p:sp>
        <p:nvSpPr>
          <p:cNvPr id="10" name="Content Placeholder 5">
            <a:extLst>
              <a:ext uri="{FF2B5EF4-FFF2-40B4-BE49-F238E27FC236}">
                <a16:creationId xmlns:a16="http://schemas.microsoft.com/office/drawing/2014/main" id="{8F82FB17-3FA9-5B49-FF2D-B1F927F0B78C}"/>
              </a:ext>
            </a:extLst>
          </p:cNvPr>
          <p:cNvSpPr>
            <a:spLocks noGrp="1"/>
          </p:cNvSpPr>
          <p:nvPr>
            <p:ph sz="quarter" idx="14"/>
          </p:nvPr>
        </p:nvSpPr>
        <p:spPr>
          <a:xfrm>
            <a:off x="2765696" y="2103210"/>
            <a:ext cx="1583279" cy="849312"/>
          </a:xfrm>
        </p:spPr>
        <p:txBody>
          <a:bodyPr/>
          <a:lstStyle>
            <a:lvl1pPr>
              <a:buNone/>
              <a:defRPr sz="2400"/>
            </a:lvl1pPr>
          </a:lstStyle>
          <a:p>
            <a:pPr lvl="0"/>
            <a:endParaRPr lang="en-US" dirty="0"/>
          </a:p>
        </p:txBody>
      </p:sp>
      <p:sp>
        <p:nvSpPr>
          <p:cNvPr id="11" name="Content Placeholder 5">
            <a:extLst>
              <a:ext uri="{FF2B5EF4-FFF2-40B4-BE49-F238E27FC236}">
                <a16:creationId xmlns:a16="http://schemas.microsoft.com/office/drawing/2014/main" id="{2D07BEB6-4FF6-A7CD-7282-9F21E8FB858E}"/>
              </a:ext>
            </a:extLst>
          </p:cNvPr>
          <p:cNvSpPr>
            <a:spLocks noGrp="1"/>
          </p:cNvSpPr>
          <p:nvPr>
            <p:ph sz="quarter" idx="15"/>
          </p:nvPr>
        </p:nvSpPr>
        <p:spPr>
          <a:xfrm>
            <a:off x="2765696" y="3321509"/>
            <a:ext cx="1583279" cy="849312"/>
          </a:xfrm>
        </p:spPr>
        <p:txBody>
          <a:bodyPr/>
          <a:lstStyle>
            <a:lvl1pPr>
              <a:buNone/>
              <a:defRPr sz="2400"/>
            </a:lvl1pPr>
          </a:lstStyle>
          <a:p>
            <a:pPr lvl="0"/>
            <a:endParaRPr lang="en-US" dirty="0"/>
          </a:p>
        </p:txBody>
      </p:sp>
      <p:sp>
        <p:nvSpPr>
          <p:cNvPr id="12" name="Content Placeholder 5">
            <a:extLst>
              <a:ext uri="{FF2B5EF4-FFF2-40B4-BE49-F238E27FC236}">
                <a16:creationId xmlns:a16="http://schemas.microsoft.com/office/drawing/2014/main" id="{C6D3A51D-C7E2-12FA-85BB-8E4856FCE3F8}"/>
              </a:ext>
            </a:extLst>
          </p:cNvPr>
          <p:cNvSpPr>
            <a:spLocks noGrp="1"/>
          </p:cNvSpPr>
          <p:nvPr>
            <p:ph sz="quarter" idx="16"/>
          </p:nvPr>
        </p:nvSpPr>
        <p:spPr>
          <a:xfrm>
            <a:off x="2765696" y="4528922"/>
            <a:ext cx="1583279" cy="849312"/>
          </a:xfrm>
        </p:spPr>
        <p:txBody>
          <a:bodyPr/>
          <a:lstStyle>
            <a:lvl1pPr>
              <a:buNone/>
              <a:defRPr sz="2400"/>
            </a:lvl1pPr>
          </a:lstStyle>
          <a:p>
            <a:pPr lvl="0"/>
            <a:endParaRPr lang="en-US" dirty="0"/>
          </a:p>
        </p:txBody>
      </p:sp>
      <p:sp>
        <p:nvSpPr>
          <p:cNvPr id="13" name="Content Placeholder 5">
            <a:extLst>
              <a:ext uri="{FF2B5EF4-FFF2-40B4-BE49-F238E27FC236}">
                <a16:creationId xmlns:a16="http://schemas.microsoft.com/office/drawing/2014/main" id="{F2BE394E-8739-8C07-2FFA-52079E4A85C1}"/>
              </a:ext>
            </a:extLst>
          </p:cNvPr>
          <p:cNvSpPr>
            <a:spLocks noGrp="1"/>
          </p:cNvSpPr>
          <p:nvPr>
            <p:ph sz="quarter" idx="17"/>
          </p:nvPr>
        </p:nvSpPr>
        <p:spPr>
          <a:xfrm>
            <a:off x="5085150" y="2154577"/>
            <a:ext cx="1583279" cy="849312"/>
          </a:xfrm>
        </p:spPr>
        <p:txBody>
          <a:bodyPr/>
          <a:lstStyle>
            <a:lvl1pPr>
              <a:buNone/>
              <a:defRPr sz="2400"/>
            </a:lvl1pPr>
          </a:lstStyle>
          <a:p>
            <a:pPr lvl="0"/>
            <a:endParaRPr lang="en-US" dirty="0"/>
          </a:p>
        </p:txBody>
      </p:sp>
      <p:sp>
        <p:nvSpPr>
          <p:cNvPr id="14" name="Content Placeholder 5">
            <a:extLst>
              <a:ext uri="{FF2B5EF4-FFF2-40B4-BE49-F238E27FC236}">
                <a16:creationId xmlns:a16="http://schemas.microsoft.com/office/drawing/2014/main" id="{82432982-AC2A-4943-B299-5DE428C4E717}"/>
              </a:ext>
            </a:extLst>
          </p:cNvPr>
          <p:cNvSpPr>
            <a:spLocks noGrp="1"/>
          </p:cNvSpPr>
          <p:nvPr>
            <p:ph sz="quarter" idx="18"/>
          </p:nvPr>
        </p:nvSpPr>
        <p:spPr>
          <a:xfrm>
            <a:off x="5085150" y="3198126"/>
            <a:ext cx="1583279" cy="849312"/>
          </a:xfrm>
        </p:spPr>
        <p:txBody>
          <a:bodyPr/>
          <a:lstStyle>
            <a:lvl1pPr>
              <a:buNone/>
              <a:defRPr sz="2400"/>
            </a:lvl1pPr>
          </a:lstStyle>
          <a:p>
            <a:pPr lvl="0"/>
            <a:endParaRPr lang="en-US" dirty="0"/>
          </a:p>
        </p:txBody>
      </p:sp>
      <p:sp>
        <p:nvSpPr>
          <p:cNvPr id="15" name="Content Placeholder 5">
            <a:extLst>
              <a:ext uri="{FF2B5EF4-FFF2-40B4-BE49-F238E27FC236}">
                <a16:creationId xmlns:a16="http://schemas.microsoft.com/office/drawing/2014/main" id="{99016584-A215-7BB1-F621-108DC65AC95E}"/>
              </a:ext>
            </a:extLst>
          </p:cNvPr>
          <p:cNvSpPr>
            <a:spLocks noGrp="1"/>
          </p:cNvSpPr>
          <p:nvPr>
            <p:ph sz="quarter" idx="19"/>
          </p:nvPr>
        </p:nvSpPr>
        <p:spPr>
          <a:xfrm>
            <a:off x="5085150" y="4273555"/>
            <a:ext cx="1583279" cy="849312"/>
          </a:xfrm>
        </p:spPr>
        <p:txBody>
          <a:bodyPr/>
          <a:lstStyle>
            <a:lvl1pPr>
              <a:buNone/>
              <a:defRPr sz="2400"/>
            </a:lvl1pPr>
          </a:lstStyle>
          <a:p>
            <a:pPr lvl="0"/>
            <a:endParaRPr lang="en-US" dirty="0"/>
          </a:p>
        </p:txBody>
      </p:sp>
      <p:sp>
        <p:nvSpPr>
          <p:cNvPr id="16" name="Content Placeholder 5">
            <a:extLst>
              <a:ext uri="{FF2B5EF4-FFF2-40B4-BE49-F238E27FC236}">
                <a16:creationId xmlns:a16="http://schemas.microsoft.com/office/drawing/2014/main" id="{E3237BEB-86F5-1F5B-AC16-9490AC5730A8}"/>
              </a:ext>
            </a:extLst>
          </p:cNvPr>
          <p:cNvSpPr>
            <a:spLocks noGrp="1"/>
          </p:cNvSpPr>
          <p:nvPr>
            <p:ph sz="quarter" idx="20"/>
          </p:nvPr>
        </p:nvSpPr>
        <p:spPr>
          <a:xfrm>
            <a:off x="7136975" y="2069932"/>
            <a:ext cx="1583279" cy="849312"/>
          </a:xfrm>
        </p:spPr>
        <p:txBody>
          <a:bodyPr/>
          <a:lstStyle>
            <a:lvl1pPr>
              <a:buNone/>
              <a:defRPr sz="2400"/>
            </a:lvl1pPr>
          </a:lstStyle>
          <a:p>
            <a:pPr lvl="0"/>
            <a:endParaRPr lang="en-US" dirty="0"/>
          </a:p>
        </p:txBody>
      </p:sp>
      <p:sp>
        <p:nvSpPr>
          <p:cNvPr id="17" name="Content Placeholder 5">
            <a:extLst>
              <a:ext uri="{FF2B5EF4-FFF2-40B4-BE49-F238E27FC236}">
                <a16:creationId xmlns:a16="http://schemas.microsoft.com/office/drawing/2014/main" id="{51068298-CB63-5B9C-21C2-793F00269032}"/>
              </a:ext>
            </a:extLst>
          </p:cNvPr>
          <p:cNvSpPr>
            <a:spLocks noGrp="1"/>
          </p:cNvSpPr>
          <p:nvPr>
            <p:ph sz="quarter" idx="21"/>
          </p:nvPr>
        </p:nvSpPr>
        <p:spPr>
          <a:xfrm>
            <a:off x="7136975" y="3023816"/>
            <a:ext cx="1583279" cy="849312"/>
          </a:xfrm>
        </p:spPr>
        <p:txBody>
          <a:bodyPr/>
          <a:lstStyle>
            <a:lvl1pPr>
              <a:buNone/>
              <a:defRPr sz="2400"/>
            </a:lvl1pPr>
          </a:lstStyle>
          <a:p>
            <a:pPr lvl="0"/>
            <a:endParaRPr lang="en-US" dirty="0"/>
          </a:p>
        </p:txBody>
      </p:sp>
      <p:sp>
        <p:nvSpPr>
          <p:cNvPr id="18" name="Content Placeholder 5">
            <a:extLst>
              <a:ext uri="{FF2B5EF4-FFF2-40B4-BE49-F238E27FC236}">
                <a16:creationId xmlns:a16="http://schemas.microsoft.com/office/drawing/2014/main" id="{E31B08AB-EF88-D94D-2234-48DFEC1F1210}"/>
              </a:ext>
            </a:extLst>
          </p:cNvPr>
          <p:cNvSpPr>
            <a:spLocks noGrp="1"/>
          </p:cNvSpPr>
          <p:nvPr>
            <p:ph sz="quarter" idx="22"/>
          </p:nvPr>
        </p:nvSpPr>
        <p:spPr>
          <a:xfrm>
            <a:off x="7136975" y="4104266"/>
            <a:ext cx="1583279" cy="849312"/>
          </a:xfrm>
        </p:spPr>
        <p:txBody>
          <a:bodyPr/>
          <a:lstStyle>
            <a:lvl1pPr>
              <a:buNone/>
              <a:defRPr sz="2400"/>
            </a:lvl1pPr>
          </a:lstStyle>
          <a:p>
            <a:pPr lvl="0"/>
            <a:endParaRPr lang="en-US" dirty="0"/>
          </a:p>
        </p:txBody>
      </p:sp>
    </p:spTree>
    <p:extLst>
      <p:ext uri="{BB962C8B-B14F-4D97-AF65-F5344CB8AC3E}">
        <p14:creationId xmlns:p14="http://schemas.microsoft.com/office/powerpoint/2010/main" val="1253806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lus 1 column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E3FF190-56AE-0B4D-86D2-C76B1C4C4811}"/>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a:extLst>
              <a:ext uri="{FF2B5EF4-FFF2-40B4-BE49-F238E27FC236}">
                <a16:creationId xmlns:a16="http://schemas.microsoft.com/office/drawing/2014/main" id="{D4BD2D34-5403-5E4F-8B40-56327BFEB86B}"/>
              </a:ext>
            </a:extLst>
          </p:cNvPr>
          <p:cNvSpPr>
            <a:spLocks noGrp="1"/>
          </p:cNvSpPr>
          <p:nvPr>
            <p:ph sz="quarter" idx="12" hasCustomPrompt="1"/>
          </p:nvPr>
        </p:nvSpPr>
        <p:spPr>
          <a:xfrm>
            <a:off x="685150" y="1424065"/>
            <a:ext cx="10820401" cy="4961351"/>
          </a:xfrm>
          <a:prstGeom prst="rect">
            <a:avLst/>
          </a:prstGeom>
        </p:spPr>
        <p:txBody>
          <a:bodyPr>
            <a:normAutofit/>
          </a:bodyPr>
          <a:lstStyle>
            <a:lvl1pPr marL="0" indent="0">
              <a:spcBef>
                <a:spcPts val="1000"/>
              </a:spcBef>
              <a:buFont typeface="Arial" panose="020B0604020202020204" pitchFamily="34" charset="0"/>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Click to add text or image</a:t>
            </a:r>
          </a:p>
        </p:txBody>
      </p:sp>
      <p:sp>
        <p:nvSpPr>
          <p:cNvPr id="5" name="LON">
            <a:extLst>
              <a:ext uri="{FF2B5EF4-FFF2-40B4-BE49-F238E27FC236}">
                <a16:creationId xmlns:a16="http://schemas.microsoft.com/office/drawing/2014/main" id="{278C8BA6-10FC-B449-8802-38272DECEA2F}"/>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668959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plus 2 columns">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9431E7A4-C9C8-F34D-B1BD-4D02B4DFAF0A}"/>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11" name="Content Placeholder">
            <a:extLst>
              <a:ext uri="{FF2B5EF4-FFF2-40B4-BE49-F238E27FC236}">
                <a16:creationId xmlns:a16="http://schemas.microsoft.com/office/drawing/2014/main" id="{1939B3BB-CD8E-014F-8EFF-BD7A719BA5CF}"/>
              </a:ext>
            </a:extLst>
          </p:cNvPr>
          <p:cNvSpPr>
            <a:spLocks noGrp="1"/>
          </p:cNvSpPr>
          <p:nvPr>
            <p:ph sz="quarter" idx="12" hasCustomPrompt="1"/>
          </p:nvPr>
        </p:nvSpPr>
        <p:spPr>
          <a:xfrm>
            <a:off x="685150" y="1428958"/>
            <a:ext cx="10820401" cy="4927394"/>
          </a:xfrm>
        </p:spPr>
        <p:txBody>
          <a:bodyPr numCol="2" spcCol="457200">
            <a:normAutofit/>
          </a:bodyPr>
          <a:lstStyle>
            <a:lvl1pPr marL="385763" indent="-385763">
              <a:spcBef>
                <a:spcPts val="1000"/>
              </a:spcBef>
              <a:buFont typeface="+mj-lt"/>
              <a:buAutoNum type="arabicPeriod"/>
              <a:defRPr sz="2800"/>
            </a:lvl1pPr>
          </a:lstStyle>
          <a:p>
            <a:pPr lvl="0"/>
            <a:r>
              <a:rPr lang="en-US" dirty="0"/>
              <a:t>Click to add text or image</a:t>
            </a:r>
          </a:p>
        </p:txBody>
      </p:sp>
    </p:spTree>
    <p:extLst>
      <p:ext uri="{BB962C8B-B14F-4D97-AF65-F5344CB8AC3E}">
        <p14:creationId xmlns:p14="http://schemas.microsoft.com/office/powerpoint/2010/main" val="2483109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plus 2 columns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45FC24C-2D07-1245-BB5E-7A50D0AE115A}"/>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a:extLst>
              <a:ext uri="{FF2B5EF4-FFF2-40B4-BE49-F238E27FC236}">
                <a16:creationId xmlns:a16="http://schemas.microsoft.com/office/drawing/2014/main" id="{40D17E47-229C-5E4C-A647-00CFE969C39A}"/>
              </a:ext>
            </a:extLst>
          </p:cNvPr>
          <p:cNvSpPr>
            <a:spLocks noGrp="1"/>
          </p:cNvSpPr>
          <p:nvPr>
            <p:ph sz="quarter" idx="12" hasCustomPrompt="1"/>
          </p:nvPr>
        </p:nvSpPr>
        <p:spPr>
          <a:xfrm>
            <a:off x="685150" y="1428958"/>
            <a:ext cx="10820401" cy="4927394"/>
          </a:xfrm>
        </p:spPr>
        <p:txBody>
          <a:bodyPr numCol="2" spcCol="457200">
            <a:normAutofit/>
          </a:bodyPr>
          <a:lstStyle>
            <a:lvl1pPr marL="385763" indent="-385763">
              <a:spcBef>
                <a:spcPts val="1000"/>
              </a:spcBef>
              <a:buFont typeface="+mj-lt"/>
              <a:buAutoNum type="arabicPeriod"/>
              <a:defRPr sz="2800"/>
            </a:lvl1pPr>
          </a:lstStyle>
          <a:p>
            <a:pPr lvl="0"/>
            <a:r>
              <a:rPr lang="en-US" dirty="0"/>
              <a:t>Click to add text or image</a:t>
            </a:r>
          </a:p>
        </p:txBody>
      </p:sp>
      <p:sp>
        <p:nvSpPr>
          <p:cNvPr id="5" name="LON">
            <a:extLst>
              <a:ext uri="{FF2B5EF4-FFF2-40B4-BE49-F238E27FC236}">
                <a16:creationId xmlns:a16="http://schemas.microsoft.com/office/drawing/2014/main" id="{24D4F3B7-367D-C343-B199-03EF10B1E7D4}"/>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931822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plus 2 columns in boxes">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83B3636F-78D9-9148-B35D-52D7D42EA7F4}"/>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10" name="Content Placeholder 1">
            <a:extLst>
              <a:ext uri="{FF2B5EF4-FFF2-40B4-BE49-F238E27FC236}">
                <a16:creationId xmlns:a16="http://schemas.microsoft.com/office/drawing/2014/main" id="{4C9ADD40-E72D-754E-8872-0700492B3236}"/>
              </a:ext>
            </a:extLst>
          </p:cNvPr>
          <p:cNvSpPr>
            <a:spLocks noGrp="1"/>
          </p:cNvSpPr>
          <p:nvPr>
            <p:ph sz="quarter" idx="14" hasCustomPrompt="1"/>
          </p:nvPr>
        </p:nvSpPr>
        <p:spPr>
          <a:xfrm>
            <a:off x="685800" y="1428962"/>
            <a:ext cx="5250293" cy="4748271"/>
          </a:xfrm>
        </p:spPr>
        <p:txBody>
          <a:bodyPr>
            <a:normAutofit/>
          </a:bodyPr>
          <a:lstStyle>
            <a:lvl1pPr>
              <a:spcBef>
                <a:spcPts val="1000"/>
              </a:spcBef>
              <a:defRPr sz="2800"/>
            </a:lvl1pPr>
          </a:lstStyle>
          <a:p>
            <a:pPr lvl="0"/>
            <a:r>
              <a:rPr lang="en-US" dirty="0"/>
              <a:t>Click to add text or image</a:t>
            </a:r>
          </a:p>
        </p:txBody>
      </p:sp>
      <p:sp>
        <p:nvSpPr>
          <p:cNvPr id="12" name="Content Placeholder 2">
            <a:extLst>
              <a:ext uri="{FF2B5EF4-FFF2-40B4-BE49-F238E27FC236}">
                <a16:creationId xmlns:a16="http://schemas.microsoft.com/office/drawing/2014/main" id="{1FE47AB5-328A-AF4D-81CF-19E66E998930}"/>
              </a:ext>
            </a:extLst>
          </p:cNvPr>
          <p:cNvSpPr>
            <a:spLocks noGrp="1"/>
          </p:cNvSpPr>
          <p:nvPr>
            <p:ph sz="quarter" idx="15" hasCustomPrompt="1"/>
          </p:nvPr>
        </p:nvSpPr>
        <p:spPr>
          <a:xfrm>
            <a:off x="6255410" y="1428959"/>
            <a:ext cx="5250295" cy="4748270"/>
          </a:xfrm>
        </p:spPr>
        <p:txBody>
          <a:bodyPr>
            <a:normAutofit/>
          </a:bodyPr>
          <a:lstStyle>
            <a:lvl1pPr>
              <a:spcBef>
                <a:spcPts val="1000"/>
              </a:spcBef>
              <a:defRPr sz="2800"/>
            </a:lvl1pPr>
          </a:lstStyle>
          <a:p>
            <a:pPr lvl="0"/>
            <a:r>
              <a:rPr lang="en-US" dirty="0"/>
              <a:t>Click to add text or image</a:t>
            </a:r>
          </a:p>
        </p:txBody>
      </p:sp>
    </p:spTree>
    <p:extLst>
      <p:ext uri="{BB962C8B-B14F-4D97-AF65-F5344CB8AC3E}">
        <p14:creationId xmlns:p14="http://schemas.microsoft.com/office/powerpoint/2010/main" val="735064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plus 2 columns in boxes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AFB408D-6820-9042-9000-649FF974466C}"/>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1">
            <a:extLst>
              <a:ext uri="{FF2B5EF4-FFF2-40B4-BE49-F238E27FC236}">
                <a16:creationId xmlns:a16="http://schemas.microsoft.com/office/drawing/2014/main" id="{602FBEB7-44EC-2D40-9945-803059A4C6EA}"/>
              </a:ext>
            </a:extLst>
          </p:cNvPr>
          <p:cNvSpPr>
            <a:spLocks noGrp="1"/>
          </p:cNvSpPr>
          <p:nvPr>
            <p:ph sz="quarter" idx="14" hasCustomPrompt="1"/>
          </p:nvPr>
        </p:nvSpPr>
        <p:spPr>
          <a:xfrm>
            <a:off x="685800" y="1428962"/>
            <a:ext cx="5250293" cy="4748271"/>
          </a:xfrm>
        </p:spPr>
        <p:txBody>
          <a:bodyPr>
            <a:normAutofit/>
          </a:bodyPr>
          <a:lstStyle>
            <a:lvl1pPr>
              <a:spcBef>
                <a:spcPts val="1000"/>
              </a:spcBef>
              <a:defRPr sz="2800"/>
            </a:lvl1pPr>
          </a:lstStyle>
          <a:p>
            <a:pPr lvl="0"/>
            <a:r>
              <a:rPr lang="en-US" dirty="0"/>
              <a:t>Click to add text or image</a:t>
            </a:r>
          </a:p>
        </p:txBody>
      </p:sp>
      <p:sp>
        <p:nvSpPr>
          <p:cNvPr id="5" name="Content Placeholder 2">
            <a:extLst>
              <a:ext uri="{FF2B5EF4-FFF2-40B4-BE49-F238E27FC236}">
                <a16:creationId xmlns:a16="http://schemas.microsoft.com/office/drawing/2014/main" id="{9F8BF1B7-F842-E74B-B834-BDC9C251578B}"/>
              </a:ext>
            </a:extLst>
          </p:cNvPr>
          <p:cNvSpPr>
            <a:spLocks noGrp="1"/>
          </p:cNvSpPr>
          <p:nvPr>
            <p:ph sz="quarter" idx="15" hasCustomPrompt="1"/>
          </p:nvPr>
        </p:nvSpPr>
        <p:spPr>
          <a:xfrm>
            <a:off x="6255410" y="1428959"/>
            <a:ext cx="5250295" cy="4748270"/>
          </a:xfrm>
        </p:spPr>
        <p:txBody>
          <a:bodyPr>
            <a:normAutofit/>
          </a:bodyPr>
          <a:lstStyle>
            <a:lvl1pPr>
              <a:spcBef>
                <a:spcPts val="1000"/>
              </a:spcBef>
              <a:defRPr sz="2800"/>
            </a:lvl1pPr>
          </a:lstStyle>
          <a:p>
            <a:pPr lvl="0"/>
            <a:r>
              <a:rPr lang="en-US" dirty="0"/>
              <a:t>Click to add text or image</a:t>
            </a:r>
          </a:p>
        </p:txBody>
      </p:sp>
      <p:sp>
        <p:nvSpPr>
          <p:cNvPr id="6" name="LON">
            <a:extLst>
              <a:ext uri="{FF2B5EF4-FFF2-40B4-BE49-F238E27FC236}">
                <a16:creationId xmlns:a16="http://schemas.microsoft.com/office/drawing/2014/main" id="{7DCFB52C-D625-D243-8958-45EDAF5BFF95}"/>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610238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plus 4 Content Holders">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40BF27C0-B6AB-BD4B-AABA-D3C2A2B71E1F}"/>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ntent Placeholder 1">
            <a:extLst>
              <a:ext uri="{FF2B5EF4-FFF2-40B4-BE49-F238E27FC236}">
                <a16:creationId xmlns:a16="http://schemas.microsoft.com/office/drawing/2014/main" id="{54E2AA6A-8EB2-6844-839C-FC05A2A7CF26}"/>
              </a:ext>
            </a:extLst>
          </p:cNvPr>
          <p:cNvSpPr>
            <a:spLocks noGrp="1"/>
          </p:cNvSpPr>
          <p:nvPr>
            <p:ph sz="quarter" idx="12" hasCustomPrompt="1"/>
          </p:nvPr>
        </p:nvSpPr>
        <p:spPr>
          <a:xfrm>
            <a:off x="685799" y="1428962"/>
            <a:ext cx="5240868"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10" name="Content Placeholder 2">
            <a:extLst>
              <a:ext uri="{FF2B5EF4-FFF2-40B4-BE49-F238E27FC236}">
                <a16:creationId xmlns:a16="http://schemas.microsoft.com/office/drawing/2014/main" id="{970A9D46-13B8-A449-861A-D9A62A3EB8B4}"/>
              </a:ext>
            </a:extLst>
          </p:cNvPr>
          <p:cNvSpPr>
            <a:spLocks noGrp="1"/>
          </p:cNvSpPr>
          <p:nvPr>
            <p:ph sz="quarter" idx="14" hasCustomPrompt="1"/>
          </p:nvPr>
        </p:nvSpPr>
        <p:spPr>
          <a:xfrm>
            <a:off x="675224" y="5827722"/>
            <a:ext cx="5251449" cy="446087"/>
          </a:xfrm>
          <a:prstGeom prst="rect">
            <a:avLst/>
          </a:prstGeom>
        </p:spPr>
        <p:txBody>
          <a:bodyPr>
            <a:noAutofit/>
          </a:bodyPr>
          <a:lstStyle>
            <a:lvl1pPr marL="0" indent="0">
              <a:spcBef>
                <a:spcPts val="1000"/>
              </a:spcBef>
              <a:buNone/>
              <a:defRPr sz="2000"/>
            </a:lvl1pPr>
          </a:lstStyle>
          <a:p>
            <a:pPr lvl="0"/>
            <a:r>
              <a:rPr lang="en-US" dirty="0"/>
              <a:t>Click to add text</a:t>
            </a:r>
          </a:p>
        </p:txBody>
      </p:sp>
      <p:sp>
        <p:nvSpPr>
          <p:cNvPr id="8" name="Content Placeholder 3">
            <a:extLst>
              <a:ext uri="{FF2B5EF4-FFF2-40B4-BE49-F238E27FC236}">
                <a16:creationId xmlns:a16="http://schemas.microsoft.com/office/drawing/2014/main" id="{95D5F048-83BA-BD49-94A8-0FBCAFBFC889}"/>
              </a:ext>
            </a:extLst>
          </p:cNvPr>
          <p:cNvSpPr>
            <a:spLocks noGrp="1"/>
          </p:cNvSpPr>
          <p:nvPr>
            <p:ph sz="quarter" idx="13" hasCustomPrompt="1"/>
          </p:nvPr>
        </p:nvSpPr>
        <p:spPr>
          <a:xfrm>
            <a:off x="6254757" y="1428962"/>
            <a:ext cx="5251449"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12" name="Content Placeholder 4">
            <a:extLst>
              <a:ext uri="{FF2B5EF4-FFF2-40B4-BE49-F238E27FC236}">
                <a16:creationId xmlns:a16="http://schemas.microsoft.com/office/drawing/2014/main" id="{2AE4F9B1-309D-3D41-90C3-2C1290FCB673}"/>
              </a:ext>
            </a:extLst>
          </p:cNvPr>
          <p:cNvSpPr>
            <a:spLocks noGrp="1"/>
          </p:cNvSpPr>
          <p:nvPr>
            <p:ph sz="quarter" idx="15" hasCustomPrompt="1"/>
          </p:nvPr>
        </p:nvSpPr>
        <p:spPr>
          <a:xfrm>
            <a:off x="6254757" y="5827722"/>
            <a:ext cx="5262031" cy="454025"/>
          </a:xfrm>
          <a:prstGeom prst="rect">
            <a:avLst/>
          </a:prstGeom>
        </p:spPr>
        <p:txBody>
          <a:bodyPr>
            <a:normAutofit/>
          </a:bodyPr>
          <a:lstStyle>
            <a:lvl1pPr marL="0" indent="0">
              <a:spcBef>
                <a:spcPts val="1000"/>
              </a:spcBef>
              <a:buNone/>
              <a:defRPr sz="2000"/>
            </a:lvl1pPr>
          </a:lstStyle>
          <a:p>
            <a:pPr lvl="0"/>
            <a:r>
              <a:rPr lang="en-US" dirty="0"/>
              <a:t>Click to add text</a:t>
            </a:r>
          </a:p>
        </p:txBody>
      </p:sp>
    </p:spTree>
    <p:extLst>
      <p:ext uri="{BB962C8B-B14F-4D97-AF65-F5344CB8AC3E}">
        <p14:creationId xmlns:p14="http://schemas.microsoft.com/office/powerpoint/2010/main" val="3810393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plus 4 Content Holders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4290BFF-2C6A-D547-A81E-0388CF5245F4}"/>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1">
            <a:extLst>
              <a:ext uri="{FF2B5EF4-FFF2-40B4-BE49-F238E27FC236}">
                <a16:creationId xmlns:a16="http://schemas.microsoft.com/office/drawing/2014/main" id="{A61BB724-08A0-CA4B-86A7-9CD3F1CBDBBA}"/>
              </a:ext>
            </a:extLst>
          </p:cNvPr>
          <p:cNvSpPr>
            <a:spLocks noGrp="1"/>
          </p:cNvSpPr>
          <p:nvPr>
            <p:ph sz="quarter" idx="12" hasCustomPrompt="1"/>
          </p:nvPr>
        </p:nvSpPr>
        <p:spPr>
          <a:xfrm>
            <a:off x="685799" y="1428962"/>
            <a:ext cx="5240868"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5" name="Content Placeholder 2">
            <a:extLst>
              <a:ext uri="{FF2B5EF4-FFF2-40B4-BE49-F238E27FC236}">
                <a16:creationId xmlns:a16="http://schemas.microsoft.com/office/drawing/2014/main" id="{CC954E9B-6B7D-9943-93F9-F54702C2DB03}"/>
              </a:ext>
            </a:extLst>
          </p:cNvPr>
          <p:cNvSpPr>
            <a:spLocks noGrp="1"/>
          </p:cNvSpPr>
          <p:nvPr>
            <p:ph sz="quarter" idx="14" hasCustomPrompt="1"/>
          </p:nvPr>
        </p:nvSpPr>
        <p:spPr>
          <a:xfrm>
            <a:off x="675224" y="5827722"/>
            <a:ext cx="5251449" cy="446087"/>
          </a:xfrm>
          <a:prstGeom prst="rect">
            <a:avLst/>
          </a:prstGeom>
        </p:spPr>
        <p:txBody>
          <a:bodyPr>
            <a:noAutofit/>
          </a:bodyPr>
          <a:lstStyle>
            <a:lvl1pPr marL="0" indent="0">
              <a:spcBef>
                <a:spcPts val="1000"/>
              </a:spcBef>
              <a:buNone/>
              <a:defRPr sz="2000"/>
            </a:lvl1pPr>
          </a:lstStyle>
          <a:p>
            <a:pPr lvl="0"/>
            <a:r>
              <a:rPr lang="en-US" dirty="0"/>
              <a:t>Click to add text</a:t>
            </a:r>
          </a:p>
        </p:txBody>
      </p:sp>
      <p:sp>
        <p:nvSpPr>
          <p:cNvPr id="6" name="Content Placeholder 3">
            <a:extLst>
              <a:ext uri="{FF2B5EF4-FFF2-40B4-BE49-F238E27FC236}">
                <a16:creationId xmlns:a16="http://schemas.microsoft.com/office/drawing/2014/main" id="{F8777C0D-2E2E-C04D-9E08-C88A9C06FE34}"/>
              </a:ext>
            </a:extLst>
          </p:cNvPr>
          <p:cNvSpPr>
            <a:spLocks noGrp="1"/>
          </p:cNvSpPr>
          <p:nvPr>
            <p:ph sz="quarter" idx="13" hasCustomPrompt="1"/>
          </p:nvPr>
        </p:nvSpPr>
        <p:spPr>
          <a:xfrm>
            <a:off x="6254757" y="1428962"/>
            <a:ext cx="5251449"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7" name="Content Placeholder 4">
            <a:extLst>
              <a:ext uri="{FF2B5EF4-FFF2-40B4-BE49-F238E27FC236}">
                <a16:creationId xmlns:a16="http://schemas.microsoft.com/office/drawing/2014/main" id="{C50F43EC-4CB6-6B43-B882-87CAEAB1725D}"/>
              </a:ext>
            </a:extLst>
          </p:cNvPr>
          <p:cNvSpPr>
            <a:spLocks noGrp="1"/>
          </p:cNvSpPr>
          <p:nvPr>
            <p:ph sz="quarter" idx="15" hasCustomPrompt="1"/>
          </p:nvPr>
        </p:nvSpPr>
        <p:spPr>
          <a:xfrm>
            <a:off x="6254757" y="5827722"/>
            <a:ext cx="5262031" cy="454025"/>
          </a:xfrm>
          <a:prstGeom prst="rect">
            <a:avLst/>
          </a:prstGeom>
        </p:spPr>
        <p:txBody>
          <a:bodyPr>
            <a:normAutofit/>
          </a:bodyPr>
          <a:lstStyle>
            <a:lvl1pPr marL="0" indent="0">
              <a:spcBef>
                <a:spcPts val="1000"/>
              </a:spcBef>
              <a:buNone/>
              <a:defRPr sz="2000"/>
            </a:lvl1pPr>
          </a:lstStyle>
          <a:p>
            <a:pPr lvl="0"/>
            <a:r>
              <a:rPr lang="en-US" dirty="0"/>
              <a:t>Click to add text</a:t>
            </a:r>
          </a:p>
        </p:txBody>
      </p:sp>
      <p:sp>
        <p:nvSpPr>
          <p:cNvPr id="8" name="LON">
            <a:extLst>
              <a:ext uri="{FF2B5EF4-FFF2-40B4-BE49-F238E27FC236}">
                <a16:creationId xmlns:a16="http://schemas.microsoft.com/office/drawing/2014/main" id="{69F1331E-9F95-5949-BE4C-14B3D76FECD3}"/>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7688814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plus 2 columns in boxes with column heads">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5E1C3346-7CF8-9B4A-BD6A-35B50027FBAF}"/>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lumn head 1">
            <a:extLst>
              <a:ext uri="{FF2B5EF4-FFF2-40B4-BE49-F238E27FC236}">
                <a16:creationId xmlns:a16="http://schemas.microsoft.com/office/drawing/2014/main" id="{97308A14-A585-5B40-9D6D-D56F7011C2ED}"/>
              </a:ext>
            </a:extLst>
          </p:cNvPr>
          <p:cNvSpPr>
            <a:spLocks noGrp="1"/>
          </p:cNvSpPr>
          <p:nvPr>
            <p:ph sz="quarter" idx="12" hasCustomPrompt="1"/>
          </p:nvPr>
        </p:nvSpPr>
        <p:spPr>
          <a:xfrm>
            <a:off x="685145" y="1428966"/>
            <a:ext cx="5241523"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8" name="Content Placeholder 1">
            <a:extLst>
              <a:ext uri="{FF2B5EF4-FFF2-40B4-BE49-F238E27FC236}">
                <a16:creationId xmlns:a16="http://schemas.microsoft.com/office/drawing/2014/main" id="{0512377D-40A5-2A46-B3E4-9DC9B8BA6CFD}"/>
              </a:ext>
            </a:extLst>
          </p:cNvPr>
          <p:cNvSpPr>
            <a:spLocks noGrp="1"/>
          </p:cNvSpPr>
          <p:nvPr>
            <p:ph sz="quarter" idx="13" hasCustomPrompt="1"/>
          </p:nvPr>
        </p:nvSpPr>
        <p:spPr>
          <a:xfrm>
            <a:off x="685145" y="1935371"/>
            <a:ext cx="5241523" cy="431552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0" name="Column head 2">
            <a:extLst>
              <a:ext uri="{FF2B5EF4-FFF2-40B4-BE49-F238E27FC236}">
                <a16:creationId xmlns:a16="http://schemas.microsoft.com/office/drawing/2014/main" id="{614C6823-B099-6346-9F11-9BBB713BD4E8}"/>
              </a:ext>
            </a:extLst>
          </p:cNvPr>
          <p:cNvSpPr>
            <a:spLocks noGrp="1"/>
          </p:cNvSpPr>
          <p:nvPr>
            <p:ph sz="quarter" idx="14" hasCustomPrompt="1"/>
          </p:nvPr>
        </p:nvSpPr>
        <p:spPr>
          <a:xfrm>
            <a:off x="6254752" y="1428966"/>
            <a:ext cx="5250795"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12" name="Content Placeholder 2">
            <a:extLst>
              <a:ext uri="{FF2B5EF4-FFF2-40B4-BE49-F238E27FC236}">
                <a16:creationId xmlns:a16="http://schemas.microsoft.com/office/drawing/2014/main" id="{A6C6AE8D-5CA0-2A41-A8AB-AE2009CA9559}"/>
              </a:ext>
            </a:extLst>
          </p:cNvPr>
          <p:cNvSpPr>
            <a:spLocks noGrp="1"/>
          </p:cNvSpPr>
          <p:nvPr>
            <p:ph sz="quarter" idx="15" hasCustomPrompt="1"/>
          </p:nvPr>
        </p:nvSpPr>
        <p:spPr>
          <a:xfrm>
            <a:off x="6254752" y="1935371"/>
            <a:ext cx="5250795" cy="4315526"/>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Tree>
    <p:extLst>
      <p:ext uri="{BB962C8B-B14F-4D97-AF65-F5344CB8AC3E}">
        <p14:creationId xmlns:p14="http://schemas.microsoft.com/office/powerpoint/2010/main" val="2924188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plus 2 columns in boxes with column heads and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FDD509C-8B93-D544-88C0-7CD6884F24AB}"/>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lumn head 1">
            <a:extLst>
              <a:ext uri="{FF2B5EF4-FFF2-40B4-BE49-F238E27FC236}">
                <a16:creationId xmlns:a16="http://schemas.microsoft.com/office/drawing/2014/main" id="{04A8AB45-DE11-9D47-9A87-DE01CC6C7A94}"/>
              </a:ext>
            </a:extLst>
          </p:cNvPr>
          <p:cNvSpPr>
            <a:spLocks noGrp="1"/>
          </p:cNvSpPr>
          <p:nvPr>
            <p:ph sz="quarter" idx="12" hasCustomPrompt="1"/>
          </p:nvPr>
        </p:nvSpPr>
        <p:spPr>
          <a:xfrm>
            <a:off x="685145" y="1428966"/>
            <a:ext cx="5241523"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5" name="Content Placeholder 1">
            <a:extLst>
              <a:ext uri="{FF2B5EF4-FFF2-40B4-BE49-F238E27FC236}">
                <a16:creationId xmlns:a16="http://schemas.microsoft.com/office/drawing/2014/main" id="{3638B8CA-8FB4-124A-B747-BFC3A8F99C57}"/>
              </a:ext>
            </a:extLst>
          </p:cNvPr>
          <p:cNvSpPr>
            <a:spLocks noGrp="1"/>
          </p:cNvSpPr>
          <p:nvPr>
            <p:ph sz="quarter" idx="13" hasCustomPrompt="1"/>
          </p:nvPr>
        </p:nvSpPr>
        <p:spPr>
          <a:xfrm>
            <a:off x="685145" y="1935371"/>
            <a:ext cx="5241523" cy="431552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6" name="Column head 2">
            <a:extLst>
              <a:ext uri="{FF2B5EF4-FFF2-40B4-BE49-F238E27FC236}">
                <a16:creationId xmlns:a16="http://schemas.microsoft.com/office/drawing/2014/main" id="{89A878F9-05D5-F440-A197-801316926493}"/>
              </a:ext>
            </a:extLst>
          </p:cNvPr>
          <p:cNvSpPr>
            <a:spLocks noGrp="1"/>
          </p:cNvSpPr>
          <p:nvPr>
            <p:ph sz="quarter" idx="14" hasCustomPrompt="1"/>
          </p:nvPr>
        </p:nvSpPr>
        <p:spPr>
          <a:xfrm>
            <a:off x="6254752" y="1428966"/>
            <a:ext cx="5250795"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7" name="Content Placeholder 2">
            <a:extLst>
              <a:ext uri="{FF2B5EF4-FFF2-40B4-BE49-F238E27FC236}">
                <a16:creationId xmlns:a16="http://schemas.microsoft.com/office/drawing/2014/main" id="{7A848487-A351-BA43-B5FD-CEE81DF8C694}"/>
              </a:ext>
            </a:extLst>
          </p:cNvPr>
          <p:cNvSpPr>
            <a:spLocks noGrp="1"/>
          </p:cNvSpPr>
          <p:nvPr>
            <p:ph sz="quarter" idx="15" hasCustomPrompt="1"/>
          </p:nvPr>
        </p:nvSpPr>
        <p:spPr>
          <a:xfrm>
            <a:off x="6254752" y="1935371"/>
            <a:ext cx="5250795" cy="4315526"/>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8" name="LON">
            <a:extLst>
              <a:ext uri="{FF2B5EF4-FFF2-40B4-BE49-F238E27FC236}">
                <a16:creationId xmlns:a16="http://schemas.microsoft.com/office/drawing/2014/main" id="{34E5444F-F94C-9E41-8173-33D4D5358C79}"/>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153474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plus 3 columns in boxes with column heads">
    <p:spTree>
      <p:nvGrpSpPr>
        <p:cNvPr id="1" name=""/>
        <p:cNvGrpSpPr/>
        <p:nvPr/>
      </p:nvGrpSpPr>
      <p:grpSpPr>
        <a:xfrm>
          <a:off x="0" y="0"/>
          <a:ext cx="0" cy="0"/>
          <a:chOff x="0" y="0"/>
          <a:chExt cx="0" cy="0"/>
        </a:xfrm>
      </p:grpSpPr>
      <p:sp>
        <p:nvSpPr>
          <p:cNvPr id="20" name="Title">
            <a:extLst>
              <a:ext uri="{FF2B5EF4-FFF2-40B4-BE49-F238E27FC236}">
                <a16:creationId xmlns:a16="http://schemas.microsoft.com/office/drawing/2014/main" id="{1076D4CD-F0B4-124B-8113-705D33B57F73}"/>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lumn head 1">
            <a:extLst>
              <a:ext uri="{FF2B5EF4-FFF2-40B4-BE49-F238E27FC236}">
                <a16:creationId xmlns:a16="http://schemas.microsoft.com/office/drawing/2014/main" id="{3D0BA947-0F36-8349-A4BA-26245B77CD19}"/>
              </a:ext>
            </a:extLst>
          </p:cNvPr>
          <p:cNvSpPr>
            <a:spLocks noGrp="1"/>
          </p:cNvSpPr>
          <p:nvPr>
            <p:ph sz="quarter" idx="12" hasCustomPrompt="1"/>
          </p:nvPr>
        </p:nvSpPr>
        <p:spPr>
          <a:xfrm>
            <a:off x="685144" y="1428958"/>
            <a:ext cx="3429000" cy="505354"/>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8" name="Content Placeholder 1">
            <a:extLst>
              <a:ext uri="{FF2B5EF4-FFF2-40B4-BE49-F238E27FC236}">
                <a16:creationId xmlns:a16="http://schemas.microsoft.com/office/drawing/2014/main" id="{C173C378-6271-D743-A776-6409A7FA9342}"/>
              </a:ext>
            </a:extLst>
          </p:cNvPr>
          <p:cNvSpPr>
            <a:spLocks noGrp="1"/>
          </p:cNvSpPr>
          <p:nvPr>
            <p:ph sz="quarter" idx="13" hasCustomPrompt="1"/>
          </p:nvPr>
        </p:nvSpPr>
        <p:spPr>
          <a:xfrm>
            <a:off x="685149" y="1942783"/>
            <a:ext cx="3428999" cy="4139671"/>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0" name="Column head 2">
            <a:extLst>
              <a:ext uri="{FF2B5EF4-FFF2-40B4-BE49-F238E27FC236}">
                <a16:creationId xmlns:a16="http://schemas.microsoft.com/office/drawing/2014/main" id="{37B3B6E1-C965-334A-BD53-424487E73D7D}"/>
              </a:ext>
            </a:extLst>
          </p:cNvPr>
          <p:cNvSpPr>
            <a:spLocks noGrp="1"/>
          </p:cNvSpPr>
          <p:nvPr>
            <p:ph sz="quarter" idx="14" hasCustomPrompt="1"/>
          </p:nvPr>
        </p:nvSpPr>
        <p:spPr>
          <a:xfrm>
            <a:off x="4375877"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13" name="Content Placeholder 2">
            <a:extLst>
              <a:ext uri="{FF2B5EF4-FFF2-40B4-BE49-F238E27FC236}">
                <a16:creationId xmlns:a16="http://schemas.microsoft.com/office/drawing/2014/main" id="{EDA96C3C-B9CF-8B41-81EB-3C25817BE3D9}"/>
              </a:ext>
            </a:extLst>
          </p:cNvPr>
          <p:cNvSpPr>
            <a:spLocks noGrp="1"/>
          </p:cNvSpPr>
          <p:nvPr>
            <p:ph sz="quarter" idx="15" hasCustomPrompt="1"/>
          </p:nvPr>
        </p:nvSpPr>
        <p:spPr>
          <a:xfrm>
            <a:off x="4365292" y="1942782"/>
            <a:ext cx="3429000" cy="414866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5" name="Column head 3">
            <a:extLst>
              <a:ext uri="{FF2B5EF4-FFF2-40B4-BE49-F238E27FC236}">
                <a16:creationId xmlns:a16="http://schemas.microsoft.com/office/drawing/2014/main" id="{72104B81-5D72-D246-8705-46A764C52741}"/>
              </a:ext>
            </a:extLst>
          </p:cNvPr>
          <p:cNvSpPr>
            <a:spLocks noGrp="1"/>
          </p:cNvSpPr>
          <p:nvPr>
            <p:ph sz="quarter" idx="16" hasCustomPrompt="1"/>
          </p:nvPr>
        </p:nvSpPr>
        <p:spPr>
          <a:xfrm>
            <a:off x="8066615"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17" name="Content Placeholder 3">
            <a:extLst>
              <a:ext uri="{FF2B5EF4-FFF2-40B4-BE49-F238E27FC236}">
                <a16:creationId xmlns:a16="http://schemas.microsoft.com/office/drawing/2014/main" id="{20ADF7F0-1D6C-6C49-BD92-8365B898E53C}"/>
              </a:ext>
            </a:extLst>
          </p:cNvPr>
          <p:cNvSpPr>
            <a:spLocks noGrp="1"/>
          </p:cNvSpPr>
          <p:nvPr>
            <p:ph sz="quarter" idx="17" hasCustomPrompt="1"/>
          </p:nvPr>
        </p:nvSpPr>
        <p:spPr>
          <a:xfrm>
            <a:off x="8077200" y="1942778"/>
            <a:ext cx="3429000" cy="4148668"/>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Tree>
    <p:extLst>
      <p:ext uri="{BB962C8B-B14F-4D97-AF65-F5344CB8AC3E}">
        <p14:creationId xmlns:p14="http://schemas.microsoft.com/office/powerpoint/2010/main" val="767199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plus 3 columns in boxes with column heads and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C2D902C-F7C9-9440-939D-D84A4F9609C9}"/>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lumn head 1">
            <a:extLst>
              <a:ext uri="{FF2B5EF4-FFF2-40B4-BE49-F238E27FC236}">
                <a16:creationId xmlns:a16="http://schemas.microsoft.com/office/drawing/2014/main" id="{4B0A01FF-A48B-6A48-BC18-7D841F6DB0DE}"/>
              </a:ext>
            </a:extLst>
          </p:cNvPr>
          <p:cNvSpPr>
            <a:spLocks noGrp="1"/>
          </p:cNvSpPr>
          <p:nvPr>
            <p:ph sz="quarter" idx="12" hasCustomPrompt="1"/>
          </p:nvPr>
        </p:nvSpPr>
        <p:spPr>
          <a:xfrm>
            <a:off x="685144" y="1428958"/>
            <a:ext cx="3429000" cy="505354"/>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5" name="Content Placeholder 1">
            <a:extLst>
              <a:ext uri="{FF2B5EF4-FFF2-40B4-BE49-F238E27FC236}">
                <a16:creationId xmlns:a16="http://schemas.microsoft.com/office/drawing/2014/main" id="{31840C35-E932-D64D-BA71-52B92790B46D}"/>
              </a:ext>
            </a:extLst>
          </p:cNvPr>
          <p:cNvSpPr>
            <a:spLocks noGrp="1"/>
          </p:cNvSpPr>
          <p:nvPr>
            <p:ph sz="quarter" idx="13" hasCustomPrompt="1"/>
          </p:nvPr>
        </p:nvSpPr>
        <p:spPr>
          <a:xfrm>
            <a:off x="685149" y="1942783"/>
            <a:ext cx="3428999" cy="4139671"/>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6" name="Column head 2">
            <a:extLst>
              <a:ext uri="{FF2B5EF4-FFF2-40B4-BE49-F238E27FC236}">
                <a16:creationId xmlns:a16="http://schemas.microsoft.com/office/drawing/2014/main" id="{5371FDD0-8EDD-5440-B66F-B0A5309AF881}"/>
              </a:ext>
            </a:extLst>
          </p:cNvPr>
          <p:cNvSpPr>
            <a:spLocks noGrp="1"/>
          </p:cNvSpPr>
          <p:nvPr>
            <p:ph sz="quarter" idx="14" hasCustomPrompt="1"/>
          </p:nvPr>
        </p:nvSpPr>
        <p:spPr>
          <a:xfrm>
            <a:off x="4375877"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7" name="Content Placeholder 2">
            <a:extLst>
              <a:ext uri="{FF2B5EF4-FFF2-40B4-BE49-F238E27FC236}">
                <a16:creationId xmlns:a16="http://schemas.microsoft.com/office/drawing/2014/main" id="{CA1520A6-1299-6A49-9EFD-A4F91B187A2C}"/>
              </a:ext>
            </a:extLst>
          </p:cNvPr>
          <p:cNvSpPr>
            <a:spLocks noGrp="1"/>
          </p:cNvSpPr>
          <p:nvPr>
            <p:ph sz="quarter" idx="15" hasCustomPrompt="1"/>
          </p:nvPr>
        </p:nvSpPr>
        <p:spPr>
          <a:xfrm>
            <a:off x="4365292" y="1942782"/>
            <a:ext cx="3429000" cy="414866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8" name="Column head 3">
            <a:extLst>
              <a:ext uri="{FF2B5EF4-FFF2-40B4-BE49-F238E27FC236}">
                <a16:creationId xmlns:a16="http://schemas.microsoft.com/office/drawing/2014/main" id="{12B5E08D-BE68-7B40-A805-F20B8744BF3B}"/>
              </a:ext>
            </a:extLst>
          </p:cNvPr>
          <p:cNvSpPr>
            <a:spLocks noGrp="1"/>
          </p:cNvSpPr>
          <p:nvPr>
            <p:ph sz="quarter" idx="16" hasCustomPrompt="1"/>
          </p:nvPr>
        </p:nvSpPr>
        <p:spPr>
          <a:xfrm>
            <a:off x="8066615"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9" name="Content Placeholder 3">
            <a:extLst>
              <a:ext uri="{FF2B5EF4-FFF2-40B4-BE49-F238E27FC236}">
                <a16:creationId xmlns:a16="http://schemas.microsoft.com/office/drawing/2014/main" id="{B0F303C0-853B-7547-BA06-107EE6C8AD4F}"/>
              </a:ext>
            </a:extLst>
          </p:cNvPr>
          <p:cNvSpPr>
            <a:spLocks noGrp="1"/>
          </p:cNvSpPr>
          <p:nvPr>
            <p:ph sz="quarter" idx="17" hasCustomPrompt="1"/>
          </p:nvPr>
        </p:nvSpPr>
        <p:spPr>
          <a:xfrm>
            <a:off x="8077200" y="1942778"/>
            <a:ext cx="3429000" cy="4148668"/>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0" name="LON">
            <a:extLst>
              <a:ext uri="{FF2B5EF4-FFF2-40B4-BE49-F238E27FC236}">
                <a16:creationId xmlns:a16="http://schemas.microsoft.com/office/drawing/2014/main" id="{F6284ABA-7D4B-8C45-8812-6CB27464D04D}"/>
              </a:ext>
            </a:extLst>
          </p:cNvPr>
          <p:cNvSpPr>
            <a:spLocks noGrp="1"/>
          </p:cNvSpPr>
          <p:nvPr>
            <p:ph sz="quarter" idx="18"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16907418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plus Multiple Content ">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DE690358-CC3E-564C-966E-C1C7CED8699F}"/>
              </a:ext>
            </a:extLst>
          </p:cNvPr>
          <p:cNvSpPr>
            <a:spLocks noGrp="1"/>
          </p:cNvSpPr>
          <p:nvPr>
            <p:ph type="title" hasCustomPrompt="1"/>
          </p:nvPr>
        </p:nvSpPr>
        <p:spPr>
          <a:xfrm>
            <a:off x="685147" y="460255"/>
            <a:ext cx="10821056" cy="849312"/>
          </a:xfrm>
        </p:spPr>
        <p:txBody>
          <a:bodyPr/>
          <a:lstStyle>
            <a:lvl1pPr>
              <a:defRPr b="0" i="0">
                <a:solidFill>
                  <a:schemeClr val="accent3"/>
                </a:solidFill>
              </a:defRPr>
            </a:lvl1pPr>
          </a:lstStyle>
          <a:p>
            <a:r>
              <a:rPr lang="en-US" dirty="0"/>
              <a:t>Click to Add Title</a:t>
            </a:r>
          </a:p>
        </p:txBody>
      </p:sp>
      <p:sp>
        <p:nvSpPr>
          <p:cNvPr id="6" name="Content Placeholder 1">
            <a:extLst>
              <a:ext uri="{FF2B5EF4-FFF2-40B4-BE49-F238E27FC236}">
                <a16:creationId xmlns:a16="http://schemas.microsoft.com/office/drawing/2014/main" id="{92DBC287-7A50-404F-B583-851D0F7791CC}"/>
              </a:ext>
            </a:extLst>
          </p:cNvPr>
          <p:cNvSpPr>
            <a:spLocks noGrp="1"/>
          </p:cNvSpPr>
          <p:nvPr>
            <p:ph sz="quarter" idx="12" hasCustomPrompt="1"/>
          </p:nvPr>
        </p:nvSpPr>
        <p:spPr>
          <a:xfrm>
            <a:off x="756625"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8" name="Content Placeholder 2">
            <a:extLst>
              <a:ext uri="{FF2B5EF4-FFF2-40B4-BE49-F238E27FC236}">
                <a16:creationId xmlns:a16="http://schemas.microsoft.com/office/drawing/2014/main" id="{292F575A-DA58-CD47-B145-2EEC4D32E7E8}"/>
              </a:ext>
            </a:extLst>
          </p:cNvPr>
          <p:cNvSpPr>
            <a:spLocks noGrp="1"/>
          </p:cNvSpPr>
          <p:nvPr>
            <p:ph sz="quarter" idx="13" hasCustomPrompt="1"/>
          </p:nvPr>
        </p:nvSpPr>
        <p:spPr>
          <a:xfrm>
            <a:off x="2975390"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0" name="Content Placeholder 3">
            <a:extLst>
              <a:ext uri="{FF2B5EF4-FFF2-40B4-BE49-F238E27FC236}">
                <a16:creationId xmlns:a16="http://schemas.microsoft.com/office/drawing/2014/main" id="{9C05BB7B-AB59-DE4D-A944-5504896DE205}"/>
              </a:ext>
            </a:extLst>
          </p:cNvPr>
          <p:cNvSpPr>
            <a:spLocks noGrp="1"/>
          </p:cNvSpPr>
          <p:nvPr>
            <p:ph sz="quarter" idx="14" hasCustomPrompt="1"/>
          </p:nvPr>
        </p:nvSpPr>
        <p:spPr>
          <a:xfrm>
            <a:off x="5194157"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2" name="Content Placeholder 4">
            <a:extLst>
              <a:ext uri="{FF2B5EF4-FFF2-40B4-BE49-F238E27FC236}">
                <a16:creationId xmlns:a16="http://schemas.microsoft.com/office/drawing/2014/main" id="{7829821A-510E-FD4B-AD62-D4518384985E}"/>
              </a:ext>
            </a:extLst>
          </p:cNvPr>
          <p:cNvSpPr>
            <a:spLocks noGrp="1"/>
          </p:cNvSpPr>
          <p:nvPr>
            <p:ph sz="quarter" idx="15" hasCustomPrompt="1"/>
          </p:nvPr>
        </p:nvSpPr>
        <p:spPr>
          <a:xfrm>
            <a:off x="7412922"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4" name="Content Placeholder 5">
            <a:extLst>
              <a:ext uri="{FF2B5EF4-FFF2-40B4-BE49-F238E27FC236}">
                <a16:creationId xmlns:a16="http://schemas.microsoft.com/office/drawing/2014/main" id="{78767F66-B6AE-AE4C-B489-36009A75C90F}"/>
              </a:ext>
            </a:extLst>
          </p:cNvPr>
          <p:cNvSpPr>
            <a:spLocks noGrp="1"/>
          </p:cNvSpPr>
          <p:nvPr>
            <p:ph sz="quarter" idx="16" hasCustomPrompt="1"/>
          </p:nvPr>
        </p:nvSpPr>
        <p:spPr>
          <a:xfrm>
            <a:off x="9631686"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7" name="Content Placeholder 6">
            <a:extLst>
              <a:ext uri="{FF2B5EF4-FFF2-40B4-BE49-F238E27FC236}">
                <a16:creationId xmlns:a16="http://schemas.microsoft.com/office/drawing/2014/main" id="{37C2D694-2FFF-2543-8703-9D9C5F93E583}"/>
              </a:ext>
            </a:extLst>
          </p:cNvPr>
          <p:cNvSpPr>
            <a:spLocks noGrp="1"/>
          </p:cNvSpPr>
          <p:nvPr>
            <p:ph sz="quarter" idx="17" hasCustomPrompt="1"/>
          </p:nvPr>
        </p:nvSpPr>
        <p:spPr>
          <a:xfrm>
            <a:off x="756625" y="4105803"/>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9" name="Content Placeholder 7">
            <a:extLst>
              <a:ext uri="{FF2B5EF4-FFF2-40B4-BE49-F238E27FC236}">
                <a16:creationId xmlns:a16="http://schemas.microsoft.com/office/drawing/2014/main" id="{57FDF21A-AF40-6547-AB06-C387DAE39182}"/>
              </a:ext>
            </a:extLst>
          </p:cNvPr>
          <p:cNvSpPr>
            <a:spLocks noGrp="1"/>
          </p:cNvSpPr>
          <p:nvPr>
            <p:ph sz="quarter" idx="18" hasCustomPrompt="1"/>
          </p:nvPr>
        </p:nvSpPr>
        <p:spPr>
          <a:xfrm>
            <a:off x="2975390" y="4105804"/>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21" name="Content Placeholder 8">
            <a:extLst>
              <a:ext uri="{FF2B5EF4-FFF2-40B4-BE49-F238E27FC236}">
                <a16:creationId xmlns:a16="http://schemas.microsoft.com/office/drawing/2014/main" id="{1058EE27-F947-8A41-AC83-223A6236295B}"/>
              </a:ext>
            </a:extLst>
          </p:cNvPr>
          <p:cNvSpPr>
            <a:spLocks noGrp="1"/>
          </p:cNvSpPr>
          <p:nvPr>
            <p:ph sz="quarter" idx="19" hasCustomPrompt="1"/>
          </p:nvPr>
        </p:nvSpPr>
        <p:spPr>
          <a:xfrm>
            <a:off x="5194157" y="4105811"/>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23" name="Content Placeholder 9">
            <a:extLst>
              <a:ext uri="{FF2B5EF4-FFF2-40B4-BE49-F238E27FC236}">
                <a16:creationId xmlns:a16="http://schemas.microsoft.com/office/drawing/2014/main" id="{59E26C59-6E0D-AB44-A5BE-2FF4A9BE7E10}"/>
              </a:ext>
            </a:extLst>
          </p:cNvPr>
          <p:cNvSpPr>
            <a:spLocks noGrp="1"/>
          </p:cNvSpPr>
          <p:nvPr>
            <p:ph sz="quarter" idx="20" hasCustomPrompt="1"/>
          </p:nvPr>
        </p:nvSpPr>
        <p:spPr>
          <a:xfrm>
            <a:off x="7412922" y="4105280"/>
            <a:ext cx="1874519" cy="1465263"/>
          </a:xfrm>
          <a:prstGeom prst="rect">
            <a:avLst/>
          </a:prstGeom>
        </p:spPr>
        <p:txBody>
          <a:bodyPr>
            <a:normAutofit/>
          </a:bodyPr>
          <a:lstStyle>
            <a:lvl1pPr marL="0" indent="0">
              <a:spcBef>
                <a:spcPts val="1000"/>
              </a:spcBef>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Object</a:t>
            </a:r>
          </a:p>
        </p:txBody>
      </p:sp>
      <p:sp>
        <p:nvSpPr>
          <p:cNvPr id="25" name="Content Placeholder 10">
            <a:extLst>
              <a:ext uri="{FF2B5EF4-FFF2-40B4-BE49-F238E27FC236}">
                <a16:creationId xmlns:a16="http://schemas.microsoft.com/office/drawing/2014/main" id="{EF0222B6-9957-6D47-B5D6-C0B5F4719587}"/>
              </a:ext>
            </a:extLst>
          </p:cNvPr>
          <p:cNvSpPr>
            <a:spLocks noGrp="1"/>
          </p:cNvSpPr>
          <p:nvPr>
            <p:ph sz="quarter" idx="21" hasCustomPrompt="1"/>
          </p:nvPr>
        </p:nvSpPr>
        <p:spPr>
          <a:xfrm>
            <a:off x="9631686" y="4105280"/>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Tree>
    <p:extLst>
      <p:ext uri="{BB962C8B-B14F-4D97-AF65-F5344CB8AC3E}">
        <p14:creationId xmlns:p14="http://schemas.microsoft.com/office/powerpoint/2010/main" val="34594939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plus Multiple Content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D6E398D-3129-0449-B2FB-A6A4CCA4C1A4}"/>
              </a:ext>
            </a:extLst>
          </p:cNvPr>
          <p:cNvSpPr>
            <a:spLocks noGrp="1"/>
          </p:cNvSpPr>
          <p:nvPr>
            <p:ph type="title" hasCustomPrompt="1"/>
          </p:nvPr>
        </p:nvSpPr>
        <p:spPr>
          <a:xfrm>
            <a:off x="685147" y="460255"/>
            <a:ext cx="10821056" cy="849312"/>
          </a:xfrm>
        </p:spPr>
        <p:txBody>
          <a:bodyPr/>
          <a:lstStyle>
            <a:lvl1pPr>
              <a:defRPr b="0" i="0"/>
            </a:lvl1pPr>
          </a:lstStyle>
          <a:p>
            <a:r>
              <a:rPr lang="en-US" dirty="0"/>
              <a:t>Click to Add Title</a:t>
            </a:r>
          </a:p>
        </p:txBody>
      </p:sp>
      <p:sp>
        <p:nvSpPr>
          <p:cNvPr id="4" name="Content Placeholder 1">
            <a:extLst>
              <a:ext uri="{FF2B5EF4-FFF2-40B4-BE49-F238E27FC236}">
                <a16:creationId xmlns:a16="http://schemas.microsoft.com/office/drawing/2014/main" id="{136D1C9A-76C2-9744-910E-29C1A9984DF8}"/>
              </a:ext>
            </a:extLst>
          </p:cNvPr>
          <p:cNvSpPr>
            <a:spLocks noGrp="1"/>
          </p:cNvSpPr>
          <p:nvPr>
            <p:ph sz="quarter" idx="12" hasCustomPrompt="1"/>
          </p:nvPr>
        </p:nvSpPr>
        <p:spPr>
          <a:xfrm>
            <a:off x="756625"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5" name="Content Placeholder 2">
            <a:extLst>
              <a:ext uri="{FF2B5EF4-FFF2-40B4-BE49-F238E27FC236}">
                <a16:creationId xmlns:a16="http://schemas.microsoft.com/office/drawing/2014/main" id="{3EAAB49E-29C7-254B-959D-DD70B6EF767B}"/>
              </a:ext>
            </a:extLst>
          </p:cNvPr>
          <p:cNvSpPr>
            <a:spLocks noGrp="1"/>
          </p:cNvSpPr>
          <p:nvPr>
            <p:ph sz="quarter" idx="13" hasCustomPrompt="1"/>
          </p:nvPr>
        </p:nvSpPr>
        <p:spPr>
          <a:xfrm>
            <a:off x="2975390"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6" name="Content Placeholder 3">
            <a:extLst>
              <a:ext uri="{FF2B5EF4-FFF2-40B4-BE49-F238E27FC236}">
                <a16:creationId xmlns:a16="http://schemas.microsoft.com/office/drawing/2014/main" id="{82AB166E-28C2-7047-9713-7D034F50D03D}"/>
              </a:ext>
            </a:extLst>
          </p:cNvPr>
          <p:cNvSpPr>
            <a:spLocks noGrp="1"/>
          </p:cNvSpPr>
          <p:nvPr>
            <p:ph sz="quarter" idx="14" hasCustomPrompt="1"/>
          </p:nvPr>
        </p:nvSpPr>
        <p:spPr>
          <a:xfrm>
            <a:off x="5194157"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7" name="Content Placeholder 4">
            <a:extLst>
              <a:ext uri="{FF2B5EF4-FFF2-40B4-BE49-F238E27FC236}">
                <a16:creationId xmlns:a16="http://schemas.microsoft.com/office/drawing/2014/main" id="{98A4D256-B5AF-FF4C-AC0B-526E40A60193}"/>
              </a:ext>
            </a:extLst>
          </p:cNvPr>
          <p:cNvSpPr>
            <a:spLocks noGrp="1"/>
          </p:cNvSpPr>
          <p:nvPr>
            <p:ph sz="quarter" idx="15" hasCustomPrompt="1"/>
          </p:nvPr>
        </p:nvSpPr>
        <p:spPr>
          <a:xfrm>
            <a:off x="7412922"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8" name="Content Placeholder 5">
            <a:extLst>
              <a:ext uri="{FF2B5EF4-FFF2-40B4-BE49-F238E27FC236}">
                <a16:creationId xmlns:a16="http://schemas.microsoft.com/office/drawing/2014/main" id="{68AD2C22-047C-6249-858D-098EEC0D53E0}"/>
              </a:ext>
            </a:extLst>
          </p:cNvPr>
          <p:cNvSpPr>
            <a:spLocks noGrp="1"/>
          </p:cNvSpPr>
          <p:nvPr>
            <p:ph sz="quarter" idx="16" hasCustomPrompt="1"/>
          </p:nvPr>
        </p:nvSpPr>
        <p:spPr>
          <a:xfrm>
            <a:off x="9631686"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9" name="Content Placeholder 6">
            <a:extLst>
              <a:ext uri="{FF2B5EF4-FFF2-40B4-BE49-F238E27FC236}">
                <a16:creationId xmlns:a16="http://schemas.microsoft.com/office/drawing/2014/main" id="{A739E962-1130-9749-ABD5-213A7E47522A}"/>
              </a:ext>
            </a:extLst>
          </p:cNvPr>
          <p:cNvSpPr>
            <a:spLocks noGrp="1"/>
          </p:cNvSpPr>
          <p:nvPr>
            <p:ph sz="quarter" idx="17" hasCustomPrompt="1"/>
          </p:nvPr>
        </p:nvSpPr>
        <p:spPr>
          <a:xfrm>
            <a:off x="756625" y="4105803"/>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0" name="Content Placeholder 7">
            <a:extLst>
              <a:ext uri="{FF2B5EF4-FFF2-40B4-BE49-F238E27FC236}">
                <a16:creationId xmlns:a16="http://schemas.microsoft.com/office/drawing/2014/main" id="{4A53092C-2D37-1D45-B69F-2202835431B6}"/>
              </a:ext>
            </a:extLst>
          </p:cNvPr>
          <p:cNvSpPr>
            <a:spLocks noGrp="1"/>
          </p:cNvSpPr>
          <p:nvPr>
            <p:ph sz="quarter" idx="18" hasCustomPrompt="1"/>
          </p:nvPr>
        </p:nvSpPr>
        <p:spPr>
          <a:xfrm>
            <a:off x="2975390" y="4105804"/>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1" name="Content Placeholder 8">
            <a:extLst>
              <a:ext uri="{FF2B5EF4-FFF2-40B4-BE49-F238E27FC236}">
                <a16:creationId xmlns:a16="http://schemas.microsoft.com/office/drawing/2014/main" id="{9C1DE770-7F00-0E48-988B-9BE952F2C70E}"/>
              </a:ext>
            </a:extLst>
          </p:cNvPr>
          <p:cNvSpPr>
            <a:spLocks noGrp="1"/>
          </p:cNvSpPr>
          <p:nvPr>
            <p:ph sz="quarter" idx="19" hasCustomPrompt="1"/>
          </p:nvPr>
        </p:nvSpPr>
        <p:spPr>
          <a:xfrm>
            <a:off x="5194157" y="4105811"/>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2" name="Content Placeholder 9">
            <a:extLst>
              <a:ext uri="{FF2B5EF4-FFF2-40B4-BE49-F238E27FC236}">
                <a16:creationId xmlns:a16="http://schemas.microsoft.com/office/drawing/2014/main" id="{90D86BCA-285A-FA45-A956-A1ADB4CFBBEA}"/>
              </a:ext>
            </a:extLst>
          </p:cNvPr>
          <p:cNvSpPr>
            <a:spLocks noGrp="1"/>
          </p:cNvSpPr>
          <p:nvPr>
            <p:ph sz="quarter" idx="20" hasCustomPrompt="1"/>
          </p:nvPr>
        </p:nvSpPr>
        <p:spPr>
          <a:xfrm>
            <a:off x="7412922" y="4105280"/>
            <a:ext cx="1874519" cy="1465263"/>
          </a:xfrm>
          <a:prstGeom prst="rect">
            <a:avLst/>
          </a:prstGeom>
        </p:spPr>
        <p:txBody>
          <a:bodyPr>
            <a:normAutofit/>
          </a:bodyPr>
          <a:lstStyle>
            <a:lvl1pPr marL="0" indent="0">
              <a:spcBef>
                <a:spcPts val="1000"/>
              </a:spcBef>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Object</a:t>
            </a:r>
          </a:p>
        </p:txBody>
      </p:sp>
      <p:sp>
        <p:nvSpPr>
          <p:cNvPr id="13" name="Content Placeholder 10">
            <a:extLst>
              <a:ext uri="{FF2B5EF4-FFF2-40B4-BE49-F238E27FC236}">
                <a16:creationId xmlns:a16="http://schemas.microsoft.com/office/drawing/2014/main" id="{CADF4259-D095-6B45-B487-51FF116AB723}"/>
              </a:ext>
            </a:extLst>
          </p:cNvPr>
          <p:cNvSpPr>
            <a:spLocks noGrp="1"/>
          </p:cNvSpPr>
          <p:nvPr>
            <p:ph sz="quarter" idx="21" hasCustomPrompt="1"/>
          </p:nvPr>
        </p:nvSpPr>
        <p:spPr>
          <a:xfrm>
            <a:off x="9631686" y="4105280"/>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5" name="LON">
            <a:extLst>
              <a:ext uri="{FF2B5EF4-FFF2-40B4-BE49-F238E27FC236}">
                <a16:creationId xmlns:a16="http://schemas.microsoft.com/office/drawing/2014/main" id="{703C0522-40C1-E542-962A-16F7DBF88E78}"/>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26047531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plus question and answer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E625A-A2BD-A14C-8E2D-2D92535588BD}"/>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
        <p:nvSpPr>
          <p:cNvPr id="6" name="Content Placeholder">
            <a:extLst>
              <a:ext uri="{FF2B5EF4-FFF2-40B4-BE49-F238E27FC236}">
                <a16:creationId xmlns:a16="http://schemas.microsoft.com/office/drawing/2014/main" id="{E73A7EA0-F98F-BE4E-87CA-6C917EC13001}"/>
              </a:ext>
            </a:extLst>
          </p:cNvPr>
          <p:cNvSpPr>
            <a:spLocks noGrp="1"/>
          </p:cNvSpPr>
          <p:nvPr>
            <p:ph sz="quarter" idx="12" hasCustomPrompt="1"/>
          </p:nvPr>
        </p:nvSpPr>
        <p:spPr>
          <a:xfrm>
            <a:off x="685150" y="1424064"/>
            <a:ext cx="10820401" cy="4932287"/>
          </a:xfrm>
          <a:prstGeom prst="rect">
            <a:avLst/>
          </a:prstGeom>
        </p:spPr>
        <p:txBody>
          <a:bodyPr/>
          <a:lstStyle>
            <a:lvl1pPr marL="0" indent="0">
              <a:spcBef>
                <a:spcPts val="1000"/>
              </a:spcBef>
              <a:buNone/>
              <a:defRPr sz="2800"/>
            </a:lvl1pPr>
            <a:lvl2pPr marL="610362" indent="-342900">
              <a:spcBef>
                <a:spcPts val="1000"/>
              </a:spcBef>
              <a:buClr>
                <a:schemeClr val="accent3"/>
              </a:buClr>
              <a:buFont typeface="+mj-lt"/>
              <a:buAutoNum type="alphaLcPeriod"/>
              <a:defRPr sz="2400"/>
            </a:lvl2pPr>
          </a:lstStyle>
          <a:p>
            <a:pPr lvl="0"/>
            <a:r>
              <a:rPr lang="en-US" dirty="0"/>
              <a:t>Click to add question</a:t>
            </a:r>
          </a:p>
          <a:p>
            <a:pPr lvl="1"/>
            <a:r>
              <a:rPr lang="en-US" dirty="0"/>
              <a:t>Click to add answer</a:t>
            </a:r>
          </a:p>
        </p:txBody>
      </p:sp>
    </p:spTree>
    <p:extLst>
      <p:ext uri="{BB962C8B-B14F-4D97-AF65-F5344CB8AC3E}">
        <p14:creationId xmlns:p14="http://schemas.microsoft.com/office/powerpoint/2010/main" val="624455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plus question and answer list with LO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1D2F9AD-A5DB-9949-B229-2FB3D8D60D1E}"/>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
        <p:nvSpPr>
          <p:cNvPr id="4" name="Content Placeholder">
            <a:extLst>
              <a:ext uri="{FF2B5EF4-FFF2-40B4-BE49-F238E27FC236}">
                <a16:creationId xmlns:a16="http://schemas.microsoft.com/office/drawing/2014/main" id="{448A82C7-035B-9448-8BF0-EEC3EDCE504D}"/>
              </a:ext>
            </a:extLst>
          </p:cNvPr>
          <p:cNvSpPr>
            <a:spLocks noGrp="1"/>
          </p:cNvSpPr>
          <p:nvPr>
            <p:ph sz="quarter" idx="12" hasCustomPrompt="1"/>
          </p:nvPr>
        </p:nvSpPr>
        <p:spPr>
          <a:xfrm>
            <a:off x="685150" y="1424064"/>
            <a:ext cx="10820401" cy="4932287"/>
          </a:xfrm>
          <a:prstGeom prst="rect">
            <a:avLst/>
          </a:prstGeom>
        </p:spPr>
        <p:txBody>
          <a:bodyPr/>
          <a:lstStyle>
            <a:lvl1pPr marL="0" indent="0">
              <a:spcBef>
                <a:spcPts val="1000"/>
              </a:spcBef>
              <a:buNone/>
              <a:defRPr sz="2800"/>
            </a:lvl1pPr>
            <a:lvl2pPr marL="610362" indent="-342900">
              <a:spcBef>
                <a:spcPts val="1000"/>
              </a:spcBef>
              <a:buClr>
                <a:schemeClr val="accent3"/>
              </a:buClr>
              <a:buFont typeface="+mj-lt"/>
              <a:buAutoNum type="alphaLcPeriod"/>
              <a:defRPr sz="2400"/>
            </a:lvl2pPr>
          </a:lstStyle>
          <a:p>
            <a:pPr lvl="0"/>
            <a:r>
              <a:rPr lang="en-US" dirty="0"/>
              <a:t>Click to add question</a:t>
            </a:r>
          </a:p>
          <a:p>
            <a:pPr lvl="1"/>
            <a:r>
              <a:rPr lang="en-US" dirty="0"/>
              <a:t>Click to add answer</a:t>
            </a:r>
          </a:p>
        </p:txBody>
      </p:sp>
      <p:sp>
        <p:nvSpPr>
          <p:cNvPr id="5" name="LON">
            <a:extLst>
              <a:ext uri="{FF2B5EF4-FFF2-40B4-BE49-F238E27FC236}">
                <a16:creationId xmlns:a16="http://schemas.microsoft.com/office/drawing/2014/main" id="{F1660F36-E56F-4D4C-9087-F66CAA865B8A}"/>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11754771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plus image, figure title, caption, and source">
    <p:spTree>
      <p:nvGrpSpPr>
        <p:cNvPr id="1" name=""/>
        <p:cNvGrpSpPr/>
        <p:nvPr/>
      </p:nvGrpSpPr>
      <p:grpSpPr>
        <a:xfrm>
          <a:off x="0" y="0"/>
          <a:ext cx="0" cy="0"/>
          <a:chOff x="0" y="0"/>
          <a:chExt cx="0" cy="0"/>
        </a:xfrm>
      </p:grpSpPr>
      <p:sp>
        <p:nvSpPr>
          <p:cNvPr id="6" name="Content Placeholder">
            <a:extLst>
              <a:ext uri="{FF2B5EF4-FFF2-40B4-BE49-F238E27FC236}">
                <a16:creationId xmlns:a16="http://schemas.microsoft.com/office/drawing/2014/main" id="{F16179AC-EC34-4C40-8E6B-BEB5702E9F50}"/>
              </a:ext>
            </a:extLst>
          </p:cNvPr>
          <p:cNvSpPr>
            <a:spLocks noGrp="1"/>
          </p:cNvSpPr>
          <p:nvPr>
            <p:ph sz="quarter" idx="12" hasCustomPrompt="1"/>
          </p:nvPr>
        </p:nvSpPr>
        <p:spPr>
          <a:xfrm>
            <a:off x="685150" y="1424071"/>
            <a:ext cx="10820401" cy="3327819"/>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8" name="Figure title">
            <a:extLst>
              <a:ext uri="{FF2B5EF4-FFF2-40B4-BE49-F238E27FC236}">
                <a16:creationId xmlns:a16="http://schemas.microsoft.com/office/drawing/2014/main" id="{F51AA1B8-B311-6E4B-86C5-5C509DDE2BD4}"/>
              </a:ext>
            </a:extLst>
          </p:cNvPr>
          <p:cNvSpPr>
            <a:spLocks noGrp="1"/>
          </p:cNvSpPr>
          <p:nvPr>
            <p:ph sz="quarter" idx="13" hasCustomPrompt="1"/>
          </p:nvPr>
        </p:nvSpPr>
        <p:spPr>
          <a:xfrm>
            <a:off x="685150" y="4961468"/>
            <a:ext cx="10820401" cy="406400"/>
          </a:xfrm>
          <a:prstGeom prst="rect">
            <a:avLst/>
          </a:prstGeom>
        </p:spPr>
        <p:txBody>
          <a:bodyPr>
            <a:normAutofit/>
          </a:bodyPr>
          <a:lstStyle>
            <a:lvl1pPr marL="0" indent="0">
              <a:spcBef>
                <a:spcPts val="1000"/>
              </a:spcBef>
              <a:buNone/>
              <a:defRPr sz="2200" b="1"/>
            </a:lvl1pPr>
          </a:lstStyle>
          <a:p>
            <a:pPr lvl="0"/>
            <a:r>
              <a:rPr lang="en-US" b="1" dirty="0"/>
              <a:t>Click to add figure title</a:t>
            </a:r>
            <a:endParaRPr lang="en-US" dirty="0"/>
          </a:p>
        </p:txBody>
      </p:sp>
      <p:sp>
        <p:nvSpPr>
          <p:cNvPr id="10" name="Figure caption">
            <a:extLst>
              <a:ext uri="{FF2B5EF4-FFF2-40B4-BE49-F238E27FC236}">
                <a16:creationId xmlns:a16="http://schemas.microsoft.com/office/drawing/2014/main" id="{5F92F2A8-2231-CB4C-9E9E-BE9DD704492E}"/>
              </a:ext>
            </a:extLst>
          </p:cNvPr>
          <p:cNvSpPr>
            <a:spLocks noGrp="1"/>
          </p:cNvSpPr>
          <p:nvPr>
            <p:ph sz="quarter" idx="14" hasCustomPrompt="1"/>
          </p:nvPr>
        </p:nvSpPr>
        <p:spPr>
          <a:xfrm>
            <a:off x="685150" y="5367869"/>
            <a:ext cx="10820401" cy="582082"/>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12" name="Figure source note">
            <a:extLst>
              <a:ext uri="{FF2B5EF4-FFF2-40B4-BE49-F238E27FC236}">
                <a16:creationId xmlns:a16="http://schemas.microsoft.com/office/drawing/2014/main" id="{7DD20C02-8EF0-F645-9932-84DCA794BBF2}"/>
              </a:ext>
            </a:extLst>
          </p:cNvPr>
          <p:cNvSpPr>
            <a:spLocks noGrp="1"/>
          </p:cNvSpPr>
          <p:nvPr>
            <p:ph sz="quarter" idx="15" hasCustomPrompt="1"/>
          </p:nvPr>
        </p:nvSpPr>
        <p:spPr>
          <a:xfrm>
            <a:off x="685150" y="5949950"/>
            <a:ext cx="10820401" cy="323850"/>
          </a:xfrm>
          <a:prstGeom prst="rect">
            <a:avLst/>
          </a:prstGeom>
        </p:spPr>
        <p:txBody>
          <a:bodyPr>
            <a:noAutofit/>
          </a:bodyPr>
          <a:lstStyle>
            <a:lvl1pPr marL="0" indent="0">
              <a:spcBef>
                <a:spcPts val="1000"/>
              </a:spcBef>
              <a:buNone/>
              <a:defRPr sz="1800"/>
            </a:lvl1pPr>
          </a:lstStyle>
          <a:p>
            <a:pPr lvl="0"/>
            <a:r>
              <a:rPr lang="en-US" dirty="0"/>
              <a:t>Click to add figure source note</a:t>
            </a:r>
          </a:p>
        </p:txBody>
      </p:sp>
      <p:sp>
        <p:nvSpPr>
          <p:cNvPr id="2" name="Title 1">
            <a:extLst>
              <a:ext uri="{FF2B5EF4-FFF2-40B4-BE49-F238E27FC236}">
                <a16:creationId xmlns:a16="http://schemas.microsoft.com/office/drawing/2014/main" id="{F39E8F1D-6463-024C-A2F4-06E1DBEE69F3}"/>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Tree>
    <p:extLst>
      <p:ext uri="{BB962C8B-B14F-4D97-AF65-F5344CB8AC3E}">
        <p14:creationId xmlns:p14="http://schemas.microsoft.com/office/powerpoint/2010/main" val="36164839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plus image, figure title, caption, and source with LO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DEB4B85-2048-3B45-8B14-CAE77DC08DB7}"/>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
        <p:nvSpPr>
          <p:cNvPr id="3" name="Content Placeholder">
            <a:extLst>
              <a:ext uri="{FF2B5EF4-FFF2-40B4-BE49-F238E27FC236}">
                <a16:creationId xmlns:a16="http://schemas.microsoft.com/office/drawing/2014/main" id="{16E541C9-040D-314F-8E50-4191C968D159}"/>
              </a:ext>
            </a:extLst>
          </p:cNvPr>
          <p:cNvSpPr>
            <a:spLocks noGrp="1"/>
          </p:cNvSpPr>
          <p:nvPr>
            <p:ph sz="quarter" idx="12" hasCustomPrompt="1"/>
          </p:nvPr>
        </p:nvSpPr>
        <p:spPr>
          <a:xfrm>
            <a:off x="685150" y="1424071"/>
            <a:ext cx="10820401" cy="3327819"/>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4" name="Figure title">
            <a:extLst>
              <a:ext uri="{FF2B5EF4-FFF2-40B4-BE49-F238E27FC236}">
                <a16:creationId xmlns:a16="http://schemas.microsoft.com/office/drawing/2014/main" id="{5D414B6C-FA21-5043-9ECF-2439DCF316C0}"/>
              </a:ext>
            </a:extLst>
          </p:cNvPr>
          <p:cNvSpPr>
            <a:spLocks noGrp="1"/>
          </p:cNvSpPr>
          <p:nvPr>
            <p:ph sz="quarter" idx="13" hasCustomPrompt="1"/>
          </p:nvPr>
        </p:nvSpPr>
        <p:spPr>
          <a:xfrm>
            <a:off x="685150" y="4961468"/>
            <a:ext cx="10820401" cy="406400"/>
          </a:xfrm>
          <a:prstGeom prst="rect">
            <a:avLst/>
          </a:prstGeom>
        </p:spPr>
        <p:txBody>
          <a:bodyPr>
            <a:normAutofit/>
          </a:bodyPr>
          <a:lstStyle>
            <a:lvl1pPr marL="0" indent="0">
              <a:spcBef>
                <a:spcPts val="1000"/>
              </a:spcBef>
              <a:buNone/>
              <a:defRPr sz="2200" b="1"/>
            </a:lvl1pPr>
          </a:lstStyle>
          <a:p>
            <a:pPr lvl="0"/>
            <a:r>
              <a:rPr lang="en-US" b="1" dirty="0"/>
              <a:t>Click to add figure title</a:t>
            </a:r>
            <a:endParaRPr lang="en-US" dirty="0"/>
          </a:p>
        </p:txBody>
      </p:sp>
      <p:sp>
        <p:nvSpPr>
          <p:cNvPr id="5" name="Figure caption">
            <a:extLst>
              <a:ext uri="{FF2B5EF4-FFF2-40B4-BE49-F238E27FC236}">
                <a16:creationId xmlns:a16="http://schemas.microsoft.com/office/drawing/2014/main" id="{B8D626BF-C27F-4C4A-AA75-D719F7E18C8D}"/>
              </a:ext>
            </a:extLst>
          </p:cNvPr>
          <p:cNvSpPr>
            <a:spLocks noGrp="1"/>
          </p:cNvSpPr>
          <p:nvPr>
            <p:ph sz="quarter" idx="14" hasCustomPrompt="1"/>
          </p:nvPr>
        </p:nvSpPr>
        <p:spPr>
          <a:xfrm>
            <a:off x="685150" y="5367869"/>
            <a:ext cx="10820401" cy="582082"/>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6" name="Figure source note">
            <a:extLst>
              <a:ext uri="{FF2B5EF4-FFF2-40B4-BE49-F238E27FC236}">
                <a16:creationId xmlns:a16="http://schemas.microsoft.com/office/drawing/2014/main" id="{776019B9-9FBC-7341-988E-16B1099AB57A}"/>
              </a:ext>
            </a:extLst>
          </p:cNvPr>
          <p:cNvSpPr>
            <a:spLocks noGrp="1"/>
          </p:cNvSpPr>
          <p:nvPr>
            <p:ph sz="quarter" idx="15" hasCustomPrompt="1"/>
          </p:nvPr>
        </p:nvSpPr>
        <p:spPr>
          <a:xfrm>
            <a:off x="685150" y="5949950"/>
            <a:ext cx="10820401" cy="323850"/>
          </a:xfrm>
          <a:prstGeom prst="rect">
            <a:avLst/>
          </a:prstGeom>
        </p:spPr>
        <p:txBody>
          <a:bodyPr>
            <a:noAutofit/>
          </a:bodyPr>
          <a:lstStyle>
            <a:lvl1pPr marL="0" indent="0">
              <a:spcBef>
                <a:spcPts val="1000"/>
              </a:spcBef>
              <a:buNone/>
              <a:defRPr sz="1800"/>
            </a:lvl1pPr>
          </a:lstStyle>
          <a:p>
            <a:pPr lvl="0"/>
            <a:r>
              <a:rPr lang="en-US" dirty="0"/>
              <a:t>Click to add figure source note</a:t>
            </a:r>
          </a:p>
        </p:txBody>
      </p:sp>
      <p:sp>
        <p:nvSpPr>
          <p:cNvPr id="8" name="LON">
            <a:extLst>
              <a:ext uri="{FF2B5EF4-FFF2-40B4-BE49-F238E27FC236}">
                <a16:creationId xmlns:a16="http://schemas.microsoft.com/office/drawing/2014/main" id="{4A286827-D739-3A44-A6A8-39E27D636477}"/>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7055321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Image plus figure title, caption, and sourc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49C45D5-05E5-F24D-A1D1-12F5C6D94923}"/>
              </a:ext>
            </a:extLst>
          </p:cNvPr>
          <p:cNvSpPr>
            <a:spLocks noGrp="1"/>
          </p:cNvSpPr>
          <p:nvPr>
            <p:ph type="title" hasCustomPrompt="1"/>
          </p:nvPr>
        </p:nvSpPr>
        <p:spPr>
          <a:xfrm>
            <a:off x="685150" y="4961468"/>
            <a:ext cx="10820401" cy="431800"/>
          </a:xfrm>
          <a:prstGeom prst="rect">
            <a:avLst/>
          </a:prstGeom>
        </p:spPr>
        <p:txBody>
          <a:bodyPr>
            <a:normAutofit/>
          </a:bodyPr>
          <a:lstStyle>
            <a:lvl1pPr>
              <a:spcBef>
                <a:spcPts val="1000"/>
              </a:spcBef>
              <a:defRPr sz="2200" b="0" i="0">
                <a:solidFill>
                  <a:schemeClr val="tx1"/>
                </a:solidFill>
              </a:defRPr>
            </a:lvl1pPr>
          </a:lstStyle>
          <a:p>
            <a:r>
              <a:rPr lang="en-US" dirty="0"/>
              <a:t>Click to add figure title</a:t>
            </a:r>
          </a:p>
        </p:txBody>
      </p:sp>
      <p:sp>
        <p:nvSpPr>
          <p:cNvPr id="6" name="Content Placeholder">
            <a:extLst>
              <a:ext uri="{FF2B5EF4-FFF2-40B4-BE49-F238E27FC236}">
                <a16:creationId xmlns:a16="http://schemas.microsoft.com/office/drawing/2014/main" id="{91CE61A6-80D4-1D46-9747-534997C0A7C7}"/>
              </a:ext>
            </a:extLst>
          </p:cNvPr>
          <p:cNvSpPr>
            <a:spLocks noGrp="1"/>
          </p:cNvSpPr>
          <p:nvPr>
            <p:ph sz="quarter" idx="12" hasCustomPrompt="1"/>
          </p:nvPr>
        </p:nvSpPr>
        <p:spPr>
          <a:xfrm>
            <a:off x="685150" y="804341"/>
            <a:ext cx="10820401" cy="4055005"/>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8" name="Figure caption">
            <a:extLst>
              <a:ext uri="{FF2B5EF4-FFF2-40B4-BE49-F238E27FC236}">
                <a16:creationId xmlns:a16="http://schemas.microsoft.com/office/drawing/2014/main" id="{30F4AE5B-9EC0-0F40-B06D-DF4AAD62565F}"/>
              </a:ext>
            </a:extLst>
          </p:cNvPr>
          <p:cNvSpPr>
            <a:spLocks noGrp="1"/>
          </p:cNvSpPr>
          <p:nvPr>
            <p:ph sz="quarter" idx="13" hasCustomPrompt="1"/>
          </p:nvPr>
        </p:nvSpPr>
        <p:spPr>
          <a:xfrm>
            <a:off x="685150" y="5393268"/>
            <a:ext cx="10820401" cy="507470"/>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10" name="Figure source note">
            <a:extLst>
              <a:ext uri="{FF2B5EF4-FFF2-40B4-BE49-F238E27FC236}">
                <a16:creationId xmlns:a16="http://schemas.microsoft.com/office/drawing/2014/main" id="{70769691-F199-9444-B93E-6F622FAF852A}"/>
              </a:ext>
            </a:extLst>
          </p:cNvPr>
          <p:cNvSpPr>
            <a:spLocks noGrp="1"/>
          </p:cNvSpPr>
          <p:nvPr>
            <p:ph sz="quarter" idx="14" hasCustomPrompt="1"/>
          </p:nvPr>
        </p:nvSpPr>
        <p:spPr>
          <a:xfrm>
            <a:off x="685150" y="5957367"/>
            <a:ext cx="10820401" cy="296863"/>
          </a:xfrm>
          <a:prstGeom prst="rect">
            <a:avLst/>
          </a:prstGeom>
        </p:spPr>
        <p:txBody>
          <a:bodyPr>
            <a:noAutofit/>
          </a:bodyPr>
          <a:lstStyle>
            <a:lvl1pPr marL="0" indent="0">
              <a:spcBef>
                <a:spcPts val="1000"/>
              </a:spcBef>
              <a:buFont typeface="Arial" panose="020B0604020202020204" pitchFamily="34" charset="0"/>
              <a:buNone/>
              <a:defRPr sz="1800"/>
            </a:lvl1pPr>
          </a:lstStyle>
          <a:p>
            <a:pPr lvl="0"/>
            <a:r>
              <a:rPr lang="en-US" dirty="0"/>
              <a:t>Click to add figure source note</a:t>
            </a:r>
          </a:p>
        </p:txBody>
      </p:sp>
    </p:spTree>
    <p:extLst>
      <p:ext uri="{BB962C8B-B14F-4D97-AF65-F5344CB8AC3E}">
        <p14:creationId xmlns:p14="http://schemas.microsoft.com/office/powerpoint/2010/main" val="5128821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 plus figure title, caption, and source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6A8D3AC-0293-C94C-A7F5-941ADBAAC1BE}"/>
              </a:ext>
            </a:extLst>
          </p:cNvPr>
          <p:cNvSpPr>
            <a:spLocks noGrp="1"/>
          </p:cNvSpPr>
          <p:nvPr>
            <p:ph type="title" hasCustomPrompt="1"/>
          </p:nvPr>
        </p:nvSpPr>
        <p:spPr>
          <a:xfrm>
            <a:off x="685150" y="4961468"/>
            <a:ext cx="10820401" cy="431800"/>
          </a:xfrm>
          <a:prstGeom prst="rect">
            <a:avLst/>
          </a:prstGeom>
        </p:spPr>
        <p:txBody>
          <a:bodyPr>
            <a:normAutofit/>
          </a:bodyPr>
          <a:lstStyle>
            <a:lvl1pPr>
              <a:spcBef>
                <a:spcPts val="1000"/>
              </a:spcBef>
              <a:defRPr sz="2200" b="0" i="0">
                <a:solidFill>
                  <a:schemeClr val="tx1"/>
                </a:solidFill>
              </a:defRPr>
            </a:lvl1pPr>
          </a:lstStyle>
          <a:p>
            <a:r>
              <a:rPr lang="en-US" dirty="0"/>
              <a:t>Click to add figure title</a:t>
            </a:r>
          </a:p>
        </p:txBody>
      </p:sp>
      <p:sp>
        <p:nvSpPr>
          <p:cNvPr id="4" name="Content Placeholder">
            <a:extLst>
              <a:ext uri="{FF2B5EF4-FFF2-40B4-BE49-F238E27FC236}">
                <a16:creationId xmlns:a16="http://schemas.microsoft.com/office/drawing/2014/main" id="{0BC8778B-3655-0B4E-B132-287C2BA78698}"/>
              </a:ext>
            </a:extLst>
          </p:cNvPr>
          <p:cNvSpPr>
            <a:spLocks noGrp="1"/>
          </p:cNvSpPr>
          <p:nvPr>
            <p:ph sz="quarter" idx="12" hasCustomPrompt="1"/>
          </p:nvPr>
        </p:nvSpPr>
        <p:spPr>
          <a:xfrm>
            <a:off x="685150" y="804341"/>
            <a:ext cx="10820401" cy="4055005"/>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5" name="Figure caption">
            <a:extLst>
              <a:ext uri="{FF2B5EF4-FFF2-40B4-BE49-F238E27FC236}">
                <a16:creationId xmlns:a16="http://schemas.microsoft.com/office/drawing/2014/main" id="{C6724138-0C2B-314B-9E27-32AC7A35CD3D}"/>
              </a:ext>
            </a:extLst>
          </p:cNvPr>
          <p:cNvSpPr>
            <a:spLocks noGrp="1"/>
          </p:cNvSpPr>
          <p:nvPr>
            <p:ph sz="quarter" idx="13" hasCustomPrompt="1"/>
          </p:nvPr>
        </p:nvSpPr>
        <p:spPr>
          <a:xfrm>
            <a:off x="685150" y="5393268"/>
            <a:ext cx="10820401" cy="507470"/>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6" name="Figure source note">
            <a:extLst>
              <a:ext uri="{FF2B5EF4-FFF2-40B4-BE49-F238E27FC236}">
                <a16:creationId xmlns:a16="http://schemas.microsoft.com/office/drawing/2014/main" id="{762E42E8-BA46-E94A-A4E2-2ADD1513927F}"/>
              </a:ext>
            </a:extLst>
          </p:cNvPr>
          <p:cNvSpPr>
            <a:spLocks noGrp="1"/>
          </p:cNvSpPr>
          <p:nvPr>
            <p:ph sz="quarter" idx="14" hasCustomPrompt="1"/>
          </p:nvPr>
        </p:nvSpPr>
        <p:spPr>
          <a:xfrm>
            <a:off x="685150" y="5957367"/>
            <a:ext cx="10820401" cy="296863"/>
          </a:xfrm>
          <a:prstGeom prst="rect">
            <a:avLst/>
          </a:prstGeom>
        </p:spPr>
        <p:txBody>
          <a:bodyPr>
            <a:noAutofit/>
          </a:bodyPr>
          <a:lstStyle>
            <a:lvl1pPr marL="0" indent="0">
              <a:spcBef>
                <a:spcPts val="1000"/>
              </a:spcBef>
              <a:buFont typeface="Arial" panose="020B0604020202020204" pitchFamily="34" charset="0"/>
              <a:buNone/>
              <a:defRPr sz="1800"/>
            </a:lvl1pPr>
          </a:lstStyle>
          <a:p>
            <a:pPr lvl="0"/>
            <a:r>
              <a:rPr lang="en-US" dirty="0"/>
              <a:t>Click to add figure source note</a:t>
            </a:r>
          </a:p>
        </p:txBody>
      </p:sp>
      <p:sp>
        <p:nvSpPr>
          <p:cNvPr id="7" name="LON">
            <a:extLst>
              <a:ext uri="{FF2B5EF4-FFF2-40B4-BE49-F238E27FC236}">
                <a16:creationId xmlns:a16="http://schemas.microsoft.com/office/drawing/2014/main" id="{E52E7061-3BA2-2443-8969-408C5477EC90}"/>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7093795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 plus figure titl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725A19D2-E201-E04B-8213-AD2F82E02ACD}"/>
              </a:ext>
            </a:extLst>
          </p:cNvPr>
          <p:cNvSpPr>
            <a:spLocks noGrp="1"/>
          </p:cNvSpPr>
          <p:nvPr>
            <p:ph type="title"/>
          </p:nvPr>
        </p:nvSpPr>
        <p:spPr>
          <a:xfrm>
            <a:off x="685150" y="5740408"/>
            <a:ext cx="10820401" cy="431801"/>
          </a:xfrm>
          <a:prstGeom prst="rect">
            <a:avLst/>
          </a:prstGeom>
        </p:spPr>
        <p:txBody>
          <a:bodyPr>
            <a:normAutofit/>
          </a:bodyPr>
          <a:lstStyle>
            <a:lvl1pPr algn="ctr">
              <a:defRPr sz="1800" b="0" i="0">
                <a:solidFill>
                  <a:schemeClr val="tx1"/>
                </a:solidFill>
              </a:defRPr>
            </a:lvl1pPr>
          </a:lstStyle>
          <a:p>
            <a:r>
              <a:rPr lang="en-US"/>
              <a:t>Click to edit Master title style</a:t>
            </a:r>
            <a:endParaRPr lang="en-US" dirty="0"/>
          </a:p>
        </p:txBody>
      </p:sp>
      <p:sp>
        <p:nvSpPr>
          <p:cNvPr id="6" name="Content Placeholder">
            <a:extLst>
              <a:ext uri="{FF2B5EF4-FFF2-40B4-BE49-F238E27FC236}">
                <a16:creationId xmlns:a16="http://schemas.microsoft.com/office/drawing/2014/main" id="{F7C27705-8F57-3543-B8B6-8884A3445F31}"/>
              </a:ext>
            </a:extLst>
          </p:cNvPr>
          <p:cNvSpPr>
            <a:spLocks noGrp="1"/>
          </p:cNvSpPr>
          <p:nvPr>
            <p:ph sz="quarter" idx="12" hasCustomPrompt="1"/>
          </p:nvPr>
        </p:nvSpPr>
        <p:spPr>
          <a:xfrm>
            <a:off x="685150" y="804333"/>
            <a:ext cx="10820401" cy="4751916"/>
          </a:xfrm>
          <a:prstGeom prst="rect">
            <a:avLst/>
          </a:prstGeom>
        </p:spPr>
        <p:txBody>
          <a:bodyPr>
            <a:normAutofit/>
          </a:bodyPr>
          <a:lstStyle>
            <a:lvl1pPr marL="0" indent="0">
              <a:spcBef>
                <a:spcPts val="1000"/>
              </a:spcBef>
              <a:buNone/>
              <a:defRPr sz="2800"/>
            </a:lvl1pPr>
          </a:lstStyle>
          <a:p>
            <a:pPr lvl="0"/>
            <a:r>
              <a:rPr lang="en-US" dirty="0"/>
              <a:t>Click to add image</a:t>
            </a:r>
          </a:p>
        </p:txBody>
      </p:sp>
    </p:spTree>
    <p:extLst>
      <p:ext uri="{BB962C8B-B14F-4D97-AF65-F5344CB8AC3E}">
        <p14:creationId xmlns:p14="http://schemas.microsoft.com/office/powerpoint/2010/main" val="32223492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 plus figure title with LON">
    <p:spTree>
      <p:nvGrpSpPr>
        <p:cNvPr id="1" name=""/>
        <p:cNvGrpSpPr/>
        <p:nvPr/>
      </p:nvGrpSpPr>
      <p:grpSpPr>
        <a:xfrm>
          <a:off x="0" y="0"/>
          <a:ext cx="0" cy="0"/>
          <a:chOff x="0" y="0"/>
          <a:chExt cx="0" cy="0"/>
        </a:xfrm>
      </p:grpSpPr>
      <p:sp>
        <p:nvSpPr>
          <p:cNvPr id="3" name="Title ">
            <a:extLst>
              <a:ext uri="{FF2B5EF4-FFF2-40B4-BE49-F238E27FC236}">
                <a16:creationId xmlns:a16="http://schemas.microsoft.com/office/drawing/2014/main" id="{EE0C413A-E9D2-874E-B667-7D52A7C6D63E}"/>
              </a:ext>
            </a:extLst>
          </p:cNvPr>
          <p:cNvSpPr>
            <a:spLocks noGrp="1"/>
          </p:cNvSpPr>
          <p:nvPr>
            <p:ph type="title"/>
          </p:nvPr>
        </p:nvSpPr>
        <p:spPr>
          <a:xfrm>
            <a:off x="685150" y="5740408"/>
            <a:ext cx="10820401" cy="431801"/>
          </a:xfrm>
          <a:prstGeom prst="rect">
            <a:avLst/>
          </a:prstGeom>
        </p:spPr>
        <p:txBody>
          <a:bodyPr>
            <a:normAutofit/>
          </a:bodyPr>
          <a:lstStyle>
            <a:lvl1pPr algn="ctr">
              <a:defRPr sz="1800" b="0" i="0">
                <a:solidFill>
                  <a:schemeClr val="tx1"/>
                </a:solidFill>
              </a:defRPr>
            </a:lvl1pPr>
          </a:lstStyle>
          <a:p>
            <a:r>
              <a:rPr lang="en-US"/>
              <a:t>Click to edit Master title style</a:t>
            </a:r>
            <a:endParaRPr lang="en-US" dirty="0"/>
          </a:p>
        </p:txBody>
      </p:sp>
      <p:sp>
        <p:nvSpPr>
          <p:cNvPr id="4" name="Content Placeholder">
            <a:extLst>
              <a:ext uri="{FF2B5EF4-FFF2-40B4-BE49-F238E27FC236}">
                <a16:creationId xmlns:a16="http://schemas.microsoft.com/office/drawing/2014/main" id="{E0790748-4FDE-2740-9056-03023766B8FD}"/>
              </a:ext>
            </a:extLst>
          </p:cNvPr>
          <p:cNvSpPr>
            <a:spLocks noGrp="1"/>
          </p:cNvSpPr>
          <p:nvPr>
            <p:ph sz="quarter" idx="12" hasCustomPrompt="1"/>
          </p:nvPr>
        </p:nvSpPr>
        <p:spPr>
          <a:xfrm>
            <a:off x="685150" y="804333"/>
            <a:ext cx="10820401" cy="4751916"/>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5" name="LON">
            <a:extLst>
              <a:ext uri="{FF2B5EF4-FFF2-40B4-BE49-F238E27FC236}">
                <a16:creationId xmlns:a16="http://schemas.microsoft.com/office/drawing/2014/main" id="{605772DC-A4D5-384D-9F48-D64BD7545E62}"/>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5224291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C038FED-6BF6-AB44-9A08-55D37B5C3CD2}"/>
              </a:ext>
            </a:extLst>
          </p:cNvPr>
          <p:cNvSpPr>
            <a:spLocks noGrp="1"/>
          </p:cNvSpPr>
          <p:nvPr>
            <p:ph type="title" hasCustomPrompt="1"/>
          </p:nvPr>
        </p:nvSpPr>
        <p:spPr>
          <a:xfrm>
            <a:off x="685150" y="460260"/>
            <a:ext cx="10821053" cy="448733"/>
          </a:xfrm>
          <a:prstGeom prst="rect">
            <a:avLst/>
          </a:prstGeom>
        </p:spPr>
        <p:txBody>
          <a:bodyPr anchor="ctr">
            <a:normAutofit/>
          </a:bodyPr>
          <a:lstStyle>
            <a:lvl1pPr>
              <a:defRPr sz="1875" b="0" i="0">
                <a:solidFill>
                  <a:schemeClr val="tx2"/>
                </a:solidFill>
              </a:defRPr>
            </a:lvl1pPr>
          </a:lstStyle>
          <a:p>
            <a:r>
              <a:rPr lang="en-US" dirty="0"/>
              <a:t>Click to Add Section Heading</a:t>
            </a:r>
          </a:p>
        </p:txBody>
      </p:sp>
      <p:sp>
        <p:nvSpPr>
          <p:cNvPr id="6" name="LOH">
            <a:extLst>
              <a:ext uri="{FF2B5EF4-FFF2-40B4-BE49-F238E27FC236}">
                <a16:creationId xmlns:a16="http://schemas.microsoft.com/office/drawing/2014/main" id="{49E9A051-991C-0F46-BAA2-7226FFD829BB}"/>
              </a:ext>
            </a:extLst>
          </p:cNvPr>
          <p:cNvSpPr>
            <a:spLocks noGrp="1"/>
          </p:cNvSpPr>
          <p:nvPr>
            <p:ph sz="quarter" idx="12" hasCustomPrompt="1"/>
          </p:nvPr>
        </p:nvSpPr>
        <p:spPr>
          <a:xfrm>
            <a:off x="0" y="908989"/>
            <a:ext cx="12192000" cy="576072"/>
          </a:xfrm>
          <a:prstGeom prst="rect">
            <a:avLst/>
          </a:prstGeom>
          <a:solidFill>
            <a:schemeClr val="accent5">
              <a:lumMod val="20000"/>
              <a:lumOff val="80000"/>
            </a:schemeClr>
          </a:solidFill>
        </p:spPr>
        <p:txBody>
          <a:bodyPr tIns="228600" anchor="t">
            <a:normAutofit/>
          </a:bodyPr>
          <a:lstStyle>
            <a:lvl1pPr marL="685800" indent="0">
              <a:buNone/>
              <a:defRPr sz="2400" b="1">
                <a:solidFill>
                  <a:schemeClr val="accent3"/>
                </a:solidFill>
              </a:defRPr>
            </a:lvl1pPr>
          </a:lstStyle>
          <a:p>
            <a:pPr lvl="0"/>
            <a:r>
              <a:rPr lang="en-US" dirty="0"/>
              <a:t>LEARNING OBJECTIVE</a:t>
            </a:r>
          </a:p>
        </p:txBody>
      </p:sp>
      <p:sp>
        <p:nvSpPr>
          <p:cNvPr id="7" name="LO">
            <a:extLst>
              <a:ext uri="{FF2B5EF4-FFF2-40B4-BE49-F238E27FC236}">
                <a16:creationId xmlns:a16="http://schemas.microsoft.com/office/drawing/2014/main" id="{6B2BBFD0-F1EC-4C47-B12D-5C12ED25E097}"/>
              </a:ext>
            </a:extLst>
          </p:cNvPr>
          <p:cNvSpPr>
            <a:spLocks noGrp="1"/>
          </p:cNvSpPr>
          <p:nvPr>
            <p:ph sz="quarter" idx="13" hasCustomPrompt="1"/>
          </p:nvPr>
        </p:nvSpPr>
        <p:spPr>
          <a:xfrm>
            <a:off x="0" y="1485062"/>
            <a:ext cx="12192000" cy="576072"/>
          </a:xfrm>
          <a:prstGeom prst="rect">
            <a:avLst/>
          </a:prstGeom>
          <a:solidFill>
            <a:schemeClr val="accent5">
              <a:lumMod val="20000"/>
              <a:lumOff val="80000"/>
            </a:schemeClr>
          </a:solidFill>
        </p:spPr>
        <p:txBody>
          <a:bodyPr bIns="137160" anchor="t">
            <a:normAutofit/>
          </a:bodyPr>
          <a:lstStyle>
            <a:lvl1pPr marL="685800" indent="0">
              <a:buNone/>
              <a:defRPr sz="2800" b="1"/>
            </a:lvl1pPr>
          </a:lstStyle>
          <a:p>
            <a:pPr lvl="0"/>
            <a:r>
              <a:rPr lang="en-US" b="1" dirty="0"/>
              <a:t>Click to add learning objective</a:t>
            </a:r>
            <a:endParaRPr lang="en-US" dirty="0"/>
          </a:p>
        </p:txBody>
      </p:sp>
      <p:sp>
        <p:nvSpPr>
          <p:cNvPr id="9" name="Content Placeholder ">
            <a:extLst>
              <a:ext uri="{FF2B5EF4-FFF2-40B4-BE49-F238E27FC236}">
                <a16:creationId xmlns:a16="http://schemas.microsoft.com/office/drawing/2014/main" id="{65D5B835-3B9C-E14E-A29A-0724ED8AF90D}"/>
              </a:ext>
            </a:extLst>
          </p:cNvPr>
          <p:cNvSpPr>
            <a:spLocks noGrp="1"/>
          </p:cNvSpPr>
          <p:nvPr>
            <p:ph sz="quarter" idx="14" hasCustomPrompt="1"/>
          </p:nvPr>
        </p:nvSpPr>
        <p:spPr>
          <a:xfrm>
            <a:off x="685150" y="2441984"/>
            <a:ext cx="10820401" cy="3795530"/>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8" name="LON">
            <a:extLst>
              <a:ext uri="{FF2B5EF4-FFF2-40B4-BE49-F238E27FC236}">
                <a16:creationId xmlns:a16="http://schemas.microsoft.com/office/drawing/2014/main" id="{0165F52E-6DB2-1947-9EBF-D8C707B6D127}"/>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3010710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theme" Target="../theme/theme1.xml"/><Relationship Id="rId2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685149" y="460255"/>
            <a:ext cx="10820403" cy="84931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p:cNvSpPr>
            <a:spLocks noGrp="1"/>
          </p:cNvSpPr>
          <p:nvPr>
            <p:ph type="body" idx="1"/>
          </p:nvPr>
        </p:nvSpPr>
        <p:spPr>
          <a:xfrm>
            <a:off x="685149" y="1452563"/>
            <a:ext cx="10820401" cy="45825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3" name="Decorative">
            <a:extLst>
              <a:ext uri="{FF2B5EF4-FFF2-40B4-BE49-F238E27FC236}">
                <a16:creationId xmlns:a16="http://schemas.microsoft.com/office/drawing/2014/main" id="{CCA493B3-CA46-AE42-92E0-65E2C321C4EE}"/>
              </a:ext>
              <a:ext uri="{C183D7F6-B498-43B3-948B-1728B52AA6E4}">
                <adec:decorative xmlns:adec="http://schemas.microsoft.com/office/drawing/2017/decorative" val="1"/>
              </a:ext>
            </a:extLst>
          </p:cNvPr>
          <p:cNvGrpSpPr/>
          <p:nvPr/>
        </p:nvGrpSpPr>
        <p:grpSpPr>
          <a:xfrm>
            <a:off x="0" y="6446652"/>
            <a:ext cx="12192000" cy="457200"/>
            <a:chOff x="0" y="6437034"/>
            <a:chExt cx="12192000" cy="457200"/>
          </a:xfrm>
        </p:grpSpPr>
        <p:sp>
          <p:nvSpPr>
            <p:cNvPr id="9" name="Rectangle">
              <a:extLst>
                <a:ext uri="{FF2B5EF4-FFF2-40B4-BE49-F238E27FC236}">
                  <a16:creationId xmlns:a16="http://schemas.microsoft.com/office/drawing/2014/main" id="{1435C606-734A-6E44-8696-5C3FDC502060}"/>
                </a:ext>
              </a:extLst>
            </p:cNvPr>
            <p:cNvSpPr/>
            <p:nvPr/>
          </p:nvSpPr>
          <p:spPr>
            <a:xfrm>
              <a:off x="457200" y="6437034"/>
              <a:ext cx="1127760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0" name="Rectangle">
              <a:extLst>
                <a:ext uri="{FF2B5EF4-FFF2-40B4-BE49-F238E27FC236}">
                  <a16:creationId xmlns:a16="http://schemas.microsoft.com/office/drawing/2014/main" id="{3F0CDFAC-CEDE-EC48-B4AF-B38FC99BC062}"/>
                </a:ext>
              </a:extLst>
            </p:cNvPr>
            <p:cNvSpPr/>
            <p:nvPr/>
          </p:nvSpPr>
          <p:spPr>
            <a:xfrm>
              <a:off x="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1" name="Rectangle">
              <a:extLst>
                <a:ext uri="{FF2B5EF4-FFF2-40B4-BE49-F238E27FC236}">
                  <a16:creationId xmlns:a16="http://schemas.microsoft.com/office/drawing/2014/main" id="{8653603B-C5BF-254D-A851-223464C33766}"/>
                </a:ext>
              </a:extLst>
            </p:cNvPr>
            <p:cNvSpPr/>
            <p:nvPr/>
          </p:nvSpPr>
          <p:spPr>
            <a:xfrm>
              <a:off x="1173480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5" name="Logo">
            <a:extLst>
              <a:ext uri="{FF2B5EF4-FFF2-40B4-BE49-F238E27FC236}">
                <a16:creationId xmlns:a16="http://schemas.microsoft.com/office/drawing/2014/main" id="{7C7EE61F-0A99-B444-AF52-6D916C599FBA}"/>
              </a:ext>
            </a:extLst>
          </p:cNvPr>
          <p:cNvPicPr>
            <a:picLocks noChangeAspect="1"/>
          </p:cNvPicPr>
          <p:nvPr/>
        </p:nvPicPr>
        <p:blipFill>
          <a:blip r:embed="rId29"/>
          <a:srcRect/>
          <a:stretch/>
        </p:blipFill>
        <p:spPr>
          <a:xfrm>
            <a:off x="685149" y="6578943"/>
            <a:ext cx="914401" cy="192617"/>
          </a:xfrm>
          <a:prstGeom prst="rect">
            <a:avLst/>
          </a:prstGeom>
        </p:spPr>
      </p:pic>
      <p:grpSp>
        <p:nvGrpSpPr>
          <p:cNvPr id="4" name="Decorative">
            <a:extLst>
              <a:ext uri="{FF2B5EF4-FFF2-40B4-BE49-F238E27FC236}">
                <a16:creationId xmlns:a16="http://schemas.microsoft.com/office/drawing/2014/main" id="{68DBE87E-583D-5353-BE8B-E8D611752F42}"/>
              </a:ext>
              <a:ext uri="{C183D7F6-B498-43B3-948B-1728B52AA6E4}">
                <adec:decorative xmlns:adec="http://schemas.microsoft.com/office/drawing/2017/decorative" val="1"/>
              </a:ext>
            </a:extLst>
          </p:cNvPr>
          <p:cNvGrpSpPr/>
          <p:nvPr userDrawn="1"/>
        </p:nvGrpSpPr>
        <p:grpSpPr>
          <a:xfrm>
            <a:off x="0" y="6446652"/>
            <a:ext cx="12192000" cy="457200"/>
            <a:chOff x="0" y="6437034"/>
            <a:chExt cx="12192000" cy="457200"/>
          </a:xfrm>
        </p:grpSpPr>
        <p:sp>
          <p:nvSpPr>
            <p:cNvPr id="6" name="Rectangle">
              <a:extLst>
                <a:ext uri="{FF2B5EF4-FFF2-40B4-BE49-F238E27FC236}">
                  <a16:creationId xmlns:a16="http://schemas.microsoft.com/office/drawing/2014/main" id="{F7268FCC-A3A8-5103-50C9-2957FC1C632A}"/>
                </a:ext>
              </a:extLst>
            </p:cNvPr>
            <p:cNvSpPr/>
            <p:nvPr userDrawn="1"/>
          </p:nvSpPr>
          <p:spPr>
            <a:xfrm>
              <a:off x="457200" y="6437034"/>
              <a:ext cx="1127760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7" name="Rectangle">
              <a:extLst>
                <a:ext uri="{FF2B5EF4-FFF2-40B4-BE49-F238E27FC236}">
                  <a16:creationId xmlns:a16="http://schemas.microsoft.com/office/drawing/2014/main" id="{48BB55D9-C184-2F0C-CD7F-AF79F10A9075}"/>
                </a:ext>
              </a:extLst>
            </p:cNvPr>
            <p:cNvSpPr/>
            <p:nvPr userDrawn="1"/>
          </p:nvSpPr>
          <p:spPr>
            <a:xfrm>
              <a:off x="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8" name="Rectangle">
              <a:extLst>
                <a:ext uri="{FF2B5EF4-FFF2-40B4-BE49-F238E27FC236}">
                  <a16:creationId xmlns:a16="http://schemas.microsoft.com/office/drawing/2014/main" id="{81288B08-A0C0-EEB4-F92D-9375EDCCD2E4}"/>
                </a:ext>
              </a:extLst>
            </p:cNvPr>
            <p:cNvSpPr/>
            <p:nvPr userDrawn="1"/>
          </p:nvSpPr>
          <p:spPr>
            <a:xfrm>
              <a:off x="1173480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12" name="Logo">
            <a:extLst>
              <a:ext uri="{FF2B5EF4-FFF2-40B4-BE49-F238E27FC236}">
                <a16:creationId xmlns:a16="http://schemas.microsoft.com/office/drawing/2014/main" id="{36161B95-7B9C-08F8-A277-4D09C7E90CC9}"/>
              </a:ext>
            </a:extLst>
          </p:cNvPr>
          <p:cNvPicPr>
            <a:picLocks noChangeAspect="1"/>
          </p:cNvPicPr>
          <p:nvPr userDrawn="1"/>
        </p:nvPicPr>
        <p:blipFill>
          <a:blip r:embed="rId29"/>
          <a:srcRect/>
          <a:stretch/>
        </p:blipFill>
        <p:spPr>
          <a:xfrm>
            <a:off x="685149" y="6578943"/>
            <a:ext cx="914401" cy="192617"/>
          </a:xfrm>
          <a:prstGeom prst="rect">
            <a:avLst/>
          </a:prstGeom>
        </p:spPr>
      </p:pic>
    </p:spTree>
    <p:extLst>
      <p:ext uri="{BB962C8B-B14F-4D97-AF65-F5344CB8AC3E}">
        <p14:creationId xmlns:p14="http://schemas.microsoft.com/office/powerpoint/2010/main" val="961598816"/>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37"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 id="2147483726" r:id="rId17"/>
    <p:sldLayoutId id="2147483727" r:id="rId18"/>
    <p:sldLayoutId id="2147483728" r:id="rId19"/>
    <p:sldLayoutId id="2147483729" r:id="rId20"/>
    <p:sldLayoutId id="2147483730" r:id="rId21"/>
    <p:sldLayoutId id="2147483731" r:id="rId22"/>
    <p:sldLayoutId id="2147483732" r:id="rId23"/>
    <p:sldLayoutId id="2147483733" r:id="rId24"/>
    <p:sldLayoutId id="2147483734" r:id="rId25"/>
    <p:sldLayoutId id="2147483735" r:id="rId26"/>
    <p:sldLayoutId id="2147483736" r:id="rId27"/>
  </p:sldLayoutIdLst>
  <p:hf hdr="0" ftr="0" dt="0"/>
  <p:txStyles>
    <p:titleStyle>
      <a:lvl1pPr algn="l" defTabSz="685800" rtl="0" eaLnBrk="1" latinLnBrk="0" hangingPunct="1">
        <a:lnSpc>
          <a:spcPct val="90000"/>
        </a:lnSpc>
        <a:spcBef>
          <a:spcPct val="0"/>
        </a:spcBef>
        <a:buNone/>
        <a:defRPr sz="4000" b="0" i="0" kern="1200">
          <a:solidFill>
            <a:schemeClr val="accent3"/>
          </a:solidFill>
          <a:latin typeface="Times" pitchFamily="2" charset="0"/>
          <a:ea typeface="+mj-ea"/>
          <a:cs typeface="Calibri" panose="020F0502020204030204" pitchFamily="34" charset="0"/>
        </a:defRPr>
      </a:lvl1pPr>
    </p:titleStyle>
    <p:bodyStyle>
      <a:lvl1pPr marL="219456" indent="-219456" algn="l" defTabSz="685800" rtl="0" eaLnBrk="1" latinLnBrk="0" hangingPunct="1">
        <a:lnSpc>
          <a:spcPct val="90000"/>
        </a:lnSpc>
        <a:spcBef>
          <a:spcPts val="750"/>
        </a:spcBef>
        <a:buClr>
          <a:schemeClr val="accent3"/>
        </a:buClr>
        <a:buFont typeface="Arial" panose="020B0604020202020204" pitchFamily="34" charset="0"/>
        <a:buChar char="•"/>
        <a:defRPr sz="2800" b="0" i="0" kern="1200">
          <a:solidFill>
            <a:schemeClr val="tx1"/>
          </a:solidFill>
          <a:latin typeface="Times" pitchFamily="2" charset="0"/>
          <a:ea typeface="+mn-ea"/>
          <a:cs typeface="+mn-cs"/>
        </a:defRPr>
      </a:lvl1pPr>
      <a:lvl2pPr marL="617220" indent="-219456" algn="l" defTabSz="685800" rtl="0" eaLnBrk="1" latinLnBrk="0" hangingPunct="1">
        <a:lnSpc>
          <a:spcPct val="90000"/>
        </a:lnSpc>
        <a:spcBef>
          <a:spcPts val="375"/>
        </a:spcBef>
        <a:buClr>
          <a:schemeClr val="accent3"/>
        </a:buClr>
        <a:buFont typeface="Arial" panose="020B0604020202020204" pitchFamily="34" charset="0"/>
        <a:buChar char="•"/>
        <a:defRPr sz="2400" b="0" i="0" kern="1200">
          <a:solidFill>
            <a:schemeClr val="tx1"/>
          </a:solidFill>
          <a:latin typeface="Times" pitchFamily="2" charset="0"/>
          <a:ea typeface="+mn-ea"/>
          <a:cs typeface="+mn-cs"/>
        </a:defRPr>
      </a:lvl2pPr>
      <a:lvl3pPr marL="908685" indent="-192024" algn="l" defTabSz="685800" rtl="0" eaLnBrk="1" latinLnBrk="0" hangingPunct="1">
        <a:lnSpc>
          <a:spcPct val="90000"/>
        </a:lnSpc>
        <a:spcBef>
          <a:spcPts val="375"/>
        </a:spcBef>
        <a:buClr>
          <a:schemeClr val="accent3"/>
        </a:buClr>
        <a:buFont typeface="Arial" panose="020B0604020202020204" pitchFamily="34" charset="0"/>
        <a:buChar char="•"/>
        <a:defRPr sz="2200" b="0" i="0" kern="1200">
          <a:solidFill>
            <a:schemeClr val="tx1"/>
          </a:solidFill>
          <a:latin typeface="Times" pitchFamily="2" charset="0"/>
          <a:ea typeface="+mn-ea"/>
          <a:cs typeface="+mn-cs"/>
        </a:defRPr>
      </a:lvl3pPr>
      <a:lvl4pPr marL="1131570" indent="-171450" algn="l" defTabSz="685800" rtl="0" eaLnBrk="1" latinLnBrk="0" hangingPunct="1">
        <a:lnSpc>
          <a:spcPct val="90000"/>
        </a:lnSpc>
        <a:spcBef>
          <a:spcPts val="375"/>
        </a:spcBef>
        <a:buClr>
          <a:schemeClr val="accent3"/>
        </a:buClr>
        <a:buFont typeface="Arial" panose="020B0604020202020204" pitchFamily="34" charset="0"/>
        <a:buChar char="•"/>
        <a:defRPr sz="1800" b="0" i="0" kern="1200">
          <a:solidFill>
            <a:schemeClr val="tx1"/>
          </a:solidFill>
          <a:latin typeface="Times" pitchFamily="2" charset="0"/>
          <a:ea typeface="+mn-ea"/>
          <a:cs typeface="+mn-cs"/>
        </a:defRPr>
      </a:lvl4pPr>
      <a:lvl5pPr marL="1345883" indent="-150876" algn="l" defTabSz="685800" rtl="0" eaLnBrk="1" latinLnBrk="0" hangingPunct="1">
        <a:lnSpc>
          <a:spcPct val="90000"/>
        </a:lnSpc>
        <a:spcBef>
          <a:spcPts val="375"/>
        </a:spcBef>
        <a:buClr>
          <a:schemeClr val="accent3"/>
        </a:buClr>
        <a:buFont typeface="Arial" panose="020B0604020202020204" pitchFamily="34" charset="0"/>
        <a:buChar char="•"/>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7.emf"/><Relationship Id="rId5" Type="http://schemas.openxmlformats.org/officeDocument/2006/relationships/image" Target="../media/image8.emf"/><Relationship Id="rId6" Type="http://schemas.openxmlformats.org/officeDocument/2006/relationships/image" Target="../media/image9.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0.emf"/><Relationship Id="rId5" Type="http://schemas.openxmlformats.org/officeDocument/2006/relationships/image" Target="../media/image11.emf"/><Relationship Id="rId6" Type="http://schemas.openxmlformats.org/officeDocument/2006/relationships/image" Target="../media/image12.emf"/><Relationship Id="rId7" Type="http://schemas.openxmlformats.org/officeDocument/2006/relationships/image" Target="../media/image13.emf"/><Relationship Id="rId8" Type="http://schemas.openxmlformats.org/officeDocument/2006/relationships/image" Target="../media/image14.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3.emf"/><Relationship Id="rId4" Type="http://schemas.openxmlformats.org/officeDocument/2006/relationships/image" Target="../media/image15.emf"/><Relationship Id="rId5" Type="http://schemas.openxmlformats.org/officeDocument/2006/relationships/image" Target="../media/image16.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18.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19.emf"/><Relationship Id="rId5" Type="http://schemas.openxmlformats.org/officeDocument/2006/relationships/image" Target="../media/image20.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21.emf"/><Relationship Id="rId5" Type="http://schemas.openxmlformats.org/officeDocument/2006/relationships/image" Target="../media/image18.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22.emf"/><Relationship Id="rId5" Type="http://schemas.openxmlformats.org/officeDocument/2006/relationships/image" Target="../media/image23.emf"/><Relationship Id="rId6" Type="http://schemas.openxmlformats.org/officeDocument/2006/relationships/image" Target="../media/image24.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7.png"/><Relationship Id="rId4" Type="http://schemas.openxmlformats.org/officeDocument/2006/relationships/image" Target="../media/image16.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7.png"/><Relationship Id="rId4" Type="http://schemas.openxmlformats.org/officeDocument/2006/relationships/image" Target="../media/image16.emf"/><Relationship Id="rId5" Type="http://schemas.openxmlformats.org/officeDocument/2006/relationships/image" Target="../media/image28.emf"/><Relationship Id="rId6" Type="http://schemas.openxmlformats.org/officeDocument/2006/relationships/image" Target="../media/image29.emf"/><Relationship Id="rId7" Type="http://schemas.openxmlformats.org/officeDocument/2006/relationships/image" Target="../media/image30.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16.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16.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3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34.png"/><Relationship Id="rId4" Type="http://schemas.openxmlformats.org/officeDocument/2006/relationships/image" Target="../media/image35.emf"/><Relationship Id="rId5" Type="http://schemas.openxmlformats.org/officeDocument/2006/relationships/image" Target="../media/image36.emf"/><Relationship Id="rId6" Type="http://schemas.openxmlformats.org/officeDocument/2006/relationships/image" Target="../media/image37.e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3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39.png"/><Relationship Id="rId4" Type="http://schemas.openxmlformats.org/officeDocument/2006/relationships/image" Target="../media/image40.emf"/><Relationship Id="rId5" Type="http://schemas.openxmlformats.org/officeDocument/2006/relationships/image" Target="../media/image41.emf"/><Relationship Id="rId6" Type="http://schemas.openxmlformats.org/officeDocument/2006/relationships/image" Target="../media/image42.emf"/><Relationship Id="rId7" Type="http://schemas.openxmlformats.org/officeDocument/2006/relationships/image" Target="../media/image43.e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4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45.emf"/><Relationship Id="rId4" Type="http://schemas.openxmlformats.org/officeDocument/2006/relationships/image" Target="../media/image4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47.jpeg"/><Relationship Id="rId4" Type="http://schemas.openxmlformats.org/officeDocument/2006/relationships/image" Target="../media/image45.emf"/><Relationship Id="rId5" Type="http://schemas.openxmlformats.org/officeDocument/2006/relationships/image" Target="../media/image48.emf"/><Relationship Id="rId6" Type="http://schemas.openxmlformats.org/officeDocument/2006/relationships/image" Target="../media/image49.emf"/><Relationship Id="rId7" Type="http://schemas.openxmlformats.org/officeDocument/2006/relationships/image" Target="../media/image50.emf"/><Relationship Id="rId8" Type="http://schemas.openxmlformats.org/officeDocument/2006/relationships/image" Target="../media/image51.emf"/><Relationship Id="rId9" Type="http://schemas.openxmlformats.org/officeDocument/2006/relationships/image" Target="../media/image52.emf"/><Relationship Id="rId10" Type="http://schemas.openxmlformats.org/officeDocument/2006/relationships/image" Target="../media/image53.emf"/><Relationship Id="rId11" Type="http://schemas.openxmlformats.org/officeDocument/2006/relationships/image" Target="../media/image54.emf"/><Relationship Id="rId12" Type="http://schemas.openxmlformats.org/officeDocument/2006/relationships/image" Target="../media/image55.e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image" Target="../media/image56.emf"/><Relationship Id="rId4" Type="http://schemas.openxmlformats.org/officeDocument/2006/relationships/image" Target="../media/image57.emf"/><Relationship Id="rId5" Type="http://schemas.openxmlformats.org/officeDocument/2006/relationships/image" Target="../media/image58.e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5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26C62-CCFF-1C02-E799-ECD9BFF15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2B658A-67B4-C5BC-CB9C-31F02F7608AE}"/>
              </a:ext>
            </a:extLst>
          </p:cNvPr>
          <p:cNvSpPr>
            <a:spLocks noGrp="1"/>
          </p:cNvSpPr>
          <p:nvPr>
            <p:ph type="ctrTitle"/>
          </p:nvPr>
        </p:nvSpPr>
        <p:spPr/>
        <p:txBody>
          <a:bodyPr>
            <a:noAutofit/>
          </a:bodyPr>
          <a:lstStyle/>
          <a:p>
            <a:pPr/>
            <a:r>
              <a:rPr lang="en-US" sz="4000" dirty="0" err="1">
                <a:solidFill>
                  <a:schemeClr val="tx1"/>
                </a:solidFill>
              </a:rPr>
              <a:t>Cutnell</a:t>
            </a:r>
            <a:r>
              <a:rPr lang="en-US" sz="4000" dirty="0">
                <a:solidFill>
                  <a:schemeClr val="tx1"/>
                </a:solidFill>
              </a:rPr>
              <a:t> &amp; Johnson </a:t>
            </a:r>
            <a:br>
              <a:rPr lang="en-US" sz="4000" dirty="0">
                <a:solidFill>
                  <a:schemeClr val="tx1"/>
                </a:solidFill>
              </a:rPr>
            </a:br>
            <a:r>
              <a:rPr lang="en-US" sz="4000" dirty="0">
                <a:solidFill>
                  <a:schemeClr val="tx1"/>
                </a:solidFill>
              </a:rPr>
              <a:t>Physics</a:t>
            </a:r>
          </a:p>
        </p:txBody>
      </p:sp>
      <p:sp>
        <p:nvSpPr>
          <p:cNvPr id="3" name="Edition 2">
            <a:extLst>
              <a:ext uri="{FF2B5EF4-FFF2-40B4-BE49-F238E27FC236}">
                <a16:creationId xmlns:a16="http://schemas.microsoft.com/office/drawing/2014/main" id="{FE4A4E37-3C3B-52BE-75F5-3352E7A80047}"/>
              </a:ext>
            </a:extLst>
          </p:cNvPr>
          <p:cNvSpPr>
            <a:spLocks noGrp="1"/>
          </p:cNvSpPr>
          <p:nvPr>
            <p:ph sz="quarter" idx="24"/>
          </p:nvPr>
        </p:nvSpPr>
        <p:spPr>
          <a:xfrm>
            <a:off x="442384" y="1901135"/>
            <a:ext cx="11294533" cy="603504"/>
          </a:xfrm>
        </p:spPr>
        <p:txBody>
          <a:bodyPr/>
          <a:lstStyle/>
          <a:p>
            <a:pPr/>
            <a:r>
              <a:rPr lang="en-US" dirty="0">
                <a:solidFill/>
              </a:rPr>
              <a:t>Twelfth Edition</a:t>
            </a:r>
          </a:p>
        </p:txBody>
      </p:sp>
      <p:sp>
        <p:nvSpPr>
          <p:cNvPr id="4" name="Author 3">
            <a:extLst>
              <a:ext uri="{FF2B5EF4-FFF2-40B4-BE49-F238E27FC236}">
                <a16:creationId xmlns:a16="http://schemas.microsoft.com/office/drawing/2014/main" id="{1653E4EB-8C72-6F2A-0C74-00D79E54C15B}"/>
              </a:ext>
            </a:extLst>
          </p:cNvPr>
          <p:cNvSpPr>
            <a:spLocks noGrp="1"/>
          </p:cNvSpPr>
          <p:nvPr>
            <p:ph sz="quarter" idx="25"/>
          </p:nvPr>
        </p:nvSpPr>
        <p:spPr>
          <a:xfrm>
            <a:off x="442384" y="2353144"/>
            <a:ext cx="11294533" cy="668222"/>
          </a:xfrm>
        </p:spPr>
        <p:txBody>
          <a:bodyPr>
            <a:normAutofit/>
          </a:bodyPr>
          <a:lstStyle/>
          <a:p>
            <a:pPr/>
            <a:r>
              <a:rPr lang="en-US" sz="2800" dirty="0">
                <a:solidFill>
                  <a:schemeClr val="accent3"/>
                </a:solidFill>
              </a:rPr>
              <a:t>David Young and Shane Stadler</a:t>
            </a:r>
          </a:p>
        </p:txBody>
      </p:sp>
      <p:sp>
        <p:nvSpPr>
          <p:cNvPr id="6" name="CT 5">
            <a:extLst>
              <a:ext uri="{FF2B5EF4-FFF2-40B4-BE49-F238E27FC236}">
                <a16:creationId xmlns:a16="http://schemas.microsoft.com/office/drawing/2014/main" id="{31CFED87-BA07-F954-7BF4-19C4873CC49D}"/>
              </a:ext>
            </a:extLst>
          </p:cNvPr>
          <p:cNvSpPr>
            <a:spLocks noGrp="1"/>
          </p:cNvSpPr>
          <p:nvPr>
            <p:ph type="subTitle" idx="1"/>
          </p:nvPr>
        </p:nvSpPr>
        <p:spPr>
          <a:xfrm>
            <a:off x="455083" y="4396646"/>
            <a:ext cx="11294226" cy="1581408"/>
          </a:xfrm>
        </p:spPr>
        <p:txBody>
          <a:bodyPr>
            <a:noAutofit/>
          </a:bodyPr>
          <a:lstStyle/>
          <a:p>
            <a:pPr>
              <a:lnSpc>
                <a:spcPct val="100000"/>
              </a:lnSpc>
            </a:pPr>
            <a:r>
              <a:rPr lang="en-US" sz="2800" dirty="0">
                <a:solidFill/>
              </a:rPr>
              <a:t>Work and Energy</a:t>
            </a:r>
          </a:p>
        </p:txBody>
      </p:sp>
      <p:sp>
        <p:nvSpPr>
          <p:cNvPr id="5" name="CN 4">
            <a:extLst>
              <a:ext uri="{FF2B5EF4-FFF2-40B4-BE49-F238E27FC236}">
                <a16:creationId xmlns:a16="http://schemas.microsoft.com/office/drawing/2014/main" id="{478EC628-D124-7C5F-E556-56B66C56FC64}"/>
              </a:ext>
            </a:extLst>
          </p:cNvPr>
          <p:cNvSpPr>
            <a:spLocks noGrp="1"/>
          </p:cNvSpPr>
          <p:nvPr>
            <p:ph sz="quarter" idx="26"/>
          </p:nvPr>
        </p:nvSpPr>
        <p:spPr/>
        <p:txBody>
          <a:bodyPr/>
          <a:lstStyle/>
          <a:p>
            <a:pPr/>
            <a:r>
              <a:rPr lang="en-US" dirty="0">
                <a:solidFill/>
              </a:rPr>
              <a:t>CHAPTER 6</a:t>
            </a:r>
          </a:p>
        </p:txBody>
      </p:sp>
    </p:spTree>
    <p:extLst>
      <p:ext uri="{BB962C8B-B14F-4D97-AF65-F5344CB8AC3E}">
        <p14:creationId xmlns:p14="http://schemas.microsoft.com/office/powerpoint/2010/main" val="1359309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FC14A-163B-91AC-19AB-AE4673EB8F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F6FD14-EC24-06F3-3981-E52F40B1F7E6}"/>
              </a:ext>
            </a:extLst>
          </p:cNvPr>
          <p:cNvSpPr>
            <a:spLocks noGrp="1"/>
          </p:cNvSpPr>
          <p:nvPr>
            <p:ph type="title"/>
          </p:nvPr>
        </p:nvSpPr>
        <p:spPr/>
        <p:txBody>
          <a:bodyPr/>
          <a:lstStyle/>
          <a:p>
            <a:pPr/>
            <a:r>
              <a:rPr lang="en-US" b="1" dirty="0">
                <a:solidFill/>
                <a:ea typeface="Calibri" charset="0"/>
                <a:cs typeface="Calibri" charset="0"/>
              </a:rPr>
              <a:t>6.1</a:t>
            </a:r>
            <a:r>
              <a:rPr lang="en-US" dirty="0">
                <a:solidFill/>
                <a:ea typeface="Calibri" charset="0"/>
                <a:cs typeface="Calibri" charset="0"/>
              </a:rPr>
              <a:t> Work Done by a Constant Force</a:t>
            </a:r>
            <a:endParaRPr lang="en-US" sz="3000" dirty="0"/>
          </a:p>
        </p:txBody>
      </p:sp>
      <p:sp>
        <p:nvSpPr>
          <p:cNvPr id="49" name="Rectangle 48">
            <a:extLst>
              <a:ext uri="{FF2B5EF4-FFF2-40B4-BE49-F238E27FC236}">
                <a16:creationId xmlns:a16="http://schemas.microsoft.com/office/drawing/2014/main" id="{F4ADFB39-6AB2-4D8A-B257-AEEF0083F39C}"/>
              </a:ext>
            </a:extLst>
          </p:cNvPr>
          <p:cNvSpPr/>
          <p:nvPr/>
        </p:nvSpPr>
        <p:spPr>
          <a:xfrm>
            <a:off x="0" y="1272209"/>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2">
            <a:extLst>
              <a:ext uri="{FF2B5EF4-FFF2-40B4-BE49-F238E27FC236}">
                <a16:creationId xmlns:a16="http://schemas.microsoft.com/office/drawing/2014/main" id="{8A94F337-0296-189A-A04A-41DD577C9D5A}"/>
              </a:ext>
            </a:extLst>
          </p:cNvPr>
          <p:cNvSpPr txBox="1">
            <a:spLocks/>
          </p:cNvSpPr>
          <p:nvPr/>
        </p:nvSpPr>
        <p:spPr>
          <a:xfrm>
            <a:off x="959715" y="1339400"/>
            <a:ext cx="10820401" cy="1099001"/>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6.1 </a:t>
            </a:r>
            <a:r>
              <a:rPr lang="en-US" dirty="0">
                <a:solidFill/>
              </a:rPr>
              <a:t>– Determine the work done by a constant force.</a:t>
            </a:r>
          </a:p>
        </p:txBody>
      </p:sp>
      <p:sp>
        <p:nvSpPr>
          <p:cNvPr id="16" name="TextBox 15">
            <a:extLst>
              <a:ext uri="{FF2B5EF4-FFF2-40B4-BE49-F238E27FC236}">
                <a16:creationId xmlns:a16="http://schemas.microsoft.com/office/drawing/2014/main" id="{10CE5ED8-42B4-F79D-2EA1-9EC757205841}"/>
              </a:ext>
            </a:extLst>
          </p:cNvPr>
          <p:cNvSpPr txBox="1"/>
          <p:nvPr/>
        </p:nvSpPr>
        <p:spPr>
          <a:xfrm>
            <a:off x="925158" y="1957891"/>
            <a:ext cx="10316584" cy="954107"/>
          </a:xfrm>
          <a:prstGeom prst="rect">
            <a:avLst/>
          </a:prstGeom>
          <a:noFill/>
        </p:spPr>
        <p:txBody>
          <a:bodyPr wrap="square" rtlCol="0">
            <a:spAutoFit/>
          </a:bodyPr>
          <a:lstStyle/>
          <a:p>
            <a:pPr algn="just"/>
            <a:r>
              <a:rPr lang="en-US" sz="2800" dirty="0">
                <a:solidFill>
                  <a:srgbClr val="007440"/>
                </a:solidFill>
                <a:latin typeface="Times" pitchFamily="2" charset="0"/>
              </a:rPr>
              <a:t>Work</a:t>
            </a:r>
            <a:r>
              <a:rPr lang="en-US" sz="2800" dirty="0">
                <a:solidFill/>
                <a:latin typeface="Times" pitchFamily="2" charset="0"/>
              </a:rPr>
              <a:t> is a familiar concept. In everyday life, we often associate work with effort or something strenuous.</a:t>
            </a:r>
          </a:p>
        </p:txBody>
      </p:sp>
      <p:sp>
        <p:nvSpPr>
          <p:cNvPr id="18" name="TextBox 17">
            <a:extLst>
              <a:ext uri="{FF2B5EF4-FFF2-40B4-BE49-F238E27FC236}">
                <a16:creationId xmlns:a16="http://schemas.microsoft.com/office/drawing/2014/main" id="{69E63EBE-BC79-7264-E6FB-1849FA68681C}"/>
              </a:ext>
            </a:extLst>
          </p:cNvPr>
          <p:cNvSpPr txBox="1"/>
          <p:nvPr/>
        </p:nvSpPr>
        <p:spPr>
          <a:xfrm>
            <a:off x="925158" y="3022899"/>
            <a:ext cx="10919012" cy="523220"/>
          </a:xfrm>
          <a:prstGeom prst="rect">
            <a:avLst/>
          </a:prstGeom>
          <a:noFill/>
        </p:spPr>
        <p:txBody>
          <a:bodyPr wrap="square" rtlCol="0">
            <a:spAutoFit/>
          </a:bodyPr>
          <a:lstStyle/>
          <a:p>
            <a:pPr algn="just"/>
            <a:r>
              <a:rPr lang="en-US" sz="2800" dirty="0">
                <a:solidFill/>
                <a:latin typeface="Times" pitchFamily="2" charset="0"/>
              </a:rPr>
              <a:t>We say things like, </a:t>
            </a:r>
            <a:r>
              <a:rPr lang="en-US" sz="2800" i="1" dirty="0">
                <a:solidFill/>
                <a:latin typeface="Times" pitchFamily="2" charset="0"/>
              </a:rPr>
              <a:t>"I have to go to work,"</a:t>
            </a:r>
            <a:r>
              <a:rPr lang="en-US" sz="2800" dirty="0">
                <a:solidFill/>
                <a:latin typeface="Times" pitchFamily="2" charset="0"/>
              </a:rPr>
              <a:t> or </a:t>
            </a:r>
            <a:r>
              <a:rPr lang="en-US" sz="2800" i="1" dirty="0">
                <a:solidFill/>
                <a:latin typeface="Times" pitchFamily="2" charset="0"/>
              </a:rPr>
              <a:t>"I have a lot of work to do."</a:t>
            </a:r>
            <a:endParaRPr lang="en-US" sz="2800" dirty="0">
              <a:latin typeface="Times" pitchFamily="2" charset="0"/>
            </a:endParaRPr>
          </a:p>
        </p:txBody>
      </p:sp>
      <p:sp>
        <p:nvSpPr>
          <p:cNvPr id="19" name="TextBox 18">
            <a:extLst>
              <a:ext uri="{FF2B5EF4-FFF2-40B4-BE49-F238E27FC236}">
                <a16:creationId xmlns:a16="http://schemas.microsoft.com/office/drawing/2014/main" id="{0AF5F7CA-7A2B-E9A2-4F14-189C601283A1}"/>
              </a:ext>
            </a:extLst>
          </p:cNvPr>
          <p:cNvSpPr txBox="1"/>
          <p:nvPr/>
        </p:nvSpPr>
        <p:spPr>
          <a:xfrm>
            <a:off x="925158" y="3670150"/>
            <a:ext cx="10919012" cy="954107"/>
          </a:xfrm>
          <a:prstGeom prst="rect">
            <a:avLst/>
          </a:prstGeom>
          <a:noFill/>
        </p:spPr>
        <p:txBody>
          <a:bodyPr wrap="square" rtlCol="0">
            <a:spAutoFit/>
          </a:bodyPr>
          <a:lstStyle/>
          <a:p>
            <a:pPr algn="just"/>
            <a:r>
              <a:rPr lang="en-US" sz="2800" dirty="0">
                <a:solidFill/>
                <a:latin typeface="Times" pitchFamily="2" charset="0"/>
              </a:rPr>
              <a:t>In physics, however, work has a much more precise meaning. Work is done when a force acts on an object and causes it to undergo a displacement. </a:t>
            </a:r>
          </a:p>
        </p:txBody>
      </p:sp>
      <p:sp>
        <p:nvSpPr>
          <p:cNvPr id="20" name="TextBox 19">
            <a:extLst>
              <a:ext uri="{FF2B5EF4-FFF2-40B4-BE49-F238E27FC236}">
                <a16:creationId xmlns:a16="http://schemas.microsoft.com/office/drawing/2014/main" id="{B49594A7-2C84-BCD6-7D6E-66E26C8801F7}"/>
              </a:ext>
            </a:extLst>
          </p:cNvPr>
          <p:cNvSpPr txBox="1"/>
          <p:nvPr/>
        </p:nvSpPr>
        <p:spPr>
          <a:xfrm>
            <a:off x="925158" y="4801495"/>
            <a:ext cx="5299935" cy="1384995"/>
          </a:xfrm>
          <a:prstGeom prst="rect">
            <a:avLst/>
          </a:prstGeom>
          <a:noFill/>
        </p:spPr>
        <p:txBody>
          <a:bodyPr wrap="square" rtlCol="0">
            <a:spAutoFit/>
          </a:bodyPr>
          <a:lstStyle/>
          <a:p>
            <a:pPr algn="just"/>
            <a:r>
              <a:rPr lang="en-US" sz="2800" dirty="0">
                <a:solidFill/>
                <a:latin typeface="Times" pitchFamily="2" charset="0"/>
              </a:rPr>
              <a:t>For example, if I push a stalled car, I do work on the car. The farther I push it, the more work I do.</a:t>
            </a:r>
          </a:p>
        </p:txBody>
      </p:sp>
      <p:pic>
        <p:nvPicPr>
          <p:cNvPr id="22" name="Picture 21">
            <a:extLst>
              <a:ext uri="{FF2B5EF4-FFF2-40B4-BE49-F238E27FC236}">
                <a16:creationId xmlns:a16="http://schemas.microsoft.com/office/drawing/2014/main" id="{B9BAB7F7-D9B7-1AD6-D87C-F5531FBD085C}"/>
              </a:ext>
            </a:extLst>
          </p:cNvPr>
          <p:cNvPicPr>
            <a:picLocks noChangeAspect="1"/>
          </p:cNvPicPr>
          <p:nvPr/>
        </p:nvPicPr>
        <p:blipFill>
          <a:blip r:embed="rId3"/>
          <a:stretch>
            <a:fillRect/>
          </a:stretch>
        </p:blipFill>
        <p:spPr>
          <a:xfrm>
            <a:off x="6336254" y="4948518"/>
            <a:ext cx="5698809" cy="1417320"/>
          </a:xfrm>
          <a:prstGeom prst="rect">
            <a:avLst/>
          </a:prstGeom>
        </p:spPr>
      </p:pic>
    </p:spTree>
    <p:extLst>
      <p:ext uri="{BB962C8B-B14F-4D97-AF65-F5344CB8AC3E}">
        <p14:creationId xmlns:p14="http://schemas.microsoft.com/office/powerpoint/2010/main" val="1764026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dissolv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dissolve">
                                      <p:cBhvr>
                                        <p:cTn id="22" dur="500"/>
                                        <p:tgtEl>
                                          <p:spTgt spid="20"/>
                                        </p:tgtEl>
                                      </p:cBhvr>
                                    </p:animEffect>
                                  </p:childTnLst>
                                </p:cTn>
                              </p:par>
                            </p:childTnLst>
                          </p:cTn>
                        </p:par>
                        <p:par>
                          <p:cTn id="23" fill="hold">
                            <p:stCondLst>
                              <p:cond delay="500"/>
                            </p:stCondLst>
                            <p:childTnLst>
                              <p:par>
                                <p:cTn id="24" presetID="9" presetClass="entr" presetSubtype="0" fill="hold" nodeType="after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dissolve">
                                      <p:cBhvr>
                                        <p:cTn id="2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9" grpId="0"/>
      <p:bldP spid="2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1AA70-E9CB-D71E-4610-307430D424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FD7016-5037-7827-628E-5218EEBD485D}"/>
              </a:ext>
            </a:extLst>
          </p:cNvPr>
          <p:cNvSpPr>
            <a:spLocks noGrp="1"/>
          </p:cNvSpPr>
          <p:nvPr>
            <p:ph type="title"/>
          </p:nvPr>
        </p:nvSpPr>
        <p:spPr>
          <a:xfrm>
            <a:off x="685805" y="155459"/>
            <a:ext cx="10820401" cy="849312"/>
          </a:xfrm>
        </p:spPr>
        <p:txBody>
          <a:bodyPr/>
          <a:lstStyle/>
          <a:p>
            <a:pPr/>
            <a:r>
              <a:rPr lang="en-US" b="1" dirty="0">
                <a:solidFill/>
                <a:ea typeface="Calibri" charset="0"/>
                <a:cs typeface="Calibri" charset="0"/>
              </a:rPr>
              <a:t>6.1</a:t>
            </a:r>
            <a:r>
              <a:rPr lang="en-US" dirty="0">
                <a:solidFill/>
                <a:ea typeface="Calibri" charset="0"/>
                <a:cs typeface="Calibri" charset="0"/>
              </a:rPr>
              <a:t> Work Done by a Constant Force</a:t>
            </a:r>
            <a:endParaRPr lang="en-US" sz="3000" dirty="0"/>
          </a:p>
        </p:txBody>
      </p:sp>
      <p:pic>
        <p:nvPicPr>
          <p:cNvPr id="22" name="Picture 21">
            <a:extLst>
              <a:ext uri="{FF2B5EF4-FFF2-40B4-BE49-F238E27FC236}">
                <a16:creationId xmlns:a16="http://schemas.microsoft.com/office/drawing/2014/main" id="{D27A8013-EF5D-4B08-7FE0-211C9F23B52B}"/>
              </a:ext>
            </a:extLst>
          </p:cNvPr>
          <p:cNvPicPr>
            <a:picLocks noChangeAspect="1"/>
          </p:cNvPicPr>
          <p:nvPr/>
        </p:nvPicPr>
        <p:blipFill>
          <a:blip r:embed="rId3"/>
          <a:stretch>
            <a:fillRect/>
          </a:stretch>
        </p:blipFill>
        <p:spPr>
          <a:xfrm>
            <a:off x="120984" y="933113"/>
            <a:ext cx="5698809" cy="1417320"/>
          </a:xfrm>
          <a:prstGeom prst="rect">
            <a:avLst/>
          </a:prstGeom>
        </p:spPr>
      </p:pic>
      <p:grpSp>
        <p:nvGrpSpPr>
          <p:cNvPr id="8" name="Group 7">
            <a:extLst>
              <a:ext uri="{FF2B5EF4-FFF2-40B4-BE49-F238E27FC236}">
                <a16:creationId xmlns:a16="http://schemas.microsoft.com/office/drawing/2014/main" id="{27A887C1-039C-2E04-A460-0CEDBF084FCD}"/>
              </a:ext>
            </a:extLst>
          </p:cNvPr>
          <p:cNvGrpSpPr/>
          <p:nvPr/>
        </p:nvGrpSpPr>
        <p:grpSpPr>
          <a:xfrm>
            <a:off x="5830957" y="857965"/>
            <a:ext cx="6241773" cy="1815882"/>
            <a:chOff x="5830957" y="1136257"/>
            <a:chExt cx="6241773" cy="1815882"/>
          </a:xfrm>
        </p:grpSpPr>
        <p:sp>
          <p:nvSpPr>
            <p:cNvPr id="16" name="TextBox 15">
              <a:extLst>
                <a:ext uri="{FF2B5EF4-FFF2-40B4-BE49-F238E27FC236}">
                  <a16:creationId xmlns:a16="http://schemas.microsoft.com/office/drawing/2014/main" id="{551E7FDD-8E98-1E27-643E-530636541BBE}"/>
                </a:ext>
              </a:extLst>
            </p:cNvPr>
            <p:cNvSpPr txBox="1"/>
            <p:nvPr/>
          </p:nvSpPr>
          <p:spPr>
            <a:xfrm>
              <a:off x="5830957" y="1136257"/>
              <a:ext cx="6241773" cy="1815882"/>
            </a:xfrm>
            <a:prstGeom prst="rect">
              <a:avLst/>
            </a:prstGeom>
            <a:noFill/>
          </p:spPr>
          <p:txBody>
            <a:bodyPr wrap="square" rtlCol="0">
              <a:spAutoFit/>
            </a:bodyPr>
            <a:lstStyle/>
            <a:p>
              <a:pPr algn="just"/>
              <a:r>
                <a:rPr lang="en-US" sz="2800" dirty="0">
                  <a:solidFill/>
                  <a:latin typeface="Times" pitchFamily="2" charset="0"/>
                </a:rPr>
                <a:t>Both the                       of the force and the                   .                the object moves determine how much work is done. </a:t>
              </a:r>
            </a:p>
            <a:p>
              <a:pPr algn="just"/>
              <a:endParaRPr lang="en-US" sz="2800" dirty="0">
                <a:solidFill>
                  <a:srgbClr val="007440"/>
                </a:solidFill>
                <a:latin typeface="Times" pitchFamily="2" charset="0"/>
              </a:endParaRPr>
            </a:p>
          </p:txBody>
        </p:sp>
        <p:sp>
          <p:nvSpPr>
            <p:cNvPr id="3" name="Rounded Rectangle 2">
              <a:extLst>
                <a:ext uri="{FF2B5EF4-FFF2-40B4-BE49-F238E27FC236}">
                  <a16:creationId xmlns:a16="http://schemas.microsoft.com/office/drawing/2014/main" id="{4718B1B8-04E6-5C7F-C837-14077D6E3848}"/>
                </a:ext>
              </a:extLst>
            </p:cNvPr>
            <p:cNvSpPr/>
            <p:nvPr/>
          </p:nvSpPr>
          <p:spPr>
            <a:xfrm>
              <a:off x="7182680" y="1152939"/>
              <a:ext cx="1974573" cy="4108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FA3ED13F-E41D-9A14-6BDB-E9BC14F125D9}"/>
                </a:ext>
              </a:extLst>
            </p:cNvPr>
            <p:cNvSpPr/>
            <p:nvPr/>
          </p:nvSpPr>
          <p:spPr>
            <a:xfrm>
              <a:off x="5917097" y="1596887"/>
              <a:ext cx="1848677" cy="4108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13114AAE-9F65-92BC-2C9E-3AF0EDA6A54D}"/>
              </a:ext>
            </a:extLst>
          </p:cNvPr>
          <p:cNvSpPr txBox="1"/>
          <p:nvPr/>
        </p:nvSpPr>
        <p:spPr>
          <a:xfrm>
            <a:off x="7169425" y="848143"/>
            <a:ext cx="2941983" cy="461665"/>
          </a:xfrm>
          <a:prstGeom prst="rect">
            <a:avLst/>
          </a:prstGeom>
          <a:noFill/>
        </p:spPr>
        <p:txBody>
          <a:bodyPr wrap="square" rtlCol="0">
            <a:spAutoFit/>
          </a:bodyPr>
          <a:lstStyle/>
          <a:p>
            <a:pPr/>
            <a:r>
              <a:rPr lang="en-US" sz="2400" dirty="0">
                <a:solidFill>
                  <a:srgbClr val="007440"/>
                </a:solidFill>
                <a:latin typeface="Chalkduster" panose="03050602040202020205" pitchFamily="66" charset="77"/>
              </a:rPr>
              <a:t>magnitude</a:t>
            </a:r>
          </a:p>
        </p:txBody>
      </p:sp>
      <p:sp>
        <p:nvSpPr>
          <p:cNvPr id="7" name="TextBox 6">
            <a:extLst>
              <a:ext uri="{FF2B5EF4-FFF2-40B4-BE49-F238E27FC236}">
                <a16:creationId xmlns:a16="http://schemas.microsoft.com/office/drawing/2014/main" id="{0E04F82F-4369-27DC-D965-7A41703F5A83}"/>
              </a:ext>
            </a:extLst>
          </p:cNvPr>
          <p:cNvSpPr txBox="1"/>
          <p:nvPr/>
        </p:nvSpPr>
        <p:spPr>
          <a:xfrm>
            <a:off x="6009861" y="1318597"/>
            <a:ext cx="2140227" cy="461665"/>
          </a:xfrm>
          <a:prstGeom prst="rect">
            <a:avLst/>
          </a:prstGeom>
          <a:noFill/>
        </p:spPr>
        <p:txBody>
          <a:bodyPr wrap="square" rtlCol="0">
            <a:spAutoFit/>
          </a:bodyPr>
          <a:lstStyle/>
          <a:p>
            <a:pPr/>
            <a:r>
              <a:rPr lang="en-US" sz="2400" dirty="0">
                <a:solidFill>
                  <a:srgbClr val="007440"/>
                </a:solidFill>
                <a:latin typeface="Chalkduster" panose="03050602040202020205" pitchFamily="66" charset="77"/>
              </a:rPr>
              <a:t>distance</a:t>
            </a:r>
          </a:p>
        </p:txBody>
      </p:sp>
      <p:sp>
        <p:nvSpPr>
          <p:cNvPr id="29" name="Rectangle 28">
            <a:extLst>
              <a:ext uri="{FF2B5EF4-FFF2-40B4-BE49-F238E27FC236}">
                <a16:creationId xmlns:a16="http://schemas.microsoft.com/office/drawing/2014/main" id="{914A9161-C217-6CE3-422B-5DCC61C828C5}"/>
              </a:ext>
            </a:extLst>
          </p:cNvPr>
          <p:cNvSpPr/>
          <p:nvPr/>
        </p:nvSpPr>
        <p:spPr>
          <a:xfrm>
            <a:off x="145774" y="5658678"/>
            <a:ext cx="11913704" cy="728870"/>
          </a:xfrm>
          <a:prstGeom prst="rect">
            <a:avLst/>
          </a:prstGeom>
          <a:noFill/>
          <a:ln w="3175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99418980-D4E3-AE00-AC98-6791F67BFB00}"/>
              </a:ext>
            </a:extLst>
          </p:cNvPr>
          <p:cNvGrpSpPr/>
          <p:nvPr/>
        </p:nvGrpSpPr>
        <p:grpSpPr>
          <a:xfrm>
            <a:off x="156818" y="5623798"/>
            <a:ext cx="11862904" cy="830997"/>
            <a:chOff x="156818" y="5464774"/>
            <a:chExt cx="11862904" cy="830997"/>
          </a:xfrm>
        </p:grpSpPr>
        <p:sp>
          <p:nvSpPr>
            <p:cNvPr id="28" name="TextBox 27">
              <a:extLst>
                <a:ext uri="{FF2B5EF4-FFF2-40B4-BE49-F238E27FC236}">
                  <a16:creationId xmlns:a16="http://schemas.microsoft.com/office/drawing/2014/main" id="{FCA22E61-6181-28BB-613B-9DC54B87FB68}"/>
                </a:ext>
              </a:extLst>
            </p:cNvPr>
            <p:cNvSpPr txBox="1"/>
            <p:nvPr/>
          </p:nvSpPr>
          <p:spPr>
            <a:xfrm>
              <a:off x="156818" y="5464774"/>
              <a:ext cx="11862904" cy="830997"/>
            </a:xfrm>
            <a:prstGeom prst="rect">
              <a:avLst/>
            </a:prstGeom>
            <a:noFill/>
          </p:spPr>
          <p:txBody>
            <a:bodyPr wrap="square">
              <a:spAutoFit/>
            </a:bodyPr>
            <a:lstStyle/>
            <a:p>
              <a:pPr algn="just"/>
              <a:r>
                <a:rPr lang="en-US" sz="2400" dirty="0">
                  <a:solidFill>
                    <a:schemeClr val="tx1">
                      <a:lumMod val="75000"/>
                      <a:lumOff val="25000"/>
                    </a:schemeClr>
                  </a:solidFill>
                  <a:effectLst/>
                  <a:latin typeface="Times" pitchFamily="2" charset="0"/>
                </a:rPr>
                <a:t>*Note:  No matter how large the applied force is, the object must undergo a displacement for work to be done. </a:t>
              </a:r>
              <a:endParaRPr lang="en-US" sz="2400" b="1" dirty="0">
                <a:solidFill>
                  <a:schemeClr val="tx1">
                    <a:lumMod val="75000"/>
                    <a:lumOff val="25000"/>
                  </a:schemeClr>
                </a:solidFill>
                <a:effectLst/>
                <a:latin typeface="Times" pitchFamily="2" charset="0"/>
              </a:endParaRPr>
            </a:p>
          </p:txBody>
        </p:sp>
        <p:sp>
          <p:nvSpPr>
            <p:cNvPr id="30" name="Rounded Rectangle 29">
              <a:extLst>
                <a:ext uri="{FF2B5EF4-FFF2-40B4-BE49-F238E27FC236}">
                  <a16:creationId xmlns:a16="http://schemas.microsoft.com/office/drawing/2014/main" id="{2946A8ED-14FD-7083-4639-E6CA492E1E86}"/>
                </a:ext>
              </a:extLst>
            </p:cNvPr>
            <p:cNvSpPr/>
            <p:nvPr/>
          </p:nvSpPr>
          <p:spPr>
            <a:xfrm>
              <a:off x="2531164" y="5870713"/>
              <a:ext cx="6281531" cy="3180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TextBox 30">
            <a:extLst>
              <a:ext uri="{FF2B5EF4-FFF2-40B4-BE49-F238E27FC236}">
                <a16:creationId xmlns:a16="http://schemas.microsoft.com/office/drawing/2014/main" id="{8AD892C8-6939-F9C8-7136-1BAEA3185BF1}"/>
              </a:ext>
            </a:extLst>
          </p:cNvPr>
          <p:cNvSpPr txBox="1"/>
          <p:nvPr/>
        </p:nvSpPr>
        <p:spPr>
          <a:xfrm>
            <a:off x="2517913" y="6016485"/>
            <a:ext cx="7023653" cy="369332"/>
          </a:xfrm>
          <a:prstGeom prst="rect">
            <a:avLst/>
          </a:prstGeom>
          <a:noFill/>
        </p:spPr>
        <p:txBody>
          <a:bodyPr wrap="square" rtlCol="0">
            <a:spAutoFit/>
          </a:bodyPr>
          <a:lstStyle/>
          <a:p>
            <a:pPr/>
            <a:r>
              <a:rPr lang="en-US" sz="1800" dirty="0">
                <a:solidFill>
                  <a:srgbClr val="007440"/>
                </a:solidFill>
                <a:effectLst/>
                <a:latin typeface="Chalkduster" panose="03050602040202020205" pitchFamily="66" charset="77"/>
              </a:rPr>
              <a:t>If the object does not move, the work is zero.</a:t>
            </a:r>
            <a:endParaRPr lang="en-US" dirty="0">
              <a:solidFill>
                <a:srgbClr val="007440"/>
              </a:solidFill>
              <a:latin typeface="Chalkduster" panose="03050602040202020205" pitchFamily="66" charset="77"/>
            </a:endParaRPr>
          </a:p>
        </p:txBody>
      </p:sp>
      <p:grpSp>
        <p:nvGrpSpPr>
          <p:cNvPr id="38" name="Group 37">
            <a:extLst>
              <a:ext uri="{FF2B5EF4-FFF2-40B4-BE49-F238E27FC236}">
                <a16:creationId xmlns:a16="http://schemas.microsoft.com/office/drawing/2014/main" id="{E3487FCA-893F-3372-5804-B9E369C43985}"/>
              </a:ext>
            </a:extLst>
          </p:cNvPr>
          <p:cNvGrpSpPr/>
          <p:nvPr/>
        </p:nvGrpSpPr>
        <p:grpSpPr>
          <a:xfrm>
            <a:off x="173225" y="2320552"/>
            <a:ext cx="12323575" cy="3123933"/>
            <a:chOff x="173225" y="2320552"/>
            <a:chExt cx="12323575" cy="3123933"/>
          </a:xfrm>
        </p:grpSpPr>
        <p:grpSp>
          <p:nvGrpSpPr>
            <p:cNvPr id="27" name="Group 26">
              <a:extLst>
                <a:ext uri="{FF2B5EF4-FFF2-40B4-BE49-F238E27FC236}">
                  <a16:creationId xmlns:a16="http://schemas.microsoft.com/office/drawing/2014/main" id="{FDD9DD06-271F-1C8F-AE55-4B10871E08E6}"/>
                </a:ext>
              </a:extLst>
            </p:cNvPr>
            <p:cNvGrpSpPr/>
            <p:nvPr/>
          </p:nvGrpSpPr>
          <p:grpSpPr>
            <a:xfrm>
              <a:off x="173225" y="2320552"/>
              <a:ext cx="12323575" cy="3123933"/>
              <a:chOff x="-621905" y="2850637"/>
              <a:chExt cx="12323575" cy="3123933"/>
            </a:xfrm>
          </p:grpSpPr>
          <p:grpSp>
            <p:nvGrpSpPr>
              <p:cNvPr id="9" name="Group 8">
                <a:extLst>
                  <a:ext uri="{FF2B5EF4-FFF2-40B4-BE49-F238E27FC236}">
                    <a16:creationId xmlns:a16="http://schemas.microsoft.com/office/drawing/2014/main" id="{639D5729-331C-2798-DD76-85F418606E8B}"/>
                  </a:ext>
                </a:extLst>
              </p:cNvPr>
              <p:cNvGrpSpPr/>
              <p:nvPr/>
            </p:nvGrpSpPr>
            <p:grpSpPr>
              <a:xfrm>
                <a:off x="-621905" y="2850637"/>
                <a:ext cx="12323575" cy="3086335"/>
                <a:chOff x="772347" y="2199861"/>
                <a:chExt cx="10050420" cy="3086335"/>
              </a:xfrm>
            </p:grpSpPr>
            <p:sp>
              <p:nvSpPr>
                <p:cNvPr id="11" name="TextBox 10">
                  <a:extLst>
                    <a:ext uri="{FF2B5EF4-FFF2-40B4-BE49-F238E27FC236}">
                      <a16:creationId xmlns:a16="http://schemas.microsoft.com/office/drawing/2014/main" id="{73AACE20-7A38-6DD9-CDB6-EE60FD99C8E7}"/>
                    </a:ext>
                  </a:extLst>
                </p:cNvPr>
                <p:cNvSpPr txBox="1"/>
                <p:nvPr/>
              </p:nvSpPr>
              <p:spPr>
                <a:xfrm>
                  <a:off x="1683027" y="2673771"/>
                  <a:ext cx="9051234" cy="461665"/>
                </a:xfrm>
                <a:prstGeom prst="rect">
                  <a:avLst/>
                </a:prstGeom>
                <a:noFill/>
              </p:spPr>
              <p:txBody>
                <a:bodyPr wrap="square">
                  <a:spAutoFit/>
                </a:bodyPr>
                <a:lstStyle/>
                <a:p>
                  <a:pPr algn="just"/>
                  <a:r>
                    <a:rPr lang="en-US" sz="2400" dirty="0">
                      <a:solidFill>
                        <a:schemeClr val="tx1">
                          <a:lumMod val="75000"/>
                          <a:lumOff val="25000"/>
                        </a:schemeClr>
                      </a:solidFill>
                      <a:effectLst/>
                      <a:latin typeface="Times" pitchFamily="2" charset="0"/>
                    </a:rPr>
                    <a:t>The work done on an object by a </a:t>
                  </a:r>
                  <a:r>
                    <a:rPr lang="en-US" sz="2400" b="1" dirty="0">
                      <a:solidFill>
                        <a:schemeClr val="tx1">
                          <a:lumMod val="75000"/>
                          <a:lumOff val="25000"/>
                        </a:schemeClr>
                      </a:solidFill>
                      <a:effectLst/>
                      <a:latin typeface="Times" pitchFamily="2" charset="0"/>
                    </a:rPr>
                    <a:t>constant</a:t>
                  </a:r>
                  <a:r>
                    <a:rPr lang="en-US" sz="2400" dirty="0">
                      <a:solidFill>
                        <a:schemeClr val="tx1">
                          <a:lumMod val="75000"/>
                          <a:lumOff val="25000"/>
                        </a:schemeClr>
                      </a:solidFill>
                      <a:effectLst/>
                      <a:latin typeface="Times" pitchFamily="2" charset="0"/>
                    </a:rPr>
                    <a:t> force </a:t>
                  </a:r>
                  <a:r>
                    <a:rPr lang="en-US" sz="2400" b="1" dirty="0">
                      <a:solidFill>
                        <a:schemeClr val="tx1">
                          <a:lumMod val="75000"/>
                          <a:lumOff val="25000"/>
                        </a:schemeClr>
                      </a:solidFill>
                      <a:effectLst/>
                      <a:latin typeface="Times" pitchFamily="2" charset="0"/>
                    </a:rPr>
                    <a:t>F</a:t>
                  </a:r>
                  <a:r>
                    <a:rPr lang="en-US" sz="2400" dirty="0">
                      <a:solidFill>
                        <a:schemeClr val="tx1">
                          <a:lumMod val="75000"/>
                          <a:lumOff val="25000"/>
                        </a:schemeClr>
                      </a:solidFill>
                      <a:effectLst/>
                      <a:latin typeface="Times" pitchFamily="2" charset="0"/>
                    </a:rPr>
                    <a:t> is</a:t>
                  </a:r>
                </a:p>
              </p:txBody>
            </p:sp>
            <p:sp>
              <p:nvSpPr>
                <p:cNvPr id="12" name="TextBox 11">
                  <a:extLst>
                    <a:ext uri="{FF2B5EF4-FFF2-40B4-BE49-F238E27FC236}">
                      <a16:creationId xmlns:a16="http://schemas.microsoft.com/office/drawing/2014/main" id="{302F7CA7-1436-EB5D-5209-0100A5CD8DD3}"/>
                    </a:ext>
                  </a:extLst>
                </p:cNvPr>
                <p:cNvSpPr txBox="1"/>
                <p:nvPr/>
              </p:nvSpPr>
              <p:spPr>
                <a:xfrm>
                  <a:off x="1709530" y="2199861"/>
                  <a:ext cx="9113237" cy="523220"/>
                </a:xfrm>
                <a:prstGeom prst="rect">
                  <a:avLst/>
                </a:prstGeom>
                <a:noFill/>
              </p:spPr>
              <p:txBody>
                <a:bodyPr wrap="square" rtlCol="0">
                  <a:spAutoFit/>
                </a:bodyPr>
                <a:lstStyle/>
                <a:p>
                  <a:pPr/>
                  <a:r>
                    <a:rPr lang="en-US" sz="2800" b="1" dirty="0">
                      <a:solidFill>
                        <a:srgbClr val="C00000"/>
                      </a:solidFill>
                      <a:latin typeface="Times New Roman" panose="02020603050405020304" pitchFamily="18" charset="0"/>
                      <a:ea typeface="Calibri" charset="0"/>
                      <a:cs typeface="Times New Roman" panose="02020603050405020304" pitchFamily="18" charset="0"/>
                    </a:rPr>
                    <a:t>DEFINITION OF WORK DONE BY A CONSTANT FORCE</a:t>
                  </a:r>
                  <a:endParaRPr lang="en-US" sz="2800" b="1" dirty="0">
                    <a:solidFill>
                      <a:srgbClr val="C00000"/>
                    </a:solidFill>
                    <a:latin typeface="Times New Roman" panose="02020603050405020304" pitchFamily="18" charset="0"/>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D6EA1F9E-AFE9-0E5F-FEEC-3C2D1897108E}"/>
                    </a:ext>
                  </a:extLst>
                </p:cNvPr>
                <p:cNvCxnSpPr>
                  <a:cxnSpLocks/>
                </p:cNvCxnSpPr>
                <p:nvPr/>
              </p:nvCxnSpPr>
              <p:spPr>
                <a:xfrm>
                  <a:off x="772347" y="2299254"/>
                  <a:ext cx="0" cy="2986942"/>
                </a:xfrm>
                <a:prstGeom prst="line">
                  <a:avLst/>
                </a:prstGeom>
                <a:ln w="412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FE8DAB6-5F18-08AA-C742-699055EE8BA1}"/>
                    </a:ext>
                  </a:extLst>
                </p:cNvPr>
                <p:cNvCxnSpPr>
                  <a:cxnSpLocks/>
                </p:cNvCxnSpPr>
                <p:nvPr/>
              </p:nvCxnSpPr>
              <p:spPr>
                <a:xfrm>
                  <a:off x="10442130" y="2299254"/>
                  <a:ext cx="0" cy="2986942"/>
                </a:xfrm>
                <a:prstGeom prst="line">
                  <a:avLst/>
                </a:prstGeom>
                <a:ln w="4127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5" name="TextBox 14">
                <a:extLst>
                  <a:ext uri="{FF2B5EF4-FFF2-40B4-BE49-F238E27FC236}">
                    <a16:creationId xmlns:a16="http://schemas.microsoft.com/office/drawing/2014/main" id="{FA9324C8-68C1-3019-8273-440FC42CF4A1}"/>
                  </a:ext>
                </a:extLst>
              </p:cNvPr>
              <p:cNvSpPr txBox="1"/>
              <p:nvPr/>
            </p:nvSpPr>
            <p:spPr>
              <a:xfrm>
                <a:off x="3737114" y="4227442"/>
                <a:ext cx="2438399" cy="461665"/>
              </a:xfrm>
              <a:prstGeom prst="rect">
                <a:avLst/>
              </a:prstGeom>
              <a:noFill/>
            </p:spPr>
            <p:txBody>
              <a:bodyPr wrap="square" rtlCol="0">
                <a:spAutoFit/>
              </a:bodyPr>
              <a:lstStyle/>
              <a:p>
                <a:pPr/>
                <a:r>
                  <a:rPr lang="en-US" sz="2400" i="1" dirty="0">
                    <a:solidFill/>
                    <a:latin typeface="Times" pitchFamily="2" charset="0"/>
                  </a:rPr>
                  <a:t>W</a:t>
                </a:r>
                <a:r>
                  <a:rPr lang="en-US" sz="2400" dirty="0">
                    <a:solidFill/>
                    <a:latin typeface="Times" pitchFamily="2" charset="0"/>
                  </a:rPr>
                  <a:t> = (</a:t>
                </a:r>
                <a:r>
                  <a:rPr lang="en-US" sz="2400" i="1" dirty="0" err="1">
                    <a:solidFill/>
                    <a:latin typeface="Times" pitchFamily="2" charset="0"/>
                  </a:rPr>
                  <a:t>F</a:t>
                </a:r>
                <a:r>
                  <a:rPr lang="en-US" sz="2400" dirty="0" err="1">
                    <a:solidFill/>
                    <a:latin typeface="Times" pitchFamily="2" charset="0"/>
                  </a:rPr>
                  <a:t>cos</a:t>
                </a:r>
                <a:r>
                  <a:rPr lang="en-US" sz="2400" i="1" dirty="0" err="1">
                    <a:solidFill/>
                    <a:latin typeface="Symbol" pitchFamily="2" charset="2"/>
                  </a:rPr>
                  <a:t>q</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a:t>
                </a:r>
              </a:p>
            </p:txBody>
          </p:sp>
          <p:sp>
            <p:nvSpPr>
              <p:cNvPr id="17" name="TextBox 16">
                <a:extLst>
                  <a:ext uri="{FF2B5EF4-FFF2-40B4-BE49-F238E27FC236}">
                    <a16:creationId xmlns:a16="http://schemas.microsoft.com/office/drawing/2014/main" id="{9CC324F1-2FFF-5AF2-B281-27A3027A2885}"/>
                  </a:ext>
                </a:extLst>
              </p:cNvPr>
              <p:cNvSpPr txBox="1"/>
              <p:nvPr/>
            </p:nvSpPr>
            <p:spPr>
              <a:xfrm>
                <a:off x="-516834" y="4643134"/>
                <a:ext cx="11595652" cy="830997"/>
              </a:xfrm>
              <a:prstGeom prst="rect">
                <a:avLst/>
              </a:prstGeom>
              <a:noFill/>
            </p:spPr>
            <p:txBody>
              <a:bodyPr wrap="square">
                <a:spAutoFit/>
              </a:bodyPr>
              <a:lstStyle/>
              <a:p>
                <a:pPr algn="just"/>
                <a:r>
                  <a:rPr lang="en-US" sz="2400" dirty="0">
                    <a:solidFill>
                      <a:schemeClr val="tx1">
                        <a:lumMod val="75000"/>
                        <a:lumOff val="25000"/>
                      </a:schemeClr>
                    </a:solidFill>
                    <a:effectLst/>
                    <a:latin typeface="Times" pitchFamily="2" charset="0"/>
                  </a:rPr>
                  <a:t>where </a:t>
                </a:r>
                <a:r>
                  <a:rPr lang="en-US" sz="2400" i="1" dirty="0">
                    <a:solidFill>
                      <a:schemeClr val="tx1">
                        <a:lumMod val="75000"/>
                        <a:lumOff val="25000"/>
                      </a:schemeClr>
                    </a:solidFill>
                    <a:effectLst/>
                    <a:latin typeface="Times" pitchFamily="2" charset="0"/>
                  </a:rPr>
                  <a:t>F</a:t>
                </a:r>
                <a:r>
                  <a:rPr lang="en-US" sz="2400" dirty="0">
                    <a:solidFill>
                      <a:schemeClr val="tx1">
                        <a:lumMod val="75000"/>
                        <a:lumOff val="25000"/>
                      </a:schemeClr>
                    </a:solidFill>
                    <a:effectLst/>
                    <a:latin typeface="Times" pitchFamily="2" charset="0"/>
                  </a:rPr>
                  <a:t> is the magnitude of the force, </a:t>
                </a:r>
                <a:r>
                  <a:rPr lang="en-US" sz="2400" i="1" dirty="0">
                    <a:solidFill>
                      <a:schemeClr val="tx1">
                        <a:lumMod val="75000"/>
                        <a:lumOff val="25000"/>
                      </a:schemeClr>
                    </a:solidFill>
                    <a:effectLst/>
                    <a:latin typeface="Times" pitchFamily="2" charset="0"/>
                  </a:rPr>
                  <a:t>s</a:t>
                </a:r>
                <a:r>
                  <a:rPr lang="en-US" sz="2400" dirty="0">
                    <a:solidFill>
                      <a:schemeClr val="tx1">
                        <a:lumMod val="75000"/>
                        <a:lumOff val="25000"/>
                      </a:schemeClr>
                    </a:solidFill>
                    <a:effectLst/>
                    <a:latin typeface="Times" pitchFamily="2" charset="0"/>
                  </a:rPr>
                  <a:t> is the magnitude of the displacement, and </a:t>
                </a:r>
                <a:r>
                  <a:rPr lang="en-US" sz="2400" i="1" dirty="0">
                    <a:solidFill>
                      <a:schemeClr val="tx1">
                        <a:lumMod val="75000"/>
                        <a:lumOff val="25000"/>
                      </a:schemeClr>
                    </a:solidFill>
                    <a:effectLst/>
                    <a:latin typeface="Symbol" pitchFamily="2" charset="2"/>
                  </a:rPr>
                  <a:t>q</a:t>
                </a:r>
                <a:r>
                  <a:rPr lang="en-US" sz="2400" dirty="0">
                    <a:solidFill>
                      <a:schemeClr val="tx1">
                        <a:lumMod val="75000"/>
                        <a:lumOff val="25000"/>
                      </a:schemeClr>
                    </a:solidFill>
                    <a:effectLst/>
                    <a:latin typeface="Times" pitchFamily="2" charset="0"/>
                  </a:rPr>
                  <a:t> is the angle between the force and the displacement.</a:t>
                </a:r>
              </a:p>
            </p:txBody>
          </p:sp>
          <p:sp>
            <p:nvSpPr>
              <p:cNvPr id="25" name="TextBox 24">
                <a:extLst>
                  <a:ext uri="{FF2B5EF4-FFF2-40B4-BE49-F238E27FC236}">
                    <a16:creationId xmlns:a16="http://schemas.microsoft.com/office/drawing/2014/main" id="{E3D87007-137A-E5BE-C3E9-DC3912C69D74}"/>
                  </a:ext>
                </a:extLst>
              </p:cNvPr>
              <p:cNvSpPr txBox="1"/>
              <p:nvPr/>
            </p:nvSpPr>
            <p:spPr>
              <a:xfrm>
                <a:off x="2994991" y="5512905"/>
                <a:ext cx="6997147" cy="461665"/>
              </a:xfrm>
              <a:prstGeom prst="rect">
                <a:avLst/>
              </a:prstGeom>
              <a:noFill/>
            </p:spPr>
            <p:txBody>
              <a:bodyPr wrap="square" rtlCol="0">
                <a:spAutoFit/>
              </a:bodyPr>
              <a:lstStyle/>
              <a:p>
                <a:pPr/>
                <a:r>
                  <a:rPr lang="en-US" sz="2400" b="1" dirty="0">
                    <a:solidFill/>
                    <a:latin typeface="Times New Roman" panose="02020603050405020304" pitchFamily="18" charset="0"/>
                    <a:cs typeface="Times New Roman" panose="02020603050405020304" pitchFamily="18" charset="0"/>
                  </a:rPr>
                  <a:t>SI Unit of Work</a:t>
                </a:r>
                <a:r>
                  <a:rPr lang="en-US" sz="2400" dirty="0">
                    <a:solidFill/>
                    <a:latin typeface="Times New Roman" panose="02020603050405020304" pitchFamily="18" charset="0"/>
                    <a:cs typeface="Times New Roman" panose="02020603050405020304" pitchFamily="18" charset="0"/>
                  </a:rPr>
                  <a:t>:  newton   meter = joule (J)</a:t>
                </a:r>
              </a:p>
            </p:txBody>
          </p:sp>
          <p:sp>
            <p:nvSpPr>
              <p:cNvPr id="26" name="TextBox 25">
                <a:extLst>
                  <a:ext uri="{FF2B5EF4-FFF2-40B4-BE49-F238E27FC236}">
                    <a16:creationId xmlns:a16="http://schemas.microsoft.com/office/drawing/2014/main" id="{0B565577-EA53-CD76-0BF8-1A8FCEE57495}"/>
                  </a:ext>
                </a:extLst>
              </p:cNvPr>
              <p:cNvSpPr txBox="1"/>
              <p:nvPr/>
            </p:nvSpPr>
            <p:spPr>
              <a:xfrm>
                <a:off x="6281529" y="5459896"/>
                <a:ext cx="516835" cy="461665"/>
              </a:xfrm>
              <a:prstGeom prst="rect">
                <a:avLst/>
              </a:prstGeom>
              <a:noFill/>
            </p:spPr>
            <p:txBody>
              <a:bodyPr wrap="square" rtlCol="0">
                <a:spAutoFit/>
              </a:bodyPr>
              <a:lstStyle/>
              <a:p>
                <a:pPr/>
                <a:r>
                  <a:rPr lang="en-US" sz="2400" dirty="0">
                    <a:solidFill/>
                  </a:rPr>
                  <a:t>.</a:t>
                </a:r>
              </a:p>
            </p:txBody>
          </p:sp>
        </p:grpSp>
        <p:sp>
          <p:nvSpPr>
            <p:cNvPr id="36" name="TextBox 35">
              <a:extLst>
                <a:ext uri="{FF2B5EF4-FFF2-40B4-BE49-F238E27FC236}">
                  <a16:creationId xmlns:a16="http://schemas.microsoft.com/office/drawing/2014/main" id="{1AFC9423-EB3C-4521-26E8-66DD8F1492EF}"/>
                </a:ext>
              </a:extLst>
            </p:cNvPr>
            <p:cNvSpPr txBox="1"/>
            <p:nvPr/>
          </p:nvSpPr>
          <p:spPr>
            <a:xfrm>
              <a:off x="231913" y="3226905"/>
              <a:ext cx="11655287" cy="461665"/>
            </a:xfrm>
            <a:prstGeom prst="rect">
              <a:avLst/>
            </a:prstGeom>
            <a:noFill/>
          </p:spPr>
          <p:txBody>
            <a:bodyPr wrap="square" rtlCol="0">
              <a:spAutoFit/>
            </a:bodyPr>
            <a:lstStyle/>
            <a:p>
              <a:pPr/>
              <a:r>
                <a:rPr lang="en-US" sz="2400" dirty="0">
                  <a:solidFill/>
                  <a:latin typeface="Times" pitchFamily="2" charset="0"/>
                </a:rPr>
                <a:t>Work = (Component of the force along the direction of the displacement)×(Displacement), or</a:t>
              </a:r>
            </a:p>
          </p:txBody>
        </p:sp>
        <p:sp>
          <p:nvSpPr>
            <p:cNvPr id="37" name="TextBox 36">
              <a:extLst>
                <a:ext uri="{FF2B5EF4-FFF2-40B4-BE49-F238E27FC236}">
                  <a16:creationId xmlns:a16="http://schemas.microsoft.com/office/drawing/2014/main" id="{F6909839-DEA4-7E6E-67CB-DAF30FECD575}"/>
                </a:ext>
              </a:extLst>
            </p:cNvPr>
            <p:cNvSpPr txBox="1"/>
            <p:nvPr/>
          </p:nvSpPr>
          <p:spPr>
            <a:xfrm>
              <a:off x="6930886" y="3684104"/>
              <a:ext cx="887896" cy="461665"/>
            </a:xfrm>
            <a:prstGeom prst="rect">
              <a:avLst/>
            </a:prstGeom>
            <a:noFill/>
          </p:spPr>
          <p:txBody>
            <a:bodyPr wrap="square" rtlCol="0">
              <a:spAutoFit/>
            </a:bodyPr>
            <a:lstStyle/>
            <a:p>
              <a:pPr/>
              <a:r>
                <a:rPr lang="en-US" sz="2400" dirty="0">
                  <a:solidFill/>
                  <a:latin typeface="Times New Roman" panose="02020603050405020304" pitchFamily="18" charset="0"/>
                  <a:cs typeface="Times New Roman" panose="02020603050405020304" pitchFamily="18" charset="0"/>
                </a:rPr>
                <a:t>(</a:t>
              </a:r>
              <a:r>
                <a:rPr lang="en-US" sz="2400" b="1" dirty="0">
                  <a:solidFill/>
                  <a:latin typeface="Times New Roman" panose="02020603050405020304" pitchFamily="18" charset="0"/>
                  <a:cs typeface="Times New Roman" panose="02020603050405020304" pitchFamily="18" charset="0"/>
                </a:rPr>
                <a:t>6.1</a:t>
              </a:r>
              <a:r>
                <a:rPr lang="en-US" sz="2400" dirty="0">
                  <a:solidFill/>
                  <a:latin typeface="Times New Roman" panose="02020603050405020304" pitchFamily="18" charset="0"/>
                  <a:cs typeface="Times New Roman" panose="02020603050405020304" pitchFamily="18" charset="0"/>
                </a:rPr>
                <a:t>)</a:t>
              </a:r>
            </a:p>
          </p:txBody>
        </p:sp>
      </p:grpSp>
    </p:spTree>
    <p:extLst>
      <p:ext uri="{BB962C8B-B14F-4D97-AF65-F5344CB8AC3E}">
        <p14:creationId xmlns:p14="http://schemas.microsoft.com/office/powerpoint/2010/main" val="4273192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dissolve">
                                      <p:cBhvr>
                                        <p:cTn id="22" dur="50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dissolve">
                                      <p:cBhvr>
                                        <p:cTn id="27" dur="500"/>
                                        <p:tgtEl>
                                          <p:spTgt spid="29"/>
                                        </p:tgtEl>
                                      </p:cBhvr>
                                    </p:animEffect>
                                  </p:childTnLst>
                                </p:cTn>
                              </p:par>
                              <p:par>
                                <p:cTn id="28" presetID="9" presetClass="entr" presetSubtype="0" fill="hold" nodeType="with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dissolve">
                                      <p:cBhvr>
                                        <p:cTn id="30" dur="500"/>
                                        <p:tgtEl>
                                          <p:spTgt spid="32"/>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dissolve">
                                      <p:cBhvr>
                                        <p:cTn id="35"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29" grpId="0" animBg="1"/>
      <p:bldP spid="3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F7551-3FC3-2F8B-B651-992AEA8E51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299ECC-7B5B-B616-161A-A3505AF5EEBF}"/>
              </a:ext>
            </a:extLst>
          </p:cNvPr>
          <p:cNvSpPr>
            <a:spLocks noGrp="1"/>
          </p:cNvSpPr>
          <p:nvPr>
            <p:ph type="title"/>
          </p:nvPr>
        </p:nvSpPr>
        <p:spPr>
          <a:xfrm>
            <a:off x="685805" y="155459"/>
            <a:ext cx="10820401" cy="849312"/>
          </a:xfrm>
        </p:spPr>
        <p:txBody>
          <a:bodyPr/>
          <a:lstStyle/>
          <a:p>
            <a:pPr/>
            <a:r>
              <a:rPr lang="en-US" b="1" dirty="0">
                <a:solidFill/>
                <a:ea typeface="Calibri" charset="0"/>
                <a:cs typeface="Calibri" charset="0"/>
              </a:rPr>
              <a:t>6.1</a:t>
            </a:r>
            <a:r>
              <a:rPr lang="en-US" dirty="0">
                <a:solidFill/>
                <a:ea typeface="Calibri" charset="0"/>
                <a:cs typeface="Calibri" charset="0"/>
              </a:rPr>
              <a:t> Work Done by a Constant Force</a:t>
            </a:r>
            <a:endParaRPr lang="en-US" sz="3000" dirty="0"/>
          </a:p>
        </p:txBody>
      </p:sp>
      <p:grpSp>
        <p:nvGrpSpPr>
          <p:cNvPr id="5" name="Group 4">
            <a:extLst>
              <a:ext uri="{FF2B5EF4-FFF2-40B4-BE49-F238E27FC236}">
                <a16:creationId xmlns:a16="http://schemas.microsoft.com/office/drawing/2014/main" id="{C2B5D807-9770-E26B-DF5B-53FF1683E7C5}"/>
              </a:ext>
            </a:extLst>
          </p:cNvPr>
          <p:cNvGrpSpPr/>
          <p:nvPr/>
        </p:nvGrpSpPr>
        <p:grpSpPr>
          <a:xfrm>
            <a:off x="579550" y="2337441"/>
            <a:ext cx="11612450" cy="1262479"/>
            <a:chOff x="516079" y="1868745"/>
            <a:chExt cx="11612450" cy="1262479"/>
          </a:xfrm>
        </p:grpSpPr>
        <p:sp>
          <p:nvSpPr>
            <p:cNvPr id="10" name="TextBox 9">
              <a:extLst>
                <a:ext uri="{FF2B5EF4-FFF2-40B4-BE49-F238E27FC236}">
                  <a16:creationId xmlns:a16="http://schemas.microsoft.com/office/drawing/2014/main" id="{95DD3193-0ECE-BF0D-3240-D5E6B780BC95}"/>
                </a:ext>
              </a:extLst>
            </p:cNvPr>
            <p:cNvSpPr txBox="1"/>
            <p:nvPr/>
          </p:nvSpPr>
          <p:spPr>
            <a:xfrm>
              <a:off x="516079" y="1868745"/>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Pulling a Suitcase-on-Wheels</a:t>
              </a:r>
            </a:p>
          </p:txBody>
        </p:sp>
        <p:sp>
          <p:nvSpPr>
            <p:cNvPr id="18" name="TextBox 17">
              <a:extLst>
                <a:ext uri="{FF2B5EF4-FFF2-40B4-BE49-F238E27FC236}">
                  <a16:creationId xmlns:a16="http://schemas.microsoft.com/office/drawing/2014/main" id="{2E83091A-F334-BF63-4BDC-1DECCE3C0891}"/>
                </a:ext>
              </a:extLst>
            </p:cNvPr>
            <p:cNvSpPr txBox="1"/>
            <p:nvPr/>
          </p:nvSpPr>
          <p:spPr>
            <a:xfrm>
              <a:off x="4031449" y="2300227"/>
              <a:ext cx="8097080" cy="830997"/>
            </a:xfrm>
            <a:prstGeom prst="rect">
              <a:avLst/>
            </a:prstGeom>
            <a:noFill/>
          </p:spPr>
          <p:txBody>
            <a:bodyPr wrap="square">
              <a:spAutoFit/>
            </a:bodyPr>
            <a:lstStyle/>
            <a:p>
              <a:pPr algn="just"/>
              <a:r>
                <a:rPr lang="en-US" sz="2400" dirty="0">
                  <a:solidFill/>
                  <a:effectLst/>
                  <a:latin typeface="Times" pitchFamily="2" charset="0"/>
                </a:rPr>
                <a:t>Find the work done by a 45.0-N force in pulling the suitcase in the figure at an angle </a:t>
              </a:r>
              <a:r>
                <a:rPr lang="en-US" sz="2400" i="1" dirty="0">
                  <a:solidFill/>
                  <a:effectLst/>
                  <a:latin typeface="Symbol" pitchFamily="2" charset="2"/>
                </a:rPr>
                <a:t>q</a:t>
              </a:r>
              <a:r>
                <a:rPr lang="en-US" sz="2400" dirty="0">
                  <a:solidFill/>
                  <a:effectLst/>
                  <a:latin typeface="Times" pitchFamily="2" charset="0"/>
                </a:rPr>
                <a:t> = 50.0</a:t>
              </a:r>
              <a:r>
                <a:rPr lang="en-US" sz="2400" baseline="30000" dirty="0">
                  <a:solidFill/>
                  <a:effectLst/>
                  <a:latin typeface="Times" pitchFamily="2" charset="0"/>
                </a:rPr>
                <a:t>o</a:t>
              </a:r>
              <a:r>
                <a:rPr lang="en-US" sz="2400" dirty="0">
                  <a:solidFill/>
                  <a:effectLst/>
                  <a:latin typeface="Times" pitchFamily="2" charset="0"/>
                </a:rPr>
                <a:t> for a distance </a:t>
              </a:r>
              <a:r>
                <a:rPr lang="en-US" sz="2400" i="1" dirty="0">
                  <a:solidFill/>
                  <a:effectLst/>
                  <a:latin typeface="Times" pitchFamily="2" charset="0"/>
                </a:rPr>
                <a:t>s</a:t>
              </a:r>
              <a:r>
                <a:rPr lang="en-US" sz="2400" dirty="0">
                  <a:solidFill/>
                  <a:effectLst/>
                  <a:latin typeface="Times" pitchFamily="2" charset="0"/>
                </a:rPr>
                <a:t> = 75.0 m.</a:t>
              </a:r>
            </a:p>
          </p:txBody>
        </p:sp>
      </p:grpSp>
      <p:pic>
        <p:nvPicPr>
          <p:cNvPr id="20" name="Picture 19">
            <a:extLst>
              <a:ext uri="{FF2B5EF4-FFF2-40B4-BE49-F238E27FC236}">
                <a16:creationId xmlns:a16="http://schemas.microsoft.com/office/drawing/2014/main" id="{DD1214DD-3BF4-F822-8F6E-70E4A0D87A8D}"/>
              </a:ext>
            </a:extLst>
          </p:cNvPr>
          <p:cNvPicPr>
            <a:picLocks noChangeAspect="1"/>
          </p:cNvPicPr>
          <p:nvPr/>
        </p:nvPicPr>
        <p:blipFill>
          <a:blip r:embed="rId3"/>
          <a:srcRect r="49659" b="7222"/>
          <a:stretch/>
        </p:blipFill>
        <p:spPr>
          <a:xfrm>
            <a:off x="145774" y="2921730"/>
            <a:ext cx="3912704" cy="2047835"/>
          </a:xfrm>
          <a:prstGeom prst="rect">
            <a:avLst/>
          </a:prstGeom>
        </p:spPr>
      </p:pic>
      <p:grpSp>
        <p:nvGrpSpPr>
          <p:cNvPr id="24" name="Group 23">
            <a:extLst>
              <a:ext uri="{FF2B5EF4-FFF2-40B4-BE49-F238E27FC236}">
                <a16:creationId xmlns:a16="http://schemas.microsoft.com/office/drawing/2014/main" id="{C65BC20A-B250-CB0D-0476-23AC19A90121}"/>
              </a:ext>
            </a:extLst>
          </p:cNvPr>
          <p:cNvGrpSpPr/>
          <p:nvPr/>
        </p:nvGrpSpPr>
        <p:grpSpPr>
          <a:xfrm>
            <a:off x="4565372" y="3689949"/>
            <a:ext cx="8097080" cy="999149"/>
            <a:chOff x="4565372" y="2709301"/>
            <a:chExt cx="8097080" cy="999149"/>
          </a:xfrm>
        </p:grpSpPr>
        <p:sp>
          <p:nvSpPr>
            <p:cNvPr id="21" name="TextBox 20">
              <a:extLst>
                <a:ext uri="{FF2B5EF4-FFF2-40B4-BE49-F238E27FC236}">
                  <a16:creationId xmlns:a16="http://schemas.microsoft.com/office/drawing/2014/main" id="{CA524ABD-C14E-6DA1-D735-37117985E958}"/>
                </a:ext>
              </a:extLst>
            </p:cNvPr>
            <p:cNvSpPr txBox="1"/>
            <p:nvPr/>
          </p:nvSpPr>
          <p:spPr>
            <a:xfrm>
              <a:off x="4565372" y="2709301"/>
              <a:ext cx="8097080" cy="461665"/>
            </a:xfrm>
            <a:prstGeom prst="rect">
              <a:avLst/>
            </a:prstGeom>
            <a:noFill/>
          </p:spPr>
          <p:txBody>
            <a:bodyPr wrap="square">
              <a:spAutoFit/>
            </a:bodyPr>
            <a:lstStyle/>
            <a:p>
              <a:pPr algn="just"/>
              <a:r>
                <a:rPr lang="en-US" sz="2400" dirty="0">
                  <a:solidFill/>
                  <a:latin typeface="Times" pitchFamily="2" charset="0"/>
                </a:rPr>
                <a:t>Equation 6.1 can be used to calculate the work done:</a:t>
              </a:r>
              <a:endParaRPr lang="en-US" sz="2400" dirty="0">
                <a:effectLst/>
                <a:latin typeface="Times" pitchFamily="2" charset="0"/>
              </a:endParaRPr>
            </a:p>
          </p:txBody>
        </p:sp>
        <p:sp>
          <p:nvSpPr>
            <p:cNvPr id="23" name="TextBox 22">
              <a:extLst>
                <a:ext uri="{FF2B5EF4-FFF2-40B4-BE49-F238E27FC236}">
                  <a16:creationId xmlns:a16="http://schemas.microsoft.com/office/drawing/2014/main" id="{5A209330-CDB2-3FB5-5837-24E2085DC504}"/>
                </a:ext>
              </a:extLst>
            </p:cNvPr>
            <p:cNvSpPr txBox="1"/>
            <p:nvPr/>
          </p:nvSpPr>
          <p:spPr>
            <a:xfrm>
              <a:off x="7036905" y="3246785"/>
              <a:ext cx="2438399" cy="461665"/>
            </a:xfrm>
            <a:prstGeom prst="rect">
              <a:avLst/>
            </a:prstGeom>
            <a:noFill/>
          </p:spPr>
          <p:txBody>
            <a:bodyPr wrap="square" rtlCol="0">
              <a:spAutoFit/>
            </a:bodyPr>
            <a:lstStyle/>
            <a:p>
              <a:pPr/>
              <a:r>
                <a:rPr lang="en-US" sz="2400" i="1" dirty="0">
                  <a:solidFill/>
                  <a:latin typeface="Times" pitchFamily="2" charset="0"/>
                </a:rPr>
                <a:t>W</a:t>
              </a:r>
              <a:r>
                <a:rPr lang="en-US" sz="2400" dirty="0">
                  <a:solidFill/>
                  <a:latin typeface="Times" pitchFamily="2" charset="0"/>
                </a:rPr>
                <a:t> = (</a:t>
              </a:r>
              <a:r>
                <a:rPr lang="en-US" sz="2400" i="1" dirty="0" err="1">
                  <a:solidFill/>
                  <a:latin typeface="Times" pitchFamily="2" charset="0"/>
                </a:rPr>
                <a:t>F</a:t>
              </a:r>
              <a:r>
                <a:rPr lang="en-US" sz="2400" dirty="0" err="1">
                  <a:solidFill/>
                  <a:latin typeface="Times" pitchFamily="2" charset="0"/>
                </a:rPr>
                <a:t>cos</a:t>
              </a:r>
              <a:r>
                <a:rPr lang="en-US" sz="2400" i="1" dirty="0" err="1">
                  <a:solidFill/>
                  <a:latin typeface="Symbol" pitchFamily="2" charset="2"/>
                </a:rPr>
                <a:t>q</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a:t>
              </a:r>
            </a:p>
          </p:txBody>
        </p:sp>
      </p:grpSp>
      <p:pic>
        <p:nvPicPr>
          <p:cNvPr id="33" name="Picture 32">
            <a:extLst>
              <a:ext uri="{FF2B5EF4-FFF2-40B4-BE49-F238E27FC236}">
                <a16:creationId xmlns:a16="http://schemas.microsoft.com/office/drawing/2014/main" id="{DE14E562-998F-086A-D246-E818AA47458C}"/>
              </a:ext>
            </a:extLst>
          </p:cNvPr>
          <p:cNvPicPr>
            <a:picLocks noChangeAspect="1"/>
          </p:cNvPicPr>
          <p:nvPr/>
        </p:nvPicPr>
        <p:blipFill>
          <a:blip r:embed="rId3"/>
          <a:srcRect l="55499" t="22832" r="-2387" b="7222"/>
          <a:stretch/>
        </p:blipFill>
        <p:spPr>
          <a:xfrm>
            <a:off x="516834" y="4863549"/>
            <a:ext cx="3644347" cy="1543878"/>
          </a:xfrm>
          <a:prstGeom prst="rect">
            <a:avLst/>
          </a:prstGeom>
        </p:spPr>
      </p:pic>
      <p:sp>
        <p:nvSpPr>
          <p:cNvPr id="34" name="TextBox 33">
            <a:extLst>
              <a:ext uri="{FF2B5EF4-FFF2-40B4-BE49-F238E27FC236}">
                <a16:creationId xmlns:a16="http://schemas.microsoft.com/office/drawing/2014/main" id="{3DAA9DCD-8661-7D63-D9F1-3F346D6D37F4}"/>
              </a:ext>
            </a:extLst>
          </p:cNvPr>
          <p:cNvSpPr txBox="1"/>
          <p:nvPr/>
        </p:nvSpPr>
        <p:spPr>
          <a:xfrm>
            <a:off x="4651512" y="4730245"/>
            <a:ext cx="7540488" cy="830997"/>
          </a:xfrm>
          <a:prstGeom prst="rect">
            <a:avLst/>
          </a:prstGeom>
          <a:noFill/>
        </p:spPr>
        <p:txBody>
          <a:bodyPr wrap="square">
            <a:spAutoFit/>
          </a:bodyPr>
          <a:lstStyle/>
          <a:p>
            <a:pPr algn="just"/>
            <a:r>
              <a:rPr lang="en-US" sz="2400" dirty="0">
                <a:solidFill/>
                <a:latin typeface="Times" pitchFamily="2" charset="0"/>
              </a:rPr>
              <a:t>Notice that </a:t>
            </a:r>
            <a:r>
              <a:rPr lang="en-US" sz="2400" i="1" dirty="0" err="1">
                <a:solidFill/>
                <a:latin typeface="Times" pitchFamily="2" charset="0"/>
              </a:rPr>
              <a:t>F</a:t>
            </a:r>
            <a:r>
              <a:rPr lang="en-US" sz="2400" dirty="0" err="1">
                <a:solidFill/>
                <a:latin typeface="Times" pitchFamily="2" charset="0"/>
              </a:rPr>
              <a:t>cos</a:t>
            </a:r>
            <a:r>
              <a:rPr lang="en-US" sz="2400" i="1" dirty="0" err="1">
                <a:solidFill/>
                <a:latin typeface="Symbol" pitchFamily="2" charset="2"/>
              </a:rPr>
              <a:t>q</a:t>
            </a:r>
            <a:r>
              <a:rPr lang="en-US" sz="2400" dirty="0">
                <a:solidFill/>
                <a:latin typeface="Times" pitchFamily="2" charset="0"/>
              </a:rPr>
              <a:t> </a:t>
            </a:r>
            <a:r>
              <a:rPr lang="en-US" sz="2400" u="sng" dirty="0">
                <a:solidFill/>
                <a:latin typeface="Times" pitchFamily="2" charset="0"/>
              </a:rPr>
              <a:t>is</a:t>
            </a:r>
            <a:r>
              <a:rPr lang="en-US" sz="2400" dirty="0">
                <a:solidFill/>
                <a:latin typeface="Times" pitchFamily="2" charset="0"/>
              </a:rPr>
              <a:t> the component of the force </a:t>
            </a:r>
            <a:r>
              <a:rPr lang="en-US" sz="2400" i="1" dirty="0">
                <a:solidFill/>
                <a:latin typeface="Times" pitchFamily="2" charset="0"/>
              </a:rPr>
              <a:t>F</a:t>
            </a:r>
            <a:r>
              <a:rPr lang="en-US" sz="2400" dirty="0">
                <a:solidFill/>
                <a:latin typeface="Times" pitchFamily="2" charset="0"/>
              </a:rPr>
              <a:t> along the direction of the displacement.  </a:t>
            </a:r>
            <a:endParaRPr lang="en-US" sz="2400" dirty="0">
              <a:effectLst/>
              <a:latin typeface="Times" pitchFamily="2" charset="0"/>
            </a:endParaRPr>
          </a:p>
        </p:txBody>
      </p:sp>
      <p:grpSp>
        <p:nvGrpSpPr>
          <p:cNvPr id="41" name="Group 40">
            <a:extLst>
              <a:ext uri="{FF2B5EF4-FFF2-40B4-BE49-F238E27FC236}">
                <a16:creationId xmlns:a16="http://schemas.microsoft.com/office/drawing/2014/main" id="{F0F9AE39-2067-06A5-5B36-AEF9AA847D5D}"/>
              </a:ext>
            </a:extLst>
          </p:cNvPr>
          <p:cNvGrpSpPr/>
          <p:nvPr/>
        </p:nvGrpSpPr>
        <p:grpSpPr>
          <a:xfrm>
            <a:off x="4605131" y="5671922"/>
            <a:ext cx="6738730" cy="636104"/>
            <a:chOff x="4552122" y="4426226"/>
            <a:chExt cx="6738730" cy="636104"/>
          </a:xfrm>
        </p:grpSpPr>
        <p:sp>
          <p:nvSpPr>
            <p:cNvPr id="35" name="TextBox 34">
              <a:extLst>
                <a:ext uri="{FF2B5EF4-FFF2-40B4-BE49-F238E27FC236}">
                  <a16:creationId xmlns:a16="http://schemas.microsoft.com/office/drawing/2014/main" id="{FC4B2F77-7296-56C5-4120-AAD9E89777E3}"/>
                </a:ext>
              </a:extLst>
            </p:cNvPr>
            <p:cNvSpPr txBox="1"/>
            <p:nvPr/>
          </p:nvSpPr>
          <p:spPr>
            <a:xfrm>
              <a:off x="4552122" y="4512366"/>
              <a:ext cx="2438399" cy="461665"/>
            </a:xfrm>
            <a:prstGeom prst="rect">
              <a:avLst/>
            </a:prstGeom>
            <a:noFill/>
          </p:spPr>
          <p:txBody>
            <a:bodyPr wrap="square" rtlCol="0">
              <a:spAutoFit/>
            </a:bodyPr>
            <a:lstStyle/>
            <a:p>
              <a:pPr/>
              <a:r>
                <a:rPr lang="en-US" sz="2400" i="1" dirty="0">
                  <a:solidFill/>
                  <a:latin typeface="Times" pitchFamily="2" charset="0"/>
                </a:rPr>
                <a:t>W</a:t>
              </a:r>
              <a:r>
                <a:rPr lang="en-US" sz="2400" dirty="0">
                  <a:solidFill/>
                  <a:latin typeface="Times" pitchFamily="2" charset="0"/>
                </a:rPr>
                <a:t> =</a:t>
              </a:r>
            </a:p>
          </p:txBody>
        </p:sp>
        <p:sp>
          <p:nvSpPr>
            <p:cNvPr id="40" name="Rounded Rectangle 39">
              <a:extLst>
                <a:ext uri="{FF2B5EF4-FFF2-40B4-BE49-F238E27FC236}">
                  <a16:creationId xmlns:a16="http://schemas.microsoft.com/office/drawing/2014/main" id="{294AACAE-CB33-0CBB-BE6F-21F97EEA3E1C}"/>
                </a:ext>
              </a:extLst>
            </p:cNvPr>
            <p:cNvSpPr/>
            <p:nvPr/>
          </p:nvSpPr>
          <p:spPr>
            <a:xfrm>
              <a:off x="5221356" y="4426226"/>
              <a:ext cx="6069496" cy="6361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9" name="TextBox 38">
            <a:extLst>
              <a:ext uri="{FF2B5EF4-FFF2-40B4-BE49-F238E27FC236}">
                <a16:creationId xmlns:a16="http://schemas.microsoft.com/office/drawing/2014/main" id="{7C770D9E-9356-396D-A86B-D9D62A5E82D7}"/>
              </a:ext>
            </a:extLst>
          </p:cNvPr>
          <p:cNvSpPr txBox="1"/>
          <p:nvPr/>
        </p:nvSpPr>
        <p:spPr>
          <a:xfrm>
            <a:off x="5261114" y="5764688"/>
            <a:ext cx="2438399" cy="461665"/>
          </a:xfrm>
          <a:prstGeom prst="rect">
            <a:avLst/>
          </a:prstGeom>
          <a:noFill/>
        </p:spPr>
        <p:txBody>
          <a:bodyPr wrap="square" rtlCol="0">
            <a:spAutoFit/>
          </a:bodyPr>
          <a:lstStyle/>
          <a:p>
            <a:pPr/>
            <a:r>
              <a:rPr lang="en-US" sz="2400" dirty="0">
                <a:solidFill/>
                <a:latin typeface="Times" pitchFamily="2" charset="0"/>
              </a:rPr>
              <a:t>(</a:t>
            </a:r>
            <a:r>
              <a:rPr lang="en-US" sz="2400" i="1" dirty="0" err="1">
                <a:solidFill/>
                <a:latin typeface="Times" pitchFamily="2" charset="0"/>
              </a:rPr>
              <a:t>F</a:t>
            </a:r>
            <a:r>
              <a:rPr lang="en-US" sz="2400" dirty="0" err="1">
                <a:solidFill/>
                <a:latin typeface="Times" pitchFamily="2" charset="0"/>
              </a:rPr>
              <a:t>cos</a:t>
            </a:r>
            <a:r>
              <a:rPr lang="en-US" sz="2400" i="1" dirty="0" err="1">
                <a:solidFill/>
                <a:latin typeface="Symbol" pitchFamily="2" charset="2"/>
              </a:rPr>
              <a:t>q</a:t>
            </a:r>
            <a:r>
              <a:rPr lang="en-US" sz="2400" dirty="0">
                <a:solidFill/>
                <a:latin typeface="Times" pitchFamily="2" charset="0"/>
              </a:rPr>
              <a:t>)s</a:t>
            </a:r>
          </a:p>
        </p:txBody>
      </p:sp>
      <p:sp>
        <p:nvSpPr>
          <p:cNvPr id="42" name="TextBox 41">
            <a:extLst>
              <a:ext uri="{FF2B5EF4-FFF2-40B4-BE49-F238E27FC236}">
                <a16:creationId xmlns:a16="http://schemas.microsoft.com/office/drawing/2014/main" id="{BAAE748E-7823-B5B3-C406-ABBD3BF38E67}"/>
              </a:ext>
            </a:extLst>
          </p:cNvPr>
          <p:cNvSpPr txBox="1"/>
          <p:nvPr/>
        </p:nvSpPr>
        <p:spPr>
          <a:xfrm>
            <a:off x="6447184" y="5771314"/>
            <a:ext cx="4247321" cy="461665"/>
          </a:xfrm>
          <a:prstGeom prst="rect">
            <a:avLst/>
          </a:prstGeom>
          <a:noFill/>
        </p:spPr>
        <p:txBody>
          <a:bodyPr wrap="square" rtlCol="0">
            <a:spAutoFit/>
          </a:bodyPr>
          <a:lstStyle/>
          <a:p>
            <a:pPr/>
            <a:r>
              <a:rPr lang="en-US" sz="2400" dirty="0">
                <a:solidFill/>
                <a:latin typeface="Times" pitchFamily="2" charset="0"/>
              </a:rPr>
              <a:t>= [(45.0 N) cos</a:t>
            </a:r>
            <a:r>
              <a:rPr lang="en-US" sz="2400" dirty="0">
                <a:solidFill/>
                <a:latin typeface="Symbol" pitchFamily="2" charset="2"/>
              </a:rPr>
              <a:t>50</a:t>
            </a:r>
            <a:r>
              <a:rPr lang="en-US" sz="2400" baseline="30000" dirty="0">
                <a:solidFill/>
                <a:latin typeface="Symbol" pitchFamily="2" charset="2"/>
              </a:rPr>
              <a:t>o</a:t>
            </a:r>
            <a:r>
              <a:rPr lang="en-US" sz="2400" dirty="0">
                <a:solidFill/>
                <a:latin typeface="Symbol" pitchFamily="2" charset="2"/>
              </a:rPr>
              <a:t> </a:t>
            </a:r>
            <a:r>
              <a:rPr lang="en-US" sz="2400" dirty="0">
                <a:solidFill/>
                <a:latin typeface="Times" pitchFamily="2" charset="0"/>
              </a:rPr>
              <a:t>](75.0 m)</a:t>
            </a:r>
          </a:p>
        </p:txBody>
      </p:sp>
      <p:sp>
        <p:nvSpPr>
          <p:cNvPr id="43" name="TextBox 42">
            <a:extLst>
              <a:ext uri="{FF2B5EF4-FFF2-40B4-BE49-F238E27FC236}">
                <a16:creationId xmlns:a16="http://schemas.microsoft.com/office/drawing/2014/main" id="{523C7443-91F9-783C-76B7-46318BFC5F7A}"/>
              </a:ext>
            </a:extLst>
          </p:cNvPr>
          <p:cNvSpPr txBox="1"/>
          <p:nvPr/>
        </p:nvSpPr>
        <p:spPr>
          <a:xfrm>
            <a:off x="10045150" y="5777940"/>
            <a:ext cx="1470990" cy="461665"/>
          </a:xfrm>
          <a:prstGeom prst="rect">
            <a:avLst/>
          </a:prstGeom>
          <a:noFill/>
        </p:spPr>
        <p:txBody>
          <a:bodyPr wrap="square" rtlCol="0">
            <a:spAutoFit/>
          </a:bodyPr>
          <a:lstStyle/>
          <a:p>
            <a:pPr/>
            <a:r>
              <a:rPr lang="en-US" sz="2400" dirty="0">
                <a:solidFill/>
                <a:latin typeface="Times" pitchFamily="2" charset="0"/>
              </a:rPr>
              <a:t>= 2170 J</a:t>
            </a:r>
          </a:p>
        </p:txBody>
      </p:sp>
      <p:sp>
        <p:nvSpPr>
          <p:cNvPr id="44" name="Rectangle 43">
            <a:extLst>
              <a:ext uri="{FF2B5EF4-FFF2-40B4-BE49-F238E27FC236}">
                <a16:creationId xmlns:a16="http://schemas.microsoft.com/office/drawing/2014/main" id="{3E5A2D3D-8211-67F2-6D5F-29EDD8BFA930}"/>
              </a:ext>
            </a:extLst>
          </p:cNvPr>
          <p:cNvSpPr/>
          <p:nvPr/>
        </p:nvSpPr>
        <p:spPr>
          <a:xfrm>
            <a:off x="10323444" y="5791192"/>
            <a:ext cx="914400" cy="39756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270041FE-16E5-2D64-D530-9D51849F40E7}"/>
              </a:ext>
            </a:extLst>
          </p:cNvPr>
          <p:cNvGrpSpPr/>
          <p:nvPr/>
        </p:nvGrpSpPr>
        <p:grpSpPr>
          <a:xfrm>
            <a:off x="245164" y="774471"/>
            <a:ext cx="11734801" cy="461665"/>
            <a:chOff x="324676" y="774471"/>
            <a:chExt cx="11734801" cy="461665"/>
          </a:xfrm>
        </p:grpSpPr>
        <p:sp>
          <p:nvSpPr>
            <p:cNvPr id="45" name="TextBox 44">
              <a:extLst>
                <a:ext uri="{FF2B5EF4-FFF2-40B4-BE49-F238E27FC236}">
                  <a16:creationId xmlns:a16="http://schemas.microsoft.com/office/drawing/2014/main" id="{7347C235-1B32-D3F5-8922-152D12CB4AE9}"/>
                </a:ext>
              </a:extLst>
            </p:cNvPr>
            <p:cNvSpPr txBox="1"/>
            <p:nvPr/>
          </p:nvSpPr>
          <p:spPr>
            <a:xfrm>
              <a:off x="324676" y="774471"/>
              <a:ext cx="11734801" cy="461665"/>
            </a:xfrm>
            <a:prstGeom prst="rect">
              <a:avLst/>
            </a:prstGeom>
            <a:noFill/>
          </p:spPr>
          <p:txBody>
            <a:bodyPr wrap="square">
              <a:spAutoFit/>
            </a:bodyPr>
            <a:lstStyle/>
            <a:p>
              <a:pPr algn="just"/>
              <a:r>
                <a:rPr lang="en-US" sz="2400" dirty="0">
                  <a:solidFill/>
                  <a:effectLst/>
                  <a:latin typeface="Times" pitchFamily="2" charset="0"/>
                </a:rPr>
                <a:t>Work is a                . </a:t>
              </a:r>
              <a:r>
                <a:rPr lang="en-US" sz="2400" dirty="0">
                  <a:solidFill/>
                  <a:latin typeface="Times" pitchFamily="2" charset="0"/>
                </a:rPr>
                <a:t> It can be either positive or negative.</a:t>
              </a:r>
              <a:endParaRPr lang="en-US" sz="2400" dirty="0">
                <a:effectLst/>
                <a:latin typeface="Times" pitchFamily="2" charset="0"/>
              </a:endParaRPr>
            </a:p>
          </p:txBody>
        </p:sp>
        <p:sp>
          <p:nvSpPr>
            <p:cNvPr id="46" name="Rounded Rectangle 45">
              <a:extLst>
                <a:ext uri="{FF2B5EF4-FFF2-40B4-BE49-F238E27FC236}">
                  <a16:creationId xmlns:a16="http://schemas.microsoft.com/office/drawing/2014/main" id="{BD62D719-F223-0C05-ECFD-E2846E1FF53E}"/>
                </a:ext>
              </a:extLst>
            </p:cNvPr>
            <p:cNvSpPr/>
            <p:nvPr/>
          </p:nvSpPr>
          <p:spPr>
            <a:xfrm>
              <a:off x="1683027" y="821636"/>
              <a:ext cx="1060174" cy="3313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TextBox 46">
            <a:extLst>
              <a:ext uri="{FF2B5EF4-FFF2-40B4-BE49-F238E27FC236}">
                <a16:creationId xmlns:a16="http://schemas.microsoft.com/office/drawing/2014/main" id="{D5D11733-F2E2-6A7B-DEEF-B3EAB2B74004}"/>
              </a:ext>
            </a:extLst>
          </p:cNvPr>
          <p:cNvSpPr txBox="1"/>
          <p:nvPr/>
        </p:nvSpPr>
        <p:spPr>
          <a:xfrm>
            <a:off x="1643271" y="821634"/>
            <a:ext cx="1126435"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scalar</a:t>
            </a:r>
          </a:p>
        </p:txBody>
      </p:sp>
      <p:grpSp>
        <p:nvGrpSpPr>
          <p:cNvPr id="58" name="Group 57">
            <a:extLst>
              <a:ext uri="{FF2B5EF4-FFF2-40B4-BE49-F238E27FC236}">
                <a16:creationId xmlns:a16="http://schemas.microsoft.com/office/drawing/2014/main" id="{62D33DDC-B0F3-D0E8-B580-0E61669D4D02}"/>
              </a:ext>
            </a:extLst>
          </p:cNvPr>
          <p:cNvGrpSpPr/>
          <p:nvPr/>
        </p:nvGrpSpPr>
        <p:grpSpPr>
          <a:xfrm>
            <a:off x="265043" y="1311184"/>
            <a:ext cx="11734801" cy="830997"/>
            <a:chOff x="344555" y="1311184"/>
            <a:chExt cx="11734801" cy="830997"/>
          </a:xfrm>
        </p:grpSpPr>
        <p:sp>
          <p:nvSpPr>
            <p:cNvPr id="49" name="TextBox 48">
              <a:extLst>
                <a:ext uri="{FF2B5EF4-FFF2-40B4-BE49-F238E27FC236}">
                  <a16:creationId xmlns:a16="http://schemas.microsoft.com/office/drawing/2014/main" id="{5284EE54-E851-1D5F-C82D-A0D72036A304}"/>
                </a:ext>
              </a:extLst>
            </p:cNvPr>
            <p:cNvSpPr txBox="1"/>
            <p:nvPr/>
          </p:nvSpPr>
          <p:spPr>
            <a:xfrm>
              <a:off x="344555" y="1311184"/>
              <a:ext cx="11734801" cy="830997"/>
            </a:xfrm>
            <a:prstGeom prst="rect">
              <a:avLst/>
            </a:prstGeom>
            <a:noFill/>
          </p:spPr>
          <p:txBody>
            <a:bodyPr wrap="square">
              <a:spAutoFit/>
            </a:bodyPr>
            <a:lstStyle/>
            <a:p>
              <a:pPr marL="1322388" indent="-1322388" algn="just"/>
              <a:r>
                <a:rPr lang="en-US" sz="2400" dirty="0">
                  <a:solidFill/>
                  <a:effectLst/>
                  <a:latin typeface="Times" pitchFamily="2" charset="0"/>
                </a:rPr>
                <a:t>If the force performing the work is in the </a:t>
              </a:r>
              <a:r>
                <a:rPr lang="en-US" sz="2400" dirty="0">
                  <a:solidFill/>
                  <a:latin typeface="Times" pitchFamily="2" charset="0"/>
                </a:rPr>
                <a:t>        </a:t>
              </a:r>
              <a:r>
                <a:rPr lang="en-US" sz="2400" dirty="0">
                  <a:solidFill/>
                  <a:effectLst/>
                  <a:latin typeface="Times" pitchFamily="2" charset="0"/>
                </a:rPr>
                <a:t>direction as the object’s displacement, then         work is done.  If it’s in the </a:t>
              </a:r>
              <a:r>
                <a:rPr lang="en-US" sz="2400" dirty="0">
                  <a:solidFill/>
                  <a:latin typeface="Times" pitchFamily="2" charset="0"/>
                </a:rPr>
                <a:t>                  </a:t>
              </a:r>
              <a:r>
                <a:rPr lang="en-US" sz="2400" dirty="0">
                  <a:solidFill/>
                  <a:effectLst/>
                  <a:latin typeface="Times" pitchFamily="2" charset="0"/>
                </a:rPr>
                <a:t>direction, then </a:t>
              </a:r>
              <a:r>
                <a:rPr lang="en-US" sz="2400" dirty="0">
                  <a:solidFill/>
                  <a:latin typeface="Times" pitchFamily="2" charset="0"/>
                </a:rPr>
                <a:t>                   </a:t>
              </a:r>
              <a:r>
                <a:rPr lang="en-US" sz="2400" dirty="0">
                  <a:solidFill/>
                  <a:effectLst/>
                  <a:latin typeface="Times" pitchFamily="2" charset="0"/>
                </a:rPr>
                <a:t>work is done.</a:t>
              </a:r>
            </a:p>
          </p:txBody>
        </p:sp>
        <p:sp>
          <p:nvSpPr>
            <p:cNvPr id="50" name="Rounded Rectangle 49">
              <a:extLst>
                <a:ext uri="{FF2B5EF4-FFF2-40B4-BE49-F238E27FC236}">
                  <a16:creationId xmlns:a16="http://schemas.microsoft.com/office/drawing/2014/main" id="{3B3F336B-5B17-B722-47F6-8D2D83FD6ECE}"/>
                </a:ext>
              </a:extLst>
            </p:cNvPr>
            <p:cNvSpPr/>
            <p:nvPr/>
          </p:nvSpPr>
          <p:spPr>
            <a:xfrm>
              <a:off x="5724939" y="1378226"/>
              <a:ext cx="821634" cy="3048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ounded Rectangle 50">
              <a:extLst>
                <a:ext uri="{FF2B5EF4-FFF2-40B4-BE49-F238E27FC236}">
                  <a16:creationId xmlns:a16="http://schemas.microsoft.com/office/drawing/2014/main" id="{A639EAF7-7592-59C6-4462-F934E5571948}"/>
                </a:ext>
              </a:extLst>
            </p:cNvPr>
            <p:cNvSpPr/>
            <p:nvPr/>
          </p:nvSpPr>
          <p:spPr>
            <a:xfrm>
              <a:off x="443947" y="1716155"/>
              <a:ext cx="1212573" cy="3511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ounded Rectangle 51">
              <a:extLst>
                <a:ext uri="{FF2B5EF4-FFF2-40B4-BE49-F238E27FC236}">
                  <a16:creationId xmlns:a16="http://schemas.microsoft.com/office/drawing/2014/main" id="{4F5D55AF-E780-1DC4-F5FE-6FAE154C4242}"/>
                </a:ext>
              </a:extLst>
            </p:cNvPr>
            <p:cNvSpPr/>
            <p:nvPr/>
          </p:nvSpPr>
          <p:spPr>
            <a:xfrm>
              <a:off x="5062330" y="1722782"/>
              <a:ext cx="1285461" cy="38431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ounded Rectangle 52">
              <a:extLst>
                <a:ext uri="{FF2B5EF4-FFF2-40B4-BE49-F238E27FC236}">
                  <a16:creationId xmlns:a16="http://schemas.microsoft.com/office/drawing/2014/main" id="{D1AA95F8-5681-5918-F33B-8FE9E42CDC11}"/>
                </a:ext>
              </a:extLst>
            </p:cNvPr>
            <p:cNvSpPr/>
            <p:nvPr/>
          </p:nvSpPr>
          <p:spPr>
            <a:xfrm>
              <a:off x="8289234" y="1742660"/>
              <a:ext cx="1345095" cy="3379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4" name="TextBox 53">
            <a:extLst>
              <a:ext uri="{FF2B5EF4-FFF2-40B4-BE49-F238E27FC236}">
                <a16:creationId xmlns:a16="http://schemas.microsoft.com/office/drawing/2014/main" id="{0A52B3EC-6ABA-ABE1-3691-F1EF7360E9B3}"/>
              </a:ext>
            </a:extLst>
          </p:cNvPr>
          <p:cNvSpPr txBox="1"/>
          <p:nvPr/>
        </p:nvSpPr>
        <p:spPr>
          <a:xfrm>
            <a:off x="5612298" y="1325217"/>
            <a:ext cx="1126435"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same</a:t>
            </a:r>
          </a:p>
        </p:txBody>
      </p:sp>
      <p:sp>
        <p:nvSpPr>
          <p:cNvPr id="55" name="TextBox 54">
            <a:extLst>
              <a:ext uri="{FF2B5EF4-FFF2-40B4-BE49-F238E27FC236}">
                <a16:creationId xmlns:a16="http://schemas.microsoft.com/office/drawing/2014/main" id="{D258607D-EEC5-C06E-5C75-75EC22CF2A4C}"/>
              </a:ext>
            </a:extLst>
          </p:cNvPr>
          <p:cNvSpPr txBox="1"/>
          <p:nvPr/>
        </p:nvSpPr>
        <p:spPr>
          <a:xfrm>
            <a:off x="304803" y="1649895"/>
            <a:ext cx="1616763"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positive</a:t>
            </a:r>
          </a:p>
        </p:txBody>
      </p:sp>
      <p:sp>
        <p:nvSpPr>
          <p:cNvPr id="56" name="TextBox 55">
            <a:extLst>
              <a:ext uri="{FF2B5EF4-FFF2-40B4-BE49-F238E27FC236}">
                <a16:creationId xmlns:a16="http://schemas.microsoft.com/office/drawing/2014/main" id="{CC0A03AE-DD2C-854E-421C-4C2C45E9A2C3}"/>
              </a:ext>
            </a:extLst>
          </p:cNvPr>
          <p:cNvSpPr txBox="1"/>
          <p:nvPr/>
        </p:nvSpPr>
        <p:spPr>
          <a:xfrm>
            <a:off x="4962943" y="1709529"/>
            <a:ext cx="1616763"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opposite</a:t>
            </a:r>
          </a:p>
        </p:txBody>
      </p:sp>
      <p:sp>
        <p:nvSpPr>
          <p:cNvPr id="57" name="TextBox 56">
            <a:extLst>
              <a:ext uri="{FF2B5EF4-FFF2-40B4-BE49-F238E27FC236}">
                <a16:creationId xmlns:a16="http://schemas.microsoft.com/office/drawing/2014/main" id="{F4D938EC-FD14-2782-A19D-6329254D933A}"/>
              </a:ext>
            </a:extLst>
          </p:cNvPr>
          <p:cNvSpPr txBox="1"/>
          <p:nvPr/>
        </p:nvSpPr>
        <p:spPr>
          <a:xfrm>
            <a:off x="8216351" y="1702902"/>
            <a:ext cx="1616763"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negative</a:t>
            </a:r>
          </a:p>
        </p:txBody>
      </p:sp>
      <p:sp>
        <p:nvSpPr>
          <p:cNvPr id="59" name="Rectangle 58">
            <a:extLst>
              <a:ext uri="{FF2B5EF4-FFF2-40B4-BE49-F238E27FC236}">
                <a16:creationId xmlns:a16="http://schemas.microsoft.com/office/drawing/2014/main" id="{9795F732-83BE-5BC8-B97B-FDA51B872F0B}"/>
              </a:ext>
            </a:extLst>
          </p:cNvPr>
          <p:cNvSpPr/>
          <p:nvPr/>
        </p:nvSpPr>
        <p:spPr>
          <a:xfrm>
            <a:off x="225288" y="755373"/>
            <a:ext cx="11754678" cy="1537253"/>
          </a:xfrm>
          <a:prstGeom prst="rect">
            <a:avLst/>
          </a:prstGeom>
          <a:noFill/>
          <a:ln w="38100">
            <a:solidFill>
              <a:srgbClr val="C069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B041E340-F016-5FF0-F841-E13175D1C9B4}"/>
              </a:ext>
            </a:extLst>
          </p:cNvPr>
          <p:cNvSpPr txBox="1"/>
          <p:nvPr/>
        </p:nvSpPr>
        <p:spPr>
          <a:xfrm>
            <a:off x="8215969" y="807058"/>
            <a:ext cx="4943061" cy="461665"/>
          </a:xfrm>
          <a:prstGeom prst="rect">
            <a:avLst/>
          </a:prstGeom>
          <a:noFill/>
        </p:spPr>
        <p:txBody>
          <a:bodyPr wrap="square" rtlCol="0">
            <a:spAutoFit/>
          </a:bodyPr>
          <a:lstStyle/>
          <a:p>
            <a:pPr/>
            <a:r>
              <a:rPr lang="en-US" sz="2400" dirty="0">
                <a:solidFill>
                  <a:srgbClr val="C0694F"/>
                </a:solidFill>
                <a:latin typeface="Times New Roman" panose="02020603050405020304" pitchFamily="18" charset="0"/>
                <a:cs typeface="Times New Roman" panose="02020603050405020304" pitchFamily="18" charset="0"/>
              </a:rPr>
              <a:t>Problem-Solving Insight</a:t>
            </a:r>
          </a:p>
        </p:txBody>
      </p:sp>
    </p:spTree>
    <p:extLst>
      <p:ext uri="{BB962C8B-B14F-4D97-AF65-F5344CB8AC3E}">
        <p14:creationId xmlns:p14="http://schemas.microsoft.com/office/powerpoint/2010/main" val="134482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dissolve">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dissolve">
                                      <p:cBhvr>
                                        <p:cTn id="12" dur="500"/>
                                        <p:tgtEl>
                                          <p:spTgt spid="4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dissolve">
                                      <p:cBhvr>
                                        <p:cTn id="17" dur="500"/>
                                        <p:tgtEl>
                                          <p:spTgt spid="5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4"/>
                                        </p:tgtEl>
                                        <p:attrNameLst>
                                          <p:attrName>style.visibility</p:attrName>
                                        </p:attrNameLst>
                                      </p:cBhvr>
                                      <p:to>
                                        <p:strVal val="visible"/>
                                      </p:to>
                                    </p:set>
                                    <p:animEffect transition="in" filter="dissolve">
                                      <p:cBhvr>
                                        <p:cTn id="22" dur="500"/>
                                        <p:tgtEl>
                                          <p:spTgt spid="5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dissolve">
                                      <p:cBhvr>
                                        <p:cTn id="27" dur="5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6"/>
                                        </p:tgtEl>
                                        <p:attrNameLst>
                                          <p:attrName>style.visibility</p:attrName>
                                        </p:attrNameLst>
                                      </p:cBhvr>
                                      <p:to>
                                        <p:strVal val="visible"/>
                                      </p:to>
                                    </p:set>
                                    <p:animEffect transition="in" filter="dissolve">
                                      <p:cBhvr>
                                        <p:cTn id="32" dur="500"/>
                                        <p:tgtEl>
                                          <p:spTgt spid="5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dissolve">
                                      <p:cBhvr>
                                        <p:cTn id="37" dur="500"/>
                                        <p:tgtEl>
                                          <p:spTgt spid="57"/>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dissolve">
                                      <p:cBhvr>
                                        <p:cTn id="42" dur="500"/>
                                        <p:tgtEl>
                                          <p:spTgt spid="5"/>
                                        </p:tgtEl>
                                      </p:cBhvr>
                                    </p:animEffect>
                                  </p:childTnLst>
                                </p:cTn>
                              </p:par>
                              <p:par>
                                <p:cTn id="43" presetID="9" presetClass="entr" presetSubtype="0"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dissolve">
                                      <p:cBhvr>
                                        <p:cTn id="45" dur="500"/>
                                        <p:tgtEl>
                                          <p:spTgt spid="20"/>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dissolve">
                                      <p:cBhvr>
                                        <p:cTn id="50" dur="500"/>
                                        <p:tgtEl>
                                          <p:spTgt spid="24"/>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33"/>
                                        </p:tgtEl>
                                        <p:attrNameLst>
                                          <p:attrName>style.visibility</p:attrName>
                                        </p:attrNameLst>
                                      </p:cBhvr>
                                      <p:to>
                                        <p:strVal val="visible"/>
                                      </p:to>
                                    </p:set>
                                    <p:animEffect transition="in" filter="dissolve">
                                      <p:cBhvr>
                                        <p:cTn id="55" dur="500"/>
                                        <p:tgtEl>
                                          <p:spTgt spid="33"/>
                                        </p:tgtEl>
                                      </p:cBhvr>
                                    </p:animEffect>
                                  </p:childTnLst>
                                </p:cTn>
                              </p:par>
                            </p:childTnLst>
                          </p:cTn>
                        </p:par>
                        <p:par>
                          <p:cTn id="56" fill="hold">
                            <p:stCondLst>
                              <p:cond delay="500"/>
                            </p:stCondLst>
                            <p:childTnLst>
                              <p:par>
                                <p:cTn id="57" presetID="9" presetClass="entr" presetSubtype="0" fill="hold" grpId="0" nodeType="after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dissolve">
                                      <p:cBhvr>
                                        <p:cTn id="59" dur="500"/>
                                        <p:tgtEl>
                                          <p:spTgt spid="34"/>
                                        </p:tgtEl>
                                      </p:cBhvr>
                                    </p:animEffec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nodeType="clickEffect">
                                  <p:stCondLst>
                                    <p:cond delay="0"/>
                                  </p:stCondLst>
                                  <p:childTnLst>
                                    <p:set>
                                      <p:cBhvr>
                                        <p:cTn id="63" dur="1" fill="hold">
                                          <p:stCondLst>
                                            <p:cond delay="0"/>
                                          </p:stCondLst>
                                        </p:cTn>
                                        <p:tgtEl>
                                          <p:spTgt spid="41"/>
                                        </p:tgtEl>
                                        <p:attrNameLst>
                                          <p:attrName>style.visibility</p:attrName>
                                        </p:attrNameLst>
                                      </p:cBhvr>
                                      <p:to>
                                        <p:strVal val="visible"/>
                                      </p:to>
                                    </p:set>
                                    <p:animEffect transition="in" filter="dissolve">
                                      <p:cBhvr>
                                        <p:cTn id="64" dur="500"/>
                                        <p:tgtEl>
                                          <p:spTgt spid="41"/>
                                        </p:tgtEl>
                                      </p:cBhvr>
                                    </p:animEffect>
                                  </p:childTnLst>
                                </p:cTn>
                              </p:par>
                            </p:childTnLst>
                          </p:cTn>
                        </p:par>
                      </p:childTnLst>
                    </p:cTn>
                  </p:par>
                  <p:par>
                    <p:cTn id="65" fill="hold">
                      <p:stCondLst>
                        <p:cond delay="indefinite"/>
                      </p:stCondLst>
                      <p:childTnLst>
                        <p:par>
                          <p:cTn id="66" fill="hold">
                            <p:stCondLst>
                              <p:cond delay="0"/>
                            </p:stCondLst>
                            <p:childTnLst>
                              <p:par>
                                <p:cTn id="67" presetID="9" presetClass="entr" presetSubtype="0" fill="hold" grpId="0" nodeType="click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dissolve">
                                      <p:cBhvr>
                                        <p:cTn id="69" dur="500"/>
                                        <p:tgtEl>
                                          <p:spTgt spid="39"/>
                                        </p:tgtEl>
                                      </p:cBhvr>
                                    </p:animEffect>
                                  </p:childTnLst>
                                </p:cTn>
                              </p:par>
                            </p:childTnLst>
                          </p:cTn>
                        </p:par>
                      </p:childTnLst>
                    </p:cTn>
                  </p:par>
                  <p:par>
                    <p:cTn id="70" fill="hold">
                      <p:stCondLst>
                        <p:cond delay="indefinite"/>
                      </p:stCondLst>
                      <p:childTnLst>
                        <p:par>
                          <p:cTn id="71" fill="hold">
                            <p:stCondLst>
                              <p:cond delay="0"/>
                            </p:stCondLst>
                            <p:childTnLst>
                              <p:par>
                                <p:cTn id="72" presetID="9" presetClass="entr" presetSubtype="0" fill="hold" grpId="0" nodeType="clickEffect">
                                  <p:stCondLst>
                                    <p:cond delay="0"/>
                                  </p:stCondLst>
                                  <p:childTnLst>
                                    <p:set>
                                      <p:cBhvr>
                                        <p:cTn id="73" dur="1" fill="hold">
                                          <p:stCondLst>
                                            <p:cond delay="0"/>
                                          </p:stCondLst>
                                        </p:cTn>
                                        <p:tgtEl>
                                          <p:spTgt spid="42"/>
                                        </p:tgtEl>
                                        <p:attrNameLst>
                                          <p:attrName>style.visibility</p:attrName>
                                        </p:attrNameLst>
                                      </p:cBhvr>
                                      <p:to>
                                        <p:strVal val="visible"/>
                                      </p:to>
                                    </p:set>
                                    <p:animEffect transition="in" filter="dissolve">
                                      <p:cBhvr>
                                        <p:cTn id="74" dur="500"/>
                                        <p:tgtEl>
                                          <p:spTgt spid="42"/>
                                        </p:tgtEl>
                                      </p:cBhvr>
                                    </p:animEffect>
                                  </p:childTnLst>
                                </p:cTn>
                              </p:par>
                            </p:childTnLst>
                          </p:cTn>
                        </p:par>
                      </p:childTnLst>
                    </p:cTn>
                  </p:par>
                  <p:par>
                    <p:cTn id="75" fill="hold">
                      <p:stCondLst>
                        <p:cond delay="indefinite"/>
                      </p:stCondLst>
                      <p:childTnLst>
                        <p:par>
                          <p:cTn id="76" fill="hold">
                            <p:stCondLst>
                              <p:cond delay="0"/>
                            </p:stCondLst>
                            <p:childTnLst>
                              <p:par>
                                <p:cTn id="77" presetID="9" presetClass="entr" presetSubtype="0" fill="hold" grpId="0" nodeType="clickEffect">
                                  <p:stCondLst>
                                    <p:cond delay="0"/>
                                  </p:stCondLst>
                                  <p:childTnLst>
                                    <p:set>
                                      <p:cBhvr>
                                        <p:cTn id="78" dur="1" fill="hold">
                                          <p:stCondLst>
                                            <p:cond delay="0"/>
                                          </p:stCondLst>
                                        </p:cTn>
                                        <p:tgtEl>
                                          <p:spTgt spid="43"/>
                                        </p:tgtEl>
                                        <p:attrNameLst>
                                          <p:attrName>style.visibility</p:attrName>
                                        </p:attrNameLst>
                                      </p:cBhvr>
                                      <p:to>
                                        <p:strVal val="visible"/>
                                      </p:to>
                                    </p:set>
                                    <p:animEffect transition="in" filter="dissolve">
                                      <p:cBhvr>
                                        <p:cTn id="79" dur="500"/>
                                        <p:tgtEl>
                                          <p:spTgt spid="43"/>
                                        </p:tgtEl>
                                      </p:cBhvr>
                                    </p:animEffect>
                                  </p:childTnLst>
                                </p:cTn>
                              </p:par>
                            </p:childTnLst>
                          </p:cTn>
                        </p:par>
                        <p:par>
                          <p:cTn id="80" fill="hold">
                            <p:stCondLst>
                              <p:cond delay="500"/>
                            </p:stCondLst>
                            <p:childTnLst>
                              <p:par>
                                <p:cTn id="81" presetID="9" presetClass="entr" presetSubtype="0" fill="hold" grpId="0" nodeType="afterEffect">
                                  <p:stCondLst>
                                    <p:cond delay="0"/>
                                  </p:stCondLst>
                                  <p:childTnLst>
                                    <p:set>
                                      <p:cBhvr>
                                        <p:cTn id="82" dur="1" fill="hold">
                                          <p:stCondLst>
                                            <p:cond delay="0"/>
                                          </p:stCondLst>
                                        </p:cTn>
                                        <p:tgtEl>
                                          <p:spTgt spid="44"/>
                                        </p:tgtEl>
                                        <p:attrNameLst>
                                          <p:attrName>style.visibility</p:attrName>
                                        </p:attrNameLst>
                                      </p:cBhvr>
                                      <p:to>
                                        <p:strVal val="visible"/>
                                      </p:to>
                                    </p:set>
                                    <p:animEffect transition="in" filter="dissolve">
                                      <p:cBhvr>
                                        <p:cTn id="83"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9" grpId="0"/>
      <p:bldP spid="42" grpId="0"/>
      <p:bldP spid="43" grpId="0"/>
      <p:bldP spid="44" grpId="0" animBg="1"/>
      <p:bldP spid="47" grpId="0"/>
      <p:bldP spid="54" grpId="0"/>
      <p:bldP spid="55" grpId="0"/>
      <p:bldP spid="56" grpId="0"/>
      <p:bldP spid="5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8693B-F4AB-91F5-BE32-60CE2F71B6C4}"/>
            </a:ext>
          </a:extLst>
        </p:cNvPr>
        <p:cNvGrpSpPr/>
        <p:nvPr/>
      </p:nvGrpSpPr>
      <p:grpSpPr>
        <a:xfrm>
          <a:off x="0" y="0"/>
          <a:ext cx="0" cy="0"/>
          <a:chOff x="0" y="0"/>
          <a:chExt cx="0" cy="0"/>
        </a:xfrm>
      </p:grpSpPr>
      <p:sp>
        <p:nvSpPr>
          <p:cNvPr id="7" name="Rounded Rectangle 6">
            <a:extLst>
              <a:ext uri="{FF2B5EF4-FFF2-40B4-BE49-F238E27FC236}">
                <a16:creationId xmlns:a16="http://schemas.microsoft.com/office/drawing/2014/main" id="{0F7A46A3-5E02-D0B8-2BF4-8098D520F5BD}"/>
              </a:ext>
            </a:extLst>
          </p:cNvPr>
          <p:cNvSpPr/>
          <p:nvPr/>
        </p:nvSpPr>
        <p:spPr>
          <a:xfrm>
            <a:off x="1258256" y="4541909"/>
            <a:ext cx="685137" cy="4216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62108F-69EB-CA00-B2F4-3868B1AC6A1F}"/>
              </a:ext>
            </a:extLst>
          </p:cNvPr>
          <p:cNvSpPr>
            <a:spLocks noGrp="1"/>
          </p:cNvSpPr>
          <p:nvPr>
            <p:ph type="title"/>
          </p:nvPr>
        </p:nvSpPr>
        <p:spPr>
          <a:xfrm>
            <a:off x="685805" y="155459"/>
            <a:ext cx="10820401" cy="849312"/>
          </a:xfrm>
        </p:spPr>
        <p:txBody>
          <a:bodyPr/>
          <a:lstStyle/>
          <a:p>
            <a:pPr/>
            <a:r>
              <a:rPr lang="en-US" b="1" dirty="0">
                <a:solidFill/>
                <a:ea typeface="Calibri" charset="0"/>
                <a:cs typeface="Calibri" charset="0"/>
              </a:rPr>
              <a:t>6.1</a:t>
            </a:r>
            <a:r>
              <a:rPr lang="en-US" dirty="0">
                <a:solidFill/>
                <a:ea typeface="Calibri" charset="0"/>
                <a:cs typeface="Calibri" charset="0"/>
              </a:rPr>
              <a:t> Work Done by a Constant Force</a:t>
            </a:r>
            <a:endParaRPr lang="en-US" sz="3000" dirty="0"/>
          </a:p>
        </p:txBody>
      </p:sp>
      <p:grpSp>
        <p:nvGrpSpPr>
          <p:cNvPr id="3" name="Group 2">
            <a:extLst>
              <a:ext uri="{FF2B5EF4-FFF2-40B4-BE49-F238E27FC236}">
                <a16:creationId xmlns:a16="http://schemas.microsoft.com/office/drawing/2014/main" id="{07C7657B-6D80-E290-A87B-D27B45CF1166}"/>
              </a:ext>
            </a:extLst>
          </p:cNvPr>
          <p:cNvGrpSpPr/>
          <p:nvPr/>
        </p:nvGrpSpPr>
        <p:grpSpPr>
          <a:xfrm>
            <a:off x="819648" y="913831"/>
            <a:ext cx="10548597" cy="4958501"/>
            <a:chOff x="1302027" y="3881523"/>
            <a:chExt cx="10548597" cy="4958501"/>
          </a:xfrm>
        </p:grpSpPr>
        <p:sp>
          <p:nvSpPr>
            <p:cNvPr id="4" name="TextBox 3">
              <a:extLst>
                <a:ext uri="{FF2B5EF4-FFF2-40B4-BE49-F238E27FC236}">
                  <a16:creationId xmlns:a16="http://schemas.microsoft.com/office/drawing/2014/main" id="{357707EB-0FB0-EA53-D6DC-0854D9FA77FE}"/>
                </a:ext>
              </a:extLst>
            </p:cNvPr>
            <p:cNvSpPr txBox="1"/>
            <p:nvPr/>
          </p:nvSpPr>
          <p:spPr>
            <a:xfrm>
              <a:off x="1302027" y="3881523"/>
              <a:ext cx="10548597" cy="2677656"/>
            </a:xfrm>
            <a:prstGeom prst="rect">
              <a:avLst/>
            </a:prstGeom>
            <a:noFill/>
          </p:spPr>
          <p:txBody>
            <a:bodyPr wrap="square" rtlCol="0">
              <a:spAutoFit/>
            </a:bodyPr>
            <a:lstStyle/>
            <a:p>
              <a:pPr algn="just"/>
              <a:r>
                <a:rPr lang="en-US" sz="2800" dirty="0">
                  <a:solidFill>
                    <a:srgbClr val="3E5891"/>
                  </a:solidFill>
                  <a:latin typeface="Times" pitchFamily="2" charset="0"/>
                </a:rPr>
                <a:t>CYU/TPS – Two forces </a:t>
              </a:r>
              <a:r>
                <a:rPr lang="en-US" sz="2800" b="1" dirty="0">
                  <a:solidFill>
                    <a:srgbClr val="3E5891"/>
                  </a:solidFill>
                  <a:latin typeface="Times" pitchFamily="2" charset="0"/>
                </a:rPr>
                <a:t>F</a:t>
              </a:r>
              <a:r>
                <a:rPr lang="en-US" sz="2800" b="1" baseline="-25000" dirty="0">
                  <a:solidFill>
                    <a:srgbClr val="3E5891"/>
                  </a:solidFill>
                  <a:latin typeface="Times" pitchFamily="2" charset="0"/>
                </a:rPr>
                <a:t>1</a:t>
              </a:r>
              <a:r>
                <a:rPr lang="en-US" sz="2800" dirty="0">
                  <a:solidFill>
                    <a:srgbClr val="3E5891"/>
                  </a:solidFill>
                  <a:latin typeface="Times" pitchFamily="2" charset="0"/>
                </a:rPr>
                <a:t> and </a:t>
              </a:r>
              <a:r>
                <a:rPr lang="en-US" sz="2800" b="1" dirty="0">
                  <a:solidFill>
                    <a:srgbClr val="3E5891"/>
                  </a:solidFill>
                  <a:latin typeface="Times" pitchFamily="2" charset="0"/>
                </a:rPr>
                <a:t>F</a:t>
              </a:r>
              <a:r>
                <a:rPr lang="en-US" sz="2800" b="1" baseline="-25000" dirty="0">
                  <a:solidFill>
                    <a:srgbClr val="3E5891"/>
                  </a:solidFill>
                  <a:latin typeface="Times" pitchFamily="2" charset="0"/>
                </a:rPr>
                <a:t>2</a:t>
              </a:r>
              <a:r>
                <a:rPr lang="en-US" sz="2800" dirty="0">
                  <a:solidFill>
                    <a:srgbClr val="3E5891"/>
                  </a:solidFill>
                  <a:latin typeface="Times" pitchFamily="2" charset="0"/>
                </a:rPr>
                <a:t> are acting on the box shown in the figure, causing the box to move across the floor. </a:t>
              </a:r>
              <a:r>
                <a:rPr lang="en-US" sz="2800" u="sng" dirty="0">
                  <a:solidFill>
                    <a:srgbClr val="3E5891"/>
                  </a:solidFill>
                  <a:latin typeface="Times" pitchFamily="2" charset="0"/>
                </a:rPr>
                <a:t>The two force vectors are drawn to scale</a:t>
              </a:r>
              <a:r>
                <a:rPr lang="en-US" sz="2800" dirty="0">
                  <a:solidFill>
                    <a:srgbClr val="3E5891"/>
                  </a:solidFill>
                  <a:latin typeface="Times" pitchFamily="2" charset="0"/>
                </a:rPr>
                <a:t>. Which one of the following statements is correct? (</a:t>
              </a:r>
              <a:r>
                <a:rPr lang="en-US" sz="2800" b="1" dirty="0">
                  <a:solidFill>
                    <a:srgbClr val="3E5891"/>
                  </a:solidFill>
                  <a:latin typeface="Times" pitchFamily="2" charset="0"/>
                </a:rPr>
                <a:t>a</a:t>
              </a:r>
              <a:r>
                <a:rPr lang="en-US" sz="2800" dirty="0">
                  <a:solidFill>
                    <a:srgbClr val="3E5891"/>
                  </a:solidFill>
                  <a:latin typeface="Times" pitchFamily="2" charset="0"/>
                </a:rPr>
                <a:t>)  </a:t>
              </a:r>
              <a:r>
                <a:rPr lang="en-US" sz="2800" b="1" dirty="0">
                  <a:solidFill>
                    <a:srgbClr val="3E5891"/>
                  </a:solidFill>
                  <a:latin typeface="Times" pitchFamily="2" charset="0"/>
                </a:rPr>
                <a:t>F</a:t>
              </a:r>
              <a:r>
                <a:rPr lang="en-US" sz="2800" b="1" baseline="-25000" dirty="0">
                  <a:solidFill>
                    <a:srgbClr val="3E5891"/>
                  </a:solidFill>
                  <a:latin typeface="Times" pitchFamily="2" charset="0"/>
                </a:rPr>
                <a:t>2</a:t>
              </a:r>
              <a:r>
                <a:rPr lang="en-US" sz="2800" dirty="0">
                  <a:solidFill>
                    <a:srgbClr val="3E5891"/>
                  </a:solidFill>
                  <a:latin typeface="Times" pitchFamily="2" charset="0"/>
                </a:rPr>
                <a:t> does more work than </a:t>
              </a:r>
              <a:r>
                <a:rPr lang="en-US" sz="2800" b="1" dirty="0">
                  <a:solidFill>
                    <a:srgbClr val="3E5891"/>
                  </a:solidFill>
                  <a:latin typeface="Times" pitchFamily="2" charset="0"/>
                </a:rPr>
                <a:t>F</a:t>
              </a:r>
              <a:r>
                <a:rPr lang="en-US" sz="2800" b="1" baseline="-25000" dirty="0">
                  <a:solidFill>
                    <a:srgbClr val="3E5891"/>
                  </a:solidFill>
                  <a:latin typeface="Times" pitchFamily="2" charset="0"/>
                </a:rPr>
                <a:t>1</a:t>
              </a:r>
              <a:r>
                <a:rPr lang="en-US" sz="2800" dirty="0">
                  <a:solidFill>
                    <a:srgbClr val="3E5891"/>
                  </a:solidFill>
                  <a:latin typeface="Times" pitchFamily="2" charset="0"/>
                </a:rPr>
                <a:t> does. (</a:t>
              </a:r>
              <a:r>
                <a:rPr lang="en-US" sz="2800" b="1" dirty="0">
                  <a:solidFill>
                    <a:srgbClr val="3E5891"/>
                  </a:solidFill>
                  <a:latin typeface="Times" pitchFamily="2" charset="0"/>
                </a:rPr>
                <a:t>b</a:t>
              </a:r>
              <a:r>
                <a:rPr lang="en-US" sz="2800" dirty="0">
                  <a:solidFill>
                    <a:srgbClr val="3E5891"/>
                  </a:solidFill>
                  <a:latin typeface="Times" pitchFamily="2" charset="0"/>
                </a:rPr>
                <a:t>) </a:t>
              </a:r>
              <a:r>
                <a:rPr lang="en-US" sz="2800" b="1" dirty="0">
                  <a:solidFill>
                    <a:srgbClr val="3E5891"/>
                  </a:solidFill>
                  <a:latin typeface="Times" pitchFamily="2" charset="0"/>
                </a:rPr>
                <a:t>F</a:t>
              </a:r>
              <a:r>
                <a:rPr lang="en-US" sz="2800" b="1" baseline="-25000" dirty="0">
                  <a:solidFill>
                    <a:srgbClr val="3E5891"/>
                  </a:solidFill>
                  <a:latin typeface="Times" pitchFamily="2" charset="0"/>
                </a:rPr>
                <a:t>1</a:t>
              </a:r>
              <a:r>
                <a:rPr lang="en-US" sz="2800" dirty="0">
                  <a:solidFill>
                    <a:srgbClr val="3E5891"/>
                  </a:solidFill>
                  <a:latin typeface="Times" pitchFamily="2" charset="0"/>
                </a:rPr>
                <a:t> does more work than </a:t>
              </a:r>
              <a:r>
                <a:rPr lang="en-US" sz="2800" b="1" dirty="0">
                  <a:solidFill>
                    <a:srgbClr val="3E5891"/>
                  </a:solidFill>
                  <a:latin typeface="Times" pitchFamily="2" charset="0"/>
                </a:rPr>
                <a:t>F</a:t>
              </a:r>
              <a:r>
                <a:rPr lang="en-US" sz="2800" b="1" baseline="-25000" dirty="0">
                  <a:solidFill>
                    <a:srgbClr val="3E5891"/>
                  </a:solidFill>
                  <a:latin typeface="Times" pitchFamily="2" charset="0"/>
                </a:rPr>
                <a:t>2</a:t>
              </a:r>
              <a:r>
                <a:rPr lang="en-US" sz="2800" dirty="0">
                  <a:solidFill>
                    <a:srgbClr val="3E5891"/>
                  </a:solidFill>
                  <a:latin typeface="Times" pitchFamily="2" charset="0"/>
                </a:rPr>
                <a:t> does. (</a:t>
              </a:r>
              <a:r>
                <a:rPr lang="en-US" sz="2800" b="1" dirty="0">
                  <a:solidFill>
                    <a:srgbClr val="3E5891"/>
                  </a:solidFill>
                  <a:latin typeface="Times" pitchFamily="2" charset="0"/>
                </a:rPr>
                <a:t>c</a:t>
              </a:r>
              <a:r>
                <a:rPr lang="en-US" sz="2800" dirty="0">
                  <a:solidFill>
                    <a:srgbClr val="3E5891"/>
                  </a:solidFill>
                  <a:latin typeface="Times" pitchFamily="2" charset="0"/>
                </a:rPr>
                <a:t>) Both forces do the same amount of work. (</a:t>
              </a:r>
              <a:r>
                <a:rPr lang="en-US" sz="2800" b="1" dirty="0">
                  <a:solidFill>
                    <a:srgbClr val="3E5891"/>
                  </a:solidFill>
                  <a:latin typeface="Times" pitchFamily="2" charset="0"/>
                </a:rPr>
                <a:t>d</a:t>
              </a:r>
              <a:r>
                <a:rPr lang="en-US" sz="2800" dirty="0">
                  <a:solidFill>
                    <a:srgbClr val="3E5891"/>
                  </a:solidFill>
                  <a:latin typeface="Times" pitchFamily="2" charset="0"/>
                </a:rPr>
                <a:t>) Neither force does any work.</a:t>
              </a:r>
              <a:endParaRPr lang="en-US" sz="2800" dirty="0">
                <a:solidFill>
                  <a:srgbClr val="3E5891"/>
                </a:solidFill>
                <a:latin typeface="Times" pitchFamily="2" charset="0"/>
                <a:cs typeface="Times New Roman" panose="02020603050405020304" pitchFamily="18" charset="0"/>
              </a:endParaRPr>
            </a:p>
          </p:txBody>
        </p:sp>
        <p:sp>
          <p:nvSpPr>
            <p:cNvPr id="6" name="TextBox 5">
              <a:extLst>
                <a:ext uri="{FF2B5EF4-FFF2-40B4-BE49-F238E27FC236}">
                  <a16:creationId xmlns:a16="http://schemas.microsoft.com/office/drawing/2014/main" id="{7FC32306-CF1C-7795-C0A6-5AA43FDB0477}"/>
                </a:ext>
              </a:extLst>
            </p:cNvPr>
            <p:cNvSpPr txBox="1"/>
            <p:nvPr/>
          </p:nvSpPr>
          <p:spPr>
            <a:xfrm>
              <a:off x="1318194" y="7024142"/>
              <a:ext cx="2005451" cy="1815882"/>
            </a:xfrm>
            <a:prstGeom prst="rect">
              <a:avLst/>
            </a:prstGeom>
            <a:noFill/>
          </p:spPr>
          <p:txBody>
            <a:bodyPr wrap="square" rtlCol="0">
              <a:spAutoFit/>
            </a:bodyPr>
            <a:lstStyle/>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a</a:t>
              </a:r>
              <a:r>
                <a:rPr lang="en-US" sz="2800" dirty="0">
                  <a:solidFill>
                    <a:srgbClr val="3E5891"/>
                  </a:solidFill>
                  <a:latin typeface="Times" pitchFamily="2" charset="0"/>
                  <a:cs typeface="Times New Roman" panose="02020603050405020304" pitchFamily="18" charset="0"/>
                </a:rPr>
                <a:t>)</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b</a:t>
              </a:r>
              <a:r>
                <a:rPr lang="en-US" sz="2800" dirty="0">
                  <a:solidFill>
                    <a:srgbClr val="3E5891"/>
                  </a:solidFill>
                  <a:latin typeface="Times" pitchFamily="2" charset="0"/>
                  <a:cs typeface="Times New Roman" panose="02020603050405020304" pitchFamily="18" charset="0"/>
                </a:rPr>
                <a:t>)</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c</a:t>
              </a:r>
              <a:r>
                <a:rPr lang="en-US" sz="2800" dirty="0">
                  <a:solidFill>
                    <a:srgbClr val="3E5891"/>
                  </a:solidFill>
                  <a:latin typeface="Times" pitchFamily="2" charset="0"/>
                  <a:cs typeface="Times New Roman" panose="02020603050405020304" pitchFamily="18" charset="0"/>
                </a:rPr>
                <a:t>)</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d</a:t>
              </a:r>
              <a:r>
                <a:rPr lang="en-US" sz="2800" dirty="0">
                  <a:solidFill>
                    <a:srgbClr val="3E5891"/>
                  </a:solidFill>
                  <a:latin typeface="Times" pitchFamily="2" charset="0"/>
                  <a:cs typeface="Times New Roman" panose="02020603050405020304" pitchFamily="18" charset="0"/>
                </a:rPr>
                <a:t>)</a:t>
              </a:r>
            </a:p>
          </p:txBody>
        </p:sp>
      </p:grpSp>
      <p:sp>
        <p:nvSpPr>
          <p:cNvPr id="8" name="TextBox 7">
            <a:extLst>
              <a:ext uri="{FF2B5EF4-FFF2-40B4-BE49-F238E27FC236}">
                <a16:creationId xmlns:a16="http://schemas.microsoft.com/office/drawing/2014/main" id="{F882BD5E-A1C2-798D-7E43-1058F309C2D8}"/>
              </a:ext>
            </a:extLst>
          </p:cNvPr>
          <p:cNvSpPr txBox="1"/>
          <p:nvPr/>
        </p:nvSpPr>
        <p:spPr>
          <a:xfrm rot="2431060">
            <a:off x="2416151" y="4755584"/>
            <a:ext cx="1988191" cy="461665"/>
          </a:xfrm>
          <a:prstGeom prst="rect">
            <a:avLst/>
          </a:prstGeom>
          <a:noFill/>
        </p:spPr>
        <p:txBody>
          <a:bodyPr wrap="square" rtlCol="0">
            <a:spAutoFit/>
          </a:bodyPr>
          <a:lstStyle/>
          <a:p>
            <a:pPr/>
            <a:r>
              <a:rPr lang="en-US" sz="2400" dirty="0">
                <a:solidFill>
                  <a:srgbClr val="007440"/>
                </a:solidFill>
                <a:latin typeface="Chalkduster" panose="03050602040202020205" pitchFamily="66" charset="77"/>
              </a:rPr>
              <a:t>Discuss!</a:t>
            </a:r>
          </a:p>
        </p:txBody>
      </p:sp>
      <p:pic>
        <p:nvPicPr>
          <p:cNvPr id="11" name="Picture 10">
            <a:extLst>
              <a:ext uri="{FF2B5EF4-FFF2-40B4-BE49-F238E27FC236}">
                <a16:creationId xmlns:a16="http://schemas.microsoft.com/office/drawing/2014/main" id="{CB453FF5-D762-1492-37E6-BCC1DDA60273}"/>
              </a:ext>
            </a:extLst>
          </p:cNvPr>
          <p:cNvPicPr>
            <a:picLocks noChangeAspect="1"/>
          </p:cNvPicPr>
          <p:nvPr/>
        </p:nvPicPr>
        <p:blipFill>
          <a:blip r:embed="rId3"/>
          <a:stretch>
            <a:fillRect/>
          </a:stretch>
        </p:blipFill>
        <p:spPr>
          <a:xfrm>
            <a:off x="4344781" y="3449706"/>
            <a:ext cx="3263900" cy="2476500"/>
          </a:xfrm>
          <a:prstGeom prst="rect">
            <a:avLst/>
          </a:prstGeom>
        </p:spPr>
      </p:pic>
    </p:spTree>
    <p:extLst>
      <p:ext uri="{BB962C8B-B14F-4D97-AF65-F5344CB8AC3E}">
        <p14:creationId xmlns:p14="http://schemas.microsoft.com/office/powerpoint/2010/main" val="3494762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dissolv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3805B-A7B1-D473-50BE-10468B3778C2}"/>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CB4FAA7F-A3A1-EC88-513E-C9931565FEFF}"/>
              </a:ext>
            </a:extLst>
          </p:cNvPr>
          <p:cNvSpPr/>
          <p:nvPr/>
        </p:nvSpPr>
        <p:spPr>
          <a:xfrm>
            <a:off x="0" y="861392"/>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790DB7-45BA-363E-B413-8DB394680BEB}"/>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sp>
        <p:nvSpPr>
          <p:cNvPr id="5" name="Content Placeholder 2">
            <a:extLst>
              <a:ext uri="{FF2B5EF4-FFF2-40B4-BE49-F238E27FC236}">
                <a16:creationId xmlns:a16="http://schemas.microsoft.com/office/drawing/2014/main" id="{CE1A8E07-879A-7441-5C22-F769EE35EF68}"/>
              </a:ext>
            </a:extLst>
          </p:cNvPr>
          <p:cNvSpPr txBox="1">
            <a:spLocks/>
          </p:cNvSpPr>
          <p:nvPr/>
        </p:nvSpPr>
        <p:spPr>
          <a:xfrm>
            <a:off x="959715" y="875571"/>
            <a:ext cx="10820401" cy="542409"/>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6.2 </a:t>
            </a:r>
            <a:r>
              <a:rPr lang="en-US" dirty="0">
                <a:solidFill/>
              </a:rPr>
              <a:t>– Relate work and kinetic energy.</a:t>
            </a:r>
          </a:p>
        </p:txBody>
      </p:sp>
      <p:sp>
        <p:nvSpPr>
          <p:cNvPr id="16" name="TextBox 15">
            <a:extLst>
              <a:ext uri="{FF2B5EF4-FFF2-40B4-BE49-F238E27FC236}">
                <a16:creationId xmlns:a16="http://schemas.microsoft.com/office/drawing/2014/main" id="{C3F2E0C7-9EBF-5DDC-2071-2A5D59FDABA1}"/>
              </a:ext>
            </a:extLst>
          </p:cNvPr>
          <p:cNvSpPr txBox="1"/>
          <p:nvPr/>
        </p:nvSpPr>
        <p:spPr>
          <a:xfrm>
            <a:off x="978166" y="1547074"/>
            <a:ext cx="10316584" cy="461665"/>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We are all familiar with the word </a:t>
            </a:r>
            <a:r>
              <a:rPr lang="en-US" sz="2400" i="1" dirty="0">
                <a:solidFill>
                  <a:srgbClr val="007440"/>
                </a:solidFill>
                <a:latin typeface="Times New Roman" panose="02020603050405020304" pitchFamily="18" charset="0"/>
                <a:cs typeface="Times New Roman" panose="02020603050405020304" pitchFamily="18" charset="0"/>
              </a:rPr>
              <a:t>energy</a:t>
            </a:r>
            <a:r>
              <a:rPr lang="en-US" sz="2400" dirty="0">
                <a:solidFill/>
                <a:latin typeface="Times New Roman" panose="02020603050405020304" pitchFamily="18" charset="0"/>
                <a:cs typeface="Times New Roman" panose="02020603050405020304" pitchFamily="18" charset="0"/>
              </a:rPr>
              <a:t>, but what exactly is it?</a:t>
            </a:r>
          </a:p>
        </p:txBody>
      </p:sp>
      <p:grpSp>
        <p:nvGrpSpPr>
          <p:cNvPr id="23" name="Group 22">
            <a:extLst>
              <a:ext uri="{FF2B5EF4-FFF2-40B4-BE49-F238E27FC236}">
                <a16:creationId xmlns:a16="http://schemas.microsoft.com/office/drawing/2014/main" id="{70A98768-6713-0243-93D9-C83A4254257F}"/>
              </a:ext>
            </a:extLst>
          </p:cNvPr>
          <p:cNvGrpSpPr/>
          <p:nvPr/>
        </p:nvGrpSpPr>
        <p:grpSpPr>
          <a:xfrm>
            <a:off x="1020417" y="2090027"/>
            <a:ext cx="10959548" cy="2183800"/>
            <a:chOff x="1020417" y="2090027"/>
            <a:chExt cx="10959548" cy="2183800"/>
          </a:xfrm>
        </p:grpSpPr>
        <p:sp>
          <p:nvSpPr>
            <p:cNvPr id="4" name="TextBox 3">
              <a:extLst>
                <a:ext uri="{FF2B5EF4-FFF2-40B4-BE49-F238E27FC236}">
                  <a16:creationId xmlns:a16="http://schemas.microsoft.com/office/drawing/2014/main" id="{A5BDC445-B2BB-8B80-6D80-233CAA02301E}"/>
                </a:ext>
              </a:extLst>
            </p:cNvPr>
            <p:cNvSpPr txBox="1"/>
            <p:nvPr/>
          </p:nvSpPr>
          <p:spPr>
            <a:xfrm>
              <a:off x="1020417" y="2090027"/>
              <a:ext cx="10959548" cy="1200329"/>
            </a:xfrm>
            <a:prstGeom prst="rect">
              <a:avLst/>
            </a:prstGeom>
            <a:noFill/>
          </p:spPr>
          <p:txBody>
            <a:bodyPr wrap="square">
              <a:spAutoFit/>
            </a:bodyPr>
            <a:lstStyle/>
            <a:p>
              <a:pPr algn="just"/>
              <a:r>
                <a:rPr lang="en-US" sz="2400" dirty="0">
                  <a:solidFill>
                    <a:srgbClr val="007440"/>
                  </a:solidFill>
                  <a:latin typeface="Times New Roman" panose="02020603050405020304" pitchFamily="18" charset="0"/>
                  <a:cs typeface="Times New Roman" panose="02020603050405020304" pitchFamily="18" charset="0"/>
                </a:rPr>
                <a:t>Energy</a:t>
              </a:r>
              <a:r>
                <a:rPr lang="en-US" sz="2400" dirty="0">
                  <a:solidFill/>
                  <a:latin typeface="Times New Roman" panose="02020603050405020304" pitchFamily="18" charset="0"/>
                  <a:cs typeface="Times New Roman" panose="02020603050405020304" pitchFamily="18" charset="0"/>
                </a:rPr>
                <a:t> exists in many forms, including mechanical, chemical, electrical, thermal, light, and nuclear energy, but at its most fundamental level, it can be classified into two broad categories:</a:t>
              </a:r>
            </a:p>
          </p:txBody>
        </p:sp>
        <p:sp>
          <p:nvSpPr>
            <p:cNvPr id="8" name="Rounded Rectangle 7">
              <a:extLst>
                <a:ext uri="{FF2B5EF4-FFF2-40B4-BE49-F238E27FC236}">
                  <a16:creationId xmlns:a16="http://schemas.microsoft.com/office/drawing/2014/main" id="{C617E269-A1C9-AFFC-81A6-ECB20687E786}"/>
                </a:ext>
              </a:extLst>
            </p:cNvPr>
            <p:cNvSpPr/>
            <p:nvPr/>
          </p:nvSpPr>
          <p:spPr>
            <a:xfrm>
              <a:off x="2703445" y="3074505"/>
              <a:ext cx="2305878" cy="4770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87BDED6E-7671-825E-AFA2-6D52011210BB}"/>
                </a:ext>
              </a:extLst>
            </p:cNvPr>
            <p:cNvSpPr/>
            <p:nvPr/>
          </p:nvSpPr>
          <p:spPr>
            <a:xfrm>
              <a:off x="2683567" y="3796749"/>
              <a:ext cx="2551042" cy="4770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407E79B-B6D9-E0C8-CA62-FE0E10D0C8F7}"/>
                </a:ext>
              </a:extLst>
            </p:cNvPr>
            <p:cNvSpPr txBox="1"/>
            <p:nvPr/>
          </p:nvSpPr>
          <p:spPr>
            <a:xfrm>
              <a:off x="4956313" y="3114262"/>
              <a:ext cx="5645426" cy="461665"/>
            </a:xfrm>
            <a:prstGeom prst="rect">
              <a:avLst/>
            </a:prstGeom>
            <a:noFill/>
          </p:spPr>
          <p:txBody>
            <a:bodyPr wrap="square" rtlCol="0">
              <a:spAutoFit/>
            </a:bodyPr>
            <a:lstStyle/>
            <a:p>
              <a:pPr/>
              <a:r>
                <a:rPr lang="en-US" sz="2400" dirty="0">
                  <a:solidFill/>
                  <a:latin typeface="Times New Roman" panose="02020603050405020304" pitchFamily="18" charset="0"/>
                  <a:cs typeface="Times New Roman" panose="02020603050405020304" pitchFamily="18" charset="0"/>
                </a:rPr>
                <a:t>, the energy associated with                 .</a:t>
              </a:r>
            </a:p>
          </p:txBody>
        </p:sp>
        <p:sp>
          <p:nvSpPr>
            <p:cNvPr id="13" name="Rounded Rectangle 12">
              <a:extLst>
                <a:ext uri="{FF2B5EF4-FFF2-40B4-BE49-F238E27FC236}">
                  <a16:creationId xmlns:a16="http://schemas.microsoft.com/office/drawing/2014/main" id="{1D23AD28-EFD5-E48D-C510-3E6D8F56835B}"/>
                </a:ext>
              </a:extLst>
            </p:cNvPr>
            <p:cNvSpPr/>
            <p:nvPr/>
          </p:nvSpPr>
          <p:spPr>
            <a:xfrm>
              <a:off x="8461514" y="3107636"/>
              <a:ext cx="1199321" cy="4770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8DECE3E-7D70-B807-1238-A973BE6B4595}"/>
                </a:ext>
              </a:extLst>
            </p:cNvPr>
            <p:cNvSpPr txBox="1"/>
            <p:nvPr/>
          </p:nvSpPr>
          <p:spPr>
            <a:xfrm>
              <a:off x="5188226" y="3783497"/>
              <a:ext cx="5532783" cy="461665"/>
            </a:xfrm>
            <a:prstGeom prst="rect">
              <a:avLst/>
            </a:prstGeom>
            <a:noFill/>
          </p:spPr>
          <p:txBody>
            <a:bodyPr wrap="square" rtlCol="0">
              <a:spAutoFit/>
            </a:bodyPr>
            <a:lstStyle/>
            <a:p>
              <a:pPr/>
              <a:r>
                <a:rPr lang="en-US" sz="2400" dirty="0">
                  <a:solidFill/>
                  <a:latin typeface="Times New Roman" panose="02020603050405020304" pitchFamily="18" charset="0"/>
                  <a:cs typeface="Times New Roman" panose="02020603050405020304" pitchFamily="18" charset="0"/>
                </a:rPr>
                <a:t>, the energy associated with                   .</a:t>
              </a:r>
            </a:p>
          </p:txBody>
        </p:sp>
        <p:sp>
          <p:nvSpPr>
            <p:cNvPr id="17" name="Rounded Rectangle 16">
              <a:extLst>
                <a:ext uri="{FF2B5EF4-FFF2-40B4-BE49-F238E27FC236}">
                  <a16:creationId xmlns:a16="http://schemas.microsoft.com/office/drawing/2014/main" id="{8F008DEA-6A21-5E31-A96B-F9150599759C}"/>
                </a:ext>
              </a:extLst>
            </p:cNvPr>
            <p:cNvSpPr/>
            <p:nvPr/>
          </p:nvSpPr>
          <p:spPr>
            <a:xfrm>
              <a:off x="8746435" y="3776871"/>
              <a:ext cx="1298712" cy="4770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DAB004EE-541E-FEBC-CAEE-28EC36C00307}"/>
              </a:ext>
            </a:extLst>
          </p:cNvPr>
          <p:cNvSpPr txBox="1"/>
          <p:nvPr/>
        </p:nvSpPr>
        <p:spPr>
          <a:xfrm>
            <a:off x="2729948" y="3127513"/>
            <a:ext cx="2544418"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Kinetic energy</a:t>
            </a:r>
          </a:p>
        </p:txBody>
      </p:sp>
      <p:sp>
        <p:nvSpPr>
          <p:cNvPr id="11" name="TextBox 10">
            <a:extLst>
              <a:ext uri="{FF2B5EF4-FFF2-40B4-BE49-F238E27FC236}">
                <a16:creationId xmlns:a16="http://schemas.microsoft.com/office/drawing/2014/main" id="{8CADC3F5-6B64-3EB8-CC9A-FC8358970108}"/>
              </a:ext>
            </a:extLst>
          </p:cNvPr>
          <p:cNvSpPr txBox="1"/>
          <p:nvPr/>
        </p:nvSpPr>
        <p:spPr>
          <a:xfrm>
            <a:off x="2696818" y="3849757"/>
            <a:ext cx="2776330"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Potential energy</a:t>
            </a:r>
          </a:p>
        </p:txBody>
      </p:sp>
      <p:sp>
        <p:nvSpPr>
          <p:cNvPr id="21" name="TextBox 20">
            <a:extLst>
              <a:ext uri="{FF2B5EF4-FFF2-40B4-BE49-F238E27FC236}">
                <a16:creationId xmlns:a16="http://schemas.microsoft.com/office/drawing/2014/main" id="{191B624A-6F00-B5A5-175F-8089A5F71C22}"/>
              </a:ext>
            </a:extLst>
          </p:cNvPr>
          <p:cNvSpPr txBox="1"/>
          <p:nvPr/>
        </p:nvSpPr>
        <p:spPr>
          <a:xfrm>
            <a:off x="8739810" y="3836505"/>
            <a:ext cx="1557130"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position</a:t>
            </a:r>
          </a:p>
        </p:txBody>
      </p:sp>
      <p:sp>
        <p:nvSpPr>
          <p:cNvPr id="14" name="TextBox 13">
            <a:extLst>
              <a:ext uri="{FF2B5EF4-FFF2-40B4-BE49-F238E27FC236}">
                <a16:creationId xmlns:a16="http://schemas.microsoft.com/office/drawing/2014/main" id="{C1329125-2CF9-1DE1-BB82-919354193069}"/>
              </a:ext>
            </a:extLst>
          </p:cNvPr>
          <p:cNvSpPr txBox="1"/>
          <p:nvPr/>
        </p:nvSpPr>
        <p:spPr>
          <a:xfrm>
            <a:off x="8494643" y="3167271"/>
            <a:ext cx="1338469"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motion</a:t>
            </a:r>
          </a:p>
        </p:txBody>
      </p:sp>
      <p:grpSp>
        <p:nvGrpSpPr>
          <p:cNvPr id="27" name="Group 26">
            <a:extLst>
              <a:ext uri="{FF2B5EF4-FFF2-40B4-BE49-F238E27FC236}">
                <a16:creationId xmlns:a16="http://schemas.microsoft.com/office/drawing/2014/main" id="{4AC5A262-2455-3C74-E33B-F73CC2B30B9F}"/>
              </a:ext>
            </a:extLst>
          </p:cNvPr>
          <p:cNvGrpSpPr/>
          <p:nvPr/>
        </p:nvGrpSpPr>
        <p:grpSpPr>
          <a:xfrm>
            <a:off x="437316" y="4571999"/>
            <a:ext cx="12245008" cy="483056"/>
            <a:chOff x="159027" y="4691269"/>
            <a:chExt cx="12245008" cy="483056"/>
          </a:xfrm>
        </p:grpSpPr>
        <p:sp>
          <p:nvSpPr>
            <p:cNvPr id="25" name="TextBox 24">
              <a:extLst>
                <a:ext uri="{FF2B5EF4-FFF2-40B4-BE49-F238E27FC236}">
                  <a16:creationId xmlns:a16="http://schemas.microsoft.com/office/drawing/2014/main" id="{203C576A-8939-1DA2-22D6-C561FD024E68}"/>
                </a:ext>
              </a:extLst>
            </p:cNvPr>
            <p:cNvSpPr txBox="1"/>
            <p:nvPr/>
          </p:nvSpPr>
          <p:spPr>
            <a:xfrm>
              <a:off x="159027" y="4712660"/>
              <a:ext cx="12245008" cy="461665"/>
            </a:xfrm>
            <a:prstGeom prst="rect">
              <a:avLst/>
            </a:prstGeom>
            <a:noFill/>
          </p:spPr>
          <p:txBody>
            <a:bodyPr wrap="square">
              <a:spAutoFit/>
            </a:bodyPr>
            <a:lstStyle/>
            <a:p>
              <a:pPr algn="just"/>
              <a:r>
                <a:rPr lang="en-US" sz="2400" dirty="0">
                  <a:solidFill/>
                  <a:latin typeface="Times New Roman" panose="02020603050405020304" pitchFamily="18" charset="0"/>
                  <a:cs typeface="Times New Roman" panose="02020603050405020304" pitchFamily="18" charset="0"/>
                </a:rPr>
                <a:t>In this chapter, we will discover that </a:t>
              </a:r>
              <a:r>
                <a:rPr lang="en-US" sz="2400" dirty="0">
                  <a:solidFill>
                    <a:srgbClr val="007440"/>
                  </a:solidFill>
                  <a:latin typeface="Times New Roman" panose="02020603050405020304" pitchFamily="18" charset="0"/>
                  <a:cs typeface="Times New Roman" panose="02020603050405020304" pitchFamily="18" charset="0"/>
                </a:rPr>
                <a:t>energy</a:t>
              </a:r>
              <a:r>
                <a:rPr lang="en-US" sz="2400" dirty="0">
                  <a:solidFill/>
                  <a:latin typeface="Times New Roman" panose="02020603050405020304" pitchFamily="18" charset="0"/>
                  <a:cs typeface="Times New Roman" panose="02020603050405020304" pitchFamily="18" charset="0"/>
                </a:rPr>
                <a:t> obeys a set of powerful                                      . </a:t>
              </a:r>
            </a:p>
          </p:txBody>
        </p:sp>
        <p:sp>
          <p:nvSpPr>
            <p:cNvPr id="26" name="Rounded Rectangle 25">
              <a:extLst>
                <a:ext uri="{FF2B5EF4-FFF2-40B4-BE49-F238E27FC236}">
                  <a16:creationId xmlns:a16="http://schemas.microsoft.com/office/drawing/2014/main" id="{D702425B-462D-E716-A117-01617BF9EBFB}"/>
                </a:ext>
              </a:extLst>
            </p:cNvPr>
            <p:cNvSpPr/>
            <p:nvPr/>
          </p:nvSpPr>
          <p:spPr>
            <a:xfrm>
              <a:off x="8534401" y="4691269"/>
              <a:ext cx="2782956" cy="43732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TextBox 27">
            <a:extLst>
              <a:ext uri="{FF2B5EF4-FFF2-40B4-BE49-F238E27FC236}">
                <a16:creationId xmlns:a16="http://schemas.microsoft.com/office/drawing/2014/main" id="{28EFA510-8ADF-99F2-D51D-C6F5C55A1FE0}"/>
              </a:ext>
            </a:extLst>
          </p:cNvPr>
          <p:cNvSpPr txBox="1"/>
          <p:nvPr/>
        </p:nvSpPr>
        <p:spPr>
          <a:xfrm>
            <a:off x="8786191" y="4625010"/>
            <a:ext cx="3114262"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conservation laws</a:t>
            </a:r>
          </a:p>
        </p:txBody>
      </p:sp>
      <p:sp>
        <p:nvSpPr>
          <p:cNvPr id="30" name="TextBox 29">
            <a:extLst>
              <a:ext uri="{FF2B5EF4-FFF2-40B4-BE49-F238E27FC236}">
                <a16:creationId xmlns:a16="http://schemas.microsoft.com/office/drawing/2014/main" id="{700CE7BD-6DD2-ACD9-1B45-D5330707EEBD}"/>
              </a:ext>
            </a:extLst>
          </p:cNvPr>
          <p:cNvSpPr txBox="1"/>
          <p:nvPr/>
        </p:nvSpPr>
        <p:spPr>
          <a:xfrm>
            <a:off x="414130" y="5149916"/>
            <a:ext cx="11777869" cy="830997"/>
          </a:xfrm>
          <a:prstGeom prst="rect">
            <a:avLst/>
          </a:prstGeom>
          <a:noFill/>
        </p:spPr>
        <p:txBody>
          <a:bodyPr wrap="square">
            <a:spAutoFit/>
          </a:bodyPr>
          <a:lstStyle/>
          <a:p>
            <a:pPr/>
            <a:r>
              <a:rPr lang="en-US" sz="2400" dirty="0">
                <a:solidFill/>
                <a:latin typeface="Times New Roman" panose="02020603050405020304" pitchFamily="18" charset="0"/>
                <a:cs typeface="Times New Roman" panose="02020603050405020304" pitchFamily="18" charset="0"/>
              </a:rPr>
              <a:t>We will also see that many problems that are difficult to solve using Newton's laws become much simpler when approached from the perspective of </a:t>
            </a:r>
            <a:r>
              <a:rPr lang="en-US" sz="2400" dirty="0">
                <a:solidFill>
                  <a:srgbClr val="007440"/>
                </a:solidFill>
                <a:latin typeface="Times New Roman" panose="02020603050405020304" pitchFamily="18" charset="0"/>
                <a:cs typeface="Times New Roman" panose="02020603050405020304" pitchFamily="18" charset="0"/>
              </a:rPr>
              <a:t>energy</a:t>
            </a:r>
            <a:r>
              <a:rPr lang="en-US" sz="2400" dirty="0">
                <a:solidFill/>
                <a:latin typeface="Times New Roman" panose="02020603050405020304" pitchFamily="18" charset="0"/>
                <a:cs typeface="Times New Roman" panose="02020603050405020304" pitchFamily="18" charset="0"/>
              </a:rPr>
              <a:t>.</a:t>
            </a:r>
          </a:p>
        </p:txBody>
      </p:sp>
      <p:sp>
        <p:nvSpPr>
          <p:cNvPr id="31" name="TextBox 30">
            <a:extLst>
              <a:ext uri="{FF2B5EF4-FFF2-40B4-BE49-F238E27FC236}">
                <a16:creationId xmlns:a16="http://schemas.microsoft.com/office/drawing/2014/main" id="{B527FC11-A8F8-CB58-6AFF-A8C5239563E8}"/>
              </a:ext>
            </a:extLst>
          </p:cNvPr>
          <p:cNvSpPr txBox="1"/>
          <p:nvPr/>
        </p:nvSpPr>
        <p:spPr>
          <a:xfrm>
            <a:off x="1802067" y="5939129"/>
            <a:ext cx="8811512" cy="461665"/>
          </a:xfrm>
          <a:prstGeom prst="rect">
            <a:avLst/>
          </a:prstGeom>
          <a:noFill/>
        </p:spPr>
        <p:txBody>
          <a:bodyPr wrap="square">
            <a:spAutoFit/>
          </a:bodyPr>
          <a:lstStyle/>
          <a:p>
            <a:pPr/>
            <a:r>
              <a:rPr lang="en-US" sz="2400" dirty="0">
                <a:solidFill/>
                <a:latin typeface="Times New Roman" panose="02020603050405020304" pitchFamily="18" charset="0"/>
                <a:cs typeface="Times New Roman" panose="02020603050405020304" pitchFamily="18" charset="0"/>
              </a:rPr>
              <a:t>It is the concept of </a:t>
            </a:r>
            <a:r>
              <a:rPr lang="en-US" sz="2400" dirty="0">
                <a:solidFill>
                  <a:srgbClr val="007440"/>
                </a:solidFill>
                <a:latin typeface="Times New Roman" panose="02020603050405020304" pitchFamily="18" charset="0"/>
                <a:cs typeface="Times New Roman" panose="02020603050405020304" pitchFamily="18" charset="0"/>
              </a:rPr>
              <a:t>work</a:t>
            </a:r>
            <a:r>
              <a:rPr lang="en-US" sz="2400" dirty="0">
                <a:solidFill/>
                <a:latin typeface="Times New Roman" panose="02020603050405020304" pitchFamily="18" charset="0"/>
                <a:cs typeface="Times New Roman" panose="02020603050405020304" pitchFamily="18" charset="0"/>
              </a:rPr>
              <a:t> that ties these two approaches together.</a:t>
            </a:r>
          </a:p>
        </p:txBody>
      </p:sp>
    </p:spTree>
    <p:extLst>
      <p:ext uri="{BB962C8B-B14F-4D97-AF65-F5344CB8AC3E}">
        <p14:creationId xmlns:p14="http://schemas.microsoft.com/office/powerpoint/2010/main" val="1005332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dissolv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dissolv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dissolv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dissolve">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dissolve">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dissolve">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dissolve">
                                      <p:cBhvr>
                                        <p:cTn id="47" dur="500"/>
                                        <p:tgtEl>
                                          <p:spTgt spid="30"/>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dissolve">
                                      <p:cBhvr>
                                        <p:cTn id="5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9" grpId="0"/>
      <p:bldP spid="11" grpId="0"/>
      <p:bldP spid="21" grpId="0"/>
      <p:bldP spid="14" grpId="0"/>
      <p:bldP spid="28" grpId="0"/>
      <p:bldP spid="30" grpId="0"/>
      <p:bldP spid="3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DC50C-6A60-33E9-9D69-AA4332F828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3AA730-DEA0-09A6-6A4E-C7D1E9EBD7A7}"/>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sp>
        <p:nvSpPr>
          <p:cNvPr id="3" name="TextBox 2">
            <a:extLst>
              <a:ext uri="{FF2B5EF4-FFF2-40B4-BE49-F238E27FC236}">
                <a16:creationId xmlns:a16="http://schemas.microsoft.com/office/drawing/2014/main" id="{8D57E99C-D628-41EA-9F17-80F561851706}"/>
              </a:ext>
            </a:extLst>
          </p:cNvPr>
          <p:cNvSpPr txBox="1"/>
          <p:nvPr/>
        </p:nvSpPr>
        <p:spPr>
          <a:xfrm>
            <a:off x="947056" y="661174"/>
            <a:ext cx="10727872" cy="461665"/>
          </a:xfrm>
          <a:prstGeom prst="rect">
            <a:avLst/>
          </a:prstGeom>
          <a:noFill/>
        </p:spPr>
        <p:txBody>
          <a:bodyPr wrap="square" rtlCol="0">
            <a:spAutoFit/>
          </a:bodyPr>
          <a:lstStyle/>
          <a:p>
            <a:pPr/>
            <a:r>
              <a:rPr lang="en-US" sz="2400" dirty="0">
                <a:solidFill/>
                <a:latin typeface="Times New Roman" panose="02020603050405020304" pitchFamily="18" charset="0"/>
                <a:cs typeface="Times New Roman" panose="02020603050405020304" pitchFamily="18" charset="0"/>
              </a:rPr>
              <a:t>Consider the work being done on an object by a net external force...  </a:t>
            </a:r>
          </a:p>
        </p:txBody>
      </p:sp>
      <p:sp>
        <p:nvSpPr>
          <p:cNvPr id="6" name="TextBox 5">
            <a:extLst>
              <a:ext uri="{FF2B5EF4-FFF2-40B4-BE49-F238E27FC236}">
                <a16:creationId xmlns:a16="http://schemas.microsoft.com/office/drawing/2014/main" id="{F45E2C7F-920A-5606-19B3-487739BE7758}"/>
              </a:ext>
            </a:extLst>
          </p:cNvPr>
          <p:cNvSpPr txBox="1"/>
          <p:nvPr/>
        </p:nvSpPr>
        <p:spPr>
          <a:xfrm>
            <a:off x="4555670" y="1213757"/>
            <a:ext cx="7636330" cy="461665"/>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For example, a fighter jet being accelerated down a runway.</a:t>
            </a:r>
          </a:p>
        </p:txBody>
      </p:sp>
      <p:pic>
        <p:nvPicPr>
          <p:cNvPr id="18" name="Picture 17">
            <a:extLst>
              <a:ext uri="{FF2B5EF4-FFF2-40B4-BE49-F238E27FC236}">
                <a16:creationId xmlns:a16="http://schemas.microsoft.com/office/drawing/2014/main" id="{1DC51EB8-0200-5B0A-E0E0-496E798D2181}"/>
              </a:ext>
            </a:extLst>
          </p:cNvPr>
          <p:cNvPicPr>
            <a:picLocks noChangeAspect="1"/>
          </p:cNvPicPr>
          <p:nvPr/>
        </p:nvPicPr>
        <p:blipFill>
          <a:blip r:embed="rId3"/>
          <a:srcRect b="37401"/>
          <a:stretch/>
        </p:blipFill>
        <p:spPr>
          <a:xfrm>
            <a:off x="139700" y="1220102"/>
            <a:ext cx="4203700" cy="1049565"/>
          </a:xfrm>
          <a:prstGeom prst="rect">
            <a:avLst/>
          </a:prstGeom>
        </p:spPr>
      </p:pic>
      <p:grpSp>
        <p:nvGrpSpPr>
          <p:cNvPr id="32" name="Group 31">
            <a:extLst>
              <a:ext uri="{FF2B5EF4-FFF2-40B4-BE49-F238E27FC236}">
                <a16:creationId xmlns:a16="http://schemas.microsoft.com/office/drawing/2014/main" id="{9C1FBB77-AFE7-3560-0EAC-FE6329AFBF56}"/>
              </a:ext>
            </a:extLst>
          </p:cNvPr>
          <p:cNvGrpSpPr/>
          <p:nvPr/>
        </p:nvGrpSpPr>
        <p:grpSpPr>
          <a:xfrm>
            <a:off x="306315" y="1790699"/>
            <a:ext cx="11885685" cy="1613986"/>
            <a:chOff x="306315" y="1790699"/>
            <a:chExt cx="11885685" cy="1613986"/>
          </a:xfrm>
        </p:grpSpPr>
        <p:sp>
          <p:nvSpPr>
            <p:cNvPr id="19" name="TextBox 18">
              <a:extLst>
                <a:ext uri="{FF2B5EF4-FFF2-40B4-BE49-F238E27FC236}">
                  <a16:creationId xmlns:a16="http://schemas.microsoft.com/office/drawing/2014/main" id="{BEF2062A-A963-AA1F-1C7C-438BA9C6FB17}"/>
                </a:ext>
              </a:extLst>
            </p:cNvPr>
            <p:cNvSpPr txBox="1"/>
            <p:nvPr/>
          </p:nvSpPr>
          <p:spPr>
            <a:xfrm>
              <a:off x="4555670" y="1790699"/>
              <a:ext cx="7636330" cy="461665"/>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Here,       represents the                                       that is</a:t>
              </a:r>
            </a:p>
          </p:txBody>
        </p:sp>
        <p:sp>
          <p:nvSpPr>
            <p:cNvPr id="20" name="TextBox 19">
              <a:extLst>
                <a:ext uri="{FF2B5EF4-FFF2-40B4-BE49-F238E27FC236}">
                  <a16:creationId xmlns:a16="http://schemas.microsoft.com/office/drawing/2014/main" id="{7BDC22CD-D12B-FC25-8464-A1429DAD8A13}"/>
                </a:ext>
              </a:extLst>
            </p:cNvPr>
            <p:cNvSpPr txBox="1"/>
            <p:nvPr/>
          </p:nvSpPr>
          <p:spPr>
            <a:xfrm>
              <a:off x="306315" y="2204356"/>
              <a:ext cx="11865430" cy="1200329"/>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performing the work on the fighter jet.  Some forces could be doing positive work on the jet, like the thrust from its engine, and some of the forces could be doing negative work on the jet, like air resistance.</a:t>
              </a:r>
            </a:p>
          </p:txBody>
        </p:sp>
        <p:sp>
          <p:nvSpPr>
            <p:cNvPr id="22" name="Rounded Rectangle 21">
              <a:extLst>
                <a:ext uri="{FF2B5EF4-FFF2-40B4-BE49-F238E27FC236}">
                  <a16:creationId xmlns:a16="http://schemas.microsoft.com/office/drawing/2014/main" id="{908409AE-7B03-F008-AE9C-EA2E91537AC5}"/>
                </a:ext>
              </a:extLst>
            </p:cNvPr>
            <p:cNvSpPr/>
            <p:nvPr/>
          </p:nvSpPr>
          <p:spPr>
            <a:xfrm>
              <a:off x="7566935" y="1840417"/>
              <a:ext cx="2862243" cy="3755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55EBB0CC-5B42-21D8-1D81-87F0B9056933}"/>
                </a:ext>
              </a:extLst>
            </p:cNvPr>
            <p:cNvPicPr>
              <a:picLocks noChangeAspect="1"/>
            </p:cNvPicPr>
            <p:nvPr/>
          </p:nvPicPr>
          <p:blipFill>
            <a:blip r:embed="rId4"/>
            <a:stretch>
              <a:fillRect/>
            </a:stretch>
          </p:blipFill>
          <p:spPr>
            <a:xfrm>
              <a:off x="5353049" y="1927225"/>
              <a:ext cx="454113" cy="280759"/>
            </a:xfrm>
            <a:prstGeom prst="rect">
              <a:avLst/>
            </a:prstGeom>
          </p:spPr>
        </p:pic>
      </p:grpSp>
      <p:sp>
        <p:nvSpPr>
          <p:cNvPr id="24" name="TextBox 23">
            <a:extLst>
              <a:ext uri="{FF2B5EF4-FFF2-40B4-BE49-F238E27FC236}">
                <a16:creationId xmlns:a16="http://schemas.microsoft.com/office/drawing/2014/main" id="{D6F97C73-DE18-8552-71AB-65D38B774EAE}"/>
              </a:ext>
            </a:extLst>
          </p:cNvPr>
          <p:cNvSpPr txBox="1"/>
          <p:nvPr/>
        </p:nvSpPr>
        <p:spPr>
          <a:xfrm>
            <a:off x="7604737" y="1824871"/>
            <a:ext cx="3876139"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net external force</a:t>
            </a:r>
          </a:p>
        </p:txBody>
      </p:sp>
      <p:sp>
        <p:nvSpPr>
          <p:cNvPr id="33" name="TextBox 32">
            <a:extLst>
              <a:ext uri="{FF2B5EF4-FFF2-40B4-BE49-F238E27FC236}">
                <a16:creationId xmlns:a16="http://schemas.microsoft.com/office/drawing/2014/main" id="{B87BE757-7454-0732-25FA-FC298519182D}"/>
              </a:ext>
            </a:extLst>
          </p:cNvPr>
          <p:cNvSpPr txBox="1"/>
          <p:nvPr/>
        </p:nvSpPr>
        <p:spPr>
          <a:xfrm>
            <a:off x="289024" y="3488410"/>
            <a:ext cx="6790382" cy="1200329"/>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If the </a:t>
            </a:r>
            <a:r>
              <a:rPr lang="en-US" sz="2400" u="sng" dirty="0">
                <a:solidFill/>
                <a:latin typeface="Times New Roman" panose="02020603050405020304" pitchFamily="18" charset="0"/>
                <a:cs typeface="Times New Roman" panose="02020603050405020304" pitchFamily="18" charset="0"/>
              </a:rPr>
              <a:t>net force is constant</a:t>
            </a:r>
            <a:r>
              <a:rPr lang="en-US" sz="2400" dirty="0">
                <a:solidFill/>
                <a:latin typeface="Times New Roman" panose="02020603050405020304" pitchFamily="18" charset="0"/>
                <a:cs typeface="Times New Roman" panose="02020603050405020304" pitchFamily="18" charset="0"/>
              </a:rPr>
              <a:t>, and the fighter jet moves through a distance </a:t>
            </a:r>
            <a:r>
              <a:rPr lang="en-US" sz="2400" i="1" dirty="0">
                <a:solidFill/>
                <a:latin typeface="Times New Roman" panose="02020603050405020304" pitchFamily="18" charset="0"/>
                <a:cs typeface="Times New Roman" panose="02020603050405020304" pitchFamily="18" charset="0"/>
              </a:rPr>
              <a:t>s</a:t>
            </a:r>
            <a:r>
              <a:rPr lang="en-US" sz="2400" dirty="0">
                <a:solidFill/>
                <a:latin typeface="Times New Roman" panose="02020603050405020304" pitchFamily="18" charset="0"/>
                <a:cs typeface="Times New Roman" panose="02020603050405020304" pitchFamily="18" charset="0"/>
              </a:rPr>
              <a:t>, then the work done by the net force is given by Equation 6.1:</a:t>
            </a:r>
          </a:p>
        </p:txBody>
      </p:sp>
      <p:pic>
        <p:nvPicPr>
          <p:cNvPr id="34" name="Picture 33">
            <a:extLst>
              <a:ext uri="{FF2B5EF4-FFF2-40B4-BE49-F238E27FC236}">
                <a16:creationId xmlns:a16="http://schemas.microsoft.com/office/drawing/2014/main" id="{BEA8BCB6-3A4D-DD01-802D-33E0B2EE8AF1}"/>
              </a:ext>
            </a:extLst>
          </p:cNvPr>
          <p:cNvPicPr>
            <a:picLocks noChangeAspect="1"/>
          </p:cNvPicPr>
          <p:nvPr/>
        </p:nvPicPr>
        <p:blipFill>
          <a:blip r:embed="rId5"/>
          <a:stretch>
            <a:fillRect/>
          </a:stretch>
        </p:blipFill>
        <p:spPr>
          <a:xfrm>
            <a:off x="7482682" y="3774392"/>
            <a:ext cx="1994252" cy="551352"/>
          </a:xfrm>
          <a:prstGeom prst="rect">
            <a:avLst/>
          </a:prstGeom>
        </p:spPr>
      </p:pic>
      <p:sp>
        <p:nvSpPr>
          <p:cNvPr id="35" name="TextBox 34">
            <a:extLst>
              <a:ext uri="{FF2B5EF4-FFF2-40B4-BE49-F238E27FC236}">
                <a16:creationId xmlns:a16="http://schemas.microsoft.com/office/drawing/2014/main" id="{2267F220-1514-E81D-6314-2832804666AC}"/>
              </a:ext>
            </a:extLst>
          </p:cNvPr>
          <p:cNvSpPr txBox="1"/>
          <p:nvPr/>
        </p:nvSpPr>
        <p:spPr>
          <a:xfrm>
            <a:off x="294467" y="4930767"/>
            <a:ext cx="6790382" cy="1200329"/>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But, we know from Newton’s second law that the net force acting on an object must be equal to its mass times its acceleration:</a:t>
            </a:r>
          </a:p>
        </p:txBody>
      </p:sp>
      <p:pic>
        <p:nvPicPr>
          <p:cNvPr id="36" name="Picture 35">
            <a:extLst>
              <a:ext uri="{FF2B5EF4-FFF2-40B4-BE49-F238E27FC236}">
                <a16:creationId xmlns:a16="http://schemas.microsoft.com/office/drawing/2014/main" id="{71096D50-018A-B5B4-856E-67B48838F81D}"/>
              </a:ext>
            </a:extLst>
          </p:cNvPr>
          <p:cNvPicPr>
            <a:picLocks noChangeAspect="1"/>
          </p:cNvPicPr>
          <p:nvPr/>
        </p:nvPicPr>
        <p:blipFill>
          <a:blip r:embed="rId6"/>
          <a:stretch>
            <a:fillRect/>
          </a:stretch>
        </p:blipFill>
        <p:spPr>
          <a:xfrm>
            <a:off x="7502000" y="5323115"/>
            <a:ext cx="3117014" cy="529357"/>
          </a:xfrm>
          <a:prstGeom prst="rect">
            <a:avLst/>
          </a:prstGeom>
        </p:spPr>
      </p:pic>
      <p:grpSp>
        <p:nvGrpSpPr>
          <p:cNvPr id="52" name="Group 51">
            <a:extLst>
              <a:ext uri="{FF2B5EF4-FFF2-40B4-BE49-F238E27FC236}">
                <a16:creationId xmlns:a16="http://schemas.microsoft.com/office/drawing/2014/main" id="{E911FEC7-466D-9569-D5AC-F36CB39D3ED4}"/>
              </a:ext>
            </a:extLst>
          </p:cNvPr>
          <p:cNvGrpSpPr/>
          <p:nvPr/>
        </p:nvGrpSpPr>
        <p:grpSpPr>
          <a:xfrm>
            <a:off x="8305799" y="5746376"/>
            <a:ext cx="1913965" cy="555999"/>
            <a:chOff x="8305799" y="5746376"/>
            <a:chExt cx="1913965" cy="555999"/>
          </a:xfrm>
        </p:grpSpPr>
        <p:sp>
          <p:nvSpPr>
            <p:cNvPr id="38" name="Left Brace 37">
              <a:extLst>
                <a:ext uri="{FF2B5EF4-FFF2-40B4-BE49-F238E27FC236}">
                  <a16:creationId xmlns:a16="http://schemas.microsoft.com/office/drawing/2014/main" id="{8383C593-6B4F-5000-6303-4DA2E05DF9E2}"/>
                </a:ext>
              </a:extLst>
            </p:cNvPr>
            <p:cNvSpPr/>
            <p:nvPr/>
          </p:nvSpPr>
          <p:spPr>
            <a:xfrm rot="16200000">
              <a:off x="8543363" y="5665693"/>
              <a:ext cx="174813" cy="649941"/>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Left Brace 38">
              <a:extLst>
                <a:ext uri="{FF2B5EF4-FFF2-40B4-BE49-F238E27FC236}">
                  <a16:creationId xmlns:a16="http://schemas.microsoft.com/office/drawing/2014/main" id="{8F2382C9-58A2-C3A8-4D87-0E0C4250B67D}"/>
                </a:ext>
              </a:extLst>
            </p:cNvPr>
            <p:cNvSpPr/>
            <p:nvPr/>
          </p:nvSpPr>
          <p:spPr>
            <a:xfrm rot="16200000">
              <a:off x="9973235" y="5679141"/>
              <a:ext cx="179294" cy="313764"/>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B67FA604-CC5E-F401-5017-AB3587B43177}"/>
                </a:ext>
              </a:extLst>
            </p:cNvPr>
            <p:cNvCxnSpPr/>
            <p:nvPr/>
          </p:nvCxnSpPr>
          <p:spPr>
            <a:xfrm>
              <a:off x="8629308" y="6077749"/>
              <a:ext cx="0" cy="224493"/>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5D3F7A9-C45F-3A04-C92D-FF2C72DFEBD5}"/>
                </a:ext>
              </a:extLst>
            </p:cNvPr>
            <p:cNvCxnSpPr>
              <a:cxnSpLocks/>
            </p:cNvCxnSpPr>
            <p:nvPr/>
          </p:nvCxnSpPr>
          <p:spPr>
            <a:xfrm flipH="1">
              <a:off x="8611969" y="6290378"/>
              <a:ext cx="1459131" cy="0"/>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BD5942B-7197-FBF4-D1DA-2CC4391C31F3}"/>
                </a:ext>
              </a:extLst>
            </p:cNvPr>
            <p:cNvCxnSpPr>
              <a:cxnSpLocks/>
            </p:cNvCxnSpPr>
            <p:nvPr/>
          </p:nvCxnSpPr>
          <p:spPr>
            <a:xfrm>
              <a:off x="10062963" y="5918049"/>
              <a:ext cx="0" cy="384326"/>
            </a:xfrm>
            <a:prstGeom prst="line">
              <a:avLst/>
            </a:prstGeom>
            <a:ln w="3175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20720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dissolve">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dissolve">
                                      <p:cBhvr>
                                        <p:cTn id="15" dur="500"/>
                                        <p:tgtEl>
                                          <p:spTgt spid="32"/>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dissolve">
                                      <p:cBhvr>
                                        <p:cTn id="20" dur="500"/>
                                        <p:tgtEl>
                                          <p:spTgt spid="24"/>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dissolve">
                                      <p:cBhvr>
                                        <p:cTn id="25" dur="500"/>
                                        <p:tgtEl>
                                          <p:spTgt spid="33"/>
                                        </p:tgtEl>
                                      </p:cBhvr>
                                    </p:animEffect>
                                  </p:childTnLst>
                                </p:cTn>
                              </p:par>
                            </p:childTnLst>
                          </p:cTn>
                        </p:par>
                        <p:par>
                          <p:cTn id="26" fill="hold">
                            <p:stCondLst>
                              <p:cond delay="500"/>
                            </p:stCondLst>
                            <p:childTnLst>
                              <p:par>
                                <p:cTn id="27" presetID="9" presetClass="entr" presetSubtype="0" fill="hold" nodeType="after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dissolve">
                                      <p:cBhvr>
                                        <p:cTn id="29" dur="500"/>
                                        <p:tgtEl>
                                          <p:spTgt spid="34"/>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dissolve">
                                      <p:cBhvr>
                                        <p:cTn id="34" dur="500"/>
                                        <p:tgtEl>
                                          <p:spTgt spid="35"/>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36"/>
                                        </p:tgtEl>
                                        <p:attrNameLst>
                                          <p:attrName>style.visibility</p:attrName>
                                        </p:attrNameLst>
                                      </p:cBhvr>
                                      <p:to>
                                        <p:strVal val="visible"/>
                                      </p:to>
                                    </p:set>
                                    <p:animEffect transition="in" filter="dissolve">
                                      <p:cBhvr>
                                        <p:cTn id="39" dur="500"/>
                                        <p:tgtEl>
                                          <p:spTgt spid="36"/>
                                        </p:tgtEl>
                                      </p:cBhvr>
                                    </p:animEffect>
                                  </p:childTnLst>
                                </p:cTn>
                              </p:par>
                            </p:childTnLst>
                          </p:cTn>
                        </p:par>
                        <p:par>
                          <p:cTn id="40" fill="hold">
                            <p:stCondLst>
                              <p:cond delay="500"/>
                            </p:stCondLst>
                            <p:childTnLst>
                              <p:par>
                                <p:cTn id="41" presetID="9" presetClass="entr" presetSubtype="0" fill="hold" nodeType="afterEffect">
                                  <p:stCondLst>
                                    <p:cond delay="0"/>
                                  </p:stCondLst>
                                  <p:childTnLst>
                                    <p:set>
                                      <p:cBhvr>
                                        <p:cTn id="42" dur="1" fill="hold">
                                          <p:stCondLst>
                                            <p:cond delay="0"/>
                                          </p:stCondLst>
                                        </p:cTn>
                                        <p:tgtEl>
                                          <p:spTgt spid="52"/>
                                        </p:tgtEl>
                                        <p:attrNameLst>
                                          <p:attrName>style.visibility</p:attrName>
                                        </p:attrNameLst>
                                      </p:cBhvr>
                                      <p:to>
                                        <p:strVal val="visible"/>
                                      </p:to>
                                    </p:set>
                                    <p:animEffect transition="in" filter="dissolve">
                                      <p:cBhvr>
                                        <p:cTn id="43"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4" grpId="0"/>
      <p:bldP spid="33" grpId="0"/>
      <p:bldP spid="3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6D4AB-7397-D986-92A9-BDA4B53232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D37DB4-E109-A2B4-3868-A10F5D7ED11F}"/>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sp>
        <p:nvSpPr>
          <p:cNvPr id="6" name="TextBox 5">
            <a:extLst>
              <a:ext uri="{FF2B5EF4-FFF2-40B4-BE49-F238E27FC236}">
                <a16:creationId xmlns:a16="http://schemas.microsoft.com/office/drawing/2014/main" id="{2B12B0E6-4C83-D76F-9342-EBC84AE7F229}"/>
              </a:ext>
            </a:extLst>
          </p:cNvPr>
          <p:cNvSpPr txBox="1"/>
          <p:nvPr/>
        </p:nvSpPr>
        <p:spPr>
          <a:xfrm>
            <a:off x="4581070" y="1294929"/>
            <a:ext cx="7407730" cy="830997"/>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The right side of this expression depends on the product of </a:t>
            </a:r>
            <a:r>
              <a:rPr lang="en-US" sz="2400" i="1" dirty="0">
                <a:solidFill/>
                <a:latin typeface="Times New Roman" panose="02020603050405020304" pitchFamily="18" charset="0"/>
                <a:cs typeface="Times New Roman" panose="02020603050405020304" pitchFamily="18" charset="0"/>
              </a:rPr>
              <a:t>as</a:t>
            </a:r>
            <a:r>
              <a:rPr lang="en-US" sz="2400" dirty="0">
                <a:solidFill/>
                <a:latin typeface="Times New Roman" panose="02020603050405020304" pitchFamily="18" charset="0"/>
                <a:cs typeface="Times New Roman" panose="02020603050405020304" pitchFamily="18" charset="0"/>
              </a:rPr>
              <a:t>, which is </a:t>
            </a:r>
            <a:r>
              <a:rPr lang="en-US" sz="2400" u="sng" dirty="0">
                <a:solidFill/>
                <a:latin typeface="Times New Roman" panose="02020603050405020304" pitchFamily="18" charset="0"/>
                <a:cs typeface="Times New Roman" panose="02020603050405020304" pitchFamily="18" charset="0"/>
              </a:rPr>
              <a:t>constant acceleration </a:t>
            </a:r>
            <a:r>
              <a:rPr lang="en-US" sz="2400" dirty="0">
                <a:solidFill/>
                <a:latin typeface="Times New Roman" panose="02020603050405020304" pitchFamily="18" charset="0"/>
                <a:cs typeface="Times New Roman" panose="02020603050405020304" pitchFamily="18" charset="0"/>
              </a:rPr>
              <a:t>times displacement.  </a:t>
            </a:r>
          </a:p>
        </p:txBody>
      </p:sp>
      <p:pic>
        <p:nvPicPr>
          <p:cNvPr id="18" name="Picture 17">
            <a:extLst>
              <a:ext uri="{FF2B5EF4-FFF2-40B4-BE49-F238E27FC236}">
                <a16:creationId xmlns:a16="http://schemas.microsoft.com/office/drawing/2014/main" id="{D0C69E4E-5CF6-B529-0EC7-56F14AD2587C}"/>
              </a:ext>
            </a:extLst>
          </p:cNvPr>
          <p:cNvPicPr>
            <a:picLocks noChangeAspect="1"/>
          </p:cNvPicPr>
          <p:nvPr/>
        </p:nvPicPr>
        <p:blipFill>
          <a:blip r:embed="rId3"/>
          <a:srcRect b="37401"/>
          <a:stretch/>
        </p:blipFill>
        <p:spPr>
          <a:xfrm>
            <a:off x="165100" y="902602"/>
            <a:ext cx="4203700" cy="1049565"/>
          </a:xfrm>
          <a:prstGeom prst="rect">
            <a:avLst/>
          </a:prstGeom>
        </p:spPr>
      </p:pic>
      <p:pic>
        <p:nvPicPr>
          <p:cNvPr id="4" name="Picture 3">
            <a:extLst>
              <a:ext uri="{FF2B5EF4-FFF2-40B4-BE49-F238E27FC236}">
                <a16:creationId xmlns:a16="http://schemas.microsoft.com/office/drawing/2014/main" id="{3E6E0969-D915-B8B6-201E-116B1E1740CA}"/>
              </a:ext>
            </a:extLst>
          </p:cNvPr>
          <p:cNvPicPr>
            <a:picLocks noChangeAspect="1"/>
          </p:cNvPicPr>
          <p:nvPr/>
        </p:nvPicPr>
        <p:blipFill>
          <a:blip r:embed="rId4"/>
          <a:stretch>
            <a:fillRect/>
          </a:stretch>
        </p:blipFill>
        <p:spPr>
          <a:xfrm>
            <a:off x="6513144" y="758136"/>
            <a:ext cx="2973756" cy="538081"/>
          </a:xfrm>
          <a:prstGeom prst="rect">
            <a:avLst/>
          </a:prstGeom>
        </p:spPr>
      </p:pic>
      <p:sp>
        <p:nvSpPr>
          <p:cNvPr id="5" name="TextBox 4">
            <a:extLst>
              <a:ext uri="{FF2B5EF4-FFF2-40B4-BE49-F238E27FC236}">
                <a16:creationId xmlns:a16="http://schemas.microsoft.com/office/drawing/2014/main" id="{236A7FD3-31DE-AC92-8334-117AF7605F2B}"/>
              </a:ext>
            </a:extLst>
          </p:cNvPr>
          <p:cNvSpPr txBox="1"/>
          <p:nvPr/>
        </p:nvSpPr>
        <p:spPr>
          <a:xfrm>
            <a:off x="161470" y="2117669"/>
            <a:ext cx="11903530" cy="830997"/>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We can use kinematics Equation 2.9 to write this product in terms of the change in speed of the jet, where we replaced </a:t>
            </a:r>
            <a:r>
              <a:rPr lang="en-US" sz="2400" i="1" dirty="0">
                <a:solidFill/>
                <a:latin typeface="Times New Roman" panose="02020603050405020304" pitchFamily="18" charset="0"/>
                <a:cs typeface="Times New Roman" panose="02020603050405020304" pitchFamily="18" charset="0"/>
              </a:rPr>
              <a:t>x</a:t>
            </a:r>
            <a:r>
              <a:rPr lang="en-US" sz="2400" dirty="0">
                <a:solidFill/>
                <a:latin typeface="Times New Roman" panose="02020603050405020304" pitchFamily="18" charset="0"/>
                <a:cs typeface="Times New Roman" panose="02020603050405020304" pitchFamily="18" charset="0"/>
              </a:rPr>
              <a:t> with </a:t>
            </a:r>
            <a:r>
              <a:rPr lang="en-US" sz="2400" i="1" dirty="0">
                <a:solidFill/>
                <a:latin typeface="Times New Roman" panose="02020603050405020304" pitchFamily="18" charset="0"/>
                <a:cs typeface="Times New Roman" panose="02020603050405020304" pitchFamily="18" charset="0"/>
              </a:rPr>
              <a:t>s</a:t>
            </a:r>
            <a:r>
              <a:rPr lang="en-US" sz="2400" dirty="0">
                <a:solidFill/>
                <a:latin typeface="Times New Roman" panose="02020603050405020304" pitchFamily="18" charset="0"/>
                <a:cs typeface="Times New Roman" panose="02020603050405020304" pitchFamily="18" charset="0"/>
              </a:rPr>
              <a:t>:</a:t>
            </a:r>
          </a:p>
        </p:txBody>
      </p:sp>
      <p:sp>
        <p:nvSpPr>
          <p:cNvPr id="8" name="TextBox 7">
            <a:extLst>
              <a:ext uri="{FF2B5EF4-FFF2-40B4-BE49-F238E27FC236}">
                <a16:creationId xmlns:a16="http://schemas.microsoft.com/office/drawing/2014/main" id="{05F7AB04-F1E0-84F3-25B3-A893DE23DE53}"/>
              </a:ext>
            </a:extLst>
          </p:cNvPr>
          <p:cNvSpPr txBox="1"/>
          <p:nvPr/>
        </p:nvSpPr>
        <p:spPr>
          <a:xfrm>
            <a:off x="148770" y="2976301"/>
            <a:ext cx="11903530" cy="461665"/>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Solving for </a:t>
            </a:r>
            <a:r>
              <a:rPr lang="en-US" sz="2400" i="1" dirty="0">
                <a:solidFill/>
                <a:latin typeface="Times New Roman" panose="02020603050405020304" pitchFamily="18" charset="0"/>
                <a:cs typeface="Times New Roman" panose="02020603050405020304" pitchFamily="18" charset="0"/>
              </a:rPr>
              <a:t>as</a:t>
            </a:r>
            <a:r>
              <a:rPr lang="en-US" sz="2400" dirty="0">
                <a:solidFill/>
                <a:latin typeface="Times New Roman" panose="02020603050405020304" pitchFamily="18" charset="0"/>
                <a:cs typeface="Times New Roman" panose="02020603050405020304" pitchFamily="18" charset="0"/>
              </a:rPr>
              <a:t> and plugging into the expression for the work above, we find:</a:t>
            </a:r>
          </a:p>
        </p:txBody>
      </p:sp>
      <p:pic>
        <p:nvPicPr>
          <p:cNvPr id="10" name="Picture 9">
            <a:extLst>
              <a:ext uri="{FF2B5EF4-FFF2-40B4-BE49-F238E27FC236}">
                <a16:creationId xmlns:a16="http://schemas.microsoft.com/office/drawing/2014/main" id="{432E564F-27BA-5C70-0938-657CFF292886}"/>
              </a:ext>
            </a:extLst>
          </p:cNvPr>
          <p:cNvPicPr>
            <a:picLocks noChangeAspect="1"/>
          </p:cNvPicPr>
          <p:nvPr/>
        </p:nvPicPr>
        <p:blipFill>
          <a:blip r:embed="rId5"/>
          <a:stretch>
            <a:fillRect/>
          </a:stretch>
        </p:blipFill>
        <p:spPr>
          <a:xfrm>
            <a:off x="245221" y="3628683"/>
            <a:ext cx="2118149" cy="609600"/>
          </a:xfrm>
          <a:prstGeom prst="rect">
            <a:avLst/>
          </a:prstGeom>
        </p:spPr>
      </p:pic>
      <p:pic>
        <p:nvPicPr>
          <p:cNvPr id="11" name="Picture 10">
            <a:extLst>
              <a:ext uri="{FF2B5EF4-FFF2-40B4-BE49-F238E27FC236}">
                <a16:creationId xmlns:a16="http://schemas.microsoft.com/office/drawing/2014/main" id="{0A354894-1D0F-8921-83A2-4947E105C98F}"/>
              </a:ext>
            </a:extLst>
          </p:cNvPr>
          <p:cNvPicPr>
            <a:picLocks noChangeAspect="1"/>
          </p:cNvPicPr>
          <p:nvPr/>
        </p:nvPicPr>
        <p:blipFill>
          <a:blip r:embed="rId6"/>
          <a:stretch>
            <a:fillRect/>
          </a:stretch>
        </p:blipFill>
        <p:spPr>
          <a:xfrm>
            <a:off x="4330700" y="2600154"/>
            <a:ext cx="1746250" cy="316708"/>
          </a:xfrm>
          <a:prstGeom prst="rect">
            <a:avLst/>
          </a:prstGeom>
        </p:spPr>
      </p:pic>
      <p:pic>
        <p:nvPicPr>
          <p:cNvPr id="12" name="Picture 11">
            <a:extLst>
              <a:ext uri="{FF2B5EF4-FFF2-40B4-BE49-F238E27FC236}">
                <a16:creationId xmlns:a16="http://schemas.microsoft.com/office/drawing/2014/main" id="{B39B57B1-3EDD-4F14-9A4B-289E5D06BED8}"/>
              </a:ext>
            </a:extLst>
          </p:cNvPr>
          <p:cNvPicPr>
            <a:picLocks noChangeAspect="1"/>
          </p:cNvPicPr>
          <p:nvPr/>
        </p:nvPicPr>
        <p:blipFill>
          <a:blip r:embed="rId7"/>
          <a:stretch>
            <a:fillRect/>
          </a:stretch>
        </p:blipFill>
        <p:spPr>
          <a:xfrm>
            <a:off x="2597426" y="3616255"/>
            <a:ext cx="2892286" cy="622028"/>
          </a:xfrm>
          <a:prstGeom prst="rect">
            <a:avLst/>
          </a:prstGeom>
        </p:spPr>
      </p:pic>
      <p:grpSp>
        <p:nvGrpSpPr>
          <p:cNvPr id="15" name="Group 14">
            <a:extLst>
              <a:ext uri="{FF2B5EF4-FFF2-40B4-BE49-F238E27FC236}">
                <a16:creationId xmlns:a16="http://schemas.microsoft.com/office/drawing/2014/main" id="{33ED6458-563B-ECCD-11AA-AA5221CD3098}"/>
              </a:ext>
            </a:extLst>
          </p:cNvPr>
          <p:cNvGrpSpPr/>
          <p:nvPr/>
        </p:nvGrpSpPr>
        <p:grpSpPr>
          <a:xfrm>
            <a:off x="6848296" y="3433502"/>
            <a:ext cx="5343704" cy="992730"/>
            <a:chOff x="6609757" y="3884070"/>
            <a:chExt cx="5343704" cy="992730"/>
          </a:xfrm>
        </p:grpSpPr>
        <p:sp>
          <p:nvSpPr>
            <p:cNvPr id="13" name="TextBox 12">
              <a:extLst>
                <a:ext uri="{FF2B5EF4-FFF2-40B4-BE49-F238E27FC236}">
                  <a16:creationId xmlns:a16="http://schemas.microsoft.com/office/drawing/2014/main" id="{F1B4B5DC-C73D-CBB0-0980-4D6E33E75FFA}"/>
                </a:ext>
              </a:extLst>
            </p:cNvPr>
            <p:cNvSpPr txBox="1"/>
            <p:nvPr/>
          </p:nvSpPr>
          <p:spPr>
            <a:xfrm>
              <a:off x="6609757" y="3884070"/>
              <a:ext cx="5343704" cy="461665"/>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The term ½(mass)(speed)</a:t>
              </a:r>
              <a:r>
                <a:rPr lang="en-US" sz="2400" baseline="30000" dirty="0">
                  <a:solidFill/>
                  <a:latin typeface="Times New Roman" panose="02020603050405020304" pitchFamily="18" charset="0"/>
                  <a:cs typeface="Times New Roman" panose="02020603050405020304" pitchFamily="18" charset="0"/>
                </a:rPr>
                <a:t>2</a:t>
              </a:r>
              <a:r>
                <a:rPr lang="en-US" sz="2400" dirty="0">
                  <a:solidFill/>
                  <a:latin typeface="Times New Roman" panose="02020603050405020304" pitchFamily="18" charset="0"/>
                  <a:cs typeface="Times New Roman" panose="02020603050405020304" pitchFamily="18" charset="0"/>
                </a:rPr>
                <a:t> is known as </a:t>
              </a:r>
            </a:p>
          </p:txBody>
        </p:sp>
        <p:sp>
          <p:nvSpPr>
            <p:cNvPr id="14" name="Rounded Rectangle 13">
              <a:extLst>
                <a:ext uri="{FF2B5EF4-FFF2-40B4-BE49-F238E27FC236}">
                  <a16:creationId xmlns:a16="http://schemas.microsoft.com/office/drawing/2014/main" id="{6AB46349-5923-D1B1-C150-6F1DE0778D33}"/>
                </a:ext>
              </a:extLst>
            </p:cNvPr>
            <p:cNvSpPr/>
            <p:nvPr/>
          </p:nvSpPr>
          <p:spPr>
            <a:xfrm>
              <a:off x="7726016" y="4452730"/>
              <a:ext cx="3021497" cy="4240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TextBox 15">
            <a:extLst>
              <a:ext uri="{FF2B5EF4-FFF2-40B4-BE49-F238E27FC236}">
                <a16:creationId xmlns:a16="http://schemas.microsoft.com/office/drawing/2014/main" id="{55AC2181-DA99-5F16-C28F-248673D210BD}"/>
              </a:ext>
            </a:extLst>
          </p:cNvPr>
          <p:cNvSpPr txBox="1"/>
          <p:nvPr/>
        </p:nvSpPr>
        <p:spPr>
          <a:xfrm>
            <a:off x="7964555" y="4015414"/>
            <a:ext cx="3578088"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Kinetic Energy (KE)</a:t>
            </a:r>
          </a:p>
        </p:txBody>
      </p:sp>
      <p:grpSp>
        <p:nvGrpSpPr>
          <p:cNvPr id="28" name="Group 27">
            <a:extLst>
              <a:ext uri="{FF2B5EF4-FFF2-40B4-BE49-F238E27FC236}">
                <a16:creationId xmlns:a16="http://schemas.microsoft.com/office/drawing/2014/main" id="{B047187A-9765-DB34-0FB2-B857D70FAB69}"/>
              </a:ext>
            </a:extLst>
          </p:cNvPr>
          <p:cNvGrpSpPr/>
          <p:nvPr/>
        </p:nvGrpSpPr>
        <p:grpSpPr>
          <a:xfrm>
            <a:off x="251791" y="4585256"/>
            <a:ext cx="12231757" cy="1683021"/>
            <a:chOff x="251791" y="4585256"/>
            <a:chExt cx="12231757" cy="1683021"/>
          </a:xfrm>
        </p:grpSpPr>
        <p:sp>
          <p:nvSpPr>
            <p:cNvPr id="17" name="TextBox 16">
              <a:extLst>
                <a:ext uri="{FF2B5EF4-FFF2-40B4-BE49-F238E27FC236}">
                  <a16:creationId xmlns:a16="http://schemas.microsoft.com/office/drawing/2014/main" id="{1DF30514-BAA9-4009-78E8-7123E1116CFF}"/>
                </a:ext>
              </a:extLst>
            </p:cNvPr>
            <p:cNvSpPr txBox="1"/>
            <p:nvPr/>
          </p:nvSpPr>
          <p:spPr>
            <a:xfrm>
              <a:off x="318052" y="4638265"/>
              <a:ext cx="5698435" cy="461665"/>
            </a:xfrm>
            <a:prstGeom prst="rect">
              <a:avLst/>
            </a:prstGeom>
            <a:noFill/>
          </p:spPr>
          <p:txBody>
            <a:bodyPr wrap="square" rtlCol="0">
              <a:spAutoFit/>
            </a:bodyPr>
            <a:lstStyle/>
            <a:p>
              <a:pPr/>
              <a:r>
                <a:rPr lang="en-US" sz="2400" dirty="0">
                  <a:solidFill>
                    <a:srgbClr val="C00000"/>
                  </a:solidFill>
                  <a:latin typeface="Times" pitchFamily="2" charset="0"/>
                  <a:cs typeface="Times New Roman" panose="02020603050405020304" pitchFamily="18" charset="0"/>
                </a:rPr>
                <a:t>DEFINITION OF KINETIC ENERGY</a:t>
              </a:r>
            </a:p>
          </p:txBody>
        </p:sp>
        <p:sp>
          <p:nvSpPr>
            <p:cNvPr id="23" name="TextBox 22">
              <a:extLst>
                <a:ext uri="{FF2B5EF4-FFF2-40B4-BE49-F238E27FC236}">
                  <a16:creationId xmlns:a16="http://schemas.microsoft.com/office/drawing/2014/main" id="{6AAD2BDE-8580-90CB-B001-F6470205BE43}"/>
                </a:ext>
              </a:extLst>
            </p:cNvPr>
            <p:cNvSpPr txBox="1"/>
            <p:nvPr/>
          </p:nvSpPr>
          <p:spPr>
            <a:xfrm>
              <a:off x="331304" y="5043971"/>
              <a:ext cx="9329530" cy="461665"/>
            </a:xfrm>
            <a:prstGeom prst="rect">
              <a:avLst/>
            </a:prstGeom>
            <a:noFill/>
          </p:spPr>
          <p:txBody>
            <a:bodyPr wrap="square">
              <a:spAutoFit/>
            </a:bodyPr>
            <a:lstStyle/>
            <a:p>
              <a:pPr/>
              <a:r>
                <a:rPr lang="en-US" sz="2400" dirty="0">
                  <a:solidFill/>
                  <a:latin typeface="Times" pitchFamily="2" charset="0"/>
                </a:rPr>
                <a:t>The kinetic energy KE of an object with mass </a:t>
              </a:r>
              <a:r>
                <a:rPr lang="en-US" sz="2400" i="1" dirty="0">
                  <a:solidFill/>
                  <a:latin typeface="Times" pitchFamily="2" charset="0"/>
                </a:rPr>
                <a:t>m</a:t>
              </a:r>
              <a:r>
                <a:rPr lang="en-US" sz="2400" dirty="0">
                  <a:solidFill/>
                  <a:latin typeface="Times" pitchFamily="2" charset="0"/>
                </a:rPr>
                <a:t> and speed </a:t>
              </a:r>
              <a:r>
                <a:rPr lang="en-US" sz="2400" i="1" dirty="0">
                  <a:solidFill/>
                  <a:latin typeface="Times" pitchFamily="2" charset="0"/>
                </a:rPr>
                <a:t>v</a:t>
              </a:r>
              <a:r>
                <a:rPr lang="en-US" sz="2400" dirty="0">
                  <a:solidFill/>
                  <a:latin typeface="Times" pitchFamily="2" charset="0"/>
                </a:rPr>
                <a:t> is given by:</a:t>
              </a:r>
            </a:p>
          </p:txBody>
        </p:sp>
        <p:sp>
          <p:nvSpPr>
            <p:cNvPr id="25" name="Rectangle 24">
              <a:extLst>
                <a:ext uri="{FF2B5EF4-FFF2-40B4-BE49-F238E27FC236}">
                  <a16:creationId xmlns:a16="http://schemas.microsoft.com/office/drawing/2014/main" id="{73E60128-D7D3-A3A8-4040-13CF4A5B7D51}"/>
                </a:ext>
              </a:extLst>
            </p:cNvPr>
            <p:cNvSpPr/>
            <p:nvPr/>
          </p:nvSpPr>
          <p:spPr>
            <a:xfrm>
              <a:off x="251791" y="4585256"/>
              <a:ext cx="11688418" cy="1683021"/>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74DF683F-BBD1-92BE-33B2-52D8E84299D8}"/>
                </a:ext>
              </a:extLst>
            </p:cNvPr>
            <p:cNvPicPr>
              <a:picLocks noChangeAspect="1"/>
            </p:cNvPicPr>
            <p:nvPr/>
          </p:nvPicPr>
          <p:blipFill>
            <a:blip r:embed="rId8"/>
            <a:stretch>
              <a:fillRect/>
            </a:stretch>
          </p:blipFill>
          <p:spPr>
            <a:xfrm>
              <a:off x="9440615" y="4996068"/>
              <a:ext cx="1292541" cy="579507"/>
            </a:xfrm>
            <a:prstGeom prst="rect">
              <a:avLst/>
            </a:prstGeom>
          </p:spPr>
        </p:pic>
        <p:sp>
          <p:nvSpPr>
            <p:cNvPr id="27" name="TextBox 26">
              <a:extLst>
                <a:ext uri="{FF2B5EF4-FFF2-40B4-BE49-F238E27FC236}">
                  <a16:creationId xmlns:a16="http://schemas.microsoft.com/office/drawing/2014/main" id="{366825E3-D543-C9C2-7D6F-4EE29C971770}"/>
                </a:ext>
              </a:extLst>
            </p:cNvPr>
            <p:cNvSpPr txBox="1"/>
            <p:nvPr/>
          </p:nvSpPr>
          <p:spPr>
            <a:xfrm>
              <a:off x="11145078" y="5102087"/>
              <a:ext cx="1338470" cy="400110"/>
            </a:xfrm>
            <a:prstGeom prst="rect">
              <a:avLst/>
            </a:prstGeom>
            <a:noFill/>
          </p:spPr>
          <p:txBody>
            <a:bodyPr wrap="square" rtlCol="0">
              <a:spAutoFit/>
            </a:bodyPr>
            <a:lstStyle/>
            <a:p>
              <a:pPr/>
              <a:r>
                <a:rPr lang="en-US" sz="2000" dirty="0">
                  <a:solidFill/>
                </a:rPr>
                <a:t>(</a:t>
              </a:r>
              <a:r>
                <a:rPr lang="en-US" sz="2000" b="1" dirty="0">
                  <a:solidFill/>
                  <a:latin typeface="Times" pitchFamily="2" charset="0"/>
                </a:rPr>
                <a:t>6.2</a:t>
              </a:r>
              <a:r>
                <a:rPr lang="en-US" sz="2000" dirty="0">
                  <a:solidFill/>
                </a:rPr>
                <a:t>)</a:t>
              </a:r>
            </a:p>
          </p:txBody>
        </p:sp>
      </p:grpSp>
      <p:sp>
        <p:nvSpPr>
          <p:cNvPr id="31" name="TextBox 30">
            <a:extLst>
              <a:ext uri="{FF2B5EF4-FFF2-40B4-BE49-F238E27FC236}">
                <a16:creationId xmlns:a16="http://schemas.microsoft.com/office/drawing/2014/main" id="{89AAE9C5-B54C-CD3B-29D7-EF136A8EF633}"/>
              </a:ext>
            </a:extLst>
          </p:cNvPr>
          <p:cNvSpPr txBox="1"/>
          <p:nvPr/>
        </p:nvSpPr>
        <p:spPr>
          <a:xfrm>
            <a:off x="364435" y="5725802"/>
            <a:ext cx="6374294" cy="461665"/>
          </a:xfrm>
          <a:prstGeom prst="rect">
            <a:avLst/>
          </a:prstGeom>
          <a:noFill/>
        </p:spPr>
        <p:txBody>
          <a:bodyPr wrap="square">
            <a:spAutoFit/>
          </a:bodyPr>
          <a:lstStyle/>
          <a:p>
            <a:pPr/>
            <a:r>
              <a:rPr lang="en-US" sz="2400" dirty="0">
                <a:solidFill/>
                <a:latin typeface="Times" pitchFamily="2" charset="0"/>
              </a:rPr>
              <a:t>SI Unit of Kinetic Energy: joule (J)</a:t>
            </a:r>
          </a:p>
        </p:txBody>
      </p:sp>
    </p:spTree>
    <p:extLst>
      <p:ext uri="{BB962C8B-B14F-4D97-AF65-F5344CB8AC3E}">
        <p14:creationId xmlns:p14="http://schemas.microsoft.com/office/powerpoint/2010/main" val="3098079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dissolv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dissolv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dissolv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dissolve">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dissolve">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dissolve">
                                      <p:cBhvr>
                                        <p:cTn id="47" dur="500"/>
                                        <p:tgtEl>
                                          <p:spTgt spid="28"/>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dissolve">
                                      <p:cBhvr>
                                        <p:cTn id="5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P spid="8" grpId="0"/>
      <p:bldP spid="16" grpId="0"/>
      <p:bldP spid="3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BC6F6-044B-94DF-ABFA-0A346A68DA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46C1C0-C6E1-EB06-ADAB-13CA5AE31404}"/>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pic>
        <p:nvPicPr>
          <p:cNvPr id="12" name="Picture 11">
            <a:extLst>
              <a:ext uri="{FF2B5EF4-FFF2-40B4-BE49-F238E27FC236}">
                <a16:creationId xmlns:a16="http://schemas.microsoft.com/office/drawing/2014/main" id="{3138E422-09BD-9497-18CD-59B45F901419}"/>
              </a:ext>
            </a:extLst>
          </p:cNvPr>
          <p:cNvPicPr>
            <a:picLocks noChangeAspect="1"/>
          </p:cNvPicPr>
          <p:nvPr/>
        </p:nvPicPr>
        <p:blipFill>
          <a:blip r:embed="rId3"/>
          <a:srcRect l="13288" t="4516"/>
          <a:stretch/>
        </p:blipFill>
        <p:spPr>
          <a:xfrm>
            <a:off x="162892" y="877955"/>
            <a:ext cx="2507972" cy="593935"/>
          </a:xfrm>
          <a:prstGeom prst="rect">
            <a:avLst/>
          </a:prstGeom>
        </p:spPr>
      </p:pic>
      <p:pic>
        <p:nvPicPr>
          <p:cNvPr id="3" name="Picture 2">
            <a:extLst>
              <a:ext uri="{FF2B5EF4-FFF2-40B4-BE49-F238E27FC236}">
                <a16:creationId xmlns:a16="http://schemas.microsoft.com/office/drawing/2014/main" id="{A0891B2F-6024-72A8-B3E9-714469C47F63}"/>
              </a:ext>
            </a:extLst>
          </p:cNvPr>
          <p:cNvPicPr>
            <a:picLocks noChangeAspect="1"/>
          </p:cNvPicPr>
          <p:nvPr/>
        </p:nvPicPr>
        <p:blipFill>
          <a:blip r:embed="rId4"/>
          <a:stretch>
            <a:fillRect/>
          </a:stretch>
        </p:blipFill>
        <p:spPr>
          <a:xfrm>
            <a:off x="2812222" y="1053706"/>
            <a:ext cx="2415207" cy="293094"/>
          </a:xfrm>
          <a:prstGeom prst="rect">
            <a:avLst/>
          </a:prstGeom>
        </p:spPr>
      </p:pic>
      <p:sp>
        <p:nvSpPr>
          <p:cNvPr id="7" name="TextBox 6">
            <a:extLst>
              <a:ext uri="{FF2B5EF4-FFF2-40B4-BE49-F238E27FC236}">
                <a16:creationId xmlns:a16="http://schemas.microsoft.com/office/drawing/2014/main" id="{95ABDD10-6990-FCF4-41EE-E407EB8C7D18}"/>
              </a:ext>
            </a:extLst>
          </p:cNvPr>
          <p:cNvSpPr txBox="1"/>
          <p:nvPr/>
        </p:nvSpPr>
        <p:spPr>
          <a:xfrm>
            <a:off x="5667197" y="758217"/>
            <a:ext cx="6232703" cy="830997"/>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From this expression, we see that the work done is equal to the change in the jet’s</a:t>
            </a:r>
            <a:r>
              <a:rPr lang="en-US" sz="2400" dirty="0">
                <a:solidFill>
                  <a:srgbClr val="007440"/>
                </a:solidFill>
                <a:latin typeface="Times New Roman" panose="02020603050405020304" pitchFamily="18" charset="0"/>
                <a:cs typeface="Times New Roman" panose="02020603050405020304" pitchFamily="18" charset="0"/>
              </a:rPr>
              <a:t> </a:t>
            </a:r>
            <a:r>
              <a:rPr lang="en-US" sz="2400" dirty="0">
                <a:solidFill/>
                <a:latin typeface="Times New Roman" panose="02020603050405020304" pitchFamily="18" charset="0"/>
                <a:cs typeface="Times New Roman" panose="02020603050405020304" pitchFamily="18" charset="0"/>
              </a:rPr>
              <a:t>kinetic energy.</a:t>
            </a:r>
          </a:p>
        </p:txBody>
      </p:sp>
      <p:sp>
        <p:nvSpPr>
          <p:cNvPr id="9" name="TextBox 8">
            <a:extLst>
              <a:ext uri="{FF2B5EF4-FFF2-40B4-BE49-F238E27FC236}">
                <a16:creationId xmlns:a16="http://schemas.microsoft.com/office/drawing/2014/main" id="{832B6B30-899F-61DF-EA2C-9701D1DCB9C6}"/>
              </a:ext>
            </a:extLst>
          </p:cNvPr>
          <p:cNvSpPr txBox="1"/>
          <p:nvPr/>
        </p:nvSpPr>
        <p:spPr>
          <a:xfrm>
            <a:off x="3355329" y="1619694"/>
            <a:ext cx="8208518" cy="461665"/>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Clearly, </a:t>
            </a:r>
            <a:r>
              <a:rPr lang="en-US" sz="2400" dirty="0">
                <a:solidFill>
                  <a:srgbClr val="007440"/>
                </a:solidFill>
                <a:latin typeface="Times New Roman" panose="02020603050405020304" pitchFamily="18" charset="0"/>
                <a:cs typeface="Times New Roman" panose="02020603050405020304" pitchFamily="18" charset="0"/>
              </a:rPr>
              <a:t>Work</a:t>
            </a:r>
            <a:r>
              <a:rPr lang="en-US" sz="2400" dirty="0">
                <a:solidFill/>
                <a:latin typeface="Times New Roman" panose="02020603050405020304" pitchFamily="18" charset="0"/>
                <a:cs typeface="Times New Roman" panose="02020603050405020304" pitchFamily="18" charset="0"/>
              </a:rPr>
              <a:t> and </a:t>
            </a:r>
            <a:r>
              <a:rPr lang="en-US" sz="2400" dirty="0">
                <a:solidFill>
                  <a:srgbClr val="007440"/>
                </a:solidFill>
                <a:latin typeface="Times New Roman" panose="02020603050405020304" pitchFamily="18" charset="0"/>
                <a:cs typeface="Times New Roman" panose="02020603050405020304" pitchFamily="18" charset="0"/>
              </a:rPr>
              <a:t>Kinetic Energy </a:t>
            </a:r>
            <a:r>
              <a:rPr lang="en-US" sz="2400" dirty="0">
                <a:solidFill/>
                <a:latin typeface="Times New Roman" panose="02020603050405020304" pitchFamily="18" charset="0"/>
                <a:cs typeface="Times New Roman" panose="02020603050405020304" pitchFamily="18" charset="0"/>
              </a:rPr>
              <a:t>are closely related concepts:</a:t>
            </a:r>
          </a:p>
        </p:txBody>
      </p:sp>
      <p:grpSp>
        <p:nvGrpSpPr>
          <p:cNvPr id="22" name="Group 21">
            <a:extLst>
              <a:ext uri="{FF2B5EF4-FFF2-40B4-BE49-F238E27FC236}">
                <a16:creationId xmlns:a16="http://schemas.microsoft.com/office/drawing/2014/main" id="{227846B3-543D-780B-E506-65D5DEBAFA24}"/>
              </a:ext>
            </a:extLst>
          </p:cNvPr>
          <p:cNvGrpSpPr/>
          <p:nvPr/>
        </p:nvGrpSpPr>
        <p:grpSpPr>
          <a:xfrm>
            <a:off x="5782098" y="2159925"/>
            <a:ext cx="5754521" cy="499635"/>
            <a:chOff x="4701444" y="3025443"/>
            <a:chExt cx="5754521" cy="499635"/>
          </a:xfrm>
        </p:grpSpPr>
        <p:sp>
          <p:nvSpPr>
            <p:cNvPr id="20" name="TextBox 19">
              <a:extLst>
                <a:ext uri="{FF2B5EF4-FFF2-40B4-BE49-F238E27FC236}">
                  <a16:creationId xmlns:a16="http://schemas.microsoft.com/office/drawing/2014/main" id="{EE2D64A8-1CD3-F2F9-F2DE-F2479D184579}"/>
                </a:ext>
              </a:extLst>
            </p:cNvPr>
            <p:cNvSpPr txBox="1"/>
            <p:nvPr/>
          </p:nvSpPr>
          <p:spPr>
            <a:xfrm>
              <a:off x="4701444" y="3025443"/>
              <a:ext cx="2680017" cy="461665"/>
            </a:xfrm>
            <a:prstGeom prst="rect">
              <a:avLst/>
            </a:prstGeom>
            <a:noFill/>
          </p:spPr>
          <p:txBody>
            <a:bodyPr wrap="square" rtlCol="0">
              <a:spAutoFit/>
            </a:bodyPr>
            <a:lstStyle/>
            <a:p>
              <a:pPr algn="just"/>
              <a:r>
                <a:rPr lang="en-US" sz="2400" dirty="0">
                  <a:solidFill>
                    <a:srgbClr val="007440"/>
                  </a:solidFill>
                  <a:latin typeface="Times New Roman" panose="02020603050405020304" pitchFamily="18" charset="0"/>
                  <a:cs typeface="Times New Roman" panose="02020603050405020304" pitchFamily="18" charset="0"/>
                </a:rPr>
                <a:t>Work</a:t>
              </a:r>
              <a:r>
                <a:rPr lang="en-US" sz="2400" dirty="0">
                  <a:solidFill/>
                  <a:latin typeface="Times New Roman" panose="02020603050405020304" pitchFamily="18" charset="0"/>
                  <a:cs typeface="Times New Roman" panose="02020603050405020304" pitchFamily="18" charset="0"/>
                </a:rPr>
                <a:t> is</a:t>
              </a:r>
            </a:p>
          </p:txBody>
        </p:sp>
        <p:sp>
          <p:nvSpPr>
            <p:cNvPr id="21" name="Rounded Rectangle 20">
              <a:extLst>
                <a:ext uri="{FF2B5EF4-FFF2-40B4-BE49-F238E27FC236}">
                  <a16:creationId xmlns:a16="http://schemas.microsoft.com/office/drawing/2014/main" id="{3EBD4E5D-9F79-3D0E-3CFC-A527FB4B9FBF}"/>
                </a:ext>
              </a:extLst>
            </p:cNvPr>
            <p:cNvSpPr/>
            <p:nvPr/>
          </p:nvSpPr>
          <p:spPr>
            <a:xfrm>
              <a:off x="5870713" y="3087757"/>
              <a:ext cx="4585252" cy="4373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TextBox 28">
            <a:extLst>
              <a:ext uri="{FF2B5EF4-FFF2-40B4-BE49-F238E27FC236}">
                <a16:creationId xmlns:a16="http://schemas.microsoft.com/office/drawing/2014/main" id="{AF5A80BD-775C-E7CB-BC81-075BCA1F7F32}"/>
              </a:ext>
            </a:extLst>
          </p:cNvPr>
          <p:cNvSpPr txBox="1"/>
          <p:nvPr/>
        </p:nvSpPr>
        <p:spPr>
          <a:xfrm>
            <a:off x="6915158" y="2219559"/>
            <a:ext cx="4966017" cy="400110"/>
          </a:xfrm>
          <a:prstGeom prst="rect">
            <a:avLst/>
          </a:prstGeom>
          <a:noFill/>
        </p:spPr>
        <p:txBody>
          <a:bodyPr wrap="square" rtlCol="0">
            <a:spAutoFit/>
          </a:bodyPr>
          <a:lstStyle/>
          <a:p>
            <a:pPr algn="just"/>
            <a:r>
              <a:rPr lang="en-US" sz="2000" dirty="0">
                <a:solidFill>
                  <a:srgbClr val="007440"/>
                </a:solidFill>
                <a:latin typeface="Chalkduster" panose="03050602040202020205" pitchFamily="66" charset="77"/>
                <a:cs typeface="Times New Roman" panose="02020603050405020304" pitchFamily="18" charset="0"/>
              </a:rPr>
              <a:t>energy transferred by a force.</a:t>
            </a:r>
          </a:p>
        </p:txBody>
      </p:sp>
      <p:grpSp>
        <p:nvGrpSpPr>
          <p:cNvPr id="30" name="Group 29">
            <a:extLst>
              <a:ext uri="{FF2B5EF4-FFF2-40B4-BE49-F238E27FC236}">
                <a16:creationId xmlns:a16="http://schemas.microsoft.com/office/drawing/2014/main" id="{097AB636-9B50-BE93-B382-F4AC236111F9}"/>
              </a:ext>
            </a:extLst>
          </p:cNvPr>
          <p:cNvGrpSpPr/>
          <p:nvPr/>
        </p:nvGrpSpPr>
        <p:grpSpPr>
          <a:xfrm>
            <a:off x="4702045" y="2988186"/>
            <a:ext cx="6948184" cy="461665"/>
            <a:chOff x="3588261" y="3065200"/>
            <a:chExt cx="6948184" cy="461665"/>
          </a:xfrm>
        </p:grpSpPr>
        <p:sp>
          <p:nvSpPr>
            <p:cNvPr id="32" name="TextBox 31">
              <a:extLst>
                <a:ext uri="{FF2B5EF4-FFF2-40B4-BE49-F238E27FC236}">
                  <a16:creationId xmlns:a16="http://schemas.microsoft.com/office/drawing/2014/main" id="{34538511-6960-BDCB-1DA5-D4914044E670}"/>
                </a:ext>
              </a:extLst>
            </p:cNvPr>
            <p:cNvSpPr txBox="1"/>
            <p:nvPr/>
          </p:nvSpPr>
          <p:spPr>
            <a:xfrm>
              <a:off x="3588261" y="3065200"/>
              <a:ext cx="2680017" cy="461665"/>
            </a:xfrm>
            <a:prstGeom prst="rect">
              <a:avLst/>
            </a:prstGeom>
            <a:noFill/>
          </p:spPr>
          <p:txBody>
            <a:bodyPr wrap="square" rtlCol="0">
              <a:spAutoFit/>
            </a:bodyPr>
            <a:lstStyle/>
            <a:p>
              <a:pPr algn="just"/>
              <a:r>
                <a:rPr lang="en-US" sz="2400" dirty="0">
                  <a:solidFill>
                    <a:srgbClr val="007440"/>
                  </a:solidFill>
                  <a:latin typeface="Times New Roman" panose="02020603050405020304" pitchFamily="18" charset="0"/>
                  <a:cs typeface="Times New Roman" panose="02020603050405020304" pitchFamily="18" charset="0"/>
                </a:rPr>
                <a:t>Kinetic energy </a:t>
              </a:r>
              <a:r>
                <a:rPr lang="en-US" sz="2400" dirty="0">
                  <a:solidFill/>
                  <a:latin typeface="Times New Roman" panose="02020603050405020304" pitchFamily="18" charset="0"/>
                  <a:cs typeface="Times New Roman" panose="02020603050405020304" pitchFamily="18" charset="0"/>
                </a:rPr>
                <a:t>is</a:t>
              </a:r>
            </a:p>
          </p:txBody>
        </p:sp>
        <p:sp>
          <p:nvSpPr>
            <p:cNvPr id="33" name="Rounded Rectangle 32">
              <a:extLst>
                <a:ext uri="{FF2B5EF4-FFF2-40B4-BE49-F238E27FC236}">
                  <a16:creationId xmlns:a16="http://schemas.microsoft.com/office/drawing/2014/main" id="{4347A9A3-DA05-F45D-516C-69E003AF2F83}"/>
                </a:ext>
              </a:extLst>
            </p:cNvPr>
            <p:cNvSpPr/>
            <p:nvPr/>
          </p:nvSpPr>
          <p:spPr>
            <a:xfrm>
              <a:off x="5870713" y="3087757"/>
              <a:ext cx="4665732" cy="4373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TextBox 33">
            <a:extLst>
              <a:ext uri="{FF2B5EF4-FFF2-40B4-BE49-F238E27FC236}">
                <a16:creationId xmlns:a16="http://schemas.microsoft.com/office/drawing/2014/main" id="{5B4F51B0-FB06-883B-33F5-935F0960D0D2}"/>
              </a:ext>
            </a:extLst>
          </p:cNvPr>
          <p:cNvSpPr txBox="1"/>
          <p:nvPr/>
        </p:nvSpPr>
        <p:spPr>
          <a:xfrm>
            <a:off x="6948288" y="3008063"/>
            <a:ext cx="4966017" cy="400110"/>
          </a:xfrm>
          <a:prstGeom prst="rect">
            <a:avLst/>
          </a:prstGeom>
          <a:noFill/>
        </p:spPr>
        <p:txBody>
          <a:bodyPr wrap="square" rtlCol="0">
            <a:spAutoFit/>
          </a:bodyPr>
          <a:lstStyle/>
          <a:p>
            <a:pPr algn="just"/>
            <a:r>
              <a:rPr lang="en-US" sz="2000" dirty="0">
                <a:solidFill>
                  <a:srgbClr val="007440"/>
                </a:solidFill>
                <a:latin typeface="Chalkduster" panose="03050602040202020205" pitchFamily="66" charset="77"/>
                <a:cs typeface="Times New Roman" panose="02020603050405020304" pitchFamily="18" charset="0"/>
              </a:rPr>
              <a:t>energy associated with motion.</a:t>
            </a:r>
          </a:p>
        </p:txBody>
      </p:sp>
      <p:grpSp>
        <p:nvGrpSpPr>
          <p:cNvPr id="37" name="Group 36">
            <a:extLst>
              <a:ext uri="{FF2B5EF4-FFF2-40B4-BE49-F238E27FC236}">
                <a16:creationId xmlns:a16="http://schemas.microsoft.com/office/drawing/2014/main" id="{0D54CD1A-F2B4-FDA5-057D-0DF4D690F477}"/>
              </a:ext>
            </a:extLst>
          </p:cNvPr>
          <p:cNvGrpSpPr/>
          <p:nvPr/>
        </p:nvGrpSpPr>
        <p:grpSpPr>
          <a:xfrm>
            <a:off x="178991" y="2438573"/>
            <a:ext cx="3847606" cy="914400"/>
            <a:chOff x="285008" y="3313216"/>
            <a:chExt cx="3847606" cy="914400"/>
          </a:xfrm>
        </p:grpSpPr>
        <p:sp>
          <p:nvSpPr>
            <p:cNvPr id="36" name="Rectangle 35">
              <a:extLst>
                <a:ext uri="{FF2B5EF4-FFF2-40B4-BE49-F238E27FC236}">
                  <a16:creationId xmlns:a16="http://schemas.microsoft.com/office/drawing/2014/main" id="{23DC3DDB-85B2-5D7B-DEBE-2AE4B6949E24}"/>
                </a:ext>
              </a:extLst>
            </p:cNvPr>
            <p:cNvSpPr/>
            <p:nvPr/>
          </p:nvSpPr>
          <p:spPr>
            <a:xfrm>
              <a:off x="285008" y="3313216"/>
              <a:ext cx="3776353"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359190DD-BAB6-D004-B795-72A4597CBCEE}"/>
                </a:ext>
              </a:extLst>
            </p:cNvPr>
            <p:cNvSpPr txBox="1"/>
            <p:nvPr/>
          </p:nvSpPr>
          <p:spPr>
            <a:xfrm>
              <a:off x="475014" y="3420093"/>
              <a:ext cx="3657600" cy="707886"/>
            </a:xfrm>
            <a:prstGeom prst="rect">
              <a:avLst/>
            </a:prstGeom>
            <a:noFill/>
          </p:spPr>
          <p:txBody>
            <a:bodyPr wrap="square" rtlCol="0">
              <a:spAutoFit/>
            </a:bodyPr>
            <a:lstStyle/>
            <a:p>
              <a:pPr/>
              <a:r>
                <a:rPr lang="en-US" sz="2000" dirty="0">
                  <a:solidFill/>
                  <a:latin typeface="Times" pitchFamily="2" charset="0"/>
                </a:rPr>
                <a:t>*Both quantities are scalars, and both are measured in joules (J).</a:t>
              </a:r>
            </a:p>
          </p:txBody>
        </p:sp>
      </p:grpSp>
      <p:sp>
        <p:nvSpPr>
          <p:cNvPr id="38" name="Left Brace 37">
            <a:extLst>
              <a:ext uri="{FF2B5EF4-FFF2-40B4-BE49-F238E27FC236}">
                <a16:creationId xmlns:a16="http://schemas.microsoft.com/office/drawing/2014/main" id="{8A5ED3BF-D90B-5822-6A21-F7739F804FB7}"/>
              </a:ext>
            </a:extLst>
          </p:cNvPr>
          <p:cNvSpPr/>
          <p:nvPr/>
        </p:nvSpPr>
        <p:spPr>
          <a:xfrm rot="16200000">
            <a:off x="1079500" y="1333500"/>
            <a:ext cx="203200" cy="609600"/>
          </a:xfrm>
          <a:prstGeom prst="lef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Left Brace 38">
            <a:extLst>
              <a:ext uri="{FF2B5EF4-FFF2-40B4-BE49-F238E27FC236}">
                <a16:creationId xmlns:a16="http://schemas.microsoft.com/office/drawing/2014/main" id="{8488395A-5820-5033-E27E-E7E750B828D0}"/>
              </a:ext>
            </a:extLst>
          </p:cNvPr>
          <p:cNvSpPr/>
          <p:nvPr/>
        </p:nvSpPr>
        <p:spPr>
          <a:xfrm rot="16200000">
            <a:off x="2120900" y="1333500"/>
            <a:ext cx="203200" cy="609600"/>
          </a:xfrm>
          <a:prstGeom prst="lef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TextBox 39">
            <a:extLst>
              <a:ext uri="{FF2B5EF4-FFF2-40B4-BE49-F238E27FC236}">
                <a16:creationId xmlns:a16="http://schemas.microsoft.com/office/drawing/2014/main" id="{FEAE90C5-8412-1655-E2E1-65AC1A86862A}"/>
              </a:ext>
            </a:extLst>
          </p:cNvPr>
          <p:cNvSpPr txBox="1"/>
          <p:nvPr/>
        </p:nvSpPr>
        <p:spPr>
          <a:xfrm>
            <a:off x="941466" y="1710753"/>
            <a:ext cx="876300" cy="369332"/>
          </a:xfrm>
          <a:prstGeom prst="rect">
            <a:avLst/>
          </a:prstGeom>
          <a:noFill/>
        </p:spPr>
        <p:txBody>
          <a:bodyPr wrap="square" rtlCol="0">
            <a:spAutoFit/>
          </a:bodyPr>
          <a:lstStyle/>
          <a:p>
            <a:pPr/>
            <a:r>
              <a:rPr lang="en-US" dirty="0" err="1">
                <a:solidFill/>
                <a:latin typeface="Times" pitchFamily="2" charset="0"/>
              </a:rPr>
              <a:t>KE</a:t>
            </a:r>
            <a:r>
              <a:rPr lang="en-US" baseline="-25000" dirty="0" err="1">
                <a:solidFill/>
                <a:latin typeface="Times" pitchFamily="2" charset="0"/>
              </a:rPr>
              <a:t>f</a:t>
            </a:r>
            <a:endParaRPr lang="en-US" dirty="0">
              <a:latin typeface="Times" pitchFamily="2" charset="0"/>
            </a:endParaRPr>
          </a:p>
        </p:txBody>
      </p:sp>
      <p:sp>
        <p:nvSpPr>
          <p:cNvPr id="41" name="TextBox 40">
            <a:extLst>
              <a:ext uri="{FF2B5EF4-FFF2-40B4-BE49-F238E27FC236}">
                <a16:creationId xmlns:a16="http://schemas.microsoft.com/office/drawing/2014/main" id="{EB2B64C5-54CF-3D24-9200-7975B7EE5B18}"/>
              </a:ext>
            </a:extLst>
          </p:cNvPr>
          <p:cNvSpPr txBox="1"/>
          <p:nvPr/>
        </p:nvSpPr>
        <p:spPr>
          <a:xfrm>
            <a:off x="1978285" y="1710753"/>
            <a:ext cx="876300" cy="369332"/>
          </a:xfrm>
          <a:prstGeom prst="rect">
            <a:avLst/>
          </a:prstGeom>
          <a:noFill/>
        </p:spPr>
        <p:txBody>
          <a:bodyPr wrap="square" rtlCol="0">
            <a:spAutoFit/>
          </a:bodyPr>
          <a:lstStyle/>
          <a:p>
            <a:pPr/>
            <a:r>
              <a:rPr lang="en-US" dirty="0">
                <a:solidFill/>
                <a:latin typeface="Times" pitchFamily="2" charset="0"/>
              </a:rPr>
              <a:t>KE</a:t>
            </a:r>
            <a:r>
              <a:rPr lang="en-US" baseline="-25000" dirty="0">
                <a:solidFill/>
                <a:latin typeface="Times" pitchFamily="2" charset="0"/>
              </a:rPr>
              <a:t>0</a:t>
            </a:r>
            <a:endParaRPr lang="en-US" dirty="0">
              <a:latin typeface="Times" pitchFamily="2" charset="0"/>
            </a:endParaRPr>
          </a:p>
        </p:txBody>
      </p:sp>
      <p:grpSp>
        <p:nvGrpSpPr>
          <p:cNvPr id="43" name="Group 42">
            <a:extLst>
              <a:ext uri="{FF2B5EF4-FFF2-40B4-BE49-F238E27FC236}">
                <a16:creationId xmlns:a16="http://schemas.microsoft.com/office/drawing/2014/main" id="{2792D028-CD08-3042-2FFC-9CF8E17FE5BA}"/>
              </a:ext>
            </a:extLst>
          </p:cNvPr>
          <p:cNvGrpSpPr/>
          <p:nvPr/>
        </p:nvGrpSpPr>
        <p:grpSpPr>
          <a:xfrm>
            <a:off x="265044" y="3803377"/>
            <a:ext cx="11688418" cy="2491406"/>
            <a:chOff x="265044" y="3803377"/>
            <a:chExt cx="11688418" cy="2491406"/>
          </a:xfrm>
        </p:grpSpPr>
        <p:grpSp>
          <p:nvGrpSpPr>
            <p:cNvPr id="28" name="Group 27">
              <a:extLst>
                <a:ext uri="{FF2B5EF4-FFF2-40B4-BE49-F238E27FC236}">
                  <a16:creationId xmlns:a16="http://schemas.microsoft.com/office/drawing/2014/main" id="{AD46052C-91B3-D880-8CCA-4D4DBE74D150}"/>
                </a:ext>
              </a:extLst>
            </p:cNvPr>
            <p:cNvGrpSpPr/>
            <p:nvPr/>
          </p:nvGrpSpPr>
          <p:grpSpPr>
            <a:xfrm>
              <a:off x="265044" y="3803377"/>
              <a:ext cx="11688418" cy="2491406"/>
              <a:chOff x="251791" y="4585256"/>
              <a:chExt cx="11688418" cy="2491406"/>
            </a:xfrm>
          </p:grpSpPr>
          <p:sp>
            <p:nvSpPr>
              <p:cNvPr id="17" name="TextBox 16">
                <a:extLst>
                  <a:ext uri="{FF2B5EF4-FFF2-40B4-BE49-F238E27FC236}">
                    <a16:creationId xmlns:a16="http://schemas.microsoft.com/office/drawing/2014/main" id="{7003A301-5B55-5179-8AA0-ACC8C28F2869}"/>
                  </a:ext>
                </a:extLst>
              </p:cNvPr>
              <p:cNvSpPr txBox="1"/>
              <p:nvPr/>
            </p:nvSpPr>
            <p:spPr>
              <a:xfrm>
                <a:off x="318052" y="4638265"/>
                <a:ext cx="5698435" cy="461665"/>
              </a:xfrm>
              <a:prstGeom prst="rect">
                <a:avLst/>
              </a:prstGeom>
              <a:noFill/>
            </p:spPr>
            <p:txBody>
              <a:bodyPr wrap="square" rtlCol="0">
                <a:spAutoFit/>
              </a:bodyPr>
              <a:lstStyle/>
              <a:p>
                <a:pPr/>
                <a:r>
                  <a:rPr lang="en-US" sz="2400" dirty="0">
                    <a:solidFill>
                      <a:srgbClr val="C00000"/>
                    </a:solidFill>
                    <a:latin typeface="Times" pitchFamily="2" charset="0"/>
                    <a:cs typeface="Times New Roman" panose="02020603050405020304" pitchFamily="18" charset="0"/>
                  </a:rPr>
                  <a:t>THE WORK-ENERGY THEOREM</a:t>
                </a:r>
              </a:p>
            </p:txBody>
          </p:sp>
          <p:sp>
            <p:nvSpPr>
              <p:cNvPr id="23" name="TextBox 22">
                <a:extLst>
                  <a:ext uri="{FF2B5EF4-FFF2-40B4-BE49-F238E27FC236}">
                    <a16:creationId xmlns:a16="http://schemas.microsoft.com/office/drawing/2014/main" id="{3D9CC616-2FFB-B48D-1306-9211E74608A0}"/>
                  </a:ext>
                </a:extLst>
              </p:cNvPr>
              <p:cNvSpPr txBox="1"/>
              <p:nvPr/>
            </p:nvSpPr>
            <p:spPr>
              <a:xfrm>
                <a:off x="331303" y="5043971"/>
                <a:ext cx="11569148" cy="1200329"/>
              </a:xfrm>
              <a:prstGeom prst="rect">
                <a:avLst/>
              </a:prstGeom>
              <a:noFill/>
            </p:spPr>
            <p:txBody>
              <a:bodyPr wrap="square">
                <a:spAutoFit/>
              </a:bodyPr>
              <a:lstStyle/>
              <a:p>
                <a:pPr algn="just"/>
                <a:r>
                  <a:rPr lang="en-US" sz="2400" dirty="0">
                    <a:solidFill/>
                    <a:latin typeface="Times" pitchFamily="2" charset="0"/>
                  </a:rPr>
                  <a:t>When a net external force does work W on an object, the kinetic energy of the object changes from its initial value of KE</a:t>
                </a:r>
                <a:r>
                  <a:rPr lang="en-US" sz="2400" baseline="-25000" dirty="0">
                    <a:solidFill/>
                    <a:latin typeface="Times" pitchFamily="2" charset="0"/>
                  </a:rPr>
                  <a:t>0</a:t>
                </a:r>
                <a:r>
                  <a:rPr lang="en-US" sz="2400" dirty="0">
                    <a:solidFill/>
                    <a:latin typeface="Times" pitchFamily="2" charset="0"/>
                  </a:rPr>
                  <a:t> to a final value of </a:t>
                </a:r>
                <a:r>
                  <a:rPr lang="en-US" sz="2400" dirty="0" err="1">
                    <a:solidFill/>
                    <a:latin typeface="Times" pitchFamily="2" charset="0"/>
                  </a:rPr>
                  <a:t>KE</a:t>
                </a:r>
                <a:r>
                  <a:rPr lang="en-US" sz="2400" baseline="-25000" dirty="0" err="1">
                    <a:solidFill/>
                    <a:latin typeface="Times" pitchFamily="2" charset="0"/>
                  </a:rPr>
                  <a:t>f</a:t>
                </a:r>
                <a:r>
                  <a:rPr lang="en-US" sz="2400" dirty="0">
                    <a:solidFill/>
                    <a:latin typeface="Times" pitchFamily="2" charset="0"/>
                  </a:rPr>
                  <a:t>, the difference between the two values being equal to the work:</a:t>
                </a:r>
              </a:p>
            </p:txBody>
          </p:sp>
          <p:sp>
            <p:nvSpPr>
              <p:cNvPr id="25" name="Rectangle 24">
                <a:extLst>
                  <a:ext uri="{FF2B5EF4-FFF2-40B4-BE49-F238E27FC236}">
                    <a16:creationId xmlns:a16="http://schemas.microsoft.com/office/drawing/2014/main" id="{C07A4242-4BFD-8019-D0E6-DD9A27B18C29}"/>
                  </a:ext>
                </a:extLst>
              </p:cNvPr>
              <p:cNvSpPr/>
              <p:nvPr/>
            </p:nvSpPr>
            <p:spPr>
              <a:xfrm>
                <a:off x="251791" y="4585256"/>
                <a:ext cx="11688418" cy="2491406"/>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5824A309-BB50-A38C-001B-5255F83792BF}"/>
                  </a:ext>
                </a:extLst>
              </p:cNvPr>
              <p:cNvSpPr txBox="1"/>
              <p:nvPr/>
            </p:nvSpPr>
            <p:spPr>
              <a:xfrm>
                <a:off x="10522225" y="6255027"/>
                <a:ext cx="1338470" cy="400110"/>
              </a:xfrm>
              <a:prstGeom prst="rect">
                <a:avLst/>
              </a:prstGeom>
              <a:noFill/>
            </p:spPr>
            <p:txBody>
              <a:bodyPr wrap="square" rtlCol="0">
                <a:spAutoFit/>
              </a:bodyPr>
              <a:lstStyle/>
              <a:p>
                <a:pPr/>
                <a:r>
                  <a:rPr lang="en-US" sz="2000" dirty="0">
                    <a:solidFill/>
                  </a:rPr>
                  <a:t>(</a:t>
                </a:r>
                <a:r>
                  <a:rPr lang="en-US" sz="2000" b="1" dirty="0">
                    <a:solidFill/>
                    <a:latin typeface="Times" pitchFamily="2" charset="0"/>
                  </a:rPr>
                  <a:t>6.3</a:t>
                </a:r>
                <a:r>
                  <a:rPr lang="en-US" sz="2000" dirty="0">
                    <a:solidFill/>
                  </a:rPr>
                  <a:t>)</a:t>
                </a:r>
              </a:p>
            </p:txBody>
          </p:sp>
        </p:grpSp>
        <p:pic>
          <p:nvPicPr>
            <p:cNvPr id="42" name="Picture 41">
              <a:extLst>
                <a:ext uri="{FF2B5EF4-FFF2-40B4-BE49-F238E27FC236}">
                  <a16:creationId xmlns:a16="http://schemas.microsoft.com/office/drawing/2014/main" id="{E22962E2-E8CD-0000-6B23-BC008FBD38BC}"/>
                </a:ext>
              </a:extLst>
            </p:cNvPr>
            <p:cNvPicPr>
              <a:picLocks noChangeAspect="1"/>
            </p:cNvPicPr>
            <p:nvPr/>
          </p:nvPicPr>
          <p:blipFill>
            <a:blip r:embed="rId5"/>
            <a:stretch>
              <a:fillRect/>
            </a:stretch>
          </p:blipFill>
          <p:spPr>
            <a:xfrm>
              <a:off x="3670852" y="5348784"/>
              <a:ext cx="4747592" cy="594133"/>
            </a:xfrm>
            <a:prstGeom prst="rect">
              <a:avLst/>
            </a:prstGeom>
          </p:spPr>
        </p:pic>
      </p:grpSp>
    </p:spTree>
    <p:extLst>
      <p:ext uri="{BB962C8B-B14F-4D97-AF65-F5344CB8AC3E}">
        <p14:creationId xmlns:p14="http://schemas.microsoft.com/office/powerpoint/2010/main" val="3077657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dissolve">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dissolv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dissolve">
                                      <p:cBhvr>
                                        <p:cTn id="21"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dissolve">
                                      <p:cBhvr>
                                        <p:cTn id="26" dur="500"/>
                                        <p:tgtEl>
                                          <p:spTgt spid="29"/>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dissolve">
                                      <p:cBhvr>
                                        <p:cTn id="31" dur="500"/>
                                        <p:tgtEl>
                                          <p:spTgt spid="30"/>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dissolve">
                                      <p:cBhvr>
                                        <p:cTn id="36" dur="500"/>
                                        <p:tgtEl>
                                          <p:spTgt spid="34"/>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dissolve">
                                      <p:cBhvr>
                                        <p:cTn id="41" dur="500"/>
                                        <p:tgtEl>
                                          <p:spTgt spid="37"/>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43"/>
                                        </p:tgtEl>
                                        <p:attrNameLst>
                                          <p:attrName>style.visibility</p:attrName>
                                        </p:attrNameLst>
                                      </p:cBhvr>
                                      <p:to>
                                        <p:strVal val="visible"/>
                                      </p:to>
                                    </p:set>
                                    <p:animEffect transition="in" filter="dissolve">
                                      <p:cBhvr>
                                        <p:cTn id="46"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29" grpId="0"/>
      <p:bldP spid="3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ACE20-0978-4D53-6552-1E9B025355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BEE24A-1A99-F1CC-8BC2-E5CF5E72D597}"/>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sp>
        <p:nvSpPr>
          <p:cNvPr id="45" name="TextBox 44">
            <a:extLst>
              <a:ext uri="{FF2B5EF4-FFF2-40B4-BE49-F238E27FC236}">
                <a16:creationId xmlns:a16="http://schemas.microsoft.com/office/drawing/2014/main" id="{9B60C139-69F1-4BD5-052C-CCD04CAFF776}"/>
              </a:ext>
            </a:extLst>
          </p:cNvPr>
          <p:cNvSpPr txBox="1"/>
          <p:nvPr/>
        </p:nvSpPr>
        <p:spPr>
          <a:xfrm>
            <a:off x="520149" y="1235909"/>
            <a:ext cx="11234531" cy="1569660"/>
          </a:xfrm>
          <a:prstGeom prst="rect">
            <a:avLst/>
          </a:prstGeom>
          <a:noFill/>
        </p:spPr>
        <p:txBody>
          <a:bodyPr wrap="square">
            <a:spAutoFit/>
          </a:bodyPr>
          <a:lstStyle/>
          <a:p>
            <a:pPr algn="just"/>
            <a:r>
              <a:rPr lang="en-US" sz="2400" dirty="0">
                <a:solidFill/>
                <a:latin typeface="Times" pitchFamily="2" charset="0"/>
              </a:rPr>
              <a:t>The </a:t>
            </a:r>
            <a:r>
              <a:rPr lang="en-US" sz="2400" b="1" dirty="0">
                <a:solidFill/>
                <a:latin typeface="Times" pitchFamily="2" charset="0"/>
              </a:rPr>
              <a:t>work–energy theorem </a:t>
            </a:r>
            <a:r>
              <a:rPr lang="en-US" sz="2400" dirty="0">
                <a:solidFill/>
                <a:latin typeface="Times" pitchFamily="2" charset="0"/>
              </a:rPr>
              <a:t>shows that a moving object possesses </a:t>
            </a:r>
            <a:r>
              <a:rPr lang="en-US" sz="2400" dirty="0">
                <a:solidFill>
                  <a:srgbClr val="007440"/>
                </a:solidFill>
                <a:latin typeface="Times" pitchFamily="2" charset="0"/>
              </a:rPr>
              <a:t>kinetic energy </a:t>
            </a:r>
            <a:r>
              <a:rPr lang="en-US" sz="2400" dirty="0">
                <a:solidFill/>
                <a:latin typeface="Times" pitchFamily="2" charset="0"/>
              </a:rPr>
              <a:t>because </a:t>
            </a:r>
            <a:r>
              <a:rPr lang="en-US" sz="2400" dirty="0">
                <a:solidFill>
                  <a:srgbClr val="007440"/>
                </a:solidFill>
                <a:latin typeface="Times" pitchFamily="2" charset="0"/>
              </a:rPr>
              <a:t>work</a:t>
            </a:r>
            <a:r>
              <a:rPr lang="en-US" sz="2400" dirty="0">
                <a:solidFill/>
                <a:latin typeface="Times" pitchFamily="2" charset="0"/>
              </a:rPr>
              <a:t> was done on the object to change its speed from one value to another. Conversely, an object with </a:t>
            </a:r>
            <a:r>
              <a:rPr lang="en-US" sz="2400" dirty="0">
                <a:solidFill>
                  <a:srgbClr val="007440"/>
                </a:solidFill>
                <a:latin typeface="Times" pitchFamily="2" charset="0"/>
              </a:rPr>
              <a:t>kinetic energy </a:t>
            </a:r>
            <a:r>
              <a:rPr lang="en-US" sz="2400" dirty="0">
                <a:solidFill/>
                <a:latin typeface="Times" pitchFamily="2" charset="0"/>
              </a:rPr>
              <a:t>can do </a:t>
            </a:r>
            <a:r>
              <a:rPr lang="en-US" sz="2400" dirty="0">
                <a:solidFill>
                  <a:srgbClr val="007440"/>
                </a:solidFill>
                <a:latin typeface="Times" pitchFamily="2" charset="0"/>
              </a:rPr>
              <a:t>work</a:t>
            </a:r>
            <a:r>
              <a:rPr lang="en-US" sz="2400" dirty="0">
                <a:solidFill/>
                <a:latin typeface="Times" pitchFamily="2" charset="0"/>
              </a:rPr>
              <a:t> by exerting a force (a push or pull) on another object as it moves – transferring some of its </a:t>
            </a:r>
            <a:r>
              <a:rPr lang="en-US" sz="2400" dirty="0">
                <a:solidFill>
                  <a:srgbClr val="007440"/>
                </a:solidFill>
                <a:latin typeface="Times" pitchFamily="2" charset="0"/>
              </a:rPr>
              <a:t>kinetic energy </a:t>
            </a:r>
            <a:r>
              <a:rPr lang="en-US" sz="2400" dirty="0">
                <a:solidFill/>
                <a:latin typeface="Times" pitchFamily="2" charset="0"/>
              </a:rPr>
              <a:t>in the process.</a:t>
            </a:r>
          </a:p>
        </p:txBody>
      </p:sp>
      <p:sp>
        <p:nvSpPr>
          <p:cNvPr id="4" name="Rectangle 3">
            <a:extLst>
              <a:ext uri="{FF2B5EF4-FFF2-40B4-BE49-F238E27FC236}">
                <a16:creationId xmlns:a16="http://schemas.microsoft.com/office/drawing/2014/main" id="{FDFF5727-331B-56FF-7B0C-692698B25E1B}"/>
              </a:ext>
            </a:extLst>
          </p:cNvPr>
          <p:cNvSpPr/>
          <p:nvPr/>
        </p:nvSpPr>
        <p:spPr>
          <a:xfrm>
            <a:off x="410818" y="901148"/>
            <a:ext cx="11357113" cy="1948069"/>
          </a:xfrm>
          <a:prstGeom prst="rect">
            <a:avLst/>
          </a:prstGeom>
          <a:noFill/>
          <a:ln w="38100">
            <a:solidFill>
              <a:srgbClr val="C069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CDF9A33-4D1B-9303-BA9E-35754A28908A}"/>
              </a:ext>
            </a:extLst>
          </p:cNvPr>
          <p:cNvSpPr txBox="1"/>
          <p:nvPr/>
        </p:nvSpPr>
        <p:spPr>
          <a:xfrm>
            <a:off x="530090" y="927652"/>
            <a:ext cx="3445564" cy="400110"/>
          </a:xfrm>
          <a:prstGeom prst="rect">
            <a:avLst/>
          </a:prstGeom>
          <a:noFill/>
        </p:spPr>
        <p:txBody>
          <a:bodyPr wrap="square" rtlCol="0">
            <a:spAutoFit/>
          </a:bodyPr>
          <a:lstStyle/>
          <a:p>
            <a:pPr/>
            <a:r>
              <a:rPr lang="en-US" sz="2000" dirty="0">
                <a:solidFill>
                  <a:srgbClr val="C0694F"/>
                </a:solidFill>
                <a:latin typeface="Times" pitchFamily="2" charset="0"/>
              </a:rPr>
              <a:t>Problem-Solving Insight</a:t>
            </a:r>
          </a:p>
        </p:txBody>
      </p:sp>
    </p:spTree>
    <p:extLst>
      <p:ext uri="{BB962C8B-B14F-4D97-AF65-F5344CB8AC3E}">
        <p14:creationId xmlns:p14="http://schemas.microsoft.com/office/powerpoint/2010/main" val="1646713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6C909-CACB-77DD-FE31-6C7380939B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A2B962-9478-C1E3-AA64-E8147F86B22D}"/>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grpSp>
        <p:nvGrpSpPr>
          <p:cNvPr id="3" name="Group 2">
            <a:extLst>
              <a:ext uri="{FF2B5EF4-FFF2-40B4-BE49-F238E27FC236}">
                <a16:creationId xmlns:a16="http://schemas.microsoft.com/office/drawing/2014/main" id="{6B632BFE-6F2A-1DA3-0C65-583931029EBB}"/>
              </a:ext>
            </a:extLst>
          </p:cNvPr>
          <p:cNvGrpSpPr/>
          <p:nvPr/>
        </p:nvGrpSpPr>
        <p:grpSpPr>
          <a:xfrm>
            <a:off x="897602" y="839960"/>
            <a:ext cx="10896832" cy="2489742"/>
            <a:chOff x="966653" y="1815738"/>
            <a:chExt cx="10896832" cy="2489742"/>
          </a:xfrm>
        </p:grpSpPr>
        <p:sp>
          <p:nvSpPr>
            <p:cNvPr id="6" name="TextBox 5">
              <a:extLst>
                <a:ext uri="{FF2B5EF4-FFF2-40B4-BE49-F238E27FC236}">
                  <a16:creationId xmlns:a16="http://schemas.microsoft.com/office/drawing/2014/main" id="{EEEF179C-4742-BDEE-A1EC-63A43823ADBA}"/>
                </a:ext>
              </a:extLst>
            </p:cNvPr>
            <p:cNvSpPr txBox="1"/>
            <p:nvPr/>
          </p:nvSpPr>
          <p:spPr>
            <a:xfrm>
              <a:off x="966653" y="1815738"/>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Downhill Skiing</a:t>
              </a:r>
            </a:p>
          </p:txBody>
        </p:sp>
        <p:sp>
          <p:nvSpPr>
            <p:cNvPr id="7" name="TextBox 6">
              <a:extLst>
                <a:ext uri="{FF2B5EF4-FFF2-40B4-BE49-F238E27FC236}">
                  <a16:creationId xmlns:a16="http://schemas.microsoft.com/office/drawing/2014/main" id="{0FE3EC10-6AA7-DFD4-DA7E-959FE93E49E5}"/>
                </a:ext>
              </a:extLst>
            </p:cNvPr>
            <p:cNvSpPr txBox="1"/>
            <p:nvPr/>
          </p:nvSpPr>
          <p:spPr>
            <a:xfrm>
              <a:off x="982694" y="2366488"/>
              <a:ext cx="10880791" cy="1938992"/>
            </a:xfrm>
            <a:prstGeom prst="rect">
              <a:avLst/>
            </a:prstGeom>
            <a:noFill/>
          </p:spPr>
          <p:txBody>
            <a:bodyPr wrap="square">
              <a:spAutoFit/>
            </a:bodyPr>
            <a:lstStyle/>
            <a:p>
              <a:pPr algn="just"/>
              <a:r>
                <a:rPr lang="en-US" sz="2400" dirty="0">
                  <a:solidFill/>
                  <a:effectLst/>
                  <a:latin typeface="Times" pitchFamily="2" charset="0"/>
                </a:rPr>
                <a:t>A 58-kg skier is coasting down a 25° slope, as the figure shows. Near the top of the slope, her speed is 3.6 m/s. She accelerates down the slope because of the gravitational force, even though a kinetic frictional force of opposes her motion. The coefficient of kinetic friction is </a:t>
              </a:r>
              <a:r>
                <a:rPr lang="en-US" sz="2400" i="1" dirty="0" err="1">
                  <a:solidFill/>
                  <a:effectLst/>
                  <a:latin typeface="Symbol" pitchFamily="2" charset="2"/>
                </a:rPr>
                <a:t>m</a:t>
              </a:r>
              <a:r>
                <a:rPr lang="en-US" sz="2400" baseline="-25000" dirty="0" err="1">
                  <a:solidFill/>
                  <a:effectLst/>
                  <a:latin typeface="Times" pitchFamily="2" charset="0"/>
                </a:rPr>
                <a:t>k</a:t>
              </a:r>
              <a:r>
                <a:rPr lang="en-US" sz="2400" dirty="0">
                  <a:solidFill/>
                  <a:effectLst/>
                  <a:latin typeface="Times" pitchFamily="2" charset="0"/>
                </a:rPr>
                <a:t> = 0.14. Ignoring air resistance, determine the speed at a point that is displaced 57 m downhill.</a:t>
              </a:r>
            </a:p>
          </p:txBody>
        </p:sp>
      </p:grpSp>
      <p:grpSp>
        <p:nvGrpSpPr>
          <p:cNvPr id="4" name="Group 3">
            <a:extLst>
              <a:ext uri="{FF2B5EF4-FFF2-40B4-BE49-F238E27FC236}">
                <a16:creationId xmlns:a16="http://schemas.microsoft.com/office/drawing/2014/main" id="{48F1437C-05DA-D603-3279-F57A88C17B69}"/>
              </a:ext>
            </a:extLst>
          </p:cNvPr>
          <p:cNvGrpSpPr/>
          <p:nvPr/>
        </p:nvGrpSpPr>
        <p:grpSpPr>
          <a:xfrm>
            <a:off x="3829879" y="3684104"/>
            <a:ext cx="8229599" cy="2584174"/>
            <a:chOff x="3829879" y="3684104"/>
            <a:chExt cx="8229599" cy="2584174"/>
          </a:xfrm>
        </p:grpSpPr>
        <p:sp>
          <p:nvSpPr>
            <p:cNvPr id="10" name="TextBox 9">
              <a:extLst>
                <a:ext uri="{FF2B5EF4-FFF2-40B4-BE49-F238E27FC236}">
                  <a16:creationId xmlns:a16="http://schemas.microsoft.com/office/drawing/2014/main" id="{C38EB68D-6698-30D4-EAA7-22F11EB0BC02}"/>
                </a:ext>
              </a:extLst>
            </p:cNvPr>
            <p:cNvSpPr txBox="1"/>
            <p:nvPr/>
          </p:nvSpPr>
          <p:spPr>
            <a:xfrm>
              <a:off x="3869636" y="4929809"/>
              <a:ext cx="8163338" cy="1323439"/>
            </a:xfrm>
            <a:prstGeom prst="rect">
              <a:avLst/>
            </a:prstGeom>
            <a:noFill/>
          </p:spPr>
          <p:txBody>
            <a:bodyPr wrap="square" rtlCol="0">
              <a:spAutoFit/>
            </a:bodyPr>
            <a:lstStyle/>
            <a:p>
              <a:pPr algn="just"/>
              <a:r>
                <a:rPr lang="en-US" sz="2000" dirty="0">
                  <a:solidFill/>
                  <a:latin typeface="Times" pitchFamily="2" charset="0"/>
                </a:rPr>
                <a:t>Here, we use the </a:t>
              </a:r>
              <a:r>
                <a:rPr lang="en-US" sz="2000" dirty="0">
                  <a:solidFill>
                    <a:srgbClr val="007440"/>
                  </a:solidFill>
                  <a:latin typeface="Times" pitchFamily="2" charset="0"/>
                </a:rPr>
                <a:t>work–energy theorem</a:t>
              </a:r>
              <a:r>
                <a:rPr lang="en-US" sz="2000" dirty="0">
                  <a:solidFill/>
                  <a:latin typeface="Times" pitchFamily="2" charset="0"/>
                </a:rPr>
                <a:t>. As the skier's speed changes, so does her kinetic energy. According to the work–energy theorem, this change in kinetic energy equals the net work done on her by the net force acting along the direction of her displacement.</a:t>
              </a:r>
            </a:p>
          </p:txBody>
        </p:sp>
        <p:sp>
          <p:nvSpPr>
            <p:cNvPr id="11" name="TextBox 10">
              <a:extLst>
                <a:ext uri="{FF2B5EF4-FFF2-40B4-BE49-F238E27FC236}">
                  <a16:creationId xmlns:a16="http://schemas.microsoft.com/office/drawing/2014/main" id="{1CCC1D17-3A0D-A47A-9ABF-96671A0BE3BE}"/>
                </a:ext>
              </a:extLst>
            </p:cNvPr>
            <p:cNvSpPr txBox="1"/>
            <p:nvPr/>
          </p:nvSpPr>
          <p:spPr>
            <a:xfrm>
              <a:off x="3829879" y="3717235"/>
              <a:ext cx="8110330" cy="1015663"/>
            </a:xfrm>
            <a:prstGeom prst="rect">
              <a:avLst/>
            </a:prstGeom>
            <a:noFill/>
          </p:spPr>
          <p:txBody>
            <a:bodyPr wrap="square" rtlCol="0">
              <a:spAutoFit/>
            </a:bodyPr>
            <a:lstStyle/>
            <a:p>
              <a:pPr algn="just"/>
              <a:r>
                <a:rPr lang="en-US" sz="2000" dirty="0">
                  <a:solidFill/>
                  <a:latin typeface="Times" pitchFamily="2" charset="0"/>
                </a:rPr>
                <a:t>*We have solved problems like this before in Chapter 04.  This is a nonequilibrium problem, where we could apply Newton’s second law and the equations of kinematics to solve for the skier’s final speed.  </a:t>
              </a:r>
            </a:p>
          </p:txBody>
        </p:sp>
        <p:sp>
          <p:nvSpPr>
            <p:cNvPr id="12" name="Rectangle 11">
              <a:extLst>
                <a:ext uri="{FF2B5EF4-FFF2-40B4-BE49-F238E27FC236}">
                  <a16:creationId xmlns:a16="http://schemas.microsoft.com/office/drawing/2014/main" id="{5E425E78-B2DB-B8F3-B56D-6E8FB6E6F70B}"/>
                </a:ext>
              </a:extLst>
            </p:cNvPr>
            <p:cNvSpPr/>
            <p:nvPr/>
          </p:nvSpPr>
          <p:spPr>
            <a:xfrm>
              <a:off x="3843130" y="3684104"/>
              <a:ext cx="8216348" cy="2584174"/>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9" name="Picture 8">
            <a:extLst>
              <a:ext uri="{FF2B5EF4-FFF2-40B4-BE49-F238E27FC236}">
                <a16:creationId xmlns:a16="http://schemas.microsoft.com/office/drawing/2014/main" id="{5D1DA6B8-78B8-0C09-6634-51D8EDE0B48E}"/>
              </a:ext>
            </a:extLst>
          </p:cNvPr>
          <p:cNvPicPr>
            <a:picLocks noChangeAspect="1"/>
          </p:cNvPicPr>
          <p:nvPr/>
        </p:nvPicPr>
        <p:blipFill>
          <a:blip r:embed="rId3"/>
          <a:srcRect t="15793" r="52172" b="11757"/>
          <a:stretch/>
        </p:blipFill>
        <p:spPr>
          <a:xfrm>
            <a:off x="159027" y="3702710"/>
            <a:ext cx="3631096" cy="2578819"/>
          </a:xfrm>
          <a:prstGeom prst="rect">
            <a:avLst/>
          </a:prstGeom>
        </p:spPr>
      </p:pic>
    </p:spTree>
    <p:extLst>
      <p:ext uri="{BB962C8B-B14F-4D97-AF65-F5344CB8AC3E}">
        <p14:creationId xmlns:p14="http://schemas.microsoft.com/office/powerpoint/2010/main" val="2042310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A18E6-F4F3-CD20-3B76-1B5827938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E72E6F-D45A-A5DB-4B5F-8C560918BC19}"/>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grpSp>
        <p:nvGrpSpPr>
          <p:cNvPr id="3" name="Group 2">
            <a:extLst>
              <a:ext uri="{FF2B5EF4-FFF2-40B4-BE49-F238E27FC236}">
                <a16:creationId xmlns:a16="http://schemas.microsoft.com/office/drawing/2014/main" id="{83882992-E0A6-9D58-ECC9-DB9F1213BCC1}"/>
              </a:ext>
            </a:extLst>
          </p:cNvPr>
          <p:cNvGrpSpPr/>
          <p:nvPr/>
        </p:nvGrpSpPr>
        <p:grpSpPr>
          <a:xfrm>
            <a:off x="897602" y="839960"/>
            <a:ext cx="10896832" cy="1751079"/>
            <a:chOff x="966653" y="1815738"/>
            <a:chExt cx="10896832" cy="1751079"/>
          </a:xfrm>
        </p:grpSpPr>
        <p:sp>
          <p:nvSpPr>
            <p:cNvPr id="6" name="TextBox 5">
              <a:extLst>
                <a:ext uri="{FF2B5EF4-FFF2-40B4-BE49-F238E27FC236}">
                  <a16:creationId xmlns:a16="http://schemas.microsoft.com/office/drawing/2014/main" id="{529D61DE-90B3-B594-8177-D7718B88E2E7}"/>
                </a:ext>
              </a:extLst>
            </p:cNvPr>
            <p:cNvSpPr txBox="1"/>
            <p:nvPr/>
          </p:nvSpPr>
          <p:spPr>
            <a:xfrm>
              <a:off x="966653" y="1815738"/>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Downhill Skiing</a:t>
              </a:r>
            </a:p>
          </p:txBody>
        </p:sp>
        <p:sp>
          <p:nvSpPr>
            <p:cNvPr id="7" name="TextBox 6">
              <a:extLst>
                <a:ext uri="{FF2B5EF4-FFF2-40B4-BE49-F238E27FC236}">
                  <a16:creationId xmlns:a16="http://schemas.microsoft.com/office/drawing/2014/main" id="{DCD08C44-83E3-0BAB-6589-EB255D9EDBF9}"/>
                </a:ext>
              </a:extLst>
            </p:cNvPr>
            <p:cNvSpPr txBox="1"/>
            <p:nvPr/>
          </p:nvSpPr>
          <p:spPr>
            <a:xfrm>
              <a:off x="3408599" y="2366488"/>
              <a:ext cx="8454886" cy="1200329"/>
            </a:xfrm>
            <a:prstGeom prst="rect">
              <a:avLst/>
            </a:prstGeom>
            <a:noFill/>
          </p:spPr>
          <p:txBody>
            <a:bodyPr wrap="square">
              <a:spAutoFit/>
            </a:bodyPr>
            <a:lstStyle/>
            <a:p>
              <a:pPr algn="just"/>
              <a:r>
                <a:rPr lang="en-US" sz="2400" dirty="0">
                  <a:solidFill/>
                  <a:effectLst/>
                  <a:latin typeface="Times" pitchFamily="2" charset="0"/>
                </a:rPr>
                <a:t>We begin by drawing th</a:t>
              </a:r>
              <a:r>
                <a:rPr lang="en-US" sz="2400" dirty="0">
                  <a:solidFill/>
                  <a:latin typeface="Times" pitchFamily="2" charset="0"/>
                </a:rPr>
                <a:t>e FBD showing the forces that act on the skier.  Since we are on an incline, we rotate our coordinate system, so that the </a:t>
              </a:r>
              <a:r>
                <a:rPr lang="en-US" sz="2400" i="1" dirty="0">
                  <a:solidFill/>
                  <a:latin typeface="Times" pitchFamily="2" charset="0"/>
                </a:rPr>
                <a:t>x</a:t>
              </a:r>
              <a:r>
                <a:rPr lang="en-US" sz="2400" dirty="0">
                  <a:solidFill/>
                  <a:latin typeface="Times" pitchFamily="2" charset="0"/>
                </a:rPr>
                <a:t> axis is along the incline, and the </a:t>
              </a:r>
              <a:r>
                <a:rPr lang="en-US" sz="2400" i="1" dirty="0">
                  <a:solidFill/>
                  <a:latin typeface="Times" pitchFamily="2" charset="0"/>
                </a:rPr>
                <a:t>y</a:t>
              </a:r>
              <a:r>
                <a:rPr lang="en-US" sz="2400" dirty="0">
                  <a:solidFill/>
                  <a:latin typeface="Times" pitchFamily="2" charset="0"/>
                </a:rPr>
                <a:t> perpendicular to it.</a:t>
              </a:r>
              <a:endParaRPr lang="en-US" sz="2400" dirty="0">
                <a:effectLst/>
                <a:latin typeface="Times" pitchFamily="2" charset="0"/>
              </a:endParaRPr>
            </a:p>
          </p:txBody>
        </p:sp>
      </p:grpSp>
      <p:pic>
        <p:nvPicPr>
          <p:cNvPr id="9" name="Picture 8">
            <a:extLst>
              <a:ext uri="{FF2B5EF4-FFF2-40B4-BE49-F238E27FC236}">
                <a16:creationId xmlns:a16="http://schemas.microsoft.com/office/drawing/2014/main" id="{5826D3EB-F994-368F-5AD6-85E98266FCD4}"/>
              </a:ext>
            </a:extLst>
          </p:cNvPr>
          <p:cNvPicPr>
            <a:picLocks noChangeAspect="1"/>
          </p:cNvPicPr>
          <p:nvPr/>
        </p:nvPicPr>
        <p:blipFill>
          <a:blip r:embed="rId3"/>
          <a:srcRect t="15793" r="52172" b="11757"/>
          <a:stretch/>
        </p:blipFill>
        <p:spPr>
          <a:xfrm>
            <a:off x="251792" y="1370328"/>
            <a:ext cx="2782956" cy="1976467"/>
          </a:xfrm>
          <a:prstGeom prst="rect">
            <a:avLst/>
          </a:prstGeom>
        </p:spPr>
      </p:pic>
      <p:pic>
        <p:nvPicPr>
          <p:cNvPr id="4" name="Picture 3">
            <a:extLst>
              <a:ext uri="{FF2B5EF4-FFF2-40B4-BE49-F238E27FC236}">
                <a16:creationId xmlns:a16="http://schemas.microsoft.com/office/drawing/2014/main" id="{F97A7679-2D58-AAD8-DF33-0645E112C35B}"/>
              </a:ext>
            </a:extLst>
          </p:cNvPr>
          <p:cNvPicPr>
            <a:picLocks noChangeAspect="1"/>
          </p:cNvPicPr>
          <p:nvPr/>
        </p:nvPicPr>
        <p:blipFill>
          <a:blip r:embed="rId3"/>
          <a:srcRect l="53180" t="-6021" r="-780" b="8380"/>
          <a:stretch/>
        </p:blipFill>
        <p:spPr>
          <a:xfrm>
            <a:off x="304800" y="3511825"/>
            <a:ext cx="2769704" cy="2663687"/>
          </a:xfrm>
          <a:prstGeom prst="rect">
            <a:avLst/>
          </a:prstGeom>
        </p:spPr>
      </p:pic>
      <p:grpSp>
        <p:nvGrpSpPr>
          <p:cNvPr id="19" name="Group 18">
            <a:extLst>
              <a:ext uri="{FF2B5EF4-FFF2-40B4-BE49-F238E27FC236}">
                <a16:creationId xmlns:a16="http://schemas.microsoft.com/office/drawing/2014/main" id="{D1D14CE1-CF5D-A7F9-B7C2-041C16AC8C55}"/>
              </a:ext>
            </a:extLst>
          </p:cNvPr>
          <p:cNvGrpSpPr/>
          <p:nvPr/>
        </p:nvGrpSpPr>
        <p:grpSpPr>
          <a:xfrm>
            <a:off x="2405269" y="1331843"/>
            <a:ext cx="1239079" cy="1413901"/>
            <a:chOff x="4711147" y="3597965"/>
            <a:chExt cx="1239079" cy="1413901"/>
          </a:xfrm>
        </p:grpSpPr>
        <p:cxnSp>
          <p:nvCxnSpPr>
            <p:cNvPr id="8" name="Straight Arrow Connector 7">
              <a:extLst>
                <a:ext uri="{FF2B5EF4-FFF2-40B4-BE49-F238E27FC236}">
                  <a16:creationId xmlns:a16="http://schemas.microsoft.com/office/drawing/2014/main" id="{17E91A33-E828-6080-EEC1-6B0434F67F02}"/>
                </a:ext>
              </a:extLst>
            </p:cNvPr>
            <p:cNvCxnSpPr>
              <a:cxnSpLocks/>
            </p:cNvCxnSpPr>
            <p:nvPr/>
          </p:nvCxnSpPr>
          <p:spPr>
            <a:xfrm flipV="1">
              <a:off x="4717773" y="4002157"/>
              <a:ext cx="265044" cy="5565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5599C51-79A4-1B4F-9542-A0871595C131}"/>
                </a:ext>
              </a:extLst>
            </p:cNvPr>
            <p:cNvCxnSpPr>
              <a:cxnSpLocks/>
            </p:cNvCxnSpPr>
            <p:nvPr/>
          </p:nvCxnSpPr>
          <p:spPr>
            <a:xfrm>
              <a:off x="4711147" y="4538870"/>
              <a:ext cx="510210" cy="2451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EA1C8D5D-D2F4-46E4-85EF-CD81A5360070}"/>
                </a:ext>
              </a:extLst>
            </p:cNvPr>
            <p:cNvSpPr txBox="1"/>
            <p:nvPr/>
          </p:nvSpPr>
          <p:spPr>
            <a:xfrm>
              <a:off x="5168348" y="4611756"/>
              <a:ext cx="781878" cy="400110"/>
            </a:xfrm>
            <a:prstGeom prst="rect">
              <a:avLst/>
            </a:prstGeom>
            <a:noFill/>
          </p:spPr>
          <p:txBody>
            <a:bodyPr wrap="square" rtlCol="0">
              <a:spAutoFit/>
            </a:bodyPr>
            <a:lstStyle/>
            <a:p>
              <a:pPr/>
              <a:r>
                <a:rPr lang="en-US" sz="2000" i="1" dirty="0">
                  <a:solidFill/>
                  <a:latin typeface="Times" pitchFamily="2" charset="0"/>
                </a:rPr>
                <a:t>+x</a:t>
              </a:r>
            </a:p>
          </p:txBody>
        </p:sp>
        <p:sp>
          <p:nvSpPr>
            <p:cNvPr id="18" name="TextBox 17">
              <a:extLst>
                <a:ext uri="{FF2B5EF4-FFF2-40B4-BE49-F238E27FC236}">
                  <a16:creationId xmlns:a16="http://schemas.microsoft.com/office/drawing/2014/main" id="{5120B4BD-A3F4-0879-E543-960918672E67}"/>
                </a:ext>
              </a:extLst>
            </p:cNvPr>
            <p:cNvSpPr txBox="1"/>
            <p:nvPr/>
          </p:nvSpPr>
          <p:spPr>
            <a:xfrm>
              <a:off x="4790662" y="3597965"/>
              <a:ext cx="781878" cy="400110"/>
            </a:xfrm>
            <a:prstGeom prst="rect">
              <a:avLst/>
            </a:prstGeom>
            <a:noFill/>
          </p:spPr>
          <p:txBody>
            <a:bodyPr wrap="square" rtlCol="0">
              <a:spAutoFit/>
            </a:bodyPr>
            <a:lstStyle/>
            <a:p>
              <a:pPr/>
              <a:r>
                <a:rPr lang="en-US" sz="2000" i="1" dirty="0">
                  <a:solidFill/>
                  <a:latin typeface="Times" pitchFamily="2" charset="0"/>
                </a:rPr>
                <a:t>+y</a:t>
              </a:r>
            </a:p>
          </p:txBody>
        </p:sp>
      </p:grpSp>
      <p:sp>
        <p:nvSpPr>
          <p:cNvPr id="20" name="TextBox 19">
            <a:extLst>
              <a:ext uri="{FF2B5EF4-FFF2-40B4-BE49-F238E27FC236}">
                <a16:creationId xmlns:a16="http://schemas.microsoft.com/office/drawing/2014/main" id="{AA389FEE-31CF-62EA-5703-654F8DC0EB36}"/>
              </a:ext>
            </a:extLst>
          </p:cNvPr>
          <p:cNvSpPr txBox="1"/>
          <p:nvPr/>
        </p:nvSpPr>
        <p:spPr>
          <a:xfrm>
            <a:off x="3359426" y="2696050"/>
            <a:ext cx="8454886" cy="830997"/>
          </a:xfrm>
          <a:prstGeom prst="rect">
            <a:avLst/>
          </a:prstGeom>
          <a:noFill/>
        </p:spPr>
        <p:txBody>
          <a:bodyPr wrap="square">
            <a:spAutoFit/>
          </a:bodyPr>
          <a:lstStyle/>
          <a:p>
            <a:pPr algn="just"/>
            <a:r>
              <a:rPr lang="en-US" sz="2400" dirty="0">
                <a:solidFill/>
                <a:effectLst/>
                <a:latin typeface="Times" pitchFamily="2" charset="0"/>
              </a:rPr>
              <a:t>There are 3 forces that act on the skier:  </a:t>
            </a:r>
            <a:r>
              <a:rPr lang="en-US" sz="2400" dirty="0">
                <a:solidFill>
                  <a:srgbClr val="2326C0"/>
                </a:solidFill>
                <a:effectLst/>
                <a:latin typeface="Times" pitchFamily="2" charset="0"/>
              </a:rPr>
              <a:t>Weight</a:t>
            </a:r>
            <a:r>
              <a:rPr lang="en-US" sz="2400" dirty="0">
                <a:solidFill/>
                <a:effectLst/>
                <a:latin typeface="Times" pitchFamily="2" charset="0"/>
              </a:rPr>
              <a:t>, </a:t>
            </a:r>
            <a:r>
              <a:rPr lang="en-US" sz="2400" dirty="0">
                <a:solidFill>
                  <a:srgbClr val="2326C0"/>
                </a:solidFill>
                <a:effectLst/>
                <a:latin typeface="Times" pitchFamily="2" charset="0"/>
              </a:rPr>
              <a:t>Normal Force</a:t>
            </a:r>
            <a:r>
              <a:rPr lang="en-US" sz="2400" dirty="0">
                <a:solidFill/>
                <a:effectLst/>
                <a:latin typeface="Times" pitchFamily="2" charset="0"/>
              </a:rPr>
              <a:t>, and </a:t>
            </a:r>
            <a:r>
              <a:rPr lang="en-US" sz="2400" dirty="0">
                <a:solidFill>
                  <a:srgbClr val="2326C0"/>
                </a:solidFill>
                <a:effectLst/>
                <a:latin typeface="Times" pitchFamily="2" charset="0"/>
              </a:rPr>
              <a:t>Kinetic Friction</a:t>
            </a:r>
            <a:r>
              <a:rPr lang="en-US" sz="2400" dirty="0">
                <a:solidFill/>
                <a:effectLst/>
                <a:latin typeface="Times" pitchFamily="2" charset="0"/>
              </a:rPr>
              <a:t>.</a:t>
            </a:r>
          </a:p>
        </p:txBody>
      </p:sp>
      <p:sp>
        <p:nvSpPr>
          <p:cNvPr id="21" name="TextBox 20">
            <a:extLst>
              <a:ext uri="{FF2B5EF4-FFF2-40B4-BE49-F238E27FC236}">
                <a16:creationId xmlns:a16="http://schemas.microsoft.com/office/drawing/2014/main" id="{A4A15B31-C5B7-38F1-179B-E4E38580147F}"/>
              </a:ext>
            </a:extLst>
          </p:cNvPr>
          <p:cNvSpPr txBox="1"/>
          <p:nvPr/>
        </p:nvSpPr>
        <p:spPr>
          <a:xfrm>
            <a:off x="2729948" y="3656832"/>
            <a:ext cx="8454886" cy="461665"/>
          </a:xfrm>
          <a:prstGeom prst="rect">
            <a:avLst/>
          </a:prstGeom>
          <a:noFill/>
        </p:spPr>
        <p:txBody>
          <a:bodyPr wrap="square">
            <a:spAutoFit/>
          </a:bodyPr>
          <a:lstStyle/>
          <a:p>
            <a:pPr algn="just"/>
            <a:r>
              <a:rPr lang="en-US" sz="2400" dirty="0">
                <a:solidFill/>
                <a:latin typeface="Times" pitchFamily="2" charset="0"/>
              </a:rPr>
              <a:t>Applying the work-energy theorem (Equation 6.3):</a:t>
            </a:r>
            <a:endParaRPr lang="en-US" sz="2400" dirty="0">
              <a:effectLst/>
              <a:latin typeface="Times" pitchFamily="2" charset="0"/>
            </a:endParaRPr>
          </a:p>
        </p:txBody>
      </p:sp>
      <p:pic>
        <p:nvPicPr>
          <p:cNvPr id="22" name="Picture 21">
            <a:extLst>
              <a:ext uri="{FF2B5EF4-FFF2-40B4-BE49-F238E27FC236}">
                <a16:creationId xmlns:a16="http://schemas.microsoft.com/office/drawing/2014/main" id="{C8265F21-5622-75FB-BDBD-EECA6664E763}"/>
              </a:ext>
            </a:extLst>
          </p:cNvPr>
          <p:cNvPicPr>
            <a:picLocks noChangeAspect="1"/>
          </p:cNvPicPr>
          <p:nvPr/>
        </p:nvPicPr>
        <p:blipFill>
          <a:blip r:embed="rId4"/>
          <a:stretch>
            <a:fillRect/>
          </a:stretch>
        </p:blipFill>
        <p:spPr>
          <a:xfrm>
            <a:off x="9250016" y="3535790"/>
            <a:ext cx="2600739" cy="671858"/>
          </a:xfrm>
          <a:prstGeom prst="rect">
            <a:avLst/>
          </a:prstGeom>
        </p:spPr>
      </p:pic>
      <p:sp>
        <p:nvSpPr>
          <p:cNvPr id="23" name="TextBox 22">
            <a:extLst>
              <a:ext uri="{FF2B5EF4-FFF2-40B4-BE49-F238E27FC236}">
                <a16:creationId xmlns:a16="http://schemas.microsoft.com/office/drawing/2014/main" id="{3295D8F5-17F5-61FC-0455-EB4318C95D48}"/>
              </a:ext>
            </a:extLst>
          </p:cNvPr>
          <p:cNvSpPr txBox="1"/>
          <p:nvPr/>
        </p:nvSpPr>
        <p:spPr>
          <a:xfrm>
            <a:off x="3147392" y="4498345"/>
            <a:ext cx="8454886" cy="461665"/>
          </a:xfrm>
          <a:prstGeom prst="rect">
            <a:avLst/>
          </a:prstGeom>
          <a:noFill/>
        </p:spPr>
        <p:txBody>
          <a:bodyPr wrap="square">
            <a:spAutoFit/>
          </a:bodyPr>
          <a:lstStyle/>
          <a:p>
            <a:pPr algn="just"/>
            <a:r>
              <a:rPr lang="en-US" sz="2400" dirty="0">
                <a:solidFill/>
                <a:latin typeface="Times" pitchFamily="2" charset="0"/>
              </a:rPr>
              <a:t>To calculate the work done, we use Equation 6.1:</a:t>
            </a:r>
            <a:endParaRPr lang="en-US" sz="2400" dirty="0">
              <a:effectLst/>
              <a:latin typeface="Times" pitchFamily="2" charset="0"/>
            </a:endParaRPr>
          </a:p>
        </p:txBody>
      </p:sp>
      <p:sp>
        <p:nvSpPr>
          <p:cNvPr id="24" name="TextBox 23">
            <a:extLst>
              <a:ext uri="{FF2B5EF4-FFF2-40B4-BE49-F238E27FC236}">
                <a16:creationId xmlns:a16="http://schemas.microsoft.com/office/drawing/2014/main" id="{FD46C580-E3D2-4DA9-B524-61C83DF5FBB1}"/>
              </a:ext>
            </a:extLst>
          </p:cNvPr>
          <p:cNvSpPr txBox="1"/>
          <p:nvPr/>
        </p:nvSpPr>
        <p:spPr>
          <a:xfrm>
            <a:off x="9342784" y="4505729"/>
            <a:ext cx="2438399" cy="461665"/>
          </a:xfrm>
          <a:prstGeom prst="rect">
            <a:avLst/>
          </a:prstGeom>
          <a:noFill/>
        </p:spPr>
        <p:txBody>
          <a:bodyPr wrap="square" rtlCol="0">
            <a:spAutoFit/>
          </a:bodyPr>
          <a:lstStyle/>
          <a:p>
            <a:pPr/>
            <a:r>
              <a:rPr lang="en-US" sz="2400" i="1" dirty="0">
                <a:solidFill/>
                <a:latin typeface="Times" pitchFamily="2" charset="0"/>
              </a:rPr>
              <a:t>W</a:t>
            </a:r>
            <a:r>
              <a:rPr lang="en-US" sz="2400" dirty="0">
                <a:solidFill/>
                <a:latin typeface="Times" pitchFamily="2" charset="0"/>
              </a:rPr>
              <a:t> = (</a:t>
            </a:r>
            <a:r>
              <a:rPr lang="en-US" sz="2400" i="1" dirty="0" err="1">
                <a:solidFill/>
                <a:latin typeface="Times" pitchFamily="2" charset="0"/>
              </a:rPr>
              <a:t>F</a:t>
            </a:r>
            <a:r>
              <a:rPr lang="en-US" sz="2400" dirty="0" err="1">
                <a:solidFill/>
                <a:latin typeface="Times" pitchFamily="2" charset="0"/>
              </a:rPr>
              <a:t>cos</a:t>
            </a:r>
            <a:r>
              <a:rPr lang="en-US" sz="2400" i="1" dirty="0" err="1">
                <a:solidFill/>
                <a:latin typeface="Symbol" pitchFamily="2" charset="2"/>
              </a:rPr>
              <a:t>q</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a:t>
            </a:r>
          </a:p>
        </p:txBody>
      </p:sp>
      <p:grpSp>
        <p:nvGrpSpPr>
          <p:cNvPr id="28" name="Group 27">
            <a:extLst>
              <a:ext uri="{FF2B5EF4-FFF2-40B4-BE49-F238E27FC236}">
                <a16:creationId xmlns:a16="http://schemas.microsoft.com/office/drawing/2014/main" id="{F00847C4-7CC0-18A3-0E44-E4E18995460E}"/>
              </a:ext>
            </a:extLst>
          </p:cNvPr>
          <p:cNvGrpSpPr/>
          <p:nvPr/>
        </p:nvGrpSpPr>
        <p:grpSpPr>
          <a:xfrm>
            <a:off x="3154018" y="5180832"/>
            <a:ext cx="8454886" cy="830997"/>
            <a:chOff x="3154018" y="5180832"/>
            <a:chExt cx="8454886" cy="830997"/>
          </a:xfrm>
        </p:grpSpPr>
        <p:sp>
          <p:nvSpPr>
            <p:cNvPr id="25" name="TextBox 24">
              <a:extLst>
                <a:ext uri="{FF2B5EF4-FFF2-40B4-BE49-F238E27FC236}">
                  <a16:creationId xmlns:a16="http://schemas.microsoft.com/office/drawing/2014/main" id="{C7782CBF-A5DC-FBCA-39D6-2FCDCE6283BD}"/>
                </a:ext>
              </a:extLst>
            </p:cNvPr>
            <p:cNvSpPr txBox="1"/>
            <p:nvPr/>
          </p:nvSpPr>
          <p:spPr>
            <a:xfrm>
              <a:off x="3154018" y="5180832"/>
              <a:ext cx="8454886" cy="830997"/>
            </a:xfrm>
            <a:prstGeom prst="rect">
              <a:avLst/>
            </a:prstGeom>
            <a:noFill/>
          </p:spPr>
          <p:txBody>
            <a:bodyPr wrap="square">
              <a:spAutoFit/>
            </a:bodyPr>
            <a:lstStyle/>
            <a:p>
              <a:pPr marL="1544638" indent="-1544638" algn="just"/>
              <a:r>
                <a:rPr lang="en-US" sz="2400" dirty="0">
                  <a:solidFill/>
                  <a:latin typeface="Times" pitchFamily="2" charset="0"/>
                </a:rPr>
                <a:t>*Note:  </a:t>
              </a:r>
              <a:r>
                <a:rPr lang="en-US" sz="2400" i="1" dirty="0">
                  <a:solidFill/>
                  <a:latin typeface="Symbol" pitchFamily="2" charset="2"/>
                </a:rPr>
                <a:t>q</a:t>
              </a:r>
              <a:r>
                <a:rPr lang="en-US" sz="2400" dirty="0">
                  <a:solidFill/>
                  <a:latin typeface="Times" pitchFamily="2" charset="0"/>
                </a:rPr>
                <a:t> is </a:t>
              </a:r>
              <a:r>
                <a:rPr lang="en-US" sz="2400" u="sng" dirty="0">
                  <a:solidFill/>
                  <a:latin typeface="Times" pitchFamily="2" charset="0"/>
                </a:rPr>
                <a:t>not</a:t>
              </a:r>
              <a:r>
                <a:rPr lang="en-US" sz="2400" dirty="0">
                  <a:solidFill/>
                  <a:latin typeface="Times" pitchFamily="2" charset="0"/>
                </a:rPr>
                <a:t> the angle of the incline, but the angle between the doing the work and the displacement.</a:t>
              </a:r>
              <a:endParaRPr lang="en-US" sz="2400" dirty="0">
                <a:effectLst/>
                <a:latin typeface="Times" pitchFamily="2" charset="0"/>
              </a:endParaRPr>
            </a:p>
          </p:txBody>
        </p:sp>
        <p:sp>
          <p:nvSpPr>
            <p:cNvPr id="26" name="Rounded Rectangle 25">
              <a:extLst>
                <a:ext uri="{FF2B5EF4-FFF2-40B4-BE49-F238E27FC236}">
                  <a16:creationId xmlns:a16="http://schemas.microsoft.com/office/drawing/2014/main" id="{DD176212-6AE6-2004-1703-606F5ECBFCA5}"/>
                </a:ext>
              </a:extLst>
            </p:cNvPr>
            <p:cNvSpPr/>
            <p:nvPr/>
          </p:nvSpPr>
          <p:spPr>
            <a:xfrm>
              <a:off x="3299792" y="5592416"/>
              <a:ext cx="1431235" cy="3710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TextBox 26">
            <a:extLst>
              <a:ext uri="{FF2B5EF4-FFF2-40B4-BE49-F238E27FC236}">
                <a16:creationId xmlns:a16="http://schemas.microsoft.com/office/drawing/2014/main" id="{5A300F7C-DBFA-FBA8-97A0-F79A37D3A8DE}"/>
              </a:ext>
            </a:extLst>
          </p:cNvPr>
          <p:cNvSpPr txBox="1"/>
          <p:nvPr/>
        </p:nvSpPr>
        <p:spPr>
          <a:xfrm>
            <a:off x="3273288" y="5592417"/>
            <a:ext cx="1590261"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net force</a:t>
            </a:r>
          </a:p>
        </p:txBody>
      </p:sp>
    </p:spTree>
    <p:extLst>
      <p:ext uri="{BB962C8B-B14F-4D97-AF65-F5344CB8AC3E}">
        <p14:creationId xmlns:p14="http://schemas.microsoft.com/office/powerpoint/2010/main" val="1416100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dissolv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dissolve">
                                      <p:cBhvr>
                                        <p:cTn id="12" dur="500"/>
                                        <p:tgtEl>
                                          <p:spTgt spid="20"/>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dissolv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dissolve">
                                      <p:cBhvr>
                                        <p:cTn id="21" dur="500"/>
                                        <p:tgtEl>
                                          <p:spTgt spid="21"/>
                                        </p:tgtEl>
                                      </p:cBhvr>
                                    </p:animEffect>
                                  </p:childTnLst>
                                </p:cTn>
                              </p:par>
                            </p:childTnLst>
                          </p:cTn>
                        </p:par>
                        <p:par>
                          <p:cTn id="22" fill="hold">
                            <p:stCondLst>
                              <p:cond delay="500"/>
                            </p:stCondLst>
                            <p:childTnLst>
                              <p:par>
                                <p:cTn id="23" presetID="9" presetClass="entr" presetSubtype="0" fill="hold"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dissolve">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dissolve">
                                      <p:cBhvr>
                                        <p:cTn id="30" dur="500"/>
                                        <p:tgtEl>
                                          <p:spTgt spid="23"/>
                                        </p:tgtEl>
                                      </p:cBhvr>
                                    </p:animEffect>
                                  </p:childTnLst>
                                </p:cTn>
                              </p:par>
                            </p:childTnLst>
                          </p:cTn>
                        </p:par>
                        <p:par>
                          <p:cTn id="31" fill="hold">
                            <p:stCondLst>
                              <p:cond delay="500"/>
                            </p:stCondLst>
                            <p:childTnLst>
                              <p:par>
                                <p:cTn id="32" presetID="9" presetClass="entr" presetSubtype="0" fill="hold" grpId="0" nodeType="after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dissolve">
                                      <p:cBhvr>
                                        <p:cTn id="34" dur="5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dissolve">
                                      <p:cBhvr>
                                        <p:cTn id="39" dur="500"/>
                                        <p:tgtEl>
                                          <p:spTgt spid="28"/>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dissolve">
                                      <p:cBhvr>
                                        <p:cTn id="4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3" grpId="0"/>
      <p:bldP spid="24" grpId="0"/>
      <p:bldP spid="2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217B4-D9F5-CBA8-D698-8727F2E27F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2CE313-C6CD-E1AF-3740-2B41CE9C2CF2}"/>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pic>
        <p:nvPicPr>
          <p:cNvPr id="9" name="Picture 8">
            <a:extLst>
              <a:ext uri="{FF2B5EF4-FFF2-40B4-BE49-F238E27FC236}">
                <a16:creationId xmlns:a16="http://schemas.microsoft.com/office/drawing/2014/main" id="{02BCCE0A-699A-DA5F-6055-F2CD01DD8BE4}"/>
              </a:ext>
            </a:extLst>
          </p:cNvPr>
          <p:cNvPicPr>
            <a:picLocks noChangeAspect="1"/>
          </p:cNvPicPr>
          <p:nvPr/>
        </p:nvPicPr>
        <p:blipFill>
          <a:blip r:embed="rId3"/>
          <a:srcRect t="15793" r="52172" b="11757"/>
          <a:stretch/>
        </p:blipFill>
        <p:spPr>
          <a:xfrm>
            <a:off x="251792" y="1370328"/>
            <a:ext cx="2782956" cy="1976467"/>
          </a:xfrm>
          <a:prstGeom prst="rect">
            <a:avLst/>
          </a:prstGeom>
        </p:spPr>
      </p:pic>
      <p:pic>
        <p:nvPicPr>
          <p:cNvPr id="4" name="Picture 3">
            <a:extLst>
              <a:ext uri="{FF2B5EF4-FFF2-40B4-BE49-F238E27FC236}">
                <a16:creationId xmlns:a16="http://schemas.microsoft.com/office/drawing/2014/main" id="{686876B5-7F59-DAB2-FE27-E37E969C29CA}"/>
              </a:ext>
            </a:extLst>
          </p:cNvPr>
          <p:cNvPicPr>
            <a:picLocks noChangeAspect="1"/>
          </p:cNvPicPr>
          <p:nvPr/>
        </p:nvPicPr>
        <p:blipFill>
          <a:blip r:embed="rId3"/>
          <a:srcRect l="53180" t="-6021" r="-780" b="8380"/>
          <a:stretch/>
        </p:blipFill>
        <p:spPr>
          <a:xfrm>
            <a:off x="304800" y="3511825"/>
            <a:ext cx="2769704" cy="2663687"/>
          </a:xfrm>
          <a:prstGeom prst="rect">
            <a:avLst/>
          </a:prstGeom>
        </p:spPr>
      </p:pic>
      <p:grpSp>
        <p:nvGrpSpPr>
          <p:cNvPr id="19" name="Group 18">
            <a:extLst>
              <a:ext uri="{FF2B5EF4-FFF2-40B4-BE49-F238E27FC236}">
                <a16:creationId xmlns:a16="http://schemas.microsoft.com/office/drawing/2014/main" id="{908A8515-F88E-A83F-7320-C0E31A3060DB}"/>
              </a:ext>
            </a:extLst>
          </p:cNvPr>
          <p:cNvGrpSpPr/>
          <p:nvPr/>
        </p:nvGrpSpPr>
        <p:grpSpPr>
          <a:xfrm>
            <a:off x="2405269" y="1331843"/>
            <a:ext cx="1239079" cy="1413901"/>
            <a:chOff x="4711147" y="3597965"/>
            <a:chExt cx="1239079" cy="1413901"/>
          </a:xfrm>
        </p:grpSpPr>
        <p:cxnSp>
          <p:nvCxnSpPr>
            <p:cNvPr id="8" name="Straight Arrow Connector 7">
              <a:extLst>
                <a:ext uri="{FF2B5EF4-FFF2-40B4-BE49-F238E27FC236}">
                  <a16:creationId xmlns:a16="http://schemas.microsoft.com/office/drawing/2014/main" id="{7ABC646D-2A1F-9901-C3A7-EC48651D94EC}"/>
                </a:ext>
              </a:extLst>
            </p:cNvPr>
            <p:cNvCxnSpPr>
              <a:cxnSpLocks/>
            </p:cNvCxnSpPr>
            <p:nvPr/>
          </p:nvCxnSpPr>
          <p:spPr>
            <a:xfrm flipV="1">
              <a:off x="4717773" y="4002157"/>
              <a:ext cx="265044" cy="5565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9911131-7E83-513B-A0EA-C42700379DDA}"/>
                </a:ext>
              </a:extLst>
            </p:cNvPr>
            <p:cNvCxnSpPr>
              <a:cxnSpLocks/>
            </p:cNvCxnSpPr>
            <p:nvPr/>
          </p:nvCxnSpPr>
          <p:spPr>
            <a:xfrm>
              <a:off x="4711147" y="4538870"/>
              <a:ext cx="510210" cy="2451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8D71D8A-1866-1290-1506-2DB2C177A4AB}"/>
                </a:ext>
              </a:extLst>
            </p:cNvPr>
            <p:cNvSpPr txBox="1"/>
            <p:nvPr/>
          </p:nvSpPr>
          <p:spPr>
            <a:xfrm>
              <a:off x="5168348" y="4611756"/>
              <a:ext cx="781878" cy="400110"/>
            </a:xfrm>
            <a:prstGeom prst="rect">
              <a:avLst/>
            </a:prstGeom>
            <a:noFill/>
          </p:spPr>
          <p:txBody>
            <a:bodyPr wrap="square" rtlCol="0">
              <a:spAutoFit/>
            </a:bodyPr>
            <a:lstStyle/>
            <a:p>
              <a:pPr/>
              <a:r>
                <a:rPr lang="en-US" sz="2000" i="1" dirty="0">
                  <a:solidFill/>
                  <a:latin typeface="Times" pitchFamily="2" charset="0"/>
                </a:rPr>
                <a:t>+x</a:t>
              </a:r>
            </a:p>
          </p:txBody>
        </p:sp>
        <p:sp>
          <p:nvSpPr>
            <p:cNvPr id="18" name="TextBox 17">
              <a:extLst>
                <a:ext uri="{FF2B5EF4-FFF2-40B4-BE49-F238E27FC236}">
                  <a16:creationId xmlns:a16="http://schemas.microsoft.com/office/drawing/2014/main" id="{C1CF58E0-5AFA-50BC-C9FD-C328AD4261CA}"/>
                </a:ext>
              </a:extLst>
            </p:cNvPr>
            <p:cNvSpPr txBox="1"/>
            <p:nvPr/>
          </p:nvSpPr>
          <p:spPr>
            <a:xfrm>
              <a:off x="4790662" y="3597965"/>
              <a:ext cx="781878" cy="400110"/>
            </a:xfrm>
            <a:prstGeom prst="rect">
              <a:avLst/>
            </a:prstGeom>
            <a:noFill/>
          </p:spPr>
          <p:txBody>
            <a:bodyPr wrap="square" rtlCol="0">
              <a:spAutoFit/>
            </a:bodyPr>
            <a:lstStyle/>
            <a:p>
              <a:pPr/>
              <a:r>
                <a:rPr lang="en-US" sz="2000" i="1" dirty="0">
                  <a:solidFill/>
                  <a:latin typeface="Times" pitchFamily="2" charset="0"/>
                </a:rPr>
                <a:t>+y</a:t>
              </a:r>
            </a:p>
          </p:txBody>
        </p:sp>
      </p:grpSp>
      <p:sp>
        <p:nvSpPr>
          <p:cNvPr id="23" name="TextBox 22">
            <a:extLst>
              <a:ext uri="{FF2B5EF4-FFF2-40B4-BE49-F238E27FC236}">
                <a16:creationId xmlns:a16="http://schemas.microsoft.com/office/drawing/2014/main" id="{B551A752-C66A-7DC7-8962-146F842B22A7}"/>
              </a:ext>
            </a:extLst>
          </p:cNvPr>
          <p:cNvSpPr txBox="1"/>
          <p:nvPr/>
        </p:nvSpPr>
        <p:spPr>
          <a:xfrm>
            <a:off x="3286540" y="4988677"/>
            <a:ext cx="8905460" cy="830997"/>
          </a:xfrm>
          <a:prstGeom prst="rect">
            <a:avLst/>
          </a:prstGeom>
          <a:noFill/>
        </p:spPr>
        <p:txBody>
          <a:bodyPr wrap="square">
            <a:spAutoFit/>
          </a:bodyPr>
          <a:lstStyle/>
          <a:p>
            <a:pPr algn="just"/>
            <a:r>
              <a:rPr lang="en-US" sz="2400" dirty="0">
                <a:solidFill/>
                <a:latin typeface="Times" pitchFamily="2" charset="0"/>
              </a:rPr>
              <a:t>To deal with the normal force (</a:t>
            </a:r>
            <a:r>
              <a:rPr lang="en-US" sz="2400" i="1" dirty="0">
                <a:solidFill/>
                <a:latin typeface="Times" pitchFamily="2" charset="0"/>
              </a:rPr>
              <a:t>F</a:t>
            </a:r>
            <a:r>
              <a:rPr lang="en-US" sz="2400" baseline="-25000" dirty="0">
                <a:solidFill/>
                <a:latin typeface="Times" pitchFamily="2" charset="0"/>
              </a:rPr>
              <a:t>N</a:t>
            </a:r>
            <a:r>
              <a:rPr lang="en-US" sz="2400" dirty="0">
                <a:solidFill/>
                <a:latin typeface="Times" pitchFamily="2" charset="0"/>
              </a:rPr>
              <a:t>), we must analyze the forces in the </a:t>
            </a:r>
            <a:r>
              <a:rPr lang="en-US" sz="2400" i="1" dirty="0">
                <a:solidFill/>
                <a:latin typeface="Times" pitchFamily="2" charset="0"/>
              </a:rPr>
              <a:t>y</a:t>
            </a:r>
            <a:r>
              <a:rPr lang="en-US" sz="2400" dirty="0">
                <a:solidFill/>
                <a:latin typeface="Times" pitchFamily="2" charset="0"/>
              </a:rPr>
              <a:t> direction.  </a:t>
            </a:r>
            <a:endParaRPr lang="en-US" sz="2400" dirty="0">
              <a:effectLst/>
              <a:latin typeface="Times" pitchFamily="2" charset="0"/>
            </a:endParaRPr>
          </a:p>
        </p:txBody>
      </p:sp>
      <p:sp>
        <p:nvSpPr>
          <p:cNvPr id="6" name="TextBox 5">
            <a:extLst>
              <a:ext uri="{FF2B5EF4-FFF2-40B4-BE49-F238E27FC236}">
                <a16:creationId xmlns:a16="http://schemas.microsoft.com/office/drawing/2014/main" id="{F3E8C0CD-B818-0F62-3A3E-5E9D104F58B8}"/>
              </a:ext>
            </a:extLst>
          </p:cNvPr>
          <p:cNvSpPr txBox="1"/>
          <p:nvPr/>
        </p:nvSpPr>
        <p:spPr>
          <a:xfrm>
            <a:off x="897602" y="839960"/>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Downhill Skiing</a:t>
            </a:r>
          </a:p>
        </p:txBody>
      </p:sp>
      <p:sp>
        <p:nvSpPr>
          <p:cNvPr id="7" name="TextBox 6">
            <a:extLst>
              <a:ext uri="{FF2B5EF4-FFF2-40B4-BE49-F238E27FC236}">
                <a16:creationId xmlns:a16="http://schemas.microsoft.com/office/drawing/2014/main" id="{10046F0A-7970-77D2-D6B3-1EF312505239}"/>
              </a:ext>
            </a:extLst>
          </p:cNvPr>
          <p:cNvSpPr txBox="1"/>
          <p:nvPr/>
        </p:nvSpPr>
        <p:spPr>
          <a:xfrm>
            <a:off x="3339548" y="1390710"/>
            <a:ext cx="8454886" cy="461665"/>
          </a:xfrm>
          <a:prstGeom prst="rect">
            <a:avLst/>
          </a:prstGeom>
          <a:noFill/>
        </p:spPr>
        <p:txBody>
          <a:bodyPr wrap="square">
            <a:spAutoFit/>
          </a:bodyPr>
          <a:lstStyle/>
          <a:p>
            <a:pPr algn="just"/>
            <a:r>
              <a:rPr lang="en-US" sz="2400" dirty="0">
                <a:solidFill/>
                <a:effectLst/>
                <a:latin typeface="Times" pitchFamily="2" charset="0"/>
              </a:rPr>
              <a:t>The skier is accelerating down the slope.  This tells us two things:</a:t>
            </a:r>
          </a:p>
        </p:txBody>
      </p:sp>
      <p:grpSp>
        <p:nvGrpSpPr>
          <p:cNvPr id="31" name="Group 30">
            <a:extLst>
              <a:ext uri="{FF2B5EF4-FFF2-40B4-BE49-F238E27FC236}">
                <a16:creationId xmlns:a16="http://schemas.microsoft.com/office/drawing/2014/main" id="{7B9FB399-3D55-86E6-C28D-24B16368192D}"/>
              </a:ext>
            </a:extLst>
          </p:cNvPr>
          <p:cNvGrpSpPr/>
          <p:nvPr/>
        </p:nvGrpSpPr>
        <p:grpSpPr>
          <a:xfrm>
            <a:off x="3352799" y="1817709"/>
            <a:ext cx="8489518" cy="1482083"/>
            <a:chOff x="3352799" y="1817709"/>
            <a:chExt cx="8489518" cy="1482083"/>
          </a:xfrm>
        </p:grpSpPr>
        <p:sp>
          <p:nvSpPr>
            <p:cNvPr id="30" name="Rounded Rectangle 29">
              <a:extLst>
                <a:ext uri="{FF2B5EF4-FFF2-40B4-BE49-F238E27FC236}">
                  <a16:creationId xmlns:a16="http://schemas.microsoft.com/office/drawing/2014/main" id="{561850C1-DB00-1ABB-EE7B-24C059F044C4}"/>
                </a:ext>
              </a:extLst>
            </p:cNvPr>
            <p:cNvSpPr/>
            <p:nvPr/>
          </p:nvSpPr>
          <p:spPr>
            <a:xfrm>
              <a:off x="3816627" y="2676939"/>
              <a:ext cx="6824870" cy="6228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2804C713-2981-FCD3-E4A3-ECDA6BBD4D05}"/>
                </a:ext>
              </a:extLst>
            </p:cNvPr>
            <p:cNvGrpSpPr/>
            <p:nvPr/>
          </p:nvGrpSpPr>
          <p:grpSpPr>
            <a:xfrm>
              <a:off x="3352799" y="1817709"/>
              <a:ext cx="8489518" cy="830997"/>
              <a:chOff x="3352799" y="1817709"/>
              <a:chExt cx="8489518" cy="830997"/>
            </a:xfrm>
          </p:grpSpPr>
          <p:pic>
            <p:nvPicPr>
              <p:cNvPr id="5" name="Picture 4">
                <a:extLst>
                  <a:ext uri="{FF2B5EF4-FFF2-40B4-BE49-F238E27FC236}">
                    <a16:creationId xmlns:a16="http://schemas.microsoft.com/office/drawing/2014/main" id="{0D8BDA60-B3A2-2CB5-125F-61BCD676C17C}"/>
                  </a:ext>
                </a:extLst>
              </p:cNvPr>
              <p:cNvPicPr>
                <a:picLocks noChangeAspect="1"/>
              </p:cNvPicPr>
              <p:nvPr/>
            </p:nvPicPr>
            <p:blipFill>
              <a:blip r:embed="rId4"/>
              <a:stretch>
                <a:fillRect/>
              </a:stretch>
            </p:blipFill>
            <p:spPr>
              <a:xfrm>
                <a:off x="11270056" y="1868556"/>
                <a:ext cx="572261" cy="366643"/>
              </a:xfrm>
              <a:prstGeom prst="rect">
                <a:avLst/>
              </a:prstGeom>
            </p:spPr>
          </p:pic>
          <p:sp>
            <p:nvSpPr>
              <p:cNvPr id="12" name="TextBox 11">
                <a:extLst>
                  <a:ext uri="{FF2B5EF4-FFF2-40B4-BE49-F238E27FC236}">
                    <a16:creationId xmlns:a16="http://schemas.microsoft.com/office/drawing/2014/main" id="{3C58A577-F023-A855-852A-4AD84378D4B6}"/>
                  </a:ext>
                </a:extLst>
              </p:cNvPr>
              <p:cNvSpPr txBox="1"/>
              <p:nvPr/>
            </p:nvSpPr>
            <p:spPr>
              <a:xfrm>
                <a:off x="3352799" y="1817709"/>
                <a:ext cx="8176591" cy="830997"/>
              </a:xfrm>
              <a:prstGeom prst="rect">
                <a:avLst/>
              </a:prstGeom>
              <a:noFill/>
            </p:spPr>
            <p:txBody>
              <a:bodyPr wrap="square">
                <a:spAutoFit/>
              </a:bodyPr>
              <a:lstStyle/>
              <a:p>
                <a:pPr marL="457200" indent="-457200" algn="just">
                  <a:buAutoNum type="arabicPeriod"/>
                </a:pPr>
                <a:r>
                  <a:rPr lang="en-US" sz="2400" dirty="0">
                    <a:solidFill/>
                    <a:latin typeface="Times" pitchFamily="2" charset="0"/>
                  </a:rPr>
                  <a:t>The net force is along the direction of the displacement:  </a:t>
                </a:r>
                <a:r>
                  <a:rPr lang="en-US" sz="2400" i="1" dirty="0">
                    <a:solidFill/>
                    <a:latin typeface="Times" pitchFamily="2" charset="0"/>
                  </a:rPr>
                  <a:t>F</a:t>
                </a:r>
                <a:r>
                  <a:rPr lang="en-US" sz="2400" dirty="0">
                    <a:solidFill/>
                    <a:latin typeface="Times" pitchFamily="2" charset="0"/>
                  </a:rPr>
                  <a:t> = </a:t>
                </a:r>
              </a:p>
              <a:p>
                <a:pPr marL="457200" indent="-457200" algn="just">
                  <a:buAutoNum type="arabicPeriod"/>
                </a:pPr>
                <a:r>
                  <a:rPr lang="en-US" sz="2400" dirty="0">
                    <a:solidFill/>
                    <a:effectLst/>
                    <a:latin typeface="Times" pitchFamily="2" charset="0"/>
                  </a:rPr>
                  <a:t>The angle </a:t>
                </a:r>
                <a:r>
                  <a:rPr lang="en-US" sz="2400" i="1" dirty="0">
                    <a:solidFill/>
                    <a:effectLst/>
                    <a:latin typeface="Symbol" pitchFamily="2" charset="2"/>
                  </a:rPr>
                  <a:t>q</a:t>
                </a:r>
                <a:r>
                  <a:rPr lang="en-US" sz="2400" dirty="0">
                    <a:solidFill/>
                    <a:effectLst/>
                    <a:latin typeface="Times" pitchFamily="2" charset="0"/>
                  </a:rPr>
                  <a:t> in Equation 6.1 is = 0</a:t>
                </a:r>
                <a:r>
                  <a:rPr lang="en-US" sz="2400" baseline="30000" dirty="0">
                    <a:solidFill/>
                    <a:effectLst/>
                    <a:latin typeface="Times" pitchFamily="2" charset="0"/>
                  </a:rPr>
                  <a:t>o</a:t>
                </a:r>
                <a:r>
                  <a:rPr lang="en-US" sz="2400" dirty="0">
                    <a:solidFill/>
                    <a:effectLst/>
                    <a:latin typeface="Times" pitchFamily="2" charset="0"/>
                  </a:rPr>
                  <a:t>.</a:t>
                </a:r>
              </a:p>
            </p:txBody>
          </p:sp>
        </p:grpSp>
      </p:grpSp>
      <p:grpSp>
        <p:nvGrpSpPr>
          <p:cNvPr id="36" name="Group 35">
            <a:extLst>
              <a:ext uri="{FF2B5EF4-FFF2-40B4-BE49-F238E27FC236}">
                <a16:creationId xmlns:a16="http://schemas.microsoft.com/office/drawing/2014/main" id="{5FBBBA84-4E9C-05FA-FE39-70C4F5261F52}"/>
              </a:ext>
            </a:extLst>
          </p:cNvPr>
          <p:cNvGrpSpPr/>
          <p:nvPr/>
        </p:nvGrpSpPr>
        <p:grpSpPr>
          <a:xfrm>
            <a:off x="5764696" y="2775563"/>
            <a:ext cx="2637182" cy="468291"/>
            <a:chOff x="5764696" y="2775563"/>
            <a:chExt cx="2637182" cy="468291"/>
          </a:xfrm>
        </p:grpSpPr>
        <p:pic>
          <p:nvPicPr>
            <p:cNvPr id="15" name="Picture 14">
              <a:extLst>
                <a:ext uri="{FF2B5EF4-FFF2-40B4-BE49-F238E27FC236}">
                  <a16:creationId xmlns:a16="http://schemas.microsoft.com/office/drawing/2014/main" id="{998E6C85-717E-B7D5-1FC8-37297CD28911}"/>
                </a:ext>
              </a:extLst>
            </p:cNvPr>
            <p:cNvPicPr>
              <a:picLocks noChangeAspect="1"/>
            </p:cNvPicPr>
            <p:nvPr/>
          </p:nvPicPr>
          <p:blipFill>
            <a:blip r:embed="rId4"/>
            <a:stretch>
              <a:fillRect/>
            </a:stretch>
          </p:blipFill>
          <p:spPr>
            <a:xfrm>
              <a:off x="6081830" y="2855843"/>
              <a:ext cx="572261" cy="366643"/>
            </a:xfrm>
            <a:prstGeom prst="rect">
              <a:avLst/>
            </a:prstGeom>
          </p:spPr>
        </p:pic>
        <p:sp>
          <p:nvSpPr>
            <p:cNvPr id="16" name="TextBox 15">
              <a:extLst>
                <a:ext uri="{FF2B5EF4-FFF2-40B4-BE49-F238E27FC236}">
                  <a16:creationId xmlns:a16="http://schemas.microsoft.com/office/drawing/2014/main" id="{9D6BF8E6-1590-6B55-DC21-01CBEBDCFB82}"/>
                </a:ext>
              </a:extLst>
            </p:cNvPr>
            <p:cNvSpPr txBox="1"/>
            <p:nvPr/>
          </p:nvSpPr>
          <p:spPr>
            <a:xfrm>
              <a:off x="5764696" y="2782189"/>
              <a:ext cx="702365" cy="461665"/>
            </a:xfrm>
            <a:prstGeom prst="rect">
              <a:avLst/>
            </a:prstGeom>
            <a:noFill/>
          </p:spPr>
          <p:txBody>
            <a:bodyPr wrap="square">
              <a:spAutoFit/>
            </a:bodyPr>
            <a:lstStyle/>
            <a:p>
              <a:pPr algn="just"/>
              <a:r>
                <a:rPr lang="en-US" sz="2400" dirty="0">
                  <a:solidFill/>
                  <a:latin typeface="Times" pitchFamily="2" charset="0"/>
                </a:rPr>
                <a:t>=</a:t>
              </a:r>
              <a:endParaRPr lang="en-US" sz="2400" dirty="0">
                <a:effectLst/>
                <a:latin typeface="Times" pitchFamily="2" charset="0"/>
              </a:endParaRPr>
            </a:p>
          </p:txBody>
        </p:sp>
        <p:sp>
          <p:nvSpPr>
            <p:cNvPr id="29" name="TextBox 28">
              <a:extLst>
                <a:ext uri="{FF2B5EF4-FFF2-40B4-BE49-F238E27FC236}">
                  <a16:creationId xmlns:a16="http://schemas.microsoft.com/office/drawing/2014/main" id="{DEAD1561-9375-2C3D-0372-516D9D12AC2F}"/>
                </a:ext>
              </a:extLst>
            </p:cNvPr>
            <p:cNvSpPr txBox="1"/>
            <p:nvPr/>
          </p:nvSpPr>
          <p:spPr>
            <a:xfrm>
              <a:off x="6606209" y="2775563"/>
              <a:ext cx="1795669" cy="461665"/>
            </a:xfrm>
            <a:prstGeom prst="rect">
              <a:avLst/>
            </a:prstGeom>
            <a:noFill/>
          </p:spPr>
          <p:txBody>
            <a:bodyPr wrap="square">
              <a:spAutoFit/>
            </a:bodyPr>
            <a:lstStyle/>
            <a:p>
              <a:pPr algn="just"/>
              <a:r>
                <a:rPr lang="en-US" sz="2400" dirty="0">
                  <a:solidFill/>
                  <a:latin typeface="Times" pitchFamily="2" charset="0"/>
                </a:rPr>
                <a:t>(cos 0</a:t>
              </a:r>
              <a:r>
                <a:rPr lang="en-US" sz="2400" baseline="30000" dirty="0">
                  <a:solidFill/>
                  <a:latin typeface="Times" pitchFamily="2" charset="0"/>
                </a:rPr>
                <a:t>o</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a:t>
              </a:r>
              <a:endParaRPr lang="en-US" sz="2400" dirty="0">
                <a:effectLst/>
                <a:latin typeface="Times" pitchFamily="2" charset="0"/>
              </a:endParaRPr>
            </a:p>
          </p:txBody>
        </p:sp>
      </p:grpSp>
      <p:sp>
        <p:nvSpPr>
          <p:cNvPr id="24" name="TextBox 23">
            <a:extLst>
              <a:ext uri="{FF2B5EF4-FFF2-40B4-BE49-F238E27FC236}">
                <a16:creationId xmlns:a16="http://schemas.microsoft.com/office/drawing/2014/main" id="{0F8D3EF2-76D6-9FD6-2F80-9ABFCE46249C}"/>
              </a:ext>
            </a:extLst>
          </p:cNvPr>
          <p:cNvSpPr txBox="1"/>
          <p:nvPr/>
        </p:nvSpPr>
        <p:spPr>
          <a:xfrm>
            <a:off x="3816627" y="2782946"/>
            <a:ext cx="2146851" cy="461665"/>
          </a:xfrm>
          <a:prstGeom prst="rect">
            <a:avLst/>
          </a:prstGeom>
          <a:noFill/>
        </p:spPr>
        <p:txBody>
          <a:bodyPr wrap="square" rtlCol="0">
            <a:spAutoFit/>
          </a:bodyPr>
          <a:lstStyle/>
          <a:p>
            <a:pPr/>
            <a:r>
              <a:rPr lang="en-US" sz="2400" i="1" dirty="0">
                <a:solidFill/>
                <a:latin typeface="Times" pitchFamily="2" charset="0"/>
              </a:rPr>
              <a:t>W</a:t>
            </a:r>
            <a:r>
              <a:rPr lang="en-US" sz="2400" dirty="0">
                <a:solidFill/>
                <a:latin typeface="Times" pitchFamily="2" charset="0"/>
              </a:rPr>
              <a:t> = (</a:t>
            </a:r>
            <a:r>
              <a:rPr lang="en-US" sz="2400" i="1" dirty="0" err="1">
                <a:solidFill/>
                <a:latin typeface="Times" pitchFamily="2" charset="0"/>
              </a:rPr>
              <a:t>F</a:t>
            </a:r>
            <a:r>
              <a:rPr lang="en-US" sz="2400" dirty="0" err="1">
                <a:solidFill/>
                <a:latin typeface="Times" pitchFamily="2" charset="0"/>
              </a:rPr>
              <a:t>cos</a:t>
            </a:r>
            <a:r>
              <a:rPr lang="en-US" sz="2400" i="1" dirty="0" err="1">
                <a:solidFill/>
                <a:latin typeface="Symbol" pitchFamily="2" charset="2"/>
              </a:rPr>
              <a:t>q</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a:t>
            </a:r>
          </a:p>
        </p:txBody>
      </p:sp>
      <p:grpSp>
        <p:nvGrpSpPr>
          <p:cNvPr id="35" name="Group 34">
            <a:extLst>
              <a:ext uri="{FF2B5EF4-FFF2-40B4-BE49-F238E27FC236}">
                <a16:creationId xmlns:a16="http://schemas.microsoft.com/office/drawing/2014/main" id="{6C4F9236-B066-4D97-86F2-9935377921B9}"/>
              </a:ext>
            </a:extLst>
          </p:cNvPr>
          <p:cNvGrpSpPr/>
          <p:nvPr/>
        </p:nvGrpSpPr>
        <p:grpSpPr>
          <a:xfrm>
            <a:off x="6798365" y="2477388"/>
            <a:ext cx="980661" cy="901916"/>
            <a:chOff x="6798365" y="2477388"/>
            <a:chExt cx="980661" cy="901916"/>
          </a:xfrm>
        </p:grpSpPr>
        <p:cxnSp>
          <p:nvCxnSpPr>
            <p:cNvPr id="33" name="Straight Arrow Connector 32">
              <a:extLst>
                <a:ext uri="{FF2B5EF4-FFF2-40B4-BE49-F238E27FC236}">
                  <a16:creationId xmlns:a16="http://schemas.microsoft.com/office/drawing/2014/main" id="{2F77B1A0-1CED-E91F-BC00-EFECD8523833}"/>
                </a:ext>
              </a:extLst>
            </p:cNvPr>
            <p:cNvCxnSpPr/>
            <p:nvPr/>
          </p:nvCxnSpPr>
          <p:spPr>
            <a:xfrm flipV="1">
              <a:off x="6798365" y="2729948"/>
              <a:ext cx="543339" cy="64935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32E8E423-190C-D3D9-6DC7-A42349C40AF3}"/>
                </a:ext>
              </a:extLst>
            </p:cNvPr>
            <p:cNvSpPr txBox="1"/>
            <p:nvPr/>
          </p:nvSpPr>
          <p:spPr>
            <a:xfrm>
              <a:off x="7288696" y="2477388"/>
              <a:ext cx="490330" cy="461665"/>
            </a:xfrm>
            <a:prstGeom prst="rect">
              <a:avLst/>
            </a:prstGeom>
            <a:noFill/>
          </p:spPr>
          <p:txBody>
            <a:bodyPr wrap="square">
              <a:spAutoFit/>
            </a:bodyPr>
            <a:lstStyle/>
            <a:p>
              <a:pPr algn="just"/>
              <a:r>
                <a:rPr lang="en-US" sz="2400" dirty="0">
                  <a:solidFill>
                    <a:srgbClr val="FF0000"/>
                  </a:solidFill>
                  <a:latin typeface="Times" pitchFamily="2" charset="0"/>
                </a:rPr>
                <a:t>1</a:t>
              </a:r>
              <a:endParaRPr lang="en-US" sz="2400" dirty="0">
                <a:solidFill>
                  <a:srgbClr val="FF0000"/>
                </a:solidFill>
                <a:effectLst/>
                <a:latin typeface="Times" pitchFamily="2" charset="0"/>
              </a:endParaRPr>
            </a:p>
          </p:txBody>
        </p:sp>
      </p:grpSp>
      <p:sp>
        <p:nvSpPr>
          <p:cNvPr id="37" name="TextBox 36">
            <a:extLst>
              <a:ext uri="{FF2B5EF4-FFF2-40B4-BE49-F238E27FC236}">
                <a16:creationId xmlns:a16="http://schemas.microsoft.com/office/drawing/2014/main" id="{BB06C1FC-6630-1CF1-9292-2541497C13CF}"/>
              </a:ext>
            </a:extLst>
          </p:cNvPr>
          <p:cNvSpPr txBox="1"/>
          <p:nvPr/>
        </p:nvSpPr>
        <p:spPr>
          <a:xfrm>
            <a:off x="7964557" y="2768936"/>
            <a:ext cx="2623930" cy="461665"/>
          </a:xfrm>
          <a:prstGeom prst="rect">
            <a:avLst/>
          </a:prstGeom>
          <a:noFill/>
        </p:spPr>
        <p:txBody>
          <a:bodyPr wrap="square">
            <a:spAutoFit/>
          </a:bodyPr>
          <a:lstStyle/>
          <a:p>
            <a:pPr algn="just"/>
            <a:r>
              <a:rPr lang="en-US" sz="2400" dirty="0">
                <a:solidFill/>
                <a:latin typeface="Times" pitchFamily="2" charset="0"/>
              </a:rPr>
              <a:t>= (</a:t>
            </a:r>
            <a:r>
              <a:rPr lang="en-US" sz="2400" i="1" dirty="0">
                <a:solidFill/>
                <a:latin typeface="Times" pitchFamily="2" charset="0"/>
              </a:rPr>
              <a:t>mg</a:t>
            </a:r>
            <a:r>
              <a:rPr lang="en-US" sz="2400" dirty="0">
                <a:solidFill/>
                <a:latin typeface="Times" pitchFamily="2" charset="0"/>
              </a:rPr>
              <a:t>sin</a:t>
            </a:r>
            <a:r>
              <a:rPr lang="en-US" sz="2400" dirty="0">
                <a:solidFill/>
                <a:latin typeface="Symbol" pitchFamily="2" charset="2"/>
              </a:rPr>
              <a:t>25</a:t>
            </a:r>
            <a:r>
              <a:rPr lang="en-US" sz="2400" baseline="30000" dirty="0">
                <a:solidFill/>
                <a:latin typeface="Symbol" pitchFamily="2" charset="2"/>
              </a:rPr>
              <a:t>o</a:t>
            </a:r>
            <a:r>
              <a:rPr lang="en-US" sz="2400" dirty="0">
                <a:solidFill/>
                <a:latin typeface="Symbol" pitchFamily="2" charset="2"/>
              </a:rPr>
              <a:t> </a:t>
            </a:r>
            <a:r>
              <a:rPr lang="en-US" sz="2400" dirty="0">
                <a:solidFill/>
                <a:latin typeface="Times" pitchFamily="2" charset="0"/>
              </a:rPr>
              <a:t>– </a:t>
            </a:r>
            <a:r>
              <a:rPr lang="en-US" sz="2400" i="1" dirty="0" err="1">
                <a:solidFill/>
                <a:latin typeface="Times" pitchFamily="2" charset="0"/>
              </a:rPr>
              <a:t>f</a:t>
            </a:r>
            <a:r>
              <a:rPr lang="en-US" sz="2400" baseline="-25000" dirty="0" err="1">
                <a:solidFill/>
                <a:latin typeface="Times" pitchFamily="2" charset="0"/>
              </a:rPr>
              <a:t>k</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a:t>
            </a:r>
            <a:endParaRPr lang="en-US" sz="2400" dirty="0">
              <a:effectLst/>
              <a:latin typeface="Times" pitchFamily="2" charset="0"/>
            </a:endParaRPr>
          </a:p>
        </p:txBody>
      </p:sp>
      <p:grpSp>
        <p:nvGrpSpPr>
          <p:cNvPr id="43" name="Group 42">
            <a:extLst>
              <a:ext uri="{FF2B5EF4-FFF2-40B4-BE49-F238E27FC236}">
                <a16:creationId xmlns:a16="http://schemas.microsoft.com/office/drawing/2014/main" id="{D5D04124-AB08-A255-80E5-79CE58841D96}"/>
              </a:ext>
            </a:extLst>
          </p:cNvPr>
          <p:cNvGrpSpPr/>
          <p:nvPr/>
        </p:nvGrpSpPr>
        <p:grpSpPr>
          <a:xfrm>
            <a:off x="6076122" y="3352796"/>
            <a:ext cx="4035290" cy="344560"/>
            <a:chOff x="6076122" y="3352796"/>
            <a:chExt cx="4035290" cy="344560"/>
          </a:xfrm>
        </p:grpSpPr>
        <p:sp>
          <p:nvSpPr>
            <p:cNvPr id="38" name="Left Brace 37">
              <a:extLst>
                <a:ext uri="{FF2B5EF4-FFF2-40B4-BE49-F238E27FC236}">
                  <a16:creationId xmlns:a16="http://schemas.microsoft.com/office/drawing/2014/main" id="{02549192-0D9D-778C-3DF0-A6C0A9835C20}"/>
                </a:ext>
              </a:extLst>
            </p:cNvPr>
            <p:cNvSpPr/>
            <p:nvPr/>
          </p:nvSpPr>
          <p:spPr>
            <a:xfrm rot="16200000">
              <a:off x="6215268" y="3233529"/>
              <a:ext cx="324681" cy="602974"/>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Left Brace 38">
              <a:extLst>
                <a:ext uri="{FF2B5EF4-FFF2-40B4-BE49-F238E27FC236}">
                  <a16:creationId xmlns:a16="http://schemas.microsoft.com/office/drawing/2014/main" id="{DE41BA0D-64E7-BA64-7497-BC69085F395D}"/>
                </a:ext>
              </a:extLst>
            </p:cNvPr>
            <p:cNvSpPr/>
            <p:nvPr/>
          </p:nvSpPr>
          <p:spPr>
            <a:xfrm rot="16200000">
              <a:off x="9064488" y="2637179"/>
              <a:ext cx="331308" cy="1762541"/>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FCACD739-D743-A988-9FE1-F595EB3B0DC8}"/>
                </a:ext>
              </a:extLst>
            </p:cNvPr>
            <p:cNvCxnSpPr>
              <a:cxnSpLocks/>
            </p:cNvCxnSpPr>
            <p:nvPr/>
          </p:nvCxnSpPr>
          <p:spPr>
            <a:xfrm>
              <a:off x="6363755" y="3688121"/>
              <a:ext cx="2877227" cy="0"/>
            </a:xfrm>
            <a:prstGeom prst="line">
              <a:avLst/>
            </a:prstGeom>
            <a:ln w="31750"/>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C7C81B44-DAEF-931E-EF48-26FFB32A4D4F}"/>
              </a:ext>
            </a:extLst>
          </p:cNvPr>
          <p:cNvGrpSpPr/>
          <p:nvPr/>
        </p:nvGrpSpPr>
        <p:grpSpPr>
          <a:xfrm>
            <a:off x="4757531" y="3776102"/>
            <a:ext cx="5764695" cy="1147084"/>
            <a:chOff x="4757531" y="3776102"/>
            <a:chExt cx="5764695" cy="1147084"/>
          </a:xfrm>
        </p:grpSpPr>
        <p:sp>
          <p:nvSpPr>
            <p:cNvPr id="21" name="TextBox 20">
              <a:extLst>
                <a:ext uri="{FF2B5EF4-FFF2-40B4-BE49-F238E27FC236}">
                  <a16:creationId xmlns:a16="http://schemas.microsoft.com/office/drawing/2014/main" id="{B51A0211-8358-49B6-29B4-C0546B912DF7}"/>
                </a:ext>
              </a:extLst>
            </p:cNvPr>
            <p:cNvSpPr txBox="1"/>
            <p:nvPr/>
          </p:nvSpPr>
          <p:spPr>
            <a:xfrm>
              <a:off x="4757531" y="3776102"/>
              <a:ext cx="5764695" cy="461665"/>
            </a:xfrm>
            <a:prstGeom prst="rect">
              <a:avLst/>
            </a:prstGeom>
            <a:noFill/>
          </p:spPr>
          <p:txBody>
            <a:bodyPr wrap="square">
              <a:spAutoFit/>
            </a:bodyPr>
            <a:lstStyle/>
            <a:p>
              <a:pPr algn="just"/>
              <a:r>
                <a:rPr lang="en-US" sz="2400" dirty="0">
                  <a:solidFill/>
                  <a:latin typeface="Times" pitchFamily="2" charset="0"/>
                </a:rPr>
                <a:t>We can replace </a:t>
              </a:r>
              <a:r>
                <a:rPr lang="en-US" sz="2400" i="1" dirty="0" err="1">
                  <a:solidFill/>
                  <a:latin typeface="Times" pitchFamily="2" charset="0"/>
                </a:rPr>
                <a:t>f</a:t>
              </a:r>
              <a:r>
                <a:rPr lang="en-US" sz="2400" baseline="-25000" dirty="0" err="1">
                  <a:solidFill/>
                  <a:latin typeface="Times" pitchFamily="2" charset="0"/>
                </a:rPr>
                <a:t>k</a:t>
              </a:r>
              <a:r>
                <a:rPr lang="en-US" sz="2400" dirty="0">
                  <a:solidFill/>
                  <a:latin typeface="Times" pitchFamily="2" charset="0"/>
                </a:rPr>
                <a:t> with </a:t>
              </a:r>
              <a:r>
                <a:rPr lang="en-US" sz="2400" i="1" dirty="0" err="1">
                  <a:solidFill/>
                  <a:latin typeface="Symbol" pitchFamily="2" charset="2"/>
                </a:rPr>
                <a:t>m</a:t>
              </a:r>
              <a:r>
                <a:rPr lang="en-US" sz="2400" baseline="-25000" dirty="0" err="1">
                  <a:solidFill/>
                  <a:latin typeface="Times" pitchFamily="2" charset="0"/>
                </a:rPr>
                <a:t>k</a:t>
              </a:r>
              <a:r>
                <a:rPr lang="en-US" sz="2400" i="1" dirty="0" err="1">
                  <a:solidFill/>
                  <a:latin typeface="Times" pitchFamily="2" charset="0"/>
                </a:rPr>
                <a:t>F</a:t>
              </a:r>
              <a:r>
                <a:rPr lang="en-US" sz="2400" baseline="-25000" dirty="0" err="1">
                  <a:solidFill/>
                  <a:latin typeface="Times" pitchFamily="2" charset="0"/>
                </a:rPr>
                <a:t>N</a:t>
              </a:r>
              <a:r>
                <a:rPr lang="en-US" sz="2400" dirty="0">
                  <a:solidFill/>
                  <a:latin typeface="Times" pitchFamily="2" charset="0"/>
                </a:rPr>
                <a:t> (Equation 4.8):</a:t>
              </a:r>
              <a:endParaRPr lang="en-US" sz="2400" dirty="0">
                <a:effectLst/>
                <a:latin typeface="Times" pitchFamily="2" charset="0"/>
              </a:endParaRPr>
            </a:p>
          </p:txBody>
        </p:sp>
        <p:sp>
          <p:nvSpPr>
            <p:cNvPr id="44" name="Rounded Rectangle 43">
              <a:extLst>
                <a:ext uri="{FF2B5EF4-FFF2-40B4-BE49-F238E27FC236}">
                  <a16:creationId xmlns:a16="http://schemas.microsoft.com/office/drawing/2014/main" id="{98411AE8-802B-7AAD-22F8-5CBA0BB7C52A}"/>
                </a:ext>
              </a:extLst>
            </p:cNvPr>
            <p:cNvSpPr/>
            <p:nvPr/>
          </p:nvSpPr>
          <p:spPr>
            <a:xfrm>
              <a:off x="5784573" y="4300333"/>
              <a:ext cx="3438939" cy="6228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TextBox 45">
            <a:extLst>
              <a:ext uri="{FF2B5EF4-FFF2-40B4-BE49-F238E27FC236}">
                <a16:creationId xmlns:a16="http://schemas.microsoft.com/office/drawing/2014/main" id="{6A4CCA68-79DE-1C8D-05E1-CA6E7B78A211}"/>
              </a:ext>
            </a:extLst>
          </p:cNvPr>
          <p:cNvSpPr txBox="1"/>
          <p:nvPr/>
        </p:nvSpPr>
        <p:spPr>
          <a:xfrm>
            <a:off x="5824332" y="4398955"/>
            <a:ext cx="3916016" cy="461665"/>
          </a:xfrm>
          <a:prstGeom prst="rect">
            <a:avLst/>
          </a:prstGeom>
          <a:noFill/>
        </p:spPr>
        <p:txBody>
          <a:bodyPr wrap="square">
            <a:spAutoFit/>
          </a:bodyPr>
          <a:lstStyle/>
          <a:p>
            <a:pPr algn="just"/>
            <a:r>
              <a:rPr lang="en-US" sz="2400" i="1" dirty="0">
                <a:solidFill/>
                <a:latin typeface="Times" pitchFamily="2" charset="0"/>
              </a:rPr>
              <a:t>W</a:t>
            </a:r>
            <a:r>
              <a:rPr lang="en-US" sz="2400" dirty="0">
                <a:solidFill/>
                <a:latin typeface="Times" pitchFamily="2" charset="0"/>
              </a:rPr>
              <a:t> = (</a:t>
            </a:r>
            <a:r>
              <a:rPr lang="en-US" sz="2400" i="1" dirty="0">
                <a:solidFill/>
                <a:latin typeface="Times" pitchFamily="2" charset="0"/>
              </a:rPr>
              <a:t>mg</a:t>
            </a:r>
            <a:r>
              <a:rPr lang="en-US" sz="2400" dirty="0">
                <a:solidFill/>
                <a:latin typeface="Times" pitchFamily="2" charset="0"/>
              </a:rPr>
              <a:t>sin</a:t>
            </a:r>
            <a:r>
              <a:rPr lang="en-US" sz="2400" dirty="0">
                <a:solidFill/>
                <a:latin typeface="Symbol" pitchFamily="2" charset="2"/>
              </a:rPr>
              <a:t>25</a:t>
            </a:r>
            <a:r>
              <a:rPr lang="en-US" sz="2400" baseline="30000" dirty="0">
                <a:solidFill/>
                <a:latin typeface="Symbol" pitchFamily="2" charset="2"/>
              </a:rPr>
              <a:t>o</a:t>
            </a:r>
            <a:r>
              <a:rPr lang="en-US" sz="2400" dirty="0">
                <a:solidFill/>
                <a:latin typeface="Symbol" pitchFamily="2" charset="2"/>
              </a:rPr>
              <a:t> </a:t>
            </a:r>
            <a:r>
              <a:rPr lang="en-US" sz="2400" dirty="0">
                <a:solidFill/>
                <a:latin typeface="Times" pitchFamily="2" charset="0"/>
              </a:rPr>
              <a:t>– </a:t>
            </a:r>
            <a:r>
              <a:rPr lang="en-US" sz="2400" i="1" dirty="0" err="1">
                <a:solidFill/>
                <a:latin typeface="Symbol" pitchFamily="2" charset="2"/>
              </a:rPr>
              <a:t>m</a:t>
            </a:r>
            <a:r>
              <a:rPr lang="en-US" sz="2400" baseline="-25000" dirty="0" err="1">
                <a:solidFill/>
                <a:latin typeface="Times" pitchFamily="2" charset="0"/>
              </a:rPr>
              <a:t>k</a:t>
            </a:r>
            <a:r>
              <a:rPr lang="en-US" sz="2400" i="1" dirty="0" err="1">
                <a:solidFill/>
                <a:latin typeface="Times" pitchFamily="2" charset="0"/>
              </a:rPr>
              <a:t>F</a:t>
            </a:r>
            <a:r>
              <a:rPr lang="en-US" sz="2400" baseline="-25000" dirty="0" err="1">
                <a:solidFill/>
                <a:latin typeface="Times" pitchFamily="2" charset="0"/>
              </a:rPr>
              <a:t>N</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 </a:t>
            </a:r>
            <a:endParaRPr lang="en-US" sz="2400" dirty="0">
              <a:effectLst/>
              <a:latin typeface="Times" pitchFamily="2" charset="0"/>
            </a:endParaRPr>
          </a:p>
        </p:txBody>
      </p:sp>
      <p:grpSp>
        <p:nvGrpSpPr>
          <p:cNvPr id="50" name="Group 49">
            <a:extLst>
              <a:ext uri="{FF2B5EF4-FFF2-40B4-BE49-F238E27FC236}">
                <a16:creationId xmlns:a16="http://schemas.microsoft.com/office/drawing/2014/main" id="{F81F9A0C-B8AB-291E-BF28-00054183439F}"/>
              </a:ext>
            </a:extLst>
          </p:cNvPr>
          <p:cNvGrpSpPr/>
          <p:nvPr/>
        </p:nvGrpSpPr>
        <p:grpSpPr>
          <a:xfrm>
            <a:off x="3193774" y="5731564"/>
            <a:ext cx="8905460" cy="622853"/>
            <a:chOff x="3193774" y="5731564"/>
            <a:chExt cx="8905460" cy="622853"/>
          </a:xfrm>
        </p:grpSpPr>
        <p:sp>
          <p:nvSpPr>
            <p:cNvPr id="47" name="TextBox 46">
              <a:extLst>
                <a:ext uri="{FF2B5EF4-FFF2-40B4-BE49-F238E27FC236}">
                  <a16:creationId xmlns:a16="http://schemas.microsoft.com/office/drawing/2014/main" id="{89930B85-3409-F01D-B8D4-6DE27D806EB1}"/>
                </a:ext>
              </a:extLst>
            </p:cNvPr>
            <p:cNvSpPr txBox="1"/>
            <p:nvPr/>
          </p:nvSpPr>
          <p:spPr>
            <a:xfrm>
              <a:off x="3193774" y="5830191"/>
              <a:ext cx="8905460" cy="461665"/>
            </a:xfrm>
            <a:prstGeom prst="rect">
              <a:avLst/>
            </a:prstGeom>
            <a:noFill/>
          </p:spPr>
          <p:txBody>
            <a:bodyPr wrap="square">
              <a:spAutoFit/>
            </a:bodyPr>
            <a:lstStyle/>
            <a:p>
              <a:pPr algn="just"/>
              <a:r>
                <a:rPr lang="en-US" sz="2400" dirty="0">
                  <a:solidFill/>
                  <a:latin typeface="Times" pitchFamily="2" charset="0"/>
                </a:rPr>
                <a:t>There is no acceleration in the </a:t>
              </a:r>
              <a:r>
                <a:rPr lang="en-US" sz="2400" i="1" dirty="0">
                  <a:solidFill/>
                  <a:latin typeface="Times" pitchFamily="2" charset="0"/>
                </a:rPr>
                <a:t>y</a:t>
              </a:r>
              <a:r>
                <a:rPr lang="en-US" sz="2400" dirty="0">
                  <a:solidFill/>
                  <a:latin typeface="Times" pitchFamily="2" charset="0"/>
                </a:rPr>
                <a:t> direction, i.e. equilibrium:</a:t>
              </a:r>
              <a:endParaRPr lang="en-US" sz="2400" dirty="0">
                <a:effectLst/>
                <a:latin typeface="Times" pitchFamily="2" charset="0"/>
              </a:endParaRPr>
            </a:p>
          </p:txBody>
        </p:sp>
        <p:sp>
          <p:nvSpPr>
            <p:cNvPr id="49" name="Rounded Rectangle 48">
              <a:extLst>
                <a:ext uri="{FF2B5EF4-FFF2-40B4-BE49-F238E27FC236}">
                  <a16:creationId xmlns:a16="http://schemas.microsoft.com/office/drawing/2014/main" id="{EFCE8940-62A7-F65A-1AEB-3114BB4D07ED}"/>
                </a:ext>
              </a:extLst>
            </p:cNvPr>
            <p:cNvSpPr/>
            <p:nvPr/>
          </p:nvSpPr>
          <p:spPr>
            <a:xfrm>
              <a:off x="10595112" y="5731564"/>
              <a:ext cx="1411357" cy="6228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8" name="Picture 47">
            <a:extLst>
              <a:ext uri="{FF2B5EF4-FFF2-40B4-BE49-F238E27FC236}">
                <a16:creationId xmlns:a16="http://schemas.microsoft.com/office/drawing/2014/main" id="{8B791FBE-E3BE-4715-BEE5-EF0B49B5E3D6}"/>
              </a:ext>
            </a:extLst>
          </p:cNvPr>
          <p:cNvPicPr>
            <a:picLocks noChangeAspect="1"/>
          </p:cNvPicPr>
          <p:nvPr/>
        </p:nvPicPr>
        <p:blipFill>
          <a:blip r:embed="rId5"/>
          <a:stretch>
            <a:fillRect/>
          </a:stretch>
        </p:blipFill>
        <p:spPr>
          <a:xfrm>
            <a:off x="10760766" y="5828948"/>
            <a:ext cx="1120359" cy="408407"/>
          </a:xfrm>
          <a:prstGeom prst="rect">
            <a:avLst/>
          </a:prstGeom>
        </p:spPr>
      </p:pic>
    </p:spTree>
    <p:extLst>
      <p:ext uri="{BB962C8B-B14F-4D97-AF65-F5344CB8AC3E}">
        <p14:creationId xmlns:p14="http://schemas.microsoft.com/office/powerpoint/2010/main" val="2582216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dissolv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dissolv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dissolve">
                                      <p:cBhvr>
                                        <p:cTn id="17" dur="500"/>
                                        <p:tgtEl>
                                          <p:spTgt spid="36"/>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dissolve">
                                      <p:cBhvr>
                                        <p:cTn id="21" dur="500"/>
                                        <p:tgtEl>
                                          <p:spTgt spid="35"/>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dissolve">
                                      <p:cBhvr>
                                        <p:cTn id="26" dur="500"/>
                                        <p:tgtEl>
                                          <p:spTgt spid="37"/>
                                        </p:tgtEl>
                                      </p:cBhvr>
                                    </p:animEffect>
                                  </p:childTnLst>
                                </p:cTn>
                              </p:par>
                              <p:par>
                                <p:cTn id="27" presetID="9" presetClass="entr" presetSubtype="0" fill="hold" nodeType="with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dissolve">
                                      <p:cBhvr>
                                        <p:cTn id="29" dur="500"/>
                                        <p:tgtEl>
                                          <p:spTgt spid="43"/>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45"/>
                                        </p:tgtEl>
                                        <p:attrNameLst>
                                          <p:attrName>style.visibility</p:attrName>
                                        </p:attrNameLst>
                                      </p:cBhvr>
                                      <p:to>
                                        <p:strVal val="visible"/>
                                      </p:to>
                                    </p:set>
                                    <p:animEffect transition="in" filter="dissolve">
                                      <p:cBhvr>
                                        <p:cTn id="34" dur="500"/>
                                        <p:tgtEl>
                                          <p:spTgt spid="45"/>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46"/>
                                        </p:tgtEl>
                                        <p:attrNameLst>
                                          <p:attrName>style.visibility</p:attrName>
                                        </p:attrNameLst>
                                      </p:cBhvr>
                                      <p:to>
                                        <p:strVal val="visible"/>
                                      </p:to>
                                    </p:set>
                                    <p:animEffect transition="in" filter="dissolve">
                                      <p:cBhvr>
                                        <p:cTn id="39" dur="500"/>
                                        <p:tgtEl>
                                          <p:spTgt spid="46"/>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dissolve">
                                      <p:cBhvr>
                                        <p:cTn id="44" dur="500"/>
                                        <p:tgtEl>
                                          <p:spTgt spid="23"/>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nodeType="click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dissolve">
                                      <p:cBhvr>
                                        <p:cTn id="49" dur="500"/>
                                        <p:tgtEl>
                                          <p:spTgt spid="50"/>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nodeType="clickEffect">
                                  <p:stCondLst>
                                    <p:cond delay="0"/>
                                  </p:stCondLst>
                                  <p:childTnLst>
                                    <p:set>
                                      <p:cBhvr>
                                        <p:cTn id="53" dur="1" fill="hold">
                                          <p:stCondLst>
                                            <p:cond delay="0"/>
                                          </p:stCondLst>
                                        </p:cTn>
                                        <p:tgtEl>
                                          <p:spTgt spid="48"/>
                                        </p:tgtEl>
                                        <p:attrNameLst>
                                          <p:attrName>style.visibility</p:attrName>
                                        </p:attrNameLst>
                                      </p:cBhvr>
                                      <p:to>
                                        <p:strVal val="visible"/>
                                      </p:to>
                                    </p:set>
                                    <p:animEffect transition="in" filter="dissolve">
                                      <p:cBhvr>
                                        <p:cTn id="54"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37" grpId="0"/>
      <p:bldP spid="4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5F1E0-756F-419B-9A79-EB1DFE7F17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A619A2-F1CE-948E-4EA8-1779823B45D8}"/>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pic>
        <p:nvPicPr>
          <p:cNvPr id="9" name="Picture 8">
            <a:extLst>
              <a:ext uri="{FF2B5EF4-FFF2-40B4-BE49-F238E27FC236}">
                <a16:creationId xmlns:a16="http://schemas.microsoft.com/office/drawing/2014/main" id="{58508476-1460-924E-C356-6A4C5E6818EF}"/>
              </a:ext>
            </a:extLst>
          </p:cNvPr>
          <p:cNvPicPr>
            <a:picLocks noChangeAspect="1"/>
          </p:cNvPicPr>
          <p:nvPr/>
        </p:nvPicPr>
        <p:blipFill>
          <a:blip r:embed="rId3"/>
          <a:srcRect t="15793" r="52172" b="11757"/>
          <a:stretch/>
        </p:blipFill>
        <p:spPr>
          <a:xfrm>
            <a:off x="251792" y="1370328"/>
            <a:ext cx="2782956" cy="1976467"/>
          </a:xfrm>
          <a:prstGeom prst="rect">
            <a:avLst/>
          </a:prstGeom>
        </p:spPr>
      </p:pic>
      <p:pic>
        <p:nvPicPr>
          <p:cNvPr id="4" name="Picture 3">
            <a:extLst>
              <a:ext uri="{FF2B5EF4-FFF2-40B4-BE49-F238E27FC236}">
                <a16:creationId xmlns:a16="http://schemas.microsoft.com/office/drawing/2014/main" id="{5DF44BFE-F521-D32A-D2F9-922E398E228B}"/>
              </a:ext>
            </a:extLst>
          </p:cNvPr>
          <p:cNvPicPr>
            <a:picLocks noChangeAspect="1"/>
          </p:cNvPicPr>
          <p:nvPr/>
        </p:nvPicPr>
        <p:blipFill>
          <a:blip r:embed="rId3"/>
          <a:srcRect l="53180" t="-6021" r="-780" b="8380"/>
          <a:stretch/>
        </p:blipFill>
        <p:spPr>
          <a:xfrm>
            <a:off x="304800" y="3511825"/>
            <a:ext cx="2769704" cy="2663687"/>
          </a:xfrm>
          <a:prstGeom prst="rect">
            <a:avLst/>
          </a:prstGeom>
        </p:spPr>
      </p:pic>
      <p:grpSp>
        <p:nvGrpSpPr>
          <p:cNvPr id="19" name="Group 18">
            <a:extLst>
              <a:ext uri="{FF2B5EF4-FFF2-40B4-BE49-F238E27FC236}">
                <a16:creationId xmlns:a16="http://schemas.microsoft.com/office/drawing/2014/main" id="{7A258EC8-F0E7-A45F-E19F-D13EB216AEA4}"/>
              </a:ext>
            </a:extLst>
          </p:cNvPr>
          <p:cNvGrpSpPr/>
          <p:nvPr/>
        </p:nvGrpSpPr>
        <p:grpSpPr>
          <a:xfrm>
            <a:off x="2405269" y="1331843"/>
            <a:ext cx="1239079" cy="1413901"/>
            <a:chOff x="4711147" y="3597965"/>
            <a:chExt cx="1239079" cy="1413901"/>
          </a:xfrm>
        </p:grpSpPr>
        <p:cxnSp>
          <p:nvCxnSpPr>
            <p:cNvPr id="8" name="Straight Arrow Connector 7">
              <a:extLst>
                <a:ext uri="{FF2B5EF4-FFF2-40B4-BE49-F238E27FC236}">
                  <a16:creationId xmlns:a16="http://schemas.microsoft.com/office/drawing/2014/main" id="{6E16C66F-0331-6405-09D8-0B936B670199}"/>
                </a:ext>
              </a:extLst>
            </p:cNvPr>
            <p:cNvCxnSpPr>
              <a:cxnSpLocks/>
            </p:cNvCxnSpPr>
            <p:nvPr/>
          </p:nvCxnSpPr>
          <p:spPr>
            <a:xfrm flipV="1">
              <a:off x="4717773" y="4002157"/>
              <a:ext cx="265044" cy="5565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214DB59-6859-D7C3-8EEC-E9AB59526A57}"/>
                </a:ext>
              </a:extLst>
            </p:cNvPr>
            <p:cNvCxnSpPr>
              <a:cxnSpLocks/>
            </p:cNvCxnSpPr>
            <p:nvPr/>
          </p:nvCxnSpPr>
          <p:spPr>
            <a:xfrm>
              <a:off x="4711147" y="4538870"/>
              <a:ext cx="510210" cy="2451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6CA9EA7-EE11-97D6-A1BA-8FF5220DC6AF}"/>
                </a:ext>
              </a:extLst>
            </p:cNvPr>
            <p:cNvSpPr txBox="1"/>
            <p:nvPr/>
          </p:nvSpPr>
          <p:spPr>
            <a:xfrm>
              <a:off x="5168348" y="4611756"/>
              <a:ext cx="781878" cy="400110"/>
            </a:xfrm>
            <a:prstGeom prst="rect">
              <a:avLst/>
            </a:prstGeom>
            <a:noFill/>
          </p:spPr>
          <p:txBody>
            <a:bodyPr wrap="square" rtlCol="0">
              <a:spAutoFit/>
            </a:bodyPr>
            <a:lstStyle/>
            <a:p>
              <a:pPr/>
              <a:r>
                <a:rPr lang="en-US" sz="2000" i="1" dirty="0">
                  <a:solidFill/>
                  <a:latin typeface="Times" pitchFamily="2" charset="0"/>
                </a:rPr>
                <a:t>+x</a:t>
              </a:r>
            </a:p>
          </p:txBody>
        </p:sp>
        <p:sp>
          <p:nvSpPr>
            <p:cNvPr id="18" name="TextBox 17">
              <a:extLst>
                <a:ext uri="{FF2B5EF4-FFF2-40B4-BE49-F238E27FC236}">
                  <a16:creationId xmlns:a16="http://schemas.microsoft.com/office/drawing/2014/main" id="{ECEAABB9-E788-DD8B-8086-345A32C5BAAB}"/>
                </a:ext>
              </a:extLst>
            </p:cNvPr>
            <p:cNvSpPr txBox="1"/>
            <p:nvPr/>
          </p:nvSpPr>
          <p:spPr>
            <a:xfrm>
              <a:off x="4790662" y="3597965"/>
              <a:ext cx="781878" cy="400110"/>
            </a:xfrm>
            <a:prstGeom prst="rect">
              <a:avLst/>
            </a:prstGeom>
            <a:noFill/>
          </p:spPr>
          <p:txBody>
            <a:bodyPr wrap="square" rtlCol="0">
              <a:spAutoFit/>
            </a:bodyPr>
            <a:lstStyle/>
            <a:p>
              <a:pPr/>
              <a:r>
                <a:rPr lang="en-US" sz="2000" i="1" dirty="0">
                  <a:solidFill/>
                  <a:latin typeface="Times" pitchFamily="2" charset="0"/>
                </a:rPr>
                <a:t>+y</a:t>
              </a:r>
            </a:p>
          </p:txBody>
        </p:sp>
      </p:grpSp>
      <p:sp>
        <p:nvSpPr>
          <p:cNvPr id="6" name="TextBox 5">
            <a:extLst>
              <a:ext uri="{FF2B5EF4-FFF2-40B4-BE49-F238E27FC236}">
                <a16:creationId xmlns:a16="http://schemas.microsoft.com/office/drawing/2014/main" id="{553713AC-395C-5D57-464D-EBA3E2BA6104}"/>
              </a:ext>
            </a:extLst>
          </p:cNvPr>
          <p:cNvSpPr txBox="1"/>
          <p:nvPr/>
        </p:nvSpPr>
        <p:spPr>
          <a:xfrm>
            <a:off x="897602" y="839960"/>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Downhill Skiing</a:t>
            </a:r>
          </a:p>
        </p:txBody>
      </p:sp>
      <p:grpSp>
        <p:nvGrpSpPr>
          <p:cNvPr id="22" name="Group 21">
            <a:extLst>
              <a:ext uri="{FF2B5EF4-FFF2-40B4-BE49-F238E27FC236}">
                <a16:creationId xmlns:a16="http://schemas.microsoft.com/office/drawing/2014/main" id="{3E657791-ECFF-F19B-86E6-D4608CB0B876}"/>
              </a:ext>
            </a:extLst>
          </p:cNvPr>
          <p:cNvGrpSpPr/>
          <p:nvPr/>
        </p:nvGrpSpPr>
        <p:grpSpPr>
          <a:xfrm>
            <a:off x="3604592" y="1788278"/>
            <a:ext cx="8905460" cy="1133829"/>
            <a:chOff x="3604592" y="1788278"/>
            <a:chExt cx="8905460" cy="1133829"/>
          </a:xfrm>
        </p:grpSpPr>
        <p:sp>
          <p:nvSpPr>
            <p:cNvPr id="44" name="Rounded Rectangle 43">
              <a:extLst>
                <a:ext uri="{FF2B5EF4-FFF2-40B4-BE49-F238E27FC236}">
                  <a16:creationId xmlns:a16="http://schemas.microsoft.com/office/drawing/2014/main" id="{AF9AFE99-BD77-200F-A7DA-6DB5AB63777B}"/>
                </a:ext>
              </a:extLst>
            </p:cNvPr>
            <p:cNvSpPr/>
            <p:nvPr/>
          </p:nvSpPr>
          <p:spPr>
            <a:xfrm>
              <a:off x="3796747" y="2299254"/>
              <a:ext cx="7878418" cy="6228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E849F6F1-5453-45F0-4647-534F556ACA35}"/>
                </a:ext>
              </a:extLst>
            </p:cNvPr>
            <p:cNvSpPr txBox="1"/>
            <p:nvPr/>
          </p:nvSpPr>
          <p:spPr>
            <a:xfrm>
              <a:off x="3770245" y="2397877"/>
              <a:ext cx="3916016" cy="461665"/>
            </a:xfrm>
            <a:prstGeom prst="rect">
              <a:avLst/>
            </a:prstGeom>
            <a:noFill/>
          </p:spPr>
          <p:txBody>
            <a:bodyPr wrap="square">
              <a:spAutoFit/>
            </a:bodyPr>
            <a:lstStyle/>
            <a:p>
              <a:pPr algn="just"/>
              <a:r>
                <a:rPr lang="en-US" sz="2400" i="1" dirty="0">
                  <a:solidFill/>
                  <a:latin typeface="Times" pitchFamily="2" charset="0"/>
                </a:rPr>
                <a:t>W</a:t>
              </a:r>
              <a:r>
                <a:rPr lang="en-US" sz="2400" dirty="0">
                  <a:solidFill/>
                  <a:latin typeface="Times" pitchFamily="2" charset="0"/>
                </a:rPr>
                <a:t> = (</a:t>
              </a:r>
              <a:r>
                <a:rPr lang="en-US" sz="2400" i="1" dirty="0">
                  <a:solidFill/>
                  <a:latin typeface="Times" pitchFamily="2" charset="0"/>
                </a:rPr>
                <a:t>mg</a:t>
              </a:r>
              <a:r>
                <a:rPr lang="en-US" sz="2400" dirty="0">
                  <a:solidFill/>
                  <a:latin typeface="Times" pitchFamily="2" charset="0"/>
                </a:rPr>
                <a:t>sin</a:t>
              </a:r>
              <a:r>
                <a:rPr lang="en-US" sz="2400" dirty="0">
                  <a:solidFill/>
                  <a:latin typeface="Symbol" pitchFamily="2" charset="2"/>
                </a:rPr>
                <a:t>25</a:t>
              </a:r>
              <a:r>
                <a:rPr lang="en-US" sz="2400" baseline="30000" dirty="0">
                  <a:solidFill/>
                  <a:latin typeface="Symbol" pitchFamily="2" charset="2"/>
                </a:rPr>
                <a:t>o</a:t>
              </a:r>
              <a:r>
                <a:rPr lang="en-US" sz="2400" dirty="0">
                  <a:solidFill/>
                  <a:latin typeface="Symbol" pitchFamily="2" charset="2"/>
                </a:rPr>
                <a:t> </a:t>
              </a:r>
              <a:r>
                <a:rPr lang="en-US" sz="2400" dirty="0">
                  <a:solidFill/>
                  <a:latin typeface="Times" pitchFamily="2" charset="0"/>
                </a:rPr>
                <a:t>– </a:t>
              </a:r>
              <a:r>
                <a:rPr lang="en-US" sz="2400" i="1" dirty="0" err="1">
                  <a:solidFill/>
                  <a:latin typeface="Symbol" pitchFamily="2" charset="2"/>
                </a:rPr>
                <a:t>m</a:t>
              </a:r>
              <a:r>
                <a:rPr lang="en-US" sz="2400" baseline="-25000" dirty="0" err="1">
                  <a:solidFill/>
                  <a:latin typeface="Times" pitchFamily="2" charset="0"/>
                </a:rPr>
                <a:t>k</a:t>
              </a:r>
              <a:r>
                <a:rPr lang="en-US" sz="2400" i="1" dirty="0" err="1">
                  <a:solidFill/>
                  <a:latin typeface="Times" pitchFamily="2" charset="0"/>
                </a:rPr>
                <a:t>F</a:t>
              </a:r>
              <a:r>
                <a:rPr lang="en-US" sz="2400" baseline="-25000" dirty="0" err="1">
                  <a:solidFill/>
                  <a:latin typeface="Times" pitchFamily="2" charset="0"/>
                </a:rPr>
                <a:t>N</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 </a:t>
              </a:r>
              <a:endParaRPr lang="en-US" sz="2400" dirty="0">
                <a:effectLst/>
                <a:latin typeface="Times" pitchFamily="2" charset="0"/>
              </a:endParaRPr>
            </a:p>
          </p:txBody>
        </p:sp>
        <p:sp>
          <p:nvSpPr>
            <p:cNvPr id="47" name="TextBox 46">
              <a:extLst>
                <a:ext uri="{FF2B5EF4-FFF2-40B4-BE49-F238E27FC236}">
                  <a16:creationId xmlns:a16="http://schemas.microsoft.com/office/drawing/2014/main" id="{86F3C3F7-AE6E-EB1D-03CC-95EDE735FA51}"/>
                </a:ext>
              </a:extLst>
            </p:cNvPr>
            <p:cNvSpPr txBox="1"/>
            <p:nvPr/>
          </p:nvSpPr>
          <p:spPr>
            <a:xfrm>
              <a:off x="3604592" y="1788278"/>
              <a:ext cx="8905460" cy="461665"/>
            </a:xfrm>
            <a:prstGeom prst="rect">
              <a:avLst/>
            </a:prstGeom>
            <a:noFill/>
          </p:spPr>
          <p:txBody>
            <a:bodyPr wrap="square">
              <a:spAutoFit/>
            </a:bodyPr>
            <a:lstStyle/>
            <a:p>
              <a:pPr algn="just"/>
              <a:r>
                <a:rPr lang="en-US" sz="2400" dirty="0">
                  <a:solidFill/>
                  <a:latin typeface="Times" pitchFamily="2" charset="0"/>
                </a:rPr>
                <a:t>We can now substitute </a:t>
              </a:r>
              <a:r>
                <a:rPr lang="en-US" sz="2400" i="1" dirty="0">
                  <a:solidFill/>
                  <a:latin typeface="Times" pitchFamily="2" charset="0"/>
                </a:rPr>
                <a:t>F</a:t>
              </a:r>
              <a:r>
                <a:rPr lang="en-US" sz="2400" baseline="-25000" dirty="0">
                  <a:solidFill/>
                  <a:latin typeface="Times" pitchFamily="2" charset="0"/>
                </a:rPr>
                <a:t>N</a:t>
              </a:r>
              <a:r>
                <a:rPr lang="en-US" sz="2400" dirty="0">
                  <a:solidFill/>
                  <a:latin typeface="Times" pitchFamily="2" charset="0"/>
                </a:rPr>
                <a:t> back into our expression for the work:</a:t>
              </a:r>
              <a:endParaRPr lang="en-US" sz="2400" dirty="0">
                <a:effectLst/>
                <a:latin typeface="Times" pitchFamily="2" charset="0"/>
              </a:endParaRPr>
            </a:p>
          </p:txBody>
        </p:sp>
      </p:grpSp>
      <p:sp>
        <p:nvSpPr>
          <p:cNvPr id="49" name="Rounded Rectangle 48">
            <a:extLst>
              <a:ext uri="{FF2B5EF4-FFF2-40B4-BE49-F238E27FC236}">
                <a16:creationId xmlns:a16="http://schemas.microsoft.com/office/drawing/2014/main" id="{64F9961C-7E60-BE97-2A23-330D7C7FC784}"/>
              </a:ext>
            </a:extLst>
          </p:cNvPr>
          <p:cNvSpPr/>
          <p:nvPr/>
        </p:nvSpPr>
        <p:spPr>
          <a:xfrm>
            <a:off x="5479774" y="894521"/>
            <a:ext cx="6049618" cy="6228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35BDB62-F741-2151-C202-D5B9BC310550}"/>
              </a:ext>
            </a:extLst>
          </p:cNvPr>
          <p:cNvPicPr>
            <a:picLocks noChangeAspect="1"/>
          </p:cNvPicPr>
          <p:nvPr/>
        </p:nvPicPr>
        <p:blipFill>
          <a:blip r:embed="rId4"/>
          <a:stretch>
            <a:fillRect/>
          </a:stretch>
        </p:blipFill>
        <p:spPr>
          <a:xfrm>
            <a:off x="5552661" y="1004410"/>
            <a:ext cx="954983" cy="395903"/>
          </a:xfrm>
          <a:prstGeom prst="rect">
            <a:avLst/>
          </a:prstGeom>
        </p:spPr>
      </p:pic>
      <p:sp>
        <p:nvSpPr>
          <p:cNvPr id="10" name="TextBox 9">
            <a:extLst>
              <a:ext uri="{FF2B5EF4-FFF2-40B4-BE49-F238E27FC236}">
                <a16:creationId xmlns:a16="http://schemas.microsoft.com/office/drawing/2014/main" id="{1D879A25-25E1-2F0F-B16F-39F7630DD5F5}"/>
              </a:ext>
            </a:extLst>
          </p:cNvPr>
          <p:cNvSpPr txBox="1"/>
          <p:nvPr/>
        </p:nvSpPr>
        <p:spPr>
          <a:xfrm>
            <a:off x="6440558" y="986520"/>
            <a:ext cx="2637181" cy="461665"/>
          </a:xfrm>
          <a:prstGeom prst="rect">
            <a:avLst/>
          </a:prstGeom>
          <a:noFill/>
        </p:spPr>
        <p:txBody>
          <a:bodyPr wrap="square">
            <a:spAutoFit/>
          </a:bodyPr>
          <a:lstStyle/>
          <a:p>
            <a:pPr algn="just"/>
            <a:r>
              <a:rPr lang="en-US" sz="2400" i="1" dirty="0">
                <a:solidFill/>
                <a:latin typeface="Times" pitchFamily="2" charset="0"/>
              </a:rPr>
              <a:t>F</a:t>
            </a:r>
            <a:r>
              <a:rPr lang="en-US" sz="2400" baseline="-25000" dirty="0">
                <a:solidFill/>
                <a:latin typeface="Times" pitchFamily="2" charset="0"/>
              </a:rPr>
              <a:t>N </a:t>
            </a:r>
            <a:r>
              <a:rPr lang="en-US" sz="2400" dirty="0">
                <a:solidFill/>
                <a:latin typeface="Times" pitchFamily="2" charset="0"/>
              </a:rPr>
              <a:t> – </a:t>
            </a:r>
            <a:r>
              <a:rPr lang="en-US" sz="2400" i="1" dirty="0">
                <a:solidFill/>
                <a:latin typeface="Times" pitchFamily="2" charset="0"/>
              </a:rPr>
              <a:t>mg</a:t>
            </a:r>
            <a:r>
              <a:rPr lang="en-US" sz="2400" dirty="0">
                <a:solidFill/>
                <a:latin typeface="Times" pitchFamily="2" charset="0"/>
              </a:rPr>
              <a:t>cos</a:t>
            </a:r>
            <a:r>
              <a:rPr lang="en-US" sz="2400" dirty="0">
                <a:solidFill/>
                <a:latin typeface="Symbol" pitchFamily="2" charset="2"/>
              </a:rPr>
              <a:t>25</a:t>
            </a:r>
            <a:r>
              <a:rPr lang="en-US" sz="2400" baseline="30000" dirty="0">
                <a:solidFill/>
                <a:latin typeface="Symbol" pitchFamily="2" charset="2"/>
              </a:rPr>
              <a:t>o</a:t>
            </a:r>
            <a:r>
              <a:rPr lang="en-US" sz="2400" dirty="0">
                <a:solidFill/>
                <a:latin typeface="Times" pitchFamily="2" charset="0"/>
              </a:rPr>
              <a:t>  </a:t>
            </a:r>
            <a:endParaRPr lang="en-US" sz="2400" dirty="0">
              <a:effectLst/>
              <a:latin typeface="Times" pitchFamily="2" charset="0"/>
            </a:endParaRPr>
          </a:p>
        </p:txBody>
      </p:sp>
      <p:sp>
        <p:nvSpPr>
          <p:cNvPr id="11" name="TextBox 10">
            <a:extLst>
              <a:ext uri="{FF2B5EF4-FFF2-40B4-BE49-F238E27FC236}">
                <a16:creationId xmlns:a16="http://schemas.microsoft.com/office/drawing/2014/main" id="{F2DF7D7C-5780-80E2-6A47-3776732A4770}"/>
              </a:ext>
            </a:extLst>
          </p:cNvPr>
          <p:cNvSpPr txBox="1"/>
          <p:nvPr/>
        </p:nvSpPr>
        <p:spPr>
          <a:xfrm>
            <a:off x="8408506" y="1006399"/>
            <a:ext cx="947530" cy="461665"/>
          </a:xfrm>
          <a:prstGeom prst="rect">
            <a:avLst/>
          </a:prstGeom>
          <a:noFill/>
        </p:spPr>
        <p:txBody>
          <a:bodyPr wrap="square">
            <a:spAutoFit/>
          </a:bodyPr>
          <a:lstStyle/>
          <a:p>
            <a:pPr algn="just"/>
            <a:r>
              <a:rPr lang="en-US" sz="2400" dirty="0">
                <a:solidFill/>
                <a:latin typeface="Times" pitchFamily="2" charset="0"/>
              </a:rPr>
              <a:t>= 0</a:t>
            </a:r>
            <a:endParaRPr lang="en-US" sz="2400" dirty="0">
              <a:effectLst/>
              <a:latin typeface="Times" pitchFamily="2" charset="0"/>
            </a:endParaRPr>
          </a:p>
        </p:txBody>
      </p:sp>
      <p:sp>
        <p:nvSpPr>
          <p:cNvPr id="20" name="TextBox 19">
            <a:extLst>
              <a:ext uri="{FF2B5EF4-FFF2-40B4-BE49-F238E27FC236}">
                <a16:creationId xmlns:a16="http://schemas.microsoft.com/office/drawing/2014/main" id="{61FC2DB9-FFF3-3E2C-ADE1-9F356F52CFF8}"/>
              </a:ext>
            </a:extLst>
          </p:cNvPr>
          <p:cNvSpPr txBox="1"/>
          <p:nvPr/>
        </p:nvSpPr>
        <p:spPr>
          <a:xfrm>
            <a:off x="8991602" y="1006399"/>
            <a:ext cx="2637181" cy="461665"/>
          </a:xfrm>
          <a:prstGeom prst="rect">
            <a:avLst/>
          </a:prstGeom>
          <a:noFill/>
        </p:spPr>
        <p:txBody>
          <a:bodyPr wrap="square">
            <a:spAutoFit/>
          </a:bodyPr>
          <a:lstStyle/>
          <a:p>
            <a:pPr algn="just"/>
            <a:r>
              <a:rPr lang="en-US" sz="2400" dirty="0">
                <a:solidFill/>
                <a:latin typeface="Times" pitchFamily="2" charset="0"/>
              </a:rPr>
              <a:t>⇒</a:t>
            </a:r>
            <a:r>
              <a:rPr lang="en-US" sz="2400" i="1" dirty="0">
                <a:solidFill/>
                <a:latin typeface="Times" pitchFamily="2" charset="0"/>
              </a:rPr>
              <a:t>  F</a:t>
            </a:r>
            <a:r>
              <a:rPr lang="en-US" sz="2400" baseline="-25000" dirty="0">
                <a:solidFill/>
                <a:latin typeface="Times" pitchFamily="2" charset="0"/>
              </a:rPr>
              <a:t>N </a:t>
            </a:r>
            <a:r>
              <a:rPr lang="en-US" sz="2400" dirty="0">
                <a:solidFill/>
                <a:latin typeface="Times" pitchFamily="2" charset="0"/>
              </a:rPr>
              <a:t> = </a:t>
            </a:r>
            <a:r>
              <a:rPr lang="en-US" sz="2400" i="1" dirty="0">
                <a:solidFill/>
                <a:latin typeface="Times" pitchFamily="2" charset="0"/>
              </a:rPr>
              <a:t>mg</a:t>
            </a:r>
            <a:r>
              <a:rPr lang="en-US" sz="2400" dirty="0">
                <a:solidFill/>
                <a:latin typeface="Times" pitchFamily="2" charset="0"/>
              </a:rPr>
              <a:t>cos</a:t>
            </a:r>
            <a:r>
              <a:rPr lang="en-US" sz="2400" dirty="0">
                <a:solidFill/>
                <a:latin typeface="Symbol" pitchFamily="2" charset="2"/>
              </a:rPr>
              <a:t>25</a:t>
            </a:r>
            <a:r>
              <a:rPr lang="en-US" sz="2400" baseline="30000" dirty="0">
                <a:solidFill/>
                <a:latin typeface="Symbol" pitchFamily="2" charset="2"/>
              </a:rPr>
              <a:t>o</a:t>
            </a:r>
            <a:r>
              <a:rPr lang="en-US" sz="2400" dirty="0">
                <a:solidFill/>
                <a:latin typeface="Times" pitchFamily="2" charset="0"/>
              </a:rPr>
              <a:t>  </a:t>
            </a:r>
            <a:endParaRPr lang="en-US" sz="2400" dirty="0">
              <a:effectLst/>
              <a:latin typeface="Times" pitchFamily="2" charset="0"/>
            </a:endParaRPr>
          </a:p>
        </p:txBody>
      </p:sp>
      <p:sp>
        <p:nvSpPr>
          <p:cNvPr id="25" name="TextBox 24">
            <a:extLst>
              <a:ext uri="{FF2B5EF4-FFF2-40B4-BE49-F238E27FC236}">
                <a16:creationId xmlns:a16="http://schemas.microsoft.com/office/drawing/2014/main" id="{4B9B3888-FE3C-F5C6-C541-3F783BD9343E}"/>
              </a:ext>
            </a:extLst>
          </p:cNvPr>
          <p:cNvSpPr txBox="1"/>
          <p:nvPr/>
        </p:nvSpPr>
        <p:spPr>
          <a:xfrm>
            <a:off x="7036907" y="2391250"/>
            <a:ext cx="4439476" cy="461665"/>
          </a:xfrm>
          <a:prstGeom prst="rect">
            <a:avLst/>
          </a:prstGeom>
          <a:noFill/>
        </p:spPr>
        <p:txBody>
          <a:bodyPr wrap="square">
            <a:spAutoFit/>
          </a:bodyPr>
          <a:lstStyle/>
          <a:p>
            <a:pPr algn="just"/>
            <a:r>
              <a:rPr lang="en-US" sz="2400" dirty="0">
                <a:solidFill/>
                <a:latin typeface="Times" pitchFamily="2" charset="0"/>
              </a:rPr>
              <a:t>= (</a:t>
            </a:r>
            <a:r>
              <a:rPr lang="en-US" sz="2400" i="1" dirty="0">
                <a:solidFill/>
                <a:latin typeface="Times" pitchFamily="2" charset="0"/>
              </a:rPr>
              <a:t>mg</a:t>
            </a:r>
            <a:r>
              <a:rPr lang="en-US" sz="2400" dirty="0">
                <a:solidFill/>
                <a:latin typeface="Times" pitchFamily="2" charset="0"/>
              </a:rPr>
              <a:t>sin</a:t>
            </a:r>
            <a:r>
              <a:rPr lang="en-US" sz="2400" dirty="0">
                <a:solidFill/>
                <a:latin typeface="Symbol" pitchFamily="2" charset="2"/>
              </a:rPr>
              <a:t>25</a:t>
            </a:r>
            <a:r>
              <a:rPr lang="en-US" sz="2400" baseline="30000" dirty="0">
                <a:solidFill/>
                <a:latin typeface="Symbol" pitchFamily="2" charset="2"/>
              </a:rPr>
              <a:t>o</a:t>
            </a:r>
            <a:r>
              <a:rPr lang="en-US" sz="2400" dirty="0">
                <a:solidFill/>
                <a:latin typeface="Symbol" pitchFamily="2" charset="2"/>
              </a:rPr>
              <a:t> </a:t>
            </a:r>
            <a:r>
              <a:rPr lang="en-US" sz="2400" dirty="0">
                <a:solidFill/>
                <a:latin typeface="Times" pitchFamily="2" charset="0"/>
              </a:rPr>
              <a:t>– </a:t>
            </a:r>
            <a:r>
              <a:rPr lang="en-US" sz="2400" i="1" dirty="0">
                <a:solidFill/>
                <a:latin typeface="Symbol" pitchFamily="2" charset="2"/>
              </a:rPr>
              <a:t>m</a:t>
            </a:r>
            <a:r>
              <a:rPr lang="en-US" sz="2400" baseline="-25000" dirty="0">
                <a:solidFill/>
                <a:latin typeface="Times" pitchFamily="2" charset="0"/>
              </a:rPr>
              <a:t>k</a:t>
            </a:r>
            <a:r>
              <a:rPr lang="en-US" sz="2400" i="1" dirty="0">
                <a:solidFill/>
                <a:latin typeface="Times" pitchFamily="2" charset="0"/>
              </a:rPr>
              <a:t>mg</a:t>
            </a:r>
            <a:r>
              <a:rPr lang="en-US" sz="2400" dirty="0">
                <a:solidFill/>
                <a:latin typeface="Times" pitchFamily="2" charset="0"/>
              </a:rPr>
              <a:t>cos</a:t>
            </a:r>
            <a:r>
              <a:rPr lang="en-US" sz="2400" dirty="0">
                <a:solidFill/>
                <a:latin typeface="Symbol" pitchFamily="2" charset="2"/>
              </a:rPr>
              <a:t>25</a:t>
            </a:r>
            <a:r>
              <a:rPr lang="en-US" sz="2400" baseline="30000" dirty="0">
                <a:solidFill/>
                <a:latin typeface="Symbol" pitchFamily="2" charset="2"/>
              </a:rPr>
              <a:t>o</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 </a:t>
            </a:r>
            <a:endParaRPr lang="en-US" sz="2400" dirty="0">
              <a:effectLst/>
              <a:latin typeface="Times" pitchFamily="2" charset="0"/>
            </a:endParaRPr>
          </a:p>
        </p:txBody>
      </p:sp>
      <p:grpSp>
        <p:nvGrpSpPr>
          <p:cNvPr id="32" name="Group 31">
            <a:extLst>
              <a:ext uri="{FF2B5EF4-FFF2-40B4-BE49-F238E27FC236}">
                <a16:creationId xmlns:a16="http://schemas.microsoft.com/office/drawing/2014/main" id="{FBC07E13-337B-2906-45BE-3ED0FF7AA233}"/>
              </a:ext>
            </a:extLst>
          </p:cNvPr>
          <p:cNvGrpSpPr/>
          <p:nvPr/>
        </p:nvGrpSpPr>
        <p:grpSpPr>
          <a:xfrm>
            <a:off x="5473147" y="3007477"/>
            <a:ext cx="4002157" cy="1113952"/>
            <a:chOff x="5327373" y="3007477"/>
            <a:chExt cx="4002157" cy="1113952"/>
          </a:xfrm>
        </p:grpSpPr>
        <p:sp>
          <p:nvSpPr>
            <p:cNvPr id="26" name="TextBox 25">
              <a:extLst>
                <a:ext uri="{FF2B5EF4-FFF2-40B4-BE49-F238E27FC236}">
                  <a16:creationId xmlns:a16="http://schemas.microsoft.com/office/drawing/2014/main" id="{8F77C574-385D-8E76-CAA1-E3226F0C46EC}"/>
                </a:ext>
              </a:extLst>
            </p:cNvPr>
            <p:cNvSpPr txBox="1"/>
            <p:nvPr/>
          </p:nvSpPr>
          <p:spPr>
            <a:xfrm>
              <a:off x="7162801" y="3007477"/>
              <a:ext cx="1212573" cy="461665"/>
            </a:xfrm>
            <a:prstGeom prst="rect">
              <a:avLst/>
            </a:prstGeom>
            <a:noFill/>
          </p:spPr>
          <p:txBody>
            <a:bodyPr wrap="square">
              <a:spAutoFit/>
            </a:bodyPr>
            <a:lstStyle/>
            <a:p>
              <a:pPr algn="just"/>
              <a:r>
                <a:rPr lang="en-US" sz="2400" dirty="0">
                  <a:solidFill/>
                  <a:latin typeface="Times" pitchFamily="2" charset="0"/>
                </a:rPr>
                <a:t>Or...</a:t>
              </a:r>
              <a:endParaRPr lang="en-US" sz="2400" dirty="0">
                <a:effectLst/>
                <a:latin typeface="Times" pitchFamily="2" charset="0"/>
              </a:endParaRPr>
            </a:p>
          </p:txBody>
        </p:sp>
        <p:sp>
          <p:nvSpPr>
            <p:cNvPr id="27" name="Rounded Rectangle 26">
              <a:extLst>
                <a:ext uri="{FF2B5EF4-FFF2-40B4-BE49-F238E27FC236}">
                  <a16:creationId xmlns:a16="http://schemas.microsoft.com/office/drawing/2014/main" id="{C0CD1010-A33D-659E-480F-2E81A9340C68}"/>
                </a:ext>
              </a:extLst>
            </p:cNvPr>
            <p:cNvSpPr/>
            <p:nvPr/>
          </p:nvSpPr>
          <p:spPr>
            <a:xfrm>
              <a:off x="5327373" y="3498576"/>
              <a:ext cx="4002157" cy="6228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TextBox 27">
            <a:extLst>
              <a:ext uri="{FF2B5EF4-FFF2-40B4-BE49-F238E27FC236}">
                <a16:creationId xmlns:a16="http://schemas.microsoft.com/office/drawing/2014/main" id="{11FA80DB-9FB3-15E0-EFDB-56BC36A991D4}"/>
              </a:ext>
            </a:extLst>
          </p:cNvPr>
          <p:cNvSpPr txBox="1"/>
          <p:nvPr/>
        </p:nvSpPr>
        <p:spPr>
          <a:xfrm>
            <a:off x="5532786" y="3590572"/>
            <a:ext cx="4141302" cy="461665"/>
          </a:xfrm>
          <a:prstGeom prst="rect">
            <a:avLst/>
          </a:prstGeom>
          <a:noFill/>
        </p:spPr>
        <p:txBody>
          <a:bodyPr wrap="square">
            <a:spAutoFit/>
          </a:bodyPr>
          <a:lstStyle/>
          <a:p>
            <a:pPr algn="just"/>
            <a:r>
              <a:rPr lang="en-US" sz="2400" i="1" dirty="0">
                <a:solidFill/>
                <a:latin typeface="Times" pitchFamily="2" charset="0"/>
              </a:rPr>
              <a:t>W</a:t>
            </a:r>
            <a:r>
              <a:rPr lang="en-US" sz="2400" dirty="0">
                <a:solidFill/>
                <a:latin typeface="Times" pitchFamily="2" charset="0"/>
              </a:rPr>
              <a:t> = </a:t>
            </a:r>
            <a:r>
              <a:rPr lang="en-US" sz="2400" i="1" dirty="0">
                <a:solidFill/>
                <a:latin typeface="Times" pitchFamily="2" charset="0"/>
              </a:rPr>
              <a:t>mg</a:t>
            </a:r>
            <a:r>
              <a:rPr lang="en-US" sz="2400" dirty="0">
                <a:solidFill/>
                <a:latin typeface="Times" pitchFamily="2" charset="0"/>
              </a:rPr>
              <a:t>(sin</a:t>
            </a:r>
            <a:r>
              <a:rPr lang="en-US" sz="2400" dirty="0">
                <a:solidFill/>
                <a:latin typeface="Symbol" pitchFamily="2" charset="2"/>
              </a:rPr>
              <a:t>25</a:t>
            </a:r>
            <a:r>
              <a:rPr lang="en-US" sz="2400" baseline="30000" dirty="0">
                <a:solidFill/>
                <a:latin typeface="Symbol" pitchFamily="2" charset="2"/>
              </a:rPr>
              <a:t>o</a:t>
            </a:r>
            <a:r>
              <a:rPr lang="en-US" sz="2400" dirty="0">
                <a:solidFill/>
                <a:latin typeface="Symbol" pitchFamily="2" charset="2"/>
              </a:rPr>
              <a:t> </a:t>
            </a:r>
            <a:r>
              <a:rPr lang="en-US" sz="2400" dirty="0">
                <a:solidFill/>
                <a:latin typeface="Times" pitchFamily="2" charset="0"/>
              </a:rPr>
              <a:t>– </a:t>
            </a:r>
            <a:r>
              <a:rPr lang="en-US" sz="2400" i="1" dirty="0">
                <a:solidFill/>
                <a:latin typeface="Symbol" pitchFamily="2" charset="2"/>
              </a:rPr>
              <a:t>m</a:t>
            </a:r>
            <a:r>
              <a:rPr lang="en-US" sz="2400" baseline="-25000" dirty="0">
                <a:solidFill/>
                <a:latin typeface="Times" pitchFamily="2" charset="0"/>
              </a:rPr>
              <a:t>k</a:t>
            </a:r>
            <a:r>
              <a:rPr lang="en-US" sz="2400" dirty="0">
                <a:solidFill/>
                <a:latin typeface="Times" pitchFamily="2" charset="0"/>
              </a:rPr>
              <a:t>cos</a:t>
            </a:r>
            <a:r>
              <a:rPr lang="en-US" sz="2400" dirty="0">
                <a:solidFill/>
                <a:latin typeface="Symbol" pitchFamily="2" charset="2"/>
              </a:rPr>
              <a:t>25</a:t>
            </a:r>
            <a:r>
              <a:rPr lang="en-US" sz="2400" baseline="30000" dirty="0">
                <a:solidFill/>
                <a:latin typeface="Symbol" pitchFamily="2" charset="2"/>
              </a:rPr>
              <a:t>o</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 </a:t>
            </a:r>
            <a:endParaRPr lang="en-US" sz="2400" dirty="0">
              <a:effectLst/>
              <a:latin typeface="Times" pitchFamily="2" charset="0"/>
            </a:endParaRPr>
          </a:p>
        </p:txBody>
      </p:sp>
      <p:grpSp>
        <p:nvGrpSpPr>
          <p:cNvPr id="52" name="Group 51">
            <a:extLst>
              <a:ext uri="{FF2B5EF4-FFF2-40B4-BE49-F238E27FC236}">
                <a16:creationId xmlns:a16="http://schemas.microsoft.com/office/drawing/2014/main" id="{6AEDD326-CC4C-B197-7C12-D62A1AF26578}"/>
              </a:ext>
            </a:extLst>
          </p:cNvPr>
          <p:cNvGrpSpPr/>
          <p:nvPr/>
        </p:nvGrpSpPr>
        <p:grpSpPr>
          <a:xfrm>
            <a:off x="3299792" y="4286313"/>
            <a:ext cx="8219659" cy="1942208"/>
            <a:chOff x="3299792" y="4286313"/>
            <a:chExt cx="8219659" cy="1942208"/>
          </a:xfrm>
        </p:grpSpPr>
        <p:grpSp>
          <p:nvGrpSpPr>
            <p:cNvPr id="42" name="Group 41">
              <a:extLst>
                <a:ext uri="{FF2B5EF4-FFF2-40B4-BE49-F238E27FC236}">
                  <a16:creationId xmlns:a16="http://schemas.microsoft.com/office/drawing/2014/main" id="{90D7C7D1-C181-CC3D-766F-18E83CE920CC}"/>
                </a:ext>
              </a:extLst>
            </p:cNvPr>
            <p:cNvGrpSpPr/>
            <p:nvPr/>
          </p:nvGrpSpPr>
          <p:grpSpPr>
            <a:xfrm>
              <a:off x="3299792" y="4286313"/>
              <a:ext cx="8219659" cy="830997"/>
              <a:chOff x="3299792" y="4286313"/>
              <a:chExt cx="8219659" cy="830997"/>
            </a:xfrm>
          </p:grpSpPr>
          <p:sp>
            <p:nvSpPr>
              <p:cNvPr id="23" name="TextBox 22">
                <a:extLst>
                  <a:ext uri="{FF2B5EF4-FFF2-40B4-BE49-F238E27FC236}">
                    <a16:creationId xmlns:a16="http://schemas.microsoft.com/office/drawing/2014/main" id="{4214C1A4-21C4-6D61-C3B1-1D2DDB8D7BEC}"/>
                  </a:ext>
                </a:extLst>
              </p:cNvPr>
              <p:cNvSpPr txBox="1"/>
              <p:nvPr/>
            </p:nvSpPr>
            <p:spPr>
              <a:xfrm>
                <a:off x="3299792" y="4286313"/>
                <a:ext cx="5274365" cy="830997"/>
              </a:xfrm>
              <a:prstGeom prst="rect">
                <a:avLst/>
              </a:prstGeom>
              <a:noFill/>
            </p:spPr>
            <p:txBody>
              <a:bodyPr wrap="square">
                <a:spAutoFit/>
              </a:bodyPr>
              <a:lstStyle/>
              <a:p>
                <a:pPr algn="just"/>
                <a:r>
                  <a:rPr lang="en-US" sz="2400" dirty="0">
                    <a:solidFill/>
                    <a:latin typeface="Times" pitchFamily="2" charset="0"/>
                  </a:rPr>
                  <a:t>Now with our expression for the work, we can apply the work-energy theorem:</a:t>
                </a:r>
                <a:endParaRPr lang="en-US" sz="2400" dirty="0">
                  <a:effectLst/>
                  <a:latin typeface="Times" pitchFamily="2" charset="0"/>
                </a:endParaRPr>
              </a:p>
            </p:txBody>
          </p:sp>
          <p:pic>
            <p:nvPicPr>
              <p:cNvPr id="40" name="Picture 39">
                <a:extLst>
                  <a:ext uri="{FF2B5EF4-FFF2-40B4-BE49-F238E27FC236}">
                    <a16:creationId xmlns:a16="http://schemas.microsoft.com/office/drawing/2014/main" id="{515FAFA8-1895-0233-72EC-4D609635424B}"/>
                  </a:ext>
                </a:extLst>
              </p:cNvPr>
              <p:cNvPicPr>
                <a:picLocks noChangeAspect="1"/>
              </p:cNvPicPr>
              <p:nvPr/>
            </p:nvPicPr>
            <p:blipFill>
              <a:blip r:embed="rId5"/>
              <a:stretch>
                <a:fillRect/>
              </a:stretch>
            </p:blipFill>
            <p:spPr>
              <a:xfrm>
                <a:off x="8918712" y="4357424"/>
                <a:ext cx="2600739" cy="671858"/>
              </a:xfrm>
              <a:prstGeom prst="rect">
                <a:avLst/>
              </a:prstGeom>
            </p:spPr>
          </p:pic>
        </p:grpSp>
        <p:sp>
          <p:nvSpPr>
            <p:cNvPr id="51" name="Rounded Rectangle 50">
              <a:extLst>
                <a:ext uri="{FF2B5EF4-FFF2-40B4-BE49-F238E27FC236}">
                  <a16:creationId xmlns:a16="http://schemas.microsoft.com/office/drawing/2014/main" id="{095C76F5-1BE6-C084-795C-8D12F343A116}"/>
                </a:ext>
              </a:extLst>
            </p:cNvPr>
            <p:cNvSpPr/>
            <p:nvPr/>
          </p:nvSpPr>
          <p:spPr>
            <a:xfrm>
              <a:off x="4750906" y="5254489"/>
              <a:ext cx="5625548" cy="9740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5" name="Group 54">
            <a:extLst>
              <a:ext uri="{FF2B5EF4-FFF2-40B4-BE49-F238E27FC236}">
                <a16:creationId xmlns:a16="http://schemas.microsoft.com/office/drawing/2014/main" id="{5B3527A3-4DB0-FAE9-0893-0BA0499541C1}"/>
              </a:ext>
            </a:extLst>
          </p:cNvPr>
          <p:cNvGrpSpPr/>
          <p:nvPr/>
        </p:nvGrpSpPr>
        <p:grpSpPr>
          <a:xfrm>
            <a:off x="4797289" y="5426765"/>
            <a:ext cx="5496335" cy="671858"/>
            <a:chOff x="3419064" y="5477233"/>
            <a:chExt cx="5496335" cy="671858"/>
          </a:xfrm>
        </p:grpSpPr>
        <p:sp>
          <p:nvSpPr>
            <p:cNvPr id="53" name="TextBox 52">
              <a:extLst>
                <a:ext uri="{FF2B5EF4-FFF2-40B4-BE49-F238E27FC236}">
                  <a16:creationId xmlns:a16="http://schemas.microsoft.com/office/drawing/2014/main" id="{BE648F55-DA4D-3123-6009-8A97D968C21E}"/>
                </a:ext>
              </a:extLst>
            </p:cNvPr>
            <p:cNvSpPr txBox="1"/>
            <p:nvPr/>
          </p:nvSpPr>
          <p:spPr>
            <a:xfrm>
              <a:off x="3419064" y="5585025"/>
              <a:ext cx="3816623" cy="461665"/>
            </a:xfrm>
            <a:prstGeom prst="rect">
              <a:avLst/>
            </a:prstGeom>
            <a:noFill/>
          </p:spPr>
          <p:txBody>
            <a:bodyPr wrap="square">
              <a:spAutoFit/>
            </a:bodyPr>
            <a:lstStyle/>
            <a:p>
              <a:pPr algn="just"/>
              <a:r>
                <a:rPr lang="en-US" sz="2400" i="1" dirty="0">
                  <a:solidFill/>
                  <a:latin typeface="Times" pitchFamily="2" charset="0"/>
                </a:rPr>
                <a:t>mg</a:t>
              </a:r>
              <a:r>
                <a:rPr lang="en-US" sz="2400" dirty="0">
                  <a:solidFill/>
                  <a:latin typeface="Times" pitchFamily="2" charset="0"/>
                </a:rPr>
                <a:t>(sin</a:t>
              </a:r>
              <a:r>
                <a:rPr lang="en-US" sz="2400" dirty="0">
                  <a:solidFill/>
                  <a:latin typeface="Symbol" pitchFamily="2" charset="2"/>
                </a:rPr>
                <a:t>25</a:t>
              </a:r>
              <a:r>
                <a:rPr lang="en-US" sz="2400" baseline="30000" dirty="0">
                  <a:solidFill/>
                  <a:latin typeface="Symbol" pitchFamily="2" charset="2"/>
                </a:rPr>
                <a:t>o</a:t>
              </a:r>
              <a:r>
                <a:rPr lang="en-US" sz="2400" dirty="0">
                  <a:solidFill/>
                  <a:latin typeface="Symbol" pitchFamily="2" charset="2"/>
                </a:rPr>
                <a:t> </a:t>
              </a:r>
              <a:r>
                <a:rPr lang="en-US" sz="2400" dirty="0">
                  <a:solidFill/>
                  <a:latin typeface="Times" pitchFamily="2" charset="0"/>
                </a:rPr>
                <a:t>– </a:t>
              </a:r>
              <a:r>
                <a:rPr lang="en-US" sz="2400" i="1" dirty="0">
                  <a:solidFill/>
                  <a:latin typeface="Symbol" pitchFamily="2" charset="2"/>
                </a:rPr>
                <a:t>m</a:t>
              </a:r>
              <a:r>
                <a:rPr lang="en-US" sz="2400" baseline="-25000" dirty="0">
                  <a:solidFill/>
                  <a:latin typeface="Times" pitchFamily="2" charset="0"/>
                </a:rPr>
                <a:t>k</a:t>
              </a:r>
              <a:r>
                <a:rPr lang="en-US" sz="2400" dirty="0">
                  <a:solidFill/>
                  <a:latin typeface="Times" pitchFamily="2" charset="0"/>
                </a:rPr>
                <a:t>cos</a:t>
              </a:r>
              <a:r>
                <a:rPr lang="en-US" sz="2400" dirty="0">
                  <a:solidFill/>
                  <a:latin typeface="Symbol" pitchFamily="2" charset="2"/>
                </a:rPr>
                <a:t>25</a:t>
              </a:r>
              <a:r>
                <a:rPr lang="en-US" sz="2400" baseline="30000" dirty="0">
                  <a:solidFill/>
                  <a:latin typeface="Symbol" pitchFamily="2" charset="2"/>
                </a:rPr>
                <a:t>o</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 =  </a:t>
              </a:r>
              <a:endParaRPr lang="en-US" sz="2400" dirty="0">
                <a:effectLst/>
                <a:latin typeface="Times" pitchFamily="2" charset="0"/>
              </a:endParaRPr>
            </a:p>
          </p:txBody>
        </p:sp>
        <p:pic>
          <p:nvPicPr>
            <p:cNvPr id="54" name="Picture 53">
              <a:extLst>
                <a:ext uri="{FF2B5EF4-FFF2-40B4-BE49-F238E27FC236}">
                  <a16:creationId xmlns:a16="http://schemas.microsoft.com/office/drawing/2014/main" id="{70DD762C-EEFE-FD19-D66E-4A441C3AD1A2}"/>
                </a:ext>
              </a:extLst>
            </p:cNvPr>
            <p:cNvPicPr>
              <a:picLocks noChangeAspect="1"/>
            </p:cNvPicPr>
            <p:nvPr/>
          </p:nvPicPr>
          <p:blipFill>
            <a:blip r:embed="rId5"/>
            <a:srcRect l="22166"/>
            <a:stretch/>
          </p:blipFill>
          <p:spPr>
            <a:xfrm>
              <a:off x="6891131" y="5477233"/>
              <a:ext cx="2024268" cy="671858"/>
            </a:xfrm>
            <a:prstGeom prst="rect">
              <a:avLst/>
            </a:prstGeom>
          </p:spPr>
        </p:pic>
      </p:grpSp>
    </p:spTree>
    <p:extLst>
      <p:ext uri="{BB962C8B-B14F-4D97-AF65-F5344CB8AC3E}">
        <p14:creationId xmlns:p14="http://schemas.microsoft.com/office/powerpoint/2010/main" val="179698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dissolv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dissolve">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dissolve">
                                      <p:cBhvr>
                                        <p:cTn id="27" dur="500"/>
                                        <p:tgtEl>
                                          <p:spTgt spid="25"/>
                                        </p:tgtEl>
                                      </p:cBhvr>
                                    </p:animEffect>
                                  </p:childTnLst>
                                </p:cTn>
                              </p:par>
                            </p:childTnLst>
                          </p:cTn>
                        </p:par>
                        <p:par>
                          <p:cTn id="28" fill="hold">
                            <p:stCondLst>
                              <p:cond delay="500"/>
                            </p:stCondLst>
                            <p:childTnLst>
                              <p:par>
                                <p:cTn id="29" presetID="9" presetClass="entr" presetSubtype="0" fill="hold" nodeType="after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dissolve">
                                      <p:cBhvr>
                                        <p:cTn id="31" dur="500"/>
                                        <p:tgtEl>
                                          <p:spTgt spid="32"/>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dissolve">
                                      <p:cBhvr>
                                        <p:cTn id="36" dur="500"/>
                                        <p:tgtEl>
                                          <p:spTgt spid="28"/>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dissolve">
                                      <p:cBhvr>
                                        <p:cTn id="41" dur="500"/>
                                        <p:tgtEl>
                                          <p:spTgt spid="52"/>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55"/>
                                        </p:tgtEl>
                                        <p:attrNameLst>
                                          <p:attrName>style.visibility</p:attrName>
                                        </p:attrNameLst>
                                      </p:cBhvr>
                                      <p:to>
                                        <p:strVal val="visible"/>
                                      </p:to>
                                    </p:set>
                                    <p:animEffect transition="in" filter="dissolve">
                                      <p:cBhvr>
                                        <p:cTn id="46"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20" grpId="0"/>
      <p:bldP spid="25" grpId="0"/>
      <p:bldP spid="2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F577C-60A3-74D8-0795-8E5AED7D00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6DA64D-FB53-2D25-BDCE-BB1082B4FA0D}"/>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pic>
        <p:nvPicPr>
          <p:cNvPr id="9" name="Picture 8">
            <a:extLst>
              <a:ext uri="{FF2B5EF4-FFF2-40B4-BE49-F238E27FC236}">
                <a16:creationId xmlns:a16="http://schemas.microsoft.com/office/drawing/2014/main" id="{E83154ED-C6E3-BA11-C79B-173948B0FD2F}"/>
              </a:ext>
            </a:extLst>
          </p:cNvPr>
          <p:cNvPicPr>
            <a:picLocks noChangeAspect="1"/>
          </p:cNvPicPr>
          <p:nvPr/>
        </p:nvPicPr>
        <p:blipFill>
          <a:blip r:embed="rId3"/>
          <a:srcRect t="15793" r="52172" b="11757"/>
          <a:stretch/>
        </p:blipFill>
        <p:spPr>
          <a:xfrm>
            <a:off x="251792" y="1370328"/>
            <a:ext cx="2782956" cy="1976467"/>
          </a:xfrm>
          <a:prstGeom prst="rect">
            <a:avLst/>
          </a:prstGeom>
        </p:spPr>
      </p:pic>
      <p:pic>
        <p:nvPicPr>
          <p:cNvPr id="4" name="Picture 3">
            <a:extLst>
              <a:ext uri="{FF2B5EF4-FFF2-40B4-BE49-F238E27FC236}">
                <a16:creationId xmlns:a16="http://schemas.microsoft.com/office/drawing/2014/main" id="{0C965095-DD18-BDE1-5B5C-AC1443FE321C}"/>
              </a:ext>
            </a:extLst>
          </p:cNvPr>
          <p:cNvPicPr>
            <a:picLocks noChangeAspect="1"/>
          </p:cNvPicPr>
          <p:nvPr/>
        </p:nvPicPr>
        <p:blipFill>
          <a:blip r:embed="rId3"/>
          <a:srcRect l="53180" t="-6021" r="-780" b="8380"/>
          <a:stretch/>
        </p:blipFill>
        <p:spPr>
          <a:xfrm>
            <a:off x="304800" y="3511825"/>
            <a:ext cx="2769704" cy="2663687"/>
          </a:xfrm>
          <a:prstGeom prst="rect">
            <a:avLst/>
          </a:prstGeom>
        </p:spPr>
      </p:pic>
      <p:grpSp>
        <p:nvGrpSpPr>
          <p:cNvPr id="19" name="Group 18">
            <a:extLst>
              <a:ext uri="{FF2B5EF4-FFF2-40B4-BE49-F238E27FC236}">
                <a16:creationId xmlns:a16="http://schemas.microsoft.com/office/drawing/2014/main" id="{94918038-704B-654C-2240-AFBF4E602768}"/>
              </a:ext>
            </a:extLst>
          </p:cNvPr>
          <p:cNvGrpSpPr/>
          <p:nvPr/>
        </p:nvGrpSpPr>
        <p:grpSpPr>
          <a:xfrm>
            <a:off x="2405269" y="1331843"/>
            <a:ext cx="1239079" cy="1413901"/>
            <a:chOff x="4711147" y="3597965"/>
            <a:chExt cx="1239079" cy="1413901"/>
          </a:xfrm>
        </p:grpSpPr>
        <p:cxnSp>
          <p:nvCxnSpPr>
            <p:cNvPr id="8" name="Straight Arrow Connector 7">
              <a:extLst>
                <a:ext uri="{FF2B5EF4-FFF2-40B4-BE49-F238E27FC236}">
                  <a16:creationId xmlns:a16="http://schemas.microsoft.com/office/drawing/2014/main" id="{8DF50161-F1EE-01C4-C2B0-92B1B4465038}"/>
                </a:ext>
              </a:extLst>
            </p:cNvPr>
            <p:cNvCxnSpPr>
              <a:cxnSpLocks/>
            </p:cNvCxnSpPr>
            <p:nvPr/>
          </p:nvCxnSpPr>
          <p:spPr>
            <a:xfrm flipV="1">
              <a:off x="4717773" y="4002157"/>
              <a:ext cx="265044" cy="5565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946A460-2FDD-9E7E-3085-86464BD1D60C}"/>
                </a:ext>
              </a:extLst>
            </p:cNvPr>
            <p:cNvCxnSpPr>
              <a:cxnSpLocks/>
            </p:cNvCxnSpPr>
            <p:nvPr/>
          </p:nvCxnSpPr>
          <p:spPr>
            <a:xfrm>
              <a:off x="4711147" y="4538870"/>
              <a:ext cx="510210" cy="2451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91E1962-047F-2B86-6E0C-01D8BF6B1E6A}"/>
                </a:ext>
              </a:extLst>
            </p:cNvPr>
            <p:cNvSpPr txBox="1"/>
            <p:nvPr/>
          </p:nvSpPr>
          <p:spPr>
            <a:xfrm>
              <a:off x="5168348" y="4611756"/>
              <a:ext cx="781878" cy="400110"/>
            </a:xfrm>
            <a:prstGeom prst="rect">
              <a:avLst/>
            </a:prstGeom>
            <a:noFill/>
          </p:spPr>
          <p:txBody>
            <a:bodyPr wrap="square" rtlCol="0">
              <a:spAutoFit/>
            </a:bodyPr>
            <a:lstStyle/>
            <a:p>
              <a:pPr/>
              <a:r>
                <a:rPr lang="en-US" sz="2000" i="1" dirty="0">
                  <a:solidFill/>
                  <a:latin typeface="Times" pitchFamily="2" charset="0"/>
                </a:rPr>
                <a:t>+x</a:t>
              </a:r>
            </a:p>
          </p:txBody>
        </p:sp>
        <p:sp>
          <p:nvSpPr>
            <p:cNvPr id="18" name="TextBox 17">
              <a:extLst>
                <a:ext uri="{FF2B5EF4-FFF2-40B4-BE49-F238E27FC236}">
                  <a16:creationId xmlns:a16="http://schemas.microsoft.com/office/drawing/2014/main" id="{D18E5580-6365-BD60-EEDE-0B174357AABD}"/>
                </a:ext>
              </a:extLst>
            </p:cNvPr>
            <p:cNvSpPr txBox="1"/>
            <p:nvPr/>
          </p:nvSpPr>
          <p:spPr>
            <a:xfrm>
              <a:off x="4790662" y="3597965"/>
              <a:ext cx="781878" cy="400110"/>
            </a:xfrm>
            <a:prstGeom prst="rect">
              <a:avLst/>
            </a:prstGeom>
            <a:noFill/>
          </p:spPr>
          <p:txBody>
            <a:bodyPr wrap="square" rtlCol="0">
              <a:spAutoFit/>
            </a:bodyPr>
            <a:lstStyle/>
            <a:p>
              <a:pPr/>
              <a:r>
                <a:rPr lang="en-US" sz="2000" i="1" dirty="0">
                  <a:solidFill/>
                  <a:latin typeface="Times" pitchFamily="2" charset="0"/>
                </a:rPr>
                <a:t>+y</a:t>
              </a:r>
            </a:p>
          </p:txBody>
        </p:sp>
      </p:grpSp>
      <p:sp>
        <p:nvSpPr>
          <p:cNvPr id="6" name="TextBox 5">
            <a:extLst>
              <a:ext uri="{FF2B5EF4-FFF2-40B4-BE49-F238E27FC236}">
                <a16:creationId xmlns:a16="http://schemas.microsoft.com/office/drawing/2014/main" id="{E789609D-DCB0-3BE2-619F-2EE9BFE4D8C8}"/>
              </a:ext>
            </a:extLst>
          </p:cNvPr>
          <p:cNvSpPr txBox="1"/>
          <p:nvPr/>
        </p:nvSpPr>
        <p:spPr>
          <a:xfrm>
            <a:off x="897602" y="839960"/>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Downhill Skiing</a:t>
            </a:r>
          </a:p>
        </p:txBody>
      </p:sp>
      <p:grpSp>
        <p:nvGrpSpPr>
          <p:cNvPr id="22" name="Group 21">
            <a:extLst>
              <a:ext uri="{FF2B5EF4-FFF2-40B4-BE49-F238E27FC236}">
                <a16:creationId xmlns:a16="http://schemas.microsoft.com/office/drawing/2014/main" id="{84961FEE-776A-B933-8FD8-0274229892F8}"/>
              </a:ext>
            </a:extLst>
          </p:cNvPr>
          <p:cNvGrpSpPr/>
          <p:nvPr/>
        </p:nvGrpSpPr>
        <p:grpSpPr>
          <a:xfrm>
            <a:off x="4154556" y="887130"/>
            <a:ext cx="10383078" cy="1471758"/>
            <a:chOff x="4154556" y="887130"/>
            <a:chExt cx="10383078" cy="1471758"/>
          </a:xfrm>
        </p:grpSpPr>
        <p:sp>
          <p:nvSpPr>
            <p:cNvPr id="44" name="Rounded Rectangle 43">
              <a:extLst>
                <a:ext uri="{FF2B5EF4-FFF2-40B4-BE49-F238E27FC236}">
                  <a16:creationId xmlns:a16="http://schemas.microsoft.com/office/drawing/2014/main" id="{9387CD5A-9511-CC51-C717-18D705CDADA8}"/>
                </a:ext>
              </a:extLst>
            </p:cNvPr>
            <p:cNvSpPr/>
            <p:nvPr/>
          </p:nvSpPr>
          <p:spPr>
            <a:xfrm>
              <a:off x="4154556" y="1451116"/>
              <a:ext cx="5519531" cy="9077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F77EC1A0-249B-8882-CC3B-317ED4FC2565}"/>
                </a:ext>
              </a:extLst>
            </p:cNvPr>
            <p:cNvSpPr txBox="1"/>
            <p:nvPr/>
          </p:nvSpPr>
          <p:spPr>
            <a:xfrm>
              <a:off x="5632174" y="887130"/>
              <a:ext cx="8905460" cy="461665"/>
            </a:xfrm>
            <a:prstGeom prst="rect">
              <a:avLst/>
            </a:prstGeom>
            <a:noFill/>
          </p:spPr>
          <p:txBody>
            <a:bodyPr wrap="square">
              <a:spAutoFit/>
            </a:bodyPr>
            <a:lstStyle/>
            <a:p>
              <a:pPr algn="just"/>
              <a:r>
                <a:rPr lang="en-US" sz="2400" dirty="0">
                  <a:solidFill/>
                  <a:latin typeface="Times" pitchFamily="2" charset="0"/>
                </a:rPr>
                <a:t>Work through the algebra to solve for</a:t>
              </a:r>
              <a:r>
                <a:rPr lang="en-US" sz="2400" i="1" dirty="0">
                  <a:solidFill/>
                  <a:latin typeface="Times" pitchFamily="2" charset="0"/>
                </a:rPr>
                <a:t> </a:t>
              </a:r>
              <a:r>
                <a:rPr lang="en-US" sz="2400" i="1" dirty="0" err="1">
                  <a:solidFill/>
                  <a:latin typeface="Times" pitchFamily="2" charset="0"/>
                </a:rPr>
                <a:t>v</a:t>
              </a:r>
              <a:r>
                <a:rPr lang="en-US" sz="2400" i="1" baseline="-25000" dirty="0" err="1">
                  <a:solidFill/>
                  <a:latin typeface="Times" pitchFamily="2" charset="0"/>
                </a:rPr>
                <a:t>f</a:t>
              </a:r>
              <a:r>
                <a:rPr lang="en-US" sz="2400" dirty="0">
                  <a:solidFill/>
                  <a:latin typeface="Times" pitchFamily="2" charset="0"/>
                </a:rPr>
                <a:t>:</a:t>
              </a:r>
              <a:endParaRPr lang="en-US" sz="2400" dirty="0">
                <a:effectLst/>
                <a:latin typeface="Times" pitchFamily="2" charset="0"/>
              </a:endParaRPr>
            </a:p>
          </p:txBody>
        </p:sp>
      </p:grpSp>
      <p:grpSp>
        <p:nvGrpSpPr>
          <p:cNvPr id="12" name="Group 11">
            <a:extLst>
              <a:ext uri="{FF2B5EF4-FFF2-40B4-BE49-F238E27FC236}">
                <a16:creationId xmlns:a16="http://schemas.microsoft.com/office/drawing/2014/main" id="{19991E3A-7736-28AB-3537-92FC78CB0FF5}"/>
              </a:ext>
            </a:extLst>
          </p:cNvPr>
          <p:cNvGrpSpPr/>
          <p:nvPr/>
        </p:nvGrpSpPr>
        <p:grpSpPr>
          <a:xfrm>
            <a:off x="4346713" y="1593153"/>
            <a:ext cx="6036364" cy="672970"/>
            <a:chOff x="4346713" y="1593153"/>
            <a:chExt cx="6036364" cy="672970"/>
          </a:xfrm>
        </p:grpSpPr>
        <p:pic>
          <p:nvPicPr>
            <p:cNvPr id="5" name="Picture 4">
              <a:extLst>
                <a:ext uri="{FF2B5EF4-FFF2-40B4-BE49-F238E27FC236}">
                  <a16:creationId xmlns:a16="http://schemas.microsoft.com/office/drawing/2014/main" id="{0EDB28C6-279E-5EB9-0E58-99309A635E27}"/>
                </a:ext>
              </a:extLst>
            </p:cNvPr>
            <p:cNvPicPr>
              <a:picLocks noChangeAspect="1"/>
            </p:cNvPicPr>
            <p:nvPr/>
          </p:nvPicPr>
          <p:blipFill>
            <a:blip r:embed="rId4"/>
            <a:stretch>
              <a:fillRect/>
            </a:stretch>
          </p:blipFill>
          <p:spPr>
            <a:xfrm>
              <a:off x="4346713" y="1593153"/>
              <a:ext cx="2245302" cy="672970"/>
            </a:xfrm>
            <a:prstGeom prst="rect">
              <a:avLst/>
            </a:prstGeom>
          </p:spPr>
        </p:pic>
        <p:sp>
          <p:nvSpPr>
            <p:cNvPr id="7" name="TextBox 6">
              <a:extLst>
                <a:ext uri="{FF2B5EF4-FFF2-40B4-BE49-F238E27FC236}">
                  <a16:creationId xmlns:a16="http://schemas.microsoft.com/office/drawing/2014/main" id="{F5C61D11-3129-3E67-3E5A-B72A04F399E7}"/>
                </a:ext>
              </a:extLst>
            </p:cNvPr>
            <p:cNvSpPr txBox="1"/>
            <p:nvPr/>
          </p:nvSpPr>
          <p:spPr>
            <a:xfrm>
              <a:off x="6566454" y="1698053"/>
              <a:ext cx="3816623" cy="461665"/>
            </a:xfrm>
            <a:prstGeom prst="rect">
              <a:avLst/>
            </a:prstGeom>
            <a:noFill/>
          </p:spPr>
          <p:txBody>
            <a:bodyPr wrap="square">
              <a:spAutoFit/>
            </a:bodyPr>
            <a:lstStyle/>
            <a:p>
              <a:pPr algn="just"/>
              <a:r>
                <a:rPr lang="en-US" sz="2400" i="1" dirty="0">
                  <a:solidFill/>
                  <a:latin typeface="Times" pitchFamily="2" charset="0"/>
                </a:rPr>
                <a:t>mgs</a:t>
              </a:r>
              <a:r>
                <a:rPr lang="en-US" sz="2400" dirty="0">
                  <a:solidFill/>
                  <a:latin typeface="Times" pitchFamily="2" charset="0"/>
                </a:rPr>
                <a:t>(sin</a:t>
              </a:r>
              <a:r>
                <a:rPr lang="en-US" sz="2400" dirty="0">
                  <a:solidFill/>
                  <a:latin typeface="Symbol" pitchFamily="2" charset="2"/>
                </a:rPr>
                <a:t>25</a:t>
              </a:r>
              <a:r>
                <a:rPr lang="en-US" sz="2400" baseline="30000" dirty="0">
                  <a:solidFill/>
                  <a:latin typeface="Symbol" pitchFamily="2" charset="2"/>
                </a:rPr>
                <a:t>o</a:t>
              </a:r>
              <a:r>
                <a:rPr lang="en-US" sz="2400" dirty="0">
                  <a:solidFill/>
                  <a:latin typeface="Symbol" pitchFamily="2" charset="2"/>
                </a:rPr>
                <a:t> </a:t>
              </a:r>
              <a:r>
                <a:rPr lang="en-US" sz="2400" dirty="0">
                  <a:solidFill/>
                  <a:latin typeface="Times" pitchFamily="2" charset="0"/>
                </a:rPr>
                <a:t>– </a:t>
              </a:r>
              <a:r>
                <a:rPr lang="en-US" sz="2400" i="1" dirty="0">
                  <a:solidFill/>
                  <a:latin typeface="Symbol" pitchFamily="2" charset="2"/>
                </a:rPr>
                <a:t>m</a:t>
              </a:r>
              <a:r>
                <a:rPr lang="en-US" sz="2400" baseline="-25000" dirty="0">
                  <a:solidFill/>
                  <a:latin typeface="Times" pitchFamily="2" charset="0"/>
                </a:rPr>
                <a:t>k</a:t>
              </a:r>
              <a:r>
                <a:rPr lang="en-US" sz="2400" dirty="0">
                  <a:solidFill/>
                  <a:latin typeface="Times" pitchFamily="2" charset="0"/>
                </a:rPr>
                <a:t>cos</a:t>
              </a:r>
              <a:r>
                <a:rPr lang="en-US" sz="2400" dirty="0">
                  <a:solidFill/>
                  <a:latin typeface="Symbol" pitchFamily="2" charset="2"/>
                </a:rPr>
                <a:t>25</a:t>
              </a:r>
              <a:r>
                <a:rPr lang="en-US" sz="2400" baseline="30000" dirty="0">
                  <a:solidFill/>
                  <a:latin typeface="Symbol" pitchFamily="2" charset="2"/>
                </a:rPr>
                <a:t>o</a:t>
              </a:r>
              <a:r>
                <a:rPr lang="en-US" sz="2400" dirty="0">
                  <a:solidFill/>
                  <a:latin typeface="Times" pitchFamily="2" charset="0"/>
                </a:rPr>
                <a:t>)  </a:t>
              </a:r>
              <a:endParaRPr lang="en-US" sz="2400" dirty="0">
                <a:effectLst/>
                <a:latin typeface="Times" pitchFamily="2" charset="0"/>
              </a:endParaRPr>
            </a:p>
          </p:txBody>
        </p:sp>
      </p:grpSp>
      <p:sp>
        <p:nvSpPr>
          <p:cNvPr id="14" name="TextBox 13">
            <a:extLst>
              <a:ext uri="{FF2B5EF4-FFF2-40B4-BE49-F238E27FC236}">
                <a16:creationId xmlns:a16="http://schemas.microsoft.com/office/drawing/2014/main" id="{42430C03-AEE6-B300-84E1-4DD2B52F7E5B}"/>
              </a:ext>
            </a:extLst>
          </p:cNvPr>
          <p:cNvSpPr txBox="1"/>
          <p:nvPr/>
        </p:nvSpPr>
        <p:spPr>
          <a:xfrm>
            <a:off x="4101548" y="2550277"/>
            <a:ext cx="5771322" cy="461665"/>
          </a:xfrm>
          <a:prstGeom prst="rect">
            <a:avLst/>
          </a:prstGeom>
          <a:noFill/>
        </p:spPr>
        <p:txBody>
          <a:bodyPr wrap="square">
            <a:spAutoFit/>
          </a:bodyPr>
          <a:lstStyle/>
          <a:p>
            <a:pPr algn="just"/>
            <a:r>
              <a:rPr lang="en-US" sz="2400" dirty="0">
                <a:solidFill/>
                <a:effectLst/>
                <a:latin typeface="Times" pitchFamily="2" charset="0"/>
              </a:rPr>
              <a:t>*Note:  </a:t>
            </a:r>
            <a:r>
              <a:rPr lang="en-US" sz="2400" dirty="0">
                <a:solidFill/>
                <a:latin typeface="Times" pitchFamily="2" charset="0"/>
              </a:rPr>
              <a:t>The mass (</a:t>
            </a:r>
            <a:r>
              <a:rPr lang="en-US" sz="2400" i="1" dirty="0">
                <a:solidFill/>
                <a:latin typeface="Times" pitchFamily="2" charset="0"/>
              </a:rPr>
              <a:t>m</a:t>
            </a:r>
            <a:r>
              <a:rPr lang="en-US" sz="2400" dirty="0">
                <a:solidFill/>
                <a:latin typeface="Times" pitchFamily="2" charset="0"/>
              </a:rPr>
              <a:t>) of the skier drops out.</a:t>
            </a:r>
            <a:endParaRPr lang="en-US" sz="2400" dirty="0">
              <a:effectLst/>
              <a:latin typeface="Times" pitchFamily="2" charset="0"/>
            </a:endParaRPr>
          </a:p>
        </p:txBody>
      </p:sp>
      <p:grpSp>
        <p:nvGrpSpPr>
          <p:cNvPr id="29" name="Group 28">
            <a:extLst>
              <a:ext uri="{FF2B5EF4-FFF2-40B4-BE49-F238E27FC236}">
                <a16:creationId xmlns:a16="http://schemas.microsoft.com/office/drawing/2014/main" id="{D051A3E2-82E3-A706-2350-AFFDBB9B2E4B}"/>
              </a:ext>
            </a:extLst>
          </p:cNvPr>
          <p:cNvGrpSpPr/>
          <p:nvPr/>
        </p:nvGrpSpPr>
        <p:grpSpPr>
          <a:xfrm>
            <a:off x="4585252" y="1789043"/>
            <a:ext cx="2259496" cy="351183"/>
            <a:chOff x="4585252" y="1789043"/>
            <a:chExt cx="2259496" cy="351183"/>
          </a:xfrm>
        </p:grpSpPr>
        <p:cxnSp>
          <p:nvCxnSpPr>
            <p:cNvPr id="16" name="Straight Connector 15">
              <a:extLst>
                <a:ext uri="{FF2B5EF4-FFF2-40B4-BE49-F238E27FC236}">
                  <a16:creationId xmlns:a16="http://schemas.microsoft.com/office/drawing/2014/main" id="{7BCC4FDC-78B2-170D-2542-E31AB7FADC39}"/>
                </a:ext>
              </a:extLst>
            </p:cNvPr>
            <p:cNvCxnSpPr/>
            <p:nvPr/>
          </p:nvCxnSpPr>
          <p:spPr>
            <a:xfrm flipV="1">
              <a:off x="4585252" y="1789043"/>
              <a:ext cx="198783" cy="33130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37DEC14-2427-3837-E66F-8A23DC7F11F9}"/>
                </a:ext>
              </a:extLst>
            </p:cNvPr>
            <p:cNvCxnSpPr/>
            <p:nvPr/>
          </p:nvCxnSpPr>
          <p:spPr>
            <a:xfrm flipV="1">
              <a:off x="5784574" y="1795669"/>
              <a:ext cx="198783" cy="33130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67C6B90-C165-BD65-E090-C434D22526A5}"/>
                </a:ext>
              </a:extLst>
            </p:cNvPr>
            <p:cNvCxnSpPr/>
            <p:nvPr/>
          </p:nvCxnSpPr>
          <p:spPr>
            <a:xfrm flipV="1">
              <a:off x="6645965" y="1808921"/>
              <a:ext cx="198783" cy="33130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0" name="Rounded Rectangle 29">
            <a:extLst>
              <a:ext uri="{FF2B5EF4-FFF2-40B4-BE49-F238E27FC236}">
                <a16:creationId xmlns:a16="http://schemas.microsoft.com/office/drawing/2014/main" id="{97CB6DFD-4DEF-0F9C-21AB-34BA7EF3E6DE}"/>
              </a:ext>
            </a:extLst>
          </p:cNvPr>
          <p:cNvSpPr/>
          <p:nvPr/>
        </p:nvSpPr>
        <p:spPr>
          <a:xfrm>
            <a:off x="4558748" y="3087760"/>
            <a:ext cx="4810540" cy="9077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C5E4C3F0-BE7D-AAD4-FA78-14EF8D00D14E}"/>
              </a:ext>
            </a:extLst>
          </p:cNvPr>
          <p:cNvSpPr txBox="1"/>
          <p:nvPr/>
        </p:nvSpPr>
        <p:spPr>
          <a:xfrm>
            <a:off x="4572002" y="3334696"/>
            <a:ext cx="5300868" cy="461665"/>
          </a:xfrm>
          <a:prstGeom prst="rect">
            <a:avLst/>
          </a:prstGeom>
          <a:noFill/>
        </p:spPr>
        <p:txBody>
          <a:bodyPr wrap="square">
            <a:spAutoFit/>
          </a:bodyPr>
          <a:lstStyle/>
          <a:p>
            <a:pPr algn="just"/>
            <a:r>
              <a:rPr lang="en-US" sz="2400" dirty="0">
                <a:solidFill/>
                <a:latin typeface="Times" pitchFamily="2" charset="0"/>
              </a:rPr>
              <a:t>⇒</a:t>
            </a:r>
            <a:r>
              <a:rPr lang="en-US" sz="2400" i="1" dirty="0">
                <a:solidFill/>
                <a:latin typeface="Times" pitchFamily="2" charset="0"/>
              </a:rPr>
              <a:t>  v</a:t>
            </a:r>
            <a:r>
              <a:rPr lang="en-US" sz="2400" i="1" baseline="-25000" dirty="0">
                <a:solidFill/>
                <a:latin typeface="Times" pitchFamily="2" charset="0"/>
              </a:rPr>
              <a:t>f</a:t>
            </a:r>
            <a:r>
              <a:rPr lang="en-US" sz="2400" i="1" baseline="30000" dirty="0">
                <a:solidFill/>
                <a:latin typeface="Times" pitchFamily="2" charset="0"/>
              </a:rPr>
              <a:t>2</a:t>
            </a:r>
            <a:r>
              <a:rPr lang="en-US" sz="2400" i="1" dirty="0">
                <a:solidFill/>
                <a:latin typeface="Times" pitchFamily="2" charset="0"/>
              </a:rPr>
              <a:t> </a:t>
            </a:r>
            <a:r>
              <a:rPr lang="en-US" sz="2400" dirty="0">
                <a:solidFill/>
                <a:latin typeface="Times" pitchFamily="2" charset="0"/>
              </a:rPr>
              <a:t>= </a:t>
            </a:r>
            <a:r>
              <a:rPr lang="en-US" sz="2400" i="1" dirty="0">
                <a:solidFill/>
                <a:latin typeface="Times" pitchFamily="2" charset="0"/>
              </a:rPr>
              <a:t>v</a:t>
            </a:r>
            <a:r>
              <a:rPr lang="en-US" sz="2400" baseline="-25000" dirty="0">
                <a:solidFill/>
                <a:latin typeface="Times" pitchFamily="2" charset="0"/>
              </a:rPr>
              <a:t>0</a:t>
            </a:r>
            <a:r>
              <a:rPr lang="en-US" sz="2400" i="1" baseline="30000" dirty="0">
                <a:solidFill/>
                <a:latin typeface="Times" pitchFamily="2" charset="0"/>
              </a:rPr>
              <a:t>2 </a:t>
            </a:r>
            <a:r>
              <a:rPr lang="en-US" sz="2400" baseline="30000" dirty="0">
                <a:solidFill/>
                <a:latin typeface="Times" pitchFamily="2" charset="0"/>
              </a:rPr>
              <a:t> </a:t>
            </a:r>
            <a:r>
              <a:rPr lang="en-US" sz="2400" dirty="0">
                <a:solidFill/>
                <a:latin typeface="Times" pitchFamily="2" charset="0"/>
              </a:rPr>
              <a:t>+ 2</a:t>
            </a:r>
            <a:r>
              <a:rPr lang="en-US" sz="2400" i="1" dirty="0">
                <a:solidFill/>
                <a:latin typeface="Times" pitchFamily="2" charset="0"/>
              </a:rPr>
              <a:t>gs</a:t>
            </a:r>
            <a:r>
              <a:rPr lang="en-US" sz="2400" dirty="0">
                <a:solidFill/>
                <a:latin typeface="Times" pitchFamily="2" charset="0"/>
              </a:rPr>
              <a:t>(sin</a:t>
            </a:r>
            <a:r>
              <a:rPr lang="en-US" sz="2400" dirty="0">
                <a:solidFill/>
                <a:latin typeface="Symbol" pitchFamily="2" charset="2"/>
              </a:rPr>
              <a:t>25</a:t>
            </a:r>
            <a:r>
              <a:rPr lang="en-US" sz="2400" baseline="30000" dirty="0">
                <a:solidFill/>
                <a:latin typeface="Symbol" pitchFamily="2" charset="2"/>
              </a:rPr>
              <a:t>o</a:t>
            </a:r>
            <a:r>
              <a:rPr lang="en-US" sz="2400" dirty="0">
                <a:solidFill/>
                <a:latin typeface="Symbol" pitchFamily="2" charset="2"/>
              </a:rPr>
              <a:t> </a:t>
            </a:r>
            <a:r>
              <a:rPr lang="en-US" sz="2400" dirty="0">
                <a:solidFill/>
                <a:latin typeface="Times" pitchFamily="2" charset="0"/>
              </a:rPr>
              <a:t>– </a:t>
            </a:r>
            <a:r>
              <a:rPr lang="en-US" sz="2400" i="1" dirty="0">
                <a:solidFill/>
                <a:latin typeface="Symbol" pitchFamily="2" charset="2"/>
              </a:rPr>
              <a:t>m</a:t>
            </a:r>
            <a:r>
              <a:rPr lang="en-US" sz="2400" baseline="-25000" dirty="0">
                <a:solidFill/>
                <a:latin typeface="Times" pitchFamily="2" charset="0"/>
              </a:rPr>
              <a:t>k</a:t>
            </a:r>
            <a:r>
              <a:rPr lang="en-US" sz="2400" dirty="0">
                <a:solidFill/>
                <a:latin typeface="Times" pitchFamily="2" charset="0"/>
              </a:rPr>
              <a:t>cos</a:t>
            </a:r>
            <a:r>
              <a:rPr lang="en-US" sz="2400" dirty="0">
                <a:solidFill/>
                <a:latin typeface="Symbol" pitchFamily="2" charset="2"/>
              </a:rPr>
              <a:t>25</a:t>
            </a:r>
            <a:r>
              <a:rPr lang="en-US" sz="2400" baseline="30000" dirty="0">
                <a:solidFill/>
                <a:latin typeface="Symbol" pitchFamily="2" charset="2"/>
              </a:rPr>
              <a:t>o</a:t>
            </a:r>
            <a:r>
              <a:rPr lang="en-US" sz="2400" dirty="0">
                <a:solidFill/>
                <a:latin typeface="Times" pitchFamily="2" charset="0"/>
              </a:rPr>
              <a:t>)  </a:t>
            </a:r>
            <a:endParaRPr lang="en-US" sz="2400" dirty="0">
              <a:effectLst/>
              <a:latin typeface="Times" pitchFamily="2" charset="0"/>
            </a:endParaRPr>
          </a:p>
        </p:txBody>
      </p:sp>
      <p:sp>
        <p:nvSpPr>
          <p:cNvPr id="33" name="Rounded Rectangle 32">
            <a:extLst>
              <a:ext uri="{FF2B5EF4-FFF2-40B4-BE49-F238E27FC236}">
                <a16:creationId xmlns:a16="http://schemas.microsoft.com/office/drawing/2014/main" id="{A9BD555A-C77A-2E21-BE60-E326836D815B}"/>
              </a:ext>
            </a:extLst>
          </p:cNvPr>
          <p:cNvSpPr/>
          <p:nvPr/>
        </p:nvSpPr>
        <p:spPr>
          <a:xfrm>
            <a:off x="4220816" y="4220821"/>
            <a:ext cx="5400261" cy="9077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Picture 33">
            <a:extLst>
              <a:ext uri="{FF2B5EF4-FFF2-40B4-BE49-F238E27FC236}">
                <a16:creationId xmlns:a16="http://schemas.microsoft.com/office/drawing/2014/main" id="{6ACAC704-BA20-76B0-6CEC-B429FA0A81C8}"/>
              </a:ext>
            </a:extLst>
          </p:cNvPr>
          <p:cNvPicPr>
            <a:picLocks noChangeAspect="1"/>
          </p:cNvPicPr>
          <p:nvPr/>
        </p:nvPicPr>
        <p:blipFill>
          <a:blip r:embed="rId5"/>
          <a:stretch>
            <a:fillRect/>
          </a:stretch>
        </p:blipFill>
        <p:spPr>
          <a:xfrm>
            <a:off x="4306956" y="4407263"/>
            <a:ext cx="5052391" cy="584523"/>
          </a:xfrm>
          <a:prstGeom prst="rect">
            <a:avLst/>
          </a:prstGeom>
        </p:spPr>
      </p:pic>
      <p:sp>
        <p:nvSpPr>
          <p:cNvPr id="35" name="Rounded Rectangle 34">
            <a:extLst>
              <a:ext uri="{FF2B5EF4-FFF2-40B4-BE49-F238E27FC236}">
                <a16:creationId xmlns:a16="http://schemas.microsoft.com/office/drawing/2014/main" id="{1392BBA2-3773-5DCD-7FF9-7A4A8206398E}"/>
              </a:ext>
            </a:extLst>
          </p:cNvPr>
          <p:cNvSpPr/>
          <p:nvPr/>
        </p:nvSpPr>
        <p:spPr>
          <a:xfrm>
            <a:off x="3127512" y="5393638"/>
            <a:ext cx="8216350" cy="9077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Picture 38">
            <a:extLst>
              <a:ext uri="{FF2B5EF4-FFF2-40B4-BE49-F238E27FC236}">
                <a16:creationId xmlns:a16="http://schemas.microsoft.com/office/drawing/2014/main" id="{8C149021-C7BC-48F4-3FFE-99C3D64EFA5E}"/>
              </a:ext>
            </a:extLst>
          </p:cNvPr>
          <p:cNvPicPr>
            <a:picLocks noChangeAspect="1"/>
          </p:cNvPicPr>
          <p:nvPr/>
        </p:nvPicPr>
        <p:blipFill>
          <a:blip r:embed="rId6"/>
          <a:stretch>
            <a:fillRect/>
          </a:stretch>
        </p:blipFill>
        <p:spPr>
          <a:xfrm>
            <a:off x="3193773" y="5621620"/>
            <a:ext cx="6881191" cy="473349"/>
          </a:xfrm>
          <a:prstGeom prst="rect">
            <a:avLst/>
          </a:prstGeom>
        </p:spPr>
      </p:pic>
      <p:sp>
        <p:nvSpPr>
          <p:cNvPr id="41" name="TextBox 40">
            <a:extLst>
              <a:ext uri="{FF2B5EF4-FFF2-40B4-BE49-F238E27FC236}">
                <a16:creationId xmlns:a16="http://schemas.microsoft.com/office/drawing/2014/main" id="{B66490E5-5709-87A1-5011-B18B1317A7FF}"/>
              </a:ext>
            </a:extLst>
          </p:cNvPr>
          <p:cNvSpPr txBox="1"/>
          <p:nvPr/>
        </p:nvSpPr>
        <p:spPr>
          <a:xfrm>
            <a:off x="10144541" y="5673704"/>
            <a:ext cx="1610137" cy="400110"/>
          </a:xfrm>
          <a:prstGeom prst="rect">
            <a:avLst/>
          </a:prstGeom>
          <a:noFill/>
        </p:spPr>
        <p:txBody>
          <a:bodyPr wrap="square">
            <a:spAutoFit/>
          </a:bodyPr>
          <a:lstStyle/>
          <a:p>
            <a:pPr algn="just"/>
            <a:r>
              <a:rPr lang="en-US" sz="2000" dirty="0">
                <a:solidFill/>
                <a:latin typeface="Times" pitchFamily="2" charset="0"/>
              </a:rPr>
              <a:t>= 19 m/s</a:t>
            </a:r>
            <a:endParaRPr lang="en-US" sz="2000" dirty="0">
              <a:effectLst/>
              <a:latin typeface="Times" pitchFamily="2" charset="0"/>
            </a:endParaRPr>
          </a:p>
        </p:txBody>
      </p:sp>
      <p:sp>
        <p:nvSpPr>
          <p:cNvPr id="43" name="Rectangle 42">
            <a:extLst>
              <a:ext uri="{FF2B5EF4-FFF2-40B4-BE49-F238E27FC236}">
                <a16:creationId xmlns:a16="http://schemas.microsoft.com/office/drawing/2014/main" id="{12E0731A-F9C5-1C67-995A-9D9B086B7279}"/>
              </a:ext>
            </a:extLst>
          </p:cNvPr>
          <p:cNvSpPr/>
          <p:nvPr/>
        </p:nvSpPr>
        <p:spPr>
          <a:xfrm>
            <a:off x="10416209" y="5671930"/>
            <a:ext cx="768626" cy="37106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7669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dissolve">
                                      <p:cBhvr>
                                        <p:cTn id="16" dur="500"/>
                                        <p:tgtEl>
                                          <p:spTgt spid="29"/>
                                        </p:tgtEl>
                                      </p:cBhvr>
                                    </p:animEffect>
                                  </p:childTnLst>
                                </p:cTn>
                              </p:par>
                            </p:childTnLst>
                          </p:cTn>
                        </p:par>
                        <p:par>
                          <p:cTn id="17" fill="hold">
                            <p:stCondLst>
                              <p:cond delay="1000"/>
                            </p:stCondLst>
                            <p:childTnLst>
                              <p:par>
                                <p:cTn id="18" presetID="9" presetClass="entr" presetSubtype="0" fill="hold" grpId="0" nodeType="after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dissolve">
                                      <p:cBhvr>
                                        <p:cTn id="20" dur="500"/>
                                        <p:tgtEl>
                                          <p:spTgt spid="30"/>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dissolve">
                                      <p:cBhvr>
                                        <p:cTn id="25" dur="500"/>
                                        <p:tgtEl>
                                          <p:spTgt spid="31"/>
                                        </p:tgtEl>
                                      </p:cBhvr>
                                    </p:animEffect>
                                  </p:childTnLst>
                                </p:cTn>
                              </p:par>
                            </p:childTnLst>
                          </p:cTn>
                        </p:par>
                        <p:par>
                          <p:cTn id="26" fill="hold">
                            <p:stCondLst>
                              <p:cond delay="500"/>
                            </p:stCondLst>
                            <p:childTnLst>
                              <p:par>
                                <p:cTn id="27" presetID="9" presetClass="entr" presetSubtype="0" fill="hold" grpId="0" nodeType="after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dissolve">
                                      <p:cBhvr>
                                        <p:cTn id="29" dur="500"/>
                                        <p:tgtEl>
                                          <p:spTgt spid="33"/>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dissolve">
                                      <p:cBhvr>
                                        <p:cTn id="34" dur="500"/>
                                        <p:tgtEl>
                                          <p:spTgt spid="34"/>
                                        </p:tgtEl>
                                      </p:cBhvr>
                                    </p:animEffect>
                                  </p:childTnLst>
                                </p:cTn>
                              </p:par>
                            </p:childTnLst>
                          </p:cTn>
                        </p:par>
                        <p:par>
                          <p:cTn id="35" fill="hold">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dissolve">
                                      <p:cBhvr>
                                        <p:cTn id="38" dur="500"/>
                                        <p:tgtEl>
                                          <p:spTgt spid="35"/>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dissolve">
                                      <p:cBhvr>
                                        <p:cTn id="43" dur="500"/>
                                        <p:tgtEl>
                                          <p:spTgt spid="39"/>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dissolve">
                                      <p:cBhvr>
                                        <p:cTn id="48" dur="500"/>
                                        <p:tgtEl>
                                          <p:spTgt spid="41"/>
                                        </p:tgtEl>
                                      </p:cBhvr>
                                    </p:animEffect>
                                  </p:childTnLst>
                                </p:cTn>
                              </p:par>
                            </p:childTnLst>
                          </p:cTn>
                        </p:par>
                        <p:par>
                          <p:cTn id="49" fill="hold">
                            <p:stCondLst>
                              <p:cond delay="500"/>
                            </p:stCondLst>
                            <p:childTnLst>
                              <p:par>
                                <p:cTn id="50" presetID="9" presetClass="entr" presetSubtype="0" fill="hold" grpId="0" nodeType="after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dissolve">
                                      <p:cBhvr>
                                        <p:cTn id="5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0" grpId="0" animBg="1"/>
      <p:bldP spid="31" grpId="0"/>
      <p:bldP spid="33" grpId="0" animBg="1"/>
      <p:bldP spid="35" grpId="0" animBg="1"/>
      <p:bldP spid="41" grpId="0"/>
      <p:bldP spid="4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451EF-89C3-F9A4-C827-37B38934BA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90B899-1087-B232-0253-C07B138013E3}"/>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pic>
        <p:nvPicPr>
          <p:cNvPr id="9" name="Picture 8">
            <a:extLst>
              <a:ext uri="{FF2B5EF4-FFF2-40B4-BE49-F238E27FC236}">
                <a16:creationId xmlns:a16="http://schemas.microsoft.com/office/drawing/2014/main" id="{BBD621BB-1DB7-0DE7-BEAE-B2E2AD8B0948}"/>
              </a:ext>
            </a:extLst>
          </p:cNvPr>
          <p:cNvPicPr>
            <a:picLocks noChangeAspect="1"/>
          </p:cNvPicPr>
          <p:nvPr/>
        </p:nvPicPr>
        <p:blipFill>
          <a:blip r:embed="rId3"/>
          <a:srcRect t="15793" r="52172" b="11757"/>
          <a:stretch/>
        </p:blipFill>
        <p:spPr>
          <a:xfrm>
            <a:off x="251792" y="1370328"/>
            <a:ext cx="2782956" cy="1976467"/>
          </a:xfrm>
          <a:prstGeom prst="rect">
            <a:avLst/>
          </a:prstGeom>
        </p:spPr>
      </p:pic>
      <p:pic>
        <p:nvPicPr>
          <p:cNvPr id="4" name="Picture 3">
            <a:extLst>
              <a:ext uri="{FF2B5EF4-FFF2-40B4-BE49-F238E27FC236}">
                <a16:creationId xmlns:a16="http://schemas.microsoft.com/office/drawing/2014/main" id="{741B1062-89D6-8C47-F76B-2A44F80DEC09}"/>
              </a:ext>
            </a:extLst>
          </p:cNvPr>
          <p:cNvPicPr>
            <a:picLocks noChangeAspect="1"/>
          </p:cNvPicPr>
          <p:nvPr/>
        </p:nvPicPr>
        <p:blipFill>
          <a:blip r:embed="rId3"/>
          <a:srcRect l="53180" t="-6021" r="-780" b="8380"/>
          <a:stretch/>
        </p:blipFill>
        <p:spPr>
          <a:xfrm>
            <a:off x="304800" y="3511825"/>
            <a:ext cx="2769704" cy="2663687"/>
          </a:xfrm>
          <a:prstGeom prst="rect">
            <a:avLst/>
          </a:prstGeom>
        </p:spPr>
      </p:pic>
      <p:grpSp>
        <p:nvGrpSpPr>
          <p:cNvPr id="19" name="Group 18">
            <a:extLst>
              <a:ext uri="{FF2B5EF4-FFF2-40B4-BE49-F238E27FC236}">
                <a16:creationId xmlns:a16="http://schemas.microsoft.com/office/drawing/2014/main" id="{3FD0FF41-9C49-61EC-8BF6-C365E62D61A5}"/>
              </a:ext>
            </a:extLst>
          </p:cNvPr>
          <p:cNvGrpSpPr/>
          <p:nvPr/>
        </p:nvGrpSpPr>
        <p:grpSpPr>
          <a:xfrm>
            <a:off x="2405269" y="1331843"/>
            <a:ext cx="1239079" cy="1413901"/>
            <a:chOff x="4711147" y="3597965"/>
            <a:chExt cx="1239079" cy="1413901"/>
          </a:xfrm>
        </p:grpSpPr>
        <p:cxnSp>
          <p:nvCxnSpPr>
            <p:cNvPr id="8" name="Straight Arrow Connector 7">
              <a:extLst>
                <a:ext uri="{FF2B5EF4-FFF2-40B4-BE49-F238E27FC236}">
                  <a16:creationId xmlns:a16="http://schemas.microsoft.com/office/drawing/2014/main" id="{AF89DD68-94DF-DD54-6766-87B027988BD3}"/>
                </a:ext>
              </a:extLst>
            </p:cNvPr>
            <p:cNvCxnSpPr>
              <a:cxnSpLocks/>
            </p:cNvCxnSpPr>
            <p:nvPr/>
          </p:nvCxnSpPr>
          <p:spPr>
            <a:xfrm flipV="1">
              <a:off x="4717773" y="4002157"/>
              <a:ext cx="265044" cy="5565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F38C286-B82D-C2DE-F1A0-EAB39940F923}"/>
                </a:ext>
              </a:extLst>
            </p:cNvPr>
            <p:cNvCxnSpPr>
              <a:cxnSpLocks/>
            </p:cNvCxnSpPr>
            <p:nvPr/>
          </p:nvCxnSpPr>
          <p:spPr>
            <a:xfrm>
              <a:off x="4711147" y="4538870"/>
              <a:ext cx="510210" cy="2451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1713AF5-584E-0EF3-418F-C249572404E2}"/>
                </a:ext>
              </a:extLst>
            </p:cNvPr>
            <p:cNvSpPr txBox="1"/>
            <p:nvPr/>
          </p:nvSpPr>
          <p:spPr>
            <a:xfrm>
              <a:off x="5168348" y="4611756"/>
              <a:ext cx="781878" cy="400110"/>
            </a:xfrm>
            <a:prstGeom prst="rect">
              <a:avLst/>
            </a:prstGeom>
            <a:noFill/>
          </p:spPr>
          <p:txBody>
            <a:bodyPr wrap="square" rtlCol="0">
              <a:spAutoFit/>
            </a:bodyPr>
            <a:lstStyle/>
            <a:p>
              <a:pPr/>
              <a:r>
                <a:rPr lang="en-US" sz="2000" i="1" dirty="0">
                  <a:solidFill/>
                  <a:latin typeface="Times" pitchFamily="2" charset="0"/>
                </a:rPr>
                <a:t>+x</a:t>
              </a:r>
            </a:p>
          </p:txBody>
        </p:sp>
        <p:sp>
          <p:nvSpPr>
            <p:cNvPr id="18" name="TextBox 17">
              <a:extLst>
                <a:ext uri="{FF2B5EF4-FFF2-40B4-BE49-F238E27FC236}">
                  <a16:creationId xmlns:a16="http://schemas.microsoft.com/office/drawing/2014/main" id="{7B713878-D0C2-C0B6-BC8C-8F64548B0E23}"/>
                </a:ext>
              </a:extLst>
            </p:cNvPr>
            <p:cNvSpPr txBox="1"/>
            <p:nvPr/>
          </p:nvSpPr>
          <p:spPr>
            <a:xfrm>
              <a:off x="4790662" y="3597965"/>
              <a:ext cx="781878" cy="400110"/>
            </a:xfrm>
            <a:prstGeom prst="rect">
              <a:avLst/>
            </a:prstGeom>
            <a:noFill/>
          </p:spPr>
          <p:txBody>
            <a:bodyPr wrap="square" rtlCol="0">
              <a:spAutoFit/>
            </a:bodyPr>
            <a:lstStyle/>
            <a:p>
              <a:pPr/>
              <a:r>
                <a:rPr lang="en-US" sz="2000" i="1" dirty="0">
                  <a:solidFill/>
                  <a:latin typeface="Times" pitchFamily="2" charset="0"/>
                </a:rPr>
                <a:t>+y</a:t>
              </a:r>
            </a:p>
          </p:txBody>
        </p:sp>
      </p:grpSp>
      <p:sp>
        <p:nvSpPr>
          <p:cNvPr id="6" name="TextBox 5">
            <a:extLst>
              <a:ext uri="{FF2B5EF4-FFF2-40B4-BE49-F238E27FC236}">
                <a16:creationId xmlns:a16="http://schemas.microsoft.com/office/drawing/2014/main" id="{B4F21518-A195-3082-B7F3-C616A94F0D1C}"/>
              </a:ext>
            </a:extLst>
          </p:cNvPr>
          <p:cNvSpPr txBox="1"/>
          <p:nvPr/>
        </p:nvSpPr>
        <p:spPr>
          <a:xfrm>
            <a:off x="897602" y="839960"/>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Downhill Skiing</a:t>
            </a:r>
          </a:p>
        </p:txBody>
      </p:sp>
      <p:grpSp>
        <p:nvGrpSpPr>
          <p:cNvPr id="20" name="Group 19">
            <a:extLst>
              <a:ext uri="{FF2B5EF4-FFF2-40B4-BE49-F238E27FC236}">
                <a16:creationId xmlns:a16="http://schemas.microsoft.com/office/drawing/2014/main" id="{99E72C00-A924-D2AF-407A-BBAC866E97E0}"/>
              </a:ext>
            </a:extLst>
          </p:cNvPr>
          <p:cNvGrpSpPr/>
          <p:nvPr/>
        </p:nvGrpSpPr>
        <p:grpSpPr>
          <a:xfrm>
            <a:off x="3856381" y="1473152"/>
            <a:ext cx="8136835" cy="1569660"/>
            <a:chOff x="3856381" y="1473152"/>
            <a:chExt cx="8136835" cy="1569660"/>
          </a:xfrm>
        </p:grpSpPr>
        <p:sp>
          <p:nvSpPr>
            <p:cNvPr id="10" name="TextBox 9">
              <a:extLst>
                <a:ext uri="{FF2B5EF4-FFF2-40B4-BE49-F238E27FC236}">
                  <a16:creationId xmlns:a16="http://schemas.microsoft.com/office/drawing/2014/main" id="{8AC72A21-5A38-7BB2-7E07-58DDD7C5FBBF}"/>
                </a:ext>
              </a:extLst>
            </p:cNvPr>
            <p:cNvSpPr txBox="1"/>
            <p:nvPr/>
          </p:nvSpPr>
          <p:spPr>
            <a:xfrm>
              <a:off x="3856381" y="1473152"/>
              <a:ext cx="8136835" cy="1569660"/>
            </a:xfrm>
            <a:prstGeom prst="rect">
              <a:avLst/>
            </a:prstGeom>
            <a:noFill/>
          </p:spPr>
          <p:txBody>
            <a:bodyPr wrap="square">
              <a:spAutoFit/>
            </a:bodyPr>
            <a:lstStyle/>
            <a:p>
              <a:pPr algn="just"/>
              <a:r>
                <a:rPr lang="en-US" sz="2400" dirty="0">
                  <a:solidFill/>
                  <a:latin typeface="Times" pitchFamily="2" charset="0"/>
                </a:rPr>
                <a:t>The skier’s final speed is greater than her initial speed, because the skier </a:t>
              </a:r>
              <a:r>
                <a:rPr lang="en-US" sz="2400" u="sng" dirty="0">
                  <a:solidFill/>
                  <a:latin typeface="Times" pitchFamily="2" charset="0"/>
                </a:rPr>
                <a:t>gains</a:t>
              </a:r>
              <a:r>
                <a:rPr lang="en-US" sz="2400" dirty="0">
                  <a:solidFill/>
                  <a:latin typeface="Times" pitchFamily="2" charset="0"/>
                </a:rPr>
                <a:t> kinetic energy.  Remember that the work is done by the                , and here, the positive work done by gravity was larger than the negative work done by friction!</a:t>
              </a:r>
            </a:p>
          </p:txBody>
        </p:sp>
        <p:sp>
          <p:nvSpPr>
            <p:cNvPr id="11" name="Rounded Rectangle 10">
              <a:extLst>
                <a:ext uri="{FF2B5EF4-FFF2-40B4-BE49-F238E27FC236}">
                  <a16:creationId xmlns:a16="http://schemas.microsoft.com/office/drawing/2014/main" id="{F28E13A4-1BC4-945B-4E55-3048B09BF9D2}"/>
                </a:ext>
              </a:extLst>
            </p:cNvPr>
            <p:cNvSpPr/>
            <p:nvPr/>
          </p:nvSpPr>
          <p:spPr>
            <a:xfrm>
              <a:off x="4770783" y="2266121"/>
              <a:ext cx="1497496" cy="35780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TextBox 14">
            <a:extLst>
              <a:ext uri="{FF2B5EF4-FFF2-40B4-BE49-F238E27FC236}">
                <a16:creationId xmlns:a16="http://schemas.microsoft.com/office/drawing/2014/main" id="{EBB4FBF2-7D6E-64A1-F1AF-F9E56A1F1E5A}"/>
              </a:ext>
            </a:extLst>
          </p:cNvPr>
          <p:cNvSpPr txBox="1"/>
          <p:nvPr/>
        </p:nvSpPr>
        <p:spPr>
          <a:xfrm>
            <a:off x="4770782" y="2252870"/>
            <a:ext cx="1538947" cy="400110"/>
          </a:xfrm>
          <a:prstGeom prst="rect">
            <a:avLst/>
          </a:prstGeom>
          <a:noFill/>
        </p:spPr>
        <p:txBody>
          <a:bodyPr wrap="none" rtlCol="0">
            <a:spAutoFit/>
          </a:bodyPr>
          <a:lstStyle/>
          <a:p>
            <a:pPr/>
            <a:r>
              <a:rPr lang="en-US" sz="2000" dirty="0">
                <a:solidFill>
                  <a:srgbClr val="007440"/>
                </a:solidFill>
                <a:latin typeface="Chalkduster" panose="03050602040202020205" pitchFamily="66" charset="77"/>
              </a:rPr>
              <a:t>net force</a:t>
            </a:r>
          </a:p>
        </p:txBody>
      </p:sp>
      <p:grpSp>
        <p:nvGrpSpPr>
          <p:cNvPr id="27" name="Group 26">
            <a:extLst>
              <a:ext uri="{FF2B5EF4-FFF2-40B4-BE49-F238E27FC236}">
                <a16:creationId xmlns:a16="http://schemas.microsoft.com/office/drawing/2014/main" id="{5CCAEB04-5CC7-F5AF-3C43-2CAE44C180E8}"/>
              </a:ext>
            </a:extLst>
          </p:cNvPr>
          <p:cNvGrpSpPr/>
          <p:nvPr/>
        </p:nvGrpSpPr>
        <p:grpSpPr>
          <a:xfrm>
            <a:off x="3313046" y="3207026"/>
            <a:ext cx="8666920" cy="3127513"/>
            <a:chOff x="3313046" y="3207026"/>
            <a:chExt cx="8666920" cy="3127513"/>
          </a:xfrm>
        </p:grpSpPr>
        <p:sp>
          <p:nvSpPr>
            <p:cNvPr id="23" name="TextBox 22">
              <a:extLst>
                <a:ext uri="{FF2B5EF4-FFF2-40B4-BE49-F238E27FC236}">
                  <a16:creationId xmlns:a16="http://schemas.microsoft.com/office/drawing/2014/main" id="{85BA5A0F-109A-3693-56EB-820812287BAC}"/>
                </a:ext>
              </a:extLst>
            </p:cNvPr>
            <p:cNvSpPr txBox="1"/>
            <p:nvPr/>
          </p:nvSpPr>
          <p:spPr>
            <a:xfrm>
              <a:off x="3462133" y="3621299"/>
              <a:ext cx="8464824" cy="830997"/>
            </a:xfrm>
            <a:prstGeom prst="rect">
              <a:avLst/>
            </a:prstGeom>
            <a:noFill/>
          </p:spPr>
          <p:txBody>
            <a:bodyPr wrap="square">
              <a:spAutoFit/>
            </a:bodyPr>
            <a:lstStyle/>
            <a:p>
              <a:pPr algn="just"/>
              <a:r>
                <a:rPr lang="en-US" sz="2400" b="1" dirty="0">
                  <a:solidFill/>
                  <a:latin typeface="Times" pitchFamily="2" charset="0"/>
                </a:rPr>
                <a:t>If the net work done on an object is positive (</a:t>
              </a:r>
              <a:r>
                <a:rPr lang="en-US" sz="2400" b="1" i="1" dirty="0">
                  <a:solidFill/>
                  <a:latin typeface="Times" pitchFamily="2" charset="0"/>
                </a:rPr>
                <a:t>W</a:t>
              </a:r>
              <a:r>
                <a:rPr lang="en-US" sz="2400" b="1" dirty="0">
                  <a:solidFill/>
                  <a:latin typeface="Times" pitchFamily="2" charset="0"/>
                </a:rPr>
                <a:t> &gt; 0), then the object speeds up.</a:t>
              </a:r>
            </a:p>
          </p:txBody>
        </p:sp>
        <p:sp>
          <p:nvSpPr>
            <p:cNvPr id="25" name="Rectangle 24">
              <a:extLst>
                <a:ext uri="{FF2B5EF4-FFF2-40B4-BE49-F238E27FC236}">
                  <a16:creationId xmlns:a16="http://schemas.microsoft.com/office/drawing/2014/main" id="{DCD8B6A2-C165-4E42-0B62-43C1902AABD3}"/>
                </a:ext>
              </a:extLst>
            </p:cNvPr>
            <p:cNvSpPr/>
            <p:nvPr/>
          </p:nvSpPr>
          <p:spPr>
            <a:xfrm>
              <a:off x="3313046" y="3207026"/>
              <a:ext cx="8666920" cy="3127513"/>
            </a:xfrm>
            <a:prstGeom prst="rect">
              <a:avLst/>
            </a:prstGeom>
            <a:noFill/>
            <a:ln w="38100">
              <a:solidFill>
                <a:srgbClr val="C069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8F6621EE-28CD-2E63-E437-D2CA57FE09F3}"/>
                </a:ext>
              </a:extLst>
            </p:cNvPr>
            <p:cNvSpPr txBox="1"/>
            <p:nvPr/>
          </p:nvSpPr>
          <p:spPr>
            <a:xfrm>
              <a:off x="3432317" y="3233530"/>
              <a:ext cx="3445564" cy="400110"/>
            </a:xfrm>
            <a:prstGeom prst="rect">
              <a:avLst/>
            </a:prstGeom>
            <a:noFill/>
          </p:spPr>
          <p:txBody>
            <a:bodyPr wrap="square" rtlCol="0">
              <a:spAutoFit/>
            </a:bodyPr>
            <a:lstStyle/>
            <a:p>
              <a:pPr/>
              <a:r>
                <a:rPr lang="en-US" sz="2000" dirty="0">
                  <a:solidFill>
                    <a:srgbClr val="C0694F"/>
                  </a:solidFill>
                  <a:latin typeface="Times" pitchFamily="2" charset="0"/>
                </a:rPr>
                <a:t>Problem-Solving Insight</a:t>
              </a:r>
            </a:p>
          </p:txBody>
        </p:sp>
      </p:grpSp>
      <p:sp>
        <p:nvSpPr>
          <p:cNvPr id="28" name="TextBox 27">
            <a:extLst>
              <a:ext uri="{FF2B5EF4-FFF2-40B4-BE49-F238E27FC236}">
                <a16:creationId xmlns:a16="http://schemas.microsoft.com/office/drawing/2014/main" id="{D55A808B-5738-8E70-6368-082A0ACE1B69}"/>
              </a:ext>
            </a:extLst>
          </p:cNvPr>
          <p:cNvSpPr txBox="1"/>
          <p:nvPr/>
        </p:nvSpPr>
        <p:spPr>
          <a:xfrm>
            <a:off x="3455508" y="4529074"/>
            <a:ext cx="8464824" cy="830997"/>
          </a:xfrm>
          <a:prstGeom prst="rect">
            <a:avLst/>
          </a:prstGeom>
          <a:noFill/>
        </p:spPr>
        <p:txBody>
          <a:bodyPr wrap="square">
            <a:spAutoFit/>
          </a:bodyPr>
          <a:lstStyle/>
          <a:p>
            <a:pPr algn="just"/>
            <a:r>
              <a:rPr lang="en-US" sz="2400" b="1" dirty="0">
                <a:solidFill/>
                <a:latin typeface="Times" pitchFamily="2" charset="0"/>
              </a:rPr>
              <a:t>If the net work done on an object is negative (</a:t>
            </a:r>
            <a:r>
              <a:rPr lang="en-US" sz="2400" b="1" i="1" dirty="0">
                <a:solidFill/>
                <a:latin typeface="Times" pitchFamily="2" charset="0"/>
              </a:rPr>
              <a:t>W</a:t>
            </a:r>
            <a:r>
              <a:rPr lang="en-US" sz="2400" b="1" dirty="0">
                <a:solidFill/>
                <a:latin typeface="Times" pitchFamily="2" charset="0"/>
              </a:rPr>
              <a:t> &lt; 0), then the object slows down.</a:t>
            </a:r>
          </a:p>
        </p:txBody>
      </p:sp>
      <p:sp>
        <p:nvSpPr>
          <p:cNvPr id="32" name="TextBox 31">
            <a:extLst>
              <a:ext uri="{FF2B5EF4-FFF2-40B4-BE49-F238E27FC236}">
                <a16:creationId xmlns:a16="http://schemas.microsoft.com/office/drawing/2014/main" id="{766E82DB-0DCF-8606-3A22-42601858822C}"/>
              </a:ext>
            </a:extLst>
          </p:cNvPr>
          <p:cNvSpPr txBox="1"/>
          <p:nvPr/>
        </p:nvSpPr>
        <p:spPr>
          <a:xfrm>
            <a:off x="3475386" y="5450100"/>
            <a:ext cx="8464824" cy="830997"/>
          </a:xfrm>
          <a:prstGeom prst="rect">
            <a:avLst/>
          </a:prstGeom>
          <a:noFill/>
        </p:spPr>
        <p:txBody>
          <a:bodyPr wrap="square">
            <a:spAutoFit/>
          </a:bodyPr>
          <a:lstStyle/>
          <a:p>
            <a:pPr algn="just"/>
            <a:r>
              <a:rPr lang="en-US" sz="2400" b="1" dirty="0">
                <a:solidFill/>
                <a:latin typeface="Times" pitchFamily="2" charset="0"/>
              </a:rPr>
              <a:t>If the net work done on an object is zero (</a:t>
            </a:r>
            <a:r>
              <a:rPr lang="en-US" sz="2400" b="1" i="1" dirty="0">
                <a:solidFill/>
                <a:latin typeface="Times" pitchFamily="2" charset="0"/>
              </a:rPr>
              <a:t>W</a:t>
            </a:r>
            <a:r>
              <a:rPr lang="en-US" sz="2400" b="1" dirty="0">
                <a:solidFill/>
                <a:latin typeface="Times" pitchFamily="2" charset="0"/>
              </a:rPr>
              <a:t> = 0), then the object’s speed remains unchanged.</a:t>
            </a:r>
          </a:p>
        </p:txBody>
      </p:sp>
    </p:spTree>
    <p:extLst>
      <p:ext uri="{BB962C8B-B14F-4D97-AF65-F5344CB8AC3E}">
        <p14:creationId xmlns:p14="http://schemas.microsoft.com/office/powerpoint/2010/main" val="367453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dissolve">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dissolve">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dissolve">
                                      <p:cBhvr>
                                        <p:cTn id="2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8" grpId="0"/>
      <p:bldP spid="3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1A1D6-BF6B-765E-B5BC-D456C1A32A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24B98D-219D-97BA-6B24-D852351DCA9A}"/>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sp>
        <p:nvSpPr>
          <p:cNvPr id="11" name="TextBox 10">
            <a:extLst>
              <a:ext uri="{FF2B5EF4-FFF2-40B4-BE49-F238E27FC236}">
                <a16:creationId xmlns:a16="http://schemas.microsoft.com/office/drawing/2014/main" id="{4FBCB364-1621-85A5-1C5C-707BD715E5A5}"/>
              </a:ext>
            </a:extLst>
          </p:cNvPr>
          <p:cNvSpPr txBox="1"/>
          <p:nvPr/>
        </p:nvSpPr>
        <p:spPr>
          <a:xfrm>
            <a:off x="819648" y="913831"/>
            <a:ext cx="10548597" cy="3108543"/>
          </a:xfrm>
          <a:prstGeom prst="rect">
            <a:avLst/>
          </a:prstGeom>
          <a:noFill/>
        </p:spPr>
        <p:txBody>
          <a:bodyPr wrap="square" rtlCol="0">
            <a:spAutoFit/>
          </a:bodyPr>
          <a:lstStyle/>
          <a:p>
            <a:pPr algn="just"/>
            <a:r>
              <a:rPr lang="en-US" sz="2800" dirty="0">
                <a:solidFill>
                  <a:srgbClr val="3E5891"/>
                </a:solidFill>
                <a:latin typeface="Times" pitchFamily="2" charset="0"/>
              </a:rPr>
              <a:t>CYU/TPS – A net external force acts on a particle that is moving along a straight line. This net force is not zero. Which one of the following statements is correct?</a:t>
            </a:r>
          </a:p>
          <a:p>
            <a:pPr algn="just"/>
            <a:endParaRPr lang="en-US" sz="2800" dirty="0">
              <a:solidFill>
                <a:srgbClr val="3E5891"/>
              </a:solidFill>
              <a:latin typeface="Times" pitchFamily="2" charset="0"/>
            </a:endParaRPr>
          </a:p>
          <a:p>
            <a:pPr algn="just"/>
            <a:r>
              <a:rPr lang="en-US" sz="2800" dirty="0">
                <a:solidFill>
                  <a:srgbClr val="3E5891"/>
                </a:solidFill>
                <a:latin typeface="Times" pitchFamily="2" charset="0"/>
              </a:rPr>
              <a:t>(</a:t>
            </a:r>
            <a:r>
              <a:rPr lang="en-US" sz="2800" b="1" dirty="0">
                <a:solidFill>
                  <a:srgbClr val="3E5891"/>
                </a:solidFill>
                <a:latin typeface="Times" pitchFamily="2" charset="0"/>
              </a:rPr>
              <a:t>a</a:t>
            </a:r>
            <a:r>
              <a:rPr lang="en-US" sz="2800" dirty="0">
                <a:solidFill>
                  <a:srgbClr val="3E5891"/>
                </a:solidFill>
                <a:latin typeface="Times" pitchFamily="2" charset="0"/>
              </a:rPr>
              <a:t>) The velocity, but not the kinetic energy, of the particle is changing. (</a:t>
            </a:r>
            <a:r>
              <a:rPr lang="en-US" sz="2800" b="1" dirty="0">
                <a:solidFill>
                  <a:srgbClr val="3E5891"/>
                </a:solidFill>
                <a:latin typeface="Times" pitchFamily="2" charset="0"/>
              </a:rPr>
              <a:t>b</a:t>
            </a:r>
            <a:r>
              <a:rPr lang="en-US" sz="2800" dirty="0">
                <a:solidFill>
                  <a:srgbClr val="3E5891"/>
                </a:solidFill>
                <a:latin typeface="Times" pitchFamily="2" charset="0"/>
              </a:rPr>
              <a:t>) The kinetic energy, but not the velocity, of the particle is changing. (</a:t>
            </a:r>
            <a:r>
              <a:rPr lang="en-US" sz="2800" b="1" dirty="0">
                <a:solidFill>
                  <a:srgbClr val="3E5891"/>
                </a:solidFill>
                <a:latin typeface="Times" pitchFamily="2" charset="0"/>
              </a:rPr>
              <a:t>c</a:t>
            </a:r>
            <a:r>
              <a:rPr lang="en-US" sz="2800" dirty="0">
                <a:solidFill>
                  <a:srgbClr val="3E5891"/>
                </a:solidFill>
                <a:latin typeface="Times" pitchFamily="2" charset="0"/>
              </a:rPr>
              <a:t>) Both the velocity and the kinetic energy of the particle are changing.</a:t>
            </a:r>
            <a:endParaRPr lang="en-US" sz="2800" dirty="0">
              <a:solidFill>
                <a:srgbClr val="3E5891"/>
              </a:solidFill>
              <a:latin typeface="Times" pitchFamily="2" charset="0"/>
              <a:cs typeface="Times New Roman" panose="02020603050405020304" pitchFamily="18" charset="0"/>
            </a:endParaRPr>
          </a:p>
        </p:txBody>
      </p:sp>
      <p:sp>
        <p:nvSpPr>
          <p:cNvPr id="3" name="Rounded Rectangle 2">
            <a:extLst>
              <a:ext uri="{FF2B5EF4-FFF2-40B4-BE49-F238E27FC236}">
                <a16:creationId xmlns:a16="http://schemas.microsoft.com/office/drawing/2014/main" id="{B3014050-4E96-BD03-9D29-97E9E18AA974}"/>
              </a:ext>
            </a:extLst>
          </p:cNvPr>
          <p:cNvSpPr/>
          <p:nvPr/>
        </p:nvSpPr>
        <p:spPr>
          <a:xfrm>
            <a:off x="844164" y="3527729"/>
            <a:ext cx="10473193" cy="4216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3A03DBBC-83F2-D9C5-552A-0DDF1BEEE0B5}"/>
              </a:ext>
            </a:extLst>
          </p:cNvPr>
          <p:cNvSpPr txBox="1"/>
          <p:nvPr/>
        </p:nvSpPr>
        <p:spPr>
          <a:xfrm rot="2431060">
            <a:off x="5238863" y="4623063"/>
            <a:ext cx="1988191" cy="461665"/>
          </a:xfrm>
          <a:prstGeom prst="rect">
            <a:avLst/>
          </a:prstGeom>
          <a:noFill/>
        </p:spPr>
        <p:txBody>
          <a:bodyPr wrap="square" rtlCol="0">
            <a:spAutoFit/>
          </a:bodyPr>
          <a:lstStyle/>
          <a:p>
            <a:pPr/>
            <a:r>
              <a:rPr lang="en-US" sz="2400" dirty="0">
                <a:solidFill>
                  <a:srgbClr val="007440"/>
                </a:solidFill>
                <a:latin typeface="Chalkduster" panose="03050602040202020205" pitchFamily="66" charset="77"/>
              </a:rPr>
              <a:t>Discuss!</a:t>
            </a:r>
          </a:p>
        </p:txBody>
      </p:sp>
    </p:spTree>
    <p:extLst>
      <p:ext uri="{BB962C8B-B14F-4D97-AF65-F5344CB8AC3E}">
        <p14:creationId xmlns:p14="http://schemas.microsoft.com/office/powerpoint/2010/main" val="1629090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dissolve">
                                      <p:cBhvr>
                                        <p:cTn id="1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85DFF-5DF9-D705-9EA8-88032D8CDC93}"/>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0C53B8C4-4110-F821-F5F7-38E4A36331E6}"/>
              </a:ext>
            </a:extLst>
          </p:cNvPr>
          <p:cNvPicPr>
            <a:picLocks noChangeAspect="1"/>
          </p:cNvPicPr>
          <p:nvPr/>
        </p:nvPicPr>
        <p:blipFill>
          <a:blip r:embed="rId3"/>
          <a:stretch>
            <a:fillRect/>
          </a:stretch>
        </p:blipFill>
        <p:spPr>
          <a:xfrm>
            <a:off x="1" y="2114265"/>
            <a:ext cx="3674188" cy="4193770"/>
          </a:xfrm>
          <a:prstGeom prst="rect">
            <a:avLst/>
          </a:prstGeom>
        </p:spPr>
      </p:pic>
      <p:sp>
        <p:nvSpPr>
          <p:cNvPr id="49" name="Rectangle 48">
            <a:extLst>
              <a:ext uri="{FF2B5EF4-FFF2-40B4-BE49-F238E27FC236}">
                <a16:creationId xmlns:a16="http://schemas.microsoft.com/office/drawing/2014/main" id="{84094890-18A6-92D0-75AE-5A8E1C9A810D}"/>
              </a:ext>
            </a:extLst>
          </p:cNvPr>
          <p:cNvSpPr/>
          <p:nvPr/>
        </p:nvSpPr>
        <p:spPr>
          <a:xfrm>
            <a:off x="0" y="861392"/>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CC67F8-E5C9-163B-91D3-4919B39E81FB}"/>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6.3</a:t>
            </a:r>
            <a:r>
              <a:rPr lang="en-US" dirty="0">
                <a:solidFill/>
                <a:ea typeface="Calibri" charset="0"/>
                <a:cs typeface="Calibri" charset="0"/>
              </a:rPr>
              <a:t> Gravitation Potential Energy</a:t>
            </a:r>
            <a:endParaRPr lang="en-US" sz="3000" dirty="0"/>
          </a:p>
        </p:txBody>
      </p:sp>
      <p:sp>
        <p:nvSpPr>
          <p:cNvPr id="5" name="Content Placeholder 2">
            <a:extLst>
              <a:ext uri="{FF2B5EF4-FFF2-40B4-BE49-F238E27FC236}">
                <a16:creationId xmlns:a16="http://schemas.microsoft.com/office/drawing/2014/main" id="{8703F238-4304-F7A4-0C94-457FC7874C12}"/>
              </a:ext>
            </a:extLst>
          </p:cNvPr>
          <p:cNvSpPr txBox="1">
            <a:spLocks/>
          </p:cNvSpPr>
          <p:nvPr/>
        </p:nvSpPr>
        <p:spPr>
          <a:xfrm>
            <a:off x="959715" y="875571"/>
            <a:ext cx="10820401" cy="542409"/>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6.3 </a:t>
            </a:r>
            <a:r>
              <a:rPr lang="en-US" dirty="0">
                <a:solidFill/>
              </a:rPr>
              <a:t>– Use gravitational potential energy.</a:t>
            </a:r>
          </a:p>
        </p:txBody>
      </p:sp>
      <p:sp>
        <p:nvSpPr>
          <p:cNvPr id="6" name="TextBox 5">
            <a:extLst>
              <a:ext uri="{FF2B5EF4-FFF2-40B4-BE49-F238E27FC236}">
                <a16:creationId xmlns:a16="http://schemas.microsoft.com/office/drawing/2014/main" id="{BF6C04E2-9A42-578F-AC89-601798030EB0}"/>
              </a:ext>
            </a:extLst>
          </p:cNvPr>
          <p:cNvSpPr txBox="1"/>
          <p:nvPr/>
        </p:nvSpPr>
        <p:spPr>
          <a:xfrm>
            <a:off x="927652" y="1551369"/>
            <a:ext cx="6096000" cy="461665"/>
          </a:xfrm>
          <a:prstGeom prst="rect">
            <a:avLst/>
          </a:prstGeom>
          <a:noFill/>
        </p:spPr>
        <p:txBody>
          <a:bodyPr wrap="square">
            <a:spAutoFit/>
          </a:bodyPr>
          <a:lstStyle/>
          <a:p>
            <a:pPr/>
            <a:r>
              <a:rPr lang="en-US" sz="2400" dirty="0">
                <a:solidFill>
                  <a:srgbClr val="C00000"/>
                </a:solidFill>
                <a:latin typeface="Times" pitchFamily="2" charset="0"/>
              </a:rPr>
              <a:t>Work Done by the Force of Gravity</a:t>
            </a:r>
          </a:p>
        </p:txBody>
      </p:sp>
      <p:sp>
        <p:nvSpPr>
          <p:cNvPr id="7" name="TextBox 6">
            <a:extLst>
              <a:ext uri="{FF2B5EF4-FFF2-40B4-BE49-F238E27FC236}">
                <a16:creationId xmlns:a16="http://schemas.microsoft.com/office/drawing/2014/main" id="{32E539B1-863C-DA48-CEED-58F77DAE6467}"/>
              </a:ext>
            </a:extLst>
          </p:cNvPr>
          <p:cNvSpPr txBox="1"/>
          <p:nvPr/>
        </p:nvSpPr>
        <p:spPr>
          <a:xfrm>
            <a:off x="3511828" y="2080591"/>
            <a:ext cx="8428382" cy="830997"/>
          </a:xfrm>
          <a:prstGeom prst="rect">
            <a:avLst/>
          </a:prstGeom>
          <a:noFill/>
        </p:spPr>
        <p:txBody>
          <a:bodyPr wrap="square" rtlCol="0">
            <a:spAutoFit/>
          </a:bodyPr>
          <a:lstStyle/>
          <a:p>
            <a:pPr/>
            <a:r>
              <a:rPr lang="en-US" sz="2400" dirty="0">
                <a:solidFill/>
                <a:latin typeface="Times" pitchFamily="2" charset="0"/>
              </a:rPr>
              <a:t>Take an object – say a basketball – and let’s drop it near the surface of the earth.</a:t>
            </a:r>
          </a:p>
        </p:txBody>
      </p:sp>
      <p:sp>
        <p:nvSpPr>
          <p:cNvPr id="20" name="TextBox 19">
            <a:extLst>
              <a:ext uri="{FF2B5EF4-FFF2-40B4-BE49-F238E27FC236}">
                <a16:creationId xmlns:a16="http://schemas.microsoft.com/office/drawing/2014/main" id="{6E4F7A1B-D75F-1367-B2C1-E8FBF125E927}"/>
              </a:ext>
            </a:extLst>
          </p:cNvPr>
          <p:cNvSpPr txBox="1"/>
          <p:nvPr/>
        </p:nvSpPr>
        <p:spPr>
          <a:xfrm>
            <a:off x="3531707" y="2922104"/>
            <a:ext cx="8428382" cy="830997"/>
          </a:xfrm>
          <a:prstGeom prst="rect">
            <a:avLst/>
          </a:prstGeom>
          <a:noFill/>
        </p:spPr>
        <p:txBody>
          <a:bodyPr wrap="square" rtlCol="0">
            <a:spAutoFit/>
          </a:bodyPr>
          <a:lstStyle/>
          <a:p>
            <a:pPr/>
            <a:r>
              <a:rPr lang="en-US" sz="2400" dirty="0">
                <a:solidFill/>
                <a:latin typeface="Times" pitchFamily="2" charset="0"/>
              </a:rPr>
              <a:t>The force on the ball – its weight due to gravity – accelerates it downward toward the earth.  </a:t>
            </a:r>
          </a:p>
        </p:txBody>
      </p:sp>
      <p:sp>
        <p:nvSpPr>
          <p:cNvPr id="22" name="TextBox 21">
            <a:extLst>
              <a:ext uri="{FF2B5EF4-FFF2-40B4-BE49-F238E27FC236}">
                <a16:creationId xmlns:a16="http://schemas.microsoft.com/office/drawing/2014/main" id="{05CC458F-DDED-F7E1-333A-53B018085106}"/>
              </a:ext>
            </a:extLst>
          </p:cNvPr>
          <p:cNvSpPr txBox="1"/>
          <p:nvPr/>
        </p:nvSpPr>
        <p:spPr>
          <a:xfrm>
            <a:off x="3538333" y="3829878"/>
            <a:ext cx="8428382" cy="1200329"/>
          </a:xfrm>
          <a:prstGeom prst="rect">
            <a:avLst/>
          </a:prstGeom>
          <a:noFill/>
        </p:spPr>
        <p:txBody>
          <a:bodyPr wrap="square" rtlCol="0">
            <a:spAutoFit/>
          </a:bodyPr>
          <a:lstStyle/>
          <a:p>
            <a:pPr/>
            <a:r>
              <a:rPr lang="en-US" sz="2400" dirty="0">
                <a:solidFill/>
                <a:latin typeface="Times" pitchFamily="2" charset="0"/>
              </a:rPr>
              <a:t>An interesting question to ask is the following:  </a:t>
            </a:r>
            <a:r>
              <a:rPr lang="en-US" sz="2400" i="1" dirty="0">
                <a:solidFill/>
                <a:latin typeface="Times" pitchFamily="2" charset="0"/>
              </a:rPr>
              <a:t>How much work did gravity do in moving the ball from its initial position (height), h</a:t>
            </a:r>
            <a:r>
              <a:rPr lang="en-US" sz="2400" baseline="-25000" dirty="0">
                <a:solidFill/>
                <a:latin typeface="Times" pitchFamily="2" charset="0"/>
              </a:rPr>
              <a:t>0</a:t>
            </a:r>
            <a:r>
              <a:rPr lang="en-US" sz="2400" i="1" dirty="0">
                <a:solidFill/>
                <a:latin typeface="Times" pitchFamily="2" charset="0"/>
              </a:rPr>
              <a:t>, to its final position (height), h</a:t>
            </a:r>
            <a:r>
              <a:rPr lang="en-US" sz="2400" baseline="-25000" dirty="0">
                <a:solidFill/>
                <a:latin typeface="Times" pitchFamily="2" charset="0"/>
              </a:rPr>
              <a:t>f</a:t>
            </a:r>
            <a:r>
              <a:rPr lang="en-US" sz="2400" dirty="0">
                <a:solidFill/>
                <a:latin typeface="Times" pitchFamily="2" charset="0"/>
              </a:rPr>
              <a:t>?</a:t>
            </a:r>
          </a:p>
        </p:txBody>
      </p:sp>
      <p:sp>
        <p:nvSpPr>
          <p:cNvPr id="24" name="TextBox 23">
            <a:extLst>
              <a:ext uri="{FF2B5EF4-FFF2-40B4-BE49-F238E27FC236}">
                <a16:creationId xmlns:a16="http://schemas.microsoft.com/office/drawing/2014/main" id="{FBBE360B-AF33-2647-47D0-832ECD58D6D0}"/>
              </a:ext>
            </a:extLst>
          </p:cNvPr>
          <p:cNvSpPr txBox="1"/>
          <p:nvPr/>
        </p:nvSpPr>
        <p:spPr>
          <a:xfrm>
            <a:off x="3863011" y="5042452"/>
            <a:ext cx="8428382" cy="461665"/>
          </a:xfrm>
          <a:prstGeom prst="rect">
            <a:avLst/>
          </a:prstGeom>
          <a:noFill/>
        </p:spPr>
        <p:txBody>
          <a:bodyPr wrap="square" rtlCol="0">
            <a:spAutoFit/>
          </a:bodyPr>
          <a:lstStyle/>
          <a:p>
            <a:pPr/>
            <a:r>
              <a:rPr lang="en-US" sz="2400" dirty="0">
                <a:solidFill/>
                <a:latin typeface="Times" pitchFamily="2" charset="0"/>
              </a:rPr>
              <a:t>We can use Equation 6.1 to calculate the work:  </a:t>
            </a:r>
          </a:p>
        </p:txBody>
      </p:sp>
      <p:sp>
        <p:nvSpPr>
          <p:cNvPr id="29" name="TextBox 28">
            <a:extLst>
              <a:ext uri="{FF2B5EF4-FFF2-40B4-BE49-F238E27FC236}">
                <a16:creationId xmlns:a16="http://schemas.microsoft.com/office/drawing/2014/main" id="{80D8DAF1-F3F7-67A8-DB2E-0D4ED520DBCB}"/>
              </a:ext>
            </a:extLst>
          </p:cNvPr>
          <p:cNvSpPr txBox="1"/>
          <p:nvPr/>
        </p:nvSpPr>
        <p:spPr>
          <a:xfrm>
            <a:off x="9713843" y="5062330"/>
            <a:ext cx="2239617" cy="461665"/>
          </a:xfrm>
          <a:prstGeom prst="rect">
            <a:avLst/>
          </a:prstGeom>
          <a:noFill/>
        </p:spPr>
        <p:txBody>
          <a:bodyPr wrap="square" rtlCol="0">
            <a:spAutoFit/>
          </a:bodyPr>
          <a:lstStyle/>
          <a:p>
            <a:pPr/>
            <a:r>
              <a:rPr lang="en-US" sz="2400" i="1" dirty="0">
                <a:solidFill/>
                <a:latin typeface="Times" pitchFamily="2" charset="0"/>
              </a:rPr>
              <a:t>W</a:t>
            </a:r>
            <a:r>
              <a:rPr lang="en-US" sz="2400" dirty="0">
                <a:solidFill/>
                <a:latin typeface="Times" pitchFamily="2" charset="0"/>
              </a:rPr>
              <a:t> = (</a:t>
            </a:r>
            <a:r>
              <a:rPr lang="en-US" sz="2400" i="1" dirty="0" err="1">
                <a:solidFill/>
                <a:latin typeface="Times" pitchFamily="2" charset="0"/>
              </a:rPr>
              <a:t>F</a:t>
            </a:r>
            <a:r>
              <a:rPr lang="en-US" sz="2400" dirty="0" err="1">
                <a:solidFill/>
                <a:latin typeface="Times" pitchFamily="2" charset="0"/>
              </a:rPr>
              <a:t>cos</a:t>
            </a:r>
            <a:r>
              <a:rPr lang="en-US" sz="2400" i="1" dirty="0" err="1">
                <a:solidFill/>
                <a:latin typeface="Symbol" pitchFamily="2" charset="2"/>
              </a:rPr>
              <a:t>q</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a:t>
            </a:r>
          </a:p>
        </p:txBody>
      </p:sp>
      <p:sp>
        <p:nvSpPr>
          <p:cNvPr id="32" name="TextBox 31">
            <a:extLst>
              <a:ext uri="{FF2B5EF4-FFF2-40B4-BE49-F238E27FC236}">
                <a16:creationId xmlns:a16="http://schemas.microsoft.com/office/drawing/2014/main" id="{0191C2D3-1242-C8CB-F29E-C9944A667833}"/>
              </a:ext>
            </a:extLst>
          </p:cNvPr>
          <p:cNvSpPr txBox="1"/>
          <p:nvPr/>
        </p:nvSpPr>
        <p:spPr>
          <a:xfrm>
            <a:off x="3909394" y="5618921"/>
            <a:ext cx="8428382" cy="830997"/>
          </a:xfrm>
          <a:prstGeom prst="rect">
            <a:avLst/>
          </a:prstGeom>
          <a:noFill/>
        </p:spPr>
        <p:txBody>
          <a:bodyPr wrap="square" rtlCol="0">
            <a:spAutoFit/>
          </a:bodyPr>
          <a:lstStyle/>
          <a:p>
            <a:pPr/>
            <a:r>
              <a:rPr lang="en-US" sz="2400" dirty="0">
                <a:solidFill/>
                <a:latin typeface="Times" pitchFamily="2" charset="0"/>
              </a:rPr>
              <a:t>The force </a:t>
            </a:r>
            <a:r>
              <a:rPr lang="en-US" sz="2400" i="1" dirty="0">
                <a:solidFill/>
                <a:latin typeface="Times" pitchFamily="2" charset="0"/>
              </a:rPr>
              <a:t>F</a:t>
            </a:r>
            <a:r>
              <a:rPr lang="en-US" sz="2400" dirty="0">
                <a:solidFill/>
                <a:latin typeface="Times" pitchFamily="2" charset="0"/>
              </a:rPr>
              <a:t> is just the weight (</a:t>
            </a:r>
            <a:r>
              <a:rPr lang="en-US" sz="2400" i="1" dirty="0">
                <a:solidFill/>
                <a:latin typeface="Times" pitchFamily="2" charset="0"/>
              </a:rPr>
              <a:t>mg</a:t>
            </a:r>
            <a:r>
              <a:rPr lang="en-US" sz="2400" dirty="0">
                <a:solidFill/>
                <a:latin typeface="Times" pitchFamily="2" charset="0"/>
              </a:rPr>
              <a:t>), and since it is directed along the displacement [</a:t>
            </a:r>
            <a:r>
              <a:rPr lang="en-US" sz="2400" i="1" dirty="0">
                <a:solidFill/>
                <a:latin typeface="Times" pitchFamily="2" charset="0"/>
              </a:rPr>
              <a:t>s</a:t>
            </a:r>
            <a:r>
              <a:rPr lang="en-US" sz="2400" dirty="0">
                <a:solidFill/>
                <a:latin typeface="Times" pitchFamily="2" charset="0"/>
              </a:rPr>
              <a:t> = (</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 – </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 </a:t>
            </a:r>
            <a:r>
              <a:rPr lang="en-US" sz="2400" i="1" dirty="0">
                <a:solidFill/>
                <a:latin typeface="Symbol" pitchFamily="2" charset="2"/>
              </a:rPr>
              <a:t>q</a:t>
            </a:r>
            <a:r>
              <a:rPr lang="en-US" sz="2400" dirty="0">
                <a:solidFill/>
                <a:latin typeface="Times" pitchFamily="2" charset="0"/>
              </a:rPr>
              <a:t> = 0</a:t>
            </a:r>
            <a:r>
              <a:rPr lang="en-US" sz="2400" baseline="30000" dirty="0">
                <a:solidFill/>
                <a:latin typeface="Times" pitchFamily="2" charset="0"/>
              </a:rPr>
              <a:t>o</a:t>
            </a:r>
            <a:r>
              <a:rPr lang="en-US" sz="2400" dirty="0">
                <a:solidFill/>
                <a:latin typeface="Times" pitchFamily="2" charset="0"/>
              </a:rPr>
              <a:t>.</a:t>
            </a:r>
          </a:p>
        </p:txBody>
      </p:sp>
    </p:spTree>
    <p:extLst>
      <p:ext uri="{BB962C8B-B14F-4D97-AF65-F5344CB8AC3E}">
        <p14:creationId xmlns:p14="http://schemas.microsoft.com/office/powerpoint/2010/main" val="573652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dissolve">
                                      <p:cBhvr>
                                        <p:cTn id="11" dur="500"/>
                                        <p:tgtEl>
                                          <p:spTgt spid="19"/>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dissolve">
                                      <p:cBhvr>
                                        <p:cTn id="16" dur="5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dissolve">
                                      <p:cBhvr>
                                        <p:cTn id="21"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dissolve">
                                      <p:cBhvr>
                                        <p:cTn id="26" dur="500"/>
                                        <p:tgtEl>
                                          <p:spTgt spid="24"/>
                                        </p:tgtEl>
                                      </p:cBhvr>
                                    </p:animEffect>
                                  </p:childTnLst>
                                </p:cTn>
                              </p:par>
                            </p:childTnLst>
                          </p:cTn>
                        </p:par>
                        <p:par>
                          <p:cTn id="27" fill="hold">
                            <p:stCondLst>
                              <p:cond delay="500"/>
                            </p:stCondLst>
                            <p:childTnLst>
                              <p:par>
                                <p:cTn id="28" presetID="9" presetClass="entr" presetSubtype="0" fill="hold" grpId="0" nodeType="after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dissolve">
                                      <p:cBhvr>
                                        <p:cTn id="30" dur="5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dissolve">
                                      <p:cBhvr>
                                        <p:cTn id="3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p:bldP spid="22" grpId="0"/>
      <p:bldP spid="24" grpId="0"/>
      <p:bldP spid="29" grpId="0"/>
      <p:bldP spid="3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CE3A2-5005-25C7-0D21-D71A34891A6B}"/>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3B21CCF1-7688-2F94-37D4-5176C28C612B}"/>
              </a:ext>
            </a:extLst>
          </p:cNvPr>
          <p:cNvPicPr>
            <a:picLocks noChangeAspect="1"/>
          </p:cNvPicPr>
          <p:nvPr/>
        </p:nvPicPr>
        <p:blipFill>
          <a:blip r:embed="rId3"/>
          <a:stretch>
            <a:fillRect/>
          </a:stretch>
        </p:blipFill>
        <p:spPr>
          <a:xfrm>
            <a:off x="0" y="1213118"/>
            <a:ext cx="3674188" cy="4193770"/>
          </a:xfrm>
          <a:prstGeom prst="rect">
            <a:avLst/>
          </a:prstGeom>
        </p:spPr>
      </p:pic>
      <p:sp>
        <p:nvSpPr>
          <p:cNvPr id="2" name="Title 1">
            <a:extLst>
              <a:ext uri="{FF2B5EF4-FFF2-40B4-BE49-F238E27FC236}">
                <a16:creationId xmlns:a16="http://schemas.microsoft.com/office/drawing/2014/main" id="{926DF3D0-9C9C-ED2E-875A-6C17522F0EDC}"/>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6.3</a:t>
            </a:r>
            <a:r>
              <a:rPr lang="en-US" dirty="0">
                <a:solidFill/>
                <a:ea typeface="Calibri" charset="0"/>
                <a:cs typeface="Calibri" charset="0"/>
              </a:rPr>
              <a:t> Gravitation Potential Energy</a:t>
            </a:r>
            <a:endParaRPr lang="en-US" sz="3000" dirty="0"/>
          </a:p>
        </p:txBody>
      </p:sp>
      <p:sp>
        <p:nvSpPr>
          <p:cNvPr id="6" name="TextBox 5">
            <a:extLst>
              <a:ext uri="{FF2B5EF4-FFF2-40B4-BE49-F238E27FC236}">
                <a16:creationId xmlns:a16="http://schemas.microsoft.com/office/drawing/2014/main" id="{8796E981-1A91-ADDB-E2E7-BD6FF52D0413}"/>
              </a:ext>
            </a:extLst>
          </p:cNvPr>
          <p:cNvSpPr txBox="1"/>
          <p:nvPr/>
        </p:nvSpPr>
        <p:spPr>
          <a:xfrm>
            <a:off x="940905" y="769491"/>
            <a:ext cx="6096000" cy="461665"/>
          </a:xfrm>
          <a:prstGeom prst="rect">
            <a:avLst/>
          </a:prstGeom>
          <a:noFill/>
        </p:spPr>
        <p:txBody>
          <a:bodyPr wrap="square">
            <a:spAutoFit/>
          </a:bodyPr>
          <a:lstStyle/>
          <a:p>
            <a:pPr/>
            <a:r>
              <a:rPr lang="en-US" sz="2400" dirty="0">
                <a:solidFill>
                  <a:srgbClr val="C00000"/>
                </a:solidFill>
                <a:latin typeface="Times" pitchFamily="2" charset="0"/>
              </a:rPr>
              <a:t>Work Done by the Force of Gravity</a:t>
            </a:r>
          </a:p>
        </p:txBody>
      </p:sp>
      <p:grpSp>
        <p:nvGrpSpPr>
          <p:cNvPr id="8" name="Group 7">
            <a:extLst>
              <a:ext uri="{FF2B5EF4-FFF2-40B4-BE49-F238E27FC236}">
                <a16:creationId xmlns:a16="http://schemas.microsoft.com/office/drawing/2014/main" id="{81120A8F-B98D-6F49-C67D-3DD0736258DA}"/>
              </a:ext>
            </a:extLst>
          </p:cNvPr>
          <p:cNvGrpSpPr/>
          <p:nvPr/>
        </p:nvGrpSpPr>
        <p:grpSpPr>
          <a:xfrm>
            <a:off x="5234611" y="1245704"/>
            <a:ext cx="8428382" cy="556592"/>
            <a:chOff x="5234611" y="1245704"/>
            <a:chExt cx="8428382" cy="556592"/>
          </a:xfrm>
        </p:grpSpPr>
        <p:sp>
          <p:nvSpPr>
            <p:cNvPr id="3" name="Rounded Rectangle 2">
              <a:extLst>
                <a:ext uri="{FF2B5EF4-FFF2-40B4-BE49-F238E27FC236}">
                  <a16:creationId xmlns:a16="http://schemas.microsoft.com/office/drawing/2014/main" id="{5CD21874-BCFD-EC8B-C76B-B5DC836B5725}"/>
                </a:ext>
              </a:extLst>
            </p:cNvPr>
            <p:cNvSpPr/>
            <p:nvPr/>
          </p:nvSpPr>
          <p:spPr>
            <a:xfrm>
              <a:off x="6056243" y="1245704"/>
              <a:ext cx="2646431" cy="5565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22CA48B-5D80-9F36-B7C1-5AF9017574C1}"/>
                </a:ext>
              </a:extLst>
            </p:cNvPr>
            <p:cNvSpPr txBox="1"/>
            <p:nvPr/>
          </p:nvSpPr>
          <p:spPr>
            <a:xfrm>
              <a:off x="5234611" y="1298712"/>
              <a:ext cx="8428382" cy="461665"/>
            </a:xfrm>
            <a:prstGeom prst="rect">
              <a:avLst/>
            </a:prstGeom>
            <a:noFill/>
          </p:spPr>
          <p:txBody>
            <a:bodyPr wrap="square" rtlCol="0">
              <a:spAutoFit/>
            </a:bodyPr>
            <a:lstStyle/>
            <a:p>
              <a:pPr/>
              <a:r>
                <a:rPr lang="en-US" sz="2400" dirty="0">
                  <a:solidFill/>
                  <a:latin typeface="Times" pitchFamily="2" charset="0"/>
                </a:rPr>
                <a:t>Thus,                                    .</a:t>
              </a:r>
            </a:p>
          </p:txBody>
        </p:sp>
      </p:grpSp>
      <p:sp>
        <p:nvSpPr>
          <p:cNvPr id="4" name="TextBox 3">
            <a:extLst>
              <a:ext uri="{FF2B5EF4-FFF2-40B4-BE49-F238E27FC236}">
                <a16:creationId xmlns:a16="http://schemas.microsoft.com/office/drawing/2014/main" id="{D8077E27-6B58-9F29-D3D3-FA30218D8FC8}"/>
              </a:ext>
            </a:extLst>
          </p:cNvPr>
          <p:cNvSpPr txBox="1"/>
          <p:nvPr/>
        </p:nvSpPr>
        <p:spPr>
          <a:xfrm>
            <a:off x="6008509" y="1296253"/>
            <a:ext cx="2931137" cy="461665"/>
          </a:xfrm>
          <a:prstGeom prst="rect">
            <a:avLst/>
          </a:prstGeom>
          <a:noFill/>
        </p:spPr>
        <p:txBody>
          <a:bodyPr wrap="square" rtlCol="0">
            <a:spAutoFit/>
          </a:bodyPr>
          <a:lstStyle/>
          <a:p>
            <a:pPr/>
            <a:r>
              <a:rPr lang="en-US" sz="2400" i="1" dirty="0" err="1">
                <a:solidFill/>
                <a:latin typeface="Times" pitchFamily="2" charset="0"/>
              </a:rPr>
              <a:t>W</a:t>
            </a:r>
            <a:r>
              <a:rPr lang="en-US" sz="2400" baseline="-25000" dirty="0" err="1">
                <a:solidFill/>
                <a:latin typeface="Times" pitchFamily="2" charset="0"/>
              </a:rPr>
              <a:t>Gravity</a:t>
            </a:r>
            <a:r>
              <a:rPr lang="en-US" sz="2400" dirty="0">
                <a:solidFill/>
                <a:latin typeface="Times" pitchFamily="2" charset="0"/>
              </a:rPr>
              <a:t> = </a:t>
            </a:r>
            <a:r>
              <a:rPr lang="en-US" sz="2400" i="1" dirty="0">
                <a:solidFill/>
                <a:latin typeface="Times" pitchFamily="2" charset="0"/>
              </a:rPr>
              <a:t>mg</a:t>
            </a:r>
            <a:r>
              <a:rPr lang="en-US" sz="2400" dirty="0">
                <a:solidFill/>
                <a:latin typeface="Times" pitchFamily="2" charset="0"/>
              </a:rPr>
              <a:t>(</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 – </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a:t>
            </a:r>
          </a:p>
        </p:txBody>
      </p:sp>
      <p:sp>
        <p:nvSpPr>
          <p:cNvPr id="9" name="TextBox 8">
            <a:extLst>
              <a:ext uri="{FF2B5EF4-FFF2-40B4-BE49-F238E27FC236}">
                <a16:creationId xmlns:a16="http://schemas.microsoft.com/office/drawing/2014/main" id="{87F50D0B-44E7-83EC-C2C2-75D29DA7B366}"/>
              </a:ext>
            </a:extLst>
          </p:cNvPr>
          <p:cNvSpPr txBox="1"/>
          <p:nvPr/>
        </p:nvSpPr>
        <p:spPr>
          <a:xfrm>
            <a:off x="3939211" y="2022612"/>
            <a:ext cx="8428382" cy="830997"/>
          </a:xfrm>
          <a:prstGeom prst="rect">
            <a:avLst/>
          </a:prstGeom>
          <a:noFill/>
        </p:spPr>
        <p:txBody>
          <a:bodyPr wrap="square" rtlCol="0">
            <a:spAutoFit/>
          </a:bodyPr>
          <a:lstStyle/>
          <a:p>
            <a:pPr/>
            <a:r>
              <a:rPr lang="en-US" sz="2400" dirty="0">
                <a:solidFill/>
                <a:latin typeface="Times" pitchFamily="2" charset="0"/>
              </a:rPr>
              <a:t>*Note:  If the ball is falling downward, then </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 &gt; </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 which means that </a:t>
            </a:r>
            <a:r>
              <a:rPr lang="en-US" sz="2400" i="1" dirty="0" err="1">
                <a:solidFill/>
                <a:latin typeface="Times" pitchFamily="2" charset="0"/>
              </a:rPr>
              <a:t>W</a:t>
            </a:r>
            <a:r>
              <a:rPr lang="en-US" sz="2400" baseline="-25000" dirty="0" err="1">
                <a:solidFill/>
                <a:latin typeface="Times" pitchFamily="2" charset="0"/>
              </a:rPr>
              <a:t>Gravity</a:t>
            </a:r>
            <a:r>
              <a:rPr lang="en-US" sz="2400" dirty="0">
                <a:solidFill/>
                <a:latin typeface="Times" pitchFamily="2" charset="0"/>
              </a:rPr>
              <a:t> is positive, and the ball speeds up!</a:t>
            </a:r>
          </a:p>
        </p:txBody>
      </p:sp>
      <p:sp>
        <p:nvSpPr>
          <p:cNvPr id="10" name="TextBox 9">
            <a:extLst>
              <a:ext uri="{FF2B5EF4-FFF2-40B4-BE49-F238E27FC236}">
                <a16:creationId xmlns:a16="http://schemas.microsoft.com/office/drawing/2014/main" id="{4FCB3974-3BFE-68C4-FB12-39405ABB2778}"/>
              </a:ext>
            </a:extLst>
          </p:cNvPr>
          <p:cNvSpPr txBox="1"/>
          <p:nvPr/>
        </p:nvSpPr>
        <p:spPr>
          <a:xfrm>
            <a:off x="3926511" y="3114812"/>
            <a:ext cx="8428382" cy="830997"/>
          </a:xfrm>
          <a:prstGeom prst="rect">
            <a:avLst/>
          </a:prstGeom>
          <a:noFill/>
        </p:spPr>
        <p:txBody>
          <a:bodyPr wrap="square" rtlCol="0">
            <a:spAutoFit/>
          </a:bodyPr>
          <a:lstStyle/>
          <a:p>
            <a:pPr/>
            <a:r>
              <a:rPr lang="en-US" sz="2400" dirty="0">
                <a:solidFill/>
                <a:latin typeface="Times" pitchFamily="2" charset="0"/>
              </a:rPr>
              <a:t>If the ball is rising upward, then </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 &lt; </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 which means that </a:t>
            </a:r>
            <a:r>
              <a:rPr lang="en-US" sz="2400" i="1" dirty="0" err="1">
                <a:solidFill/>
                <a:latin typeface="Times" pitchFamily="2" charset="0"/>
              </a:rPr>
              <a:t>W</a:t>
            </a:r>
            <a:r>
              <a:rPr lang="en-US" sz="2400" baseline="-25000" dirty="0" err="1">
                <a:solidFill/>
                <a:latin typeface="Times" pitchFamily="2" charset="0"/>
              </a:rPr>
              <a:t>Gravity</a:t>
            </a:r>
            <a:r>
              <a:rPr lang="en-US" sz="2400" dirty="0">
                <a:solidFill/>
                <a:latin typeface="Times" pitchFamily="2" charset="0"/>
              </a:rPr>
              <a:t> is negative, and the ball slows down!</a:t>
            </a:r>
          </a:p>
        </p:txBody>
      </p:sp>
      <p:sp>
        <p:nvSpPr>
          <p:cNvPr id="11" name="TextBox 10">
            <a:extLst>
              <a:ext uri="{FF2B5EF4-FFF2-40B4-BE49-F238E27FC236}">
                <a16:creationId xmlns:a16="http://schemas.microsoft.com/office/drawing/2014/main" id="{4C49F551-32AC-918C-8A46-72418258C8A9}"/>
              </a:ext>
            </a:extLst>
          </p:cNvPr>
          <p:cNvSpPr txBox="1"/>
          <p:nvPr/>
        </p:nvSpPr>
        <p:spPr>
          <a:xfrm>
            <a:off x="5425111" y="4041912"/>
            <a:ext cx="4277689" cy="461665"/>
          </a:xfrm>
          <a:prstGeom prst="rect">
            <a:avLst/>
          </a:prstGeom>
          <a:noFill/>
        </p:spPr>
        <p:txBody>
          <a:bodyPr wrap="square" rtlCol="0">
            <a:spAutoFit/>
          </a:bodyPr>
          <a:lstStyle/>
          <a:p>
            <a:pPr/>
            <a:r>
              <a:rPr lang="en-US" sz="2400" dirty="0">
                <a:solidFill/>
                <a:latin typeface="Times" pitchFamily="2" charset="0"/>
              </a:rPr>
              <a:t>We know this from experience!</a:t>
            </a:r>
          </a:p>
        </p:txBody>
      </p:sp>
      <p:sp>
        <p:nvSpPr>
          <p:cNvPr id="12" name="TextBox 11">
            <a:extLst>
              <a:ext uri="{FF2B5EF4-FFF2-40B4-BE49-F238E27FC236}">
                <a16:creationId xmlns:a16="http://schemas.microsoft.com/office/drawing/2014/main" id="{2DB0A248-459E-1B3B-1F7C-87401EA2C952}"/>
              </a:ext>
            </a:extLst>
          </p:cNvPr>
          <p:cNvSpPr txBox="1"/>
          <p:nvPr/>
        </p:nvSpPr>
        <p:spPr>
          <a:xfrm>
            <a:off x="9341129" y="1305338"/>
            <a:ext cx="1048576" cy="461665"/>
          </a:xfrm>
          <a:prstGeom prst="rect">
            <a:avLst/>
          </a:prstGeom>
          <a:noFill/>
        </p:spPr>
        <p:txBody>
          <a:bodyPr wrap="square" rtlCol="0">
            <a:spAutoFit/>
          </a:bodyPr>
          <a:lstStyle/>
          <a:p>
            <a:pPr/>
            <a:r>
              <a:rPr lang="en-US" sz="2400" dirty="0">
                <a:solidFill/>
                <a:latin typeface="Times" pitchFamily="2" charset="0"/>
              </a:rPr>
              <a:t>(</a:t>
            </a:r>
            <a:r>
              <a:rPr lang="en-US" sz="2400" b="1" dirty="0">
                <a:solidFill/>
                <a:latin typeface="Times" pitchFamily="2" charset="0"/>
              </a:rPr>
              <a:t>6.4</a:t>
            </a:r>
            <a:r>
              <a:rPr lang="en-US" sz="2400" dirty="0">
                <a:solidFill/>
                <a:latin typeface="Times" pitchFamily="2" charset="0"/>
              </a:rPr>
              <a:t>)</a:t>
            </a:r>
          </a:p>
        </p:txBody>
      </p:sp>
      <p:sp>
        <p:nvSpPr>
          <p:cNvPr id="13" name="TextBox 12">
            <a:extLst>
              <a:ext uri="{FF2B5EF4-FFF2-40B4-BE49-F238E27FC236}">
                <a16:creationId xmlns:a16="http://schemas.microsoft.com/office/drawing/2014/main" id="{AA91E730-41EC-379E-91C9-4AF3559CA0C8}"/>
              </a:ext>
            </a:extLst>
          </p:cNvPr>
          <p:cNvSpPr txBox="1"/>
          <p:nvPr/>
        </p:nvSpPr>
        <p:spPr>
          <a:xfrm>
            <a:off x="3947493" y="4711146"/>
            <a:ext cx="8151742" cy="830997"/>
          </a:xfrm>
          <a:prstGeom prst="rect">
            <a:avLst/>
          </a:prstGeom>
          <a:noFill/>
        </p:spPr>
        <p:txBody>
          <a:bodyPr wrap="square" rtlCol="0">
            <a:spAutoFit/>
          </a:bodyPr>
          <a:lstStyle/>
          <a:p>
            <a:pPr/>
            <a:r>
              <a:rPr lang="en-US" sz="2400" dirty="0">
                <a:solidFill/>
                <a:latin typeface="Times" pitchFamily="2" charset="0"/>
              </a:rPr>
              <a:t>But what if the ball doesn’t fall straight downward but instead takes an arbitrary path between its initial and final positions?</a:t>
            </a:r>
          </a:p>
        </p:txBody>
      </p:sp>
      <p:sp>
        <p:nvSpPr>
          <p:cNvPr id="14" name="TextBox 13">
            <a:extLst>
              <a:ext uri="{FF2B5EF4-FFF2-40B4-BE49-F238E27FC236}">
                <a16:creationId xmlns:a16="http://schemas.microsoft.com/office/drawing/2014/main" id="{B15DA9B3-9325-4BC1-B0D8-69078BEDE1B6}"/>
              </a:ext>
            </a:extLst>
          </p:cNvPr>
          <p:cNvSpPr txBox="1"/>
          <p:nvPr/>
        </p:nvSpPr>
        <p:spPr>
          <a:xfrm>
            <a:off x="3927615" y="5605668"/>
            <a:ext cx="8151742" cy="461665"/>
          </a:xfrm>
          <a:prstGeom prst="rect">
            <a:avLst/>
          </a:prstGeom>
          <a:noFill/>
        </p:spPr>
        <p:txBody>
          <a:bodyPr wrap="square" rtlCol="0">
            <a:spAutoFit/>
          </a:bodyPr>
          <a:lstStyle/>
          <a:p>
            <a:pPr/>
            <a:r>
              <a:rPr lang="en-US" sz="2400" dirty="0">
                <a:solidFill/>
                <a:latin typeface="Times" pitchFamily="2" charset="0"/>
              </a:rPr>
              <a:t>How would we calculate the work done by gravity then?</a:t>
            </a:r>
          </a:p>
        </p:txBody>
      </p:sp>
    </p:spTree>
    <p:extLst>
      <p:ext uri="{BB962C8B-B14F-4D97-AF65-F5344CB8AC3E}">
        <p14:creationId xmlns:p14="http://schemas.microsoft.com/office/powerpoint/2010/main" val="2555143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dissolv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dissolv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dissolve">
                                      <p:cBhvr>
                                        <p:cTn id="26" dur="500"/>
                                        <p:tgtEl>
                                          <p:spTgt spid="10"/>
                                        </p:tgtEl>
                                      </p:cBhvr>
                                    </p:animEffect>
                                  </p:childTnLst>
                                </p:cTn>
                              </p:par>
                            </p:childTnLst>
                          </p:cTn>
                        </p:par>
                        <p:par>
                          <p:cTn id="27" fill="hold">
                            <p:stCondLst>
                              <p:cond delay="500"/>
                            </p:stCondLst>
                            <p:childTnLst>
                              <p:par>
                                <p:cTn id="28" presetID="9" presetClass="entr" presetSubtype="0"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dissolv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dissolv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dissolve">
                                      <p:cBhvr>
                                        <p:cTn id="4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11" grpId="0"/>
      <p:bldP spid="12" grpId="0"/>
      <p:bldP spid="13" grpId="0"/>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C7C69-CCB1-6511-0358-5AFDFDEA04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ADDA04-34CC-CD61-26A9-8F6BAEEBF949}"/>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6.3</a:t>
            </a:r>
            <a:r>
              <a:rPr lang="en-US" dirty="0">
                <a:solidFill/>
                <a:ea typeface="Calibri" charset="0"/>
                <a:cs typeface="Calibri" charset="0"/>
              </a:rPr>
              <a:t> Gravitation Potential Energy</a:t>
            </a:r>
            <a:endParaRPr lang="en-US" sz="3000" dirty="0"/>
          </a:p>
        </p:txBody>
      </p:sp>
      <p:sp>
        <p:nvSpPr>
          <p:cNvPr id="6" name="TextBox 5">
            <a:extLst>
              <a:ext uri="{FF2B5EF4-FFF2-40B4-BE49-F238E27FC236}">
                <a16:creationId xmlns:a16="http://schemas.microsoft.com/office/drawing/2014/main" id="{60703E8D-CCB1-13A9-3BBA-465AA3999743}"/>
              </a:ext>
            </a:extLst>
          </p:cNvPr>
          <p:cNvSpPr txBox="1"/>
          <p:nvPr/>
        </p:nvSpPr>
        <p:spPr>
          <a:xfrm>
            <a:off x="940905" y="769491"/>
            <a:ext cx="6096000" cy="461665"/>
          </a:xfrm>
          <a:prstGeom prst="rect">
            <a:avLst/>
          </a:prstGeom>
          <a:noFill/>
        </p:spPr>
        <p:txBody>
          <a:bodyPr wrap="square">
            <a:spAutoFit/>
          </a:bodyPr>
          <a:lstStyle/>
          <a:p>
            <a:pPr/>
            <a:r>
              <a:rPr lang="en-US" sz="2400" dirty="0">
                <a:solidFill>
                  <a:srgbClr val="C00000"/>
                </a:solidFill>
                <a:latin typeface="Times" pitchFamily="2" charset="0"/>
              </a:rPr>
              <a:t>Work Done by the Force of Gravity</a:t>
            </a:r>
          </a:p>
        </p:txBody>
      </p:sp>
      <p:sp>
        <p:nvSpPr>
          <p:cNvPr id="9" name="TextBox 8">
            <a:extLst>
              <a:ext uri="{FF2B5EF4-FFF2-40B4-BE49-F238E27FC236}">
                <a16:creationId xmlns:a16="http://schemas.microsoft.com/office/drawing/2014/main" id="{3A1D4FA6-BBDB-400F-94ED-77A964E5BF9C}"/>
              </a:ext>
            </a:extLst>
          </p:cNvPr>
          <p:cNvSpPr txBox="1"/>
          <p:nvPr/>
        </p:nvSpPr>
        <p:spPr>
          <a:xfrm>
            <a:off x="3925959" y="1373256"/>
            <a:ext cx="8428382" cy="461665"/>
          </a:xfrm>
          <a:prstGeom prst="rect">
            <a:avLst/>
          </a:prstGeom>
          <a:noFill/>
        </p:spPr>
        <p:txBody>
          <a:bodyPr wrap="square" rtlCol="0">
            <a:spAutoFit/>
          </a:bodyPr>
          <a:lstStyle/>
          <a:p>
            <a:pPr/>
            <a:r>
              <a:rPr lang="en-US" sz="2400" dirty="0">
                <a:solidFill/>
                <a:latin typeface="Times" pitchFamily="2" charset="0"/>
              </a:rPr>
              <a:t>The path on the right in the figure shows one such example.</a:t>
            </a:r>
          </a:p>
        </p:txBody>
      </p:sp>
      <p:pic>
        <p:nvPicPr>
          <p:cNvPr id="15" name="Picture 14">
            <a:extLst>
              <a:ext uri="{FF2B5EF4-FFF2-40B4-BE49-F238E27FC236}">
                <a16:creationId xmlns:a16="http://schemas.microsoft.com/office/drawing/2014/main" id="{A0FF1F23-F449-77B2-32D2-A2991D12C1BB}"/>
              </a:ext>
            </a:extLst>
          </p:cNvPr>
          <p:cNvPicPr>
            <a:picLocks noChangeAspect="1"/>
          </p:cNvPicPr>
          <p:nvPr/>
        </p:nvPicPr>
        <p:blipFill>
          <a:blip r:embed="rId3"/>
          <a:stretch>
            <a:fillRect/>
          </a:stretch>
        </p:blipFill>
        <p:spPr>
          <a:xfrm>
            <a:off x="122582" y="1374361"/>
            <a:ext cx="3173457" cy="3025362"/>
          </a:xfrm>
          <a:prstGeom prst="rect">
            <a:avLst/>
          </a:prstGeom>
        </p:spPr>
      </p:pic>
      <p:grpSp>
        <p:nvGrpSpPr>
          <p:cNvPr id="18" name="Group 17">
            <a:extLst>
              <a:ext uri="{FF2B5EF4-FFF2-40B4-BE49-F238E27FC236}">
                <a16:creationId xmlns:a16="http://schemas.microsoft.com/office/drawing/2014/main" id="{94E76E86-985F-5DA8-4430-51FF5BCED532}"/>
              </a:ext>
            </a:extLst>
          </p:cNvPr>
          <p:cNvGrpSpPr/>
          <p:nvPr/>
        </p:nvGrpSpPr>
        <p:grpSpPr>
          <a:xfrm>
            <a:off x="3038616" y="1882360"/>
            <a:ext cx="9484688" cy="461665"/>
            <a:chOff x="3038616" y="1882360"/>
            <a:chExt cx="9484688" cy="461665"/>
          </a:xfrm>
        </p:grpSpPr>
        <p:sp>
          <p:nvSpPr>
            <p:cNvPr id="16" name="Rounded Rectangle 15">
              <a:extLst>
                <a:ext uri="{FF2B5EF4-FFF2-40B4-BE49-F238E27FC236}">
                  <a16:creationId xmlns:a16="http://schemas.microsoft.com/office/drawing/2014/main" id="{2D7D28B7-30B4-A7AF-AA15-EB2F9B8A5897}"/>
                </a:ext>
              </a:extLst>
            </p:cNvPr>
            <p:cNvSpPr/>
            <p:nvPr/>
          </p:nvSpPr>
          <p:spPr>
            <a:xfrm>
              <a:off x="8878956" y="1908312"/>
              <a:ext cx="3127513" cy="42406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61EF14D-82B8-9F01-D2D8-B5FE94E93639}"/>
                </a:ext>
              </a:extLst>
            </p:cNvPr>
            <p:cNvSpPr txBox="1"/>
            <p:nvPr/>
          </p:nvSpPr>
          <p:spPr>
            <a:xfrm>
              <a:off x="3038616" y="1882360"/>
              <a:ext cx="9484688" cy="461665"/>
            </a:xfrm>
            <a:prstGeom prst="rect">
              <a:avLst/>
            </a:prstGeom>
            <a:noFill/>
          </p:spPr>
          <p:txBody>
            <a:bodyPr wrap="square" rtlCol="0">
              <a:spAutoFit/>
            </a:bodyPr>
            <a:lstStyle/>
            <a:p>
              <a:pPr/>
              <a:r>
                <a:rPr lang="en-US" sz="2400" dirty="0">
                  <a:solidFill/>
                  <a:latin typeface="Times" pitchFamily="2" charset="0"/>
                </a:rPr>
                <a:t>But gravity (the </a:t>
              </a:r>
              <a:r>
                <a:rPr lang="en-US" sz="2400" dirty="0">
                  <a:solidFill>
                    <a:srgbClr val="2326C0"/>
                  </a:solidFill>
                  <a:latin typeface="Times" pitchFamily="2" charset="0"/>
                </a:rPr>
                <a:t>weight</a:t>
              </a:r>
              <a:r>
                <a:rPr lang="en-US" sz="2400" dirty="0">
                  <a:solidFill/>
                  <a:latin typeface="Times" pitchFamily="2" charset="0"/>
                </a:rPr>
                <a:t> of the ball) always acts                                          .</a:t>
              </a:r>
            </a:p>
          </p:txBody>
        </p:sp>
      </p:grpSp>
      <p:sp>
        <p:nvSpPr>
          <p:cNvPr id="17" name="TextBox 16">
            <a:extLst>
              <a:ext uri="{FF2B5EF4-FFF2-40B4-BE49-F238E27FC236}">
                <a16:creationId xmlns:a16="http://schemas.microsoft.com/office/drawing/2014/main" id="{3D99C700-E224-4688-F64A-13783B8E0EBC}"/>
              </a:ext>
            </a:extLst>
          </p:cNvPr>
          <p:cNvSpPr txBox="1"/>
          <p:nvPr/>
        </p:nvSpPr>
        <p:spPr>
          <a:xfrm>
            <a:off x="8865705" y="1921565"/>
            <a:ext cx="3246783"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vertically downward</a:t>
            </a:r>
          </a:p>
        </p:txBody>
      </p:sp>
      <p:grpSp>
        <p:nvGrpSpPr>
          <p:cNvPr id="37" name="Group 36">
            <a:extLst>
              <a:ext uri="{FF2B5EF4-FFF2-40B4-BE49-F238E27FC236}">
                <a16:creationId xmlns:a16="http://schemas.microsoft.com/office/drawing/2014/main" id="{615BE0F0-77D5-9767-A55B-BBEC284D2A5E}"/>
              </a:ext>
            </a:extLst>
          </p:cNvPr>
          <p:cNvGrpSpPr/>
          <p:nvPr/>
        </p:nvGrpSpPr>
        <p:grpSpPr>
          <a:xfrm>
            <a:off x="1814945" y="1350039"/>
            <a:ext cx="1413163" cy="2769257"/>
            <a:chOff x="1814945" y="1350039"/>
            <a:chExt cx="1413163" cy="2769257"/>
          </a:xfrm>
        </p:grpSpPr>
        <p:sp>
          <p:nvSpPr>
            <p:cNvPr id="20" name="Oval 19">
              <a:extLst>
                <a:ext uri="{FF2B5EF4-FFF2-40B4-BE49-F238E27FC236}">
                  <a16:creationId xmlns:a16="http://schemas.microsoft.com/office/drawing/2014/main" id="{C3EACE6A-8649-F00A-DE72-5B4FD6DE22E1}"/>
                </a:ext>
              </a:extLst>
            </p:cNvPr>
            <p:cNvSpPr/>
            <p:nvPr/>
          </p:nvSpPr>
          <p:spPr>
            <a:xfrm>
              <a:off x="2918298" y="3294293"/>
              <a:ext cx="79513" cy="7951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F71444F-F417-86EE-4559-A43848FAE52D}"/>
                </a:ext>
              </a:extLst>
            </p:cNvPr>
            <p:cNvSpPr/>
            <p:nvPr/>
          </p:nvSpPr>
          <p:spPr>
            <a:xfrm>
              <a:off x="2005442" y="1931930"/>
              <a:ext cx="79513" cy="7951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4849D23-E860-45E9-0BFF-121B760018D9}"/>
                </a:ext>
              </a:extLst>
            </p:cNvPr>
            <p:cNvSpPr/>
            <p:nvPr/>
          </p:nvSpPr>
          <p:spPr>
            <a:xfrm>
              <a:off x="2407223" y="1350039"/>
              <a:ext cx="79513" cy="7951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1E71FF0-ED03-3347-0CAB-8CBAE4572C40}"/>
                </a:ext>
              </a:extLst>
            </p:cNvPr>
            <p:cNvSpPr/>
            <p:nvPr/>
          </p:nvSpPr>
          <p:spPr>
            <a:xfrm>
              <a:off x="2744351" y="1867275"/>
              <a:ext cx="79513" cy="7951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421A29C1-EE0A-20DA-08C1-176446846A24}"/>
                </a:ext>
              </a:extLst>
            </p:cNvPr>
            <p:cNvGrpSpPr/>
            <p:nvPr/>
          </p:nvGrpSpPr>
          <p:grpSpPr>
            <a:xfrm>
              <a:off x="1814945" y="2013528"/>
              <a:ext cx="503382" cy="743404"/>
              <a:chOff x="1814945" y="2013528"/>
              <a:chExt cx="503382" cy="743404"/>
            </a:xfrm>
          </p:grpSpPr>
          <p:cxnSp>
            <p:nvCxnSpPr>
              <p:cNvPr id="25" name="Straight Arrow Connector 24">
                <a:extLst>
                  <a:ext uri="{FF2B5EF4-FFF2-40B4-BE49-F238E27FC236}">
                    <a16:creationId xmlns:a16="http://schemas.microsoft.com/office/drawing/2014/main" id="{4A9D193E-1762-3069-F6F1-8B08E197E165}"/>
                  </a:ext>
                </a:extLst>
              </p:cNvPr>
              <p:cNvCxnSpPr/>
              <p:nvPr/>
            </p:nvCxnSpPr>
            <p:spPr>
              <a:xfrm>
                <a:off x="2045855" y="2013528"/>
                <a:ext cx="0" cy="484909"/>
              </a:xfrm>
              <a:prstGeom prst="straightConnector1">
                <a:avLst/>
              </a:prstGeom>
              <a:ln w="28575">
                <a:solidFill>
                  <a:srgbClr val="2326C0"/>
                </a:solidFill>
                <a:tailEnd type="stealth" w="med" len="med"/>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61EA95C-FC17-C8B8-FB43-3ECCB4FAD947}"/>
                  </a:ext>
                </a:extLst>
              </p:cNvPr>
              <p:cNvSpPr txBox="1"/>
              <p:nvPr/>
            </p:nvSpPr>
            <p:spPr>
              <a:xfrm>
                <a:off x="1814945" y="2387600"/>
                <a:ext cx="503382" cy="369332"/>
              </a:xfrm>
              <a:prstGeom prst="rect">
                <a:avLst/>
              </a:prstGeom>
              <a:noFill/>
            </p:spPr>
            <p:txBody>
              <a:bodyPr wrap="square" rtlCol="0">
                <a:spAutoFit/>
              </a:bodyPr>
              <a:lstStyle/>
              <a:p>
                <a:pPr/>
                <a:r>
                  <a:rPr lang="en-US" i="1" dirty="0">
                    <a:solidFill/>
                    <a:latin typeface="Times" pitchFamily="2" charset="0"/>
                  </a:rPr>
                  <a:t>m</a:t>
                </a:r>
                <a:r>
                  <a:rPr lang="en-US" b="1" i="1" dirty="0">
                    <a:solidFill/>
                    <a:latin typeface="Times" pitchFamily="2" charset="0"/>
                  </a:rPr>
                  <a:t>g</a:t>
                </a:r>
              </a:p>
            </p:txBody>
          </p:sp>
        </p:grpSp>
        <p:grpSp>
          <p:nvGrpSpPr>
            <p:cNvPr id="28" name="Group 27">
              <a:extLst>
                <a:ext uri="{FF2B5EF4-FFF2-40B4-BE49-F238E27FC236}">
                  <a16:creationId xmlns:a16="http://schemas.microsoft.com/office/drawing/2014/main" id="{072C6C31-1F3F-F55B-A86D-46C18E01924A}"/>
                </a:ext>
              </a:extLst>
            </p:cNvPr>
            <p:cNvGrpSpPr/>
            <p:nvPr/>
          </p:nvGrpSpPr>
          <p:grpSpPr>
            <a:xfrm>
              <a:off x="2216727" y="1422400"/>
              <a:ext cx="503382" cy="743404"/>
              <a:chOff x="1814945" y="2013528"/>
              <a:chExt cx="503382" cy="743404"/>
            </a:xfrm>
          </p:grpSpPr>
          <p:cxnSp>
            <p:nvCxnSpPr>
              <p:cNvPr id="29" name="Straight Arrow Connector 28">
                <a:extLst>
                  <a:ext uri="{FF2B5EF4-FFF2-40B4-BE49-F238E27FC236}">
                    <a16:creationId xmlns:a16="http://schemas.microsoft.com/office/drawing/2014/main" id="{0E42BF13-24A3-CCF5-F2AF-102C706EBA13}"/>
                  </a:ext>
                </a:extLst>
              </p:cNvPr>
              <p:cNvCxnSpPr/>
              <p:nvPr/>
            </p:nvCxnSpPr>
            <p:spPr>
              <a:xfrm>
                <a:off x="2045855" y="2013528"/>
                <a:ext cx="0" cy="484909"/>
              </a:xfrm>
              <a:prstGeom prst="straightConnector1">
                <a:avLst/>
              </a:prstGeom>
              <a:ln w="28575">
                <a:solidFill>
                  <a:srgbClr val="2326C0"/>
                </a:solidFill>
                <a:tailEnd type="stealth" w="med" len="med"/>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AE205232-3BCE-E160-AA0E-7EF87E7C298B}"/>
                  </a:ext>
                </a:extLst>
              </p:cNvPr>
              <p:cNvSpPr txBox="1"/>
              <p:nvPr/>
            </p:nvSpPr>
            <p:spPr>
              <a:xfrm>
                <a:off x="1814945" y="2387600"/>
                <a:ext cx="503382" cy="369332"/>
              </a:xfrm>
              <a:prstGeom prst="rect">
                <a:avLst/>
              </a:prstGeom>
              <a:noFill/>
            </p:spPr>
            <p:txBody>
              <a:bodyPr wrap="square" rtlCol="0">
                <a:spAutoFit/>
              </a:bodyPr>
              <a:lstStyle/>
              <a:p>
                <a:pPr/>
                <a:r>
                  <a:rPr lang="en-US" i="1" dirty="0">
                    <a:solidFill/>
                    <a:latin typeface="Times" pitchFamily="2" charset="0"/>
                  </a:rPr>
                  <a:t>m</a:t>
                </a:r>
                <a:r>
                  <a:rPr lang="en-US" b="1" i="1" dirty="0">
                    <a:solidFill/>
                    <a:latin typeface="Times" pitchFamily="2" charset="0"/>
                  </a:rPr>
                  <a:t>g</a:t>
                </a:r>
              </a:p>
            </p:txBody>
          </p:sp>
        </p:grpSp>
        <p:grpSp>
          <p:nvGrpSpPr>
            <p:cNvPr id="31" name="Group 30">
              <a:extLst>
                <a:ext uri="{FF2B5EF4-FFF2-40B4-BE49-F238E27FC236}">
                  <a16:creationId xmlns:a16="http://schemas.microsoft.com/office/drawing/2014/main" id="{B7E44E06-4AEE-ABF0-7604-35A411A7A168}"/>
                </a:ext>
              </a:extLst>
            </p:cNvPr>
            <p:cNvGrpSpPr/>
            <p:nvPr/>
          </p:nvGrpSpPr>
          <p:grpSpPr>
            <a:xfrm>
              <a:off x="2549236" y="1944255"/>
              <a:ext cx="503382" cy="743404"/>
              <a:chOff x="1814945" y="2013528"/>
              <a:chExt cx="503382" cy="743404"/>
            </a:xfrm>
          </p:grpSpPr>
          <p:cxnSp>
            <p:nvCxnSpPr>
              <p:cNvPr id="32" name="Straight Arrow Connector 31">
                <a:extLst>
                  <a:ext uri="{FF2B5EF4-FFF2-40B4-BE49-F238E27FC236}">
                    <a16:creationId xmlns:a16="http://schemas.microsoft.com/office/drawing/2014/main" id="{9688AE87-3954-7FB1-79BA-AEABD3196B6F}"/>
                  </a:ext>
                </a:extLst>
              </p:cNvPr>
              <p:cNvCxnSpPr/>
              <p:nvPr/>
            </p:nvCxnSpPr>
            <p:spPr>
              <a:xfrm>
                <a:off x="2045855" y="2013528"/>
                <a:ext cx="0" cy="484909"/>
              </a:xfrm>
              <a:prstGeom prst="straightConnector1">
                <a:avLst/>
              </a:prstGeom>
              <a:ln w="28575">
                <a:solidFill>
                  <a:srgbClr val="2326C0"/>
                </a:solidFill>
                <a:tailEnd type="stealth" w="med"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FBEC0B9-0DC6-14D3-6C50-45CEF85BD70B}"/>
                  </a:ext>
                </a:extLst>
              </p:cNvPr>
              <p:cNvSpPr txBox="1"/>
              <p:nvPr/>
            </p:nvSpPr>
            <p:spPr>
              <a:xfrm>
                <a:off x="1814945" y="2387600"/>
                <a:ext cx="503382" cy="369332"/>
              </a:xfrm>
              <a:prstGeom prst="rect">
                <a:avLst/>
              </a:prstGeom>
              <a:noFill/>
            </p:spPr>
            <p:txBody>
              <a:bodyPr wrap="square" rtlCol="0">
                <a:spAutoFit/>
              </a:bodyPr>
              <a:lstStyle/>
              <a:p>
                <a:pPr/>
                <a:r>
                  <a:rPr lang="en-US" i="1" dirty="0">
                    <a:solidFill/>
                    <a:latin typeface="Times" pitchFamily="2" charset="0"/>
                  </a:rPr>
                  <a:t>m</a:t>
                </a:r>
                <a:r>
                  <a:rPr lang="en-US" b="1" i="1" dirty="0">
                    <a:solidFill/>
                    <a:latin typeface="Times" pitchFamily="2" charset="0"/>
                  </a:rPr>
                  <a:t>g</a:t>
                </a:r>
              </a:p>
            </p:txBody>
          </p:sp>
        </p:grpSp>
        <p:grpSp>
          <p:nvGrpSpPr>
            <p:cNvPr id="34" name="Group 33">
              <a:extLst>
                <a:ext uri="{FF2B5EF4-FFF2-40B4-BE49-F238E27FC236}">
                  <a16:creationId xmlns:a16="http://schemas.microsoft.com/office/drawing/2014/main" id="{587F7380-9C51-4901-233C-A7DF5C0D2AC0}"/>
                </a:ext>
              </a:extLst>
            </p:cNvPr>
            <p:cNvGrpSpPr/>
            <p:nvPr/>
          </p:nvGrpSpPr>
          <p:grpSpPr>
            <a:xfrm>
              <a:off x="2724726" y="3375892"/>
              <a:ext cx="503382" cy="743404"/>
              <a:chOff x="1814945" y="2013528"/>
              <a:chExt cx="503382" cy="743404"/>
            </a:xfrm>
          </p:grpSpPr>
          <p:cxnSp>
            <p:nvCxnSpPr>
              <p:cNvPr id="35" name="Straight Arrow Connector 34">
                <a:extLst>
                  <a:ext uri="{FF2B5EF4-FFF2-40B4-BE49-F238E27FC236}">
                    <a16:creationId xmlns:a16="http://schemas.microsoft.com/office/drawing/2014/main" id="{E5303C65-D59F-2516-2B5C-862213B34890}"/>
                  </a:ext>
                </a:extLst>
              </p:cNvPr>
              <p:cNvCxnSpPr/>
              <p:nvPr/>
            </p:nvCxnSpPr>
            <p:spPr>
              <a:xfrm>
                <a:off x="2045855" y="2013528"/>
                <a:ext cx="0" cy="484909"/>
              </a:xfrm>
              <a:prstGeom prst="straightConnector1">
                <a:avLst/>
              </a:prstGeom>
              <a:ln w="28575">
                <a:solidFill>
                  <a:srgbClr val="2326C0"/>
                </a:solidFill>
                <a:tailEnd type="stealth" w="med" len="med"/>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70D7AE60-A707-F1EC-F304-E1FD53A32D96}"/>
                  </a:ext>
                </a:extLst>
              </p:cNvPr>
              <p:cNvSpPr txBox="1"/>
              <p:nvPr/>
            </p:nvSpPr>
            <p:spPr>
              <a:xfrm>
                <a:off x="1814945" y="2387600"/>
                <a:ext cx="503382" cy="369332"/>
              </a:xfrm>
              <a:prstGeom prst="rect">
                <a:avLst/>
              </a:prstGeom>
              <a:noFill/>
            </p:spPr>
            <p:txBody>
              <a:bodyPr wrap="square" rtlCol="0">
                <a:spAutoFit/>
              </a:bodyPr>
              <a:lstStyle/>
              <a:p>
                <a:pPr/>
                <a:r>
                  <a:rPr lang="en-US" i="1" dirty="0">
                    <a:solidFill/>
                    <a:latin typeface="Times" pitchFamily="2" charset="0"/>
                  </a:rPr>
                  <a:t>m</a:t>
                </a:r>
                <a:r>
                  <a:rPr lang="en-US" b="1" i="1" dirty="0">
                    <a:solidFill/>
                    <a:latin typeface="Times" pitchFamily="2" charset="0"/>
                  </a:rPr>
                  <a:t>g</a:t>
                </a:r>
              </a:p>
            </p:txBody>
          </p:sp>
        </p:grpSp>
      </p:grpSp>
      <p:sp>
        <p:nvSpPr>
          <p:cNvPr id="38" name="TextBox 37">
            <a:extLst>
              <a:ext uri="{FF2B5EF4-FFF2-40B4-BE49-F238E27FC236}">
                <a16:creationId xmlns:a16="http://schemas.microsoft.com/office/drawing/2014/main" id="{BCFA5C5A-1E82-6239-5338-09A23F24F878}"/>
              </a:ext>
            </a:extLst>
          </p:cNvPr>
          <p:cNvSpPr txBox="1"/>
          <p:nvPr/>
        </p:nvSpPr>
        <p:spPr>
          <a:xfrm>
            <a:off x="3124755" y="2525090"/>
            <a:ext cx="9484688" cy="830997"/>
          </a:xfrm>
          <a:prstGeom prst="rect">
            <a:avLst/>
          </a:prstGeom>
          <a:noFill/>
        </p:spPr>
        <p:txBody>
          <a:bodyPr wrap="square" rtlCol="0">
            <a:spAutoFit/>
          </a:bodyPr>
          <a:lstStyle/>
          <a:p>
            <a:pPr/>
            <a:r>
              <a:rPr lang="en-US" sz="2400" dirty="0">
                <a:solidFill/>
                <a:latin typeface="Times" pitchFamily="2" charset="0"/>
              </a:rPr>
              <a:t>Thus, only the </a:t>
            </a:r>
            <a:r>
              <a:rPr lang="en-US" sz="2400" u="sng" dirty="0">
                <a:solidFill/>
                <a:latin typeface="Times" pitchFamily="2" charset="0"/>
              </a:rPr>
              <a:t>vertical component </a:t>
            </a:r>
            <a:r>
              <a:rPr lang="en-US" sz="2400" dirty="0">
                <a:solidFill/>
                <a:latin typeface="Times" pitchFamily="2" charset="0"/>
              </a:rPr>
              <a:t>of the displacement contributes to the work.</a:t>
            </a:r>
          </a:p>
        </p:txBody>
      </p:sp>
      <p:sp>
        <p:nvSpPr>
          <p:cNvPr id="39" name="TextBox 38">
            <a:extLst>
              <a:ext uri="{FF2B5EF4-FFF2-40B4-BE49-F238E27FC236}">
                <a16:creationId xmlns:a16="http://schemas.microsoft.com/office/drawing/2014/main" id="{96E839A8-5B3E-5F75-1A26-50F7BB21A733}"/>
              </a:ext>
            </a:extLst>
          </p:cNvPr>
          <p:cNvSpPr txBox="1"/>
          <p:nvPr/>
        </p:nvSpPr>
        <p:spPr>
          <a:xfrm>
            <a:off x="3422929" y="3432865"/>
            <a:ext cx="8769071" cy="830997"/>
          </a:xfrm>
          <a:prstGeom prst="rect">
            <a:avLst/>
          </a:prstGeom>
          <a:noFill/>
        </p:spPr>
        <p:txBody>
          <a:bodyPr wrap="square" rtlCol="0">
            <a:spAutoFit/>
          </a:bodyPr>
          <a:lstStyle/>
          <a:p>
            <a:pPr/>
            <a:r>
              <a:rPr lang="en-US" sz="2400" dirty="0">
                <a:solidFill/>
                <a:latin typeface="Times" pitchFamily="2" charset="0"/>
              </a:rPr>
              <a:t>As such, the work only depends on the change in the vertical distance (</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 – </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 which is the same for the two paths shown. </a:t>
            </a:r>
          </a:p>
        </p:txBody>
      </p:sp>
      <p:grpSp>
        <p:nvGrpSpPr>
          <p:cNvPr id="48" name="Group 47">
            <a:extLst>
              <a:ext uri="{FF2B5EF4-FFF2-40B4-BE49-F238E27FC236}">
                <a16:creationId xmlns:a16="http://schemas.microsoft.com/office/drawing/2014/main" id="{8A3F756D-0AD5-FEC9-00D2-B31F6F5A6D8B}"/>
              </a:ext>
            </a:extLst>
          </p:cNvPr>
          <p:cNvGrpSpPr/>
          <p:nvPr/>
        </p:nvGrpSpPr>
        <p:grpSpPr>
          <a:xfrm>
            <a:off x="384315" y="4585252"/>
            <a:ext cx="11410119" cy="1627854"/>
            <a:chOff x="384315" y="4585252"/>
            <a:chExt cx="11410119" cy="1627854"/>
          </a:xfrm>
        </p:grpSpPr>
        <p:grpSp>
          <p:nvGrpSpPr>
            <p:cNvPr id="46" name="Group 45">
              <a:extLst>
                <a:ext uri="{FF2B5EF4-FFF2-40B4-BE49-F238E27FC236}">
                  <a16:creationId xmlns:a16="http://schemas.microsoft.com/office/drawing/2014/main" id="{3C6356E1-6E3D-87EB-7089-37536B266B11}"/>
                </a:ext>
              </a:extLst>
            </p:cNvPr>
            <p:cNvGrpSpPr/>
            <p:nvPr/>
          </p:nvGrpSpPr>
          <p:grpSpPr>
            <a:xfrm>
              <a:off x="410820" y="4625008"/>
              <a:ext cx="11198084" cy="1588098"/>
              <a:chOff x="410820" y="4625008"/>
              <a:chExt cx="11198084" cy="1588098"/>
            </a:xfrm>
          </p:grpSpPr>
          <p:sp>
            <p:nvSpPr>
              <p:cNvPr id="42" name="TextBox 41">
                <a:extLst>
                  <a:ext uri="{FF2B5EF4-FFF2-40B4-BE49-F238E27FC236}">
                    <a16:creationId xmlns:a16="http://schemas.microsoft.com/office/drawing/2014/main" id="{583960FF-B1B6-6E60-3067-F29A9A0F5270}"/>
                  </a:ext>
                </a:extLst>
              </p:cNvPr>
              <p:cNvSpPr txBox="1"/>
              <p:nvPr/>
            </p:nvSpPr>
            <p:spPr>
              <a:xfrm>
                <a:off x="440637" y="5012777"/>
                <a:ext cx="11168267" cy="1200329"/>
              </a:xfrm>
              <a:prstGeom prst="rect">
                <a:avLst/>
              </a:prstGeom>
              <a:noFill/>
            </p:spPr>
            <p:txBody>
              <a:bodyPr wrap="square">
                <a:spAutoFit/>
              </a:bodyPr>
              <a:lstStyle/>
              <a:p>
                <a:pPr algn="just"/>
                <a:r>
                  <a:rPr lang="en-US" sz="2400" dirty="0">
                    <a:solidFill/>
                    <a:latin typeface="Times" pitchFamily="2" charset="0"/>
                  </a:rPr>
                  <a:t>Only the                                                   needs be considered when calculating the work done by gravity. </a:t>
                </a:r>
              </a:p>
              <a:p>
                <a:pPr algn="just"/>
                <a:endParaRPr lang="en-US" sz="2400" dirty="0">
                  <a:latin typeface="Times" pitchFamily="2" charset="0"/>
                </a:endParaRPr>
              </a:p>
            </p:txBody>
          </p:sp>
          <p:sp>
            <p:nvSpPr>
              <p:cNvPr id="43" name="TextBox 42">
                <a:extLst>
                  <a:ext uri="{FF2B5EF4-FFF2-40B4-BE49-F238E27FC236}">
                    <a16:creationId xmlns:a16="http://schemas.microsoft.com/office/drawing/2014/main" id="{7B15BD4C-068C-9750-374D-9E8BD1BA4D4A}"/>
                  </a:ext>
                </a:extLst>
              </p:cNvPr>
              <p:cNvSpPr txBox="1"/>
              <p:nvPr/>
            </p:nvSpPr>
            <p:spPr>
              <a:xfrm>
                <a:off x="410820" y="4625008"/>
                <a:ext cx="4680843" cy="461665"/>
              </a:xfrm>
              <a:prstGeom prst="rect">
                <a:avLst/>
              </a:prstGeom>
              <a:noFill/>
            </p:spPr>
            <p:txBody>
              <a:bodyPr wrap="square" rtlCol="0">
                <a:spAutoFit/>
              </a:bodyPr>
              <a:lstStyle/>
              <a:p>
                <a:pPr/>
                <a:r>
                  <a:rPr lang="en-US" sz="2400" dirty="0">
                    <a:solidFill>
                      <a:srgbClr val="C0694F"/>
                    </a:solidFill>
                    <a:latin typeface="Times" pitchFamily="2" charset="0"/>
                  </a:rPr>
                  <a:t>Problem-Solving Insight</a:t>
                </a:r>
              </a:p>
            </p:txBody>
          </p:sp>
          <p:sp>
            <p:nvSpPr>
              <p:cNvPr id="45" name="Rounded Rectangle 44">
                <a:extLst>
                  <a:ext uri="{FF2B5EF4-FFF2-40B4-BE49-F238E27FC236}">
                    <a16:creationId xmlns:a16="http://schemas.microsoft.com/office/drawing/2014/main" id="{DC4E49D7-281C-9B42-977F-1091FE124933}"/>
                  </a:ext>
                </a:extLst>
              </p:cNvPr>
              <p:cNvSpPr/>
              <p:nvPr/>
            </p:nvSpPr>
            <p:spPr>
              <a:xfrm>
                <a:off x="1696278" y="5049078"/>
                <a:ext cx="3856383" cy="3975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Rectangle 46">
              <a:extLst>
                <a:ext uri="{FF2B5EF4-FFF2-40B4-BE49-F238E27FC236}">
                  <a16:creationId xmlns:a16="http://schemas.microsoft.com/office/drawing/2014/main" id="{B2A37577-D35F-DDB8-0D4C-1DA6DAB3AD7D}"/>
                </a:ext>
              </a:extLst>
            </p:cNvPr>
            <p:cNvSpPr/>
            <p:nvPr/>
          </p:nvSpPr>
          <p:spPr>
            <a:xfrm>
              <a:off x="384315" y="4585252"/>
              <a:ext cx="11410119" cy="1404731"/>
            </a:xfrm>
            <a:prstGeom prst="rect">
              <a:avLst/>
            </a:prstGeom>
            <a:noFill/>
            <a:ln w="38100">
              <a:solidFill>
                <a:srgbClr val="C069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TextBox 43">
            <a:extLst>
              <a:ext uri="{FF2B5EF4-FFF2-40B4-BE49-F238E27FC236}">
                <a16:creationId xmlns:a16="http://schemas.microsoft.com/office/drawing/2014/main" id="{AB5EEEF5-356D-B37E-BBB2-758696398EE7}"/>
              </a:ext>
            </a:extLst>
          </p:cNvPr>
          <p:cNvSpPr txBox="1"/>
          <p:nvPr/>
        </p:nvSpPr>
        <p:spPr>
          <a:xfrm>
            <a:off x="1716159" y="5029199"/>
            <a:ext cx="4167807"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change in height (h</a:t>
            </a:r>
            <a:r>
              <a:rPr lang="en-US" sz="2000" baseline="-25000" dirty="0">
                <a:solidFill>
                  <a:srgbClr val="007440"/>
                </a:solidFill>
                <a:latin typeface="Chalkduster" panose="03050602040202020205" pitchFamily="66" charset="77"/>
              </a:rPr>
              <a:t>0</a:t>
            </a:r>
            <a:r>
              <a:rPr lang="en-US" sz="2000" dirty="0">
                <a:solidFill>
                  <a:srgbClr val="007440"/>
                </a:solidFill>
                <a:latin typeface="Chalkduster" panose="03050602040202020205" pitchFamily="66" charset="77"/>
              </a:rPr>
              <a:t> – h</a:t>
            </a:r>
            <a:r>
              <a:rPr lang="en-US" sz="2000" baseline="-25000" dirty="0">
                <a:solidFill>
                  <a:srgbClr val="007440"/>
                </a:solidFill>
                <a:latin typeface="Chalkduster" panose="03050602040202020205" pitchFamily="66" charset="77"/>
              </a:rPr>
              <a:t>f</a:t>
            </a:r>
            <a:r>
              <a:rPr lang="en-US" sz="2000" dirty="0">
                <a:solidFill>
                  <a:srgbClr val="007440"/>
                </a:solidFill>
                <a:latin typeface="Chalkduster" panose="03050602040202020205" pitchFamily="66" charset="77"/>
              </a:rPr>
              <a:t>)</a:t>
            </a:r>
          </a:p>
        </p:txBody>
      </p:sp>
    </p:spTree>
    <p:extLst>
      <p:ext uri="{BB962C8B-B14F-4D97-AF65-F5344CB8AC3E}">
        <p14:creationId xmlns:p14="http://schemas.microsoft.com/office/powerpoint/2010/main" val="1722640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dissolve">
                                      <p:cBhvr>
                                        <p:cTn id="17" dur="500"/>
                                        <p:tgtEl>
                                          <p:spTgt spid="17"/>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dissolve">
                                      <p:cBhvr>
                                        <p:cTn id="21" dur="500"/>
                                        <p:tgtEl>
                                          <p:spTgt spid="37"/>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dissolve">
                                      <p:cBhvr>
                                        <p:cTn id="26" dur="500"/>
                                        <p:tgtEl>
                                          <p:spTgt spid="3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dissolve">
                                      <p:cBhvr>
                                        <p:cTn id="31" dur="500"/>
                                        <p:tgtEl>
                                          <p:spTgt spid="39"/>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48"/>
                                        </p:tgtEl>
                                        <p:attrNameLst>
                                          <p:attrName>style.visibility</p:attrName>
                                        </p:attrNameLst>
                                      </p:cBhvr>
                                      <p:to>
                                        <p:strVal val="visible"/>
                                      </p:to>
                                    </p:set>
                                    <p:animEffect transition="in" filter="dissolve">
                                      <p:cBhvr>
                                        <p:cTn id="36" dur="500"/>
                                        <p:tgtEl>
                                          <p:spTgt spid="48"/>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44"/>
                                        </p:tgtEl>
                                        <p:attrNameLst>
                                          <p:attrName>style.visibility</p:attrName>
                                        </p:attrNameLst>
                                      </p:cBhvr>
                                      <p:to>
                                        <p:strVal val="visible"/>
                                      </p:to>
                                    </p:set>
                                    <p:animEffect transition="in" filter="dissolve">
                                      <p:cBhvr>
                                        <p:cTn id="41"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7" grpId="0"/>
      <p:bldP spid="38" grpId="0"/>
      <p:bldP spid="39" grpId="0"/>
      <p:bldP spid="4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26C52-E8D1-FB01-A990-0A70133772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A968E2-BB33-C7D6-C363-688D0DB16737}"/>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6.3</a:t>
            </a:r>
            <a:r>
              <a:rPr lang="en-US" dirty="0">
                <a:solidFill/>
                <a:ea typeface="Calibri" charset="0"/>
                <a:cs typeface="Calibri" charset="0"/>
              </a:rPr>
              <a:t> Gravitation Potential Energy</a:t>
            </a:r>
            <a:endParaRPr lang="en-US" sz="3000" dirty="0"/>
          </a:p>
        </p:txBody>
      </p:sp>
      <p:grpSp>
        <p:nvGrpSpPr>
          <p:cNvPr id="3" name="Group 2">
            <a:extLst>
              <a:ext uri="{FF2B5EF4-FFF2-40B4-BE49-F238E27FC236}">
                <a16:creationId xmlns:a16="http://schemas.microsoft.com/office/drawing/2014/main" id="{5A47BE4C-A430-DAB1-02DF-D0F95F7CEA54}"/>
              </a:ext>
            </a:extLst>
          </p:cNvPr>
          <p:cNvGrpSpPr/>
          <p:nvPr/>
        </p:nvGrpSpPr>
        <p:grpSpPr>
          <a:xfrm>
            <a:off x="781121" y="694189"/>
            <a:ext cx="10880791" cy="2330718"/>
            <a:chOff x="889929" y="1815738"/>
            <a:chExt cx="10880791" cy="2330718"/>
          </a:xfrm>
        </p:grpSpPr>
        <p:sp>
          <p:nvSpPr>
            <p:cNvPr id="4" name="TextBox 3">
              <a:extLst>
                <a:ext uri="{FF2B5EF4-FFF2-40B4-BE49-F238E27FC236}">
                  <a16:creationId xmlns:a16="http://schemas.microsoft.com/office/drawing/2014/main" id="{7101B65A-B61E-7E9B-2792-F2667D2340B4}"/>
                </a:ext>
              </a:extLst>
            </p:cNvPr>
            <p:cNvSpPr txBox="1"/>
            <p:nvPr/>
          </p:nvSpPr>
          <p:spPr>
            <a:xfrm>
              <a:off x="966653" y="1815738"/>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A Gymnast on a Trampoline</a:t>
              </a:r>
            </a:p>
          </p:txBody>
        </p:sp>
        <p:sp>
          <p:nvSpPr>
            <p:cNvPr id="5" name="TextBox 4">
              <a:extLst>
                <a:ext uri="{FF2B5EF4-FFF2-40B4-BE49-F238E27FC236}">
                  <a16:creationId xmlns:a16="http://schemas.microsoft.com/office/drawing/2014/main" id="{33503B1D-61DD-76DC-BB67-7D39CC11C0C2}"/>
                </a:ext>
              </a:extLst>
            </p:cNvPr>
            <p:cNvSpPr txBox="1"/>
            <p:nvPr/>
          </p:nvSpPr>
          <p:spPr>
            <a:xfrm>
              <a:off x="889929" y="2207464"/>
              <a:ext cx="10880791" cy="1938992"/>
            </a:xfrm>
            <a:prstGeom prst="rect">
              <a:avLst/>
            </a:prstGeom>
            <a:noFill/>
          </p:spPr>
          <p:txBody>
            <a:bodyPr wrap="square">
              <a:spAutoFit/>
            </a:bodyPr>
            <a:lstStyle/>
            <a:p>
              <a:pPr algn="just"/>
              <a:r>
                <a:rPr lang="en-US" sz="2400" dirty="0">
                  <a:solidFill/>
                  <a:effectLst/>
                  <a:latin typeface="Times" pitchFamily="2" charset="0"/>
                </a:rPr>
                <a:t> A gymnast springs vertically upward from a trampoline as shown in the figure. The gymnast leaves the trampoline at a height of </a:t>
              </a:r>
              <a:r>
                <a:rPr lang="en-US" sz="2400" i="1" dirty="0">
                  <a:solidFill/>
                  <a:effectLst/>
                  <a:latin typeface="Times" pitchFamily="2" charset="0"/>
                </a:rPr>
                <a:t>h</a:t>
              </a:r>
              <a:r>
                <a:rPr lang="en-US" sz="2400" baseline="-25000" dirty="0">
                  <a:solidFill/>
                  <a:effectLst/>
                  <a:latin typeface="Times" pitchFamily="2" charset="0"/>
                </a:rPr>
                <a:t>0</a:t>
              </a:r>
              <a:r>
                <a:rPr lang="en-US" sz="2400" dirty="0">
                  <a:solidFill/>
                  <a:effectLst/>
                  <a:latin typeface="Times" pitchFamily="2" charset="0"/>
                </a:rPr>
                <a:t> = 1.20 m and reaches a maximum height of </a:t>
              </a:r>
              <a:r>
                <a:rPr lang="en-US" sz="2400" i="1" dirty="0">
                  <a:solidFill/>
                  <a:effectLst/>
                  <a:latin typeface="Times" pitchFamily="2" charset="0"/>
                </a:rPr>
                <a:t>h</a:t>
              </a:r>
              <a:r>
                <a:rPr lang="en-US" sz="2400" baseline="-25000" dirty="0">
                  <a:solidFill/>
                  <a:effectLst/>
                  <a:latin typeface="Times" pitchFamily="2" charset="0"/>
                </a:rPr>
                <a:t>f</a:t>
              </a:r>
              <a:r>
                <a:rPr lang="en-US" sz="2400" dirty="0">
                  <a:solidFill/>
                  <a:effectLst/>
                  <a:latin typeface="Times" pitchFamily="2" charset="0"/>
                </a:rPr>
                <a:t> = 4.80 m before falling back down. All heights are measured with respect to the ground. Ignoring air resistance, determine the initial speed </a:t>
              </a:r>
              <a:r>
                <a:rPr lang="en-US" sz="2400" i="1" dirty="0">
                  <a:solidFill/>
                  <a:effectLst/>
                  <a:latin typeface="Times" pitchFamily="2" charset="0"/>
                </a:rPr>
                <a:t>v</a:t>
              </a:r>
              <a:r>
                <a:rPr lang="en-US" sz="2400" baseline="-25000" dirty="0">
                  <a:solidFill/>
                  <a:effectLst/>
                  <a:latin typeface="Times" pitchFamily="2" charset="0"/>
                </a:rPr>
                <a:t>0</a:t>
              </a:r>
              <a:r>
                <a:rPr lang="en-US" sz="2400" dirty="0">
                  <a:solidFill/>
                  <a:effectLst/>
                  <a:latin typeface="Times" pitchFamily="2" charset="0"/>
                </a:rPr>
                <a:t> with which the gymnast leaves the trampoline.</a:t>
              </a:r>
            </a:p>
          </p:txBody>
        </p:sp>
      </p:grpSp>
      <p:pic>
        <p:nvPicPr>
          <p:cNvPr id="8" name="Picture 7">
            <a:extLst>
              <a:ext uri="{FF2B5EF4-FFF2-40B4-BE49-F238E27FC236}">
                <a16:creationId xmlns:a16="http://schemas.microsoft.com/office/drawing/2014/main" id="{011594D8-2A92-E1DB-181E-4E4CC0B29D7C}"/>
              </a:ext>
            </a:extLst>
          </p:cNvPr>
          <p:cNvPicPr>
            <a:picLocks noChangeAspect="1"/>
          </p:cNvPicPr>
          <p:nvPr/>
        </p:nvPicPr>
        <p:blipFill>
          <a:blip r:embed="rId3"/>
          <a:srcRect l="39088" b="4343"/>
          <a:stretch/>
        </p:blipFill>
        <p:spPr>
          <a:xfrm>
            <a:off x="92764" y="3091305"/>
            <a:ext cx="3843131" cy="3296244"/>
          </a:xfrm>
          <a:prstGeom prst="rect">
            <a:avLst/>
          </a:prstGeom>
        </p:spPr>
      </p:pic>
      <p:grpSp>
        <p:nvGrpSpPr>
          <p:cNvPr id="14" name="Group 13">
            <a:extLst>
              <a:ext uri="{FF2B5EF4-FFF2-40B4-BE49-F238E27FC236}">
                <a16:creationId xmlns:a16="http://schemas.microsoft.com/office/drawing/2014/main" id="{580AF81B-7403-8E4A-87C7-BA10933B8214}"/>
              </a:ext>
            </a:extLst>
          </p:cNvPr>
          <p:cNvGrpSpPr/>
          <p:nvPr/>
        </p:nvGrpSpPr>
        <p:grpSpPr>
          <a:xfrm>
            <a:off x="2775574" y="2921342"/>
            <a:ext cx="8859836" cy="1902452"/>
            <a:chOff x="2775574" y="2921342"/>
            <a:chExt cx="8859836" cy="1902452"/>
          </a:xfrm>
        </p:grpSpPr>
        <p:sp>
          <p:nvSpPr>
            <p:cNvPr id="13" name="Rounded Rectangle 12">
              <a:extLst>
                <a:ext uri="{FF2B5EF4-FFF2-40B4-BE49-F238E27FC236}">
                  <a16:creationId xmlns:a16="http://schemas.microsoft.com/office/drawing/2014/main" id="{4569A429-A464-2C46-6F5F-8A36CDCB4CA6}"/>
                </a:ext>
              </a:extLst>
            </p:cNvPr>
            <p:cNvSpPr/>
            <p:nvPr/>
          </p:nvSpPr>
          <p:spPr>
            <a:xfrm>
              <a:off x="4757530" y="4081673"/>
              <a:ext cx="4903304" cy="7421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E341F08-3224-1839-A7E5-8D234323C124}"/>
                </a:ext>
              </a:extLst>
            </p:cNvPr>
            <p:cNvSpPr txBox="1"/>
            <p:nvPr/>
          </p:nvSpPr>
          <p:spPr>
            <a:xfrm>
              <a:off x="2775574" y="2921342"/>
              <a:ext cx="8859836" cy="1200329"/>
            </a:xfrm>
            <a:prstGeom prst="rect">
              <a:avLst/>
            </a:prstGeom>
            <a:noFill/>
          </p:spPr>
          <p:txBody>
            <a:bodyPr wrap="square">
              <a:spAutoFit/>
            </a:bodyPr>
            <a:lstStyle/>
            <a:p>
              <a:pPr algn="just"/>
              <a:r>
                <a:rPr lang="en-US" sz="2400" dirty="0">
                  <a:solidFill/>
                  <a:effectLst/>
                  <a:latin typeface="Times" pitchFamily="2" charset="0"/>
                </a:rPr>
                <a:t>The initial speed of the gymnast is related to her initial kinetic energy.  We can use the </a:t>
              </a:r>
              <a:r>
                <a:rPr lang="en-US" sz="2400" dirty="0">
                  <a:solidFill>
                    <a:srgbClr val="007440"/>
                  </a:solidFill>
                  <a:effectLst/>
                  <a:latin typeface="Times" pitchFamily="2" charset="0"/>
                </a:rPr>
                <a:t>work-energy theorem </a:t>
              </a:r>
              <a:r>
                <a:rPr lang="en-US" sz="2400" dirty="0">
                  <a:solidFill/>
                  <a:effectLst/>
                  <a:latin typeface="Times" pitchFamily="2" charset="0"/>
                </a:rPr>
                <a:t>(6.3) to find this, assuming we can calculate the work down by the net external force:</a:t>
              </a:r>
            </a:p>
          </p:txBody>
        </p:sp>
      </p:grpSp>
      <p:pic>
        <p:nvPicPr>
          <p:cNvPr id="12" name="Picture 11">
            <a:extLst>
              <a:ext uri="{FF2B5EF4-FFF2-40B4-BE49-F238E27FC236}">
                <a16:creationId xmlns:a16="http://schemas.microsoft.com/office/drawing/2014/main" id="{CF37A4B4-89CE-A489-E5A3-7C893CE4C955}"/>
              </a:ext>
            </a:extLst>
          </p:cNvPr>
          <p:cNvPicPr>
            <a:picLocks noChangeAspect="1"/>
          </p:cNvPicPr>
          <p:nvPr/>
        </p:nvPicPr>
        <p:blipFill>
          <a:blip r:embed="rId4"/>
          <a:stretch>
            <a:fillRect/>
          </a:stretch>
        </p:blipFill>
        <p:spPr>
          <a:xfrm>
            <a:off x="4863550" y="4129587"/>
            <a:ext cx="4747592" cy="594133"/>
          </a:xfrm>
          <a:prstGeom prst="rect">
            <a:avLst/>
          </a:prstGeom>
        </p:spPr>
      </p:pic>
      <p:sp>
        <p:nvSpPr>
          <p:cNvPr id="19" name="TextBox 18">
            <a:extLst>
              <a:ext uri="{FF2B5EF4-FFF2-40B4-BE49-F238E27FC236}">
                <a16:creationId xmlns:a16="http://schemas.microsoft.com/office/drawing/2014/main" id="{876A2048-225A-E4CD-940C-11D1CB9A6CEE}"/>
              </a:ext>
            </a:extLst>
          </p:cNvPr>
          <p:cNvSpPr txBox="1"/>
          <p:nvPr/>
        </p:nvSpPr>
        <p:spPr>
          <a:xfrm>
            <a:off x="3617087" y="4889290"/>
            <a:ext cx="7965313" cy="830997"/>
          </a:xfrm>
          <a:prstGeom prst="rect">
            <a:avLst/>
          </a:prstGeom>
          <a:noFill/>
        </p:spPr>
        <p:txBody>
          <a:bodyPr wrap="square">
            <a:spAutoFit/>
          </a:bodyPr>
          <a:lstStyle/>
          <a:p>
            <a:pPr algn="just"/>
            <a:r>
              <a:rPr lang="en-US" sz="2400" dirty="0">
                <a:solidFill/>
                <a:effectLst/>
                <a:latin typeface="Times" pitchFamily="2" charset="0"/>
              </a:rPr>
              <a:t>The final speed of the gymnast will be 0 m/s, since they instantaneously come to rest at max height.</a:t>
            </a:r>
          </a:p>
        </p:txBody>
      </p:sp>
      <p:grpSp>
        <p:nvGrpSpPr>
          <p:cNvPr id="49" name="Group 48">
            <a:extLst>
              <a:ext uri="{FF2B5EF4-FFF2-40B4-BE49-F238E27FC236}">
                <a16:creationId xmlns:a16="http://schemas.microsoft.com/office/drawing/2014/main" id="{ABCB250C-AA9C-43F5-49CF-6C3EB34D68DD}"/>
              </a:ext>
            </a:extLst>
          </p:cNvPr>
          <p:cNvGrpSpPr/>
          <p:nvPr/>
        </p:nvGrpSpPr>
        <p:grpSpPr>
          <a:xfrm>
            <a:off x="7885043" y="3843133"/>
            <a:ext cx="1537252" cy="1020418"/>
            <a:chOff x="7885043" y="4094921"/>
            <a:chExt cx="1537252" cy="1020418"/>
          </a:xfrm>
        </p:grpSpPr>
        <p:cxnSp>
          <p:nvCxnSpPr>
            <p:cNvPr id="40" name="Straight Connector 39">
              <a:extLst>
                <a:ext uri="{FF2B5EF4-FFF2-40B4-BE49-F238E27FC236}">
                  <a16:creationId xmlns:a16="http://schemas.microsoft.com/office/drawing/2014/main" id="{02E80857-0DB8-3B07-7922-9A109D199F96}"/>
                </a:ext>
              </a:extLst>
            </p:cNvPr>
            <p:cNvCxnSpPr/>
            <p:nvPr/>
          </p:nvCxnSpPr>
          <p:spPr>
            <a:xfrm flipV="1">
              <a:off x="7885043" y="4346713"/>
              <a:ext cx="556591" cy="768626"/>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7B6450C-767C-A510-3A3A-A6C3FEACDB3B}"/>
                </a:ext>
              </a:extLst>
            </p:cNvPr>
            <p:cNvSpPr txBox="1"/>
            <p:nvPr/>
          </p:nvSpPr>
          <p:spPr>
            <a:xfrm>
              <a:off x="8401878" y="4094921"/>
              <a:ext cx="1020417" cy="369332"/>
            </a:xfrm>
            <a:prstGeom prst="rect">
              <a:avLst/>
            </a:prstGeom>
            <a:noFill/>
          </p:spPr>
          <p:txBody>
            <a:bodyPr wrap="square" rtlCol="0">
              <a:spAutoFit/>
            </a:bodyPr>
            <a:lstStyle/>
            <a:p>
              <a:pPr/>
              <a:r>
                <a:rPr lang="en-US" dirty="0">
                  <a:solidFill>
                    <a:srgbClr val="FF0000"/>
                  </a:solidFill>
                  <a:latin typeface="Times" pitchFamily="2" charset="0"/>
                </a:rPr>
                <a:t>0</a:t>
              </a:r>
            </a:p>
          </p:txBody>
        </p:sp>
      </p:grpSp>
      <p:grpSp>
        <p:nvGrpSpPr>
          <p:cNvPr id="54" name="Group 53">
            <a:extLst>
              <a:ext uri="{FF2B5EF4-FFF2-40B4-BE49-F238E27FC236}">
                <a16:creationId xmlns:a16="http://schemas.microsoft.com/office/drawing/2014/main" id="{B4722F5F-C5B5-022D-834A-88F731A310DE}"/>
              </a:ext>
            </a:extLst>
          </p:cNvPr>
          <p:cNvGrpSpPr/>
          <p:nvPr/>
        </p:nvGrpSpPr>
        <p:grpSpPr>
          <a:xfrm>
            <a:off x="5638046" y="5652054"/>
            <a:ext cx="2763834" cy="742121"/>
            <a:chOff x="4604375" y="5652054"/>
            <a:chExt cx="2763834" cy="742121"/>
          </a:xfrm>
        </p:grpSpPr>
        <p:sp>
          <p:nvSpPr>
            <p:cNvPr id="52" name="TextBox 51">
              <a:extLst>
                <a:ext uri="{FF2B5EF4-FFF2-40B4-BE49-F238E27FC236}">
                  <a16:creationId xmlns:a16="http://schemas.microsoft.com/office/drawing/2014/main" id="{C7C77CE8-1315-B58B-22DA-DD6CAB5B1730}"/>
                </a:ext>
              </a:extLst>
            </p:cNvPr>
            <p:cNvSpPr txBox="1"/>
            <p:nvPr/>
          </p:nvSpPr>
          <p:spPr>
            <a:xfrm>
              <a:off x="4604375" y="5850070"/>
              <a:ext cx="1292844" cy="461665"/>
            </a:xfrm>
            <a:prstGeom prst="rect">
              <a:avLst/>
            </a:prstGeom>
            <a:noFill/>
          </p:spPr>
          <p:txBody>
            <a:bodyPr wrap="square">
              <a:spAutoFit/>
            </a:bodyPr>
            <a:lstStyle/>
            <a:p>
              <a:pPr algn="just"/>
              <a:r>
                <a:rPr lang="en-US" sz="2400" dirty="0">
                  <a:solidFill/>
                  <a:effectLst/>
                  <a:latin typeface="Times" pitchFamily="2" charset="0"/>
                </a:rPr>
                <a:t>Thus, </a:t>
              </a:r>
            </a:p>
          </p:txBody>
        </p:sp>
        <p:sp>
          <p:nvSpPr>
            <p:cNvPr id="53" name="Rounded Rectangle 52">
              <a:extLst>
                <a:ext uri="{FF2B5EF4-FFF2-40B4-BE49-F238E27FC236}">
                  <a16:creationId xmlns:a16="http://schemas.microsoft.com/office/drawing/2014/main" id="{13B201EC-2224-0048-5076-3522E12DE95E}"/>
                </a:ext>
              </a:extLst>
            </p:cNvPr>
            <p:cNvSpPr/>
            <p:nvPr/>
          </p:nvSpPr>
          <p:spPr>
            <a:xfrm>
              <a:off x="5519530" y="5652054"/>
              <a:ext cx="1848679" cy="7421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6">
            <a:extLst>
              <a:ext uri="{FF2B5EF4-FFF2-40B4-BE49-F238E27FC236}">
                <a16:creationId xmlns:a16="http://schemas.microsoft.com/office/drawing/2014/main" id="{C2316675-DFDD-100F-E3C1-0872E51097E3}"/>
              </a:ext>
            </a:extLst>
          </p:cNvPr>
          <p:cNvGrpSpPr/>
          <p:nvPr/>
        </p:nvGrpSpPr>
        <p:grpSpPr>
          <a:xfrm>
            <a:off x="6652595" y="5565914"/>
            <a:ext cx="1547190" cy="808383"/>
            <a:chOff x="5618924" y="5565914"/>
            <a:chExt cx="1547190" cy="808383"/>
          </a:xfrm>
        </p:grpSpPr>
        <p:pic>
          <p:nvPicPr>
            <p:cNvPr id="55" name="Picture 54">
              <a:extLst>
                <a:ext uri="{FF2B5EF4-FFF2-40B4-BE49-F238E27FC236}">
                  <a16:creationId xmlns:a16="http://schemas.microsoft.com/office/drawing/2014/main" id="{AE0F8D38-3FD6-4730-18C8-0CBA0CA20D74}"/>
                </a:ext>
              </a:extLst>
            </p:cNvPr>
            <p:cNvPicPr>
              <a:picLocks noChangeAspect="1"/>
            </p:cNvPicPr>
            <p:nvPr/>
          </p:nvPicPr>
          <p:blipFill>
            <a:blip r:embed="rId4"/>
            <a:srcRect l="79135" t="-29255" b="1"/>
            <a:stretch/>
          </p:blipFill>
          <p:spPr>
            <a:xfrm>
              <a:off x="6175511" y="5565914"/>
              <a:ext cx="990603" cy="767946"/>
            </a:xfrm>
            <a:prstGeom prst="rect">
              <a:avLst/>
            </a:prstGeom>
          </p:spPr>
        </p:pic>
        <p:pic>
          <p:nvPicPr>
            <p:cNvPr id="56" name="Picture 55">
              <a:extLst>
                <a:ext uri="{FF2B5EF4-FFF2-40B4-BE49-F238E27FC236}">
                  <a16:creationId xmlns:a16="http://schemas.microsoft.com/office/drawing/2014/main" id="{D28DFD24-E2AE-0113-36A7-9219704B1022}"/>
                </a:ext>
              </a:extLst>
            </p:cNvPr>
            <p:cNvPicPr>
              <a:picLocks noChangeAspect="1"/>
            </p:cNvPicPr>
            <p:nvPr/>
          </p:nvPicPr>
          <p:blipFill>
            <a:blip r:embed="rId4"/>
            <a:srcRect t="1" r="89114" b="1000"/>
            <a:stretch/>
          </p:blipFill>
          <p:spPr>
            <a:xfrm>
              <a:off x="5618924" y="5786109"/>
              <a:ext cx="516833" cy="588188"/>
            </a:xfrm>
            <a:prstGeom prst="rect">
              <a:avLst/>
            </a:prstGeom>
          </p:spPr>
        </p:pic>
      </p:grpSp>
    </p:spTree>
    <p:extLst>
      <p:ext uri="{BB962C8B-B14F-4D97-AF65-F5344CB8AC3E}">
        <p14:creationId xmlns:p14="http://schemas.microsoft.com/office/powerpoint/2010/main" val="1633997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dissolve">
                                      <p:cBhvr>
                                        <p:cTn id="17" dur="500"/>
                                        <p:tgtEl>
                                          <p:spTgt spid="19"/>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49"/>
                                        </p:tgtEl>
                                        <p:attrNameLst>
                                          <p:attrName>style.visibility</p:attrName>
                                        </p:attrNameLst>
                                      </p:cBhvr>
                                      <p:to>
                                        <p:strVal val="visible"/>
                                      </p:to>
                                    </p:set>
                                    <p:animEffect transition="in" filter="dissolve">
                                      <p:cBhvr>
                                        <p:cTn id="21" dur="500"/>
                                        <p:tgtEl>
                                          <p:spTgt spid="49"/>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54"/>
                                        </p:tgtEl>
                                        <p:attrNameLst>
                                          <p:attrName>style.visibility</p:attrName>
                                        </p:attrNameLst>
                                      </p:cBhvr>
                                      <p:to>
                                        <p:strVal val="visible"/>
                                      </p:to>
                                    </p:set>
                                    <p:animEffect transition="in" filter="dissolve">
                                      <p:cBhvr>
                                        <p:cTn id="26" dur="500"/>
                                        <p:tgtEl>
                                          <p:spTgt spid="54"/>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57"/>
                                        </p:tgtEl>
                                        <p:attrNameLst>
                                          <p:attrName>style.visibility</p:attrName>
                                        </p:attrNameLst>
                                      </p:cBhvr>
                                      <p:to>
                                        <p:strVal val="visible"/>
                                      </p:to>
                                    </p:set>
                                    <p:animEffect transition="in" filter="dissolve">
                                      <p:cBhvr>
                                        <p:cTn id="31"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A5EB4-85D5-F83E-04BE-D031838EB0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4AB9D7-355C-5E0B-3ABB-1E0CA4DCC127}"/>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6.3</a:t>
            </a:r>
            <a:r>
              <a:rPr lang="en-US" dirty="0">
                <a:solidFill/>
                <a:ea typeface="Calibri" charset="0"/>
                <a:cs typeface="Calibri" charset="0"/>
              </a:rPr>
              <a:t> Gravitation Potential Energy</a:t>
            </a:r>
            <a:endParaRPr lang="en-US" sz="3000" dirty="0"/>
          </a:p>
        </p:txBody>
      </p:sp>
      <p:grpSp>
        <p:nvGrpSpPr>
          <p:cNvPr id="3" name="Group 2">
            <a:extLst>
              <a:ext uri="{FF2B5EF4-FFF2-40B4-BE49-F238E27FC236}">
                <a16:creationId xmlns:a16="http://schemas.microsoft.com/office/drawing/2014/main" id="{175EC850-FFF4-ABF2-8398-4CC71D8C353A}"/>
              </a:ext>
            </a:extLst>
          </p:cNvPr>
          <p:cNvGrpSpPr/>
          <p:nvPr/>
        </p:nvGrpSpPr>
        <p:grpSpPr>
          <a:xfrm>
            <a:off x="781121" y="694189"/>
            <a:ext cx="10880791" cy="932903"/>
            <a:chOff x="889929" y="1815738"/>
            <a:chExt cx="10880791" cy="932903"/>
          </a:xfrm>
        </p:grpSpPr>
        <p:sp>
          <p:nvSpPr>
            <p:cNvPr id="4" name="TextBox 3">
              <a:extLst>
                <a:ext uri="{FF2B5EF4-FFF2-40B4-BE49-F238E27FC236}">
                  <a16:creationId xmlns:a16="http://schemas.microsoft.com/office/drawing/2014/main" id="{96363DD2-5B04-2550-A136-CF0D5E05B8B0}"/>
                </a:ext>
              </a:extLst>
            </p:cNvPr>
            <p:cNvSpPr txBox="1"/>
            <p:nvPr/>
          </p:nvSpPr>
          <p:spPr>
            <a:xfrm>
              <a:off x="966653" y="1815738"/>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A Gymnast on a Trampoline</a:t>
              </a:r>
            </a:p>
          </p:txBody>
        </p:sp>
        <p:sp>
          <p:nvSpPr>
            <p:cNvPr id="5" name="TextBox 4">
              <a:extLst>
                <a:ext uri="{FF2B5EF4-FFF2-40B4-BE49-F238E27FC236}">
                  <a16:creationId xmlns:a16="http://schemas.microsoft.com/office/drawing/2014/main" id="{C3D0EE23-D809-5C80-B8D1-E0E3D6E9267D}"/>
                </a:ext>
              </a:extLst>
            </p:cNvPr>
            <p:cNvSpPr txBox="1"/>
            <p:nvPr/>
          </p:nvSpPr>
          <p:spPr>
            <a:xfrm>
              <a:off x="889929" y="2286976"/>
              <a:ext cx="10880791" cy="461665"/>
            </a:xfrm>
            <a:prstGeom prst="rect">
              <a:avLst/>
            </a:prstGeom>
            <a:noFill/>
          </p:spPr>
          <p:txBody>
            <a:bodyPr wrap="square">
              <a:spAutoFit/>
            </a:bodyPr>
            <a:lstStyle/>
            <a:p>
              <a:pPr algn="just"/>
              <a:r>
                <a:rPr lang="en-US" sz="2400" dirty="0">
                  <a:solidFill/>
                  <a:effectLst/>
                  <a:latin typeface="Times" pitchFamily="2" charset="0"/>
                </a:rPr>
                <a:t>Only the gravitational force acts on the gymnast.  Thus, it is the force doing work.</a:t>
              </a:r>
            </a:p>
          </p:txBody>
        </p:sp>
      </p:grpSp>
      <p:pic>
        <p:nvPicPr>
          <p:cNvPr id="8" name="Picture 7">
            <a:extLst>
              <a:ext uri="{FF2B5EF4-FFF2-40B4-BE49-F238E27FC236}">
                <a16:creationId xmlns:a16="http://schemas.microsoft.com/office/drawing/2014/main" id="{A5B08939-DD64-7239-8849-45DDB5387407}"/>
              </a:ext>
            </a:extLst>
          </p:cNvPr>
          <p:cNvPicPr>
            <a:picLocks noChangeAspect="1"/>
          </p:cNvPicPr>
          <p:nvPr/>
        </p:nvPicPr>
        <p:blipFill>
          <a:blip r:embed="rId3"/>
          <a:srcRect l="39088" b="4343"/>
          <a:stretch/>
        </p:blipFill>
        <p:spPr>
          <a:xfrm>
            <a:off x="92764" y="3091305"/>
            <a:ext cx="3843131" cy="3296244"/>
          </a:xfrm>
          <a:prstGeom prst="rect">
            <a:avLst/>
          </a:prstGeom>
        </p:spPr>
      </p:pic>
      <p:sp>
        <p:nvSpPr>
          <p:cNvPr id="19" name="TextBox 18">
            <a:extLst>
              <a:ext uri="{FF2B5EF4-FFF2-40B4-BE49-F238E27FC236}">
                <a16:creationId xmlns:a16="http://schemas.microsoft.com/office/drawing/2014/main" id="{5C7F62D6-1A7F-1497-1DDA-928DA9A7B89A}"/>
              </a:ext>
            </a:extLst>
          </p:cNvPr>
          <p:cNvSpPr txBox="1"/>
          <p:nvPr/>
        </p:nvSpPr>
        <p:spPr>
          <a:xfrm>
            <a:off x="3696600" y="2662925"/>
            <a:ext cx="6640095" cy="461665"/>
          </a:xfrm>
          <a:prstGeom prst="rect">
            <a:avLst/>
          </a:prstGeom>
          <a:noFill/>
        </p:spPr>
        <p:txBody>
          <a:bodyPr wrap="square">
            <a:spAutoFit/>
          </a:bodyPr>
          <a:lstStyle/>
          <a:p>
            <a:pPr algn="just"/>
            <a:r>
              <a:rPr lang="en-US" sz="2400" dirty="0">
                <a:solidFill/>
                <a:latin typeface="Times" pitchFamily="2" charset="0"/>
              </a:rPr>
              <a:t>*Note that the mass of the gymnast drops out.</a:t>
            </a:r>
            <a:endParaRPr lang="en-US" sz="2400" dirty="0">
              <a:effectLst/>
              <a:latin typeface="Times" pitchFamily="2" charset="0"/>
            </a:endParaRPr>
          </a:p>
        </p:txBody>
      </p:sp>
      <p:grpSp>
        <p:nvGrpSpPr>
          <p:cNvPr id="20" name="Group 19">
            <a:extLst>
              <a:ext uri="{FF2B5EF4-FFF2-40B4-BE49-F238E27FC236}">
                <a16:creationId xmlns:a16="http://schemas.microsoft.com/office/drawing/2014/main" id="{DB8FB5F8-E71C-58D6-4735-26717400A784}"/>
              </a:ext>
            </a:extLst>
          </p:cNvPr>
          <p:cNvGrpSpPr/>
          <p:nvPr/>
        </p:nvGrpSpPr>
        <p:grpSpPr>
          <a:xfrm>
            <a:off x="801000" y="1689653"/>
            <a:ext cx="10927174" cy="742121"/>
            <a:chOff x="801000" y="1689653"/>
            <a:chExt cx="10927174" cy="742121"/>
          </a:xfrm>
        </p:grpSpPr>
        <p:sp>
          <p:nvSpPr>
            <p:cNvPr id="53" name="Rounded Rectangle 52">
              <a:extLst>
                <a:ext uri="{FF2B5EF4-FFF2-40B4-BE49-F238E27FC236}">
                  <a16:creationId xmlns:a16="http://schemas.microsoft.com/office/drawing/2014/main" id="{CEEC09C6-50D2-0249-ADC4-732BC913D5E5}"/>
                </a:ext>
              </a:extLst>
            </p:cNvPr>
            <p:cNvSpPr/>
            <p:nvPr/>
          </p:nvSpPr>
          <p:spPr>
            <a:xfrm>
              <a:off x="6917635" y="1689653"/>
              <a:ext cx="4810539" cy="7421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EB6BBA9-042C-8CF7-4E10-E8F9B68F07E4}"/>
                </a:ext>
              </a:extLst>
            </p:cNvPr>
            <p:cNvSpPr txBox="1"/>
            <p:nvPr/>
          </p:nvSpPr>
          <p:spPr>
            <a:xfrm>
              <a:off x="801000" y="1702140"/>
              <a:ext cx="10880791" cy="461665"/>
            </a:xfrm>
            <a:prstGeom prst="rect">
              <a:avLst/>
            </a:prstGeom>
            <a:noFill/>
          </p:spPr>
          <p:txBody>
            <a:bodyPr wrap="square">
              <a:spAutoFit/>
            </a:bodyPr>
            <a:lstStyle/>
            <a:p>
              <a:pPr algn="just"/>
              <a:r>
                <a:rPr lang="en-US" sz="2400" dirty="0">
                  <a:solidFill/>
                  <a:effectLst/>
                  <a:latin typeface="Times" pitchFamily="2" charset="0"/>
                </a:rPr>
                <a:t>We can use Equation 6.4 to calculate the work:</a:t>
              </a:r>
            </a:p>
          </p:txBody>
        </p:sp>
      </p:grpSp>
      <p:grpSp>
        <p:nvGrpSpPr>
          <p:cNvPr id="17" name="Group 16">
            <a:extLst>
              <a:ext uri="{FF2B5EF4-FFF2-40B4-BE49-F238E27FC236}">
                <a16:creationId xmlns:a16="http://schemas.microsoft.com/office/drawing/2014/main" id="{B8B2156C-14C5-42E6-789C-89C2C0B15A25}"/>
              </a:ext>
            </a:extLst>
          </p:cNvPr>
          <p:cNvGrpSpPr/>
          <p:nvPr/>
        </p:nvGrpSpPr>
        <p:grpSpPr>
          <a:xfrm>
            <a:off x="6983896" y="1563758"/>
            <a:ext cx="4528932" cy="828260"/>
            <a:chOff x="3074505" y="2226367"/>
            <a:chExt cx="4528932" cy="828260"/>
          </a:xfrm>
        </p:grpSpPr>
        <p:grpSp>
          <p:nvGrpSpPr>
            <p:cNvPr id="16" name="Group 15">
              <a:extLst>
                <a:ext uri="{FF2B5EF4-FFF2-40B4-BE49-F238E27FC236}">
                  <a16:creationId xmlns:a16="http://schemas.microsoft.com/office/drawing/2014/main" id="{006629B9-2D74-8051-DA35-28F02FFC7620}"/>
                </a:ext>
              </a:extLst>
            </p:cNvPr>
            <p:cNvGrpSpPr/>
            <p:nvPr/>
          </p:nvGrpSpPr>
          <p:grpSpPr>
            <a:xfrm>
              <a:off x="6308034" y="2226367"/>
              <a:ext cx="1295403" cy="781879"/>
              <a:chOff x="10230678" y="357811"/>
              <a:chExt cx="1295403" cy="781879"/>
            </a:xfrm>
          </p:grpSpPr>
          <p:pic>
            <p:nvPicPr>
              <p:cNvPr id="55" name="Picture 54">
                <a:extLst>
                  <a:ext uri="{FF2B5EF4-FFF2-40B4-BE49-F238E27FC236}">
                    <a16:creationId xmlns:a16="http://schemas.microsoft.com/office/drawing/2014/main" id="{0E7EF94F-3CE1-4B64-350D-4C73498F0F32}"/>
                  </a:ext>
                </a:extLst>
              </p:cNvPr>
              <p:cNvPicPr>
                <a:picLocks noChangeAspect="1"/>
              </p:cNvPicPr>
              <p:nvPr/>
            </p:nvPicPr>
            <p:blipFill>
              <a:blip r:embed="rId4"/>
              <a:srcRect l="79135" t="-29255" b="1"/>
              <a:stretch/>
            </p:blipFill>
            <p:spPr>
              <a:xfrm>
                <a:off x="10535478" y="357811"/>
                <a:ext cx="990603" cy="767946"/>
              </a:xfrm>
              <a:prstGeom prst="rect">
                <a:avLst/>
              </a:prstGeom>
            </p:spPr>
          </p:pic>
          <p:pic>
            <p:nvPicPr>
              <p:cNvPr id="56" name="Picture 55">
                <a:extLst>
                  <a:ext uri="{FF2B5EF4-FFF2-40B4-BE49-F238E27FC236}">
                    <a16:creationId xmlns:a16="http://schemas.microsoft.com/office/drawing/2014/main" id="{F5E2B446-3A0D-1CBB-1024-FA935ED23B01}"/>
                  </a:ext>
                </a:extLst>
              </p:cNvPr>
              <p:cNvPicPr>
                <a:picLocks noChangeAspect="1"/>
              </p:cNvPicPr>
              <p:nvPr/>
            </p:nvPicPr>
            <p:blipFill>
              <a:blip r:embed="rId4"/>
              <a:srcRect l="5582" t="5319" r="89114" b="1000"/>
              <a:stretch/>
            </p:blipFill>
            <p:spPr>
              <a:xfrm>
                <a:off x="10230678" y="583096"/>
                <a:ext cx="251794" cy="556594"/>
              </a:xfrm>
              <a:prstGeom prst="rect">
                <a:avLst/>
              </a:prstGeom>
            </p:spPr>
          </p:pic>
        </p:grpSp>
        <p:sp>
          <p:nvSpPr>
            <p:cNvPr id="7" name="TextBox 6">
              <a:extLst>
                <a:ext uri="{FF2B5EF4-FFF2-40B4-BE49-F238E27FC236}">
                  <a16:creationId xmlns:a16="http://schemas.microsoft.com/office/drawing/2014/main" id="{00692375-CC27-BBB8-50BB-F6AEC4D50776}"/>
                </a:ext>
              </a:extLst>
            </p:cNvPr>
            <p:cNvSpPr txBox="1"/>
            <p:nvPr/>
          </p:nvSpPr>
          <p:spPr>
            <a:xfrm>
              <a:off x="3602185" y="2488949"/>
              <a:ext cx="2931137" cy="461665"/>
            </a:xfrm>
            <a:prstGeom prst="rect">
              <a:avLst/>
            </a:prstGeom>
            <a:noFill/>
          </p:spPr>
          <p:txBody>
            <a:bodyPr wrap="square" rtlCol="0">
              <a:spAutoFit/>
            </a:bodyPr>
            <a:lstStyle/>
            <a:p>
              <a:pPr/>
              <a:r>
                <a:rPr lang="en-US" sz="2400" i="1" dirty="0" err="1">
                  <a:solidFill/>
                  <a:latin typeface="Times" pitchFamily="2" charset="0"/>
                </a:rPr>
                <a:t>W</a:t>
              </a:r>
              <a:r>
                <a:rPr lang="en-US" sz="2400" baseline="-25000" dirty="0" err="1">
                  <a:solidFill/>
                  <a:latin typeface="Times" pitchFamily="2" charset="0"/>
                </a:rPr>
                <a:t>Gravity</a:t>
              </a:r>
              <a:r>
                <a:rPr lang="en-US" sz="2400" dirty="0">
                  <a:solidFill/>
                  <a:latin typeface="Times" pitchFamily="2" charset="0"/>
                </a:rPr>
                <a:t> = </a:t>
              </a:r>
              <a:r>
                <a:rPr lang="en-US" sz="2400" i="1" dirty="0">
                  <a:solidFill/>
                  <a:latin typeface="Times" pitchFamily="2" charset="0"/>
                </a:rPr>
                <a:t>mg</a:t>
              </a:r>
              <a:r>
                <a:rPr lang="en-US" sz="2400" dirty="0">
                  <a:solidFill/>
                  <a:latin typeface="Times" pitchFamily="2" charset="0"/>
                </a:rPr>
                <a:t>(</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 – </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a:t>
              </a:r>
            </a:p>
          </p:txBody>
        </p:sp>
        <p:pic>
          <p:nvPicPr>
            <p:cNvPr id="15" name="Picture 14">
              <a:extLst>
                <a:ext uri="{FF2B5EF4-FFF2-40B4-BE49-F238E27FC236}">
                  <a16:creationId xmlns:a16="http://schemas.microsoft.com/office/drawing/2014/main" id="{855EDD8F-6902-725B-564B-ACEF49EEF0DA}"/>
                </a:ext>
              </a:extLst>
            </p:cNvPr>
            <p:cNvPicPr>
              <a:picLocks noChangeAspect="1"/>
            </p:cNvPicPr>
            <p:nvPr/>
          </p:nvPicPr>
          <p:blipFill>
            <a:blip r:embed="rId4"/>
            <a:srcRect t="1" r="89114" b="1000"/>
            <a:stretch/>
          </p:blipFill>
          <p:spPr>
            <a:xfrm>
              <a:off x="3074505" y="2385390"/>
              <a:ext cx="588050" cy="669237"/>
            </a:xfrm>
            <a:prstGeom prst="rect">
              <a:avLst/>
            </a:prstGeom>
          </p:spPr>
        </p:pic>
      </p:grpSp>
      <p:grpSp>
        <p:nvGrpSpPr>
          <p:cNvPr id="24" name="Group 23">
            <a:extLst>
              <a:ext uri="{FF2B5EF4-FFF2-40B4-BE49-F238E27FC236}">
                <a16:creationId xmlns:a16="http://schemas.microsoft.com/office/drawing/2014/main" id="{0296FBA6-9615-F309-04AD-2D1D701F9257}"/>
              </a:ext>
            </a:extLst>
          </p:cNvPr>
          <p:cNvGrpSpPr/>
          <p:nvPr/>
        </p:nvGrpSpPr>
        <p:grpSpPr>
          <a:xfrm>
            <a:off x="8825947" y="1839592"/>
            <a:ext cx="2370936" cy="446407"/>
            <a:chOff x="8825947" y="1839592"/>
            <a:chExt cx="2370936" cy="446407"/>
          </a:xfrm>
        </p:grpSpPr>
        <p:cxnSp>
          <p:nvCxnSpPr>
            <p:cNvPr id="22" name="Straight Connector 21">
              <a:extLst>
                <a:ext uri="{FF2B5EF4-FFF2-40B4-BE49-F238E27FC236}">
                  <a16:creationId xmlns:a16="http://schemas.microsoft.com/office/drawing/2014/main" id="{6761A739-9491-DFA4-7E5E-5A0B621EC557}"/>
                </a:ext>
              </a:extLst>
            </p:cNvPr>
            <p:cNvCxnSpPr>
              <a:cxnSpLocks/>
            </p:cNvCxnSpPr>
            <p:nvPr/>
          </p:nvCxnSpPr>
          <p:spPr>
            <a:xfrm flipV="1">
              <a:off x="8825947" y="1839592"/>
              <a:ext cx="190954" cy="400025"/>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896C18B-54B2-5091-5F05-66636CE8B568}"/>
                </a:ext>
              </a:extLst>
            </p:cNvPr>
            <p:cNvCxnSpPr>
              <a:cxnSpLocks/>
            </p:cNvCxnSpPr>
            <p:nvPr/>
          </p:nvCxnSpPr>
          <p:spPr>
            <a:xfrm flipV="1">
              <a:off x="11005929" y="1885974"/>
              <a:ext cx="190954" cy="400025"/>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B023748A-58F1-4D58-4054-4A1982D60D8C}"/>
              </a:ext>
            </a:extLst>
          </p:cNvPr>
          <p:cNvGrpSpPr/>
          <p:nvPr/>
        </p:nvGrpSpPr>
        <p:grpSpPr>
          <a:xfrm>
            <a:off x="3703226" y="3226143"/>
            <a:ext cx="8183973" cy="1624153"/>
            <a:chOff x="3703226" y="3226143"/>
            <a:chExt cx="8183973" cy="1624153"/>
          </a:xfrm>
        </p:grpSpPr>
        <p:sp>
          <p:nvSpPr>
            <p:cNvPr id="25" name="TextBox 24">
              <a:extLst>
                <a:ext uri="{FF2B5EF4-FFF2-40B4-BE49-F238E27FC236}">
                  <a16:creationId xmlns:a16="http://schemas.microsoft.com/office/drawing/2014/main" id="{67918BFC-EA2E-0C62-B93E-AE96D67302B3}"/>
                </a:ext>
              </a:extLst>
            </p:cNvPr>
            <p:cNvSpPr txBox="1"/>
            <p:nvPr/>
          </p:nvSpPr>
          <p:spPr>
            <a:xfrm>
              <a:off x="3703226" y="3226143"/>
              <a:ext cx="6640095" cy="461665"/>
            </a:xfrm>
            <a:prstGeom prst="rect">
              <a:avLst/>
            </a:prstGeom>
            <a:noFill/>
          </p:spPr>
          <p:txBody>
            <a:bodyPr wrap="square">
              <a:spAutoFit/>
            </a:bodyPr>
            <a:lstStyle/>
            <a:p>
              <a:pPr algn="just"/>
              <a:r>
                <a:rPr lang="en-US" sz="2400" dirty="0">
                  <a:solidFill/>
                  <a:latin typeface="Times" pitchFamily="2" charset="0"/>
                </a:rPr>
                <a:t>We can now solve for </a:t>
              </a:r>
              <a:r>
                <a:rPr lang="en-US" sz="2400" i="1" dirty="0">
                  <a:solidFill/>
                  <a:latin typeface="Times" pitchFamily="2" charset="0"/>
                </a:rPr>
                <a:t>v</a:t>
              </a:r>
              <a:r>
                <a:rPr lang="en-US" sz="2400" baseline="-25000" dirty="0">
                  <a:solidFill/>
                  <a:latin typeface="Times" pitchFamily="2" charset="0"/>
                </a:rPr>
                <a:t>0</a:t>
              </a:r>
              <a:r>
                <a:rPr lang="en-US" sz="2400" dirty="0">
                  <a:solidFill/>
                  <a:latin typeface="Times" pitchFamily="2" charset="0"/>
                </a:rPr>
                <a:t>:</a:t>
              </a:r>
              <a:endParaRPr lang="en-US" sz="2400" dirty="0">
                <a:effectLst/>
                <a:latin typeface="Times" pitchFamily="2" charset="0"/>
              </a:endParaRPr>
            </a:p>
          </p:txBody>
        </p:sp>
        <p:sp>
          <p:nvSpPr>
            <p:cNvPr id="27" name="Rounded Rectangle 26">
              <a:extLst>
                <a:ext uri="{FF2B5EF4-FFF2-40B4-BE49-F238E27FC236}">
                  <a16:creationId xmlns:a16="http://schemas.microsoft.com/office/drawing/2014/main" id="{0CD356DF-4B74-C74D-B27C-708E734FB175}"/>
                </a:ext>
              </a:extLst>
            </p:cNvPr>
            <p:cNvSpPr/>
            <p:nvPr/>
          </p:nvSpPr>
          <p:spPr>
            <a:xfrm>
              <a:off x="3843130" y="3975652"/>
              <a:ext cx="8044069" cy="8746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6" name="Picture 25">
            <a:extLst>
              <a:ext uri="{FF2B5EF4-FFF2-40B4-BE49-F238E27FC236}">
                <a16:creationId xmlns:a16="http://schemas.microsoft.com/office/drawing/2014/main" id="{CE0D583C-F250-CAE8-DED8-E3D96797C675}"/>
              </a:ext>
            </a:extLst>
          </p:cNvPr>
          <p:cNvPicPr>
            <a:picLocks noChangeAspect="1"/>
          </p:cNvPicPr>
          <p:nvPr/>
        </p:nvPicPr>
        <p:blipFill>
          <a:blip r:embed="rId5"/>
          <a:stretch>
            <a:fillRect/>
          </a:stretch>
        </p:blipFill>
        <p:spPr>
          <a:xfrm>
            <a:off x="3927929" y="4155637"/>
            <a:ext cx="2207827" cy="554908"/>
          </a:xfrm>
          <a:prstGeom prst="rect">
            <a:avLst/>
          </a:prstGeom>
        </p:spPr>
      </p:pic>
      <p:pic>
        <p:nvPicPr>
          <p:cNvPr id="29" name="Picture 28">
            <a:extLst>
              <a:ext uri="{FF2B5EF4-FFF2-40B4-BE49-F238E27FC236}">
                <a16:creationId xmlns:a16="http://schemas.microsoft.com/office/drawing/2014/main" id="{FF0C05C1-B8F9-4467-C0D7-F989AC177196}"/>
              </a:ext>
            </a:extLst>
          </p:cNvPr>
          <p:cNvPicPr>
            <a:picLocks noChangeAspect="1"/>
          </p:cNvPicPr>
          <p:nvPr/>
        </p:nvPicPr>
        <p:blipFill>
          <a:blip r:embed="rId6"/>
          <a:stretch>
            <a:fillRect/>
          </a:stretch>
        </p:blipFill>
        <p:spPr>
          <a:xfrm>
            <a:off x="6255025" y="4137970"/>
            <a:ext cx="4151243" cy="519250"/>
          </a:xfrm>
          <a:prstGeom prst="rect">
            <a:avLst/>
          </a:prstGeom>
        </p:spPr>
      </p:pic>
      <p:pic>
        <p:nvPicPr>
          <p:cNvPr id="30" name="Picture 29">
            <a:extLst>
              <a:ext uri="{FF2B5EF4-FFF2-40B4-BE49-F238E27FC236}">
                <a16:creationId xmlns:a16="http://schemas.microsoft.com/office/drawing/2014/main" id="{CCB02FBF-6C0E-645B-645E-70E37F69D7F0}"/>
              </a:ext>
            </a:extLst>
          </p:cNvPr>
          <p:cNvPicPr>
            <a:picLocks noChangeAspect="1"/>
          </p:cNvPicPr>
          <p:nvPr/>
        </p:nvPicPr>
        <p:blipFill>
          <a:blip r:embed="rId7"/>
          <a:stretch>
            <a:fillRect/>
          </a:stretch>
        </p:blipFill>
        <p:spPr>
          <a:xfrm>
            <a:off x="10513028" y="4280452"/>
            <a:ext cx="1240326" cy="200991"/>
          </a:xfrm>
          <a:prstGeom prst="rect">
            <a:avLst/>
          </a:prstGeom>
        </p:spPr>
      </p:pic>
      <p:sp>
        <p:nvSpPr>
          <p:cNvPr id="31" name="Rectangle 30">
            <a:extLst>
              <a:ext uri="{FF2B5EF4-FFF2-40B4-BE49-F238E27FC236}">
                <a16:creationId xmlns:a16="http://schemas.microsoft.com/office/drawing/2014/main" id="{03C60F5D-663C-43C1-E7C8-6BDBEC5DBC00}"/>
              </a:ext>
            </a:extLst>
          </p:cNvPr>
          <p:cNvSpPr/>
          <p:nvPr/>
        </p:nvSpPr>
        <p:spPr>
          <a:xfrm>
            <a:off x="10694504" y="4200939"/>
            <a:ext cx="1113183" cy="38431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DB35A2B0-27C9-3E9C-EEB2-169C705CBD43}"/>
              </a:ext>
            </a:extLst>
          </p:cNvPr>
          <p:cNvSpPr txBox="1"/>
          <p:nvPr/>
        </p:nvSpPr>
        <p:spPr>
          <a:xfrm>
            <a:off x="3795991" y="5028438"/>
            <a:ext cx="7362339" cy="1200329"/>
          </a:xfrm>
          <a:prstGeom prst="rect">
            <a:avLst/>
          </a:prstGeom>
          <a:noFill/>
        </p:spPr>
        <p:txBody>
          <a:bodyPr wrap="square">
            <a:spAutoFit/>
          </a:bodyPr>
          <a:lstStyle/>
          <a:p>
            <a:pPr algn="just"/>
            <a:r>
              <a:rPr lang="en-US" sz="2400" dirty="0">
                <a:solidFill/>
                <a:latin typeface="Times" pitchFamily="2" charset="0"/>
              </a:rPr>
              <a:t>*Here, the force and displacement are in opposite directions – negative work is being done by gravity (the weight).  </a:t>
            </a:r>
            <a:endParaRPr lang="en-US" sz="2400" dirty="0">
              <a:effectLst/>
              <a:latin typeface="Times" pitchFamily="2" charset="0"/>
            </a:endParaRPr>
          </a:p>
        </p:txBody>
      </p:sp>
      <p:sp>
        <p:nvSpPr>
          <p:cNvPr id="34" name="TextBox 33">
            <a:extLst>
              <a:ext uri="{FF2B5EF4-FFF2-40B4-BE49-F238E27FC236}">
                <a16:creationId xmlns:a16="http://schemas.microsoft.com/office/drawing/2014/main" id="{496CF1E7-4D60-C32E-0356-91051C7F1B25}"/>
              </a:ext>
            </a:extLst>
          </p:cNvPr>
          <p:cNvSpPr txBox="1"/>
          <p:nvPr/>
        </p:nvSpPr>
        <p:spPr>
          <a:xfrm>
            <a:off x="5392879" y="5896455"/>
            <a:ext cx="6361800" cy="461665"/>
          </a:xfrm>
          <a:prstGeom prst="rect">
            <a:avLst/>
          </a:prstGeom>
          <a:noFill/>
        </p:spPr>
        <p:txBody>
          <a:bodyPr wrap="square">
            <a:spAutoFit/>
          </a:bodyPr>
          <a:lstStyle/>
          <a:p>
            <a:pPr algn="just"/>
            <a:r>
              <a:rPr lang="en-US" sz="2400" dirty="0">
                <a:solidFill/>
                <a:latin typeface="Times" pitchFamily="2" charset="0"/>
              </a:rPr>
              <a:t>Therefore, the gymnast must be slowing down.</a:t>
            </a:r>
            <a:endParaRPr lang="en-US" sz="2400" dirty="0">
              <a:effectLst/>
              <a:latin typeface="Times" pitchFamily="2" charset="0"/>
            </a:endParaRPr>
          </a:p>
        </p:txBody>
      </p:sp>
    </p:spTree>
    <p:extLst>
      <p:ext uri="{BB962C8B-B14F-4D97-AF65-F5344CB8AC3E}">
        <p14:creationId xmlns:p14="http://schemas.microsoft.com/office/powerpoint/2010/main" val="3442305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dissolv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dissolve">
                                      <p:cBhvr>
                                        <p:cTn id="17" dur="500"/>
                                        <p:tgtEl>
                                          <p:spTgt spid="19"/>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dissolve">
                                      <p:cBhvr>
                                        <p:cTn id="21" dur="5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dissolve">
                                      <p:cBhvr>
                                        <p:cTn id="26" dur="500"/>
                                        <p:tgtEl>
                                          <p:spTgt spid="2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dissolve">
                                      <p:cBhvr>
                                        <p:cTn id="31" dur="500"/>
                                        <p:tgtEl>
                                          <p:spTgt spid="26"/>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dissolve">
                                      <p:cBhvr>
                                        <p:cTn id="36" dur="500"/>
                                        <p:tgtEl>
                                          <p:spTgt spid="29"/>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dissolve">
                                      <p:cBhvr>
                                        <p:cTn id="41" dur="500"/>
                                        <p:tgtEl>
                                          <p:spTgt spid="30"/>
                                        </p:tgtEl>
                                      </p:cBhvr>
                                    </p:animEffect>
                                  </p:childTnLst>
                                </p:cTn>
                              </p:par>
                            </p:childTnLst>
                          </p:cTn>
                        </p:par>
                        <p:par>
                          <p:cTn id="42" fill="hold">
                            <p:stCondLst>
                              <p:cond delay="500"/>
                            </p:stCondLst>
                            <p:childTnLst>
                              <p:par>
                                <p:cTn id="43" presetID="9" presetClass="entr" presetSubtype="0" fill="hold" grpId="0" nodeType="after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dissolve">
                                      <p:cBhvr>
                                        <p:cTn id="45" dur="500"/>
                                        <p:tgtEl>
                                          <p:spTgt spid="31"/>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dissolve">
                                      <p:cBhvr>
                                        <p:cTn id="50" dur="500"/>
                                        <p:tgtEl>
                                          <p:spTgt spid="32"/>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dissolve">
                                      <p:cBhvr>
                                        <p:cTn id="5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1" grpId="0" animBg="1"/>
      <p:bldP spid="32" grpId="0"/>
      <p:bldP spid="3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A788D-9E59-0295-265F-A78141E1B4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4DBDC6-0C5A-878C-34F8-420F8A0E3C31}"/>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6.3</a:t>
            </a:r>
            <a:r>
              <a:rPr lang="en-US" dirty="0">
                <a:solidFill/>
                <a:ea typeface="Calibri" charset="0"/>
                <a:cs typeface="Calibri" charset="0"/>
              </a:rPr>
              <a:t> Gravitation Potential Energy</a:t>
            </a:r>
            <a:endParaRPr lang="en-US" sz="3000" dirty="0"/>
          </a:p>
        </p:txBody>
      </p:sp>
      <p:sp>
        <p:nvSpPr>
          <p:cNvPr id="6" name="TextBox 5">
            <a:extLst>
              <a:ext uri="{FF2B5EF4-FFF2-40B4-BE49-F238E27FC236}">
                <a16:creationId xmlns:a16="http://schemas.microsoft.com/office/drawing/2014/main" id="{EAAC6056-814F-364E-C518-3DC6BD06E50E}"/>
              </a:ext>
            </a:extLst>
          </p:cNvPr>
          <p:cNvSpPr txBox="1"/>
          <p:nvPr/>
        </p:nvSpPr>
        <p:spPr>
          <a:xfrm>
            <a:off x="940905" y="769491"/>
            <a:ext cx="6096000" cy="461665"/>
          </a:xfrm>
          <a:prstGeom prst="rect">
            <a:avLst/>
          </a:prstGeom>
          <a:noFill/>
        </p:spPr>
        <p:txBody>
          <a:bodyPr wrap="square">
            <a:spAutoFit/>
          </a:bodyPr>
          <a:lstStyle/>
          <a:p>
            <a:pPr/>
            <a:r>
              <a:rPr lang="en-US" sz="2400" dirty="0">
                <a:solidFill>
                  <a:srgbClr val="C00000"/>
                </a:solidFill>
                <a:latin typeface="Times" pitchFamily="2" charset="0"/>
              </a:rPr>
              <a:t>Gravitational Potential Energy</a:t>
            </a:r>
          </a:p>
        </p:txBody>
      </p:sp>
      <p:sp>
        <p:nvSpPr>
          <p:cNvPr id="9" name="TextBox 8">
            <a:extLst>
              <a:ext uri="{FF2B5EF4-FFF2-40B4-BE49-F238E27FC236}">
                <a16:creationId xmlns:a16="http://schemas.microsoft.com/office/drawing/2014/main" id="{DFE8FF9C-5B69-3FE2-0605-6C6304976CAB}"/>
              </a:ext>
            </a:extLst>
          </p:cNvPr>
          <p:cNvSpPr txBox="1"/>
          <p:nvPr/>
        </p:nvSpPr>
        <p:spPr>
          <a:xfrm>
            <a:off x="957472" y="1293743"/>
            <a:ext cx="8428382" cy="461665"/>
          </a:xfrm>
          <a:prstGeom prst="rect">
            <a:avLst/>
          </a:prstGeom>
          <a:noFill/>
        </p:spPr>
        <p:txBody>
          <a:bodyPr wrap="square" rtlCol="0">
            <a:spAutoFit/>
          </a:bodyPr>
          <a:lstStyle/>
          <a:p>
            <a:pPr/>
            <a:r>
              <a:rPr lang="en-US" sz="2400" dirty="0">
                <a:solidFill/>
                <a:latin typeface="Times" pitchFamily="2" charset="0"/>
              </a:rPr>
              <a:t>Let’s write out Equation 6.4 again:  </a:t>
            </a:r>
          </a:p>
        </p:txBody>
      </p:sp>
      <p:sp>
        <p:nvSpPr>
          <p:cNvPr id="3" name="TextBox 2">
            <a:extLst>
              <a:ext uri="{FF2B5EF4-FFF2-40B4-BE49-F238E27FC236}">
                <a16:creationId xmlns:a16="http://schemas.microsoft.com/office/drawing/2014/main" id="{706DEAE2-1BBC-1B0E-5395-13E386E51DF7}"/>
              </a:ext>
            </a:extLst>
          </p:cNvPr>
          <p:cNvSpPr txBox="1"/>
          <p:nvPr/>
        </p:nvSpPr>
        <p:spPr>
          <a:xfrm>
            <a:off x="5504926" y="1296253"/>
            <a:ext cx="3268013" cy="461665"/>
          </a:xfrm>
          <a:prstGeom prst="rect">
            <a:avLst/>
          </a:prstGeom>
          <a:noFill/>
        </p:spPr>
        <p:txBody>
          <a:bodyPr wrap="square" rtlCol="0">
            <a:spAutoFit/>
          </a:bodyPr>
          <a:lstStyle/>
          <a:p>
            <a:pPr/>
            <a:r>
              <a:rPr lang="en-US" sz="2400" i="1" dirty="0" err="1">
                <a:solidFill/>
                <a:latin typeface="Times" pitchFamily="2" charset="0"/>
              </a:rPr>
              <a:t>W</a:t>
            </a:r>
            <a:r>
              <a:rPr lang="en-US" sz="2400" baseline="-25000" dirty="0" err="1">
                <a:solidFill/>
                <a:latin typeface="Times" pitchFamily="2" charset="0"/>
              </a:rPr>
              <a:t>Gravity</a:t>
            </a:r>
            <a:r>
              <a:rPr lang="en-US" sz="2400" dirty="0">
                <a:solidFill/>
                <a:latin typeface="Times" pitchFamily="2" charset="0"/>
              </a:rPr>
              <a:t> = </a:t>
            </a:r>
            <a:r>
              <a:rPr lang="en-US" sz="2400" i="1" dirty="0">
                <a:solidFill/>
                <a:latin typeface="Times" pitchFamily="2" charset="0"/>
              </a:rPr>
              <a:t>mg</a:t>
            </a:r>
            <a:r>
              <a:rPr lang="en-US" sz="2400" dirty="0">
                <a:solidFill/>
                <a:latin typeface="Times" pitchFamily="2" charset="0"/>
              </a:rPr>
              <a:t>(</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 – </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a:t>
            </a:r>
            <a:endParaRPr lang="en-US" sz="2400" baseline="-25000" dirty="0">
              <a:latin typeface="Times" pitchFamily="2" charset="0"/>
            </a:endParaRPr>
          </a:p>
        </p:txBody>
      </p:sp>
      <p:sp>
        <p:nvSpPr>
          <p:cNvPr id="4" name="TextBox 3">
            <a:extLst>
              <a:ext uri="{FF2B5EF4-FFF2-40B4-BE49-F238E27FC236}">
                <a16:creationId xmlns:a16="http://schemas.microsoft.com/office/drawing/2014/main" id="{9AC8259E-FF19-BA49-D728-8776A65057C9}"/>
              </a:ext>
            </a:extLst>
          </p:cNvPr>
          <p:cNvSpPr txBox="1"/>
          <p:nvPr/>
        </p:nvSpPr>
        <p:spPr>
          <a:xfrm>
            <a:off x="8189844" y="1285461"/>
            <a:ext cx="2504661" cy="461665"/>
          </a:xfrm>
          <a:prstGeom prst="rect">
            <a:avLst/>
          </a:prstGeom>
          <a:noFill/>
        </p:spPr>
        <p:txBody>
          <a:bodyPr wrap="square" rtlCol="0">
            <a:spAutoFit/>
          </a:bodyPr>
          <a:lstStyle/>
          <a:p>
            <a:pPr/>
            <a:r>
              <a:rPr lang="en-US" sz="2400" dirty="0">
                <a:solidFill/>
                <a:latin typeface="Times" pitchFamily="2" charset="0"/>
              </a:rPr>
              <a:t>= </a:t>
            </a:r>
            <a:r>
              <a:rPr lang="en-US" sz="2400" i="1" dirty="0">
                <a:solidFill/>
                <a:latin typeface="Times" pitchFamily="2" charset="0"/>
              </a:rPr>
              <a:t>mgh</a:t>
            </a:r>
            <a:r>
              <a:rPr lang="en-US" sz="2400" baseline="-25000" dirty="0">
                <a:solidFill/>
                <a:latin typeface="Times" pitchFamily="2" charset="0"/>
              </a:rPr>
              <a:t>0</a:t>
            </a:r>
            <a:r>
              <a:rPr lang="en-US" sz="2400" dirty="0">
                <a:solidFill/>
                <a:latin typeface="Times" pitchFamily="2" charset="0"/>
              </a:rPr>
              <a:t> – </a:t>
            </a:r>
            <a:r>
              <a:rPr lang="en-US" sz="2400" i="1" dirty="0" err="1">
                <a:solidFill/>
                <a:latin typeface="Times" pitchFamily="2" charset="0"/>
              </a:rPr>
              <a:t>mgh</a:t>
            </a:r>
            <a:r>
              <a:rPr lang="en-US" sz="2400" baseline="-25000" dirty="0" err="1">
                <a:solidFill/>
                <a:latin typeface="Times" pitchFamily="2" charset="0"/>
              </a:rPr>
              <a:t>f</a:t>
            </a:r>
            <a:endParaRPr lang="en-US" sz="2400" dirty="0"/>
          </a:p>
        </p:txBody>
      </p:sp>
      <p:sp>
        <p:nvSpPr>
          <p:cNvPr id="5" name="TextBox 4">
            <a:extLst>
              <a:ext uri="{FF2B5EF4-FFF2-40B4-BE49-F238E27FC236}">
                <a16:creationId xmlns:a16="http://schemas.microsoft.com/office/drawing/2014/main" id="{B0FF33EA-71B6-AEDC-55A2-A53EC266283E}"/>
              </a:ext>
            </a:extLst>
          </p:cNvPr>
          <p:cNvSpPr txBox="1"/>
          <p:nvPr/>
        </p:nvSpPr>
        <p:spPr>
          <a:xfrm>
            <a:off x="964098" y="2015986"/>
            <a:ext cx="10313502" cy="461665"/>
          </a:xfrm>
          <a:prstGeom prst="rect">
            <a:avLst/>
          </a:prstGeom>
          <a:noFill/>
        </p:spPr>
        <p:txBody>
          <a:bodyPr wrap="square" rtlCol="0">
            <a:spAutoFit/>
          </a:bodyPr>
          <a:lstStyle/>
          <a:p>
            <a:pPr/>
            <a:r>
              <a:rPr lang="en-US" sz="2400" dirty="0">
                <a:solidFill/>
                <a:latin typeface="Times" pitchFamily="2" charset="0"/>
              </a:rPr>
              <a:t>Recall that work is energy transferred to an object by a force (here gravity).</a:t>
            </a:r>
          </a:p>
        </p:txBody>
      </p:sp>
      <p:sp>
        <p:nvSpPr>
          <p:cNvPr id="7" name="TextBox 6">
            <a:extLst>
              <a:ext uri="{FF2B5EF4-FFF2-40B4-BE49-F238E27FC236}">
                <a16:creationId xmlns:a16="http://schemas.microsoft.com/office/drawing/2014/main" id="{F8DE794D-95CF-7A15-DF11-BFD631145DF4}"/>
              </a:ext>
            </a:extLst>
          </p:cNvPr>
          <p:cNvSpPr txBox="1"/>
          <p:nvPr/>
        </p:nvSpPr>
        <p:spPr>
          <a:xfrm>
            <a:off x="983975" y="2618960"/>
            <a:ext cx="10982737" cy="1200329"/>
          </a:xfrm>
          <a:prstGeom prst="rect">
            <a:avLst/>
          </a:prstGeom>
          <a:noFill/>
        </p:spPr>
        <p:txBody>
          <a:bodyPr wrap="square" rtlCol="0">
            <a:spAutoFit/>
          </a:bodyPr>
          <a:lstStyle/>
          <a:p>
            <a:pPr algn="just"/>
            <a:r>
              <a:rPr lang="en-US" sz="2400" dirty="0">
                <a:solidFill/>
                <a:latin typeface="Times" pitchFamily="2" charset="0"/>
              </a:rPr>
              <a:t>Thus, the two terms on the right side of the expression above represent the energy added to an object (if positive work by gravity is done) or lost by the object (if negative work by gravity is done).  </a:t>
            </a:r>
          </a:p>
        </p:txBody>
      </p:sp>
      <p:sp>
        <p:nvSpPr>
          <p:cNvPr id="8" name="TextBox 7">
            <a:extLst>
              <a:ext uri="{FF2B5EF4-FFF2-40B4-BE49-F238E27FC236}">
                <a16:creationId xmlns:a16="http://schemas.microsoft.com/office/drawing/2014/main" id="{5CD8090C-20E3-C78E-AC06-B0B8E4F51D53}"/>
              </a:ext>
            </a:extLst>
          </p:cNvPr>
          <p:cNvSpPr txBox="1"/>
          <p:nvPr/>
        </p:nvSpPr>
        <p:spPr>
          <a:xfrm>
            <a:off x="1003853" y="3884543"/>
            <a:ext cx="10982737" cy="830997"/>
          </a:xfrm>
          <a:prstGeom prst="rect">
            <a:avLst/>
          </a:prstGeom>
          <a:noFill/>
        </p:spPr>
        <p:txBody>
          <a:bodyPr wrap="square" rtlCol="0">
            <a:spAutoFit/>
          </a:bodyPr>
          <a:lstStyle/>
          <a:p>
            <a:pPr algn="just"/>
            <a:r>
              <a:rPr lang="en-US" sz="2400" dirty="0">
                <a:solidFill/>
                <a:latin typeface="Times" pitchFamily="2" charset="0"/>
              </a:rPr>
              <a:t>Notice that each term is an “</a:t>
            </a:r>
            <a:r>
              <a:rPr lang="en-US" sz="2400" i="1" dirty="0" err="1">
                <a:solidFill/>
                <a:latin typeface="Times" pitchFamily="2" charset="0"/>
              </a:rPr>
              <a:t>mgh</a:t>
            </a:r>
            <a:r>
              <a:rPr lang="en-US" sz="2400" dirty="0">
                <a:solidFill/>
                <a:latin typeface="Times" pitchFamily="2" charset="0"/>
              </a:rPr>
              <a:t>”.  In other words, the value of the energy depends on the position of the object relative to some origin.</a:t>
            </a:r>
          </a:p>
        </p:txBody>
      </p:sp>
      <p:grpSp>
        <p:nvGrpSpPr>
          <p:cNvPr id="14" name="Group 13">
            <a:extLst>
              <a:ext uri="{FF2B5EF4-FFF2-40B4-BE49-F238E27FC236}">
                <a16:creationId xmlns:a16="http://schemas.microsoft.com/office/drawing/2014/main" id="{5EEABE64-C3FB-F82D-6221-9E655CF6774F}"/>
              </a:ext>
            </a:extLst>
          </p:cNvPr>
          <p:cNvGrpSpPr/>
          <p:nvPr/>
        </p:nvGrpSpPr>
        <p:grpSpPr>
          <a:xfrm>
            <a:off x="1010480" y="4765813"/>
            <a:ext cx="6980581" cy="468796"/>
            <a:chOff x="1010480" y="4765813"/>
            <a:chExt cx="6980581" cy="468796"/>
          </a:xfrm>
        </p:grpSpPr>
        <p:sp>
          <p:nvSpPr>
            <p:cNvPr id="11" name="TextBox 10">
              <a:extLst>
                <a:ext uri="{FF2B5EF4-FFF2-40B4-BE49-F238E27FC236}">
                  <a16:creationId xmlns:a16="http://schemas.microsoft.com/office/drawing/2014/main" id="{B4EF628A-2E53-5BD1-435C-EEC691FCF23E}"/>
                </a:ext>
              </a:extLst>
            </p:cNvPr>
            <p:cNvSpPr txBox="1"/>
            <p:nvPr/>
          </p:nvSpPr>
          <p:spPr>
            <a:xfrm>
              <a:off x="1010480" y="4765813"/>
              <a:ext cx="6980581" cy="461665"/>
            </a:xfrm>
            <a:prstGeom prst="rect">
              <a:avLst/>
            </a:prstGeom>
            <a:noFill/>
          </p:spPr>
          <p:txBody>
            <a:bodyPr wrap="square" rtlCol="0">
              <a:spAutoFit/>
            </a:bodyPr>
            <a:lstStyle/>
            <a:p>
              <a:pPr algn="just"/>
              <a:r>
                <a:rPr lang="en-US" sz="2400" dirty="0">
                  <a:solidFill/>
                  <a:latin typeface="Times" pitchFamily="2" charset="0"/>
                </a:rPr>
                <a:t>We call this                                                                .  </a:t>
              </a:r>
            </a:p>
          </p:txBody>
        </p:sp>
        <p:sp>
          <p:nvSpPr>
            <p:cNvPr id="12" name="Rounded Rectangle 11">
              <a:extLst>
                <a:ext uri="{FF2B5EF4-FFF2-40B4-BE49-F238E27FC236}">
                  <a16:creationId xmlns:a16="http://schemas.microsoft.com/office/drawing/2014/main" id="{B8F9C9A2-A098-3CD6-F049-3C8DF9BC0029}"/>
                </a:ext>
              </a:extLst>
            </p:cNvPr>
            <p:cNvSpPr/>
            <p:nvPr/>
          </p:nvSpPr>
          <p:spPr>
            <a:xfrm>
              <a:off x="2610678" y="4784035"/>
              <a:ext cx="4717774" cy="4505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55E75A3B-348E-9B33-DB14-34D45FE765CE}"/>
              </a:ext>
            </a:extLst>
          </p:cNvPr>
          <p:cNvSpPr txBox="1"/>
          <p:nvPr/>
        </p:nvSpPr>
        <p:spPr>
          <a:xfrm>
            <a:off x="2637182" y="4837042"/>
            <a:ext cx="5605670"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Gravitational Potential Energy</a:t>
            </a:r>
          </a:p>
        </p:txBody>
      </p:sp>
      <p:grpSp>
        <p:nvGrpSpPr>
          <p:cNvPr id="40" name="Group 39">
            <a:extLst>
              <a:ext uri="{FF2B5EF4-FFF2-40B4-BE49-F238E27FC236}">
                <a16:creationId xmlns:a16="http://schemas.microsoft.com/office/drawing/2014/main" id="{72F47011-F290-E669-57C0-73E82BBA15A0}"/>
              </a:ext>
            </a:extLst>
          </p:cNvPr>
          <p:cNvGrpSpPr/>
          <p:nvPr/>
        </p:nvGrpSpPr>
        <p:grpSpPr>
          <a:xfrm>
            <a:off x="8600661" y="4611757"/>
            <a:ext cx="2676941" cy="781878"/>
            <a:chOff x="8600661" y="4611757"/>
            <a:chExt cx="2676941" cy="781878"/>
          </a:xfrm>
        </p:grpSpPr>
        <p:sp>
          <p:nvSpPr>
            <p:cNvPr id="19" name="TextBox 18">
              <a:extLst>
                <a:ext uri="{FF2B5EF4-FFF2-40B4-BE49-F238E27FC236}">
                  <a16:creationId xmlns:a16="http://schemas.microsoft.com/office/drawing/2014/main" id="{D0283B0F-2E3C-9B5A-0146-5280A68E343D}"/>
                </a:ext>
              </a:extLst>
            </p:cNvPr>
            <p:cNvSpPr txBox="1"/>
            <p:nvPr/>
          </p:nvSpPr>
          <p:spPr>
            <a:xfrm>
              <a:off x="8693428" y="4638260"/>
              <a:ext cx="2584174" cy="707886"/>
            </a:xfrm>
            <a:prstGeom prst="rect">
              <a:avLst/>
            </a:prstGeom>
            <a:noFill/>
          </p:spPr>
          <p:txBody>
            <a:bodyPr wrap="square" rtlCol="0">
              <a:spAutoFit/>
            </a:bodyPr>
            <a:lstStyle/>
            <a:p>
              <a:pPr/>
              <a:r>
                <a:rPr lang="en-US" sz="2000" b="1" dirty="0">
                  <a:solidFill>
                    <a:srgbClr val="007440"/>
                  </a:solidFill>
                  <a:latin typeface="Times" pitchFamily="2" charset="0"/>
                </a:rPr>
                <a:t>Po</a:t>
              </a:r>
              <a:r>
                <a:rPr lang="en-US" sz="2000" dirty="0">
                  <a:solidFill/>
                  <a:latin typeface="Times" pitchFamily="2" charset="0"/>
                </a:rPr>
                <a:t>tential energy is energy of </a:t>
              </a:r>
              <a:r>
                <a:rPr lang="en-US" sz="2000" b="1" dirty="0">
                  <a:solidFill>
                    <a:srgbClr val="007440"/>
                  </a:solidFill>
                  <a:latin typeface="Times" pitchFamily="2" charset="0"/>
                </a:rPr>
                <a:t>po</a:t>
              </a:r>
              <a:r>
                <a:rPr lang="en-US" sz="2000" dirty="0">
                  <a:solidFill/>
                  <a:latin typeface="Times" pitchFamily="2" charset="0"/>
                </a:rPr>
                <a:t>sition!</a:t>
              </a:r>
            </a:p>
          </p:txBody>
        </p:sp>
        <p:sp>
          <p:nvSpPr>
            <p:cNvPr id="24" name="Rectangle 23">
              <a:extLst>
                <a:ext uri="{FF2B5EF4-FFF2-40B4-BE49-F238E27FC236}">
                  <a16:creationId xmlns:a16="http://schemas.microsoft.com/office/drawing/2014/main" id="{4EC1D05A-02F6-6D2A-6E28-1CB20E7C3DEC}"/>
                </a:ext>
              </a:extLst>
            </p:cNvPr>
            <p:cNvSpPr/>
            <p:nvPr/>
          </p:nvSpPr>
          <p:spPr>
            <a:xfrm>
              <a:off x="8600661" y="4611757"/>
              <a:ext cx="2252869" cy="781878"/>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 name="Group 51">
            <a:extLst>
              <a:ext uri="{FF2B5EF4-FFF2-40B4-BE49-F238E27FC236}">
                <a16:creationId xmlns:a16="http://schemas.microsoft.com/office/drawing/2014/main" id="{E27E07F9-9A2F-5A04-E2B8-99723807F858}"/>
              </a:ext>
            </a:extLst>
          </p:cNvPr>
          <p:cNvGrpSpPr/>
          <p:nvPr/>
        </p:nvGrpSpPr>
        <p:grpSpPr>
          <a:xfrm>
            <a:off x="1030358" y="5713343"/>
            <a:ext cx="10962859" cy="462171"/>
            <a:chOff x="1030358" y="5713343"/>
            <a:chExt cx="10962859" cy="462171"/>
          </a:xfrm>
        </p:grpSpPr>
        <p:sp>
          <p:nvSpPr>
            <p:cNvPr id="41" name="TextBox 40">
              <a:extLst>
                <a:ext uri="{FF2B5EF4-FFF2-40B4-BE49-F238E27FC236}">
                  <a16:creationId xmlns:a16="http://schemas.microsoft.com/office/drawing/2014/main" id="{5AC23A83-3865-AB69-2A08-BEAE916BEC8C}"/>
                </a:ext>
              </a:extLst>
            </p:cNvPr>
            <p:cNvSpPr txBox="1"/>
            <p:nvPr/>
          </p:nvSpPr>
          <p:spPr>
            <a:xfrm>
              <a:off x="1030358" y="5713343"/>
              <a:ext cx="10962859" cy="461665"/>
            </a:xfrm>
            <a:prstGeom prst="rect">
              <a:avLst/>
            </a:prstGeom>
            <a:noFill/>
          </p:spPr>
          <p:txBody>
            <a:bodyPr wrap="square" rtlCol="0">
              <a:spAutoFit/>
            </a:bodyPr>
            <a:lstStyle/>
            <a:p>
              <a:pPr algn="just"/>
              <a:r>
                <a:rPr lang="en-US" sz="2400" dirty="0">
                  <a:solidFill/>
                  <a:latin typeface="Times" pitchFamily="2" charset="0"/>
                </a:rPr>
                <a:t>The                 an object is, the greater its </a:t>
              </a:r>
              <a:r>
                <a:rPr lang="en-US" sz="2400" dirty="0">
                  <a:solidFill>
                    <a:srgbClr val="007440"/>
                  </a:solidFill>
                  <a:latin typeface="Times" pitchFamily="2" charset="0"/>
                </a:rPr>
                <a:t>gravitational potential energy</a:t>
              </a:r>
              <a:r>
                <a:rPr lang="en-US" sz="2400" dirty="0">
                  <a:solidFill/>
                  <a:latin typeface="Times" pitchFamily="2" charset="0"/>
                </a:rPr>
                <a:t>.</a:t>
              </a:r>
            </a:p>
          </p:txBody>
        </p:sp>
        <p:sp>
          <p:nvSpPr>
            <p:cNvPr id="49" name="Rounded Rectangle 48">
              <a:extLst>
                <a:ext uri="{FF2B5EF4-FFF2-40B4-BE49-F238E27FC236}">
                  <a16:creationId xmlns:a16="http://schemas.microsoft.com/office/drawing/2014/main" id="{9AD5F646-CDE3-4105-D583-CB70E7AD00C6}"/>
                </a:ext>
              </a:extLst>
            </p:cNvPr>
            <p:cNvSpPr/>
            <p:nvPr/>
          </p:nvSpPr>
          <p:spPr>
            <a:xfrm>
              <a:off x="1696279" y="5764697"/>
              <a:ext cx="1060174" cy="4108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0" name="TextBox 49">
            <a:extLst>
              <a:ext uri="{FF2B5EF4-FFF2-40B4-BE49-F238E27FC236}">
                <a16:creationId xmlns:a16="http://schemas.microsoft.com/office/drawing/2014/main" id="{9755F145-6BD3-A5DE-B875-16F27A4B2E09}"/>
              </a:ext>
            </a:extLst>
          </p:cNvPr>
          <p:cNvSpPr txBox="1"/>
          <p:nvPr/>
        </p:nvSpPr>
        <p:spPr>
          <a:xfrm>
            <a:off x="3485322" y="-649357"/>
            <a:ext cx="1577008" cy="369332"/>
          </a:xfrm>
          <a:prstGeom prst="rect">
            <a:avLst/>
          </a:prstGeom>
          <a:noFill/>
        </p:spPr>
        <p:txBody>
          <a:bodyPr wrap="square" rtlCol="0">
            <a:spAutoFit/>
          </a:bodyPr>
          <a:lstStyle/>
          <a:p>
            <a:pPr/>
            <a:endParaRPr lang="en-US" dirty="0"/>
          </a:p>
        </p:txBody>
      </p:sp>
      <p:sp>
        <p:nvSpPr>
          <p:cNvPr id="51" name="TextBox 50">
            <a:extLst>
              <a:ext uri="{FF2B5EF4-FFF2-40B4-BE49-F238E27FC236}">
                <a16:creationId xmlns:a16="http://schemas.microsoft.com/office/drawing/2014/main" id="{F96F2F28-274D-C509-E1AC-74180F0A102C}"/>
              </a:ext>
            </a:extLst>
          </p:cNvPr>
          <p:cNvSpPr txBox="1"/>
          <p:nvPr/>
        </p:nvSpPr>
        <p:spPr>
          <a:xfrm>
            <a:off x="1702903" y="5784574"/>
            <a:ext cx="1570383"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higher</a:t>
            </a:r>
          </a:p>
        </p:txBody>
      </p:sp>
    </p:spTree>
    <p:extLst>
      <p:ext uri="{BB962C8B-B14F-4D97-AF65-F5344CB8AC3E}">
        <p14:creationId xmlns:p14="http://schemas.microsoft.com/office/powerpoint/2010/main" val="118483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dissolv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dissolv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dissolv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dissolv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dissolve">
                                      <p:cBhvr>
                                        <p:cTn id="42" dur="500"/>
                                        <p:tgtEl>
                                          <p:spTgt spid="13"/>
                                        </p:tgtEl>
                                      </p:cBhvr>
                                    </p:animEffect>
                                  </p:childTnLst>
                                </p:cTn>
                              </p:par>
                            </p:childTnLst>
                          </p:cTn>
                        </p:par>
                        <p:par>
                          <p:cTn id="43" fill="hold">
                            <p:stCondLst>
                              <p:cond delay="500"/>
                            </p:stCondLst>
                            <p:childTnLst>
                              <p:par>
                                <p:cTn id="44" presetID="9" presetClass="entr" presetSubtype="0" fill="hold" nodeType="after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dissolve">
                                      <p:cBhvr>
                                        <p:cTn id="46" dur="500"/>
                                        <p:tgtEl>
                                          <p:spTgt spid="40"/>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52"/>
                                        </p:tgtEl>
                                        <p:attrNameLst>
                                          <p:attrName>style.visibility</p:attrName>
                                        </p:attrNameLst>
                                      </p:cBhvr>
                                      <p:to>
                                        <p:strVal val="visible"/>
                                      </p:to>
                                    </p:set>
                                    <p:animEffect transition="in" filter="dissolve">
                                      <p:cBhvr>
                                        <p:cTn id="51" dur="500"/>
                                        <p:tgtEl>
                                          <p:spTgt spid="52"/>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51"/>
                                        </p:tgtEl>
                                        <p:attrNameLst>
                                          <p:attrName>style.visibility</p:attrName>
                                        </p:attrNameLst>
                                      </p:cBhvr>
                                      <p:to>
                                        <p:strVal val="visible"/>
                                      </p:to>
                                    </p:set>
                                    <p:animEffect transition="in" filter="dissolve">
                                      <p:cBhvr>
                                        <p:cTn id="56"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p:bldP spid="4" grpId="0"/>
      <p:bldP spid="5" grpId="0"/>
      <p:bldP spid="7" grpId="0"/>
      <p:bldP spid="8" grpId="0"/>
      <p:bldP spid="13" grpId="0"/>
      <p:bldP spid="5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42046-62E8-61FE-15F4-AB9E1434C9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F4970E-9CE5-2FB7-43A4-4E132BB86412}"/>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6.3</a:t>
            </a:r>
            <a:r>
              <a:rPr lang="en-US" dirty="0">
                <a:solidFill/>
                <a:ea typeface="Calibri" charset="0"/>
                <a:cs typeface="Calibri" charset="0"/>
              </a:rPr>
              <a:t> Gravitation Potential Energy</a:t>
            </a:r>
            <a:endParaRPr lang="en-US" sz="3000" dirty="0"/>
          </a:p>
        </p:txBody>
      </p:sp>
      <p:sp>
        <p:nvSpPr>
          <p:cNvPr id="6" name="TextBox 5">
            <a:extLst>
              <a:ext uri="{FF2B5EF4-FFF2-40B4-BE49-F238E27FC236}">
                <a16:creationId xmlns:a16="http://schemas.microsoft.com/office/drawing/2014/main" id="{E9C90C78-4634-744F-3362-3D269C53C5CA}"/>
              </a:ext>
            </a:extLst>
          </p:cNvPr>
          <p:cNvSpPr txBox="1"/>
          <p:nvPr/>
        </p:nvSpPr>
        <p:spPr>
          <a:xfrm>
            <a:off x="940905" y="769491"/>
            <a:ext cx="6096000" cy="461665"/>
          </a:xfrm>
          <a:prstGeom prst="rect">
            <a:avLst/>
          </a:prstGeom>
          <a:noFill/>
        </p:spPr>
        <p:txBody>
          <a:bodyPr wrap="square">
            <a:spAutoFit/>
          </a:bodyPr>
          <a:lstStyle/>
          <a:p>
            <a:pPr/>
            <a:r>
              <a:rPr lang="en-US" sz="2400" dirty="0">
                <a:solidFill>
                  <a:srgbClr val="C00000"/>
                </a:solidFill>
                <a:latin typeface="Times" pitchFamily="2" charset="0"/>
              </a:rPr>
              <a:t>Gravitational Potential Energy</a:t>
            </a:r>
          </a:p>
        </p:txBody>
      </p:sp>
      <p:sp>
        <p:nvSpPr>
          <p:cNvPr id="15" name="TextBox 14">
            <a:extLst>
              <a:ext uri="{FF2B5EF4-FFF2-40B4-BE49-F238E27FC236}">
                <a16:creationId xmlns:a16="http://schemas.microsoft.com/office/drawing/2014/main" id="{81B697AD-3DD3-9D98-B90C-512CD3F10FFB}"/>
              </a:ext>
            </a:extLst>
          </p:cNvPr>
          <p:cNvSpPr txBox="1"/>
          <p:nvPr/>
        </p:nvSpPr>
        <p:spPr>
          <a:xfrm>
            <a:off x="768629" y="1276966"/>
            <a:ext cx="10827026" cy="3416320"/>
          </a:xfrm>
          <a:prstGeom prst="rect">
            <a:avLst/>
          </a:prstGeom>
          <a:noFill/>
        </p:spPr>
        <p:txBody>
          <a:bodyPr wrap="square">
            <a:spAutoFit/>
          </a:bodyPr>
          <a:lstStyle/>
          <a:p>
            <a:pPr algn="just"/>
            <a:r>
              <a:rPr lang="en-US" sz="2400" dirty="0">
                <a:solidFill>
                  <a:srgbClr val="C00000"/>
                </a:solidFill>
                <a:latin typeface="Times" pitchFamily="2" charset="0"/>
              </a:rPr>
              <a:t>DEFINITION OF GRAVITATIONAL POTENTIAL ENERGY</a:t>
            </a:r>
          </a:p>
          <a:p>
            <a:pPr algn="just"/>
            <a:endParaRPr lang="en-US" sz="2400" dirty="0">
              <a:latin typeface="Times" pitchFamily="2" charset="0"/>
            </a:endParaRPr>
          </a:p>
          <a:p>
            <a:pPr algn="just"/>
            <a:r>
              <a:rPr lang="en-US" sz="2400" dirty="0">
                <a:solidFill/>
                <a:latin typeface="Times" pitchFamily="2" charset="0"/>
              </a:rPr>
              <a:t>The gravitational potential energy PE is the energy that an object of mass </a:t>
            </a:r>
            <a:r>
              <a:rPr lang="en-US" sz="2400" i="1" dirty="0">
                <a:solidFill/>
                <a:latin typeface="Times" pitchFamily="2" charset="0"/>
              </a:rPr>
              <a:t>m</a:t>
            </a:r>
            <a:r>
              <a:rPr lang="en-US" sz="2400" dirty="0">
                <a:solidFill/>
                <a:latin typeface="Times" pitchFamily="2" charset="0"/>
              </a:rPr>
              <a:t> has by virtue of its position relative to the surface of the earth. That position is measured by the height </a:t>
            </a:r>
            <a:r>
              <a:rPr lang="en-US" sz="2400" i="1" dirty="0">
                <a:solidFill/>
                <a:latin typeface="Times" pitchFamily="2" charset="0"/>
              </a:rPr>
              <a:t>h</a:t>
            </a:r>
            <a:r>
              <a:rPr lang="en-US" sz="2400" dirty="0">
                <a:solidFill/>
                <a:latin typeface="Times" pitchFamily="2" charset="0"/>
              </a:rPr>
              <a:t> of the object relative to an arbitrary zero level:</a:t>
            </a:r>
          </a:p>
          <a:p>
            <a:pPr algn="just"/>
            <a:r>
              <a:rPr lang="en-US" sz="2400" dirty="0">
                <a:solidFill/>
                <a:latin typeface="Times" pitchFamily="2" charset="0"/>
              </a:rPr>
              <a:t>										</a:t>
            </a:r>
          </a:p>
          <a:p>
            <a:pPr algn="just"/>
            <a:r>
              <a:rPr lang="en-US" sz="2400" dirty="0">
                <a:solidFill/>
                <a:latin typeface="Times" pitchFamily="2" charset="0"/>
              </a:rPr>
              <a:t>					PE = </a:t>
            </a:r>
            <a:r>
              <a:rPr lang="en-US" sz="2400" i="1" dirty="0" err="1">
                <a:solidFill/>
                <a:latin typeface="Times" pitchFamily="2" charset="0"/>
              </a:rPr>
              <a:t>mgh</a:t>
            </a:r>
            <a:r>
              <a:rPr lang="en-US" sz="2400" dirty="0">
                <a:solidFill/>
                <a:latin typeface="Times" pitchFamily="2" charset="0"/>
              </a:rPr>
              <a:t>				(</a:t>
            </a:r>
            <a:r>
              <a:rPr lang="en-US" sz="2400" b="1" dirty="0">
                <a:solidFill/>
                <a:latin typeface="Times" pitchFamily="2" charset="0"/>
              </a:rPr>
              <a:t>6.5</a:t>
            </a:r>
            <a:r>
              <a:rPr lang="en-US" sz="2400" dirty="0">
                <a:solidFill/>
                <a:latin typeface="Times" pitchFamily="2" charset="0"/>
              </a:rPr>
              <a:t>) </a:t>
            </a:r>
          </a:p>
          <a:p>
            <a:pPr algn="just"/>
            <a:endParaRPr lang="en-US" sz="2400" dirty="0">
              <a:latin typeface="Times" pitchFamily="2" charset="0"/>
            </a:endParaRPr>
          </a:p>
          <a:p>
            <a:pPr algn="just"/>
            <a:r>
              <a:rPr lang="en-US" sz="2400" b="1" dirty="0">
                <a:solidFill/>
                <a:latin typeface="Times" pitchFamily="2" charset="0"/>
              </a:rPr>
              <a:t>SI Unit of Gravitational Potential Energy: joule (J)</a:t>
            </a:r>
          </a:p>
        </p:txBody>
      </p:sp>
      <p:sp>
        <p:nvSpPr>
          <p:cNvPr id="16" name="Rectangle 15">
            <a:extLst>
              <a:ext uri="{FF2B5EF4-FFF2-40B4-BE49-F238E27FC236}">
                <a16:creationId xmlns:a16="http://schemas.microsoft.com/office/drawing/2014/main" id="{872B974F-1672-3378-919A-A6C8CC269C0B}"/>
              </a:ext>
            </a:extLst>
          </p:cNvPr>
          <p:cNvSpPr/>
          <p:nvPr/>
        </p:nvSpPr>
        <p:spPr>
          <a:xfrm>
            <a:off x="530089" y="1285466"/>
            <a:ext cx="11184835" cy="3458814"/>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4B5465B5-3966-DDD8-8766-D244DF85D010}"/>
              </a:ext>
            </a:extLst>
          </p:cNvPr>
          <p:cNvSpPr txBox="1"/>
          <p:nvPr/>
        </p:nvSpPr>
        <p:spPr>
          <a:xfrm>
            <a:off x="689113" y="4784037"/>
            <a:ext cx="11025809" cy="830997"/>
          </a:xfrm>
          <a:prstGeom prst="rect">
            <a:avLst/>
          </a:prstGeom>
          <a:noFill/>
        </p:spPr>
        <p:txBody>
          <a:bodyPr wrap="square" rtlCol="0">
            <a:spAutoFit/>
          </a:bodyPr>
          <a:lstStyle/>
          <a:p>
            <a:pPr/>
            <a:r>
              <a:rPr lang="en-US" sz="2400" dirty="0">
                <a:solidFill/>
                <a:latin typeface="Times New Roman" panose="02020603050405020304" pitchFamily="18" charset="0"/>
                <a:cs typeface="Times New Roman" panose="02020603050405020304" pitchFamily="18" charset="0"/>
              </a:rPr>
              <a:t>Note that the gravitational potential energy is intrinsic to the object, because it depends on its mass </a:t>
            </a:r>
            <a:r>
              <a:rPr lang="en-US" sz="2400" i="1" dirty="0">
                <a:solidFill/>
                <a:latin typeface="Times New Roman" panose="02020603050405020304" pitchFamily="18" charset="0"/>
                <a:cs typeface="Times New Roman" panose="02020603050405020304" pitchFamily="18" charset="0"/>
              </a:rPr>
              <a:t>m</a:t>
            </a:r>
            <a:r>
              <a:rPr lang="en-US" sz="2400" dirty="0">
                <a:solidFill/>
                <a:latin typeface="Times New Roman" panose="02020603050405020304" pitchFamily="18" charset="0"/>
                <a:cs typeface="Times New Roman" panose="02020603050405020304" pitchFamily="18" charset="0"/>
              </a:rPr>
              <a:t>.  </a:t>
            </a:r>
          </a:p>
        </p:txBody>
      </p:sp>
      <p:sp>
        <p:nvSpPr>
          <p:cNvPr id="20" name="TextBox 19">
            <a:extLst>
              <a:ext uri="{FF2B5EF4-FFF2-40B4-BE49-F238E27FC236}">
                <a16:creationId xmlns:a16="http://schemas.microsoft.com/office/drawing/2014/main" id="{6B21268E-2243-AF8C-F034-BD0CC7665157}"/>
              </a:ext>
            </a:extLst>
          </p:cNvPr>
          <p:cNvSpPr txBox="1"/>
          <p:nvPr/>
        </p:nvSpPr>
        <p:spPr>
          <a:xfrm>
            <a:off x="708991" y="5599047"/>
            <a:ext cx="11025809" cy="830997"/>
          </a:xfrm>
          <a:prstGeom prst="rect">
            <a:avLst/>
          </a:prstGeom>
          <a:noFill/>
        </p:spPr>
        <p:txBody>
          <a:bodyPr wrap="square" rtlCol="0">
            <a:spAutoFit/>
          </a:bodyPr>
          <a:lstStyle/>
          <a:p>
            <a:pPr/>
            <a:r>
              <a:rPr lang="en-US" sz="2400" dirty="0">
                <a:solidFill/>
                <a:latin typeface="Times New Roman" panose="02020603050405020304" pitchFamily="18" charset="0"/>
                <a:cs typeface="Times New Roman" panose="02020603050405020304" pitchFamily="18" charset="0"/>
              </a:rPr>
              <a:t>It also depends on </a:t>
            </a:r>
            <a:r>
              <a:rPr lang="en-US" sz="2400" i="1" dirty="0">
                <a:solidFill/>
                <a:latin typeface="Times New Roman" panose="02020603050405020304" pitchFamily="18" charset="0"/>
                <a:cs typeface="Times New Roman" panose="02020603050405020304" pitchFamily="18" charset="0"/>
              </a:rPr>
              <a:t>g</a:t>
            </a:r>
            <a:r>
              <a:rPr lang="en-US" sz="2400" dirty="0">
                <a:solidFill/>
                <a:latin typeface="Times New Roman" panose="02020603050405020304" pitchFamily="18" charset="0"/>
                <a:cs typeface="Times New Roman" panose="02020603050405020304" pitchFamily="18" charset="0"/>
              </a:rPr>
              <a:t>.  We can calculate gravitational potential energies on other planets, but of course, “</a:t>
            </a:r>
            <a:r>
              <a:rPr lang="en-US" sz="2400" i="1" dirty="0">
                <a:solidFill/>
                <a:latin typeface="Times New Roman" panose="02020603050405020304" pitchFamily="18" charset="0"/>
                <a:cs typeface="Times New Roman" panose="02020603050405020304" pitchFamily="18" charset="0"/>
              </a:rPr>
              <a:t>g</a:t>
            </a:r>
            <a:r>
              <a:rPr lang="en-US" sz="2400" dirty="0">
                <a:solidFill/>
                <a:latin typeface="Times New Roman" panose="02020603050405020304" pitchFamily="18" charset="0"/>
                <a:cs typeface="Times New Roman" panose="02020603050405020304" pitchFamily="18" charset="0"/>
              </a:rPr>
              <a:t>” would be different.  </a:t>
            </a:r>
          </a:p>
        </p:txBody>
      </p:sp>
    </p:spTree>
    <p:extLst>
      <p:ext uri="{BB962C8B-B14F-4D97-AF65-F5344CB8AC3E}">
        <p14:creationId xmlns:p14="http://schemas.microsoft.com/office/powerpoint/2010/main" val="4082485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dissolve">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181BF-71F0-1C16-839D-1A19C653E5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D0EE17-D7CE-9C50-FBE3-F71C7096949D}"/>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6.3</a:t>
            </a:r>
            <a:r>
              <a:rPr lang="en-US" dirty="0">
                <a:solidFill/>
                <a:ea typeface="Calibri" charset="0"/>
                <a:cs typeface="Calibri" charset="0"/>
              </a:rPr>
              <a:t> Gravitation Potential Energy</a:t>
            </a:r>
            <a:endParaRPr lang="en-US" sz="3000" dirty="0"/>
          </a:p>
        </p:txBody>
      </p:sp>
      <p:sp>
        <p:nvSpPr>
          <p:cNvPr id="4" name="TextBox 3">
            <a:extLst>
              <a:ext uri="{FF2B5EF4-FFF2-40B4-BE49-F238E27FC236}">
                <a16:creationId xmlns:a16="http://schemas.microsoft.com/office/drawing/2014/main" id="{C7315834-D4EF-A7AC-8F6B-1A88BA8C6D9E}"/>
              </a:ext>
            </a:extLst>
          </p:cNvPr>
          <p:cNvSpPr txBox="1"/>
          <p:nvPr/>
        </p:nvSpPr>
        <p:spPr>
          <a:xfrm>
            <a:off x="806395" y="927082"/>
            <a:ext cx="10548597" cy="3970318"/>
          </a:xfrm>
          <a:prstGeom prst="rect">
            <a:avLst/>
          </a:prstGeom>
          <a:noFill/>
        </p:spPr>
        <p:txBody>
          <a:bodyPr wrap="square" rtlCol="0">
            <a:spAutoFit/>
          </a:bodyPr>
          <a:lstStyle/>
          <a:p>
            <a:pPr algn="just"/>
            <a:r>
              <a:rPr lang="en-US" sz="2800" dirty="0">
                <a:solidFill>
                  <a:srgbClr val="3E5891"/>
                </a:solidFill>
                <a:latin typeface="Times" pitchFamily="2" charset="0"/>
              </a:rPr>
              <a:t>CYU/TPS – In a simulation on earth, an astronaut in his space suit climbs up a vertical ladder. On the moon, the same astronaut makes the exact same climb. Which one of the following statements correctly describes how the gravitational potential energy of the astronaut changes during the climb?</a:t>
            </a:r>
          </a:p>
          <a:p>
            <a:pPr algn="just"/>
            <a:endParaRPr lang="en-US" sz="2800" dirty="0">
              <a:solidFill>
                <a:srgbClr val="3E5891"/>
              </a:solidFill>
              <a:latin typeface="Times" pitchFamily="2" charset="0"/>
            </a:endParaRPr>
          </a:p>
          <a:p>
            <a:pPr marL="514350" indent="-514350" algn="just">
              <a:buAutoNum type="alphaLcParenBoth"/>
            </a:pPr>
            <a:r>
              <a:rPr lang="en-US" sz="2800" dirty="0">
                <a:solidFill>
                  <a:srgbClr val="3E5891"/>
                </a:solidFill>
                <a:latin typeface="Times" pitchFamily="2" charset="0"/>
              </a:rPr>
              <a:t>It changes by a greater amount on the earth.</a:t>
            </a:r>
          </a:p>
          <a:p>
            <a:pPr marL="514350" indent="-514350" algn="just">
              <a:buAutoNum type="alphaLcParenBoth"/>
            </a:pPr>
            <a:r>
              <a:rPr lang="en-US" sz="2800" dirty="0">
                <a:solidFill>
                  <a:srgbClr val="3E5891"/>
                </a:solidFill>
                <a:latin typeface="Times" pitchFamily="2" charset="0"/>
              </a:rPr>
              <a:t>It changes by a greater amount on the moon.</a:t>
            </a:r>
          </a:p>
          <a:p>
            <a:pPr marL="514350" indent="-514350" algn="just">
              <a:buAutoNum type="alphaLcParenBoth"/>
            </a:pPr>
            <a:r>
              <a:rPr lang="en-US" sz="2800" dirty="0">
                <a:solidFill>
                  <a:srgbClr val="3E5891"/>
                </a:solidFill>
                <a:latin typeface="Times" pitchFamily="2" charset="0"/>
              </a:rPr>
              <a:t>The change is the same in both cases.</a:t>
            </a:r>
            <a:endParaRPr lang="en-US" sz="2800" dirty="0">
              <a:solidFill>
                <a:srgbClr val="3E5891"/>
              </a:solidFill>
              <a:latin typeface="Times" pitchFamily="2" charset="0"/>
              <a:cs typeface="Times New Roman" panose="02020603050405020304" pitchFamily="18" charset="0"/>
            </a:endParaRPr>
          </a:p>
        </p:txBody>
      </p:sp>
      <p:sp>
        <p:nvSpPr>
          <p:cNvPr id="3" name="Rounded Rectangle 2">
            <a:extLst>
              <a:ext uri="{FF2B5EF4-FFF2-40B4-BE49-F238E27FC236}">
                <a16:creationId xmlns:a16="http://schemas.microsoft.com/office/drawing/2014/main" id="{BC43AB86-03D8-4A5E-0E6F-291A2BB0D701}"/>
              </a:ext>
            </a:extLst>
          </p:cNvPr>
          <p:cNvSpPr/>
          <p:nvPr/>
        </p:nvSpPr>
        <p:spPr>
          <a:xfrm>
            <a:off x="844164" y="3527729"/>
            <a:ext cx="6908358" cy="4216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743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E6992-372D-3664-E35C-D0AA19A1C8DD}"/>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8A144E09-992C-A337-60D4-9B553807073F}"/>
              </a:ext>
            </a:extLst>
          </p:cNvPr>
          <p:cNvSpPr/>
          <p:nvPr/>
        </p:nvSpPr>
        <p:spPr>
          <a:xfrm>
            <a:off x="0" y="861392"/>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A07162-A5F9-82C3-67BA-19BC49CDFB4F}"/>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6.4</a:t>
            </a:r>
            <a:r>
              <a:rPr lang="en-US" dirty="0">
                <a:solidFill/>
                <a:ea typeface="Calibri" charset="0"/>
                <a:cs typeface="Calibri" charset="0"/>
              </a:rPr>
              <a:t> Conservative Versus Nonconservative Forces</a:t>
            </a:r>
            <a:endParaRPr lang="en-US" sz="3000" dirty="0"/>
          </a:p>
        </p:txBody>
      </p:sp>
      <p:sp>
        <p:nvSpPr>
          <p:cNvPr id="5" name="Content Placeholder 2">
            <a:extLst>
              <a:ext uri="{FF2B5EF4-FFF2-40B4-BE49-F238E27FC236}">
                <a16:creationId xmlns:a16="http://schemas.microsoft.com/office/drawing/2014/main" id="{CDE9E4CA-A472-E1B4-5A72-4CBB41E43CF0}"/>
              </a:ext>
            </a:extLst>
          </p:cNvPr>
          <p:cNvSpPr txBox="1">
            <a:spLocks/>
          </p:cNvSpPr>
          <p:nvPr/>
        </p:nvSpPr>
        <p:spPr>
          <a:xfrm>
            <a:off x="959715" y="941831"/>
            <a:ext cx="10820401" cy="542409"/>
          </a:xfrm>
          <a:prstGeom prst="rect">
            <a:avLst/>
          </a:prstGeom>
        </p:spPr>
        <p:txBody>
          <a:bodyPr vert="horz" lIns="91440" tIns="45720" rIns="91440" bIns="45720" rtlCol="0">
            <a:normAutofit fontScale="92500"/>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6.4 </a:t>
            </a:r>
            <a:r>
              <a:rPr lang="en-US" dirty="0">
                <a:solidFill/>
              </a:rPr>
              <a:t>– Identify conservative and nonconservative forces.</a:t>
            </a:r>
          </a:p>
        </p:txBody>
      </p:sp>
      <p:sp>
        <p:nvSpPr>
          <p:cNvPr id="4" name="TextBox 3">
            <a:extLst>
              <a:ext uri="{FF2B5EF4-FFF2-40B4-BE49-F238E27FC236}">
                <a16:creationId xmlns:a16="http://schemas.microsoft.com/office/drawing/2014/main" id="{1190CDBC-E525-1A67-5798-69CE89816467}"/>
              </a:ext>
            </a:extLst>
          </p:cNvPr>
          <p:cNvSpPr txBox="1"/>
          <p:nvPr/>
        </p:nvSpPr>
        <p:spPr>
          <a:xfrm>
            <a:off x="344557" y="1680508"/>
            <a:ext cx="11582399" cy="830997"/>
          </a:xfrm>
          <a:prstGeom prst="rect">
            <a:avLst/>
          </a:prstGeom>
          <a:noFill/>
        </p:spPr>
        <p:txBody>
          <a:bodyPr wrap="square">
            <a:spAutoFit/>
          </a:bodyPr>
          <a:lstStyle/>
          <a:p>
            <a:pPr algn="just"/>
            <a:r>
              <a:rPr lang="en-US" sz="2400" dirty="0">
                <a:solidFill/>
                <a:latin typeface="Times" pitchFamily="2" charset="0"/>
              </a:rPr>
              <a:t>The work done by gravity being independent of the path taken is much more than a mathematical curiosity. </a:t>
            </a:r>
          </a:p>
        </p:txBody>
      </p:sp>
      <p:sp>
        <p:nvSpPr>
          <p:cNvPr id="9" name="TextBox 8">
            <a:extLst>
              <a:ext uri="{FF2B5EF4-FFF2-40B4-BE49-F238E27FC236}">
                <a16:creationId xmlns:a16="http://schemas.microsoft.com/office/drawing/2014/main" id="{65FC3AFF-C964-79DB-7064-E7C7D7162DEB}"/>
              </a:ext>
            </a:extLst>
          </p:cNvPr>
          <p:cNvSpPr txBox="1"/>
          <p:nvPr/>
        </p:nvSpPr>
        <p:spPr>
          <a:xfrm>
            <a:off x="318053" y="3800857"/>
            <a:ext cx="11449878" cy="830997"/>
          </a:xfrm>
          <a:prstGeom prst="rect">
            <a:avLst/>
          </a:prstGeom>
          <a:noFill/>
        </p:spPr>
        <p:txBody>
          <a:bodyPr wrap="square">
            <a:spAutoFit/>
          </a:bodyPr>
          <a:lstStyle/>
          <a:p>
            <a:pPr algn="just"/>
            <a:r>
              <a:rPr lang="en-US" sz="2400" dirty="0">
                <a:solidFill/>
                <a:latin typeface="Times" pitchFamily="2" charset="0"/>
              </a:rPr>
              <a:t>In fact, it is this property that allowed us to define </a:t>
            </a:r>
            <a:r>
              <a:rPr lang="en-US" sz="2400" dirty="0">
                <a:solidFill>
                  <a:srgbClr val="007440"/>
                </a:solidFill>
                <a:latin typeface="Times" pitchFamily="2" charset="0"/>
              </a:rPr>
              <a:t>gravitational potential energy </a:t>
            </a:r>
            <a:r>
              <a:rPr lang="en-US" sz="2400" dirty="0">
                <a:solidFill/>
                <a:latin typeface="Times" pitchFamily="2" charset="0"/>
              </a:rPr>
              <a:t>in the previous section. </a:t>
            </a:r>
          </a:p>
        </p:txBody>
      </p:sp>
      <p:grpSp>
        <p:nvGrpSpPr>
          <p:cNvPr id="12" name="Group 11">
            <a:extLst>
              <a:ext uri="{FF2B5EF4-FFF2-40B4-BE49-F238E27FC236}">
                <a16:creationId xmlns:a16="http://schemas.microsoft.com/office/drawing/2014/main" id="{BEF29F17-26F9-AF47-ED81-6F08DA1D9530}"/>
              </a:ext>
            </a:extLst>
          </p:cNvPr>
          <p:cNvGrpSpPr/>
          <p:nvPr/>
        </p:nvGrpSpPr>
        <p:grpSpPr>
          <a:xfrm>
            <a:off x="304801" y="2888978"/>
            <a:ext cx="11622155" cy="465771"/>
            <a:chOff x="304801" y="2478157"/>
            <a:chExt cx="11622155" cy="465771"/>
          </a:xfrm>
        </p:grpSpPr>
        <p:sp>
          <p:nvSpPr>
            <p:cNvPr id="8" name="TextBox 7">
              <a:extLst>
                <a:ext uri="{FF2B5EF4-FFF2-40B4-BE49-F238E27FC236}">
                  <a16:creationId xmlns:a16="http://schemas.microsoft.com/office/drawing/2014/main" id="{85C8484E-DE87-4BA3-733E-5C946B099FF4}"/>
                </a:ext>
              </a:extLst>
            </p:cNvPr>
            <p:cNvSpPr txBox="1"/>
            <p:nvPr/>
          </p:nvSpPr>
          <p:spPr>
            <a:xfrm>
              <a:off x="304801" y="2482263"/>
              <a:ext cx="6838121" cy="461665"/>
            </a:xfrm>
            <a:prstGeom prst="rect">
              <a:avLst/>
            </a:prstGeom>
            <a:noFill/>
          </p:spPr>
          <p:txBody>
            <a:bodyPr wrap="square">
              <a:spAutoFit/>
            </a:bodyPr>
            <a:lstStyle/>
            <a:p>
              <a:pPr algn="just"/>
              <a:r>
                <a:rPr lang="en-US" sz="2400" dirty="0">
                  <a:solidFill/>
                  <a:latin typeface="Times" pitchFamily="2" charset="0"/>
                </a:rPr>
                <a:t>It reveals a profound fundamental property of nature:</a:t>
              </a:r>
            </a:p>
          </p:txBody>
        </p:sp>
        <p:sp>
          <p:nvSpPr>
            <p:cNvPr id="11" name="Rounded Rectangle 10">
              <a:extLst>
                <a:ext uri="{FF2B5EF4-FFF2-40B4-BE49-F238E27FC236}">
                  <a16:creationId xmlns:a16="http://schemas.microsoft.com/office/drawing/2014/main" id="{2B78827E-604A-8D70-9B15-4761CCC9D803}"/>
                </a:ext>
              </a:extLst>
            </p:cNvPr>
            <p:cNvSpPr/>
            <p:nvPr/>
          </p:nvSpPr>
          <p:spPr>
            <a:xfrm>
              <a:off x="7050156" y="2478157"/>
              <a:ext cx="4876800" cy="46382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extBox 9">
            <a:extLst>
              <a:ext uri="{FF2B5EF4-FFF2-40B4-BE49-F238E27FC236}">
                <a16:creationId xmlns:a16="http://schemas.microsoft.com/office/drawing/2014/main" id="{8D8A4529-87F2-8F0A-CC5A-FF9C90D87820}"/>
              </a:ext>
            </a:extLst>
          </p:cNvPr>
          <p:cNvSpPr txBox="1"/>
          <p:nvPr/>
        </p:nvSpPr>
        <p:spPr>
          <a:xfrm>
            <a:off x="7083288" y="2939466"/>
            <a:ext cx="5625547" cy="400110"/>
          </a:xfrm>
          <a:prstGeom prst="rect">
            <a:avLst/>
          </a:prstGeom>
          <a:noFill/>
        </p:spPr>
        <p:txBody>
          <a:bodyPr wrap="square">
            <a:spAutoFit/>
          </a:bodyPr>
          <a:lstStyle/>
          <a:p>
            <a:pPr algn="just"/>
            <a:r>
              <a:rPr lang="en-US" sz="2000" dirty="0">
                <a:solidFill>
                  <a:srgbClr val="007440"/>
                </a:solidFill>
                <a:latin typeface="Chalkduster" panose="03050602040202020205" pitchFamily="66" charset="77"/>
              </a:rPr>
              <a:t>Gravity is a </a:t>
            </a:r>
            <a:r>
              <a:rPr lang="en-US" sz="2000" u="sng" dirty="0">
                <a:solidFill>
                  <a:srgbClr val="007440"/>
                </a:solidFill>
                <a:latin typeface="Chalkduster" panose="03050602040202020205" pitchFamily="66" charset="77"/>
              </a:rPr>
              <a:t>conservative force</a:t>
            </a:r>
            <a:r>
              <a:rPr lang="en-US" sz="2000" dirty="0">
                <a:solidFill>
                  <a:srgbClr val="007440"/>
                </a:solidFill>
                <a:latin typeface="Chalkduster" panose="03050602040202020205" pitchFamily="66" charset="77"/>
              </a:rPr>
              <a:t>. </a:t>
            </a:r>
          </a:p>
        </p:txBody>
      </p:sp>
      <p:sp>
        <p:nvSpPr>
          <p:cNvPr id="13" name="TextBox 12">
            <a:extLst>
              <a:ext uri="{FF2B5EF4-FFF2-40B4-BE49-F238E27FC236}">
                <a16:creationId xmlns:a16="http://schemas.microsoft.com/office/drawing/2014/main" id="{176F90CB-1688-4BA7-4ED5-C9D10D007F89}"/>
              </a:ext>
            </a:extLst>
          </p:cNvPr>
          <p:cNvSpPr txBox="1"/>
          <p:nvPr/>
        </p:nvSpPr>
        <p:spPr>
          <a:xfrm>
            <a:off x="271668" y="5092942"/>
            <a:ext cx="11602280" cy="830997"/>
          </a:xfrm>
          <a:prstGeom prst="rect">
            <a:avLst/>
          </a:prstGeom>
          <a:noFill/>
        </p:spPr>
        <p:txBody>
          <a:bodyPr wrap="square">
            <a:spAutoFit/>
          </a:bodyPr>
          <a:lstStyle/>
          <a:p>
            <a:pPr algn="just"/>
            <a:r>
              <a:rPr lang="en-US" sz="2400" dirty="0">
                <a:solidFill/>
                <a:latin typeface="Times" pitchFamily="2" charset="0"/>
              </a:rPr>
              <a:t>If the work done by gravity did depend on the path taken, then the </a:t>
            </a:r>
            <a:r>
              <a:rPr lang="en-US" sz="2400" dirty="0">
                <a:solidFill>
                  <a:srgbClr val="007440"/>
                </a:solidFill>
                <a:latin typeface="Times" pitchFamily="2" charset="0"/>
              </a:rPr>
              <a:t>gravitational potential energy </a:t>
            </a:r>
            <a:r>
              <a:rPr lang="en-US" sz="2400" dirty="0">
                <a:solidFill/>
                <a:latin typeface="Times" pitchFamily="2" charset="0"/>
              </a:rPr>
              <a:t>of an object would </a:t>
            </a:r>
            <a:r>
              <a:rPr lang="en-US" sz="2400" u="sng" dirty="0">
                <a:solidFill/>
                <a:latin typeface="Times" pitchFamily="2" charset="0"/>
              </a:rPr>
              <a:t>not</a:t>
            </a:r>
            <a:r>
              <a:rPr lang="en-US" sz="2400" dirty="0">
                <a:solidFill/>
                <a:latin typeface="Times" pitchFamily="2" charset="0"/>
              </a:rPr>
              <a:t> be uniquely defined.</a:t>
            </a:r>
          </a:p>
        </p:txBody>
      </p:sp>
    </p:spTree>
    <p:extLst>
      <p:ext uri="{BB962C8B-B14F-4D97-AF65-F5344CB8AC3E}">
        <p14:creationId xmlns:p14="http://schemas.microsoft.com/office/powerpoint/2010/main" val="585954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ssolv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dissolv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18A24-5FC2-2160-BDF5-838789A92B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48E287-43EE-E583-D211-AF87FE601A40}"/>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6.4</a:t>
            </a:r>
            <a:r>
              <a:rPr lang="en-US" dirty="0">
                <a:solidFill/>
                <a:ea typeface="Calibri" charset="0"/>
                <a:cs typeface="Calibri" charset="0"/>
              </a:rPr>
              <a:t> Conservative Versus Nonconservative Forces</a:t>
            </a:r>
            <a:endParaRPr lang="en-US" sz="3000" dirty="0"/>
          </a:p>
        </p:txBody>
      </p:sp>
      <p:sp>
        <p:nvSpPr>
          <p:cNvPr id="3" name="TextBox 2">
            <a:extLst>
              <a:ext uri="{FF2B5EF4-FFF2-40B4-BE49-F238E27FC236}">
                <a16:creationId xmlns:a16="http://schemas.microsoft.com/office/drawing/2014/main" id="{0374EE91-B9CE-A0E3-4B3A-8BEE0A500B42}"/>
              </a:ext>
            </a:extLst>
          </p:cNvPr>
          <p:cNvSpPr txBox="1"/>
          <p:nvPr/>
        </p:nvSpPr>
        <p:spPr>
          <a:xfrm>
            <a:off x="901148" y="958911"/>
            <a:ext cx="11092070" cy="2677656"/>
          </a:xfrm>
          <a:prstGeom prst="rect">
            <a:avLst/>
          </a:prstGeom>
          <a:noFill/>
        </p:spPr>
        <p:txBody>
          <a:bodyPr wrap="square">
            <a:spAutoFit/>
          </a:bodyPr>
          <a:lstStyle/>
          <a:p>
            <a:pPr/>
            <a:r>
              <a:rPr lang="en-US" sz="2400" dirty="0">
                <a:solidFill>
                  <a:srgbClr val="C00000"/>
                </a:solidFill>
                <a:latin typeface="Times" pitchFamily="2" charset="0"/>
              </a:rPr>
              <a:t>DEFINITION OF A CONSERVATIVE FORCE</a:t>
            </a:r>
          </a:p>
          <a:p>
            <a:pPr/>
            <a:endParaRPr lang="en-US" sz="2400" dirty="0">
              <a:solidFill>
                <a:srgbClr val="C00000"/>
              </a:solidFill>
              <a:latin typeface="Times" pitchFamily="2" charset="0"/>
            </a:endParaRPr>
          </a:p>
          <a:p>
            <a:pPr/>
            <a:r>
              <a:rPr lang="en-US" sz="2400" b="1" dirty="0">
                <a:solidFill/>
                <a:latin typeface="Times" pitchFamily="2" charset="0"/>
              </a:rPr>
              <a:t>Version 1 – </a:t>
            </a:r>
            <a:r>
              <a:rPr lang="en-US" sz="2400" dirty="0">
                <a:solidFill/>
                <a:latin typeface="Times" pitchFamily="2" charset="0"/>
              </a:rPr>
              <a:t>A force is conservative when the work it does on a moving object is</a:t>
            </a:r>
          </a:p>
          <a:p>
            <a:pPr marL="2009775"/>
            <a:r>
              <a:rPr lang="en-US" sz="2400" dirty="0">
                <a:solidFill/>
                <a:latin typeface="Times" pitchFamily="2" charset="0"/>
              </a:rPr>
              <a:t> of the path between the object’s initial and final positions.</a:t>
            </a:r>
          </a:p>
          <a:p>
            <a:pPr/>
            <a:endParaRPr lang="en-US" sz="2400" dirty="0">
              <a:latin typeface="Times" pitchFamily="2" charset="0"/>
            </a:endParaRPr>
          </a:p>
          <a:p>
            <a:pPr/>
            <a:r>
              <a:rPr lang="en-US" sz="2400" b="1" dirty="0">
                <a:solidFill/>
                <a:latin typeface="Times" pitchFamily="2" charset="0"/>
              </a:rPr>
              <a:t>Version 2 – </a:t>
            </a:r>
            <a:r>
              <a:rPr lang="en-US" sz="2400" dirty="0">
                <a:solidFill/>
                <a:latin typeface="Times" pitchFamily="2" charset="0"/>
              </a:rPr>
              <a:t>A force is conservative when it does no net work on an object moving around a                            , starting and finishing at the same point.</a:t>
            </a:r>
          </a:p>
        </p:txBody>
      </p:sp>
      <p:sp>
        <p:nvSpPr>
          <p:cNvPr id="6" name="Rectangle 5">
            <a:extLst>
              <a:ext uri="{FF2B5EF4-FFF2-40B4-BE49-F238E27FC236}">
                <a16:creationId xmlns:a16="http://schemas.microsoft.com/office/drawing/2014/main" id="{7366AC70-A6B1-3D3C-94A2-E224030AED95}"/>
              </a:ext>
            </a:extLst>
          </p:cNvPr>
          <p:cNvSpPr/>
          <p:nvPr/>
        </p:nvSpPr>
        <p:spPr>
          <a:xfrm>
            <a:off x="834887" y="927652"/>
            <a:ext cx="10442713" cy="2782956"/>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4439BAE-BBDE-FD8D-2BC8-891EDDED97CF}"/>
              </a:ext>
            </a:extLst>
          </p:cNvPr>
          <p:cNvSpPr txBox="1"/>
          <p:nvPr/>
        </p:nvSpPr>
        <p:spPr>
          <a:xfrm>
            <a:off x="728869" y="3856383"/>
            <a:ext cx="11913705" cy="830997"/>
          </a:xfrm>
          <a:prstGeom prst="rect">
            <a:avLst/>
          </a:prstGeom>
          <a:noFill/>
        </p:spPr>
        <p:txBody>
          <a:bodyPr wrap="square" rtlCol="0">
            <a:spAutoFit/>
          </a:bodyPr>
          <a:lstStyle/>
          <a:p>
            <a:pPr/>
            <a:r>
              <a:rPr lang="en-US" sz="2400" dirty="0">
                <a:solidFill/>
                <a:latin typeface="Times" pitchFamily="2" charset="0"/>
              </a:rPr>
              <a:t>Version 1 of this definition centers around path independence, which we have already discussed.</a:t>
            </a:r>
          </a:p>
        </p:txBody>
      </p:sp>
      <p:sp>
        <p:nvSpPr>
          <p:cNvPr id="14" name="TextBox 13">
            <a:extLst>
              <a:ext uri="{FF2B5EF4-FFF2-40B4-BE49-F238E27FC236}">
                <a16:creationId xmlns:a16="http://schemas.microsoft.com/office/drawing/2014/main" id="{0341A526-EC5C-9FB3-4313-B87E568985EE}"/>
              </a:ext>
            </a:extLst>
          </p:cNvPr>
          <p:cNvSpPr txBox="1"/>
          <p:nvPr/>
        </p:nvSpPr>
        <p:spPr>
          <a:xfrm>
            <a:off x="722243" y="4684645"/>
            <a:ext cx="3584714" cy="461665"/>
          </a:xfrm>
          <a:prstGeom prst="rect">
            <a:avLst/>
          </a:prstGeom>
          <a:noFill/>
        </p:spPr>
        <p:txBody>
          <a:bodyPr wrap="square" rtlCol="0">
            <a:spAutoFit/>
          </a:bodyPr>
          <a:lstStyle/>
          <a:p>
            <a:pPr/>
            <a:r>
              <a:rPr lang="en-US" sz="2400" dirty="0">
                <a:solidFill/>
                <a:latin typeface="Times" pitchFamily="2" charset="0"/>
              </a:rPr>
              <a:t>But what about Version 2?</a:t>
            </a:r>
          </a:p>
        </p:txBody>
      </p:sp>
      <p:sp>
        <p:nvSpPr>
          <p:cNvPr id="16" name="Rounded Rectangle 15">
            <a:extLst>
              <a:ext uri="{FF2B5EF4-FFF2-40B4-BE49-F238E27FC236}">
                <a16:creationId xmlns:a16="http://schemas.microsoft.com/office/drawing/2014/main" id="{B656A1FE-A834-6123-3BF6-850D329A92CA}"/>
              </a:ext>
            </a:extLst>
          </p:cNvPr>
          <p:cNvSpPr/>
          <p:nvPr/>
        </p:nvSpPr>
        <p:spPr>
          <a:xfrm>
            <a:off x="980660" y="2093844"/>
            <a:ext cx="1948070" cy="42406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DCE0CD6-DFE0-C11D-464A-5A173DA9EF9F}"/>
              </a:ext>
            </a:extLst>
          </p:cNvPr>
          <p:cNvSpPr txBox="1"/>
          <p:nvPr/>
        </p:nvSpPr>
        <p:spPr>
          <a:xfrm>
            <a:off x="967410" y="2133602"/>
            <a:ext cx="2504661"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independent</a:t>
            </a:r>
          </a:p>
        </p:txBody>
      </p:sp>
      <p:sp>
        <p:nvSpPr>
          <p:cNvPr id="17" name="Rounded Rectangle 16">
            <a:extLst>
              <a:ext uri="{FF2B5EF4-FFF2-40B4-BE49-F238E27FC236}">
                <a16:creationId xmlns:a16="http://schemas.microsoft.com/office/drawing/2014/main" id="{2C1D45B7-5B45-C0A7-5779-1981470464E6}"/>
              </a:ext>
            </a:extLst>
          </p:cNvPr>
          <p:cNvSpPr/>
          <p:nvPr/>
        </p:nvSpPr>
        <p:spPr>
          <a:xfrm>
            <a:off x="2140225" y="3160644"/>
            <a:ext cx="1948070" cy="42406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72AE2519-2EDC-CD62-4693-BD4795475470}"/>
              </a:ext>
            </a:extLst>
          </p:cNvPr>
          <p:cNvSpPr txBox="1"/>
          <p:nvPr/>
        </p:nvSpPr>
        <p:spPr>
          <a:xfrm>
            <a:off x="2193235" y="3200403"/>
            <a:ext cx="1981199"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closed path</a:t>
            </a:r>
          </a:p>
        </p:txBody>
      </p:sp>
      <p:sp>
        <p:nvSpPr>
          <p:cNvPr id="19" name="TextBox 18">
            <a:extLst>
              <a:ext uri="{FF2B5EF4-FFF2-40B4-BE49-F238E27FC236}">
                <a16:creationId xmlns:a16="http://schemas.microsoft.com/office/drawing/2014/main" id="{B157EC0E-1FA9-B6C4-EBEE-57CD49AB729A}"/>
              </a:ext>
            </a:extLst>
          </p:cNvPr>
          <p:cNvSpPr txBox="1"/>
          <p:nvPr/>
        </p:nvSpPr>
        <p:spPr>
          <a:xfrm>
            <a:off x="689113" y="5208104"/>
            <a:ext cx="10774017" cy="1200329"/>
          </a:xfrm>
          <a:prstGeom prst="rect">
            <a:avLst/>
          </a:prstGeom>
          <a:noFill/>
        </p:spPr>
        <p:txBody>
          <a:bodyPr wrap="square" rtlCol="0">
            <a:spAutoFit/>
          </a:bodyPr>
          <a:lstStyle/>
          <a:p>
            <a:pPr/>
            <a:r>
              <a:rPr lang="en-US" sz="2400" dirty="0">
                <a:solidFill/>
                <a:latin typeface="Times" pitchFamily="2" charset="0"/>
              </a:rPr>
              <a:t>As an example of a </a:t>
            </a:r>
            <a:r>
              <a:rPr lang="en-US" sz="2400" dirty="0">
                <a:solidFill>
                  <a:srgbClr val="007440"/>
                </a:solidFill>
                <a:latin typeface="Times" pitchFamily="2" charset="0"/>
              </a:rPr>
              <a:t>closed path</a:t>
            </a:r>
            <a:r>
              <a:rPr lang="en-US" sz="2400" dirty="0">
                <a:solidFill/>
                <a:latin typeface="Times" pitchFamily="2" charset="0"/>
              </a:rPr>
              <a:t>, consider a roller coaster car that travels along a track filled with hills and loops.  The car begins at some location, moves around the track, and then returns to its starting position.  </a:t>
            </a:r>
          </a:p>
        </p:txBody>
      </p:sp>
    </p:spTree>
    <p:extLst>
      <p:ext uri="{BB962C8B-B14F-4D97-AF65-F5344CB8AC3E}">
        <p14:creationId xmlns:p14="http://schemas.microsoft.com/office/powerpoint/2010/main" val="2023375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dissolv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dissolve">
                                      <p:cBhvr>
                                        <p:cTn id="2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P spid="15" grpId="0"/>
      <p:bldP spid="18" grpId="0"/>
      <p:bldP spid="1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523EF-196B-8B21-811D-209887947AE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D93BCB5-A109-3E79-7145-DC0D5089E8D5}"/>
              </a:ext>
            </a:extLst>
          </p:cNvPr>
          <p:cNvSpPr txBox="1"/>
          <p:nvPr/>
        </p:nvSpPr>
        <p:spPr>
          <a:xfrm>
            <a:off x="477078" y="848141"/>
            <a:ext cx="7010400" cy="1200329"/>
          </a:xfrm>
          <a:prstGeom prst="rect">
            <a:avLst/>
          </a:prstGeom>
          <a:noFill/>
        </p:spPr>
        <p:txBody>
          <a:bodyPr wrap="square" rtlCol="0">
            <a:spAutoFit/>
          </a:bodyPr>
          <a:lstStyle/>
          <a:p>
            <a:pPr algn="just"/>
            <a:r>
              <a:rPr lang="en-US" sz="2400" dirty="0">
                <a:solidFill/>
                <a:latin typeface="Times" pitchFamily="2" charset="0"/>
              </a:rPr>
              <a:t>If we neglect all frictional effects with the track and air resistance, then the only forces that act on the car are its </a:t>
            </a:r>
            <a:r>
              <a:rPr lang="en-US" sz="2400" dirty="0">
                <a:solidFill>
                  <a:srgbClr val="007440"/>
                </a:solidFill>
                <a:latin typeface="Times" pitchFamily="2" charset="0"/>
              </a:rPr>
              <a:t>weight</a:t>
            </a:r>
            <a:r>
              <a:rPr lang="en-US" sz="2400" dirty="0">
                <a:solidFill/>
                <a:latin typeface="Times" pitchFamily="2" charset="0"/>
              </a:rPr>
              <a:t> and the </a:t>
            </a:r>
            <a:r>
              <a:rPr lang="en-US" sz="2400" dirty="0">
                <a:solidFill>
                  <a:srgbClr val="007440"/>
                </a:solidFill>
                <a:latin typeface="Times" pitchFamily="2" charset="0"/>
              </a:rPr>
              <a:t>normal force </a:t>
            </a:r>
            <a:r>
              <a:rPr lang="en-US" sz="2400" dirty="0">
                <a:solidFill/>
                <a:latin typeface="Times" pitchFamily="2" charset="0"/>
              </a:rPr>
              <a:t>from the track.</a:t>
            </a:r>
          </a:p>
        </p:txBody>
      </p:sp>
      <p:pic>
        <p:nvPicPr>
          <p:cNvPr id="5" name="Picture 4">
            <a:extLst>
              <a:ext uri="{FF2B5EF4-FFF2-40B4-BE49-F238E27FC236}">
                <a16:creationId xmlns:a16="http://schemas.microsoft.com/office/drawing/2014/main" id="{133932F8-056D-7BE8-BC18-4A01A1135A25}"/>
              </a:ext>
            </a:extLst>
          </p:cNvPr>
          <p:cNvPicPr>
            <a:picLocks noChangeAspect="1"/>
          </p:cNvPicPr>
          <p:nvPr/>
        </p:nvPicPr>
        <p:blipFill>
          <a:blip r:embed="rId3"/>
          <a:stretch>
            <a:fillRect/>
          </a:stretch>
        </p:blipFill>
        <p:spPr>
          <a:xfrm>
            <a:off x="7659756" y="788984"/>
            <a:ext cx="4399722" cy="2268708"/>
          </a:xfrm>
          <a:prstGeom prst="rect">
            <a:avLst/>
          </a:prstGeom>
        </p:spPr>
      </p:pic>
      <p:sp>
        <p:nvSpPr>
          <p:cNvPr id="9" name="TextBox 8">
            <a:extLst>
              <a:ext uri="{FF2B5EF4-FFF2-40B4-BE49-F238E27FC236}">
                <a16:creationId xmlns:a16="http://schemas.microsoft.com/office/drawing/2014/main" id="{78D955CD-E48E-7B4C-E0F4-CF03E7778FC7}"/>
              </a:ext>
            </a:extLst>
          </p:cNvPr>
          <p:cNvSpPr txBox="1"/>
          <p:nvPr/>
        </p:nvSpPr>
        <p:spPr>
          <a:xfrm>
            <a:off x="470449" y="2034209"/>
            <a:ext cx="7229063" cy="1200329"/>
          </a:xfrm>
          <a:prstGeom prst="rect">
            <a:avLst/>
          </a:prstGeom>
          <a:noFill/>
        </p:spPr>
        <p:txBody>
          <a:bodyPr wrap="square" rtlCol="0">
            <a:spAutoFit/>
          </a:bodyPr>
          <a:lstStyle/>
          <a:p>
            <a:pPr algn="just"/>
            <a:r>
              <a:rPr lang="en-US" sz="2400" dirty="0">
                <a:solidFill/>
                <a:latin typeface="Times" pitchFamily="2" charset="0"/>
              </a:rPr>
              <a:t>However, the normal force is always perpendicular to the track, and thus perpendicular to the car’s displacement.  Therefore, the normal force does no work.</a:t>
            </a:r>
          </a:p>
        </p:txBody>
      </p:sp>
      <p:sp>
        <p:nvSpPr>
          <p:cNvPr id="2" name="Title 1">
            <a:extLst>
              <a:ext uri="{FF2B5EF4-FFF2-40B4-BE49-F238E27FC236}">
                <a16:creationId xmlns:a16="http://schemas.microsoft.com/office/drawing/2014/main" id="{F52D805A-7A2A-9080-3C4E-208A999AC652}"/>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6.4</a:t>
            </a:r>
            <a:r>
              <a:rPr lang="en-US" dirty="0">
                <a:solidFill/>
                <a:ea typeface="Calibri" charset="0"/>
                <a:cs typeface="Calibri" charset="0"/>
              </a:rPr>
              <a:t> Conservative Versus Nonconservative Forces</a:t>
            </a:r>
            <a:endParaRPr lang="en-US" sz="3000" dirty="0"/>
          </a:p>
        </p:txBody>
      </p:sp>
      <p:sp>
        <p:nvSpPr>
          <p:cNvPr id="10" name="TextBox 9">
            <a:extLst>
              <a:ext uri="{FF2B5EF4-FFF2-40B4-BE49-F238E27FC236}">
                <a16:creationId xmlns:a16="http://schemas.microsoft.com/office/drawing/2014/main" id="{BE71AE50-DC87-285B-7777-D00E74237882}"/>
              </a:ext>
            </a:extLst>
          </p:cNvPr>
          <p:cNvSpPr txBox="1"/>
          <p:nvPr/>
        </p:nvSpPr>
        <p:spPr>
          <a:xfrm>
            <a:off x="503579" y="3352800"/>
            <a:ext cx="6202021" cy="461665"/>
          </a:xfrm>
          <a:prstGeom prst="rect">
            <a:avLst/>
          </a:prstGeom>
          <a:noFill/>
        </p:spPr>
        <p:txBody>
          <a:bodyPr wrap="square" rtlCol="0">
            <a:spAutoFit/>
          </a:bodyPr>
          <a:lstStyle/>
          <a:p>
            <a:pPr algn="just"/>
            <a:r>
              <a:rPr lang="en-US" sz="2400" dirty="0">
                <a:solidFill/>
                <a:latin typeface="Times" pitchFamily="2" charset="0"/>
              </a:rPr>
              <a:t>Work is only done by the car’s weight (gravity).</a:t>
            </a:r>
          </a:p>
        </p:txBody>
      </p:sp>
      <p:grpSp>
        <p:nvGrpSpPr>
          <p:cNvPr id="20" name="Group 19">
            <a:extLst>
              <a:ext uri="{FF2B5EF4-FFF2-40B4-BE49-F238E27FC236}">
                <a16:creationId xmlns:a16="http://schemas.microsoft.com/office/drawing/2014/main" id="{AA06E8C0-0FB2-00D9-0192-B21816336487}"/>
              </a:ext>
            </a:extLst>
          </p:cNvPr>
          <p:cNvGrpSpPr/>
          <p:nvPr/>
        </p:nvGrpSpPr>
        <p:grpSpPr>
          <a:xfrm>
            <a:off x="523457" y="3929270"/>
            <a:ext cx="11416752" cy="461665"/>
            <a:chOff x="523457" y="3929270"/>
            <a:chExt cx="11416752" cy="461665"/>
          </a:xfrm>
        </p:grpSpPr>
        <p:sp>
          <p:nvSpPr>
            <p:cNvPr id="11" name="TextBox 10">
              <a:extLst>
                <a:ext uri="{FF2B5EF4-FFF2-40B4-BE49-F238E27FC236}">
                  <a16:creationId xmlns:a16="http://schemas.microsoft.com/office/drawing/2014/main" id="{0B9FC36A-A7E1-806F-F8D8-10B5F92E2406}"/>
                </a:ext>
              </a:extLst>
            </p:cNvPr>
            <p:cNvSpPr txBox="1"/>
            <p:nvPr/>
          </p:nvSpPr>
          <p:spPr>
            <a:xfrm>
              <a:off x="523457" y="3929270"/>
              <a:ext cx="11416752" cy="461665"/>
            </a:xfrm>
            <a:prstGeom prst="rect">
              <a:avLst/>
            </a:prstGeom>
            <a:noFill/>
          </p:spPr>
          <p:txBody>
            <a:bodyPr wrap="square" rtlCol="0">
              <a:spAutoFit/>
            </a:bodyPr>
            <a:lstStyle/>
            <a:p>
              <a:pPr algn="just"/>
              <a:r>
                <a:rPr lang="en-US" sz="2400" dirty="0">
                  <a:solidFill/>
                  <a:latin typeface="Times" pitchFamily="2" charset="0"/>
                </a:rPr>
                <a:t>Whenever the car goes </a:t>
              </a:r>
              <a:r>
                <a:rPr lang="en-US" sz="2400" dirty="0">
                  <a:solidFill>
                    <a:srgbClr val="2326C0"/>
                  </a:solidFill>
                  <a:latin typeface="Times" pitchFamily="2" charset="0"/>
                </a:rPr>
                <a:t>downhill</a:t>
              </a:r>
              <a:r>
                <a:rPr lang="en-US" sz="2400" dirty="0">
                  <a:solidFill/>
                  <a:latin typeface="Times" pitchFamily="2" charset="0"/>
                </a:rPr>
                <a:t>,                     work is done by gravity.</a:t>
              </a:r>
            </a:p>
          </p:txBody>
        </p:sp>
        <p:sp>
          <p:nvSpPr>
            <p:cNvPr id="12" name="Rounded Rectangle 11">
              <a:extLst>
                <a:ext uri="{FF2B5EF4-FFF2-40B4-BE49-F238E27FC236}">
                  <a16:creationId xmlns:a16="http://schemas.microsoft.com/office/drawing/2014/main" id="{A0189053-B76B-76D2-0EE7-761F753C530B}"/>
                </a:ext>
              </a:extLst>
            </p:cNvPr>
            <p:cNvSpPr/>
            <p:nvPr/>
          </p:nvSpPr>
          <p:spPr>
            <a:xfrm>
              <a:off x="4757531" y="3975652"/>
              <a:ext cx="1325217" cy="3710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9A9429C8-D238-3BF2-83AC-59E22F075BB0}"/>
              </a:ext>
            </a:extLst>
          </p:cNvPr>
          <p:cNvSpPr txBox="1"/>
          <p:nvPr/>
        </p:nvSpPr>
        <p:spPr>
          <a:xfrm>
            <a:off x="4797282" y="3949148"/>
            <a:ext cx="1484247" cy="400110"/>
          </a:xfrm>
          <a:prstGeom prst="rect">
            <a:avLst/>
          </a:prstGeom>
          <a:noFill/>
        </p:spPr>
        <p:txBody>
          <a:bodyPr wrap="square" rtlCol="0">
            <a:spAutoFit/>
          </a:bodyPr>
          <a:lstStyle/>
          <a:p>
            <a:pPr algn="just"/>
            <a:r>
              <a:rPr lang="en-US" sz="2000" dirty="0">
                <a:solidFill>
                  <a:srgbClr val="007440"/>
                </a:solidFill>
                <a:latin typeface="Chalkduster" panose="03050602040202020205" pitchFamily="66" charset="77"/>
              </a:rPr>
              <a:t>positive</a:t>
            </a:r>
          </a:p>
        </p:txBody>
      </p:sp>
      <p:grpSp>
        <p:nvGrpSpPr>
          <p:cNvPr id="24" name="Group 23">
            <a:extLst>
              <a:ext uri="{FF2B5EF4-FFF2-40B4-BE49-F238E27FC236}">
                <a16:creationId xmlns:a16="http://schemas.microsoft.com/office/drawing/2014/main" id="{180EE9CE-C633-A646-D20A-3E312F21EE91}"/>
              </a:ext>
            </a:extLst>
          </p:cNvPr>
          <p:cNvGrpSpPr/>
          <p:nvPr/>
        </p:nvGrpSpPr>
        <p:grpSpPr>
          <a:xfrm>
            <a:off x="7932234" y="1070517"/>
            <a:ext cx="4005575" cy="1681751"/>
            <a:chOff x="7932234" y="1070517"/>
            <a:chExt cx="4005575" cy="1681751"/>
          </a:xfrm>
        </p:grpSpPr>
        <p:sp>
          <p:nvSpPr>
            <p:cNvPr id="21" name="Freeform 20">
              <a:extLst>
                <a:ext uri="{FF2B5EF4-FFF2-40B4-BE49-F238E27FC236}">
                  <a16:creationId xmlns:a16="http://schemas.microsoft.com/office/drawing/2014/main" id="{C576521E-EC4C-2CC0-E279-BC1B98E5E948}"/>
                </a:ext>
              </a:extLst>
            </p:cNvPr>
            <p:cNvSpPr/>
            <p:nvPr/>
          </p:nvSpPr>
          <p:spPr>
            <a:xfrm>
              <a:off x="7932234" y="1196898"/>
              <a:ext cx="2475571" cy="1555370"/>
            </a:xfrm>
            <a:custGeom>
              <a:avLst/>
              <a:gdLst>
                <a:gd name="connsiteX0" fmla="*/ 0 w 2475571"/>
                <a:gd name="connsiteY0" fmla="*/ 0 h 1555370"/>
                <a:gd name="connsiteX1" fmla="*/ 1204332 w 2475571"/>
                <a:gd name="connsiteY1" fmla="*/ 1159726 h 1555370"/>
                <a:gd name="connsiteX2" fmla="*/ 1390186 w 2475571"/>
                <a:gd name="connsiteY2" fmla="*/ 1300975 h 1555370"/>
                <a:gd name="connsiteX3" fmla="*/ 1538868 w 2475571"/>
                <a:gd name="connsiteY3" fmla="*/ 1427356 h 1555370"/>
                <a:gd name="connsiteX4" fmla="*/ 1694986 w 2475571"/>
                <a:gd name="connsiteY4" fmla="*/ 1516565 h 1555370"/>
                <a:gd name="connsiteX5" fmla="*/ 1821366 w 2475571"/>
                <a:gd name="connsiteY5" fmla="*/ 1553736 h 1555370"/>
                <a:gd name="connsiteX6" fmla="*/ 1955181 w 2475571"/>
                <a:gd name="connsiteY6" fmla="*/ 1546302 h 1555370"/>
                <a:gd name="connsiteX7" fmla="*/ 2155903 w 2475571"/>
                <a:gd name="connsiteY7" fmla="*/ 1524000 h 1555370"/>
                <a:gd name="connsiteX8" fmla="*/ 2326888 w 2475571"/>
                <a:gd name="connsiteY8" fmla="*/ 1457092 h 1555370"/>
                <a:gd name="connsiteX9" fmla="*/ 2475571 w 2475571"/>
                <a:gd name="connsiteY9" fmla="*/ 1397619 h 1555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5571" h="1555370">
                  <a:moveTo>
                    <a:pt x="0" y="0"/>
                  </a:moveTo>
                  <a:lnTo>
                    <a:pt x="1204332" y="1159726"/>
                  </a:lnTo>
                  <a:cubicBezTo>
                    <a:pt x="1436030" y="1376555"/>
                    <a:pt x="1334430" y="1256370"/>
                    <a:pt x="1390186" y="1300975"/>
                  </a:cubicBezTo>
                  <a:cubicBezTo>
                    <a:pt x="1445942" y="1345580"/>
                    <a:pt x="1488068" y="1391424"/>
                    <a:pt x="1538868" y="1427356"/>
                  </a:cubicBezTo>
                  <a:cubicBezTo>
                    <a:pt x="1589668" y="1463288"/>
                    <a:pt x="1647903" y="1495502"/>
                    <a:pt x="1694986" y="1516565"/>
                  </a:cubicBezTo>
                  <a:cubicBezTo>
                    <a:pt x="1742069" y="1537628"/>
                    <a:pt x="1778000" y="1548780"/>
                    <a:pt x="1821366" y="1553736"/>
                  </a:cubicBezTo>
                  <a:cubicBezTo>
                    <a:pt x="1864732" y="1558692"/>
                    <a:pt x="1899425" y="1551258"/>
                    <a:pt x="1955181" y="1546302"/>
                  </a:cubicBezTo>
                  <a:cubicBezTo>
                    <a:pt x="2010937" y="1541346"/>
                    <a:pt x="2093952" y="1538868"/>
                    <a:pt x="2155903" y="1524000"/>
                  </a:cubicBezTo>
                  <a:cubicBezTo>
                    <a:pt x="2217854" y="1509132"/>
                    <a:pt x="2326888" y="1457092"/>
                    <a:pt x="2326888" y="1457092"/>
                  </a:cubicBezTo>
                  <a:lnTo>
                    <a:pt x="2475571" y="1397619"/>
                  </a:lnTo>
                </a:path>
              </a:pathLst>
            </a:custGeom>
            <a:noFill/>
            <a:ln w="44450">
              <a:solidFill>
                <a:srgbClr val="2326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a:extLst>
                <a:ext uri="{FF2B5EF4-FFF2-40B4-BE49-F238E27FC236}">
                  <a16:creationId xmlns:a16="http://schemas.microsoft.com/office/drawing/2014/main" id="{5D2DC87C-48AA-2A2F-5FE2-7C12C0A7FED4}"/>
                </a:ext>
              </a:extLst>
            </p:cNvPr>
            <p:cNvSpPr/>
            <p:nvPr/>
          </p:nvSpPr>
          <p:spPr>
            <a:xfrm>
              <a:off x="10980156" y="1315844"/>
              <a:ext cx="957653" cy="885676"/>
            </a:xfrm>
            <a:custGeom>
              <a:avLst/>
              <a:gdLst>
                <a:gd name="connsiteX0" fmla="*/ 215668 w 957653"/>
                <a:gd name="connsiteY0" fmla="*/ 0 h 885676"/>
                <a:gd name="connsiteX1" fmla="*/ 96722 w 957653"/>
                <a:gd name="connsiteY1" fmla="*/ 66907 h 885676"/>
                <a:gd name="connsiteX2" fmla="*/ 29815 w 957653"/>
                <a:gd name="connsiteY2" fmla="*/ 193288 h 885676"/>
                <a:gd name="connsiteX3" fmla="*/ 78 w 957653"/>
                <a:gd name="connsiteY3" fmla="*/ 364273 h 885676"/>
                <a:gd name="connsiteX4" fmla="*/ 22381 w 957653"/>
                <a:gd name="connsiteY4" fmla="*/ 505522 h 885676"/>
                <a:gd name="connsiteX5" fmla="*/ 59551 w 957653"/>
                <a:gd name="connsiteY5" fmla="*/ 594732 h 885676"/>
                <a:gd name="connsiteX6" fmla="*/ 133893 w 957653"/>
                <a:gd name="connsiteY6" fmla="*/ 706244 h 885676"/>
                <a:gd name="connsiteX7" fmla="*/ 230537 w 957653"/>
                <a:gd name="connsiteY7" fmla="*/ 788019 h 885676"/>
                <a:gd name="connsiteX8" fmla="*/ 371785 w 957653"/>
                <a:gd name="connsiteY8" fmla="*/ 854927 h 885676"/>
                <a:gd name="connsiteX9" fmla="*/ 535337 w 957653"/>
                <a:gd name="connsiteY9" fmla="*/ 884663 h 885676"/>
                <a:gd name="connsiteX10" fmla="*/ 706322 w 957653"/>
                <a:gd name="connsiteY10" fmla="*/ 877229 h 885676"/>
                <a:gd name="connsiteX11" fmla="*/ 892176 w 957653"/>
                <a:gd name="connsiteY11" fmla="*/ 862361 h 885676"/>
                <a:gd name="connsiteX12" fmla="*/ 944215 w 957653"/>
                <a:gd name="connsiteY12" fmla="*/ 810322 h 885676"/>
                <a:gd name="connsiteX13" fmla="*/ 936781 w 957653"/>
                <a:gd name="connsiteY13" fmla="*/ 750849 h 885676"/>
                <a:gd name="connsiteX14" fmla="*/ 721190 w 957653"/>
                <a:gd name="connsiteY14" fmla="*/ 669073 h 885676"/>
                <a:gd name="connsiteX15" fmla="*/ 535337 w 957653"/>
                <a:gd name="connsiteY15" fmla="*/ 609600 h 885676"/>
                <a:gd name="connsiteX16" fmla="*/ 379220 w 957653"/>
                <a:gd name="connsiteY16" fmla="*/ 557561 h 885676"/>
                <a:gd name="connsiteX17" fmla="*/ 245405 w 957653"/>
                <a:gd name="connsiteY17" fmla="*/ 512956 h 88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7653" h="885676">
                  <a:moveTo>
                    <a:pt x="215668" y="0"/>
                  </a:moveTo>
                  <a:cubicBezTo>
                    <a:pt x="171682" y="17346"/>
                    <a:pt x="127697" y="34692"/>
                    <a:pt x="96722" y="66907"/>
                  </a:cubicBezTo>
                  <a:cubicBezTo>
                    <a:pt x="65746" y="99122"/>
                    <a:pt x="45922" y="143727"/>
                    <a:pt x="29815" y="193288"/>
                  </a:cubicBezTo>
                  <a:cubicBezTo>
                    <a:pt x="13708" y="242849"/>
                    <a:pt x="1317" y="312234"/>
                    <a:pt x="78" y="364273"/>
                  </a:cubicBezTo>
                  <a:cubicBezTo>
                    <a:pt x="-1161" y="416312"/>
                    <a:pt x="12469" y="467112"/>
                    <a:pt x="22381" y="505522"/>
                  </a:cubicBezTo>
                  <a:cubicBezTo>
                    <a:pt x="32293" y="543932"/>
                    <a:pt x="40966" y="561278"/>
                    <a:pt x="59551" y="594732"/>
                  </a:cubicBezTo>
                  <a:cubicBezTo>
                    <a:pt x="78136" y="628186"/>
                    <a:pt x="105395" y="674030"/>
                    <a:pt x="133893" y="706244"/>
                  </a:cubicBezTo>
                  <a:cubicBezTo>
                    <a:pt x="162391" y="738458"/>
                    <a:pt x="190888" y="763239"/>
                    <a:pt x="230537" y="788019"/>
                  </a:cubicBezTo>
                  <a:cubicBezTo>
                    <a:pt x="270186" y="812799"/>
                    <a:pt x="320985" y="838820"/>
                    <a:pt x="371785" y="854927"/>
                  </a:cubicBezTo>
                  <a:cubicBezTo>
                    <a:pt x="422585" y="871034"/>
                    <a:pt x="479581" y="880946"/>
                    <a:pt x="535337" y="884663"/>
                  </a:cubicBezTo>
                  <a:cubicBezTo>
                    <a:pt x="591093" y="888380"/>
                    <a:pt x="646849" y="880946"/>
                    <a:pt x="706322" y="877229"/>
                  </a:cubicBezTo>
                  <a:cubicBezTo>
                    <a:pt x="765795" y="873512"/>
                    <a:pt x="852527" y="873512"/>
                    <a:pt x="892176" y="862361"/>
                  </a:cubicBezTo>
                  <a:cubicBezTo>
                    <a:pt x="931825" y="851210"/>
                    <a:pt x="936781" y="828907"/>
                    <a:pt x="944215" y="810322"/>
                  </a:cubicBezTo>
                  <a:cubicBezTo>
                    <a:pt x="951649" y="791737"/>
                    <a:pt x="973952" y="774391"/>
                    <a:pt x="936781" y="750849"/>
                  </a:cubicBezTo>
                  <a:cubicBezTo>
                    <a:pt x="899610" y="727308"/>
                    <a:pt x="788097" y="692614"/>
                    <a:pt x="721190" y="669073"/>
                  </a:cubicBezTo>
                  <a:cubicBezTo>
                    <a:pt x="654283" y="645532"/>
                    <a:pt x="535337" y="609600"/>
                    <a:pt x="535337" y="609600"/>
                  </a:cubicBezTo>
                  <a:lnTo>
                    <a:pt x="379220" y="557561"/>
                  </a:lnTo>
                  <a:lnTo>
                    <a:pt x="245405" y="512956"/>
                  </a:lnTo>
                </a:path>
              </a:pathLst>
            </a:custGeom>
            <a:noFill/>
            <a:ln w="44450">
              <a:solidFill>
                <a:srgbClr val="2326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22">
              <a:extLst>
                <a:ext uri="{FF2B5EF4-FFF2-40B4-BE49-F238E27FC236}">
                  <a16:creationId xmlns:a16="http://schemas.microsoft.com/office/drawing/2014/main" id="{A6642A53-D99A-172D-36E4-7FABED27085A}"/>
                </a:ext>
              </a:extLst>
            </p:cNvPr>
            <p:cNvSpPr/>
            <p:nvPr/>
          </p:nvSpPr>
          <p:spPr>
            <a:xfrm>
              <a:off x="9641700" y="1070517"/>
              <a:ext cx="1102971" cy="1264223"/>
            </a:xfrm>
            <a:custGeom>
              <a:avLst/>
              <a:gdLst>
                <a:gd name="connsiteX0" fmla="*/ 245715 w 1102971"/>
                <a:gd name="connsiteY0" fmla="*/ 0 h 1264223"/>
                <a:gd name="connsiteX1" fmla="*/ 186241 w 1102971"/>
                <a:gd name="connsiteY1" fmla="*/ 59473 h 1264223"/>
                <a:gd name="connsiteX2" fmla="*/ 104466 w 1102971"/>
                <a:gd name="connsiteY2" fmla="*/ 170985 h 1264223"/>
                <a:gd name="connsiteX3" fmla="*/ 59861 w 1102971"/>
                <a:gd name="connsiteY3" fmla="*/ 267629 h 1264223"/>
                <a:gd name="connsiteX4" fmla="*/ 30124 w 1102971"/>
                <a:gd name="connsiteY4" fmla="*/ 386576 h 1264223"/>
                <a:gd name="connsiteX5" fmla="*/ 388 w 1102971"/>
                <a:gd name="connsiteY5" fmla="*/ 498088 h 1264223"/>
                <a:gd name="connsiteX6" fmla="*/ 15256 w 1102971"/>
                <a:gd name="connsiteY6" fmla="*/ 617034 h 1264223"/>
                <a:gd name="connsiteX7" fmla="*/ 44993 w 1102971"/>
                <a:gd name="connsiteY7" fmla="*/ 706244 h 1264223"/>
                <a:gd name="connsiteX8" fmla="*/ 74729 w 1102971"/>
                <a:gd name="connsiteY8" fmla="*/ 810322 h 1264223"/>
                <a:gd name="connsiteX9" fmla="*/ 119334 w 1102971"/>
                <a:gd name="connsiteY9" fmla="*/ 914400 h 1264223"/>
                <a:gd name="connsiteX10" fmla="*/ 208544 w 1102971"/>
                <a:gd name="connsiteY10" fmla="*/ 1018478 h 1264223"/>
                <a:gd name="connsiteX11" fmla="*/ 275451 w 1102971"/>
                <a:gd name="connsiteY11" fmla="*/ 1092820 h 1264223"/>
                <a:gd name="connsiteX12" fmla="*/ 342359 w 1102971"/>
                <a:gd name="connsiteY12" fmla="*/ 1152293 h 1264223"/>
                <a:gd name="connsiteX13" fmla="*/ 461305 w 1102971"/>
                <a:gd name="connsiteY13" fmla="*/ 1219200 h 1264223"/>
                <a:gd name="connsiteX14" fmla="*/ 565383 w 1102971"/>
                <a:gd name="connsiteY14" fmla="*/ 1248937 h 1264223"/>
                <a:gd name="connsiteX15" fmla="*/ 669461 w 1102971"/>
                <a:gd name="connsiteY15" fmla="*/ 1263805 h 1264223"/>
                <a:gd name="connsiteX16" fmla="*/ 825578 w 1102971"/>
                <a:gd name="connsiteY16" fmla="*/ 1256371 h 1264223"/>
                <a:gd name="connsiteX17" fmla="*/ 981695 w 1102971"/>
                <a:gd name="connsiteY17" fmla="*/ 1219200 h 1264223"/>
                <a:gd name="connsiteX18" fmla="*/ 1056037 w 1102971"/>
                <a:gd name="connsiteY18" fmla="*/ 1152293 h 1264223"/>
                <a:gd name="connsiteX19" fmla="*/ 1100641 w 1102971"/>
                <a:gd name="connsiteY19" fmla="*/ 1063083 h 1264223"/>
                <a:gd name="connsiteX20" fmla="*/ 1093207 w 1102971"/>
                <a:gd name="connsiteY20" fmla="*/ 973873 h 1264223"/>
                <a:gd name="connsiteX21" fmla="*/ 1063471 w 1102971"/>
                <a:gd name="connsiteY21" fmla="*/ 921834 h 1264223"/>
                <a:gd name="connsiteX22" fmla="*/ 981695 w 1102971"/>
                <a:gd name="connsiteY22" fmla="*/ 854927 h 1264223"/>
                <a:gd name="connsiteX23" fmla="*/ 870183 w 1102971"/>
                <a:gd name="connsiteY23" fmla="*/ 802888 h 1264223"/>
                <a:gd name="connsiteX24" fmla="*/ 728934 w 1102971"/>
                <a:gd name="connsiteY24" fmla="*/ 728546 h 1264223"/>
                <a:gd name="connsiteX25" fmla="*/ 595120 w 1102971"/>
                <a:gd name="connsiteY25" fmla="*/ 661639 h 1264223"/>
                <a:gd name="connsiteX26" fmla="*/ 409266 w 1102971"/>
                <a:gd name="connsiteY26" fmla="*/ 557561 h 1264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02971" h="1264223">
                  <a:moveTo>
                    <a:pt x="245715" y="0"/>
                  </a:moveTo>
                  <a:cubicBezTo>
                    <a:pt x="227749" y="15487"/>
                    <a:pt x="209783" y="30975"/>
                    <a:pt x="186241" y="59473"/>
                  </a:cubicBezTo>
                  <a:cubicBezTo>
                    <a:pt x="162699" y="87971"/>
                    <a:pt x="125529" y="136292"/>
                    <a:pt x="104466" y="170985"/>
                  </a:cubicBezTo>
                  <a:cubicBezTo>
                    <a:pt x="83403" y="205678"/>
                    <a:pt x="72251" y="231697"/>
                    <a:pt x="59861" y="267629"/>
                  </a:cubicBezTo>
                  <a:cubicBezTo>
                    <a:pt x="47471" y="303561"/>
                    <a:pt x="40036" y="348166"/>
                    <a:pt x="30124" y="386576"/>
                  </a:cubicBezTo>
                  <a:cubicBezTo>
                    <a:pt x="20212" y="424986"/>
                    <a:pt x="2866" y="459678"/>
                    <a:pt x="388" y="498088"/>
                  </a:cubicBezTo>
                  <a:cubicBezTo>
                    <a:pt x="-2090" y="536498"/>
                    <a:pt x="7822" y="582341"/>
                    <a:pt x="15256" y="617034"/>
                  </a:cubicBezTo>
                  <a:cubicBezTo>
                    <a:pt x="22690" y="651727"/>
                    <a:pt x="35081" y="674029"/>
                    <a:pt x="44993" y="706244"/>
                  </a:cubicBezTo>
                  <a:cubicBezTo>
                    <a:pt x="54905" y="738459"/>
                    <a:pt x="62339" y="775629"/>
                    <a:pt x="74729" y="810322"/>
                  </a:cubicBezTo>
                  <a:cubicBezTo>
                    <a:pt x="87119" y="845015"/>
                    <a:pt x="97031" y="879707"/>
                    <a:pt x="119334" y="914400"/>
                  </a:cubicBezTo>
                  <a:cubicBezTo>
                    <a:pt x="141637" y="949093"/>
                    <a:pt x="182525" y="988741"/>
                    <a:pt x="208544" y="1018478"/>
                  </a:cubicBezTo>
                  <a:cubicBezTo>
                    <a:pt x="234563" y="1048215"/>
                    <a:pt x="253149" y="1070518"/>
                    <a:pt x="275451" y="1092820"/>
                  </a:cubicBezTo>
                  <a:cubicBezTo>
                    <a:pt x="297753" y="1115122"/>
                    <a:pt x="311383" y="1131230"/>
                    <a:pt x="342359" y="1152293"/>
                  </a:cubicBezTo>
                  <a:cubicBezTo>
                    <a:pt x="373335" y="1173356"/>
                    <a:pt x="424134" y="1203093"/>
                    <a:pt x="461305" y="1219200"/>
                  </a:cubicBezTo>
                  <a:cubicBezTo>
                    <a:pt x="498476" y="1235307"/>
                    <a:pt x="530690" y="1241503"/>
                    <a:pt x="565383" y="1248937"/>
                  </a:cubicBezTo>
                  <a:cubicBezTo>
                    <a:pt x="600076" y="1256371"/>
                    <a:pt x="626095" y="1262566"/>
                    <a:pt x="669461" y="1263805"/>
                  </a:cubicBezTo>
                  <a:cubicBezTo>
                    <a:pt x="712827" y="1265044"/>
                    <a:pt x="773539" y="1263805"/>
                    <a:pt x="825578" y="1256371"/>
                  </a:cubicBezTo>
                  <a:cubicBezTo>
                    <a:pt x="877617" y="1248937"/>
                    <a:pt x="943285" y="1236546"/>
                    <a:pt x="981695" y="1219200"/>
                  </a:cubicBezTo>
                  <a:cubicBezTo>
                    <a:pt x="1020105" y="1201854"/>
                    <a:pt x="1036213" y="1178312"/>
                    <a:pt x="1056037" y="1152293"/>
                  </a:cubicBezTo>
                  <a:cubicBezTo>
                    <a:pt x="1075861" y="1126274"/>
                    <a:pt x="1094446" y="1092820"/>
                    <a:pt x="1100641" y="1063083"/>
                  </a:cubicBezTo>
                  <a:cubicBezTo>
                    <a:pt x="1106836" y="1033346"/>
                    <a:pt x="1099402" y="997415"/>
                    <a:pt x="1093207" y="973873"/>
                  </a:cubicBezTo>
                  <a:cubicBezTo>
                    <a:pt x="1087012" y="950331"/>
                    <a:pt x="1082056" y="941658"/>
                    <a:pt x="1063471" y="921834"/>
                  </a:cubicBezTo>
                  <a:cubicBezTo>
                    <a:pt x="1044886" y="902010"/>
                    <a:pt x="1013910" y="874751"/>
                    <a:pt x="981695" y="854927"/>
                  </a:cubicBezTo>
                  <a:cubicBezTo>
                    <a:pt x="949480" y="835103"/>
                    <a:pt x="912310" y="823951"/>
                    <a:pt x="870183" y="802888"/>
                  </a:cubicBezTo>
                  <a:cubicBezTo>
                    <a:pt x="828056" y="781825"/>
                    <a:pt x="774778" y="752088"/>
                    <a:pt x="728934" y="728546"/>
                  </a:cubicBezTo>
                  <a:cubicBezTo>
                    <a:pt x="683090" y="705005"/>
                    <a:pt x="648398" y="690136"/>
                    <a:pt x="595120" y="661639"/>
                  </a:cubicBezTo>
                  <a:cubicBezTo>
                    <a:pt x="541842" y="633142"/>
                    <a:pt x="475554" y="595351"/>
                    <a:pt x="409266" y="557561"/>
                  </a:cubicBezTo>
                </a:path>
              </a:pathLst>
            </a:custGeom>
            <a:noFill/>
            <a:ln w="44450">
              <a:solidFill>
                <a:srgbClr val="2326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2030A0E7-F7FF-144E-9CCF-AFA6D9B484BF}"/>
              </a:ext>
            </a:extLst>
          </p:cNvPr>
          <p:cNvGrpSpPr/>
          <p:nvPr/>
        </p:nvGrpSpPr>
        <p:grpSpPr>
          <a:xfrm>
            <a:off x="528373" y="4671605"/>
            <a:ext cx="11416752" cy="461665"/>
            <a:chOff x="523457" y="3929270"/>
            <a:chExt cx="11416752" cy="461665"/>
          </a:xfrm>
        </p:grpSpPr>
        <p:sp>
          <p:nvSpPr>
            <p:cNvPr id="26" name="TextBox 25">
              <a:extLst>
                <a:ext uri="{FF2B5EF4-FFF2-40B4-BE49-F238E27FC236}">
                  <a16:creationId xmlns:a16="http://schemas.microsoft.com/office/drawing/2014/main" id="{45FF93A9-C133-27C8-67BC-5AA49A19C27F}"/>
                </a:ext>
              </a:extLst>
            </p:cNvPr>
            <p:cNvSpPr txBox="1"/>
            <p:nvPr/>
          </p:nvSpPr>
          <p:spPr>
            <a:xfrm>
              <a:off x="523457" y="3929270"/>
              <a:ext cx="11416752" cy="461665"/>
            </a:xfrm>
            <a:prstGeom prst="rect">
              <a:avLst/>
            </a:prstGeom>
            <a:noFill/>
          </p:spPr>
          <p:txBody>
            <a:bodyPr wrap="square" rtlCol="0">
              <a:spAutoFit/>
            </a:bodyPr>
            <a:lstStyle/>
            <a:p>
              <a:pPr algn="just"/>
              <a:r>
                <a:rPr lang="en-US" sz="2400" dirty="0">
                  <a:solidFill/>
                  <a:latin typeface="Times" pitchFamily="2" charset="0"/>
                </a:rPr>
                <a:t>Whenever the car goes </a:t>
              </a:r>
              <a:r>
                <a:rPr lang="en-US" sz="2400" dirty="0">
                  <a:solidFill>
                    <a:srgbClr val="FF0000"/>
                  </a:solidFill>
                  <a:latin typeface="Times" pitchFamily="2" charset="0"/>
                </a:rPr>
                <a:t>uphill</a:t>
              </a:r>
              <a:r>
                <a:rPr lang="en-US" sz="2400" dirty="0">
                  <a:solidFill/>
                  <a:latin typeface="Times" pitchFamily="2" charset="0"/>
                </a:rPr>
                <a:t>,                    work is done by gravity.</a:t>
              </a:r>
            </a:p>
          </p:txBody>
        </p:sp>
        <p:sp>
          <p:nvSpPr>
            <p:cNvPr id="27" name="Rounded Rectangle 26">
              <a:extLst>
                <a:ext uri="{FF2B5EF4-FFF2-40B4-BE49-F238E27FC236}">
                  <a16:creationId xmlns:a16="http://schemas.microsoft.com/office/drawing/2014/main" id="{60637DA2-5CC3-1DFE-FB5B-2B63BA87FDE8}"/>
                </a:ext>
              </a:extLst>
            </p:cNvPr>
            <p:cNvSpPr/>
            <p:nvPr/>
          </p:nvSpPr>
          <p:spPr>
            <a:xfrm>
              <a:off x="4358515" y="3964568"/>
              <a:ext cx="1325217" cy="3710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TextBox 27">
            <a:extLst>
              <a:ext uri="{FF2B5EF4-FFF2-40B4-BE49-F238E27FC236}">
                <a16:creationId xmlns:a16="http://schemas.microsoft.com/office/drawing/2014/main" id="{E3A6FA86-8729-132B-9173-56816EEAF941}"/>
              </a:ext>
            </a:extLst>
          </p:cNvPr>
          <p:cNvSpPr txBox="1"/>
          <p:nvPr/>
        </p:nvSpPr>
        <p:spPr>
          <a:xfrm>
            <a:off x="4331143" y="4674857"/>
            <a:ext cx="1484247" cy="400110"/>
          </a:xfrm>
          <a:prstGeom prst="rect">
            <a:avLst/>
          </a:prstGeom>
          <a:noFill/>
        </p:spPr>
        <p:txBody>
          <a:bodyPr wrap="square" rtlCol="0">
            <a:spAutoFit/>
          </a:bodyPr>
          <a:lstStyle/>
          <a:p>
            <a:pPr algn="just"/>
            <a:r>
              <a:rPr lang="en-US" sz="2000" dirty="0">
                <a:solidFill>
                  <a:srgbClr val="007440"/>
                </a:solidFill>
                <a:latin typeface="Chalkduster" panose="03050602040202020205" pitchFamily="66" charset="77"/>
              </a:rPr>
              <a:t>negative</a:t>
            </a:r>
          </a:p>
        </p:txBody>
      </p:sp>
      <p:grpSp>
        <p:nvGrpSpPr>
          <p:cNvPr id="32" name="Group 31">
            <a:extLst>
              <a:ext uri="{FF2B5EF4-FFF2-40B4-BE49-F238E27FC236}">
                <a16:creationId xmlns:a16="http://schemas.microsoft.com/office/drawing/2014/main" id="{7B8786E7-6C35-3046-D93E-5FAEF5053F15}"/>
              </a:ext>
            </a:extLst>
          </p:cNvPr>
          <p:cNvGrpSpPr/>
          <p:nvPr/>
        </p:nvGrpSpPr>
        <p:grpSpPr>
          <a:xfrm>
            <a:off x="7955339" y="1053664"/>
            <a:ext cx="3457629" cy="1534553"/>
            <a:chOff x="7955339" y="1053664"/>
            <a:chExt cx="3457629" cy="1534553"/>
          </a:xfrm>
        </p:grpSpPr>
        <p:sp>
          <p:nvSpPr>
            <p:cNvPr id="29" name="Freeform 28">
              <a:extLst>
                <a:ext uri="{FF2B5EF4-FFF2-40B4-BE49-F238E27FC236}">
                  <a16:creationId xmlns:a16="http://schemas.microsoft.com/office/drawing/2014/main" id="{FE0A80F8-0F47-4536-1E99-1C618301592B}"/>
                </a:ext>
              </a:extLst>
            </p:cNvPr>
            <p:cNvSpPr/>
            <p:nvPr/>
          </p:nvSpPr>
          <p:spPr>
            <a:xfrm>
              <a:off x="10414861" y="1322522"/>
              <a:ext cx="998107" cy="1265695"/>
            </a:xfrm>
            <a:custGeom>
              <a:avLst/>
              <a:gdLst>
                <a:gd name="connsiteX0" fmla="*/ 0 w 998107"/>
                <a:gd name="connsiteY0" fmla="*/ 1265695 h 1265695"/>
                <a:gd name="connsiteX1" fmla="*/ 180814 w 998107"/>
                <a:gd name="connsiteY1" fmla="*/ 1183037 h 1265695"/>
                <a:gd name="connsiteX2" fmla="*/ 366793 w 998107"/>
                <a:gd name="connsiteY2" fmla="*/ 1090047 h 1265695"/>
                <a:gd name="connsiteX3" fmla="*/ 526942 w 998107"/>
                <a:gd name="connsiteY3" fmla="*/ 986725 h 1265695"/>
                <a:gd name="connsiteX4" fmla="*/ 687092 w 998107"/>
                <a:gd name="connsiteY4" fmla="*/ 873071 h 1265695"/>
                <a:gd name="connsiteX5" fmla="*/ 805912 w 998107"/>
                <a:gd name="connsiteY5" fmla="*/ 774915 h 1265695"/>
                <a:gd name="connsiteX6" fmla="*/ 981559 w 998107"/>
                <a:gd name="connsiteY6" fmla="*/ 511444 h 1265695"/>
                <a:gd name="connsiteX7" fmla="*/ 991892 w 998107"/>
                <a:gd name="connsiteY7" fmla="*/ 366793 h 1265695"/>
                <a:gd name="connsiteX8" fmla="*/ 991892 w 998107"/>
                <a:gd name="connsiteY8" fmla="*/ 247973 h 1265695"/>
                <a:gd name="connsiteX9" fmla="*/ 966061 w 998107"/>
                <a:gd name="connsiteY9" fmla="*/ 180814 h 1265695"/>
                <a:gd name="connsiteX10" fmla="*/ 935064 w 998107"/>
                <a:gd name="connsiteY10" fmla="*/ 113654 h 1265695"/>
                <a:gd name="connsiteX11" fmla="*/ 898902 w 998107"/>
                <a:gd name="connsiteY11" fmla="*/ 61993 h 1265695"/>
                <a:gd name="connsiteX12" fmla="*/ 842075 w 998107"/>
                <a:gd name="connsiteY12" fmla="*/ 20664 h 1265695"/>
                <a:gd name="connsiteX13" fmla="*/ 790414 w 998107"/>
                <a:gd name="connsiteY13" fmla="*/ 0 h 1265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98107" h="1265695">
                  <a:moveTo>
                    <a:pt x="0" y="1265695"/>
                  </a:moveTo>
                  <a:cubicBezTo>
                    <a:pt x="59841" y="1239003"/>
                    <a:pt x="119682" y="1212312"/>
                    <a:pt x="180814" y="1183037"/>
                  </a:cubicBezTo>
                  <a:cubicBezTo>
                    <a:pt x="241946" y="1153762"/>
                    <a:pt x="309105" y="1122766"/>
                    <a:pt x="366793" y="1090047"/>
                  </a:cubicBezTo>
                  <a:cubicBezTo>
                    <a:pt x="424481" y="1057328"/>
                    <a:pt x="473559" y="1022888"/>
                    <a:pt x="526942" y="986725"/>
                  </a:cubicBezTo>
                  <a:cubicBezTo>
                    <a:pt x="580325" y="950562"/>
                    <a:pt x="640597" y="908373"/>
                    <a:pt x="687092" y="873071"/>
                  </a:cubicBezTo>
                  <a:cubicBezTo>
                    <a:pt x="733587" y="837769"/>
                    <a:pt x="756834" y="835186"/>
                    <a:pt x="805912" y="774915"/>
                  </a:cubicBezTo>
                  <a:cubicBezTo>
                    <a:pt x="854990" y="714644"/>
                    <a:pt x="950562" y="579464"/>
                    <a:pt x="981559" y="511444"/>
                  </a:cubicBezTo>
                  <a:cubicBezTo>
                    <a:pt x="1012556" y="443424"/>
                    <a:pt x="990170" y="410705"/>
                    <a:pt x="991892" y="366793"/>
                  </a:cubicBezTo>
                  <a:cubicBezTo>
                    <a:pt x="993614" y="322881"/>
                    <a:pt x="996197" y="278969"/>
                    <a:pt x="991892" y="247973"/>
                  </a:cubicBezTo>
                  <a:cubicBezTo>
                    <a:pt x="987587" y="216977"/>
                    <a:pt x="975532" y="203200"/>
                    <a:pt x="966061" y="180814"/>
                  </a:cubicBezTo>
                  <a:cubicBezTo>
                    <a:pt x="956590" y="158428"/>
                    <a:pt x="946257" y="133457"/>
                    <a:pt x="935064" y="113654"/>
                  </a:cubicBezTo>
                  <a:cubicBezTo>
                    <a:pt x="923871" y="93851"/>
                    <a:pt x="914400" y="77491"/>
                    <a:pt x="898902" y="61993"/>
                  </a:cubicBezTo>
                  <a:cubicBezTo>
                    <a:pt x="883404" y="46495"/>
                    <a:pt x="860156" y="30996"/>
                    <a:pt x="842075" y="20664"/>
                  </a:cubicBezTo>
                  <a:cubicBezTo>
                    <a:pt x="823994" y="10332"/>
                    <a:pt x="807204" y="5166"/>
                    <a:pt x="790414" y="0"/>
                  </a:cubicBezTo>
                </a:path>
              </a:pathLst>
            </a:cu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29">
              <a:extLst>
                <a:ext uri="{FF2B5EF4-FFF2-40B4-BE49-F238E27FC236}">
                  <a16:creationId xmlns:a16="http://schemas.microsoft.com/office/drawing/2014/main" id="{EC1E1B0A-7DBC-E453-67D9-DAADBEB2B009}"/>
                </a:ext>
              </a:extLst>
            </p:cNvPr>
            <p:cNvSpPr/>
            <p:nvPr/>
          </p:nvSpPr>
          <p:spPr>
            <a:xfrm>
              <a:off x="9893085" y="1053664"/>
              <a:ext cx="1327688" cy="780302"/>
            </a:xfrm>
            <a:custGeom>
              <a:avLst/>
              <a:gdLst>
                <a:gd name="connsiteX0" fmla="*/ 1327688 w 1327688"/>
                <a:gd name="connsiteY0" fmla="*/ 780302 h 780302"/>
                <a:gd name="connsiteX1" fmla="*/ 1183037 w 1327688"/>
                <a:gd name="connsiteY1" fmla="*/ 744139 h 780302"/>
                <a:gd name="connsiteX2" fmla="*/ 1095213 w 1327688"/>
                <a:gd name="connsiteY2" fmla="*/ 697644 h 780302"/>
                <a:gd name="connsiteX3" fmla="*/ 919566 w 1327688"/>
                <a:gd name="connsiteY3" fmla="*/ 635651 h 780302"/>
                <a:gd name="connsiteX4" fmla="*/ 774915 w 1327688"/>
                <a:gd name="connsiteY4" fmla="*/ 578824 h 780302"/>
                <a:gd name="connsiteX5" fmla="*/ 619932 w 1327688"/>
                <a:gd name="connsiteY5" fmla="*/ 491000 h 780302"/>
                <a:gd name="connsiteX6" fmla="*/ 501112 w 1327688"/>
                <a:gd name="connsiteY6" fmla="*/ 403177 h 780302"/>
                <a:gd name="connsiteX7" fmla="*/ 402956 w 1327688"/>
                <a:gd name="connsiteY7" fmla="*/ 284356 h 780302"/>
                <a:gd name="connsiteX8" fmla="*/ 325464 w 1327688"/>
                <a:gd name="connsiteY8" fmla="*/ 181034 h 780302"/>
                <a:gd name="connsiteX9" fmla="*/ 258305 w 1327688"/>
                <a:gd name="connsiteY9" fmla="*/ 103543 h 780302"/>
                <a:gd name="connsiteX10" fmla="*/ 170481 w 1327688"/>
                <a:gd name="connsiteY10" fmla="*/ 26051 h 780302"/>
                <a:gd name="connsiteX11" fmla="*/ 87823 w 1327688"/>
                <a:gd name="connsiteY11" fmla="*/ 221 h 780302"/>
                <a:gd name="connsiteX12" fmla="*/ 0 w 1327688"/>
                <a:gd name="connsiteY12" fmla="*/ 15719 h 780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27688" h="780302">
                  <a:moveTo>
                    <a:pt x="1327688" y="780302"/>
                  </a:moveTo>
                  <a:cubicBezTo>
                    <a:pt x="1274735" y="769108"/>
                    <a:pt x="1221783" y="757915"/>
                    <a:pt x="1183037" y="744139"/>
                  </a:cubicBezTo>
                  <a:cubicBezTo>
                    <a:pt x="1144291" y="730363"/>
                    <a:pt x="1139125" y="715725"/>
                    <a:pt x="1095213" y="697644"/>
                  </a:cubicBezTo>
                  <a:cubicBezTo>
                    <a:pt x="1051301" y="679563"/>
                    <a:pt x="972949" y="655454"/>
                    <a:pt x="919566" y="635651"/>
                  </a:cubicBezTo>
                  <a:cubicBezTo>
                    <a:pt x="866183" y="615848"/>
                    <a:pt x="824854" y="602932"/>
                    <a:pt x="774915" y="578824"/>
                  </a:cubicBezTo>
                  <a:cubicBezTo>
                    <a:pt x="724976" y="554715"/>
                    <a:pt x="665566" y="520274"/>
                    <a:pt x="619932" y="491000"/>
                  </a:cubicBezTo>
                  <a:cubicBezTo>
                    <a:pt x="574298" y="461726"/>
                    <a:pt x="537275" y="437618"/>
                    <a:pt x="501112" y="403177"/>
                  </a:cubicBezTo>
                  <a:cubicBezTo>
                    <a:pt x="464949" y="368736"/>
                    <a:pt x="432231" y="321380"/>
                    <a:pt x="402956" y="284356"/>
                  </a:cubicBezTo>
                  <a:cubicBezTo>
                    <a:pt x="373681" y="247332"/>
                    <a:pt x="349573" y="211170"/>
                    <a:pt x="325464" y="181034"/>
                  </a:cubicBezTo>
                  <a:cubicBezTo>
                    <a:pt x="301355" y="150898"/>
                    <a:pt x="284135" y="129373"/>
                    <a:pt x="258305" y="103543"/>
                  </a:cubicBezTo>
                  <a:cubicBezTo>
                    <a:pt x="232475" y="77713"/>
                    <a:pt x="198895" y="43271"/>
                    <a:pt x="170481" y="26051"/>
                  </a:cubicBezTo>
                  <a:cubicBezTo>
                    <a:pt x="142067" y="8831"/>
                    <a:pt x="116236" y="1943"/>
                    <a:pt x="87823" y="221"/>
                  </a:cubicBezTo>
                  <a:cubicBezTo>
                    <a:pt x="59410" y="-1501"/>
                    <a:pt x="29705" y="7109"/>
                    <a:pt x="0" y="15719"/>
                  </a:cubicBezTo>
                </a:path>
              </a:pathLst>
            </a:cu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27C8089C-478E-24A5-F7CF-C96F63F21CA8}"/>
                </a:ext>
              </a:extLst>
            </p:cNvPr>
            <p:cNvSpPr/>
            <p:nvPr/>
          </p:nvSpPr>
          <p:spPr>
            <a:xfrm>
              <a:off x="7955339" y="1069341"/>
              <a:ext cx="2087563" cy="818032"/>
            </a:xfrm>
            <a:custGeom>
              <a:avLst/>
              <a:gdLst>
                <a:gd name="connsiteX0" fmla="*/ 2087563 w 2087563"/>
                <a:gd name="connsiteY0" fmla="*/ 563147 h 818032"/>
                <a:gd name="connsiteX1" fmla="*/ 1922247 w 2087563"/>
                <a:gd name="connsiteY1" fmla="*/ 480490 h 818032"/>
                <a:gd name="connsiteX2" fmla="*/ 1834424 w 2087563"/>
                <a:gd name="connsiteY2" fmla="*/ 433995 h 818032"/>
                <a:gd name="connsiteX3" fmla="*/ 1751766 w 2087563"/>
                <a:gd name="connsiteY3" fmla="*/ 413330 h 818032"/>
                <a:gd name="connsiteX4" fmla="*/ 1663942 w 2087563"/>
                <a:gd name="connsiteY4" fmla="*/ 397832 h 818032"/>
                <a:gd name="connsiteX5" fmla="*/ 1539956 w 2087563"/>
                <a:gd name="connsiteY5" fmla="*/ 444327 h 818032"/>
                <a:gd name="connsiteX6" fmla="*/ 1426302 w 2087563"/>
                <a:gd name="connsiteY6" fmla="*/ 526984 h 818032"/>
                <a:gd name="connsiteX7" fmla="*/ 1229990 w 2087563"/>
                <a:gd name="connsiteY7" fmla="*/ 671635 h 818032"/>
                <a:gd name="connsiteX8" fmla="*/ 1080173 w 2087563"/>
                <a:gd name="connsiteY8" fmla="*/ 785290 h 818032"/>
                <a:gd name="connsiteX9" fmla="*/ 992349 w 2087563"/>
                <a:gd name="connsiteY9" fmla="*/ 816286 h 818032"/>
                <a:gd name="connsiteX10" fmla="*/ 904525 w 2087563"/>
                <a:gd name="connsiteY10" fmla="*/ 790456 h 818032"/>
                <a:gd name="connsiteX11" fmla="*/ 672051 w 2087563"/>
                <a:gd name="connsiteY11" fmla="*/ 599310 h 818032"/>
                <a:gd name="connsiteX12" fmla="*/ 434410 w 2087563"/>
                <a:gd name="connsiteY12" fmla="*/ 341005 h 818032"/>
                <a:gd name="connsiteX13" fmla="*/ 238098 w 2087563"/>
                <a:gd name="connsiteY13" fmla="*/ 139527 h 818032"/>
                <a:gd name="connsiteX14" fmla="*/ 139942 w 2087563"/>
                <a:gd name="connsiteY14" fmla="*/ 36205 h 818032"/>
                <a:gd name="connsiteX15" fmla="*/ 93447 w 2087563"/>
                <a:gd name="connsiteY15" fmla="*/ 5208 h 818032"/>
                <a:gd name="connsiteX16" fmla="*/ 62451 w 2087563"/>
                <a:gd name="connsiteY16" fmla="*/ 42 h 818032"/>
                <a:gd name="connsiteX17" fmla="*/ 31454 w 2087563"/>
                <a:gd name="connsiteY17" fmla="*/ 5208 h 818032"/>
                <a:gd name="connsiteX18" fmla="*/ 15956 w 2087563"/>
                <a:gd name="connsiteY18" fmla="*/ 31039 h 818032"/>
                <a:gd name="connsiteX19" fmla="*/ 458 w 2087563"/>
                <a:gd name="connsiteY19" fmla="*/ 77534 h 818032"/>
                <a:gd name="connsiteX20" fmla="*/ 5624 w 2087563"/>
                <a:gd name="connsiteY20" fmla="*/ 129195 h 818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87563" h="818032">
                  <a:moveTo>
                    <a:pt x="2087563" y="563147"/>
                  </a:moveTo>
                  <a:lnTo>
                    <a:pt x="1922247" y="480490"/>
                  </a:lnTo>
                  <a:cubicBezTo>
                    <a:pt x="1880057" y="458965"/>
                    <a:pt x="1862837" y="445188"/>
                    <a:pt x="1834424" y="433995"/>
                  </a:cubicBezTo>
                  <a:cubicBezTo>
                    <a:pt x="1806010" y="422802"/>
                    <a:pt x="1780180" y="419357"/>
                    <a:pt x="1751766" y="413330"/>
                  </a:cubicBezTo>
                  <a:cubicBezTo>
                    <a:pt x="1723352" y="407303"/>
                    <a:pt x="1699244" y="392666"/>
                    <a:pt x="1663942" y="397832"/>
                  </a:cubicBezTo>
                  <a:cubicBezTo>
                    <a:pt x="1628640" y="402998"/>
                    <a:pt x="1579563" y="422802"/>
                    <a:pt x="1539956" y="444327"/>
                  </a:cubicBezTo>
                  <a:cubicBezTo>
                    <a:pt x="1500349" y="465852"/>
                    <a:pt x="1426302" y="526984"/>
                    <a:pt x="1426302" y="526984"/>
                  </a:cubicBezTo>
                  <a:lnTo>
                    <a:pt x="1229990" y="671635"/>
                  </a:lnTo>
                  <a:cubicBezTo>
                    <a:pt x="1172302" y="714686"/>
                    <a:pt x="1119780" y="761182"/>
                    <a:pt x="1080173" y="785290"/>
                  </a:cubicBezTo>
                  <a:cubicBezTo>
                    <a:pt x="1040566" y="809398"/>
                    <a:pt x="1021624" y="815425"/>
                    <a:pt x="992349" y="816286"/>
                  </a:cubicBezTo>
                  <a:cubicBezTo>
                    <a:pt x="963074" y="817147"/>
                    <a:pt x="957908" y="826619"/>
                    <a:pt x="904525" y="790456"/>
                  </a:cubicBezTo>
                  <a:cubicBezTo>
                    <a:pt x="851142" y="754293"/>
                    <a:pt x="750403" y="674219"/>
                    <a:pt x="672051" y="599310"/>
                  </a:cubicBezTo>
                  <a:cubicBezTo>
                    <a:pt x="593698" y="524401"/>
                    <a:pt x="506735" y="417635"/>
                    <a:pt x="434410" y="341005"/>
                  </a:cubicBezTo>
                  <a:cubicBezTo>
                    <a:pt x="362085" y="264375"/>
                    <a:pt x="287176" y="190327"/>
                    <a:pt x="238098" y="139527"/>
                  </a:cubicBezTo>
                  <a:cubicBezTo>
                    <a:pt x="189020" y="88727"/>
                    <a:pt x="164050" y="58591"/>
                    <a:pt x="139942" y="36205"/>
                  </a:cubicBezTo>
                  <a:cubicBezTo>
                    <a:pt x="115833" y="13818"/>
                    <a:pt x="106362" y="11235"/>
                    <a:pt x="93447" y="5208"/>
                  </a:cubicBezTo>
                  <a:cubicBezTo>
                    <a:pt x="80532" y="-819"/>
                    <a:pt x="72783" y="42"/>
                    <a:pt x="62451" y="42"/>
                  </a:cubicBezTo>
                  <a:cubicBezTo>
                    <a:pt x="52119" y="42"/>
                    <a:pt x="39203" y="42"/>
                    <a:pt x="31454" y="5208"/>
                  </a:cubicBezTo>
                  <a:cubicBezTo>
                    <a:pt x="23705" y="10374"/>
                    <a:pt x="21122" y="18985"/>
                    <a:pt x="15956" y="31039"/>
                  </a:cubicBezTo>
                  <a:cubicBezTo>
                    <a:pt x="10790" y="43093"/>
                    <a:pt x="2180" y="61175"/>
                    <a:pt x="458" y="77534"/>
                  </a:cubicBezTo>
                  <a:cubicBezTo>
                    <a:pt x="-1264" y="93893"/>
                    <a:pt x="2180" y="111544"/>
                    <a:pt x="5624" y="129195"/>
                  </a:cubicBezTo>
                </a:path>
              </a:pathLst>
            </a:cu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TextBox 32">
            <a:extLst>
              <a:ext uri="{FF2B5EF4-FFF2-40B4-BE49-F238E27FC236}">
                <a16:creationId xmlns:a16="http://schemas.microsoft.com/office/drawing/2014/main" id="{49931934-1E2B-1C0C-CBC5-5997B6427671}"/>
              </a:ext>
            </a:extLst>
          </p:cNvPr>
          <p:cNvSpPr txBox="1"/>
          <p:nvPr/>
        </p:nvSpPr>
        <p:spPr>
          <a:xfrm>
            <a:off x="9283145" y="3982278"/>
            <a:ext cx="2590803" cy="400110"/>
          </a:xfrm>
          <a:prstGeom prst="rect">
            <a:avLst/>
          </a:prstGeom>
          <a:noFill/>
        </p:spPr>
        <p:txBody>
          <a:bodyPr wrap="square" rtlCol="0">
            <a:spAutoFit/>
          </a:bodyPr>
          <a:lstStyle/>
          <a:p>
            <a:pPr algn="just"/>
            <a:r>
              <a:rPr lang="en-US" sz="2000" dirty="0">
                <a:solidFill/>
                <a:latin typeface="Times" pitchFamily="2" charset="0"/>
              </a:rPr>
              <a:t>(The car speeds up.)</a:t>
            </a:r>
          </a:p>
        </p:txBody>
      </p:sp>
      <p:sp>
        <p:nvSpPr>
          <p:cNvPr id="34" name="TextBox 33">
            <a:extLst>
              <a:ext uri="{FF2B5EF4-FFF2-40B4-BE49-F238E27FC236}">
                <a16:creationId xmlns:a16="http://schemas.microsoft.com/office/drawing/2014/main" id="{84574AF5-2B95-88FC-0390-B9DBEDD89B34}"/>
              </a:ext>
            </a:extLst>
          </p:cNvPr>
          <p:cNvSpPr txBox="1"/>
          <p:nvPr/>
        </p:nvSpPr>
        <p:spPr>
          <a:xfrm>
            <a:off x="8852450" y="4704522"/>
            <a:ext cx="2590803" cy="400110"/>
          </a:xfrm>
          <a:prstGeom prst="rect">
            <a:avLst/>
          </a:prstGeom>
          <a:noFill/>
        </p:spPr>
        <p:txBody>
          <a:bodyPr wrap="square" rtlCol="0">
            <a:spAutoFit/>
          </a:bodyPr>
          <a:lstStyle/>
          <a:p>
            <a:pPr algn="just"/>
            <a:r>
              <a:rPr lang="en-US" sz="2000" dirty="0">
                <a:solidFill/>
                <a:latin typeface="Times" pitchFamily="2" charset="0"/>
              </a:rPr>
              <a:t>(The car slows down.)</a:t>
            </a:r>
          </a:p>
        </p:txBody>
      </p:sp>
      <p:grpSp>
        <p:nvGrpSpPr>
          <p:cNvPr id="3" name="Group 2">
            <a:extLst>
              <a:ext uri="{FF2B5EF4-FFF2-40B4-BE49-F238E27FC236}">
                <a16:creationId xmlns:a16="http://schemas.microsoft.com/office/drawing/2014/main" id="{9C6D1DCA-7067-777D-6C70-5B3A93D999CC}"/>
              </a:ext>
            </a:extLst>
          </p:cNvPr>
          <p:cNvGrpSpPr/>
          <p:nvPr/>
        </p:nvGrpSpPr>
        <p:grpSpPr>
          <a:xfrm>
            <a:off x="549961" y="5280991"/>
            <a:ext cx="11178213" cy="830997"/>
            <a:chOff x="549961" y="5280991"/>
            <a:chExt cx="11178213" cy="830997"/>
          </a:xfrm>
        </p:grpSpPr>
        <p:sp>
          <p:nvSpPr>
            <p:cNvPr id="35" name="TextBox 34">
              <a:extLst>
                <a:ext uri="{FF2B5EF4-FFF2-40B4-BE49-F238E27FC236}">
                  <a16:creationId xmlns:a16="http://schemas.microsoft.com/office/drawing/2014/main" id="{9D5FC147-A524-93AE-8D9A-DFA8F610CBF9}"/>
                </a:ext>
              </a:extLst>
            </p:cNvPr>
            <p:cNvSpPr txBox="1"/>
            <p:nvPr/>
          </p:nvSpPr>
          <p:spPr>
            <a:xfrm>
              <a:off x="549961" y="5280991"/>
              <a:ext cx="11098700" cy="830997"/>
            </a:xfrm>
            <a:prstGeom prst="rect">
              <a:avLst/>
            </a:prstGeom>
            <a:noFill/>
          </p:spPr>
          <p:txBody>
            <a:bodyPr wrap="square" rtlCol="0">
              <a:spAutoFit/>
            </a:bodyPr>
            <a:lstStyle/>
            <a:p>
              <a:pPr algn="just"/>
              <a:r>
                <a:rPr lang="en-US" sz="2400" dirty="0">
                  <a:solidFill/>
                  <a:latin typeface="Times" pitchFamily="2" charset="0"/>
                </a:rPr>
                <a:t>We find that over the entire trip gravity does just as much </a:t>
              </a:r>
              <a:r>
                <a:rPr lang="en-US" sz="2400" dirty="0">
                  <a:solidFill>
                    <a:srgbClr val="2326C0"/>
                  </a:solidFill>
                  <a:latin typeface="Times" pitchFamily="2" charset="0"/>
                </a:rPr>
                <a:t>positive</a:t>
              </a:r>
              <a:r>
                <a:rPr lang="en-US" sz="2400" dirty="0">
                  <a:solidFill/>
                  <a:latin typeface="Times" pitchFamily="2" charset="0"/>
                </a:rPr>
                <a:t> work as it does </a:t>
              </a:r>
              <a:r>
                <a:rPr lang="en-US" sz="2400" dirty="0">
                  <a:solidFill>
                    <a:srgbClr val="FF0000"/>
                  </a:solidFill>
                  <a:latin typeface="Times" pitchFamily="2" charset="0"/>
                </a:rPr>
                <a:t>negative</a:t>
              </a:r>
              <a:r>
                <a:rPr lang="en-US" sz="2400" dirty="0">
                  <a:solidFill/>
                  <a:latin typeface="Times" pitchFamily="2" charset="0"/>
                </a:rPr>
                <a:t> work, so the</a:t>
              </a:r>
            </a:p>
          </p:txBody>
        </p:sp>
        <p:sp>
          <p:nvSpPr>
            <p:cNvPr id="36" name="Rounded Rectangle 35">
              <a:extLst>
                <a:ext uri="{FF2B5EF4-FFF2-40B4-BE49-F238E27FC236}">
                  <a16:creationId xmlns:a16="http://schemas.microsoft.com/office/drawing/2014/main" id="{526E95A1-3196-A9B6-6B2C-032D8C28F73D}"/>
                </a:ext>
              </a:extLst>
            </p:cNvPr>
            <p:cNvSpPr/>
            <p:nvPr/>
          </p:nvSpPr>
          <p:spPr>
            <a:xfrm>
              <a:off x="3339548" y="5711687"/>
              <a:ext cx="8388626" cy="3710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TextBox 37">
            <a:extLst>
              <a:ext uri="{FF2B5EF4-FFF2-40B4-BE49-F238E27FC236}">
                <a16:creationId xmlns:a16="http://schemas.microsoft.com/office/drawing/2014/main" id="{2E98FC82-0D11-CBC2-01A7-7AD5CB48BFD5}"/>
              </a:ext>
            </a:extLst>
          </p:cNvPr>
          <p:cNvSpPr txBox="1"/>
          <p:nvPr/>
        </p:nvSpPr>
        <p:spPr>
          <a:xfrm>
            <a:off x="3389657" y="5702516"/>
            <a:ext cx="8945218" cy="400110"/>
          </a:xfrm>
          <a:prstGeom prst="rect">
            <a:avLst/>
          </a:prstGeom>
          <a:noFill/>
        </p:spPr>
        <p:txBody>
          <a:bodyPr wrap="square">
            <a:spAutoFit/>
          </a:bodyPr>
          <a:lstStyle/>
          <a:p>
            <a:pPr/>
            <a:r>
              <a:rPr lang="en-US" sz="2000" dirty="0">
                <a:solidFill>
                  <a:srgbClr val="007440"/>
                </a:solidFill>
                <a:latin typeface="Chalkduster" panose="03050602040202020205" pitchFamily="66" charset="77"/>
              </a:rPr>
              <a:t>total work done by gravity over the closed loop is 0 J!</a:t>
            </a:r>
          </a:p>
        </p:txBody>
      </p:sp>
    </p:spTree>
    <p:extLst>
      <p:ext uri="{BB962C8B-B14F-4D97-AF65-F5344CB8AC3E}">
        <p14:creationId xmlns:p14="http://schemas.microsoft.com/office/powerpoint/2010/main" val="228685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dissolve">
                                      <p:cBhvr>
                                        <p:cTn id="22" dur="500"/>
                                        <p:tgtEl>
                                          <p:spTgt spid="20"/>
                                        </p:tgtEl>
                                      </p:cBhvr>
                                    </p:animEffect>
                                  </p:childTnLst>
                                </p:cTn>
                              </p:par>
                            </p:childTnLst>
                          </p:cTn>
                        </p:par>
                        <p:par>
                          <p:cTn id="23" fill="hold">
                            <p:stCondLst>
                              <p:cond delay="500"/>
                            </p:stCondLst>
                            <p:childTnLst>
                              <p:par>
                                <p:cTn id="24" presetID="9" presetClass="entr" presetSubtype="0" fill="hold" nodeType="after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dissolve">
                                      <p:cBhvr>
                                        <p:cTn id="26" dur="5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dissolve">
                                      <p:cBhvr>
                                        <p:cTn id="31" dur="500"/>
                                        <p:tgtEl>
                                          <p:spTgt spid="13"/>
                                        </p:tgtEl>
                                      </p:cBhvr>
                                    </p:animEffect>
                                  </p:childTnLst>
                                </p:cTn>
                              </p:par>
                            </p:childTnLst>
                          </p:cTn>
                        </p:par>
                        <p:par>
                          <p:cTn id="32" fill="hold">
                            <p:stCondLst>
                              <p:cond delay="500"/>
                            </p:stCondLst>
                            <p:childTnLst>
                              <p:par>
                                <p:cTn id="33" presetID="9" presetClass="entr" presetSubtype="0" fill="hold" grpId="1" nodeType="after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dissolve">
                                      <p:cBhvr>
                                        <p:cTn id="35" dur="500"/>
                                        <p:tgtEl>
                                          <p:spTgt spid="33"/>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dissolve">
                                      <p:cBhvr>
                                        <p:cTn id="40" dur="500"/>
                                        <p:tgtEl>
                                          <p:spTgt spid="25"/>
                                        </p:tgtEl>
                                      </p:cBhvr>
                                    </p:animEffect>
                                  </p:childTnLst>
                                </p:cTn>
                              </p:par>
                            </p:childTnLst>
                          </p:cTn>
                        </p:par>
                        <p:par>
                          <p:cTn id="41" fill="hold">
                            <p:stCondLst>
                              <p:cond delay="500"/>
                            </p:stCondLst>
                            <p:childTnLst>
                              <p:par>
                                <p:cTn id="42" presetID="9" presetClass="entr" presetSubtype="0" fill="hold" nodeType="after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dissolve">
                                      <p:cBhvr>
                                        <p:cTn id="44" dur="500"/>
                                        <p:tgtEl>
                                          <p:spTgt spid="32"/>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dissolve">
                                      <p:cBhvr>
                                        <p:cTn id="49" dur="500"/>
                                        <p:tgtEl>
                                          <p:spTgt spid="28"/>
                                        </p:tgtEl>
                                      </p:cBhvr>
                                    </p:animEffect>
                                  </p:childTnLst>
                                </p:cTn>
                              </p:par>
                            </p:childTnLst>
                          </p:cTn>
                        </p:par>
                        <p:par>
                          <p:cTn id="50" fill="hold">
                            <p:stCondLst>
                              <p:cond delay="500"/>
                            </p:stCondLst>
                            <p:childTnLst>
                              <p:par>
                                <p:cTn id="51" presetID="9" presetClass="entr" presetSubtype="0" fill="hold" grpId="0" nodeType="after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dissolve">
                                      <p:cBhvr>
                                        <p:cTn id="53" dur="500"/>
                                        <p:tgtEl>
                                          <p:spTgt spid="34"/>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nodeType="clickEffect">
                                  <p:stCondLst>
                                    <p:cond delay="0"/>
                                  </p:stCondLst>
                                  <p:childTnLst>
                                    <p:set>
                                      <p:cBhvr>
                                        <p:cTn id="57" dur="1" fill="hold">
                                          <p:stCondLst>
                                            <p:cond delay="0"/>
                                          </p:stCondLst>
                                        </p:cTn>
                                        <p:tgtEl>
                                          <p:spTgt spid="3"/>
                                        </p:tgtEl>
                                        <p:attrNameLst>
                                          <p:attrName>style.visibility</p:attrName>
                                        </p:attrNameLst>
                                      </p:cBhvr>
                                      <p:to>
                                        <p:strVal val="visible"/>
                                      </p:to>
                                    </p:set>
                                    <p:animEffect transition="in" filter="dissolve">
                                      <p:cBhvr>
                                        <p:cTn id="58" dur="500"/>
                                        <p:tgtEl>
                                          <p:spTgt spid="3"/>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38"/>
                                        </p:tgtEl>
                                        <p:attrNameLst>
                                          <p:attrName>style.visibility</p:attrName>
                                        </p:attrNameLst>
                                      </p:cBhvr>
                                      <p:to>
                                        <p:strVal val="visible"/>
                                      </p:to>
                                    </p:set>
                                    <p:animEffect transition="in" filter="dissolve">
                                      <p:cBhvr>
                                        <p:cTn id="6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3" grpId="0"/>
      <p:bldP spid="28" grpId="0"/>
      <p:bldP spid="33" grpId="1"/>
      <p:bldP spid="34" grpId="0"/>
      <p:bldP spid="3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A2712-242D-E941-57D8-316EEAE29EB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1DD91FE-799D-885C-06B5-72548829B0AC}"/>
              </a:ext>
            </a:extLst>
          </p:cNvPr>
          <p:cNvSpPr txBox="1"/>
          <p:nvPr/>
        </p:nvSpPr>
        <p:spPr>
          <a:xfrm>
            <a:off x="636105" y="649359"/>
            <a:ext cx="10946296" cy="830997"/>
          </a:xfrm>
          <a:prstGeom prst="rect">
            <a:avLst/>
          </a:prstGeom>
          <a:noFill/>
        </p:spPr>
        <p:txBody>
          <a:bodyPr wrap="square" rtlCol="0">
            <a:spAutoFit/>
          </a:bodyPr>
          <a:lstStyle/>
          <a:p>
            <a:pPr algn="just"/>
            <a:r>
              <a:rPr lang="en-US" sz="2400" dirty="0">
                <a:solidFill/>
                <a:latin typeface="Times" pitchFamily="2" charset="0"/>
              </a:rPr>
              <a:t>In addition to gravity, we will encounter other </a:t>
            </a:r>
            <a:r>
              <a:rPr lang="en-US" sz="2400" dirty="0">
                <a:solidFill>
                  <a:srgbClr val="007440"/>
                </a:solidFill>
                <a:latin typeface="Times" pitchFamily="2" charset="0"/>
              </a:rPr>
              <a:t>conservative forces </a:t>
            </a:r>
            <a:r>
              <a:rPr lang="en-US" sz="2400" dirty="0">
                <a:solidFill/>
                <a:latin typeface="Times" pitchFamily="2" charset="0"/>
              </a:rPr>
              <a:t>later, like the </a:t>
            </a:r>
            <a:r>
              <a:rPr lang="en-US" sz="2400" dirty="0">
                <a:solidFill>
                  <a:srgbClr val="2326C0"/>
                </a:solidFill>
                <a:latin typeface="Times" pitchFamily="2" charset="0"/>
              </a:rPr>
              <a:t>elastic restoring force</a:t>
            </a:r>
            <a:r>
              <a:rPr lang="en-US" sz="2400" dirty="0">
                <a:solidFill/>
                <a:latin typeface="Times" pitchFamily="2" charset="0"/>
              </a:rPr>
              <a:t>, and the </a:t>
            </a:r>
            <a:r>
              <a:rPr lang="en-US" sz="2400" dirty="0">
                <a:solidFill>
                  <a:srgbClr val="2326C0"/>
                </a:solidFill>
                <a:latin typeface="Times" pitchFamily="2" charset="0"/>
              </a:rPr>
              <a:t>electrostatic force</a:t>
            </a:r>
            <a:r>
              <a:rPr lang="en-US" sz="2400" dirty="0">
                <a:solidFill/>
                <a:latin typeface="Times" pitchFamily="2" charset="0"/>
              </a:rPr>
              <a:t>.  </a:t>
            </a:r>
          </a:p>
        </p:txBody>
      </p:sp>
      <p:sp>
        <p:nvSpPr>
          <p:cNvPr id="2" name="Title 1">
            <a:extLst>
              <a:ext uri="{FF2B5EF4-FFF2-40B4-BE49-F238E27FC236}">
                <a16:creationId xmlns:a16="http://schemas.microsoft.com/office/drawing/2014/main" id="{3E6D9FAE-BC46-D939-FCD5-0C36019CE891}"/>
              </a:ext>
            </a:extLst>
          </p:cNvPr>
          <p:cNvSpPr>
            <a:spLocks noGrp="1"/>
          </p:cNvSpPr>
          <p:nvPr>
            <p:ph type="title"/>
          </p:nvPr>
        </p:nvSpPr>
        <p:spPr>
          <a:xfrm>
            <a:off x="367753" y="115699"/>
            <a:ext cx="10820401" cy="849312"/>
          </a:xfrm>
        </p:spPr>
        <p:txBody>
          <a:bodyPr/>
          <a:lstStyle/>
          <a:p>
            <a:pPr/>
            <a:r>
              <a:rPr lang="en-US" b="1" dirty="0">
                <a:solidFill/>
                <a:ea typeface="Calibri" charset="0"/>
                <a:cs typeface="Calibri" charset="0"/>
              </a:rPr>
              <a:t>6.4</a:t>
            </a:r>
            <a:r>
              <a:rPr lang="en-US" dirty="0">
                <a:solidFill/>
                <a:ea typeface="Calibri" charset="0"/>
                <a:cs typeface="Calibri" charset="0"/>
              </a:rPr>
              <a:t> Conservative Versus Nonconservative Forces</a:t>
            </a:r>
            <a:endParaRPr lang="en-US" sz="3000" dirty="0"/>
          </a:p>
        </p:txBody>
      </p:sp>
      <p:sp>
        <p:nvSpPr>
          <p:cNvPr id="3" name="TextBox 2">
            <a:extLst>
              <a:ext uri="{FF2B5EF4-FFF2-40B4-BE49-F238E27FC236}">
                <a16:creationId xmlns:a16="http://schemas.microsoft.com/office/drawing/2014/main" id="{97793F2A-A61B-3F53-3204-52654747ADFD}"/>
              </a:ext>
            </a:extLst>
          </p:cNvPr>
          <p:cNvSpPr txBox="1"/>
          <p:nvPr/>
        </p:nvSpPr>
        <p:spPr>
          <a:xfrm>
            <a:off x="616226" y="1437863"/>
            <a:ext cx="10946296" cy="830997"/>
          </a:xfrm>
          <a:prstGeom prst="rect">
            <a:avLst/>
          </a:prstGeom>
          <a:noFill/>
        </p:spPr>
        <p:txBody>
          <a:bodyPr wrap="square" rtlCol="0">
            <a:spAutoFit/>
          </a:bodyPr>
          <a:lstStyle/>
          <a:p>
            <a:pPr algn="just"/>
            <a:r>
              <a:rPr lang="en-US" sz="2400" dirty="0">
                <a:solidFill/>
                <a:latin typeface="Times" pitchFamily="2" charset="0"/>
              </a:rPr>
              <a:t>And for each conservative force, we will be able to define a </a:t>
            </a:r>
            <a:r>
              <a:rPr lang="en-US" sz="2400" dirty="0">
                <a:solidFill>
                  <a:srgbClr val="007440"/>
                </a:solidFill>
                <a:latin typeface="Times" pitchFamily="2" charset="0"/>
              </a:rPr>
              <a:t>potential energy</a:t>
            </a:r>
            <a:r>
              <a:rPr lang="en-US" sz="2400" dirty="0">
                <a:solidFill/>
                <a:latin typeface="Times" pitchFamily="2" charset="0"/>
              </a:rPr>
              <a:t>, although it will look different than that from gravitational potential energy (Equation 6.5).</a:t>
            </a:r>
          </a:p>
        </p:txBody>
      </p:sp>
      <p:sp>
        <p:nvSpPr>
          <p:cNvPr id="4" name="TextBox 3">
            <a:extLst>
              <a:ext uri="{FF2B5EF4-FFF2-40B4-BE49-F238E27FC236}">
                <a16:creationId xmlns:a16="http://schemas.microsoft.com/office/drawing/2014/main" id="{58ADB9BC-C41C-EDD1-C397-99A60D27F651}"/>
              </a:ext>
            </a:extLst>
          </p:cNvPr>
          <p:cNvSpPr txBox="1"/>
          <p:nvPr/>
        </p:nvSpPr>
        <p:spPr>
          <a:xfrm>
            <a:off x="622852" y="2266124"/>
            <a:ext cx="7156174" cy="461665"/>
          </a:xfrm>
          <a:prstGeom prst="rect">
            <a:avLst/>
          </a:prstGeom>
          <a:noFill/>
        </p:spPr>
        <p:txBody>
          <a:bodyPr wrap="square" rtlCol="0">
            <a:spAutoFit/>
          </a:bodyPr>
          <a:lstStyle/>
          <a:p>
            <a:pPr algn="just"/>
            <a:r>
              <a:rPr lang="en-US" sz="2400" dirty="0">
                <a:solidFill/>
                <a:latin typeface="Times" pitchFamily="2" charset="0"/>
              </a:rPr>
              <a:t>However, other forces are </a:t>
            </a:r>
            <a:r>
              <a:rPr lang="en-US" sz="2400" dirty="0">
                <a:solidFill>
                  <a:srgbClr val="007440"/>
                </a:solidFill>
                <a:latin typeface="Times" pitchFamily="2" charset="0"/>
              </a:rPr>
              <a:t>nonconservative</a:t>
            </a:r>
            <a:r>
              <a:rPr lang="en-US" sz="2400" dirty="0">
                <a:solidFill/>
                <a:latin typeface="Times" pitchFamily="2" charset="0"/>
              </a:rPr>
              <a:t>.</a:t>
            </a:r>
          </a:p>
        </p:txBody>
      </p:sp>
      <p:grpSp>
        <p:nvGrpSpPr>
          <p:cNvPr id="15" name="Group 14">
            <a:extLst>
              <a:ext uri="{FF2B5EF4-FFF2-40B4-BE49-F238E27FC236}">
                <a16:creationId xmlns:a16="http://schemas.microsoft.com/office/drawing/2014/main" id="{9CB391A6-CED5-C6B3-A67A-C9AD07E691A7}"/>
              </a:ext>
            </a:extLst>
          </p:cNvPr>
          <p:cNvGrpSpPr/>
          <p:nvPr/>
        </p:nvGrpSpPr>
        <p:grpSpPr>
          <a:xfrm>
            <a:off x="602973" y="2776333"/>
            <a:ext cx="5877340" cy="907771"/>
            <a:chOff x="602973" y="2776333"/>
            <a:chExt cx="5877340" cy="907771"/>
          </a:xfrm>
        </p:grpSpPr>
        <p:sp>
          <p:nvSpPr>
            <p:cNvPr id="6" name="TextBox 5">
              <a:extLst>
                <a:ext uri="{FF2B5EF4-FFF2-40B4-BE49-F238E27FC236}">
                  <a16:creationId xmlns:a16="http://schemas.microsoft.com/office/drawing/2014/main" id="{068B930E-F8AB-3093-F087-C953F36B37FD}"/>
                </a:ext>
              </a:extLst>
            </p:cNvPr>
            <p:cNvSpPr txBox="1"/>
            <p:nvPr/>
          </p:nvSpPr>
          <p:spPr>
            <a:xfrm>
              <a:off x="602973" y="2776333"/>
              <a:ext cx="5877340" cy="461665"/>
            </a:xfrm>
            <a:prstGeom prst="rect">
              <a:avLst/>
            </a:prstGeom>
            <a:noFill/>
          </p:spPr>
          <p:txBody>
            <a:bodyPr wrap="square" rtlCol="0">
              <a:spAutoFit/>
            </a:bodyPr>
            <a:lstStyle/>
            <a:p>
              <a:pPr algn="just"/>
              <a:r>
                <a:rPr lang="en-US" sz="2400" dirty="0">
                  <a:solidFill/>
                  <a:latin typeface="Times" pitchFamily="2" charset="0"/>
                </a:rPr>
                <a:t>The work done by nonconservative forces </a:t>
              </a:r>
            </a:p>
          </p:txBody>
        </p:sp>
        <p:sp>
          <p:nvSpPr>
            <p:cNvPr id="8" name="Rounded Rectangle 7">
              <a:extLst>
                <a:ext uri="{FF2B5EF4-FFF2-40B4-BE49-F238E27FC236}">
                  <a16:creationId xmlns:a16="http://schemas.microsoft.com/office/drawing/2014/main" id="{046657FD-E1E3-63B2-3554-EEA697490399}"/>
                </a:ext>
              </a:extLst>
            </p:cNvPr>
            <p:cNvSpPr/>
            <p:nvPr/>
          </p:nvSpPr>
          <p:spPr>
            <a:xfrm>
              <a:off x="675861" y="3193774"/>
              <a:ext cx="4797287" cy="49033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TextBox 13">
            <a:extLst>
              <a:ext uri="{FF2B5EF4-FFF2-40B4-BE49-F238E27FC236}">
                <a16:creationId xmlns:a16="http://schemas.microsoft.com/office/drawing/2014/main" id="{5E7C85E8-28F4-4036-C514-C834154D0704}"/>
              </a:ext>
            </a:extLst>
          </p:cNvPr>
          <p:cNvSpPr txBox="1"/>
          <p:nvPr/>
        </p:nvSpPr>
        <p:spPr>
          <a:xfrm>
            <a:off x="649357" y="3246782"/>
            <a:ext cx="4956313"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does depend on the path taken.</a:t>
            </a:r>
          </a:p>
        </p:txBody>
      </p:sp>
      <p:sp>
        <p:nvSpPr>
          <p:cNvPr id="16" name="TextBox 15">
            <a:extLst>
              <a:ext uri="{FF2B5EF4-FFF2-40B4-BE49-F238E27FC236}">
                <a16:creationId xmlns:a16="http://schemas.microsoft.com/office/drawing/2014/main" id="{89980650-A536-24CC-9CFD-E02BB8427BA7}"/>
              </a:ext>
            </a:extLst>
          </p:cNvPr>
          <p:cNvSpPr txBox="1"/>
          <p:nvPr/>
        </p:nvSpPr>
        <p:spPr>
          <a:xfrm>
            <a:off x="616226" y="3863012"/>
            <a:ext cx="5280991" cy="830997"/>
          </a:xfrm>
          <a:prstGeom prst="rect">
            <a:avLst/>
          </a:prstGeom>
          <a:noFill/>
        </p:spPr>
        <p:txBody>
          <a:bodyPr wrap="square" rtlCol="0">
            <a:spAutoFit/>
          </a:bodyPr>
          <a:lstStyle/>
          <a:p>
            <a:pPr algn="just"/>
            <a:r>
              <a:rPr lang="en-US" sz="2400" dirty="0">
                <a:solidFill/>
                <a:latin typeface="Times" pitchFamily="2" charset="0"/>
              </a:rPr>
              <a:t>Kinetic friction is one example of a nonconservative force. </a:t>
            </a:r>
          </a:p>
        </p:txBody>
      </p:sp>
      <p:pic>
        <p:nvPicPr>
          <p:cNvPr id="18" name="Picture 17">
            <a:extLst>
              <a:ext uri="{FF2B5EF4-FFF2-40B4-BE49-F238E27FC236}">
                <a16:creationId xmlns:a16="http://schemas.microsoft.com/office/drawing/2014/main" id="{B4BAB663-3E40-9BB6-40FF-FBEA90014645}"/>
              </a:ext>
            </a:extLst>
          </p:cNvPr>
          <p:cNvPicPr>
            <a:picLocks noChangeAspect="1"/>
          </p:cNvPicPr>
          <p:nvPr/>
        </p:nvPicPr>
        <p:blipFill>
          <a:blip r:embed="rId3"/>
          <a:stretch>
            <a:fillRect/>
          </a:stretch>
        </p:blipFill>
        <p:spPr>
          <a:xfrm>
            <a:off x="6952077" y="2239618"/>
            <a:ext cx="5239923" cy="4193433"/>
          </a:xfrm>
          <a:prstGeom prst="rect">
            <a:avLst/>
          </a:prstGeom>
        </p:spPr>
      </p:pic>
      <p:sp>
        <p:nvSpPr>
          <p:cNvPr id="19" name="TextBox 18">
            <a:extLst>
              <a:ext uri="{FF2B5EF4-FFF2-40B4-BE49-F238E27FC236}">
                <a16:creationId xmlns:a16="http://schemas.microsoft.com/office/drawing/2014/main" id="{A7C2D445-A96E-5107-1152-3394EC912412}"/>
              </a:ext>
            </a:extLst>
          </p:cNvPr>
          <p:cNvSpPr txBox="1"/>
          <p:nvPr/>
        </p:nvSpPr>
        <p:spPr>
          <a:xfrm>
            <a:off x="622852" y="4876803"/>
            <a:ext cx="5234609" cy="1200329"/>
          </a:xfrm>
          <a:prstGeom prst="rect">
            <a:avLst/>
          </a:prstGeom>
          <a:noFill/>
        </p:spPr>
        <p:txBody>
          <a:bodyPr wrap="square" rtlCol="0">
            <a:spAutoFit/>
          </a:bodyPr>
          <a:lstStyle/>
          <a:p>
            <a:pPr algn="just"/>
            <a:r>
              <a:rPr lang="en-US" sz="2400" dirty="0">
                <a:solidFill/>
                <a:latin typeface="Times" pitchFamily="2" charset="0"/>
              </a:rPr>
              <a:t>When sliding a block between points A and B, longer paths will result in greater work being done by kinetic friction!</a:t>
            </a:r>
          </a:p>
        </p:txBody>
      </p:sp>
    </p:spTree>
    <p:extLst>
      <p:ext uri="{BB962C8B-B14F-4D97-AF65-F5344CB8AC3E}">
        <p14:creationId xmlns:p14="http://schemas.microsoft.com/office/powerpoint/2010/main" val="229289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dissolv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dissolv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dissolve">
                                      <p:cBhvr>
                                        <p:cTn id="32" dur="500"/>
                                        <p:tgtEl>
                                          <p:spTgt spid="16"/>
                                        </p:tgtEl>
                                      </p:cBhvr>
                                    </p:animEffect>
                                  </p:childTnLst>
                                </p:cTn>
                              </p:par>
                            </p:childTnLst>
                          </p:cTn>
                        </p:par>
                        <p:par>
                          <p:cTn id="33" fill="hold">
                            <p:stCondLst>
                              <p:cond delay="500"/>
                            </p:stCondLst>
                            <p:childTnLst>
                              <p:par>
                                <p:cTn id="34" presetID="9" presetClass="entr" presetSubtype="0" fill="hold" nodeType="after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dissolve">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dissolve">
                                      <p:cBhvr>
                                        <p:cTn id="4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P spid="14" grpId="0"/>
      <p:bldP spid="16" grpId="0"/>
      <p:bldP spid="1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E1E1D-96E5-83A8-DE71-A3BF584F9D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330C4A-9321-0DC1-6D81-53E9F1FB2193}"/>
              </a:ext>
            </a:extLst>
          </p:cNvPr>
          <p:cNvSpPr>
            <a:spLocks noGrp="1"/>
          </p:cNvSpPr>
          <p:nvPr>
            <p:ph type="title"/>
          </p:nvPr>
        </p:nvSpPr>
        <p:spPr>
          <a:xfrm>
            <a:off x="367753" y="115699"/>
            <a:ext cx="10820401" cy="849312"/>
          </a:xfrm>
        </p:spPr>
        <p:txBody>
          <a:bodyPr/>
          <a:lstStyle/>
          <a:p>
            <a:pPr/>
            <a:r>
              <a:rPr lang="en-US" b="1" dirty="0">
                <a:solidFill/>
                <a:ea typeface="Calibri" charset="0"/>
                <a:cs typeface="Calibri" charset="0"/>
              </a:rPr>
              <a:t>6.4</a:t>
            </a:r>
            <a:r>
              <a:rPr lang="en-US" dirty="0">
                <a:solidFill/>
                <a:ea typeface="Calibri" charset="0"/>
                <a:cs typeface="Calibri" charset="0"/>
              </a:rPr>
              <a:t> Conservative Versus Nonconservative Forces</a:t>
            </a:r>
            <a:endParaRPr lang="en-US" sz="3000" dirty="0"/>
          </a:p>
        </p:txBody>
      </p:sp>
      <p:grpSp>
        <p:nvGrpSpPr>
          <p:cNvPr id="10" name="Group 9">
            <a:extLst>
              <a:ext uri="{FF2B5EF4-FFF2-40B4-BE49-F238E27FC236}">
                <a16:creationId xmlns:a16="http://schemas.microsoft.com/office/drawing/2014/main" id="{E4D30A02-6E86-CADB-6A67-90EED35F477D}"/>
              </a:ext>
            </a:extLst>
          </p:cNvPr>
          <p:cNvGrpSpPr/>
          <p:nvPr/>
        </p:nvGrpSpPr>
        <p:grpSpPr>
          <a:xfrm>
            <a:off x="702366" y="662611"/>
            <a:ext cx="11290851" cy="848137"/>
            <a:chOff x="675861" y="689115"/>
            <a:chExt cx="11290851" cy="848137"/>
          </a:xfrm>
        </p:grpSpPr>
        <p:sp>
          <p:nvSpPr>
            <p:cNvPr id="7" name="TextBox 6">
              <a:extLst>
                <a:ext uri="{FF2B5EF4-FFF2-40B4-BE49-F238E27FC236}">
                  <a16:creationId xmlns:a16="http://schemas.microsoft.com/office/drawing/2014/main" id="{D99E98EA-00B5-0E4D-417D-77DAB5DA0998}"/>
                </a:ext>
              </a:extLst>
            </p:cNvPr>
            <p:cNvSpPr txBox="1"/>
            <p:nvPr/>
          </p:nvSpPr>
          <p:spPr>
            <a:xfrm>
              <a:off x="675861" y="689115"/>
              <a:ext cx="10946296" cy="461665"/>
            </a:xfrm>
            <a:prstGeom prst="rect">
              <a:avLst/>
            </a:prstGeom>
            <a:noFill/>
          </p:spPr>
          <p:txBody>
            <a:bodyPr wrap="square" rtlCol="0">
              <a:spAutoFit/>
            </a:bodyPr>
            <a:lstStyle/>
            <a:p>
              <a:pPr algn="just"/>
              <a:r>
                <a:rPr lang="en-US" sz="2400" dirty="0">
                  <a:solidFill/>
                  <a:latin typeface="Times" pitchFamily="2" charset="0"/>
                </a:rPr>
                <a:t>Other </a:t>
              </a:r>
              <a:r>
                <a:rPr lang="en-US" sz="2400" dirty="0">
                  <a:solidFill>
                    <a:srgbClr val="007440"/>
                  </a:solidFill>
                  <a:latin typeface="Times" pitchFamily="2" charset="0"/>
                </a:rPr>
                <a:t>nonconservative forces </a:t>
              </a:r>
              <a:r>
                <a:rPr lang="en-US" sz="2400" dirty="0">
                  <a:solidFill/>
                  <a:latin typeface="Times" pitchFamily="2" charset="0"/>
                </a:rPr>
                <a:t>include:</a:t>
              </a:r>
            </a:p>
          </p:txBody>
        </p:sp>
        <p:sp>
          <p:nvSpPr>
            <p:cNvPr id="9" name="Rounded Rectangle 8">
              <a:extLst>
                <a:ext uri="{FF2B5EF4-FFF2-40B4-BE49-F238E27FC236}">
                  <a16:creationId xmlns:a16="http://schemas.microsoft.com/office/drawing/2014/main" id="{992CFE53-DD87-E2D5-B636-43B6F9875663}"/>
                </a:ext>
              </a:extLst>
            </p:cNvPr>
            <p:cNvSpPr/>
            <p:nvPr/>
          </p:nvSpPr>
          <p:spPr>
            <a:xfrm>
              <a:off x="2040834" y="1113183"/>
              <a:ext cx="9925878" cy="42406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extBox 4">
            <a:extLst>
              <a:ext uri="{FF2B5EF4-FFF2-40B4-BE49-F238E27FC236}">
                <a16:creationId xmlns:a16="http://schemas.microsoft.com/office/drawing/2014/main" id="{99C5889A-074D-91D5-79CA-3EC79FB2C913}"/>
              </a:ext>
            </a:extLst>
          </p:cNvPr>
          <p:cNvSpPr txBox="1"/>
          <p:nvPr/>
        </p:nvSpPr>
        <p:spPr>
          <a:xfrm>
            <a:off x="2054087" y="1126436"/>
            <a:ext cx="10137913"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static friction, air resistance, tension, normal force, rocket thrust.</a:t>
            </a:r>
          </a:p>
        </p:txBody>
      </p:sp>
      <p:grpSp>
        <p:nvGrpSpPr>
          <p:cNvPr id="20" name="Group 19">
            <a:extLst>
              <a:ext uri="{FF2B5EF4-FFF2-40B4-BE49-F238E27FC236}">
                <a16:creationId xmlns:a16="http://schemas.microsoft.com/office/drawing/2014/main" id="{27C7DE5D-D14A-5CA4-102B-477CCAB9392B}"/>
              </a:ext>
            </a:extLst>
          </p:cNvPr>
          <p:cNvGrpSpPr/>
          <p:nvPr/>
        </p:nvGrpSpPr>
        <p:grpSpPr>
          <a:xfrm>
            <a:off x="728870" y="2544424"/>
            <a:ext cx="10946296" cy="1073424"/>
            <a:chOff x="728870" y="2796212"/>
            <a:chExt cx="10946296" cy="1073424"/>
          </a:xfrm>
        </p:grpSpPr>
        <p:sp>
          <p:nvSpPr>
            <p:cNvPr id="12" name="TextBox 11">
              <a:extLst>
                <a:ext uri="{FF2B5EF4-FFF2-40B4-BE49-F238E27FC236}">
                  <a16:creationId xmlns:a16="http://schemas.microsoft.com/office/drawing/2014/main" id="{01A8D6AE-130F-3DD6-D7F5-B3060B0CBE85}"/>
                </a:ext>
              </a:extLst>
            </p:cNvPr>
            <p:cNvSpPr txBox="1"/>
            <p:nvPr/>
          </p:nvSpPr>
          <p:spPr>
            <a:xfrm>
              <a:off x="728870" y="2796212"/>
              <a:ext cx="10946296" cy="461665"/>
            </a:xfrm>
            <a:prstGeom prst="rect">
              <a:avLst/>
            </a:prstGeom>
            <a:noFill/>
          </p:spPr>
          <p:txBody>
            <a:bodyPr wrap="square" rtlCol="0">
              <a:spAutoFit/>
            </a:bodyPr>
            <a:lstStyle/>
            <a:p>
              <a:pPr algn="just"/>
              <a:r>
                <a:rPr lang="en-US" sz="2400" dirty="0">
                  <a:solidFill/>
                  <a:latin typeface="Times" pitchFamily="2" charset="0"/>
                </a:rPr>
                <a:t>Therefore, we write the work done by the net external forces acting on an object as:</a:t>
              </a:r>
            </a:p>
          </p:txBody>
        </p:sp>
        <p:sp>
          <p:nvSpPr>
            <p:cNvPr id="17" name="Rounded Rectangle 16">
              <a:extLst>
                <a:ext uri="{FF2B5EF4-FFF2-40B4-BE49-F238E27FC236}">
                  <a16:creationId xmlns:a16="http://schemas.microsoft.com/office/drawing/2014/main" id="{80A05397-A71C-C1B1-B347-302DE9DFC44A}"/>
                </a:ext>
              </a:extLst>
            </p:cNvPr>
            <p:cNvSpPr/>
            <p:nvPr/>
          </p:nvSpPr>
          <p:spPr>
            <a:xfrm>
              <a:off x="4757531" y="3379306"/>
              <a:ext cx="2054087" cy="49033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784FEBD5-D8A1-8047-5DB1-BFC2BFAF72A3}"/>
              </a:ext>
            </a:extLst>
          </p:cNvPr>
          <p:cNvSpPr txBox="1"/>
          <p:nvPr/>
        </p:nvSpPr>
        <p:spPr>
          <a:xfrm>
            <a:off x="4777409" y="3147396"/>
            <a:ext cx="2325756" cy="461665"/>
          </a:xfrm>
          <a:prstGeom prst="rect">
            <a:avLst/>
          </a:prstGeom>
          <a:noFill/>
        </p:spPr>
        <p:txBody>
          <a:bodyPr wrap="square" rtlCol="0">
            <a:spAutoFit/>
          </a:bodyPr>
          <a:lstStyle/>
          <a:p>
            <a:pPr algn="just"/>
            <a:r>
              <a:rPr lang="en-US" sz="2400" i="1" dirty="0">
                <a:solidFill/>
                <a:latin typeface="Times" pitchFamily="2" charset="0"/>
              </a:rPr>
              <a:t>W</a:t>
            </a:r>
            <a:r>
              <a:rPr lang="en-US" sz="2400" dirty="0">
                <a:solidFill/>
                <a:latin typeface="Times" pitchFamily="2" charset="0"/>
              </a:rPr>
              <a:t> = </a:t>
            </a:r>
            <a:r>
              <a:rPr lang="en-US" sz="2400" i="1" dirty="0">
                <a:solidFill/>
                <a:latin typeface="Times" pitchFamily="2" charset="0"/>
              </a:rPr>
              <a:t>W</a:t>
            </a:r>
            <a:r>
              <a:rPr lang="en-US" sz="2400" baseline="-25000" dirty="0">
                <a:solidFill/>
                <a:latin typeface="Times" pitchFamily="2" charset="0"/>
              </a:rPr>
              <a:t>C</a:t>
            </a:r>
            <a:r>
              <a:rPr lang="en-US" sz="2400" dirty="0">
                <a:solidFill/>
                <a:latin typeface="Times" pitchFamily="2" charset="0"/>
              </a:rPr>
              <a:t> + </a:t>
            </a:r>
            <a:r>
              <a:rPr lang="en-US" sz="2400" i="1" dirty="0">
                <a:solidFill/>
                <a:latin typeface="Times" pitchFamily="2" charset="0"/>
              </a:rPr>
              <a:t>W</a:t>
            </a:r>
            <a:r>
              <a:rPr lang="en-US" sz="2400" baseline="-25000" dirty="0">
                <a:solidFill/>
                <a:latin typeface="Times" pitchFamily="2" charset="0"/>
              </a:rPr>
              <a:t>NC</a:t>
            </a:r>
          </a:p>
        </p:txBody>
      </p:sp>
      <p:grpSp>
        <p:nvGrpSpPr>
          <p:cNvPr id="30" name="Group 29">
            <a:extLst>
              <a:ext uri="{FF2B5EF4-FFF2-40B4-BE49-F238E27FC236}">
                <a16:creationId xmlns:a16="http://schemas.microsoft.com/office/drawing/2014/main" id="{0631E3A9-4D2C-EFDE-60C7-54286CE03C4A}"/>
              </a:ext>
            </a:extLst>
          </p:cNvPr>
          <p:cNvGrpSpPr/>
          <p:nvPr/>
        </p:nvGrpSpPr>
        <p:grpSpPr>
          <a:xfrm>
            <a:off x="2610679" y="3459661"/>
            <a:ext cx="6420679" cy="980787"/>
            <a:chOff x="2610679" y="3724701"/>
            <a:chExt cx="6420679" cy="980787"/>
          </a:xfrm>
        </p:grpSpPr>
        <p:sp>
          <p:nvSpPr>
            <p:cNvPr id="21" name="TextBox 20">
              <a:extLst>
                <a:ext uri="{FF2B5EF4-FFF2-40B4-BE49-F238E27FC236}">
                  <a16:creationId xmlns:a16="http://schemas.microsoft.com/office/drawing/2014/main" id="{68E7439B-09F4-CD54-C364-ACBE8493C34B}"/>
                </a:ext>
              </a:extLst>
            </p:cNvPr>
            <p:cNvSpPr txBox="1"/>
            <p:nvPr/>
          </p:nvSpPr>
          <p:spPr>
            <a:xfrm>
              <a:off x="2610679" y="4028661"/>
              <a:ext cx="2319130" cy="584775"/>
            </a:xfrm>
            <a:prstGeom prst="rect">
              <a:avLst/>
            </a:prstGeom>
            <a:noFill/>
          </p:spPr>
          <p:txBody>
            <a:bodyPr wrap="square" rtlCol="0">
              <a:spAutoFit/>
            </a:bodyPr>
            <a:lstStyle/>
            <a:p>
              <a:pPr/>
              <a:r>
                <a:rPr lang="en-US" sz="1600" dirty="0">
                  <a:solidFill>
                    <a:srgbClr val="007440"/>
                  </a:solidFill>
                  <a:latin typeface="Times" pitchFamily="2" charset="0"/>
                </a:rPr>
                <a:t>Work done by net external force</a:t>
              </a:r>
            </a:p>
          </p:txBody>
        </p:sp>
        <p:cxnSp>
          <p:nvCxnSpPr>
            <p:cNvPr id="23" name="Straight Arrow Connector 22">
              <a:extLst>
                <a:ext uri="{FF2B5EF4-FFF2-40B4-BE49-F238E27FC236}">
                  <a16:creationId xmlns:a16="http://schemas.microsoft.com/office/drawing/2014/main" id="{CEAD31A4-13EE-D7F0-0FFF-D0CCA4CEBE59}"/>
                </a:ext>
              </a:extLst>
            </p:cNvPr>
            <p:cNvCxnSpPr>
              <a:cxnSpLocks/>
            </p:cNvCxnSpPr>
            <p:nvPr/>
          </p:nvCxnSpPr>
          <p:spPr>
            <a:xfrm flipV="1">
              <a:off x="4214192" y="3724701"/>
              <a:ext cx="662608" cy="489490"/>
            </a:xfrm>
            <a:prstGeom prst="straightConnector1">
              <a:avLst/>
            </a:prstGeom>
            <a:ln w="31750">
              <a:solidFill>
                <a:srgbClr val="00744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A36B2CA3-FE2D-C54D-9236-48137FB6BA1D}"/>
                </a:ext>
              </a:extLst>
            </p:cNvPr>
            <p:cNvSpPr txBox="1"/>
            <p:nvPr/>
          </p:nvSpPr>
          <p:spPr>
            <a:xfrm>
              <a:off x="4633267" y="4120713"/>
              <a:ext cx="2319130" cy="584775"/>
            </a:xfrm>
            <a:prstGeom prst="rect">
              <a:avLst/>
            </a:prstGeom>
            <a:noFill/>
          </p:spPr>
          <p:txBody>
            <a:bodyPr wrap="square" rtlCol="0">
              <a:spAutoFit/>
            </a:bodyPr>
            <a:lstStyle/>
            <a:p>
              <a:pPr/>
              <a:r>
                <a:rPr lang="en-US" sz="1600" dirty="0">
                  <a:solidFill>
                    <a:srgbClr val="007440"/>
                  </a:solidFill>
                  <a:latin typeface="Times" pitchFamily="2" charset="0"/>
                </a:rPr>
                <a:t>Work done by</a:t>
              </a:r>
            </a:p>
            <a:p>
              <a:pPr/>
              <a:r>
                <a:rPr lang="en-US" sz="1600" dirty="0">
                  <a:solidFill>
                    <a:srgbClr val="007440"/>
                  </a:solidFill>
                  <a:latin typeface="Times" pitchFamily="2" charset="0"/>
                </a:rPr>
                <a:t>conservative forces</a:t>
              </a:r>
            </a:p>
          </p:txBody>
        </p:sp>
        <p:cxnSp>
          <p:nvCxnSpPr>
            <p:cNvPr id="25" name="Straight Arrow Connector 24">
              <a:extLst>
                <a:ext uri="{FF2B5EF4-FFF2-40B4-BE49-F238E27FC236}">
                  <a16:creationId xmlns:a16="http://schemas.microsoft.com/office/drawing/2014/main" id="{478415E4-F786-AEF7-5782-F44802F4E711}"/>
                </a:ext>
              </a:extLst>
            </p:cNvPr>
            <p:cNvCxnSpPr>
              <a:cxnSpLocks/>
            </p:cNvCxnSpPr>
            <p:nvPr/>
          </p:nvCxnSpPr>
          <p:spPr>
            <a:xfrm flipV="1">
              <a:off x="5430129" y="3829878"/>
              <a:ext cx="162288" cy="338947"/>
            </a:xfrm>
            <a:prstGeom prst="straightConnector1">
              <a:avLst/>
            </a:prstGeom>
            <a:ln w="31750">
              <a:solidFill>
                <a:srgbClr val="00744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94E90B02-EDA9-9312-98ED-C17FE8BBFF10}"/>
                </a:ext>
              </a:extLst>
            </p:cNvPr>
            <p:cNvSpPr txBox="1"/>
            <p:nvPr/>
          </p:nvSpPr>
          <p:spPr>
            <a:xfrm>
              <a:off x="6712228" y="4022036"/>
              <a:ext cx="2319130" cy="584775"/>
            </a:xfrm>
            <a:prstGeom prst="rect">
              <a:avLst/>
            </a:prstGeom>
            <a:noFill/>
          </p:spPr>
          <p:txBody>
            <a:bodyPr wrap="square" rtlCol="0">
              <a:spAutoFit/>
            </a:bodyPr>
            <a:lstStyle/>
            <a:p>
              <a:pPr/>
              <a:r>
                <a:rPr lang="en-US" sz="1600" dirty="0">
                  <a:solidFill>
                    <a:srgbClr val="007440"/>
                  </a:solidFill>
                  <a:latin typeface="Times" pitchFamily="2" charset="0"/>
                </a:rPr>
                <a:t>Work done by</a:t>
              </a:r>
            </a:p>
            <a:p>
              <a:pPr/>
              <a:r>
                <a:rPr lang="en-US" sz="1600" dirty="0">
                  <a:solidFill>
                    <a:srgbClr val="007440"/>
                  </a:solidFill>
                  <a:latin typeface="Times" pitchFamily="2" charset="0"/>
                </a:rPr>
                <a:t>nonconservative forces</a:t>
              </a:r>
            </a:p>
          </p:txBody>
        </p:sp>
        <p:cxnSp>
          <p:nvCxnSpPr>
            <p:cNvPr id="28" name="Straight Arrow Connector 27">
              <a:extLst>
                <a:ext uri="{FF2B5EF4-FFF2-40B4-BE49-F238E27FC236}">
                  <a16:creationId xmlns:a16="http://schemas.microsoft.com/office/drawing/2014/main" id="{431638D1-E1BA-EFBB-3B5A-A4216531323E}"/>
                </a:ext>
              </a:extLst>
            </p:cNvPr>
            <p:cNvCxnSpPr>
              <a:cxnSpLocks/>
            </p:cNvCxnSpPr>
            <p:nvPr/>
          </p:nvCxnSpPr>
          <p:spPr>
            <a:xfrm flipH="1" flipV="1">
              <a:off x="6606209" y="3824092"/>
              <a:ext cx="602974" cy="231073"/>
            </a:xfrm>
            <a:prstGeom prst="straightConnector1">
              <a:avLst/>
            </a:prstGeom>
            <a:ln w="31750">
              <a:solidFill>
                <a:srgbClr val="00744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E56200D5-6F44-8B74-CFFA-8A7AC3EA7E7B}"/>
              </a:ext>
            </a:extLst>
          </p:cNvPr>
          <p:cNvGrpSpPr/>
          <p:nvPr/>
        </p:nvGrpSpPr>
        <p:grpSpPr>
          <a:xfrm>
            <a:off x="748748" y="4280456"/>
            <a:ext cx="10946296" cy="827577"/>
            <a:chOff x="735496" y="4664765"/>
            <a:chExt cx="10946296" cy="827577"/>
          </a:xfrm>
        </p:grpSpPr>
        <p:sp>
          <p:nvSpPr>
            <p:cNvPr id="31" name="TextBox 30">
              <a:extLst>
                <a:ext uri="{FF2B5EF4-FFF2-40B4-BE49-F238E27FC236}">
                  <a16:creationId xmlns:a16="http://schemas.microsoft.com/office/drawing/2014/main" id="{64263141-23C2-F342-6F30-90B2DE7F4F95}"/>
                </a:ext>
              </a:extLst>
            </p:cNvPr>
            <p:cNvSpPr txBox="1"/>
            <p:nvPr/>
          </p:nvSpPr>
          <p:spPr>
            <a:xfrm>
              <a:off x="735496" y="4976194"/>
              <a:ext cx="10946296" cy="461665"/>
            </a:xfrm>
            <a:prstGeom prst="rect">
              <a:avLst/>
            </a:prstGeom>
            <a:noFill/>
          </p:spPr>
          <p:txBody>
            <a:bodyPr wrap="square" rtlCol="0">
              <a:spAutoFit/>
            </a:bodyPr>
            <a:lstStyle/>
            <a:p>
              <a:pPr algn="just"/>
              <a:r>
                <a:rPr lang="en-US" sz="2400" dirty="0">
                  <a:solidFill/>
                  <a:latin typeface="Times" pitchFamily="2" charset="0"/>
                </a:rPr>
                <a:t>However, the work-energy theorem (Equation 6.1) tells us that:  </a:t>
              </a:r>
              <a:r>
                <a:rPr lang="en-US" sz="2400" i="1" dirty="0">
                  <a:solidFill/>
                  <a:latin typeface="Times" pitchFamily="2" charset="0"/>
                </a:rPr>
                <a:t>W</a:t>
              </a:r>
              <a:r>
                <a:rPr lang="en-US" sz="2400" dirty="0">
                  <a:solidFill/>
                  <a:latin typeface="Times" pitchFamily="2" charset="0"/>
                </a:rPr>
                <a:t> =                        .</a:t>
              </a:r>
            </a:p>
          </p:txBody>
        </p:sp>
        <p:pic>
          <p:nvPicPr>
            <p:cNvPr id="32" name="Picture 31">
              <a:extLst>
                <a:ext uri="{FF2B5EF4-FFF2-40B4-BE49-F238E27FC236}">
                  <a16:creationId xmlns:a16="http://schemas.microsoft.com/office/drawing/2014/main" id="{E55AC4D4-D14D-20E4-4A6D-972E32FAB16D}"/>
                </a:ext>
              </a:extLst>
            </p:cNvPr>
            <p:cNvPicPr>
              <a:picLocks noChangeAspect="1"/>
            </p:cNvPicPr>
            <p:nvPr/>
          </p:nvPicPr>
          <p:blipFill>
            <a:blip r:embed="rId3"/>
            <a:srcRect l="62247" t="-39291"/>
            <a:stretch/>
          </p:blipFill>
          <p:spPr>
            <a:xfrm>
              <a:off x="9223511" y="4664765"/>
              <a:ext cx="1792356" cy="827577"/>
            </a:xfrm>
            <a:prstGeom prst="rect">
              <a:avLst/>
            </a:prstGeom>
          </p:spPr>
        </p:pic>
      </p:grpSp>
      <p:sp>
        <p:nvSpPr>
          <p:cNvPr id="34" name="TextBox 33">
            <a:extLst>
              <a:ext uri="{FF2B5EF4-FFF2-40B4-BE49-F238E27FC236}">
                <a16:creationId xmlns:a16="http://schemas.microsoft.com/office/drawing/2014/main" id="{DD448886-E2B3-0757-712B-9D4FF5627AF3}"/>
              </a:ext>
            </a:extLst>
          </p:cNvPr>
          <p:cNvSpPr txBox="1"/>
          <p:nvPr/>
        </p:nvSpPr>
        <p:spPr>
          <a:xfrm>
            <a:off x="768627" y="5141847"/>
            <a:ext cx="5128591" cy="830997"/>
          </a:xfrm>
          <a:prstGeom prst="rect">
            <a:avLst/>
          </a:prstGeom>
          <a:noFill/>
        </p:spPr>
        <p:txBody>
          <a:bodyPr wrap="square" rtlCol="0">
            <a:spAutoFit/>
          </a:bodyPr>
          <a:lstStyle/>
          <a:p>
            <a:pPr algn="just"/>
            <a:r>
              <a:rPr lang="en-US" sz="2400" dirty="0">
                <a:solidFill/>
                <a:latin typeface="Times" pitchFamily="2" charset="0"/>
              </a:rPr>
              <a:t>And, to this point, we will assume that </a:t>
            </a:r>
            <a:r>
              <a:rPr lang="en-US" sz="2400" i="1" dirty="0">
                <a:solidFill/>
                <a:latin typeface="Times" pitchFamily="2" charset="0"/>
              </a:rPr>
              <a:t>W</a:t>
            </a:r>
            <a:r>
              <a:rPr lang="en-US" sz="2400" baseline="-25000" dirty="0">
                <a:solidFill/>
                <a:latin typeface="Times" pitchFamily="2" charset="0"/>
              </a:rPr>
              <a:t>C</a:t>
            </a:r>
            <a:r>
              <a:rPr lang="en-US" sz="2400" dirty="0">
                <a:solidFill/>
                <a:latin typeface="Times" pitchFamily="2" charset="0"/>
              </a:rPr>
              <a:t> is solely due to gravity, such that:</a:t>
            </a:r>
          </a:p>
        </p:txBody>
      </p:sp>
      <p:sp>
        <p:nvSpPr>
          <p:cNvPr id="35" name="TextBox 34">
            <a:extLst>
              <a:ext uri="{FF2B5EF4-FFF2-40B4-BE49-F238E27FC236}">
                <a16:creationId xmlns:a16="http://schemas.microsoft.com/office/drawing/2014/main" id="{802A1011-B301-9F3C-8D78-FDDB77AC3592}"/>
              </a:ext>
            </a:extLst>
          </p:cNvPr>
          <p:cNvSpPr txBox="1"/>
          <p:nvPr/>
        </p:nvSpPr>
        <p:spPr>
          <a:xfrm>
            <a:off x="6260299" y="5364671"/>
            <a:ext cx="5560639"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C</a:t>
            </a:r>
            <a:r>
              <a:rPr lang="en-US" sz="2400" dirty="0">
                <a:solidFill/>
                <a:latin typeface="Times" pitchFamily="2" charset="0"/>
              </a:rPr>
              <a:t> =</a:t>
            </a:r>
            <a:r>
              <a:rPr lang="en-US" sz="2400" i="1" dirty="0">
                <a:solidFill/>
                <a:latin typeface="Times" pitchFamily="2" charset="0"/>
              </a:rPr>
              <a:t> </a:t>
            </a:r>
            <a:r>
              <a:rPr lang="en-US" sz="2400" i="1" dirty="0" err="1">
                <a:solidFill/>
                <a:latin typeface="Times" pitchFamily="2" charset="0"/>
              </a:rPr>
              <a:t>W</a:t>
            </a:r>
            <a:r>
              <a:rPr lang="en-US" sz="2400" baseline="-25000" dirty="0" err="1">
                <a:solidFill/>
                <a:latin typeface="Times" pitchFamily="2" charset="0"/>
              </a:rPr>
              <a:t>Gravity</a:t>
            </a:r>
            <a:r>
              <a:rPr lang="en-US" sz="2400" dirty="0">
                <a:solidFill/>
                <a:latin typeface="Times" pitchFamily="2" charset="0"/>
              </a:rPr>
              <a:t> = </a:t>
            </a:r>
            <a:r>
              <a:rPr lang="en-US" sz="2400" i="1" dirty="0">
                <a:solidFill/>
                <a:latin typeface="Times" pitchFamily="2" charset="0"/>
              </a:rPr>
              <a:t>mg</a:t>
            </a:r>
            <a:r>
              <a:rPr lang="en-US" sz="2400" dirty="0">
                <a:solidFill/>
                <a:latin typeface="Times" pitchFamily="2" charset="0"/>
              </a:rPr>
              <a:t>(</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 – </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 = </a:t>
            </a:r>
            <a:r>
              <a:rPr lang="en-US" sz="2400" i="1" dirty="0">
                <a:solidFill/>
                <a:latin typeface="Times" pitchFamily="2" charset="0"/>
              </a:rPr>
              <a:t>mgh</a:t>
            </a:r>
            <a:r>
              <a:rPr lang="en-US" sz="2400" baseline="-25000" dirty="0">
                <a:solidFill/>
                <a:latin typeface="Times" pitchFamily="2" charset="0"/>
              </a:rPr>
              <a:t>0</a:t>
            </a:r>
            <a:r>
              <a:rPr lang="en-US" sz="2400" dirty="0">
                <a:solidFill/>
                <a:latin typeface="Times" pitchFamily="2" charset="0"/>
              </a:rPr>
              <a:t> – </a:t>
            </a:r>
            <a:r>
              <a:rPr lang="en-US" sz="2400" i="1" dirty="0" err="1">
                <a:solidFill/>
                <a:latin typeface="Times" pitchFamily="2" charset="0"/>
              </a:rPr>
              <a:t>mgh</a:t>
            </a:r>
            <a:r>
              <a:rPr lang="en-US" sz="2400" baseline="-25000" dirty="0" err="1">
                <a:solidFill/>
                <a:latin typeface="Times" pitchFamily="2" charset="0"/>
              </a:rPr>
              <a:t>f</a:t>
            </a:r>
            <a:endParaRPr lang="en-US" sz="2400" baseline="-25000" dirty="0">
              <a:latin typeface="Times" pitchFamily="2" charset="0"/>
            </a:endParaRPr>
          </a:p>
        </p:txBody>
      </p:sp>
      <p:grpSp>
        <p:nvGrpSpPr>
          <p:cNvPr id="37" name="Group 36">
            <a:extLst>
              <a:ext uri="{FF2B5EF4-FFF2-40B4-BE49-F238E27FC236}">
                <a16:creationId xmlns:a16="http://schemas.microsoft.com/office/drawing/2014/main" id="{64191D56-6C99-333C-1F0E-72BB747A9660}"/>
              </a:ext>
            </a:extLst>
          </p:cNvPr>
          <p:cNvGrpSpPr/>
          <p:nvPr/>
        </p:nvGrpSpPr>
        <p:grpSpPr>
          <a:xfrm>
            <a:off x="662608" y="1663154"/>
            <a:ext cx="10986052" cy="830997"/>
            <a:chOff x="662608" y="1663154"/>
            <a:chExt cx="10986052" cy="830997"/>
          </a:xfrm>
        </p:grpSpPr>
        <p:sp>
          <p:nvSpPr>
            <p:cNvPr id="11" name="TextBox 10">
              <a:extLst>
                <a:ext uri="{FF2B5EF4-FFF2-40B4-BE49-F238E27FC236}">
                  <a16:creationId xmlns:a16="http://schemas.microsoft.com/office/drawing/2014/main" id="{0AA7531F-1AD5-BE80-197A-CB85F5A40EEE}"/>
                </a:ext>
              </a:extLst>
            </p:cNvPr>
            <p:cNvSpPr txBox="1"/>
            <p:nvPr/>
          </p:nvSpPr>
          <p:spPr>
            <a:xfrm>
              <a:off x="695740" y="1663154"/>
              <a:ext cx="10946296" cy="830997"/>
            </a:xfrm>
            <a:prstGeom prst="rect">
              <a:avLst/>
            </a:prstGeom>
            <a:noFill/>
          </p:spPr>
          <p:txBody>
            <a:bodyPr wrap="square" rtlCol="0">
              <a:spAutoFit/>
            </a:bodyPr>
            <a:lstStyle/>
            <a:p>
              <a:pPr algn="just"/>
              <a:r>
                <a:rPr lang="en-US" sz="2400" dirty="0">
                  <a:solidFill/>
                  <a:latin typeface="Times" pitchFamily="2" charset="0"/>
                </a:rPr>
                <a:t>In general, both conservative and nonconservative forces can do work on an object simultaneously.</a:t>
              </a:r>
            </a:p>
          </p:txBody>
        </p:sp>
        <p:sp>
          <p:nvSpPr>
            <p:cNvPr id="36" name="Rectangle 35">
              <a:extLst>
                <a:ext uri="{FF2B5EF4-FFF2-40B4-BE49-F238E27FC236}">
                  <a16:creationId xmlns:a16="http://schemas.microsoft.com/office/drawing/2014/main" id="{1BA6E439-0B38-5180-FF31-AE03037BF748}"/>
                </a:ext>
              </a:extLst>
            </p:cNvPr>
            <p:cNvSpPr/>
            <p:nvPr/>
          </p:nvSpPr>
          <p:spPr>
            <a:xfrm>
              <a:off x="662608" y="1696278"/>
              <a:ext cx="10986052" cy="768626"/>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TextBox 37">
            <a:extLst>
              <a:ext uri="{FF2B5EF4-FFF2-40B4-BE49-F238E27FC236}">
                <a16:creationId xmlns:a16="http://schemas.microsoft.com/office/drawing/2014/main" id="{7E12AD84-8E59-F1FB-9DEA-1AB522C62E71}"/>
              </a:ext>
            </a:extLst>
          </p:cNvPr>
          <p:cNvSpPr txBox="1"/>
          <p:nvPr/>
        </p:nvSpPr>
        <p:spPr>
          <a:xfrm>
            <a:off x="5791200" y="6042998"/>
            <a:ext cx="4333460" cy="400110"/>
          </a:xfrm>
          <a:prstGeom prst="rect">
            <a:avLst/>
          </a:prstGeom>
          <a:noFill/>
        </p:spPr>
        <p:txBody>
          <a:bodyPr wrap="square" rtlCol="0">
            <a:spAutoFit/>
          </a:bodyPr>
          <a:lstStyle/>
          <a:p>
            <a:pPr algn="just"/>
            <a:r>
              <a:rPr lang="en-US" sz="2000" dirty="0">
                <a:solidFill/>
                <a:latin typeface="Times" pitchFamily="2" charset="0"/>
              </a:rPr>
              <a:t>Let’s make these substitutions above...</a:t>
            </a:r>
          </a:p>
        </p:txBody>
      </p:sp>
      <p:grpSp>
        <p:nvGrpSpPr>
          <p:cNvPr id="52" name="Group 51">
            <a:extLst>
              <a:ext uri="{FF2B5EF4-FFF2-40B4-BE49-F238E27FC236}">
                <a16:creationId xmlns:a16="http://schemas.microsoft.com/office/drawing/2014/main" id="{D2703AD3-C70E-3B59-6E2E-BC2051BE28AF}"/>
              </a:ext>
            </a:extLst>
          </p:cNvPr>
          <p:cNvGrpSpPr/>
          <p:nvPr/>
        </p:nvGrpSpPr>
        <p:grpSpPr>
          <a:xfrm>
            <a:off x="4332849" y="3650566"/>
            <a:ext cx="7076049" cy="1784252"/>
            <a:chOff x="4332849" y="3650566"/>
            <a:chExt cx="7076049" cy="1784252"/>
          </a:xfrm>
        </p:grpSpPr>
        <p:sp>
          <p:nvSpPr>
            <p:cNvPr id="39" name="Left Brace 38">
              <a:extLst>
                <a:ext uri="{FF2B5EF4-FFF2-40B4-BE49-F238E27FC236}">
                  <a16:creationId xmlns:a16="http://schemas.microsoft.com/office/drawing/2014/main" id="{BF4B19E1-6480-9841-14D0-741A697BCEDD}"/>
                </a:ext>
              </a:extLst>
            </p:cNvPr>
            <p:cNvSpPr/>
            <p:nvPr/>
          </p:nvSpPr>
          <p:spPr>
            <a:xfrm rot="16200000">
              <a:off x="9952384" y="4386468"/>
              <a:ext cx="331304" cy="1736038"/>
            </a:xfrm>
            <a:prstGeom prst="lef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1677395B-99FE-A8F1-4505-0F48F9E189F0}"/>
                </a:ext>
              </a:extLst>
            </p:cNvPr>
            <p:cNvCxnSpPr/>
            <p:nvPr/>
          </p:nvCxnSpPr>
          <p:spPr>
            <a:xfrm>
              <a:off x="10114671" y="5423095"/>
              <a:ext cx="1294227"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2994B84-BA35-7D5F-61F5-CAA2E77B6B35}"/>
                </a:ext>
              </a:extLst>
            </p:cNvPr>
            <p:cNvCxnSpPr>
              <a:cxnSpLocks/>
            </p:cNvCxnSpPr>
            <p:nvPr/>
          </p:nvCxnSpPr>
          <p:spPr>
            <a:xfrm>
              <a:off x="11392486" y="4389120"/>
              <a:ext cx="0" cy="104569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50D6F18-D01C-C478-9CF5-BFB256E20395}"/>
                </a:ext>
              </a:extLst>
            </p:cNvPr>
            <p:cNvCxnSpPr>
              <a:cxnSpLocks/>
            </p:cNvCxnSpPr>
            <p:nvPr/>
          </p:nvCxnSpPr>
          <p:spPr>
            <a:xfrm>
              <a:off x="4332849" y="4405532"/>
              <a:ext cx="7057293"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5B4D26D-126F-28A1-9C79-B7BB90F922FB}"/>
                </a:ext>
              </a:extLst>
            </p:cNvPr>
            <p:cNvCxnSpPr>
              <a:cxnSpLocks/>
            </p:cNvCxnSpPr>
            <p:nvPr/>
          </p:nvCxnSpPr>
          <p:spPr>
            <a:xfrm flipV="1">
              <a:off x="4332849" y="3650566"/>
              <a:ext cx="555674" cy="759656"/>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cxnSp>
      </p:grpSp>
      <p:grpSp>
        <p:nvGrpSpPr>
          <p:cNvPr id="67" name="Group 66">
            <a:extLst>
              <a:ext uri="{FF2B5EF4-FFF2-40B4-BE49-F238E27FC236}">
                <a16:creationId xmlns:a16="http://schemas.microsoft.com/office/drawing/2014/main" id="{B908692F-C500-F406-879E-44DD16DE957B}"/>
              </a:ext>
            </a:extLst>
          </p:cNvPr>
          <p:cNvGrpSpPr/>
          <p:nvPr/>
        </p:nvGrpSpPr>
        <p:grpSpPr>
          <a:xfrm>
            <a:off x="5588000" y="2959100"/>
            <a:ext cx="6151489" cy="3155045"/>
            <a:chOff x="5588000" y="2959100"/>
            <a:chExt cx="6151489" cy="3155045"/>
          </a:xfrm>
        </p:grpSpPr>
        <p:sp>
          <p:nvSpPr>
            <p:cNvPr id="53" name="Left Brace 52">
              <a:extLst>
                <a:ext uri="{FF2B5EF4-FFF2-40B4-BE49-F238E27FC236}">
                  <a16:creationId xmlns:a16="http://schemas.microsoft.com/office/drawing/2014/main" id="{4133809A-B0A5-8048-AEFF-6D1B581D01E6}"/>
                </a:ext>
              </a:extLst>
            </p:cNvPr>
            <p:cNvSpPr/>
            <p:nvPr/>
          </p:nvSpPr>
          <p:spPr>
            <a:xfrm rot="16200000">
              <a:off x="10545978" y="5166818"/>
              <a:ext cx="331304" cy="1563350"/>
            </a:xfrm>
            <a:prstGeom prst="lef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CB8B1B7A-24ED-7129-0F16-C084837F0B41}"/>
                </a:ext>
              </a:extLst>
            </p:cNvPr>
            <p:cNvCxnSpPr>
              <a:cxnSpLocks/>
            </p:cNvCxnSpPr>
            <p:nvPr/>
          </p:nvCxnSpPr>
          <p:spPr>
            <a:xfrm>
              <a:off x="10696136" y="6103033"/>
              <a:ext cx="1043353"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37E0CF61-484A-8040-58B4-7A5B7506678D}"/>
                </a:ext>
              </a:extLst>
            </p:cNvPr>
            <p:cNvCxnSpPr>
              <a:cxnSpLocks/>
            </p:cNvCxnSpPr>
            <p:nvPr/>
          </p:nvCxnSpPr>
          <p:spPr>
            <a:xfrm>
              <a:off x="11664950" y="2962275"/>
              <a:ext cx="62816" cy="31454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D2ED74E-E237-AD3A-5455-8173C6732BB9}"/>
                </a:ext>
              </a:extLst>
            </p:cNvPr>
            <p:cNvCxnSpPr>
              <a:cxnSpLocks/>
            </p:cNvCxnSpPr>
            <p:nvPr/>
          </p:nvCxnSpPr>
          <p:spPr>
            <a:xfrm>
              <a:off x="5588000" y="2968283"/>
              <a:ext cx="6088184"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5986848-4DD0-75CC-E5BF-7430A65115FB}"/>
                </a:ext>
              </a:extLst>
            </p:cNvPr>
            <p:cNvCxnSpPr>
              <a:cxnSpLocks/>
            </p:cNvCxnSpPr>
            <p:nvPr/>
          </p:nvCxnSpPr>
          <p:spPr>
            <a:xfrm>
              <a:off x="5597525" y="2959100"/>
              <a:ext cx="0" cy="16192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81662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dissolve">
                                      <p:cBhvr>
                                        <p:cTn id="17" dur="5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dissolv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dissolv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dissolve">
                                      <p:cBhvr>
                                        <p:cTn id="32" dur="500"/>
                                        <p:tgtEl>
                                          <p:spTgt spid="30"/>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dissolve">
                                      <p:cBhvr>
                                        <p:cTn id="37" dur="500"/>
                                        <p:tgtEl>
                                          <p:spTgt spid="33"/>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dissolve">
                                      <p:cBhvr>
                                        <p:cTn id="42" dur="500"/>
                                        <p:tgtEl>
                                          <p:spTgt spid="34"/>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dissolve">
                                      <p:cBhvr>
                                        <p:cTn id="47" dur="500"/>
                                        <p:tgtEl>
                                          <p:spTgt spid="35"/>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dissolve">
                                      <p:cBhvr>
                                        <p:cTn id="52" dur="500"/>
                                        <p:tgtEl>
                                          <p:spTgt spid="3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52"/>
                                        </p:tgtEl>
                                        <p:attrNameLst>
                                          <p:attrName>style.visibility</p:attrName>
                                        </p:attrNameLst>
                                      </p:cBhvr>
                                      <p:to>
                                        <p:strVal val="visible"/>
                                      </p:to>
                                    </p:set>
                                    <p:animEffect transition="in" filter="wipe(down)">
                                      <p:cBhvr>
                                        <p:cTn id="57" dur="1000"/>
                                        <p:tgtEl>
                                          <p:spTgt spid="5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67"/>
                                        </p:tgtEl>
                                        <p:attrNameLst>
                                          <p:attrName>style.visibility</p:attrName>
                                        </p:attrNameLst>
                                      </p:cBhvr>
                                      <p:to>
                                        <p:strVal val="visible"/>
                                      </p:to>
                                    </p:set>
                                    <p:animEffect transition="in" filter="wipe(down)">
                                      <p:cBhvr>
                                        <p:cTn id="62" dur="10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3" grpId="0"/>
      <p:bldP spid="34" grpId="0"/>
      <p:bldP spid="35" grpId="0"/>
      <p:bldP spid="3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27D25-E7F2-8FC0-0EB4-A76B89BD5E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F27E2D-1BE0-7991-B873-BC51A680265D}"/>
              </a:ext>
            </a:extLst>
          </p:cNvPr>
          <p:cNvSpPr>
            <a:spLocks noGrp="1"/>
          </p:cNvSpPr>
          <p:nvPr>
            <p:ph type="title"/>
          </p:nvPr>
        </p:nvSpPr>
        <p:spPr>
          <a:xfrm>
            <a:off x="367753" y="115699"/>
            <a:ext cx="10820401" cy="849312"/>
          </a:xfrm>
        </p:spPr>
        <p:txBody>
          <a:bodyPr/>
          <a:lstStyle/>
          <a:p>
            <a:pPr/>
            <a:r>
              <a:rPr lang="en-US" b="1" dirty="0">
                <a:solidFill/>
                <a:ea typeface="Calibri" charset="0"/>
                <a:cs typeface="Calibri" charset="0"/>
              </a:rPr>
              <a:t>6.4</a:t>
            </a:r>
            <a:r>
              <a:rPr lang="en-US" dirty="0">
                <a:solidFill/>
                <a:ea typeface="Calibri" charset="0"/>
                <a:cs typeface="Calibri" charset="0"/>
              </a:rPr>
              <a:t> Conservative Versus Nonconservative Forces</a:t>
            </a:r>
            <a:endParaRPr lang="en-US" sz="3000" dirty="0"/>
          </a:p>
        </p:txBody>
      </p:sp>
      <p:sp>
        <p:nvSpPr>
          <p:cNvPr id="31" name="TextBox 30">
            <a:extLst>
              <a:ext uri="{FF2B5EF4-FFF2-40B4-BE49-F238E27FC236}">
                <a16:creationId xmlns:a16="http://schemas.microsoft.com/office/drawing/2014/main" id="{7D8DDD4D-D39E-6F8E-C270-42E92DEC543B}"/>
              </a:ext>
            </a:extLst>
          </p:cNvPr>
          <p:cNvSpPr txBox="1"/>
          <p:nvPr/>
        </p:nvSpPr>
        <p:spPr>
          <a:xfrm>
            <a:off x="5580055" y="1043467"/>
            <a:ext cx="4232685" cy="461665"/>
          </a:xfrm>
          <a:prstGeom prst="rect">
            <a:avLst/>
          </a:prstGeom>
          <a:noFill/>
        </p:spPr>
        <p:txBody>
          <a:bodyPr wrap="square" rtlCol="0">
            <a:spAutoFit/>
          </a:bodyPr>
          <a:lstStyle/>
          <a:p>
            <a:pPr algn="just"/>
            <a:r>
              <a:rPr lang="en-US" sz="2400" dirty="0">
                <a:solidFill/>
                <a:latin typeface="Times" pitchFamily="2" charset="0"/>
              </a:rPr>
              <a:t>Let’s do a little rearranging...</a:t>
            </a:r>
          </a:p>
        </p:txBody>
      </p:sp>
      <p:grpSp>
        <p:nvGrpSpPr>
          <p:cNvPr id="3" name="Group 2">
            <a:extLst>
              <a:ext uri="{FF2B5EF4-FFF2-40B4-BE49-F238E27FC236}">
                <a16:creationId xmlns:a16="http://schemas.microsoft.com/office/drawing/2014/main" id="{B9E55828-945D-08D4-71D0-CDA1269411FB}"/>
              </a:ext>
            </a:extLst>
          </p:cNvPr>
          <p:cNvGrpSpPr/>
          <p:nvPr/>
        </p:nvGrpSpPr>
        <p:grpSpPr>
          <a:xfrm>
            <a:off x="679617" y="691095"/>
            <a:ext cx="7429130" cy="827577"/>
            <a:chOff x="1307414" y="704743"/>
            <a:chExt cx="7429130" cy="827577"/>
          </a:xfrm>
        </p:grpSpPr>
        <p:pic>
          <p:nvPicPr>
            <p:cNvPr id="32" name="Picture 31">
              <a:extLst>
                <a:ext uri="{FF2B5EF4-FFF2-40B4-BE49-F238E27FC236}">
                  <a16:creationId xmlns:a16="http://schemas.microsoft.com/office/drawing/2014/main" id="{1E0B42D8-C17A-5538-CB6A-E68721E4B45F}"/>
                </a:ext>
              </a:extLst>
            </p:cNvPr>
            <p:cNvPicPr>
              <a:picLocks noChangeAspect="1"/>
            </p:cNvPicPr>
            <p:nvPr/>
          </p:nvPicPr>
          <p:blipFill>
            <a:blip r:embed="rId3"/>
            <a:srcRect l="62247" t="-39291"/>
            <a:stretch/>
          </p:blipFill>
          <p:spPr>
            <a:xfrm>
              <a:off x="1307414" y="704743"/>
              <a:ext cx="1792356" cy="827577"/>
            </a:xfrm>
            <a:prstGeom prst="rect">
              <a:avLst/>
            </a:prstGeom>
          </p:spPr>
        </p:pic>
        <p:sp>
          <p:nvSpPr>
            <p:cNvPr id="35" name="TextBox 34">
              <a:extLst>
                <a:ext uri="{FF2B5EF4-FFF2-40B4-BE49-F238E27FC236}">
                  <a16:creationId xmlns:a16="http://schemas.microsoft.com/office/drawing/2014/main" id="{CDC07FF4-CFE9-AE35-CA6D-0114188341DA}"/>
                </a:ext>
              </a:extLst>
            </p:cNvPr>
            <p:cNvSpPr txBox="1"/>
            <p:nvPr/>
          </p:nvSpPr>
          <p:spPr>
            <a:xfrm>
              <a:off x="3175905" y="1024682"/>
              <a:ext cx="5560639" cy="461665"/>
            </a:xfrm>
            <a:prstGeom prst="rect">
              <a:avLst/>
            </a:prstGeom>
            <a:noFill/>
          </p:spPr>
          <p:txBody>
            <a:bodyPr wrap="square" rtlCol="0">
              <a:spAutoFit/>
            </a:bodyPr>
            <a:lstStyle/>
            <a:p>
              <a:pPr/>
              <a:r>
                <a:rPr lang="en-US" sz="2400" dirty="0">
                  <a:solidFill/>
                  <a:latin typeface="Times" pitchFamily="2" charset="0"/>
                </a:rPr>
                <a:t>= </a:t>
              </a:r>
              <a:r>
                <a:rPr lang="en-US" sz="2400" i="1" dirty="0">
                  <a:solidFill/>
                  <a:latin typeface="Times" pitchFamily="2" charset="0"/>
                </a:rPr>
                <a:t>mgh</a:t>
              </a:r>
              <a:r>
                <a:rPr lang="en-US" sz="2400" baseline="-25000" dirty="0">
                  <a:solidFill/>
                  <a:latin typeface="Times" pitchFamily="2" charset="0"/>
                </a:rPr>
                <a:t>0</a:t>
              </a:r>
              <a:r>
                <a:rPr lang="en-US" sz="2400" dirty="0">
                  <a:solidFill/>
                  <a:latin typeface="Times" pitchFamily="2" charset="0"/>
                </a:rPr>
                <a:t> – </a:t>
              </a:r>
              <a:r>
                <a:rPr lang="en-US" sz="2400" i="1" dirty="0" err="1">
                  <a:solidFill/>
                  <a:latin typeface="Times" pitchFamily="2" charset="0"/>
                </a:rPr>
                <a:t>mgh</a:t>
              </a:r>
              <a:r>
                <a:rPr lang="en-US" sz="2400" baseline="-25000" dirty="0" err="1">
                  <a:solidFill/>
                  <a:latin typeface="Times" pitchFamily="2" charset="0"/>
                </a:rPr>
                <a:t>f</a:t>
              </a:r>
              <a:r>
                <a:rPr lang="en-US" sz="2400" dirty="0">
                  <a:solidFill/>
                  <a:latin typeface="Times" pitchFamily="2" charset="0"/>
                </a:rPr>
                <a:t> + </a:t>
              </a:r>
              <a:r>
                <a:rPr lang="en-US" sz="2400" i="1" dirty="0">
                  <a:solidFill/>
                  <a:latin typeface="Times" pitchFamily="2" charset="0"/>
                </a:rPr>
                <a:t>W</a:t>
              </a:r>
              <a:r>
                <a:rPr lang="en-US" sz="2400" baseline="-25000" dirty="0">
                  <a:solidFill/>
                  <a:latin typeface="Times" pitchFamily="2" charset="0"/>
                </a:rPr>
                <a:t>NC</a:t>
              </a:r>
            </a:p>
          </p:txBody>
        </p:sp>
      </p:grpSp>
      <p:grpSp>
        <p:nvGrpSpPr>
          <p:cNvPr id="14" name="Group 13">
            <a:extLst>
              <a:ext uri="{FF2B5EF4-FFF2-40B4-BE49-F238E27FC236}">
                <a16:creationId xmlns:a16="http://schemas.microsoft.com/office/drawing/2014/main" id="{03B05512-03E5-65B0-5D55-C734C7CAFB4F}"/>
              </a:ext>
            </a:extLst>
          </p:cNvPr>
          <p:cNvGrpSpPr/>
          <p:nvPr/>
        </p:nvGrpSpPr>
        <p:grpSpPr>
          <a:xfrm>
            <a:off x="887255" y="1512235"/>
            <a:ext cx="5560639" cy="827577"/>
            <a:chOff x="1403971" y="2644999"/>
            <a:chExt cx="5560639" cy="827577"/>
          </a:xfrm>
        </p:grpSpPr>
        <p:sp>
          <p:nvSpPr>
            <p:cNvPr id="6" name="TextBox 5">
              <a:extLst>
                <a:ext uri="{FF2B5EF4-FFF2-40B4-BE49-F238E27FC236}">
                  <a16:creationId xmlns:a16="http://schemas.microsoft.com/office/drawing/2014/main" id="{EC712A1F-7F77-30C0-ACB6-3002E9B9404A}"/>
                </a:ext>
              </a:extLst>
            </p:cNvPr>
            <p:cNvSpPr txBox="1"/>
            <p:nvPr/>
          </p:nvSpPr>
          <p:spPr>
            <a:xfrm>
              <a:off x="1403971" y="2937643"/>
              <a:ext cx="5560639"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 </a:t>
              </a:r>
              <a:r>
                <a:rPr lang="en-US" sz="2400" i="1" dirty="0" err="1">
                  <a:solidFill/>
                  <a:latin typeface="Times" pitchFamily="2" charset="0"/>
                </a:rPr>
                <a:t>mgh</a:t>
              </a:r>
              <a:r>
                <a:rPr lang="en-US" sz="2400" baseline="-25000" dirty="0" err="1">
                  <a:solidFill/>
                  <a:latin typeface="Times" pitchFamily="2" charset="0"/>
                </a:rPr>
                <a:t>f</a:t>
              </a:r>
              <a:r>
                <a:rPr lang="en-US" sz="2400" dirty="0">
                  <a:solidFill/>
                  <a:latin typeface="Times" pitchFamily="2" charset="0"/>
                </a:rPr>
                <a:t> – </a:t>
              </a:r>
              <a:r>
                <a:rPr lang="en-US" sz="2400" i="1" dirty="0">
                  <a:solidFill/>
                  <a:latin typeface="Times" pitchFamily="2" charset="0"/>
                </a:rPr>
                <a:t>mgh</a:t>
              </a:r>
              <a:r>
                <a:rPr lang="en-US" sz="2400" baseline="-25000" dirty="0">
                  <a:solidFill/>
                  <a:latin typeface="Times" pitchFamily="2" charset="0"/>
                </a:rPr>
                <a:t>0</a:t>
              </a:r>
              <a:r>
                <a:rPr lang="en-US" sz="2400" dirty="0">
                  <a:solidFill/>
                  <a:latin typeface="Times" pitchFamily="2" charset="0"/>
                </a:rPr>
                <a:t> </a:t>
              </a:r>
              <a:endParaRPr lang="en-US" sz="2400" baseline="-25000" dirty="0">
                <a:latin typeface="Times" pitchFamily="2" charset="0"/>
              </a:endParaRPr>
            </a:p>
          </p:txBody>
        </p:sp>
        <p:pic>
          <p:nvPicPr>
            <p:cNvPr id="8" name="Picture 7">
              <a:extLst>
                <a:ext uri="{FF2B5EF4-FFF2-40B4-BE49-F238E27FC236}">
                  <a16:creationId xmlns:a16="http://schemas.microsoft.com/office/drawing/2014/main" id="{F29140C3-9525-612A-3CC9-DEBCFF4B0EE1}"/>
                </a:ext>
              </a:extLst>
            </p:cNvPr>
            <p:cNvPicPr>
              <a:picLocks noChangeAspect="1"/>
            </p:cNvPicPr>
            <p:nvPr/>
          </p:nvPicPr>
          <p:blipFill>
            <a:blip r:embed="rId3"/>
            <a:srcRect l="62247" t="-39291"/>
            <a:stretch/>
          </p:blipFill>
          <p:spPr>
            <a:xfrm>
              <a:off x="2360566" y="2644999"/>
              <a:ext cx="1792356" cy="827577"/>
            </a:xfrm>
            <a:prstGeom prst="rect">
              <a:avLst/>
            </a:prstGeom>
          </p:spPr>
        </p:pic>
      </p:grpSp>
      <p:grpSp>
        <p:nvGrpSpPr>
          <p:cNvPr id="43" name="Group 42">
            <a:extLst>
              <a:ext uri="{FF2B5EF4-FFF2-40B4-BE49-F238E27FC236}">
                <a16:creationId xmlns:a16="http://schemas.microsoft.com/office/drawing/2014/main" id="{9C9C6DA7-9788-E89D-DB3A-0E068D4D581C}"/>
              </a:ext>
            </a:extLst>
          </p:cNvPr>
          <p:cNvGrpSpPr/>
          <p:nvPr/>
        </p:nvGrpSpPr>
        <p:grpSpPr>
          <a:xfrm>
            <a:off x="1917085" y="2399489"/>
            <a:ext cx="3748731" cy="515489"/>
            <a:chOff x="4289897" y="2399489"/>
            <a:chExt cx="3748731" cy="515489"/>
          </a:xfrm>
        </p:grpSpPr>
        <p:sp>
          <p:nvSpPr>
            <p:cNvPr id="15" name="TextBox 14">
              <a:extLst>
                <a:ext uri="{FF2B5EF4-FFF2-40B4-BE49-F238E27FC236}">
                  <a16:creationId xmlns:a16="http://schemas.microsoft.com/office/drawing/2014/main" id="{E7B1B18C-6118-5C1A-3462-0F1705218EA4}"/>
                </a:ext>
              </a:extLst>
            </p:cNvPr>
            <p:cNvSpPr txBox="1"/>
            <p:nvPr/>
          </p:nvSpPr>
          <p:spPr>
            <a:xfrm>
              <a:off x="4326341" y="2545646"/>
              <a:ext cx="709684" cy="369332"/>
            </a:xfrm>
            <a:prstGeom prst="rect">
              <a:avLst/>
            </a:prstGeom>
            <a:noFill/>
          </p:spPr>
          <p:txBody>
            <a:bodyPr wrap="square" rtlCol="0">
              <a:spAutoFit/>
            </a:bodyPr>
            <a:lstStyle/>
            <a:p>
              <a:pPr/>
              <a:r>
                <a:rPr lang="en-US" dirty="0" err="1">
                  <a:solidFill/>
                  <a:latin typeface="Times" pitchFamily="2" charset="0"/>
                </a:rPr>
                <a:t>KE</a:t>
              </a:r>
              <a:r>
                <a:rPr lang="en-US" baseline="-25000" dirty="0" err="1">
                  <a:solidFill/>
                  <a:latin typeface="Times" pitchFamily="2" charset="0"/>
                </a:rPr>
                <a:t>f</a:t>
              </a:r>
              <a:endParaRPr lang="en-US" dirty="0">
                <a:latin typeface="Times" pitchFamily="2" charset="0"/>
              </a:endParaRPr>
            </a:p>
          </p:txBody>
        </p:sp>
        <p:sp>
          <p:nvSpPr>
            <p:cNvPr id="16" name="TextBox 15">
              <a:extLst>
                <a:ext uri="{FF2B5EF4-FFF2-40B4-BE49-F238E27FC236}">
                  <a16:creationId xmlns:a16="http://schemas.microsoft.com/office/drawing/2014/main" id="{9FF152A7-388B-EB0B-5FED-685E84309836}"/>
                </a:ext>
              </a:extLst>
            </p:cNvPr>
            <p:cNvSpPr txBox="1"/>
            <p:nvPr/>
          </p:nvSpPr>
          <p:spPr>
            <a:xfrm>
              <a:off x="5347069" y="2545646"/>
              <a:ext cx="709684" cy="369332"/>
            </a:xfrm>
            <a:prstGeom prst="rect">
              <a:avLst/>
            </a:prstGeom>
            <a:noFill/>
          </p:spPr>
          <p:txBody>
            <a:bodyPr wrap="square" rtlCol="0">
              <a:spAutoFit/>
            </a:bodyPr>
            <a:lstStyle/>
            <a:p>
              <a:pPr/>
              <a:r>
                <a:rPr lang="en-US" dirty="0">
                  <a:solidFill/>
                  <a:latin typeface="Times" pitchFamily="2" charset="0"/>
                </a:rPr>
                <a:t>KE</a:t>
              </a:r>
              <a:r>
                <a:rPr lang="en-US" baseline="-25000" dirty="0">
                  <a:solidFill/>
                  <a:latin typeface="Times" pitchFamily="2" charset="0"/>
                </a:rPr>
                <a:t>0</a:t>
              </a:r>
              <a:endParaRPr lang="en-US" dirty="0">
                <a:latin typeface="Times" pitchFamily="2" charset="0"/>
              </a:endParaRPr>
            </a:p>
          </p:txBody>
        </p:sp>
        <p:sp>
          <p:nvSpPr>
            <p:cNvPr id="18" name="TextBox 17">
              <a:extLst>
                <a:ext uri="{FF2B5EF4-FFF2-40B4-BE49-F238E27FC236}">
                  <a16:creationId xmlns:a16="http://schemas.microsoft.com/office/drawing/2014/main" id="{09BB9301-AF04-7722-C675-FBFC49A8DD5B}"/>
                </a:ext>
              </a:extLst>
            </p:cNvPr>
            <p:cNvSpPr txBox="1"/>
            <p:nvPr/>
          </p:nvSpPr>
          <p:spPr>
            <a:xfrm>
              <a:off x="6443727" y="2545646"/>
              <a:ext cx="709684" cy="369332"/>
            </a:xfrm>
            <a:prstGeom prst="rect">
              <a:avLst/>
            </a:prstGeom>
            <a:noFill/>
          </p:spPr>
          <p:txBody>
            <a:bodyPr wrap="square" rtlCol="0">
              <a:spAutoFit/>
            </a:bodyPr>
            <a:lstStyle/>
            <a:p>
              <a:pPr/>
              <a:r>
                <a:rPr lang="en-US" dirty="0" err="1">
                  <a:solidFill/>
                  <a:latin typeface="Times" pitchFamily="2" charset="0"/>
                </a:rPr>
                <a:t>PE</a:t>
              </a:r>
              <a:r>
                <a:rPr lang="en-US" baseline="-25000" dirty="0" err="1">
                  <a:solidFill/>
                  <a:latin typeface="Times" pitchFamily="2" charset="0"/>
                </a:rPr>
                <a:t>f</a:t>
              </a:r>
              <a:endParaRPr lang="en-US" dirty="0">
                <a:latin typeface="Times" pitchFamily="2" charset="0"/>
              </a:endParaRPr>
            </a:p>
          </p:txBody>
        </p:sp>
        <p:sp>
          <p:nvSpPr>
            <p:cNvPr id="19" name="TextBox 18">
              <a:extLst>
                <a:ext uri="{FF2B5EF4-FFF2-40B4-BE49-F238E27FC236}">
                  <a16:creationId xmlns:a16="http://schemas.microsoft.com/office/drawing/2014/main" id="{7CBF03E1-C8E1-664D-D850-415FE8FCB790}"/>
                </a:ext>
              </a:extLst>
            </p:cNvPr>
            <p:cNvSpPr txBox="1"/>
            <p:nvPr/>
          </p:nvSpPr>
          <p:spPr>
            <a:xfrm>
              <a:off x="7328944" y="2545646"/>
              <a:ext cx="709684" cy="369332"/>
            </a:xfrm>
            <a:prstGeom prst="rect">
              <a:avLst/>
            </a:prstGeom>
            <a:noFill/>
          </p:spPr>
          <p:txBody>
            <a:bodyPr wrap="square" rtlCol="0">
              <a:spAutoFit/>
            </a:bodyPr>
            <a:lstStyle/>
            <a:p>
              <a:pPr/>
              <a:r>
                <a:rPr lang="en-US" dirty="0">
                  <a:solidFill/>
                  <a:latin typeface="Times" pitchFamily="2" charset="0"/>
                </a:rPr>
                <a:t>PE</a:t>
              </a:r>
              <a:r>
                <a:rPr lang="en-US" baseline="-25000" dirty="0">
                  <a:solidFill/>
                  <a:latin typeface="Times" pitchFamily="2" charset="0"/>
                </a:rPr>
                <a:t>0</a:t>
              </a:r>
              <a:endParaRPr lang="en-US" dirty="0">
                <a:latin typeface="Times" pitchFamily="2" charset="0"/>
              </a:endParaRPr>
            </a:p>
          </p:txBody>
        </p:sp>
        <p:sp>
          <p:nvSpPr>
            <p:cNvPr id="22" name="Left Brace 21">
              <a:extLst>
                <a:ext uri="{FF2B5EF4-FFF2-40B4-BE49-F238E27FC236}">
                  <a16:creationId xmlns:a16="http://schemas.microsoft.com/office/drawing/2014/main" id="{8F83C8D5-03E0-9B43-87FD-AF74FCE34B3E}"/>
                </a:ext>
              </a:extLst>
            </p:cNvPr>
            <p:cNvSpPr/>
            <p:nvPr/>
          </p:nvSpPr>
          <p:spPr>
            <a:xfrm rot="16200000">
              <a:off x="4477965" y="2211421"/>
              <a:ext cx="191311" cy="567448"/>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Left Brace 25">
              <a:extLst>
                <a:ext uri="{FF2B5EF4-FFF2-40B4-BE49-F238E27FC236}">
                  <a16:creationId xmlns:a16="http://schemas.microsoft.com/office/drawing/2014/main" id="{9252B9EB-8C13-94A8-E57C-8EDDBDD66B91}"/>
                </a:ext>
              </a:extLst>
            </p:cNvPr>
            <p:cNvSpPr/>
            <p:nvPr/>
          </p:nvSpPr>
          <p:spPr>
            <a:xfrm rot="16200000">
              <a:off x="5505855" y="2211421"/>
              <a:ext cx="191311" cy="567448"/>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Left Brace 28">
              <a:extLst>
                <a:ext uri="{FF2B5EF4-FFF2-40B4-BE49-F238E27FC236}">
                  <a16:creationId xmlns:a16="http://schemas.microsoft.com/office/drawing/2014/main" id="{DFFD51D0-8A00-9F34-8178-85CEEDAAD7C1}"/>
                </a:ext>
              </a:extLst>
            </p:cNvPr>
            <p:cNvSpPr/>
            <p:nvPr/>
          </p:nvSpPr>
          <p:spPr>
            <a:xfrm rot="16200000">
              <a:off x="6566171" y="2211421"/>
              <a:ext cx="191311" cy="567448"/>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Left Brace 39">
              <a:extLst>
                <a:ext uri="{FF2B5EF4-FFF2-40B4-BE49-F238E27FC236}">
                  <a16:creationId xmlns:a16="http://schemas.microsoft.com/office/drawing/2014/main" id="{9970E5F6-C57C-CEFF-8FD0-6E2605220B75}"/>
                </a:ext>
              </a:extLst>
            </p:cNvPr>
            <p:cNvSpPr/>
            <p:nvPr/>
          </p:nvSpPr>
          <p:spPr>
            <a:xfrm rot="16200000">
              <a:off x="7470844" y="2211421"/>
              <a:ext cx="191311" cy="567448"/>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47" name="TextBox 46">
            <a:extLst>
              <a:ext uri="{FF2B5EF4-FFF2-40B4-BE49-F238E27FC236}">
                <a16:creationId xmlns:a16="http://schemas.microsoft.com/office/drawing/2014/main" id="{C3305BB6-3F4A-4554-E144-0E9BA7E68E82}"/>
              </a:ext>
            </a:extLst>
          </p:cNvPr>
          <p:cNvSpPr txBox="1"/>
          <p:nvPr/>
        </p:nvSpPr>
        <p:spPr>
          <a:xfrm>
            <a:off x="7071204" y="1841532"/>
            <a:ext cx="4677105"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dirty="0" err="1">
                <a:solidFill/>
                <a:latin typeface="Times" pitchFamily="2" charset="0"/>
              </a:rPr>
              <a:t>KE</a:t>
            </a:r>
            <a:r>
              <a:rPr lang="en-US" sz="2400" baseline="-25000" dirty="0" err="1">
                <a:solidFill/>
                <a:latin typeface="Times" pitchFamily="2" charset="0"/>
              </a:rPr>
              <a:t>f</a:t>
            </a:r>
            <a:r>
              <a:rPr lang="en-US" sz="2400" dirty="0">
                <a:solidFill/>
                <a:latin typeface="Times" pitchFamily="2" charset="0"/>
              </a:rPr>
              <a:t> – KE</a:t>
            </a:r>
            <a:r>
              <a:rPr lang="en-US" sz="2400" baseline="-25000" dirty="0">
                <a:solidFill/>
                <a:latin typeface="Times" pitchFamily="2" charset="0"/>
              </a:rPr>
              <a:t>0</a:t>
            </a:r>
            <a:r>
              <a:rPr lang="en-US" sz="2400" dirty="0">
                <a:solidFill/>
                <a:latin typeface="Times" pitchFamily="2" charset="0"/>
              </a:rPr>
              <a:t> + </a:t>
            </a:r>
            <a:r>
              <a:rPr lang="en-US" sz="2400" dirty="0" err="1">
                <a:solidFill/>
                <a:latin typeface="Times" pitchFamily="2" charset="0"/>
              </a:rPr>
              <a:t>PE</a:t>
            </a:r>
            <a:r>
              <a:rPr lang="en-US" sz="2400" baseline="-25000" dirty="0" err="1">
                <a:solidFill/>
                <a:latin typeface="Times" pitchFamily="2" charset="0"/>
              </a:rPr>
              <a:t>f</a:t>
            </a:r>
            <a:r>
              <a:rPr lang="en-US" sz="2400" dirty="0">
                <a:solidFill/>
                <a:latin typeface="Times" pitchFamily="2" charset="0"/>
              </a:rPr>
              <a:t> – PE</a:t>
            </a:r>
            <a:r>
              <a:rPr lang="en-US" sz="2400" baseline="-25000" dirty="0">
                <a:solidFill/>
                <a:latin typeface="Times" pitchFamily="2" charset="0"/>
              </a:rPr>
              <a:t>0</a:t>
            </a:r>
            <a:r>
              <a:rPr lang="en-US" sz="2400" dirty="0">
                <a:solidFill/>
                <a:latin typeface="Times" pitchFamily="2" charset="0"/>
              </a:rPr>
              <a:t> </a:t>
            </a:r>
            <a:endParaRPr lang="en-US" sz="2400" baseline="-25000" dirty="0">
              <a:latin typeface="Times" pitchFamily="2" charset="0"/>
            </a:endParaRPr>
          </a:p>
        </p:txBody>
      </p:sp>
      <p:sp>
        <p:nvSpPr>
          <p:cNvPr id="45" name="TextBox 44">
            <a:extLst>
              <a:ext uri="{FF2B5EF4-FFF2-40B4-BE49-F238E27FC236}">
                <a16:creationId xmlns:a16="http://schemas.microsoft.com/office/drawing/2014/main" id="{9516C80E-63F3-888D-C6AB-096F86C9300D}"/>
              </a:ext>
            </a:extLst>
          </p:cNvPr>
          <p:cNvSpPr txBox="1"/>
          <p:nvPr/>
        </p:nvSpPr>
        <p:spPr>
          <a:xfrm>
            <a:off x="6250335" y="1840374"/>
            <a:ext cx="844952" cy="461665"/>
          </a:xfrm>
          <a:prstGeom prst="rect">
            <a:avLst/>
          </a:prstGeom>
          <a:noFill/>
        </p:spPr>
        <p:txBody>
          <a:bodyPr wrap="square" rtlCol="0">
            <a:spAutoFit/>
          </a:bodyPr>
          <a:lstStyle/>
          <a:p>
            <a:pPr/>
            <a:r>
              <a:rPr lang="en-US" sz="2400" dirty="0">
                <a:solidFill/>
                <a:latin typeface="Times" pitchFamily="2" charset="0"/>
              </a:rPr>
              <a:t>⇒</a:t>
            </a:r>
          </a:p>
        </p:txBody>
      </p:sp>
      <p:grpSp>
        <p:nvGrpSpPr>
          <p:cNvPr id="64" name="Group 63">
            <a:extLst>
              <a:ext uri="{FF2B5EF4-FFF2-40B4-BE49-F238E27FC236}">
                <a16:creationId xmlns:a16="http://schemas.microsoft.com/office/drawing/2014/main" id="{97A9BB9A-B60A-F76E-0CFF-40140031085F}"/>
              </a:ext>
            </a:extLst>
          </p:cNvPr>
          <p:cNvGrpSpPr/>
          <p:nvPr/>
        </p:nvGrpSpPr>
        <p:grpSpPr>
          <a:xfrm>
            <a:off x="6124945" y="2382125"/>
            <a:ext cx="5669666" cy="1157083"/>
            <a:chOff x="6124945" y="2382125"/>
            <a:chExt cx="5669666" cy="1157083"/>
          </a:xfrm>
        </p:grpSpPr>
        <p:sp>
          <p:nvSpPr>
            <p:cNvPr id="51" name="Left Brace 50">
              <a:extLst>
                <a:ext uri="{FF2B5EF4-FFF2-40B4-BE49-F238E27FC236}">
                  <a16:creationId xmlns:a16="http://schemas.microsoft.com/office/drawing/2014/main" id="{144141FE-1661-81F3-0B98-5530A79A20A9}"/>
                </a:ext>
              </a:extLst>
            </p:cNvPr>
            <p:cNvSpPr/>
            <p:nvPr/>
          </p:nvSpPr>
          <p:spPr>
            <a:xfrm rot="16200000">
              <a:off x="7357034" y="2194057"/>
              <a:ext cx="191311" cy="567448"/>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5" name="Left Brace 54">
              <a:extLst>
                <a:ext uri="{FF2B5EF4-FFF2-40B4-BE49-F238E27FC236}">
                  <a16:creationId xmlns:a16="http://schemas.microsoft.com/office/drawing/2014/main" id="{C947B617-ADD9-3407-F0F5-A52D5B613947}"/>
                </a:ext>
              </a:extLst>
            </p:cNvPr>
            <p:cNvSpPr/>
            <p:nvPr/>
          </p:nvSpPr>
          <p:spPr>
            <a:xfrm rot="16200000">
              <a:off x="8560475" y="1837498"/>
              <a:ext cx="200954" cy="1290209"/>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7" name="Left Brace 56">
              <a:extLst>
                <a:ext uri="{FF2B5EF4-FFF2-40B4-BE49-F238E27FC236}">
                  <a16:creationId xmlns:a16="http://schemas.microsoft.com/office/drawing/2014/main" id="{A6CAEE8C-516E-F463-0883-755D651F092B}"/>
                </a:ext>
              </a:extLst>
            </p:cNvPr>
            <p:cNvSpPr/>
            <p:nvPr/>
          </p:nvSpPr>
          <p:spPr>
            <a:xfrm rot="16200000">
              <a:off x="10124985" y="1872225"/>
              <a:ext cx="187455" cy="1207255"/>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9" name="TextBox 58">
              <a:extLst>
                <a:ext uri="{FF2B5EF4-FFF2-40B4-BE49-F238E27FC236}">
                  <a16:creationId xmlns:a16="http://schemas.microsoft.com/office/drawing/2014/main" id="{96266F9C-AED2-A0CE-7872-540B4BF37709}"/>
                </a:ext>
              </a:extLst>
            </p:cNvPr>
            <p:cNvSpPr txBox="1"/>
            <p:nvPr/>
          </p:nvSpPr>
          <p:spPr>
            <a:xfrm>
              <a:off x="8125436" y="2615878"/>
              <a:ext cx="1713053" cy="646331"/>
            </a:xfrm>
            <a:prstGeom prst="rect">
              <a:avLst/>
            </a:prstGeom>
            <a:noFill/>
          </p:spPr>
          <p:txBody>
            <a:bodyPr wrap="square" rtlCol="0">
              <a:spAutoFit/>
            </a:bodyPr>
            <a:lstStyle/>
            <a:p>
              <a:pPr/>
              <a:r>
                <a:rPr lang="en-US" dirty="0">
                  <a:solidFill/>
                  <a:latin typeface="Times" pitchFamily="2" charset="0"/>
                </a:rPr>
                <a:t>Change in</a:t>
              </a:r>
            </a:p>
            <a:p>
              <a:pPr/>
              <a:r>
                <a:rPr lang="en-US" dirty="0">
                  <a:solidFill/>
                  <a:latin typeface="Times" pitchFamily="2" charset="0"/>
                </a:rPr>
                <a:t>kinetic energy</a:t>
              </a:r>
            </a:p>
          </p:txBody>
        </p:sp>
        <p:sp>
          <p:nvSpPr>
            <p:cNvPr id="60" name="TextBox 59">
              <a:extLst>
                <a:ext uri="{FF2B5EF4-FFF2-40B4-BE49-F238E27FC236}">
                  <a16:creationId xmlns:a16="http://schemas.microsoft.com/office/drawing/2014/main" id="{86B46FBD-8128-E87D-0CDA-9A6669B284C6}"/>
                </a:ext>
              </a:extLst>
            </p:cNvPr>
            <p:cNvSpPr txBox="1"/>
            <p:nvPr/>
          </p:nvSpPr>
          <p:spPr>
            <a:xfrm>
              <a:off x="9713096" y="2615878"/>
              <a:ext cx="2081515" cy="923330"/>
            </a:xfrm>
            <a:prstGeom prst="rect">
              <a:avLst/>
            </a:prstGeom>
            <a:noFill/>
          </p:spPr>
          <p:txBody>
            <a:bodyPr wrap="square" rtlCol="0">
              <a:spAutoFit/>
            </a:bodyPr>
            <a:lstStyle/>
            <a:p>
              <a:pPr/>
              <a:r>
                <a:rPr lang="en-US" dirty="0">
                  <a:solidFill/>
                  <a:latin typeface="Times" pitchFamily="2" charset="0"/>
                </a:rPr>
                <a:t>Change in</a:t>
              </a:r>
            </a:p>
            <a:p>
              <a:pPr/>
              <a:r>
                <a:rPr lang="en-US" dirty="0">
                  <a:solidFill/>
                  <a:latin typeface="Times" pitchFamily="2" charset="0"/>
                </a:rPr>
                <a:t>gravitational</a:t>
              </a:r>
            </a:p>
            <a:p>
              <a:pPr/>
              <a:r>
                <a:rPr lang="en-US" dirty="0">
                  <a:solidFill/>
                  <a:latin typeface="Times" pitchFamily="2" charset="0"/>
                </a:rPr>
                <a:t>potential energy</a:t>
              </a:r>
            </a:p>
          </p:txBody>
        </p:sp>
        <p:sp>
          <p:nvSpPr>
            <p:cNvPr id="61" name="TextBox 60">
              <a:extLst>
                <a:ext uri="{FF2B5EF4-FFF2-40B4-BE49-F238E27FC236}">
                  <a16:creationId xmlns:a16="http://schemas.microsoft.com/office/drawing/2014/main" id="{5688F95C-A96E-C55F-7BDD-862CBFC873D9}"/>
                </a:ext>
              </a:extLst>
            </p:cNvPr>
            <p:cNvSpPr txBox="1"/>
            <p:nvPr/>
          </p:nvSpPr>
          <p:spPr>
            <a:xfrm>
              <a:off x="6124945" y="2615878"/>
              <a:ext cx="2313007" cy="923330"/>
            </a:xfrm>
            <a:prstGeom prst="rect">
              <a:avLst/>
            </a:prstGeom>
            <a:noFill/>
          </p:spPr>
          <p:txBody>
            <a:bodyPr wrap="square" rtlCol="0">
              <a:spAutoFit/>
            </a:bodyPr>
            <a:lstStyle/>
            <a:p>
              <a:pPr/>
              <a:r>
                <a:rPr lang="en-US" dirty="0">
                  <a:solidFill/>
                  <a:latin typeface="Times" pitchFamily="2" charset="0"/>
                </a:rPr>
                <a:t>Net work done</a:t>
              </a:r>
            </a:p>
            <a:p>
              <a:pPr/>
              <a:r>
                <a:rPr lang="en-US" dirty="0">
                  <a:solidFill/>
                  <a:latin typeface="Times" pitchFamily="2" charset="0"/>
                </a:rPr>
                <a:t>by nonconservative</a:t>
              </a:r>
            </a:p>
            <a:p>
              <a:pPr/>
              <a:r>
                <a:rPr lang="en-US" dirty="0">
                  <a:solidFill/>
                  <a:latin typeface="Times" pitchFamily="2" charset="0"/>
                </a:rPr>
                <a:t>forces</a:t>
              </a:r>
            </a:p>
          </p:txBody>
        </p:sp>
      </p:grpSp>
      <p:grpSp>
        <p:nvGrpSpPr>
          <p:cNvPr id="69" name="Group 68">
            <a:extLst>
              <a:ext uri="{FF2B5EF4-FFF2-40B4-BE49-F238E27FC236}">
                <a16:creationId xmlns:a16="http://schemas.microsoft.com/office/drawing/2014/main" id="{06E10584-884E-D951-6243-3078F5588CA4}"/>
              </a:ext>
            </a:extLst>
          </p:cNvPr>
          <p:cNvGrpSpPr/>
          <p:nvPr/>
        </p:nvGrpSpPr>
        <p:grpSpPr>
          <a:xfrm>
            <a:off x="3254420" y="3738623"/>
            <a:ext cx="3644091" cy="509892"/>
            <a:chOff x="3254420" y="3738623"/>
            <a:chExt cx="3644091" cy="509892"/>
          </a:xfrm>
        </p:grpSpPr>
        <p:sp>
          <p:nvSpPr>
            <p:cNvPr id="65" name="TextBox 64">
              <a:extLst>
                <a:ext uri="{FF2B5EF4-FFF2-40B4-BE49-F238E27FC236}">
                  <a16:creationId xmlns:a16="http://schemas.microsoft.com/office/drawing/2014/main" id="{5D100D1B-2B45-FB9A-7C33-D8030569DBCE}"/>
                </a:ext>
              </a:extLst>
            </p:cNvPr>
            <p:cNvSpPr txBox="1"/>
            <p:nvPr/>
          </p:nvSpPr>
          <p:spPr>
            <a:xfrm>
              <a:off x="3254420" y="3786850"/>
              <a:ext cx="844952" cy="461665"/>
            </a:xfrm>
            <a:prstGeom prst="rect">
              <a:avLst/>
            </a:prstGeom>
            <a:noFill/>
          </p:spPr>
          <p:txBody>
            <a:bodyPr wrap="square" rtlCol="0">
              <a:spAutoFit/>
            </a:bodyPr>
            <a:lstStyle/>
            <a:p>
              <a:pPr/>
              <a:r>
                <a:rPr lang="en-US" sz="2400" dirty="0">
                  <a:solidFill/>
                  <a:latin typeface="Times" pitchFamily="2" charset="0"/>
                </a:rPr>
                <a:t>Or...</a:t>
              </a:r>
            </a:p>
          </p:txBody>
        </p:sp>
        <p:sp>
          <p:nvSpPr>
            <p:cNvPr id="68" name="Rounded Rectangle 67">
              <a:extLst>
                <a:ext uri="{FF2B5EF4-FFF2-40B4-BE49-F238E27FC236}">
                  <a16:creationId xmlns:a16="http://schemas.microsoft.com/office/drawing/2014/main" id="{9A5B939D-324D-CD35-945F-9B311A36710A}"/>
                </a:ext>
              </a:extLst>
            </p:cNvPr>
            <p:cNvSpPr/>
            <p:nvPr/>
          </p:nvSpPr>
          <p:spPr>
            <a:xfrm>
              <a:off x="4236334" y="3738623"/>
              <a:ext cx="2662177" cy="50928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TextBox 65">
            <a:extLst>
              <a:ext uri="{FF2B5EF4-FFF2-40B4-BE49-F238E27FC236}">
                <a16:creationId xmlns:a16="http://schemas.microsoft.com/office/drawing/2014/main" id="{9BE55A15-FE85-0A06-8E4E-F1C70BACF20D}"/>
              </a:ext>
            </a:extLst>
          </p:cNvPr>
          <p:cNvSpPr txBox="1"/>
          <p:nvPr/>
        </p:nvSpPr>
        <p:spPr>
          <a:xfrm>
            <a:off x="4302484" y="3764363"/>
            <a:ext cx="2776923"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dirty="0">
                <a:solidFill/>
                <a:latin typeface="Symbol" pitchFamily="2" charset="2"/>
              </a:rPr>
              <a:t>D</a:t>
            </a:r>
            <a:r>
              <a:rPr lang="en-US" sz="2400" dirty="0">
                <a:solidFill/>
                <a:latin typeface="Times" pitchFamily="2" charset="0"/>
              </a:rPr>
              <a:t>KE + </a:t>
            </a:r>
            <a:r>
              <a:rPr lang="en-US" sz="2400" dirty="0">
                <a:solidFill/>
                <a:latin typeface="Symbol" pitchFamily="2" charset="2"/>
              </a:rPr>
              <a:t>D</a:t>
            </a:r>
            <a:r>
              <a:rPr lang="en-US" sz="2400" dirty="0">
                <a:solidFill/>
                <a:latin typeface="Times" pitchFamily="2" charset="0"/>
              </a:rPr>
              <a:t>PE</a:t>
            </a:r>
            <a:endParaRPr lang="en-US" sz="2400" baseline="-25000" dirty="0">
              <a:latin typeface="Times" pitchFamily="2" charset="0"/>
            </a:endParaRPr>
          </a:p>
        </p:txBody>
      </p:sp>
      <p:sp>
        <p:nvSpPr>
          <p:cNvPr id="70" name="TextBox 69">
            <a:extLst>
              <a:ext uri="{FF2B5EF4-FFF2-40B4-BE49-F238E27FC236}">
                <a16:creationId xmlns:a16="http://schemas.microsoft.com/office/drawing/2014/main" id="{DBE89736-B595-EC06-0453-2BB411A324E4}"/>
              </a:ext>
            </a:extLst>
          </p:cNvPr>
          <p:cNvSpPr txBox="1"/>
          <p:nvPr/>
        </p:nvSpPr>
        <p:spPr>
          <a:xfrm>
            <a:off x="7247299" y="3795558"/>
            <a:ext cx="1909763" cy="461665"/>
          </a:xfrm>
          <a:prstGeom prst="rect">
            <a:avLst/>
          </a:prstGeom>
          <a:noFill/>
        </p:spPr>
        <p:txBody>
          <a:bodyPr wrap="square" rtlCol="0">
            <a:spAutoFit/>
          </a:bodyPr>
          <a:lstStyle/>
          <a:p>
            <a:pPr/>
            <a:r>
              <a:rPr lang="en-US" sz="2400" dirty="0">
                <a:solidFill/>
                <a:latin typeface="Times" pitchFamily="2" charset="0"/>
              </a:rPr>
              <a:t>(</a:t>
            </a:r>
            <a:r>
              <a:rPr lang="en-US" sz="2400" b="1" dirty="0">
                <a:solidFill/>
                <a:latin typeface="Times" pitchFamily="2" charset="0"/>
              </a:rPr>
              <a:t>6.7b</a:t>
            </a:r>
            <a:r>
              <a:rPr lang="en-US" sz="2400" dirty="0">
                <a:solidFill/>
                <a:latin typeface="Times" pitchFamily="2" charset="0"/>
              </a:rPr>
              <a:t>)</a:t>
            </a:r>
          </a:p>
        </p:txBody>
      </p:sp>
      <p:sp>
        <p:nvSpPr>
          <p:cNvPr id="71" name="TextBox 70">
            <a:extLst>
              <a:ext uri="{FF2B5EF4-FFF2-40B4-BE49-F238E27FC236}">
                <a16:creationId xmlns:a16="http://schemas.microsoft.com/office/drawing/2014/main" id="{9FCED848-FB0C-44BA-6C62-96C21B671EE8}"/>
              </a:ext>
            </a:extLst>
          </p:cNvPr>
          <p:cNvSpPr txBox="1"/>
          <p:nvPr/>
        </p:nvSpPr>
        <p:spPr>
          <a:xfrm>
            <a:off x="11237118" y="1857902"/>
            <a:ext cx="1303225" cy="461665"/>
          </a:xfrm>
          <a:prstGeom prst="rect">
            <a:avLst/>
          </a:prstGeom>
          <a:noFill/>
        </p:spPr>
        <p:txBody>
          <a:bodyPr wrap="square" rtlCol="0">
            <a:spAutoFit/>
          </a:bodyPr>
          <a:lstStyle/>
          <a:p>
            <a:pPr/>
            <a:r>
              <a:rPr lang="en-US" sz="2400" dirty="0">
                <a:solidFill/>
                <a:latin typeface="Times" pitchFamily="2" charset="0"/>
              </a:rPr>
              <a:t>(</a:t>
            </a:r>
            <a:r>
              <a:rPr lang="en-US" sz="2400" b="1" dirty="0">
                <a:solidFill/>
                <a:latin typeface="Times" pitchFamily="2" charset="0"/>
              </a:rPr>
              <a:t>6.7a</a:t>
            </a:r>
            <a:r>
              <a:rPr lang="en-US" sz="2400" dirty="0">
                <a:solidFill/>
                <a:latin typeface="Times" pitchFamily="2" charset="0"/>
              </a:rPr>
              <a:t>)</a:t>
            </a:r>
          </a:p>
        </p:txBody>
      </p:sp>
      <p:grpSp>
        <p:nvGrpSpPr>
          <p:cNvPr id="74" name="Group 73">
            <a:extLst>
              <a:ext uri="{FF2B5EF4-FFF2-40B4-BE49-F238E27FC236}">
                <a16:creationId xmlns:a16="http://schemas.microsoft.com/office/drawing/2014/main" id="{C19C08EC-4DF2-D019-3A7D-971B387550E3}"/>
              </a:ext>
            </a:extLst>
          </p:cNvPr>
          <p:cNvGrpSpPr/>
          <p:nvPr/>
        </p:nvGrpSpPr>
        <p:grpSpPr>
          <a:xfrm>
            <a:off x="561703" y="4846320"/>
            <a:ext cx="11299371" cy="1254034"/>
            <a:chOff x="561703" y="4846320"/>
            <a:chExt cx="11299371" cy="1254034"/>
          </a:xfrm>
        </p:grpSpPr>
        <p:sp>
          <p:nvSpPr>
            <p:cNvPr id="72" name="TextBox 71">
              <a:extLst>
                <a:ext uri="{FF2B5EF4-FFF2-40B4-BE49-F238E27FC236}">
                  <a16:creationId xmlns:a16="http://schemas.microsoft.com/office/drawing/2014/main" id="{CCCE94E9-1CA5-699E-B067-857581D7B3A6}"/>
                </a:ext>
              </a:extLst>
            </p:cNvPr>
            <p:cNvSpPr txBox="1"/>
            <p:nvPr/>
          </p:nvSpPr>
          <p:spPr>
            <a:xfrm>
              <a:off x="572626" y="4866530"/>
              <a:ext cx="11236197" cy="1200329"/>
            </a:xfrm>
            <a:prstGeom prst="rect">
              <a:avLst/>
            </a:prstGeom>
            <a:noFill/>
          </p:spPr>
          <p:txBody>
            <a:bodyPr wrap="square" rtlCol="0">
              <a:spAutoFit/>
            </a:bodyPr>
            <a:lstStyle/>
            <a:p>
              <a:pPr algn="just"/>
              <a:r>
                <a:rPr lang="en-US" sz="2400" dirty="0">
                  <a:solidFill/>
                  <a:latin typeface="Times" pitchFamily="2" charset="0"/>
                </a:rPr>
                <a:t>Equations 6.7a and 6.7b are alternative forms of the </a:t>
              </a:r>
              <a:r>
                <a:rPr lang="en-US" sz="2400" dirty="0">
                  <a:solidFill>
                    <a:srgbClr val="007440"/>
                  </a:solidFill>
                  <a:latin typeface="Times" pitchFamily="2" charset="0"/>
                </a:rPr>
                <a:t>Work-Energy Theorem</a:t>
              </a:r>
              <a:r>
                <a:rPr lang="en-US" sz="2400" dirty="0">
                  <a:solidFill/>
                  <a:latin typeface="Times" pitchFamily="2" charset="0"/>
                </a:rPr>
                <a:t>, which can be useful, for example, in extracting information about the work done by the nonconservative forces acting on an object.</a:t>
              </a:r>
            </a:p>
          </p:txBody>
        </p:sp>
        <p:sp>
          <p:nvSpPr>
            <p:cNvPr id="73" name="Rectangle 72">
              <a:extLst>
                <a:ext uri="{FF2B5EF4-FFF2-40B4-BE49-F238E27FC236}">
                  <a16:creationId xmlns:a16="http://schemas.microsoft.com/office/drawing/2014/main" id="{8044AF6D-4CF9-2AA1-FC2F-CB39E041AF0F}"/>
                </a:ext>
              </a:extLst>
            </p:cNvPr>
            <p:cNvSpPr/>
            <p:nvPr/>
          </p:nvSpPr>
          <p:spPr>
            <a:xfrm>
              <a:off x="561703" y="4846320"/>
              <a:ext cx="11299371" cy="1254034"/>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53927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dissolv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dissolve">
                                      <p:cBhvr>
                                        <p:cTn id="17" dur="500"/>
                                        <p:tgtEl>
                                          <p:spTgt spid="43"/>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45"/>
                                        </p:tgtEl>
                                        <p:attrNameLst>
                                          <p:attrName>style.visibility</p:attrName>
                                        </p:attrNameLst>
                                      </p:cBhvr>
                                      <p:to>
                                        <p:strVal val="visible"/>
                                      </p:to>
                                    </p:set>
                                    <p:animEffect transition="in" filter="dissolve">
                                      <p:cBhvr>
                                        <p:cTn id="21" dur="500"/>
                                        <p:tgtEl>
                                          <p:spTgt spid="45"/>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47"/>
                                        </p:tgtEl>
                                        <p:attrNameLst>
                                          <p:attrName>style.visibility</p:attrName>
                                        </p:attrNameLst>
                                      </p:cBhvr>
                                      <p:to>
                                        <p:strVal val="visible"/>
                                      </p:to>
                                    </p:set>
                                    <p:animEffect transition="in" filter="dissolve">
                                      <p:cBhvr>
                                        <p:cTn id="26" dur="500"/>
                                        <p:tgtEl>
                                          <p:spTgt spid="47"/>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64"/>
                                        </p:tgtEl>
                                        <p:attrNameLst>
                                          <p:attrName>style.visibility</p:attrName>
                                        </p:attrNameLst>
                                      </p:cBhvr>
                                      <p:to>
                                        <p:strVal val="visible"/>
                                      </p:to>
                                    </p:set>
                                    <p:animEffect transition="in" filter="dissolve">
                                      <p:cBhvr>
                                        <p:cTn id="31" dur="500"/>
                                        <p:tgtEl>
                                          <p:spTgt spid="64"/>
                                        </p:tgtEl>
                                      </p:cBhvr>
                                    </p:animEffect>
                                  </p:childTnLst>
                                </p:cTn>
                              </p:par>
                            </p:childTnLst>
                          </p:cTn>
                        </p:par>
                        <p:par>
                          <p:cTn id="32" fill="hold">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71"/>
                                        </p:tgtEl>
                                        <p:attrNameLst>
                                          <p:attrName>style.visibility</p:attrName>
                                        </p:attrNameLst>
                                      </p:cBhvr>
                                      <p:to>
                                        <p:strVal val="visible"/>
                                      </p:to>
                                    </p:set>
                                    <p:animEffect transition="in" filter="dissolve">
                                      <p:cBhvr>
                                        <p:cTn id="35" dur="500"/>
                                        <p:tgtEl>
                                          <p:spTgt spid="71"/>
                                        </p:tgtEl>
                                      </p:cBhvr>
                                    </p:animEffect>
                                  </p:childTnLst>
                                </p:cTn>
                              </p:par>
                            </p:childTnLst>
                          </p:cTn>
                        </p:par>
                        <p:par>
                          <p:cTn id="36" fill="hold">
                            <p:stCondLst>
                              <p:cond delay="1000"/>
                            </p:stCondLst>
                            <p:childTnLst>
                              <p:par>
                                <p:cTn id="37" presetID="9" presetClass="entr" presetSubtype="0" fill="hold" nodeType="afterEffect">
                                  <p:stCondLst>
                                    <p:cond delay="0"/>
                                  </p:stCondLst>
                                  <p:childTnLst>
                                    <p:set>
                                      <p:cBhvr>
                                        <p:cTn id="38" dur="1" fill="hold">
                                          <p:stCondLst>
                                            <p:cond delay="0"/>
                                          </p:stCondLst>
                                        </p:cTn>
                                        <p:tgtEl>
                                          <p:spTgt spid="69"/>
                                        </p:tgtEl>
                                        <p:attrNameLst>
                                          <p:attrName>style.visibility</p:attrName>
                                        </p:attrNameLst>
                                      </p:cBhvr>
                                      <p:to>
                                        <p:strVal val="visible"/>
                                      </p:to>
                                    </p:set>
                                    <p:animEffect transition="in" filter="dissolve">
                                      <p:cBhvr>
                                        <p:cTn id="39" dur="500"/>
                                        <p:tgtEl>
                                          <p:spTgt spid="69"/>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66"/>
                                        </p:tgtEl>
                                        <p:attrNameLst>
                                          <p:attrName>style.visibility</p:attrName>
                                        </p:attrNameLst>
                                      </p:cBhvr>
                                      <p:to>
                                        <p:strVal val="visible"/>
                                      </p:to>
                                    </p:set>
                                    <p:animEffect transition="in" filter="dissolve">
                                      <p:cBhvr>
                                        <p:cTn id="44" dur="500"/>
                                        <p:tgtEl>
                                          <p:spTgt spid="66"/>
                                        </p:tgtEl>
                                      </p:cBhvr>
                                    </p:animEffect>
                                  </p:childTnLst>
                                </p:cTn>
                              </p:par>
                            </p:childTnLst>
                          </p:cTn>
                        </p:par>
                        <p:par>
                          <p:cTn id="45" fill="hold">
                            <p:stCondLst>
                              <p:cond delay="500"/>
                            </p:stCondLst>
                            <p:childTnLst>
                              <p:par>
                                <p:cTn id="46" presetID="9" presetClass="entr" presetSubtype="0" fill="hold" grpId="0" nodeType="afterEffect">
                                  <p:stCondLst>
                                    <p:cond delay="0"/>
                                  </p:stCondLst>
                                  <p:childTnLst>
                                    <p:set>
                                      <p:cBhvr>
                                        <p:cTn id="47" dur="1" fill="hold">
                                          <p:stCondLst>
                                            <p:cond delay="0"/>
                                          </p:stCondLst>
                                        </p:cTn>
                                        <p:tgtEl>
                                          <p:spTgt spid="70"/>
                                        </p:tgtEl>
                                        <p:attrNameLst>
                                          <p:attrName>style.visibility</p:attrName>
                                        </p:attrNameLst>
                                      </p:cBhvr>
                                      <p:to>
                                        <p:strVal val="visible"/>
                                      </p:to>
                                    </p:set>
                                    <p:animEffect transition="in" filter="dissolve">
                                      <p:cBhvr>
                                        <p:cTn id="48" dur="500"/>
                                        <p:tgtEl>
                                          <p:spTgt spid="70"/>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nodeType="clickEffect">
                                  <p:stCondLst>
                                    <p:cond delay="0"/>
                                  </p:stCondLst>
                                  <p:childTnLst>
                                    <p:set>
                                      <p:cBhvr>
                                        <p:cTn id="52" dur="1" fill="hold">
                                          <p:stCondLst>
                                            <p:cond delay="0"/>
                                          </p:stCondLst>
                                        </p:cTn>
                                        <p:tgtEl>
                                          <p:spTgt spid="74"/>
                                        </p:tgtEl>
                                        <p:attrNameLst>
                                          <p:attrName>style.visibility</p:attrName>
                                        </p:attrNameLst>
                                      </p:cBhvr>
                                      <p:to>
                                        <p:strVal val="visible"/>
                                      </p:to>
                                    </p:set>
                                    <p:animEffect transition="in" filter="dissolve">
                                      <p:cBhvr>
                                        <p:cTn id="53"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47" grpId="0"/>
      <p:bldP spid="45" grpId="0"/>
      <p:bldP spid="66" grpId="0"/>
      <p:bldP spid="70" grpId="0"/>
      <p:bldP spid="7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F4D61-F8BB-B9F1-22C4-8C12798CC8C1}"/>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2F980850-A53D-0843-F55F-F64CAA135F31}"/>
              </a:ext>
            </a:extLst>
          </p:cNvPr>
          <p:cNvSpPr/>
          <p:nvPr/>
        </p:nvSpPr>
        <p:spPr>
          <a:xfrm>
            <a:off x="0" y="861392"/>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737BC7-CCE1-17D5-5603-8ADEDB8489EE}"/>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6.5</a:t>
            </a:r>
            <a:r>
              <a:rPr lang="en-US" dirty="0">
                <a:solidFill/>
                <a:ea typeface="Calibri" charset="0"/>
                <a:cs typeface="Calibri" charset="0"/>
              </a:rPr>
              <a:t> The Conservation of Mechanical Energy</a:t>
            </a:r>
            <a:endParaRPr lang="en-US" sz="3000" dirty="0"/>
          </a:p>
        </p:txBody>
      </p:sp>
      <p:sp>
        <p:nvSpPr>
          <p:cNvPr id="5" name="Content Placeholder 2">
            <a:extLst>
              <a:ext uri="{FF2B5EF4-FFF2-40B4-BE49-F238E27FC236}">
                <a16:creationId xmlns:a16="http://schemas.microsoft.com/office/drawing/2014/main" id="{A7ED0D42-8E51-46A3-0075-16637AF114E1}"/>
              </a:ext>
            </a:extLst>
          </p:cNvPr>
          <p:cNvSpPr txBox="1">
            <a:spLocks/>
          </p:cNvSpPr>
          <p:nvPr/>
        </p:nvSpPr>
        <p:spPr>
          <a:xfrm>
            <a:off x="959715" y="941831"/>
            <a:ext cx="10820401" cy="542409"/>
          </a:xfrm>
          <a:prstGeom prst="rect">
            <a:avLst/>
          </a:prstGeom>
        </p:spPr>
        <p:txBody>
          <a:bodyPr vert="horz" lIns="91440" tIns="45720" rIns="91440" bIns="45720" rtlCol="0">
            <a:normAutofit fontScale="92500"/>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6.5 </a:t>
            </a:r>
            <a:r>
              <a:rPr lang="en-US" dirty="0">
                <a:solidFill/>
              </a:rPr>
              <a:t>– Use the law of conservation of mechanical energy.</a:t>
            </a:r>
          </a:p>
        </p:txBody>
      </p:sp>
      <p:grpSp>
        <p:nvGrpSpPr>
          <p:cNvPr id="7" name="Group 6">
            <a:extLst>
              <a:ext uri="{FF2B5EF4-FFF2-40B4-BE49-F238E27FC236}">
                <a16:creationId xmlns:a16="http://schemas.microsoft.com/office/drawing/2014/main" id="{1007F123-1D1F-0493-9E1D-ACDB5855E801}"/>
              </a:ext>
            </a:extLst>
          </p:cNvPr>
          <p:cNvGrpSpPr/>
          <p:nvPr/>
        </p:nvGrpSpPr>
        <p:grpSpPr>
          <a:xfrm>
            <a:off x="161677" y="1615193"/>
            <a:ext cx="9217455" cy="830997"/>
            <a:chOff x="161677" y="1615193"/>
            <a:chExt cx="9217455" cy="830997"/>
          </a:xfrm>
        </p:grpSpPr>
        <p:sp>
          <p:nvSpPr>
            <p:cNvPr id="4" name="TextBox 3">
              <a:extLst>
                <a:ext uri="{FF2B5EF4-FFF2-40B4-BE49-F238E27FC236}">
                  <a16:creationId xmlns:a16="http://schemas.microsoft.com/office/drawing/2014/main" id="{1811D7BD-978C-B38D-F907-90551E2DE5C7}"/>
                </a:ext>
              </a:extLst>
            </p:cNvPr>
            <p:cNvSpPr txBox="1"/>
            <p:nvPr/>
          </p:nvSpPr>
          <p:spPr>
            <a:xfrm>
              <a:off x="161677" y="1615193"/>
              <a:ext cx="4749957" cy="830997"/>
            </a:xfrm>
            <a:prstGeom prst="rect">
              <a:avLst/>
            </a:prstGeom>
            <a:noFill/>
          </p:spPr>
          <p:txBody>
            <a:bodyPr wrap="square">
              <a:spAutoFit/>
            </a:bodyPr>
            <a:lstStyle/>
            <a:p>
              <a:pPr algn="just"/>
              <a:r>
                <a:rPr lang="en-US" sz="2400" dirty="0">
                  <a:solidFill/>
                  <a:latin typeface="Times" pitchFamily="2" charset="0"/>
                </a:rPr>
                <a:t>To this point, we accept that objects can possess two types of energy: </a:t>
              </a:r>
            </a:p>
          </p:txBody>
        </p:sp>
        <p:sp>
          <p:nvSpPr>
            <p:cNvPr id="3" name="Rounded Rectangle 2">
              <a:extLst>
                <a:ext uri="{FF2B5EF4-FFF2-40B4-BE49-F238E27FC236}">
                  <a16:creationId xmlns:a16="http://schemas.microsoft.com/office/drawing/2014/main" id="{C7F269F7-DEFB-2582-6876-9063FE8E2D2D}"/>
                </a:ext>
              </a:extLst>
            </p:cNvPr>
            <p:cNvSpPr/>
            <p:nvPr/>
          </p:nvSpPr>
          <p:spPr>
            <a:xfrm>
              <a:off x="5042264" y="1645919"/>
              <a:ext cx="4336868" cy="7968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525B9492-A6F6-DAA5-5E71-31646E799D95}"/>
              </a:ext>
            </a:extLst>
          </p:cNvPr>
          <p:cNvSpPr txBox="1"/>
          <p:nvPr/>
        </p:nvSpPr>
        <p:spPr>
          <a:xfrm>
            <a:off x="5107575" y="1724299"/>
            <a:ext cx="4376057" cy="707886"/>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Kinetic (KE)</a:t>
            </a:r>
          </a:p>
          <a:p>
            <a:pPr/>
            <a:r>
              <a:rPr lang="en-US" sz="2000" dirty="0">
                <a:solidFill>
                  <a:srgbClr val="007440"/>
                </a:solidFill>
                <a:latin typeface="Chalkduster" panose="03050602040202020205" pitchFamily="66" charset="77"/>
              </a:rPr>
              <a:t>Gravitational Potential (PE)</a:t>
            </a:r>
          </a:p>
        </p:txBody>
      </p:sp>
      <p:grpSp>
        <p:nvGrpSpPr>
          <p:cNvPr id="16" name="Group 15">
            <a:extLst>
              <a:ext uri="{FF2B5EF4-FFF2-40B4-BE49-F238E27FC236}">
                <a16:creationId xmlns:a16="http://schemas.microsoft.com/office/drawing/2014/main" id="{47BFBE79-7905-FE49-9F37-F051F8E8A977}"/>
              </a:ext>
            </a:extLst>
          </p:cNvPr>
          <p:cNvGrpSpPr/>
          <p:nvPr/>
        </p:nvGrpSpPr>
        <p:grpSpPr>
          <a:xfrm>
            <a:off x="144260" y="2786496"/>
            <a:ext cx="10593409" cy="830997"/>
            <a:chOff x="144260" y="2786496"/>
            <a:chExt cx="10593409" cy="830997"/>
          </a:xfrm>
        </p:grpSpPr>
        <p:sp>
          <p:nvSpPr>
            <p:cNvPr id="14" name="TextBox 13">
              <a:extLst>
                <a:ext uri="{FF2B5EF4-FFF2-40B4-BE49-F238E27FC236}">
                  <a16:creationId xmlns:a16="http://schemas.microsoft.com/office/drawing/2014/main" id="{4741BFB3-1DB6-B3CA-FDA9-D7FA903830F5}"/>
                </a:ext>
              </a:extLst>
            </p:cNvPr>
            <p:cNvSpPr txBox="1"/>
            <p:nvPr/>
          </p:nvSpPr>
          <p:spPr>
            <a:xfrm>
              <a:off x="144260" y="2786496"/>
              <a:ext cx="8137591" cy="830997"/>
            </a:xfrm>
            <a:prstGeom prst="rect">
              <a:avLst/>
            </a:prstGeom>
            <a:noFill/>
          </p:spPr>
          <p:txBody>
            <a:bodyPr wrap="square">
              <a:spAutoFit/>
            </a:bodyPr>
            <a:lstStyle/>
            <a:p>
              <a:pPr algn="just"/>
              <a:r>
                <a:rPr lang="en-US" sz="2400" dirty="0">
                  <a:solidFill/>
                  <a:latin typeface="Times" pitchFamily="2" charset="0"/>
                </a:rPr>
                <a:t>It then follows that the </a:t>
              </a:r>
              <a:r>
                <a:rPr lang="en-US" sz="2400" b="1" dirty="0">
                  <a:solidFill/>
                  <a:latin typeface="Times" pitchFamily="2" charset="0"/>
                </a:rPr>
                <a:t>total energy</a:t>
              </a:r>
              <a:r>
                <a:rPr lang="en-US" sz="2400" dirty="0">
                  <a:solidFill/>
                  <a:latin typeface="Times" pitchFamily="2" charset="0"/>
                </a:rPr>
                <a:t> of an object (referred to as the </a:t>
              </a:r>
              <a:r>
                <a:rPr lang="en-US" sz="2400" dirty="0">
                  <a:solidFill>
                    <a:srgbClr val="007440"/>
                  </a:solidFill>
                  <a:latin typeface="Times" pitchFamily="2" charset="0"/>
                </a:rPr>
                <a:t>Total Mechanical Energy</a:t>
              </a:r>
              <a:r>
                <a:rPr lang="en-US" sz="2400" dirty="0">
                  <a:solidFill/>
                  <a:latin typeface="Times" pitchFamily="2" charset="0"/>
                </a:rPr>
                <a:t>, or </a:t>
              </a:r>
              <a:r>
                <a:rPr lang="en-US" sz="2400" i="1" dirty="0">
                  <a:solidFill>
                    <a:srgbClr val="007440"/>
                  </a:solidFill>
                  <a:latin typeface="Times" pitchFamily="2" charset="0"/>
                </a:rPr>
                <a:t>E</a:t>
              </a:r>
              <a:r>
                <a:rPr lang="en-US" sz="2400" dirty="0">
                  <a:solidFill/>
                  <a:latin typeface="Times" pitchFamily="2" charset="0"/>
                </a:rPr>
                <a:t>) is just the sum of these two:</a:t>
              </a:r>
            </a:p>
          </p:txBody>
        </p:sp>
        <p:sp>
          <p:nvSpPr>
            <p:cNvPr id="15" name="Rounded Rectangle 14">
              <a:extLst>
                <a:ext uri="{FF2B5EF4-FFF2-40B4-BE49-F238E27FC236}">
                  <a16:creationId xmlns:a16="http://schemas.microsoft.com/office/drawing/2014/main" id="{E58318AD-CA84-4177-0B5D-76EA02D999D0}"/>
                </a:ext>
              </a:extLst>
            </p:cNvPr>
            <p:cNvSpPr/>
            <p:nvPr/>
          </p:nvSpPr>
          <p:spPr>
            <a:xfrm>
              <a:off x="8856618" y="2978331"/>
              <a:ext cx="1881051"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TextBox 16">
            <a:extLst>
              <a:ext uri="{FF2B5EF4-FFF2-40B4-BE49-F238E27FC236}">
                <a16:creationId xmlns:a16="http://schemas.microsoft.com/office/drawing/2014/main" id="{75D8EC3C-5614-216D-9969-27CA52E5C885}"/>
              </a:ext>
            </a:extLst>
          </p:cNvPr>
          <p:cNvSpPr txBox="1"/>
          <p:nvPr/>
        </p:nvSpPr>
        <p:spPr>
          <a:xfrm>
            <a:off x="8895806" y="3004456"/>
            <a:ext cx="2220686" cy="461665"/>
          </a:xfrm>
          <a:prstGeom prst="rect">
            <a:avLst/>
          </a:prstGeom>
          <a:noFill/>
        </p:spPr>
        <p:txBody>
          <a:bodyPr wrap="square" rtlCol="0">
            <a:spAutoFit/>
          </a:bodyPr>
          <a:lstStyle/>
          <a:p>
            <a:pPr/>
            <a:r>
              <a:rPr lang="en-US" sz="2400" i="1" dirty="0">
                <a:solidFill/>
                <a:latin typeface="Times" pitchFamily="2" charset="0"/>
              </a:rPr>
              <a:t>E</a:t>
            </a:r>
            <a:r>
              <a:rPr lang="en-US" sz="2400" dirty="0">
                <a:solidFill/>
                <a:latin typeface="Times" pitchFamily="2" charset="0"/>
              </a:rPr>
              <a:t> = KE + PE</a:t>
            </a:r>
          </a:p>
        </p:txBody>
      </p:sp>
      <p:sp>
        <p:nvSpPr>
          <p:cNvPr id="18" name="TextBox 17">
            <a:extLst>
              <a:ext uri="{FF2B5EF4-FFF2-40B4-BE49-F238E27FC236}">
                <a16:creationId xmlns:a16="http://schemas.microsoft.com/office/drawing/2014/main" id="{7B6810C7-0EB0-1A93-8C6F-30CA213490AA}"/>
              </a:ext>
            </a:extLst>
          </p:cNvPr>
          <p:cNvSpPr txBox="1"/>
          <p:nvPr/>
        </p:nvSpPr>
        <p:spPr>
          <a:xfrm>
            <a:off x="152969" y="3801044"/>
            <a:ext cx="10767580" cy="830997"/>
          </a:xfrm>
          <a:prstGeom prst="rect">
            <a:avLst/>
          </a:prstGeom>
          <a:noFill/>
        </p:spPr>
        <p:txBody>
          <a:bodyPr wrap="square">
            <a:spAutoFit/>
          </a:bodyPr>
          <a:lstStyle/>
          <a:p>
            <a:pPr algn="just"/>
            <a:r>
              <a:rPr lang="en-US" sz="2400" dirty="0">
                <a:solidFill/>
                <a:latin typeface="Times" pitchFamily="2" charset="0"/>
              </a:rPr>
              <a:t>This allows us to rewrite the work-energy theorem in Equation 6.7b in terms of the </a:t>
            </a:r>
            <a:r>
              <a:rPr lang="en-US" sz="2400" dirty="0">
                <a:solidFill>
                  <a:srgbClr val="007440"/>
                </a:solidFill>
                <a:latin typeface="Times" pitchFamily="2" charset="0"/>
              </a:rPr>
              <a:t>Total Mechanical Energy</a:t>
            </a:r>
            <a:r>
              <a:rPr lang="en-US" sz="2400" dirty="0">
                <a:solidFill/>
                <a:latin typeface="Times" pitchFamily="2" charset="0"/>
              </a:rPr>
              <a:t>:</a:t>
            </a:r>
          </a:p>
        </p:txBody>
      </p:sp>
      <p:sp>
        <p:nvSpPr>
          <p:cNvPr id="19" name="TextBox 18">
            <a:extLst>
              <a:ext uri="{FF2B5EF4-FFF2-40B4-BE49-F238E27FC236}">
                <a16:creationId xmlns:a16="http://schemas.microsoft.com/office/drawing/2014/main" id="{8883D0A9-DAE9-7901-150C-69D4B96E5EA9}"/>
              </a:ext>
            </a:extLst>
          </p:cNvPr>
          <p:cNvSpPr txBox="1"/>
          <p:nvPr/>
        </p:nvSpPr>
        <p:spPr>
          <a:xfrm>
            <a:off x="122370" y="4744077"/>
            <a:ext cx="2776923"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dirty="0">
                <a:solidFill/>
                <a:latin typeface="Symbol" pitchFamily="2" charset="2"/>
              </a:rPr>
              <a:t>D</a:t>
            </a:r>
            <a:r>
              <a:rPr lang="en-US" sz="2400" dirty="0">
                <a:solidFill/>
                <a:latin typeface="Times" pitchFamily="2" charset="0"/>
              </a:rPr>
              <a:t>KE + </a:t>
            </a:r>
            <a:r>
              <a:rPr lang="en-US" sz="2400" dirty="0">
                <a:solidFill/>
                <a:latin typeface="Symbol" pitchFamily="2" charset="2"/>
              </a:rPr>
              <a:t>D</a:t>
            </a:r>
            <a:r>
              <a:rPr lang="en-US" sz="2400" dirty="0">
                <a:solidFill/>
                <a:latin typeface="Times" pitchFamily="2" charset="0"/>
              </a:rPr>
              <a:t>PE</a:t>
            </a:r>
            <a:endParaRPr lang="en-US" sz="2400" baseline="-25000" dirty="0">
              <a:latin typeface="Times" pitchFamily="2" charset="0"/>
            </a:endParaRPr>
          </a:p>
        </p:txBody>
      </p:sp>
      <p:sp>
        <p:nvSpPr>
          <p:cNvPr id="20" name="TextBox 19">
            <a:extLst>
              <a:ext uri="{FF2B5EF4-FFF2-40B4-BE49-F238E27FC236}">
                <a16:creationId xmlns:a16="http://schemas.microsoft.com/office/drawing/2014/main" id="{EEA3B39D-3FB6-986D-0FB8-01D58D0169F0}"/>
              </a:ext>
            </a:extLst>
          </p:cNvPr>
          <p:cNvSpPr txBox="1"/>
          <p:nvPr/>
        </p:nvSpPr>
        <p:spPr>
          <a:xfrm>
            <a:off x="2586896" y="4744077"/>
            <a:ext cx="3957596" cy="461665"/>
          </a:xfrm>
          <a:prstGeom prst="rect">
            <a:avLst/>
          </a:prstGeom>
          <a:noFill/>
        </p:spPr>
        <p:txBody>
          <a:bodyPr wrap="square" rtlCol="0">
            <a:spAutoFit/>
          </a:bodyPr>
          <a:lstStyle/>
          <a:p>
            <a:pPr/>
            <a:r>
              <a:rPr lang="en-US" sz="2400" dirty="0">
                <a:solidFill/>
                <a:latin typeface="Times" pitchFamily="2" charset="0"/>
              </a:rPr>
              <a:t>= </a:t>
            </a:r>
            <a:r>
              <a:rPr lang="en-US" sz="2400" dirty="0" err="1">
                <a:solidFill/>
                <a:latin typeface="Times" pitchFamily="2" charset="0"/>
              </a:rPr>
              <a:t>KE</a:t>
            </a:r>
            <a:r>
              <a:rPr lang="en-US" sz="2400" baseline="-25000" dirty="0" err="1">
                <a:solidFill/>
                <a:latin typeface="Times" pitchFamily="2" charset="0"/>
              </a:rPr>
              <a:t>f</a:t>
            </a:r>
            <a:r>
              <a:rPr lang="en-US" sz="2400" dirty="0">
                <a:solidFill/>
                <a:latin typeface="Times" pitchFamily="2" charset="0"/>
              </a:rPr>
              <a:t> – KE</a:t>
            </a:r>
            <a:r>
              <a:rPr lang="en-US" sz="2400" baseline="-25000" dirty="0">
                <a:solidFill/>
                <a:latin typeface="Times" pitchFamily="2" charset="0"/>
              </a:rPr>
              <a:t>0</a:t>
            </a:r>
            <a:r>
              <a:rPr lang="en-US" sz="2400" dirty="0">
                <a:solidFill/>
                <a:latin typeface="Times" pitchFamily="2" charset="0"/>
              </a:rPr>
              <a:t> + </a:t>
            </a:r>
            <a:r>
              <a:rPr lang="en-US" sz="2400" dirty="0" err="1">
                <a:solidFill/>
                <a:latin typeface="Times" pitchFamily="2" charset="0"/>
              </a:rPr>
              <a:t>PE</a:t>
            </a:r>
            <a:r>
              <a:rPr lang="en-US" sz="2400" baseline="-25000" dirty="0" err="1">
                <a:solidFill/>
                <a:latin typeface="Times" pitchFamily="2" charset="0"/>
              </a:rPr>
              <a:t>f</a:t>
            </a:r>
            <a:r>
              <a:rPr lang="en-US" sz="2400" dirty="0">
                <a:solidFill/>
                <a:latin typeface="Times" pitchFamily="2" charset="0"/>
              </a:rPr>
              <a:t> – PE</a:t>
            </a:r>
            <a:r>
              <a:rPr lang="en-US" sz="2400" baseline="-25000" dirty="0">
                <a:solidFill/>
                <a:latin typeface="Times" pitchFamily="2" charset="0"/>
              </a:rPr>
              <a:t>0</a:t>
            </a:r>
          </a:p>
        </p:txBody>
      </p:sp>
      <p:sp>
        <p:nvSpPr>
          <p:cNvPr id="21" name="TextBox 20">
            <a:extLst>
              <a:ext uri="{FF2B5EF4-FFF2-40B4-BE49-F238E27FC236}">
                <a16:creationId xmlns:a16="http://schemas.microsoft.com/office/drawing/2014/main" id="{F6BCC790-7FC3-84E7-3DF9-22F191852F60}"/>
              </a:ext>
            </a:extLst>
          </p:cNvPr>
          <p:cNvSpPr txBox="1"/>
          <p:nvPr/>
        </p:nvSpPr>
        <p:spPr>
          <a:xfrm>
            <a:off x="6109632" y="4750278"/>
            <a:ext cx="6082368" cy="461665"/>
          </a:xfrm>
          <a:prstGeom prst="rect">
            <a:avLst/>
          </a:prstGeom>
          <a:noFill/>
        </p:spPr>
        <p:txBody>
          <a:bodyPr wrap="square">
            <a:spAutoFit/>
          </a:bodyPr>
          <a:lstStyle/>
          <a:p>
            <a:pPr algn="just"/>
            <a:r>
              <a:rPr lang="en-US" sz="2400" dirty="0">
                <a:solidFill/>
                <a:latin typeface="Times" pitchFamily="2" charset="0"/>
              </a:rPr>
              <a:t>Now let’s group the initial and final terms:</a:t>
            </a:r>
          </a:p>
        </p:txBody>
      </p:sp>
      <p:sp>
        <p:nvSpPr>
          <p:cNvPr id="22" name="TextBox 21">
            <a:extLst>
              <a:ext uri="{FF2B5EF4-FFF2-40B4-BE49-F238E27FC236}">
                <a16:creationId xmlns:a16="http://schemas.microsoft.com/office/drawing/2014/main" id="{B4BF7224-3450-D0B9-911F-0378889B26E9}"/>
              </a:ext>
            </a:extLst>
          </p:cNvPr>
          <p:cNvSpPr txBox="1"/>
          <p:nvPr/>
        </p:nvSpPr>
        <p:spPr>
          <a:xfrm>
            <a:off x="126725" y="5327551"/>
            <a:ext cx="4588968"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dirty="0" err="1">
                <a:solidFill/>
                <a:latin typeface="Times" pitchFamily="2" charset="0"/>
              </a:rPr>
              <a:t>KE</a:t>
            </a:r>
            <a:r>
              <a:rPr lang="en-US" sz="2400" baseline="-25000" dirty="0" err="1">
                <a:solidFill/>
                <a:latin typeface="Times" pitchFamily="2" charset="0"/>
              </a:rPr>
              <a:t>f</a:t>
            </a:r>
            <a:r>
              <a:rPr lang="en-US" sz="2400" baseline="-25000" dirty="0">
                <a:solidFill/>
                <a:latin typeface="Times" pitchFamily="2" charset="0"/>
              </a:rPr>
              <a:t> </a:t>
            </a:r>
            <a:r>
              <a:rPr lang="en-US" sz="2400" dirty="0">
                <a:solidFill/>
                <a:latin typeface="Times" pitchFamily="2" charset="0"/>
              </a:rPr>
              <a:t> + </a:t>
            </a:r>
            <a:r>
              <a:rPr lang="en-US" sz="2400" dirty="0" err="1">
                <a:solidFill/>
                <a:latin typeface="Times" pitchFamily="2" charset="0"/>
              </a:rPr>
              <a:t>PE</a:t>
            </a:r>
            <a:r>
              <a:rPr lang="en-US" sz="2400" baseline="-25000" dirty="0" err="1">
                <a:solidFill/>
                <a:latin typeface="Times" pitchFamily="2" charset="0"/>
              </a:rPr>
              <a:t>f</a:t>
            </a:r>
            <a:r>
              <a:rPr lang="en-US" sz="2400" dirty="0">
                <a:solidFill/>
                <a:latin typeface="Times" pitchFamily="2" charset="0"/>
              </a:rPr>
              <a:t> – (KE</a:t>
            </a:r>
            <a:r>
              <a:rPr lang="en-US" sz="2400" baseline="-25000" dirty="0">
                <a:solidFill/>
                <a:latin typeface="Times" pitchFamily="2" charset="0"/>
              </a:rPr>
              <a:t>0</a:t>
            </a:r>
            <a:r>
              <a:rPr lang="en-US" sz="2400" dirty="0">
                <a:solidFill/>
                <a:latin typeface="Times" pitchFamily="2" charset="0"/>
              </a:rPr>
              <a:t> + PE</a:t>
            </a:r>
            <a:r>
              <a:rPr lang="en-US" sz="2400" baseline="-25000" dirty="0">
                <a:solidFill/>
                <a:latin typeface="Times" pitchFamily="2" charset="0"/>
              </a:rPr>
              <a:t>0</a:t>
            </a:r>
            <a:r>
              <a:rPr lang="en-US" sz="2400" dirty="0">
                <a:solidFill/>
                <a:latin typeface="Times" pitchFamily="2" charset="0"/>
              </a:rPr>
              <a:t>)</a:t>
            </a:r>
            <a:endParaRPr lang="en-US" sz="2400" baseline="-25000" dirty="0">
              <a:latin typeface="Times" pitchFamily="2" charset="0"/>
            </a:endParaRPr>
          </a:p>
        </p:txBody>
      </p:sp>
      <p:sp>
        <p:nvSpPr>
          <p:cNvPr id="23" name="TextBox 22">
            <a:extLst>
              <a:ext uri="{FF2B5EF4-FFF2-40B4-BE49-F238E27FC236}">
                <a16:creationId xmlns:a16="http://schemas.microsoft.com/office/drawing/2014/main" id="{425DE00E-5E17-49A2-2CE5-9FE0F27844D2}"/>
              </a:ext>
            </a:extLst>
          </p:cNvPr>
          <p:cNvSpPr txBox="1"/>
          <p:nvPr/>
        </p:nvSpPr>
        <p:spPr>
          <a:xfrm>
            <a:off x="4623326" y="5521896"/>
            <a:ext cx="7323339" cy="769441"/>
          </a:xfrm>
          <a:prstGeom prst="rect">
            <a:avLst/>
          </a:prstGeom>
          <a:noFill/>
        </p:spPr>
        <p:txBody>
          <a:bodyPr wrap="square">
            <a:spAutoFit/>
          </a:bodyPr>
          <a:lstStyle/>
          <a:p>
            <a:pPr algn="just"/>
            <a:r>
              <a:rPr lang="en-US" sz="2200" dirty="0">
                <a:solidFill/>
                <a:latin typeface="Times" pitchFamily="2" charset="0"/>
              </a:rPr>
              <a:t>The first two terms represent the total final mechanical energy, and the last two terms the total initial mechanical energy. </a:t>
            </a:r>
          </a:p>
        </p:txBody>
      </p:sp>
      <p:grpSp>
        <p:nvGrpSpPr>
          <p:cNvPr id="26" name="Group 25">
            <a:extLst>
              <a:ext uri="{FF2B5EF4-FFF2-40B4-BE49-F238E27FC236}">
                <a16:creationId xmlns:a16="http://schemas.microsoft.com/office/drawing/2014/main" id="{22934E5C-B8AB-BCCC-665D-A45E68A7EC19}"/>
              </a:ext>
            </a:extLst>
          </p:cNvPr>
          <p:cNvGrpSpPr/>
          <p:nvPr/>
        </p:nvGrpSpPr>
        <p:grpSpPr>
          <a:xfrm>
            <a:off x="339568" y="5865223"/>
            <a:ext cx="2712270" cy="481342"/>
            <a:chOff x="148496" y="5865223"/>
            <a:chExt cx="2712270" cy="481342"/>
          </a:xfrm>
        </p:grpSpPr>
        <p:sp>
          <p:nvSpPr>
            <p:cNvPr id="24" name="TextBox 23">
              <a:extLst>
                <a:ext uri="{FF2B5EF4-FFF2-40B4-BE49-F238E27FC236}">
                  <a16:creationId xmlns:a16="http://schemas.microsoft.com/office/drawing/2014/main" id="{71A3F63D-D840-9791-9622-7AA567D103FD}"/>
                </a:ext>
              </a:extLst>
            </p:cNvPr>
            <p:cNvSpPr txBox="1"/>
            <p:nvPr/>
          </p:nvSpPr>
          <p:spPr>
            <a:xfrm>
              <a:off x="148496" y="5884900"/>
              <a:ext cx="1053287" cy="461665"/>
            </a:xfrm>
            <a:prstGeom prst="rect">
              <a:avLst/>
            </a:prstGeom>
            <a:noFill/>
          </p:spPr>
          <p:txBody>
            <a:bodyPr wrap="square" rtlCol="0">
              <a:spAutoFit/>
            </a:bodyPr>
            <a:lstStyle/>
            <a:p>
              <a:pPr/>
              <a:r>
                <a:rPr lang="en-US" sz="2400" dirty="0">
                  <a:solidFill/>
                  <a:latin typeface="Times" pitchFamily="2" charset="0"/>
                </a:rPr>
                <a:t>Thus, </a:t>
              </a:r>
              <a:endParaRPr lang="en-US" sz="2400" baseline="-25000" dirty="0">
                <a:latin typeface="Times" pitchFamily="2" charset="0"/>
              </a:endParaRPr>
            </a:p>
          </p:txBody>
        </p:sp>
        <p:sp>
          <p:nvSpPr>
            <p:cNvPr id="25" name="Rounded Rectangle 24">
              <a:extLst>
                <a:ext uri="{FF2B5EF4-FFF2-40B4-BE49-F238E27FC236}">
                  <a16:creationId xmlns:a16="http://schemas.microsoft.com/office/drawing/2014/main" id="{08A35FFB-8D12-84AA-E199-FCC77C4B7720}"/>
                </a:ext>
              </a:extLst>
            </p:cNvPr>
            <p:cNvSpPr/>
            <p:nvPr/>
          </p:nvSpPr>
          <p:spPr>
            <a:xfrm>
              <a:off x="1018903" y="5865223"/>
              <a:ext cx="1841863" cy="4702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TextBox 26">
            <a:extLst>
              <a:ext uri="{FF2B5EF4-FFF2-40B4-BE49-F238E27FC236}">
                <a16:creationId xmlns:a16="http://schemas.microsoft.com/office/drawing/2014/main" id="{D201AF33-6C35-F5D2-29F1-2E40AADDE3F3}"/>
              </a:ext>
            </a:extLst>
          </p:cNvPr>
          <p:cNvSpPr txBox="1"/>
          <p:nvPr/>
        </p:nvSpPr>
        <p:spPr>
          <a:xfrm>
            <a:off x="1154026" y="5880251"/>
            <a:ext cx="2006824"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f  </a:t>
            </a:r>
            <a:r>
              <a:rPr lang="en-US" sz="2400" dirty="0">
                <a:solidFill/>
                <a:latin typeface="Times" pitchFamily="2" charset="0"/>
              </a:rPr>
              <a:t>– </a:t>
            </a:r>
            <a:r>
              <a:rPr lang="en-US" sz="2400" i="1" dirty="0">
                <a:solidFill/>
                <a:latin typeface="Times" pitchFamily="2" charset="0"/>
              </a:rPr>
              <a:t>E</a:t>
            </a:r>
            <a:r>
              <a:rPr lang="en-US" sz="2400" baseline="-25000" dirty="0">
                <a:solidFill/>
                <a:latin typeface="Times" pitchFamily="2" charset="0"/>
              </a:rPr>
              <a:t>0</a:t>
            </a:r>
            <a:endParaRPr lang="en-US" sz="2400" dirty="0"/>
          </a:p>
        </p:txBody>
      </p:sp>
      <p:sp>
        <p:nvSpPr>
          <p:cNvPr id="28" name="TextBox 27">
            <a:extLst>
              <a:ext uri="{FF2B5EF4-FFF2-40B4-BE49-F238E27FC236}">
                <a16:creationId xmlns:a16="http://schemas.microsoft.com/office/drawing/2014/main" id="{8B931DF8-98B9-136F-1E76-3480C52A974A}"/>
              </a:ext>
            </a:extLst>
          </p:cNvPr>
          <p:cNvSpPr txBox="1"/>
          <p:nvPr/>
        </p:nvSpPr>
        <p:spPr>
          <a:xfrm>
            <a:off x="3173868" y="5875212"/>
            <a:ext cx="1119865" cy="461665"/>
          </a:xfrm>
          <a:prstGeom prst="rect">
            <a:avLst/>
          </a:prstGeom>
          <a:noFill/>
        </p:spPr>
        <p:txBody>
          <a:bodyPr wrap="square" rtlCol="0">
            <a:spAutoFit/>
          </a:bodyPr>
          <a:lstStyle/>
          <a:p>
            <a:pPr/>
            <a:r>
              <a:rPr lang="en-US" sz="2400" dirty="0">
                <a:solidFill/>
                <a:latin typeface="Times" pitchFamily="2" charset="0"/>
              </a:rPr>
              <a:t>(</a:t>
            </a:r>
            <a:r>
              <a:rPr lang="en-US" sz="2400" b="1" dirty="0">
                <a:solidFill/>
                <a:latin typeface="Times" pitchFamily="2" charset="0"/>
              </a:rPr>
              <a:t>6.8</a:t>
            </a:r>
            <a:r>
              <a:rPr lang="en-US" sz="2400" dirty="0">
                <a:solidFill/>
                <a:latin typeface="Times" pitchFamily="2" charset="0"/>
              </a:rPr>
              <a:t>)</a:t>
            </a:r>
          </a:p>
        </p:txBody>
      </p:sp>
    </p:spTree>
    <p:extLst>
      <p:ext uri="{BB962C8B-B14F-4D97-AF65-F5344CB8AC3E}">
        <p14:creationId xmlns:p14="http://schemas.microsoft.com/office/powerpoint/2010/main" val="2619962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dissolv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dissolv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dissolv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dissolv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dissolve">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dissolve">
                                      <p:cBhvr>
                                        <p:cTn id="42" dur="50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dissolve">
                                      <p:cBhvr>
                                        <p:cTn id="47" dur="5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dissolve">
                                      <p:cBhvr>
                                        <p:cTn id="52" dur="500"/>
                                        <p:tgtEl>
                                          <p:spTgt spid="23"/>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dissolve">
                                      <p:cBhvr>
                                        <p:cTn id="57" dur="500"/>
                                        <p:tgtEl>
                                          <p:spTgt spid="26"/>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dissolve">
                                      <p:cBhvr>
                                        <p:cTn id="62" dur="500"/>
                                        <p:tgtEl>
                                          <p:spTgt spid="27"/>
                                        </p:tgtEl>
                                      </p:cBhvr>
                                    </p:animEffect>
                                  </p:childTnLst>
                                </p:cTn>
                              </p:par>
                            </p:childTnLst>
                          </p:cTn>
                        </p:par>
                        <p:par>
                          <p:cTn id="63" fill="hold">
                            <p:stCondLst>
                              <p:cond delay="500"/>
                            </p:stCondLst>
                            <p:childTnLst>
                              <p:par>
                                <p:cTn id="64" presetID="9" presetClass="entr" presetSubtype="0" fill="hold" grpId="0" nodeType="after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dissolve">
                                      <p:cBhvr>
                                        <p:cTn id="6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7" grpId="0"/>
      <p:bldP spid="18" grpId="0"/>
      <p:bldP spid="19" grpId="0"/>
      <p:bldP spid="20" grpId="0"/>
      <p:bldP spid="21" grpId="0"/>
      <p:bldP spid="22" grpId="0"/>
      <p:bldP spid="23" grpId="0"/>
      <p:bldP spid="27" grpId="0"/>
      <p:bldP spid="2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B5BA1-AA85-1237-B275-F43CDF0187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112E3B-AD16-471D-9150-82F956777B29}"/>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6.5</a:t>
            </a:r>
            <a:r>
              <a:rPr lang="en-US" dirty="0">
                <a:solidFill/>
                <a:ea typeface="Calibri" charset="0"/>
                <a:cs typeface="Calibri" charset="0"/>
              </a:rPr>
              <a:t> The Conservation of Mechanical Energy</a:t>
            </a:r>
            <a:endParaRPr lang="en-US" sz="3000" dirty="0"/>
          </a:p>
        </p:txBody>
      </p:sp>
      <p:sp>
        <p:nvSpPr>
          <p:cNvPr id="18" name="TextBox 17">
            <a:extLst>
              <a:ext uri="{FF2B5EF4-FFF2-40B4-BE49-F238E27FC236}">
                <a16:creationId xmlns:a16="http://schemas.microsoft.com/office/drawing/2014/main" id="{5B95D097-2D12-B9A6-D7EB-5F948D2FC502}"/>
              </a:ext>
            </a:extLst>
          </p:cNvPr>
          <p:cNvSpPr txBox="1"/>
          <p:nvPr/>
        </p:nvSpPr>
        <p:spPr>
          <a:xfrm>
            <a:off x="163773" y="784890"/>
            <a:ext cx="11873551" cy="461665"/>
          </a:xfrm>
          <a:prstGeom prst="rect">
            <a:avLst/>
          </a:prstGeom>
          <a:noFill/>
        </p:spPr>
        <p:txBody>
          <a:bodyPr wrap="square">
            <a:spAutoFit/>
          </a:bodyPr>
          <a:lstStyle/>
          <a:p>
            <a:pPr algn="just"/>
            <a:r>
              <a:rPr lang="en-US" sz="2400" dirty="0">
                <a:solidFill/>
                <a:latin typeface="Times" pitchFamily="2" charset="0"/>
              </a:rPr>
              <a:t>We know it has taken a little bit of algebra to get to Equation 6.8, but the result is well worth it!</a:t>
            </a:r>
          </a:p>
        </p:txBody>
      </p:sp>
      <p:sp>
        <p:nvSpPr>
          <p:cNvPr id="27" name="TextBox 26">
            <a:extLst>
              <a:ext uri="{FF2B5EF4-FFF2-40B4-BE49-F238E27FC236}">
                <a16:creationId xmlns:a16="http://schemas.microsoft.com/office/drawing/2014/main" id="{C693B6D3-0E26-A496-6B38-DA7AEEF0E6D6}"/>
              </a:ext>
            </a:extLst>
          </p:cNvPr>
          <p:cNvSpPr txBox="1"/>
          <p:nvPr/>
        </p:nvSpPr>
        <p:spPr>
          <a:xfrm>
            <a:off x="4866216" y="1335547"/>
            <a:ext cx="2006824"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f  </a:t>
            </a:r>
            <a:r>
              <a:rPr lang="en-US" sz="2400" dirty="0">
                <a:solidFill/>
                <a:latin typeface="Times" pitchFamily="2" charset="0"/>
              </a:rPr>
              <a:t>– </a:t>
            </a:r>
            <a:r>
              <a:rPr lang="en-US" sz="2400" i="1" dirty="0">
                <a:solidFill/>
                <a:latin typeface="Times" pitchFamily="2" charset="0"/>
              </a:rPr>
              <a:t>E</a:t>
            </a:r>
            <a:r>
              <a:rPr lang="en-US" sz="2400" baseline="-25000" dirty="0">
                <a:solidFill/>
                <a:latin typeface="Times" pitchFamily="2" charset="0"/>
              </a:rPr>
              <a:t>0</a:t>
            </a:r>
            <a:endParaRPr lang="en-US" sz="2400" dirty="0"/>
          </a:p>
        </p:txBody>
      </p:sp>
      <p:sp>
        <p:nvSpPr>
          <p:cNvPr id="8" name="Rectangle 7">
            <a:extLst>
              <a:ext uri="{FF2B5EF4-FFF2-40B4-BE49-F238E27FC236}">
                <a16:creationId xmlns:a16="http://schemas.microsoft.com/office/drawing/2014/main" id="{CE5C79CF-F111-A8B2-11D2-F8BF913A2342}"/>
              </a:ext>
            </a:extLst>
          </p:cNvPr>
          <p:cNvSpPr/>
          <p:nvPr/>
        </p:nvSpPr>
        <p:spPr>
          <a:xfrm>
            <a:off x="4872251" y="1337481"/>
            <a:ext cx="1924334" cy="450376"/>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643DCCA-D8FC-B798-E049-0C75AF6FDC45}"/>
              </a:ext>
            </a:extLst>
          </p:cNvPr>
          <p:cNvSpPr txBox="1"/>
          <p:nvPr/>
        </p:nvSpPr>
        <p:spPr>
          <a:xfrm>
            <a:off x="206991" y="1906281"/>
            <a:ext cx="11873551" cy="830997"/>
          </a:xfrm>
          <a:prstGeom prst="rect">
            <a:avLst/>
          </a:prstGeom>
          <a:noFill/>
        </p:spPr>
        <p:txBody>
          <a:bodyPr wrap="square">
            <a:spAutoFit/>
          </a:bodyPr>
          <a:lstStyle/>
          <a:p>
            <a:pPr algn="just"/>
            <a:r>
              <a:rPr lang="en-US" sz="2400" dirty="0">
                <a:solidFill/>
                <a:latin typeface="Times" pitchFamily="2" charset="0"/>
              </a:rPr>
              <a:t>Why?  Because in many of the problems we’ll encounter, only conservative forces will act on an object.  </a:t>
            </a:r>
          </a:p>
        </p:txBody>
      </p:sp>
      <p:sp>
        <p:nvSpPr>
          <p:cNvPr id="10" name="TextBox 9">
            <a:extLst>
              <a:ext uri="{FF2B5EF4-FFF2-40B4-BE49-F238E27FC236}">
                <a16:creationId xmlns:a16="http://schemas.microsoft.com/office/drawing/2014/main" id="{3F99E0DB-AD80-E7C0-4D0A-56B24A213B96}"/>
              </a:ext>
            </a:extLst>
          </p:cNvPr>
          <p:cNvSpPr txBox="1"/>
          <p:nvPr/>
        </p:nvSpPr>
        <p:spPr>
          <a:xfrm>
            <a:off x="195619" y="2795660"/>
            <a:ext cx="5768454" cy="461665"/>
          </a:xfrm>
          <a:prstGeom prst="rect">
            <a:avLst/>
          </a:prstGeom>
          <a:noFill/>
        </p:spPr>
        <p:txBody>
          <a:bodyPr wrap="square">
            <a:spAutoFit/>
          </a:bodyPr>
          <a:lstStyle/>
          <a:p>
            <a:pPr algn="just"/>
            <a:r>
              <a:rPr lang="en-US" sz="2400" dirty="0">
                <a:solidFill/>
                <a:latin typeface="Times" pitchFamily="2" charset="0"/>
              </a:rPr>
              <a:t>That means that in many problems, </a:t>
            </a: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0.</a:t>
            </a:r>
          </a:p>
        </p:txBody>
      </p:sp>
      <p:sp>
        <p:nvSpPr>
          <p:cNvPr id="11" name="TextBox 10">
            <a:extLst>
              <a:ext uri="{FF2B5EF4-FFF2-40B4-BE49-F238E27FC236}">
                <a16:creationId xmlns:a16="http://schemas.microsoft.com/office/drawing/2014/main" id="{CF053569-7F5F-2FA7-3BB8-EABE7E08DE16}"/>
              </a:ext>
            </a:extLst>
          </p:cNvPr>
          <p:cNvSpPr txBox="1"/>
          <p:nvPr/>
        </p:nvSpPr>
        <p:spPr>
          <a:xfrm>
            <a:off x="7011164" y="1346430"/>
            <a:ext cx="1119865" cy="461665"/>
          </a:xfrm>
          <a:prstGeom prst="rect">
            <a:avLst/>
          </a:prstGeom>
          <a:noFill/>
        </p:spPr>
        <p:txBody>
          <a:bodyPr wrap="square" rtlCol="0">
            <a:spAutoFit/>
          </a:bodyPr>
          <a:lstStyle/>
          <a:p>
            <a:pPr/>
            <a:r>
              <a:rPr lang="en-US" sz="2400" dirty="0">
                <a:solidFill/>
                <a:latin typeface="Times" pitchFamily="2" charset="0"/>
              </a:rPr>
              <a:t>(</a:t>
            </a:r>
            <a:r>
              <a:rPr lang="en-US" sz="2400" b="1" dirty="0">
                <a:solidFill/>
                <a:latin typeface="Times" pitchFamily="2" charset="0"/>
              </a:rPr>
              <a:t>6.8</a:t>
            </a:r>
            <a:r>
              <a:rPr lang="en-US" sz="2400" dirty="0">
                <a:solidFill/>
                <a:latin typeface="Times" pitchFamily="2" charset="0"/>
              </a:rPr>
              <a:t>)</a:t>
            </a:r>
          </a:p>
        </p:txBody>
      </p:sp>
      <p:sp>
        <p:nvSpPr>
          <p:cNvPr id="12" name="TextBox 11">
            <a:extLst>
              <a:ext uri="{FF2B5EF4-FFF2-40B4-BE49-F238E27FC236}">
                <a16:creationId xmlns:a16="http://schemas.microsoft.com/office/drawing/2014/main" id="{606F3DA4-587C-D44F-B4D3-A90B75E92E5B}"/>
              </a:ext>
            </a:extLst>
          </p:cNvPr>
          <p:cNvSpPr txBox="1"/>
          <p:nvPr/>
        </p:nvSpPr>
        <p:spPr>
          <a:xfrm>
            <a:off x="5984544" y="2797935"/>
            <a:ext cx="5768454" cy="461665"/>
          </a:xfrm>
          <a:prstGeom prst="rect">
            <a:avLst/>
          </a:prstGeom>
          <a:noFill/>
        </p:spPr>
        <p:txBody>
          <a:bodyPr wrap="square">
            <a:spAutoFit/>
          </a:bodyPr>
          <a:lstStyle/>
          <a:p>
            <a:pPr algn="just"/>
            <a:r>
              <a:rPr lang="en-US" sz="2400" dirty="0">
                <a:solidFill/>
                <a:latin typeface="Times" pitchFamily="2" charset="0"/>
              </a:rPr>
              <a:t>According to Equation 6.8 then, 0 = </a:t>
            </a:r>
            <a:r>
              <a:rPr lang="en-US" sz="2400" i="1" dirty="0">
                <a:solidFill/>
                <a:latin typeface="Times" pitchFamily="2" charset="0"/>
              </a:rPr>
              <a:t>E</a:t>
            </a:r>
            <a:r>
              <a:rPr lang="en-US" sz="2400" baseline="-25000" dirty="0">
                <a:solidFill/>
                <a:latin typeface="Times" pitchFamily="2" charset="0"/>
              </a:rPr>
              <a:t>f</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0</a:t>
            </a:r>
            <a:r>
              <a:rPr lang="en-US" sz="2400" dirty="0">
                <a:solidFill/>
                <a:latin typeface="Times" pitchFamily="2" charset="0"/>
              </a:rPr>
              <a:t>.</a:t>
            </a:r>
            <a:endParaRPr lang="en-US" sz="2400" baseline="-25000" dirty="0">
              <a:latin typeface="Times" pitchFamily="2" charset="0"/>
            </a:endParaRPr>
          </a:p>
        </p:txBody>
      </p:sp>
      <p:grpSp>
        <p:nvGrpSpPr>
          <p:cNvPr id="30" name="Group 29">
            <a:extLst>
              <a:ext uri="{FF2B5EF4-FFF2-40B4-BE49-F238E27FC236}">
                <a16:creationId xmlns:a16="http://schemas.microsoft.com/office/drawing/2014/main" id="{07887289-F6ED-4518-A402-DD0CC1E698A7}"/>
              </a:ext>
            </a:extLst>
          </p:cNvPr>
          <p:cNvGrpSpPr/>
          <p:nvPr/>
        </p:nvGrpSpPr>
        <p:grpSpPr>
          <a:xfrm>
            <a:off x="4308144" y="3490512"/>
            <a:ext cx="1969827" cy="508342"/>
            <a:chOff x="4308144" y="3490512"/>
            <a:chExt cx="1969827" cy="508342"/>
          </a:xfrm>
        </p:grpSpPr>
        <p:sp>
          <p:nvSpPr>
            <p:cNvPr id="25" name="Rounded Rectangle 24">
              <a:extLst>
                <a:ext uri="{FF2B5EF4-FFF2-40B4-BE49-F238E27FC236}">
                  <a16:creationId xmlns:a16="http://schemas.microsoft.com/office/drawing/2014/main" id="{7054F8CF-57A2-0DE6-669E-A102FA903E7B}"/>
                </a:ext>
              </a:extLst>
            </p:cNvPr>
            <p:cNvSpPr/>
            <p:nvPr/>
          </p:nvSpPr>
          <p:spPr>
            <a:xfrm>
              <a:off x="5181475" y="3490512"/>
              <a:ext cx="1096496" cy="4702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F11E730-F086-53C7-46E4-46FDA14D7819}"/>
                </a:ext>
              </a:extLst>
            </p:cNvPr>
            <p:cNvSpPr txBox="1"/>
            <p:nvPr/>
          </p:nvSpPr>
          <p:spPr>
            <a:xfrm>
              <a:off x="4308144" y="3537189"/>
              <a:ext cx="973539" cy="461665"/>
            </a:xfrm>
            <a:prstGeom prst="rect">
              <a:avLst/>
            </a:prstGeom>
            <a:noFill/>
          </p:spPr>
          <p:txBody>
            <a:bodyPr wrap="square">
              <a:spAutoFit/>
            </a:bodyPr>
            <a:lstStyle/>
            <a:p>
              <a:pPr algn="just"/>
              <a:r>
                <a:rPr lang="en-US" sz="2400" dirty="0">
                  <a:solidFill/>
                  <a:latin typeface="Times" pitchFamily="2" charset="0"/>
                </a:rPr>
                <a:t>Or...</a:t>
              </a:r>
              <a:endParaRPr lang="en-US" sz="2400" baseline="-25000" dirty="0">
                <a:latin typeface="Times" pitchFamily="2" charset="0"/>
              </a:endParaRPr>
            </a:p>
          </p:txBody>
        </p:sp>
      </p:grpSp>
      <p:sp>
        <p:nvSpPr>
          <p:cNvPr id="29" name="TextBox 28">
            <a:extLst>
              <a:ext uri="{FF2B5EF4-FFF2-40B4-BE49-F238E27FC236}">
                <a16:creationId xmlns:a16="http://schemas.microsoft.com/office/drawing/2014/main" id="{A4A3657C-0877-7DE6-4E33-B1B5046AF2A8}"/>
              </a:ext>
            </a:extLst>
          </p:cNvPr>
          <p:cNvSpPr txBox="1"/>
          <p:nvPr/>
        </p:nvSpPr>
        <p:spPr>
          <a:xfrm>
            <a:off x="5195248" y="3509893"/>
            <a:ext cx="1464859" cy="461665"/>
          </a:xfrm>
          <a:prstGeom prst="rect">
            <a:avLst/>
          </a:prstGeom>
          <a:noFill/>
        </p:spPr>
        <p:txBody>
          <a:bodyPr wrap="square">
            <a:spAutoFit/>
          </a:bodyPr>
          <a:lstStyle/>
          <a:p>
            <a:pPr algn="just"/>
            <a:r>
              <a:rPr lang="en-US" sz="2400" i="1" dirty="0">
                <a:solidFill/>
                <a:latin typeface="Times" pitchFamily="2" charset="0"/>
              </a:rPr>
              <a:t>E</a:t>
            </a:r>
            <a:r>
              <a:rPr lang="en-US" sz="2400" baseline="-25000" dirty="0">
                <a:solidFill/>
                <a:latin typeface="Times" pitchFamily="2" charset="0"/>
              </a:rPr>
              <a:t>f</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0</a:t>
            </a:r>
          </a:p>
        </p:txBody>
      </p:sp>
      <p:sp>
        <p:nvSpPr>
          <p:cNvPr id="31" name="TextBox 30">
            <a:extLst>
              <a:ext uri="{FF2B5EF4-FFF2-40B4-BE49-F238E27FC236}">
                <a16:creationId xmlns:a16="http://schemas.microsoft.com/office/drawing/2014/main" id="{568384C2-9184-405E-8124-A6E417F666FD}"/>
              </a:ext>
            </a:extLst>
          </p:cNvPr>
          <p:cNvSpPr txBox="1"/>
          <p:nvPr/>
        </p:nvSpPr>
        <p:spPr>
          <a:xfrm>
            <a:off x="6358346" y="3505051"/>
            <a:ext cx="1119865" cy="461665"/>
          </a:xfrm>
          <a:prstGeom prst="rect">
            <a:avLst/>
          </a:prstGeom>
          <a:noFill/>
        </p:spPr>
        <p:txBody>
          <a:bodyPr wrap="square" rtlCol="0">
            <a:spAutoFit/>
          </a:bodyPr>
          <a:lstStyle/>
          <a:p>
            <a:pPr/>
            <a:r>
              <a:rPr lang="en-US" sz="2400" dirty="0">
                <a:solidFill/>
                <a:latin typeface="Times" pitchFamily="2" charset="0"/>
              </a:rPr>
              <a:t>(</a:t>
            </a:r>
            <a:r>
              <a:rPr lang="en-US" sz="2400" b="1" dirty="0">
                <a:solidFill/>
                <a:latin typeface="Times" pitchFamily="2" charset="0"/>
              </a:rPr>
              <a:t>6.9a</a:t>
            </a:r>
            <a:r>
              <a:rPr lang="en-US" sz="2400" dirty="0">
                <a:solidFill/>
                <a:latin typeface="Times" pitchFamily="2" charset="0"/>
              </a:rPr>
              <a:t>)</a:t>
            </a:r>
          </a:p>
        </p:txBody>
      </p:sp>
      <p:sp>
        <p:nvSpPr>
          <p:cNvPr id="32" name="TextBox 31">
            <a:extLst>
              <a:ext uri="{FF2B5EF4-FFF2-40B4-BE49-F238E27FC236}">
                <a16:creationId xmlns:a16="http://schemas.microsoft.com/office/drawing/2014/main" id="{CD7A33F9-64F9-75BC-C9DC-C13A23921F31}"/>
              </a:ext>
            </a:extLst>
          </p:cNvPr>
          <p:cNvSpPr txBox="1"/>
          <p:nvPr/>
        </p:nvSpPr>
        <p:spPr>
          <a:xfrm>
            <a:off x="320724" y="4203653"/>
            <a:ext cx="11743897" cy="461665"/>
          </a:xfrm>
          <a:prstGeom prst="rect">
            <a:avLst/>
          </a:prstGeom>
          <a:noFill/>
        </p:spPr>
        <p:txBody>
          <a:bodyPr wrap="square">
            <a:spAutoFit/>
          </a:bodyPr>
          <a:lstStyle/>
          <a:p>
            <a:pPr algn="just"/>
            <a:r>
              <a:rPr lang="en-US" sz="2400" dirty="0">
                <a:solidFill/>
                <a:latin typeface="Times" pitchFamily="2" charset="0"/>
              </a:rPr>
              <a:t>This is profound, and it highlights one of the most important principles of physics.  In words:</a:t>
            </a:r>
          </a:p>
        </p:txBody>
      </p:sp>
      <p:sp>
        <p:nvSpPr>
          <p:cNvPr id="33" name="TextBox 32">
            <a:extLst>
              <a:ext uri="{FF2B5EF4-FFF2-40B4-BE49-F238E27FC236}">
                <a16:creationId xmlns:a16="http://schemas.microsoft.com/office/drawing/2014/main" id="{93F5AF4B-B2AC-55F3-D6A1-4E66460EC3D9}"/>
              </a:ext>
            </a:extLst>
          </p:cNvPr>
          <p:cNvSpPr txBox="1"/>
          <p:nvPr/>
        </p:nvSpPr>
        <p:spPr>
          <a:xfrm>
            <a:off x="2465696" y="4669952"/>
            <a:ext cx="7278805" cy="830997"/>
          </a:xfrm>
          <a:prstGeom prst="rect">
            <a:avLst/>
          </a:prstGeom>
          <a:noFill/>
        </p:spPr>
        <p:txBody>
          <a:bodyPr wrap="square">
            <a:spAutoFit/>
          </a:bodyPr>
          <a:lstStyle/>
          <a:p>
            <a:pPr algn="just"/>
            <a:r>
              <a:rPr lang="en-US" sz="2400" b="1" i="1" dirty="0">
                <a:solidFill/>
                <a:latin typeface="Times" pitchFamily="2" charset="0"/>
              </a:rPr>
              <a:t>In the absence of work done by nonconservative forces, the total mechanical energy is a constant of the motion.</a:t>
            </a:r>
          </a:p>
        </p:txBody>
      </p:sp>
      <p:grpSp>
        <p:nvGrpSpPr>
          <p:cNvPr id="37" name="Group 36">
            <a:extLst>
              <a:ext uri="{FF2B5EF4-FFF2-40B4-BE49-F238E27FC236}">
                <a16:creationId xmlns:a16="http://schemas.microsoft.com/office/drawing/2014/main" id="{72362A67-03C8-FAC4-B234-876727592BAA}"/>
              </a:ext>
            </a:extLst>
          </p:cNvPr>
          <p:cNvGrpSpPr/>
          <p:nvPr/>
        </p:nvGrpSpPr>
        <p:grpSpPr>
          <a:xfrm>
            <a:off x="805219" y="5729617"/>
            <a:ext cx="11122924" cy="461665"/>
            <a:chOff x="245661" y="5593139"/>
            <a:chExt cx="11122924" cy="461665"/>
          </a:xfrm>
        </p:grpSpPr>
        <p:sp>
          <p:nvSpPr>
            <p:cNvPr id="35" name="TextBox 34">
              <a:extLst>
                <a:ext uri="{FF2B5EF4-FFF2-40B4-BE49-F238E27FC236}">
                  <a16:creationId xmlns:a16="http://schemas.microsoft.com/office/drawing/2014/main" id="{BC5D62C5-79E8-EED9-BFCF-AF7E99224151}"/>
                </a:ext>
              </a:extLst>
            </p:cNvPr>
            <p:cNvSpPr txBox="1"/>
            <p:nvPr/>
          </p:nvSpPr>
          <p:spPr>
            <a:xfrm>
              <a:off x="245661" y="5593139"/>
              <a:ext cx="11122924" cy="461665"/>
            </a:xfrm>
            <a:prstGeom prst="rect">
              <a:avLst/>
            </a:prstGeom>
            <a:noFill/>
          </p:spPr>
          <p:txBody>
            <a:bodyPr wrap="square">
              <a:spAutoFit/>
            </a:bodyPr>
            <a:lstStyle/>
            <a:p>
              <a:pPr/>
              <a:r>
                <a:rPr lang="en-US" sz="2400" dirty="0">
                  <a:solidFill/>
                  <a:latin typeface="Times" pitchFamily="2" charset="0"/>
                </a:rPr>
                <a:t> A quantity that remains constant throughout the motion is said to be                       .</a:t>
              </a:r>
            </a:p>
          </p:txBody>
        </p:sp>
        <p:sp>
          <p:nvSpPr>
            <p:cNvPr id="36" name="Rounded Rectangle 35">
              <a:extLst>
                <a:ext uri="{FF2B5EF4-FFF2-40B4-BE49-F238E27FC236}">
                  <a16:creationId xmlns:a16="http://schemas.microsoft.com/office/drawing/2014/main" id="{99428353-234D-1CD9-9C9E-BFD7AFB80090}"/>
                </a:ext>
              </a:extLst>
            </p:cNvPr>
            <p:cNvSpPr/>
            <p:nvPr/>
          </p:nvSpPr>
          <p:spPr>
            <a:xfrm>
              <a:off x="8693623" y="5609231"/>
              <a:ext cx="1665027" cy="4367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TextBox 37">
            <a:extLst>
              <a:ext uri="{FF2B5EF4-FFF2-40B4-BE49-F238E27FC236}">
                <a16:creationId xmlns:a16="http://schemas.microsoft.com/office/drawing/2014/main" id="{0D4B4CA6-BE3A-8079-7D98-1688C54B9272}"/>
              </a:ext>
            </a:extLst>
          </p:cNvPr>
          <p:cNvSpPr txBox="1"/>
          <p:nvPr/>
        </p:nvSpPr>
        <p:spPr>
          <a:xfrm>
            <a:off x="9264556" y="5777696"/>
            <a:ext cx="1967552" cy="400110"/>
          </a:xfrm>
          <a:prstGeom prst="rect">
            <a:avLst/>
          </a:prstGeom>
          <a:noFill/>
        </p:spPr>
        <p:txBody>
          <a:bodyPr wrap="square">
            <a:spAutoFit/>
          </a:bodyPr>
          <a:lstStyle/>
          <a:p>
            <a:pPr algn="just"/>
            <a:r>
              <a:rPr lang="en-US" sz="2000" dirty="0">
                <a:solidFill>
                  <a:srgbClr val="007440"/>
                </a:solidFill>
                <a:latin typeface="Chalkduster" panose="03050602040202020205" pitchFamily="66" charset="77"/>
              </a:rPr>
              <a:t>conserved</a:t>
            </a:r>
            <a:endParaRPr lang="en-US" sz="2000" baseline="-25000" dirty="0">
              <a:solidFill>
                <a:srgbClr val="007440"/>
              </a:solidFill>
              <a:latin typeface="Chalkduster" panose="03050602040202020205" pitchFamily="66" charset="77"/>
            </a:endParaRPr>
          </a:p>
        </p:txBody>
      </p:sp>
      <p:sp>
        <p:nvSpPr>
          <p:cNvPr id="3" name="Rectangle 2">
            <a:extLst>
              <a:ext uri="{FF2B5EF4-FFF2-40B4-BE49-F238E27FC236}">
                <a16:creationId xmlns:a16="http://schemas.microsoft.com/office/drawing/2014/main" id="{E9FE9167-672C-3159-B27C-2A0E6C234FA0}"/>
              </a:ext>
            </a:extLst>
          </p:cNvPr>
          <p:cNvSpPr/>
          <p:nvPr/>
        </p:nvSpPr>
        <p:spPr>
          <a:xfrm>
            <a:off x="2471738" y="4686300"/>
            <a:ext cx="7243762" cy="800100"/>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3861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dissolve">
                                      <p:cBhvr>
                                        <p:cTn id="11" dur="500"/>
                                        <p:tgtEl>
                                          <p:spTgt spid="27"/>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dissolve">
                                      <p:cBhvr>
                                        <p:cTn id="15" dur="500"/>
                                        <p:tgtEl>
                                          <p:spTgt spid="8"/>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dissolve">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dissolv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dissolve">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dissolve">
                                      <p:cBhvr>
                                        <p:cTn id="34" dur="500"/>
                                        <p:tgtEl>
                                          <p:spTgt spid="12"/>
                                        </p:tgtEl>
                                      </p:cBhvr>
                                    </p:animEffect>
                                  </p:childTnLst>
                                </p:cTn>
                              </p:par>
                            </p:childTnLst>
                          </p:cTn>
                        </p:par>
                        <p:par>
                          <p:cTn id="35" fill="hold">
                            <p:stCondLst>
                              <p:cond delay="500"/>
                            </p:stCondLst>
                            <p:childTnLst>
                              <p:par>
                                <p:cTn id="36" presetID="9" presetClass="entr" presetSubtype="0" fill="hold" nodeType="after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dissolve">
                                      <p:cBhvr>
                                        <p:cTn id="38" dur="500"/>
                                        <p:tgtEl>
                                          <p:spTgt spid="30"/>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dissolve">
                                      <p:cBhvr>
                                        <p:cTn id="43" dur="500"/>
                                        <p:tgtEl>
                                          <p:spTgt spid="29"/>
                                        </p:tgtEl>
                                      </p:cBhvr>
                                    </p:animEffect>
                                  </p:childTnLst>
                                </p:cTn>
                              </p:par>
                            </p:childTnLst>
                          </p:cTn>
                        </p:par>
                        <p:par>
                          <p:cTn id="44" fill="hold">
                            <p:stCondLst>
                              <p:cond delay="500"/>
                            </p:stCondLst>
                            <p:childTnLst>
                              <p:par>
                                <p:cTn id="45" presetID="9" presetClass="entr" presetSubtype="0" fill="hold" grpId="0" nodeType="after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dissolve">
                                      <p:cBhvr>
                                        <p:cTn id="47" dur="500"/>
                                        <p:tgtEl>
                                          <p:spTgt spid="31"/>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dissolve">
                                      <p:cBhvr>
                                        <p:cTn id="52" dur="500"/>
                                        <p:tgtEl>
                                          <p:spTgt spid="32"/>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dissolve">
                                      <p:cBhvr>
                                        <p:cTn id="57" dur="500"/>
                                        <p:tgtEl>
                                          <p:spTgt spid="33"/>
                                        </p:tgtEl>
                                      </p:cBhvr>
                                    </p:animEffect>
                                  </p:childTnLst>
                                </p:cTn>
                              </p:par>
                            </p:childTnLst>
                          </p:cTn>
                        </p:par>
                        <p:par>
                          <p:cTn id="58" fill="hold">
                            <p:stCondLst>
                              <p:cond delay="500"/>
                            </p:stCondLst>
                            <p:childTnLst>
                              <p:par>
                                <p:cTn id="59" presetID="9" presetClass="entr" presetSubtype="0" fill="hold" grpId="0" nodeType="after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dissolve">
                                      <p:cBhvr>
                                        <p:cTn id="61" dur="500"/>
                                        <p:tgtEl>
                                          <p:spTgt spid="3"/>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nodeType="clickEffect">
                                  <p:stCondLst>
                                    <p:cond delay="0"/>
                                  </p:stCondLst>
                                  <p:childTnLst>
                                    <p:set>
                                      <p:cBhvr>
                                        <p:cTn id="65" dur="1" fill="hold">
                                          <p:stCondLst>
                                            <p:cond delay="0"/>
                                          </p:stCondLst>
                                        </p:cTn>
                                        <p:tgtEl>
                                          <p:spTgt spid="37"/>
                                        </p:tgtEl>
                                        <p:attrNameLst>
                                          <p:attrName>style.visibility</p:attrName>
                                        </p:attrNameLst>
                                      </p:cBhvr>
                                      <p:to>
                                        <p:strVal val="visible"/>
                                      </p:to>
                                    </p:set>
                                    <p:animEffect transition="in" filter="dissolve">
                                      <p:cBhvr>
                                        <p:cTn id="66" dur="500"/>
                                        <p:tgtEl>
                                          <p:spTgt spid="37"/>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grpId="0" nodeType="clickEffect">
                                  <p:stCondLst>
                                    <p:cond delay="0"/>
                                  </p:stCondLst>
                                  <p:childTnLst>
                                    <p:set>
                                      <p:cBhvr>
                                        <p:cTn id="70" dur="1" fill="hold">
                                          <p:stCondLst>
                                            <p:cond delay="0"/>
                                          </p:stCondLst>
                                        </p:cTn>
                                        <p:tgtEl>
                                          <p:spTgt spid="38"/>
                                        </p:tgtEl>
                                        <p:attrNameLst>
                                          <p:attrName>style.visibility</p:attrName>
                                        </p:attrNameLst>
                                      </p:cBhvr>
                                      <p:to>
                                        <p:strVal val="visible"/>
                                      </p:to>
                                    </p:set>
                                    <p:animEffect transition="in" filter="dissolve">
                                      <p:cBhvr>
                                        <p:cTn id="71"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7" grpId="0"/>
      <p:bldP spid="8" grpId="0" animBg="1"/>
      <p:bldP spid="9" grpId="0"/>
      <p:bldP spid="10" grpId="0"/>
      <p:bldP spid="11" grpId="0"/>
      <p:bldP spid="12" grpId="0"/>
      <p:bldP spid="29" grpId="0"/>
      <p:bldP spid="31" grpId="0"/>
      <p:bldP spid="32" grpId="0"/>
      <p:bldP spid="33" grpId="0"/>
      <p:bldP spid="38" grpId="0"/>
      <p:bldP spid="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4B86D-D9A2-6668-5938-9DAAE933CD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A4B098-98E8-6851-3718-C1B97DD7695C}"/>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6.5</a:t>
            </a:r>
            <a:r>
              <a:rPr lang="en-US" dirty="0">
                <a:solidFill/>
                <a:ea typeface="Calibri" charset="0"/>
                <a:cs typeface="Calibri" charset="0"/>
              </a:rPr>
              <a:t> The Conservation of Mechanical Energy</a:t>
            </a:r>
            <a:endParaRPr lang="en-US" sz="3000" dirty="0"/>
          </a:p>
        </p:txBody>
      </p:sp>
      <p:grpSp>
        <p:nvGrpSpPr>
          <p:cNvPr id="7" name="Group 6">
            <a:extLst>
              <a:ext uri="{FF2B5EF4-FFF2-40B4-BE49-F238E27FC236}">
                <a16:creationId xmlns:a16="http://schemas.microsoft.com/office/drawing/2014/main" id="{9A4AE6D9-7A1E-90FF-971C-9CCC4C19EF37}"/>
              </a:ext>
            </a:extLst>
          </p:cNvPr>
          <p:cNvGrpSpPr/>
          <p:nvPr/>
        </p:nvGrpSpPr>
        <p:grpSpPr>
          <a:xfrm>
            <a:off x="859809" y="928048"/>
            <a:ext cx="11969085" cy="1842448"/>
            <a:chOff x="859809" y="928048"/>
            <a:chExt cx="11969085" cy="1842448"/>
          </a:xfrm>
        </p:grpSpPr>
        <p:sp>
          <p:nvSpPr>
            <p:cNvPr id="18" name="TextBox 17">
              <a:extLst>
                <a:ext uri="{FF2B5EF4-FFF2-40B4-BE49-F238E27FC236}">
                  <a16:creationId xmlns:a16="http://schemas.microsoft.com/office/drawing/2014/main" id="{68A5D18E-5D91-58E3-2D96-8FAAEFF84F46}"/>
                </a:ext>
              </a:extLst>
            </p:cNvPr>
            <p:cNvSpPr txBox="1"/>
            <p:nvPr/>
          </p:nvSpPr>
          <p:spPr>
            <a:xfrm>
              <a:off x="955343" y="935015"/>
              <a:ext cx="11873551" cy="461665"/>
            </a:xfrm>
            <a:prstGeom prst="rect">
              <a:avLst/>
            </a:prstGeom>
            <a:noFill/>
          </p:spPr>
          <p:txBody>
            <a:bodyPr wrap="square">
              <a:spAutoFit/>
            </a:bodyPr>
            <a:lstStyle/>
            <a:p>
              <a:pPr algn="just"/>
              <a:r>
                <a:rPr lang="en-US" sz="2400" dirty="0">
                  <a:solidFill>
                    <a:srgbClr val="C00000"/>
                  </a:solidFill>
                  <a:latin typeface="Times" pitchFamily="2" charset="0"/>
                </a:rPr>
                <a:t>THE PRINCIPLE OF CONSERVATION OF MECHANICAL ENERGY</a:t>
              </a:r>
            </a:p>
          </p:txBody>
        </p:sp>
        <p:grpSp>
          <p:nvGrpSpPr>
            <p:cNvPr id="6" name="Group 5">
              <a:extLst>
                <a:ext uri="{FF2B5EF4-FFF2-40B4-BE49-F238E27FC236}">
                  <a16:creationId xmlns:a16="http://schemas.microsoft.com/office/drawing/2014/main" id="{187CB013-5CFC-3A88-98E7-79A28EED0D99}"/>
                </a:ext>
              </a:extLst>
            </p:cNvPr>
            <p:cNvGrpSpPr/>
            <p:nvPr/>
          </p:nvGrpSpPr>
          <p:grpSpPr>
            <a:xfrm>
              <a:off x="859809" y="928048"/>
              <a:ext cx="10563367" cy="1842448"/>
              <a:chOff x="859809" y="928048"/>
              <a:chExt cx="10563367" cy="1842448"/>
            </a:xfrm>
          </p:grpSpPr>
          <p:sp>
            <p:nvSpPr>
              <p:cNvPr id="4" name="TextBox 3">
                <a:extLst>
                  <a:ext uri="{FF2B5EF4-FFF2-40B4-BE49-F238E27FC236}">
                    <a16:creationId xmlns:a16="http://schemas.microsoft.com/office/drawing/2014/main" id="{84A678E0-3BFD-9D2B-936C-E6917D9FDFCE}"/>
                  </a:ext>
                </a:extLst>
              </p:cNvPr>
              <p:cNvSpPr txBox="1"/>
              <p:nvPr/>
            </p:nvSpPr>
            <p:spPr>
              <a:xfrm>
                <a:off x="982639" y="1469492"/>
                <a:ext cx="10399594" cy="1200329"/>
              </a:xfrm>
              <a:prstGeom prst="rect">
                <a:avLst/>
              </a:prstGeom>
              <a:noFill/>
            </p:spPr>
            <p:txBody>
              <a:bodyPr wrap="square">
                <a:spAutoFit/>
              </a:bodyPr>
              <a:lstStyle/>
              <a:p>
                <a:pPr algn="just"/>
                <a:r>
                  <a:rPr lang="en-US" sz="2400" dirty="0">
                    <a:solidFill/>
                    <a:latin typeface="Times" pitchFamily="2" charset="0"/>
                  </a:rPr>
                  <a:t>The total mechanical energy (</a:t>
                </a:r>
                <a:r>
                  <a:rPr lang="en-US" sz="2400" i="1" dirty="0">
                    <a:solidFill/>
                    <a:latin typeface="Times" pitchFamily="2" charset="0"/>
                  </a:rPr>
                  <a:t>E</a:t>
                </a:r>
                <a:r>
                  <a:rPr lang="en-US" sz="2400" dirty="0">
                    <a:solidFill/>
                    <a:latin typeface="Times" pitchFamily="2" charset="0"/>
                  </a:rPr>
                  <a:t> = KE + PE) of an object remains constant as the object moves, provided that the net work done by external nonconservative forces is zero, </a:t>
                </a: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0 J.</a:t>
                </a:r>
              </a:p>
            </p:txBody>
          </p:sp>
          <p:sp>
            <p:nvSpPr>
              <p:cNvPr id="5" name="Rectangle 4">
                <a:extLst>
                  <a:ext uri="{FF2B5EF4-FFF2-40B4-BE49-F238E27FC236}">
                    <a16:creationId xmlns:a16="http://schemas.microsoft.com/office/drawing/2014/main" id="{4CE702C4-404A-32C4-5AC6-BB4BFDADF57A}"/>
                  </a:ext>
                </a:extLst>
              </p:cNvPr>
              <p:cNvSpPr/>
              <p:nvPr/>
            </p:nvSpPr>
            <p:spPr>
              <a:xfrm>
                <a:off x="859809" y="928048"/>
                <a:ext cx="10563367" cy="184244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16" name="Picture 15">
            <a:extLst>
              <a:ext uri="{FF2B5EF4-FFF2-40B4-BE49-F238E27FC236}">
                <a16:creationId xmlns:a16="http://schemas.microsoft.com/office/drawing/2014/main" id="{14FE374F-F732-97DB-996F-FC2186949B62}"/>
              </a:ext>
            </a:extLst>
          </p:cNvPr>
          <p:cNvPicPr>
            <a:picLocks noChangeAspect="1"/>
          </p:cNvPicPr>
          <p:nvPr/>
        </p:nvPicPr>
        <p:blipFill>
          <a:blip r:embed="rId3"/>
          <a:srcRect l="47776" t="24949" r="23953" b="33221"/>
          <a:stretch/>
        </p:blipFill>
        <p:spPr>
          <a:xfrm>
            <a:off x="109181" y="2825086"/>
            <a:ext cx="4312591" cy="3589361"/>
          </a:xfrm>
          <a:prstGeom prst="rect">
            <a:avLst/>
          </a:prstGeom>
        </p:spPr>
      </p:pic>
      <p:sp>
        <p:nvSpPr>
          <p:cNvPr id="17" name="TextBox 16">
            <a:extLst>
              <a:ext uri="{FF2B5EF4-FFF2-40B4-BE49-F238E27FC236}">
                <a16:creationId xmlns:a16="http://schemas.microsoft.com/office/drawing/2014/main" id="{A4B9D410-8365-0B45-A7DF-4971969C6896}"/>
              </a:ext>
            </a:extLst>
          </p:cNvPr>
          <p:cNvSpPr txBox="1"/>
          <p:nvPr/>
        </p:nvSpPr>
        <p:spPr>
          <a:xfrm>
            <a:off x="4626590" y="2866030"/>
            <a:ext cx="7315200" cy="461665"/>
          </a:xfrm>
          <a:prstGeom prst="rect">
            <a:avLst/>
          </a:prstGeom>
          <a:noFill/>
        </p:spPr>
        <p:txBody>
          <a:bodyPr wrap="square" rtlCol="0">
            <a:spAutoFit/>
          </a:bodyPr>
          <a:lstStyle/>
          <a:p>
            <a:pPr/>
            <a:r>
              <a:rPr lang="en-US" sz="2400" dirty="0">
                <a:solidFill/>
                <a:latin typeface="Times" pitchFamily="2" charset="0"/>
              </a:rPr>
              <a:t>Consider a bobsled on its run down a track.</a:t>
            </a:r>
          </a:p>
        </p:txBody>
      </p:sp>
      <p:grpSp>
        <p:nvGrpSpPr>
          <p:cNvPr id="22" name="Group 21">
            <a:extLst>
              <a:ext uri="{FF2B5EF4-FFF2-40B4-BE49-F238E27FC236}">
                <a16:creationId xmlns:a16="http://schemas.microsoft.com/office/drawing/2014/main" id="{BB2FEF44-DC28-A5DF-9AE0-ED786684509E}"/>
              </a:ext>
            </a:extLst>
          </p:cNvPr>
          <p:cNvGrpSpPr/>
          <p:nvPr/>
        </p:nvGrpSpPr>
        <p:grpSpPr>
          <a:xfrm>
            <a:off x="4628864" y="3359624"/>
            <a:ext cx="7315200" cy="1200329"/>
            <a:chOff x="4628864" y="3359624"/>
            <a:chExt cx="7315200" cy="1200329"/>
          </a:xfrm>
        </p:grpSpPr>
        <p:sp>
          <p:nvSpPr>
            <p:cNvPr id="19" name="TextBox 18">
              <a:extLst>
                <a:ext uri="{FF2B5EF4-FFF2-40B4-BE49-F238E27FC236}">
                  <a16:creationId xmlns:a16="http://schemas.microsoft.com/office/drawing/2014/main" id="{AE9E0D24-042E-1BC5-D562-A5812348C9BF}"/>
                </a:ext>
              </a:extLst>
            </p:cNvPr>
            <p:cNvSpPr txBox="1"/>
            <p:nvPr/>
          </p:nvSpPr>
          <p:spPr>
            <a:xfrm>
              <a:off x="4628864" y="3359624"/>
              <a:ext cx="7315200" cy="1200329"/>
            </a:xfrm>
            <a:prstGeom prst="rect">
              <a:avLst/>
            </a:prstGeom>
            <a:noFill/>
          </p:spPr>
          <p:txBody>
            <a:bodyPr wrap="square" rtlCol="0">
              <a:spAutoFit/>
            </a:bodyPr>
            <a:lstStyle/>
            <a:p>
              <a:pPr/>
              <a:r>
                <a:rPr lang="en-US" sz="2400" dirty="0">
                  <a:solidFill/>
                  <a:latin typeface="Times" pitchFamily="2" charset="0"/>
                </a:rPr>
                <a:t>If we neglect friction and air resistance, then the only force that does work on the bobsled is gravity, and gravity is a                                       .</a:t>
              </a:r>
            </a:p>
          </p:txBody>
        </p:sp>
        <p:sp>
          <p:nvSpPr>
            <p:cNvPr id="20" name="Rounded Rectangle 19">
              <a:extLst>
                <a:ext uri="{FF2B5EF4-FFF2-40B4-BE49-F238E27FC236}">
                  <a16:creationId xmlns:a16="http://schemas.microsoft.com/office/drawing/2014/main" id="{8A2AEFA4-3D7B-BE18-F8D1-C4EC51559B0E}"/>
                </a:ext>
              </a:extLst>
            </p:cNvPr>
            <p:cNvSpPr/>
            <p:nvPr/>
          </p:nvSpPr>
          <p:spPr>
            <a:xfrm>
              <a:off x="5199797" y="4135272"/>
              <a:ext cx="2852382" cy="4094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extBox 22">
            <a:extLst>
              <a:ext uri="{FF2B5EF4-FFF2-40B4-BE49-F238E27FC236}">
                <a16:creationId xmlns:a16="http://schemas.microsoft.com/office/drawing/2014/main" id="{8FC02A42-54E4-DEA7-ECA1-2EE4EA32F1B0}"/>
              </a:ext>
            </a:extLst>
          </p:cNvPr>
          <p:cNvSpPr txBox="1"/>
          <p:nvPr/>
        </p:nvSpPr>
        <p:spPr>
          <a:xfrm>
            <a:off x="8318309" y="4123900"/>
            <a:ext cx="3873691" cy="461665"/>
          </a:xfrm>
          <a:prstGeom prst="rect">
            <a:avLst/>
          </a:prstGeom>
          <a:noFill/>
        </p:spPr>
        <p:txBody>
          <a:bodyPr wrap="square" rtlCol="0">
            <a:spAutoFit/>
          </a:bodyPr>
          <a:lstStyle/>
          <a:p>
            <a:pPr/>
            <a:r>
              <a:rPr lang="en-US" sz="2400" dirty="0">
                <a:solidFill/>
                <a:latin typeface="Times" pitchFamily="2" charset="0"/>
              </a:rPr>
              <a:t>Thus, </a:t>
            </a: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0 and </a:t>
            </a:r>
            <a:r>
              <a:rPr lang="en-US" sz="2400" i="1" dirty="0">
                <a:solidFill/>
                <a:latin typeface="Times" pitchFamily="2" charset="0"/>
              </a:rPr>
              <a:t>E</a:t>
            </a:r>
            <a:r>
              <a:rPr lang="en-US" sz="2400" baseline="-25000" dirty="0">
                <a:solidFill/>
                <a:latin typeface="Times" pitchFamily="2" charset="0"/>
              </a:rPr>
              <a:t>f</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0</a:t>
            </a:r>
            <a:r>
              <a:rPr lang="en-US" sz="2400" dirty="0">
                <a:solidFill/>
                <a:latin typeface="Times" pitchFamily="2" charset="0"/>
              </a:rPr>
              <a:t>.</a:t>
            </a:r>
          </a:p>
        </p:txBody>
      </p:sp>
      <p:sp>
        <p:nvSpPr>
          <p:cNvPr id="21" name="TextBox 20">
            <a:extLst>
              <a:ext uri="{FF2B5EF4-FFF2-40B4-BE49-F238E27FC236}">
                <a16:creationId xmlns:a16="http://schemas.microsoft.com/office/drawing/2014/main" id="{429154EB-78A4-0189-D2F0-FBCD8A803813}"/>
              </a:ext>
            </a:extLst>
          </p:cNvPr>
          <p:cNvSpPr txBox="1"/>
          <p:nvPr/>
        </p:nvSpPr>
        <p:spPr>
          <a:xfrm>
            <a:off x="5215719" y="4151194"/>
            <a:ext cx="2918347"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conservative force</a:t>
            </a:r>
          </a:p>
        </p:txBody>
      </p:sp>
      <p:sp>
        <p:nvSpPr>
          <p:cNvPr id="24" name="TextBox 23">
            <a:extLst>
              <a:ext uri="{FF2B5EF4-FFF2-40B4-BE49-F238E27FC236}">
                <a16:creationId xmlns:a16="http://schemas.microsoft.com/office/drawing/2014/main" id="{5EC05A1B-F700-E196-0291-4672E0480F69}"/>
              </a:ext>
            </a:extLst>
          </p:cNvPr>
          <p:cNvSpPr txBox="1"/>
          <p:nvPr/>
        </p:nvSpPr>
        <p:spPr>
          <a:xfrm>
            <a:off x="4628865" y="4724400"/>
            <a:ext cx="7315200" cy="830997"/>
          </a:xfrm>
          <a:prstGeom prst="rect">
            <a:avLst/>
          </a:prstGeom>
          <a:noFill/>
        </p:spPr>
        <p:txBody>
          <a:bodyPr wrap="square" rtlCol="0">
            <a:spAutoFit/>
          </a:bodyPr>
          <a:lstStyle/>
          <a:p>
            <a:pPr/>
            <a:r>
              <a:rPr lang="en-US" sz="2400" dirty="0">
                <a:solidFill/>
                <a:latin typeface="Times" pitchFamily="2" charset="0"/>
              </a:rPr>
              <a:t>Notice at the top of the track, the bobsled starts from rest.  All of its mechanical energy is potential energy.  </a:t>
            </a:r>
          </a:p>
        </p:txBody>
      </p:sp>
      <p:sp>
        <p:nvSpPr>
          <p:cNvPr id="26" name="TextBox 25">
            <a:extLst>
              <a:ext uri="{FF2B5EF4-FFF2-40B4-BE49-F238E27FC236}">
                <a16:creationId xmlns:a16="http://schemas.microsoft.com/office/drawing/2014/main" id="{48782FC7-1991-8D8F-CDE9-0B167FB18415}"/>
              </a:ext>
            </a:extLst>
          </p:cNvPr>
          <p:cNvSpPr txBox="1"/>
          <p:nvPr/>
        </p:nvSpPr>
        <p:spPr>
          <a:xfrm>
            <a:off x="4644787" y="5600131"/>
            <a:ext cx="7315200" cy="830997"/>
          </a:xfrm>
          <a:prstGeom prst="rect">
            <a:avLst/>
          </a:prstGeom>
          <a:noFill/>
        </p:spPr>
        <p:txBody>
          <a:bodyPr wrap="square" rtlCol="0">
            <a:spAutoFit/>
          </a:bodyPr>
          <a:lstStyle/>
          <a:p>
            <a:pPr/>
            <a:r>
              <a:rPr lang="en-US" sz="2400" dirty="0">
                <a:solidFill/>
                <a:latin typeface="Times" pitchFamily="2" charset="0"/>
              </a:rPr>
              <a:t>As it moves farther down the track, it converts more of its initial gravitational PE into KE.  </a:t>
            </a:r>
          </a:p>
        </p:txBody>
      </p:sp>
    </p:spTree>
    <p:extLst>
      <p:ext uri="{BB962C8B-B14F-4D97-AF65-F5344CB8AC3E}">
        <p14:creationId xmlns:p14="http://schemas.microsoft.com/office/powerpoint/2010/main" val="1501770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dissolve">
                                      <p:cBhvr>
                                        <p:cTn id="12" dur="500"/>
                                        <p:tgtEl>
                                          <p:spTgt spid="17"/>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dissolv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dissolve">
                                      <p:cBhvr>
                                        <p:cTn id="21"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dissolve">
                                      <p:cBhvr>
                                        <p:cTn id="26" dur="5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dissolve">
                                      <p:cBhvr>
                                        <p:cTn id="31" dur="500"/>
                                        <p:tgtEl>
                                          <p:spTgt spid="23"/>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dissolve">
                                      <p:cBhvr>
                                        <p:cTn id="36" dur="500"/>
                                        <p:tgtEl>
                                          <p:spTgt spid="24"/>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dissolve">
                                      <p:cBhvr>
                                        <p:cTn id="4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1" grpId="0"/>
      <p:bldP spid="23" grpId="0"/>
      <p:bldP spid="24" grpId="0"/>
      <p:bldP spid="2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D38E-FC38-DD41-784C-969AF07EFA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2581D4-6D0B-8B3E-5405-1A3530DCD1A6}"/>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6.5</a:t>
            </a:r>
            <a:r>
              <a:rPr lang="en-US" dirty="0">
                <a:solidFill/>
                <a:ea typeface="Calibri" charset="0"/>
                <a:cs typeface="Calibri" charset="0"/>
              </a:rPr>
              <a:t> The Conservation of Mechanical Energy</a:t>
            </a:r>
            <a:endParaRPr lang="en-US" sz="3000" dirty="0"/>
          </a:p>
        </p:txBody>
      </p:sp>
      <p:pic>
        <p:nvPicPr>
          <p:cNvPr id="16" name="Picture 15">
            <a:extLst>
              <a:ext uri="{FF2B5EF4-FFF2-40B4-BE49-F238E27FC236}">
                <a16:creationId xmlns:a16="http://schemas.microsoft.com/office/drawing/2014/main" id="{BF90CB7C-597E-09F2-7292-EBA8861566A4}"/>
              </a:ext>
            </a:extLst>
          </p:cNvPr>
          <p:cNvPicPr>
            <a:picLocks noChangeAspect="1"/>
          </p:cNvPicPr>
          <p:nvPr/>
        </p:nvPicPr>
        <p:blipFill>
          <a:blip r:embed="rId3"/>
          <a:srcRect l="47776" t="24949" r="23953" b="33221"/>
          <a:stretch/>
        </p:blipFill>
        <p:spPr>
          <a:xfrm>
            <a:off x="109181" y="682388"/>
            <a:ext cx="4312591" cy="3589361"/>
          </a:xfrm>
          <a:prstGeom prst="rect">
            <a:avLst/>
          </a:prstGeom>
        </p:spPr>
      </p:pic>
      <p:sp>
        <p:nvSpPr>
          <p:cNvPr id="17" name="TextBox 16">
            <a:extLst>
              <a:ext uri="{FF2B5EF4-FFF2-40B4-BE49-F238E27FC236}">
                <a16:creationId xmlns:a16="http://schemas.microsoft.com/office/drawing/2014/main" id="{BCD069A1-4FE5-EEFD-CB73-20F0E10BBF47}"/>
              </a:ext>
            </a:extLst>
          </p:cNvPr>
          <p:cNvSpPr txBox="1"/>
          <p:nvPr/>
        </p:nvSpPr>
        <p:spPr>
          <a:xfrm>
            <a:off x="4532003" y="622679"/>
            <a:ext cx="7315200" cy="830997"/>
          </a:xfrm>
          <a:prstGeom prst="rect">
            <a:avLst/>
          </a:prstGeom>
          <a:noFill/>
        </p:spPr>
        <p:txBody>
          <a:bodyPr wrap="square" rtlCol="0">
            <a:spAutoFit/>
          </a:bodyPr>
          <a:lstStyle/>
          <a:p>
            <a:pPr/>
            <a:r>
              <a:rPr lang="en-US" sz="2400" dirty="0">
                <a:solidFill/>
                <a:latin typeface="Times" pitchFamily="2" charset="0"/>
              </a:rPr>
              <a:t>But at every point along the track, the total mechanical energy (</a:t>
            </a:r>
            <a:r>
              <a:rPr lang="en-US" sz="2400" i="1" dirty="0">
                <a:solidFill/>
                <a:latin typeface="Times" pitchFamily="2" charset="0"/>
              </a:rPr>
              <a:t>E</a:t>
            </a:r>
            <a:r>
              <a:rPr lang="en-US" sz="2400" dirty="0">
                <a:solidFill/>
                <a:latin typeface="Times" pitchFamily="2" charset="0"/>
              </a:rPr>
              <a:t>) is a constant.</a:t>
            </a:r>
          </a:p>
        </p:txBody>
      </p:sp>
      <p:sp>
        <p:nvSpPr>
          <p:cNvPr id="23" name="TextBox 22">
            <a:extLst>
              <a:ext uri="{FF2B5EF4-FFF2-40B4-BE49-F238E27FC236}">
                <a16:creationId xmlns:a16="http://schemas.microsoft.com/office/drawing/2014/main" id="{80102DBF-EE8B-FB4A-1B51-0EAAD402208F}"/>
              </a:ext>
            </a:extLst>
          </p:cNvPr>
          <p:cNvSpPr txBox="1"/>
          <p:nvPr/>
        </p:nvSpPr>
        <p:spPr>
          <a:xfrm>
            <a:off x="4514373" y="1346960"/>
            <a:ext cx="7171901" cy="1200329"/>
          </a:xfrm>
          <a:prstGeom prst="rect">
            <a:avLst/>
          </a:prstGeom>
          <a:noFill/>
        </p:spPr>
        <p:txBody>
          <a:bodyPr wrap="square" rtlCol="0">
            <a:spAutoFit/>
          </a:bodyPr>
          <a:lstStyle/>
          <a:p>
            <a:pPr/>
            <a:r>
              <a:rPr lang="en-US" sz="2400" dirty="0">
                <a:solidFill/>
                <a:latin typeface="Times" pitchFamily="2" charset="0"/>
              </a:rPr>
              <a:t>Once the sled has reached the bottom of the track, all of its initial gravitational PE has been converted into KE. The total mechanical energy is still the same.</a:t>
            </a:r>
          </a:p>
        </p:txBody>
      </p:sp>
      <p:grpSp>
        <p:nvGrpSpPr>
          <p:cNvPr id="27" name="Group 26">
            <a:extLst>
              <a:ext uri="{FF2B5EF4-FFF2-40B4-BE49-F238E27FC236}">
                <a16:creationId xmlns:a16="http://schemas.microsoft.com/office/drawing/2014/main" id="{70821B75-AFB5-4A6D-9E6A-999FEC2660DA}"/>
              </a:ext>
            </a:extLst>
          </p:cNvPr>
          <p:cNvGrpSpPr/>
          <p:nvPr/>
        </p:nvGrpSpPr>
        <p:grpSpPr>
          <a:xfrm>
            <a:off x="204716" y="4353215"/>
            <a:ext cx="11750723" cy="2022731"/>
            <a:chOff x="204716" y="4353215"/>
            <a:chExt cx="11750723" cy="2022731"/>
          </a:xfrm>
        </p:grpSpPr>
        <p:sp>
          <p:nvSpPr>
            <p:cNvPr id="24" name="TextBox 23">
              <a:extLst>
                <a:ext uri="{FF2B5EF4-FFF2-40B4-BE49-F238E27FC236}">
                  <a16:creationId xmlns:a16="http://schemas.microsoft.com/office/drawing/2014/main" id="{4B86648F-779A-A0B2-24F3-382CFA8FD8A0}"/>
                </a:ext>
              </a:extLst>
            </p:cNvPr>
            <p:cNvSpPr txBox="1"/>
            <p:nvPr/>
          </p:nvSpPr>
          <p:spPr>
            <a:xfrm>
              <a:off x="259308" y="4806286"/>
              <a:ext cx="11657462" cy="1569660"/>
            </a:xfrm>
            <a:prstGeom prst="rect">
              <a:avLst/>
            </a:prstGeom>
            <a:noFill/>
          </p:spPr>
          <p:txBody>
            <a:bodyPr wrap="square" rtlCol="0">
              <a:spAutoFit/>
            </a:bodyPr>
            <a:lstStyle/>
            <a:p>
              <a:pPr algn="just"/>
              <a:r>
                <a:rPr lang="en-US" sz="2400" dirty="0">
                  <a:solidFill/>
                  <a:latin typeface="Times" pitchFamily="2" charset="0"/>
                </a:rPr>
                <a:t>Energy is continuously exchanged between kinetic energy and potential energy without any loss or gain. Consequently, any decrease in gravitational potential energy is accompanied by an equal increase in kinetic energy, and vice versa, so that the total mechanical energy remains unchanged.</a:t>
              </a:r>
            </a:p>
          </p:txBody>
        </p:sp>
        <p:sp>
          <p:nvSpPr>
            <p:cNvPr id="8" name="TextBox 7">
              <a:extLst>
                <a:ext uri="{FF2B5EF4-FFF2-40B4-BE49-F238E27FC236}">
                  <a16:creationId xmlns:a16="http://schemas.microsoft.com/office/drawing/2014/main" id="{A5B0BAAC-E6E9-C438-E789-180710E7003E}"/>
                </a:ext>
              </a:extLst>
            </p:cNvPr>
            <p:cNvSpPr txBox="1"/>
            <p:nvPr/>
          </p:nvSpPr>
          <p:spPr>
            <a:xfrm>
              <a:off x="272956" y="4353215"/>
              <a:ext cx="3657600" cy="461665"/>
            </a:xfrm>
            <a:prstGeom prst="rect">
              <a:avLst/>
            </a:prstGeom>
            <a:noFill/>
          </p:spPr>
          <p:txBody>
            <a:bodyPr wrap="square">
              <a:spAutoFit/>
            </a:bodyPr>
            <a:lstStyle/>
            <a:p>
              <a:pPr algn="just"/>
              <a:r>
                <a:rPr lang="en-US" sz="2400" dirty="0">
                  <a:solidFill>
                    <a:srgbClr val="C0694F"/>
                  </a:solidFill>
                  <a:latin typeface="Times" pitchFamily="2" charset="0"/>
                </a:rPr>
                <a:t>Problem-Solving Insight</a:t>
              </a:r>
            </a:p>
          </p:txBody>
        </p:sp>
        <p:sp>
          <p:nvSpPr>
            <p:cNvPr id="9" name="Rectangle 8">
              <a:extLst>
                <a:ext uri="{FF2B5EF4-FFF2-40B4-BE49-F238E27FC236}">
                  <a16:creationId xmlns:a16="http://schemas.microsoft.com/office/drawing/2014/main" id="{33F44475-A7A9-7D62-749C-FCC92FDDA00D}"/>
                </a:ext>
              </a:extLst>
            </p:cNvPr>
            <p:cNvSpPr/>
            <p:nvPr/>
          </p:nvSpPr>
          <p:spPr>
            <a:xfrm>
              <a:off x="204716" y="4367284"/>
              <a:ext cx="11750723" cy="1978925"/>
            </a:xfrm>
            <a:prstGeom prst="rect">
              <a:avLst/>
            </a:prstGeom>
            <a:noFill/>
            <a:ln w="38100">
              <a:solidFill>
                <a:srgbClr val="C069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29464AD2-7B1F-4D3E-97DC-4E0F7D2B921A}"/>
              </a:ext>
            </a:extLst>
          </p:cNvPr>
          <p:cNvGrpSpPr/>
          <p:nvPr/>
        </p:nvGrpSpPr>
        <p:grpSpPr>
          <a:xfrm>
            <a:off x="4509635" y="2467024"/>
            <a:ext cx="7171901" cy="977704"/>
            <a:chOff x="3912735" y="2911524"/>
            <a:chExt cx="7171901" cy="977704"/>
          </a:xfrm>
        </p:grpSpPr>
        <p:sp>
          <p:nvSpPr>
            <p:cNvPr id="10" name="TextBox 9">
              <a:extLst>
                <a:ext uri="{FF2B5EF4-FFF2-40B4-BE49-F238E27FC236}">
                  <a16:creationId xmlns:a16="http://schemas.microsoft.com/office/drawing/2014/main" id="{0E01EDE8-704E-6D5C-44AF-5902F865E91A}"/>
                </a:ext>
              </a:extLst>
            </p:cNvPr>
            <p:cNvSpPr txBox="1"/>
            <p:nvPr/>
          </p:nvSpPr>
          <p:spPr>
            <a:xfrm>
              <a:off x="3912735" y="2911524"/>
              <a:ext cx="7171901" cy="461665"/>
            </a:xfrm>
            <a:prstGeom prst="rect">
              <a:avLst/>
            </a:prstGeom>
            <a:noFill/>
          </p:spPr>
          <p:txBody>
            <a:bodyPr wrap="square" rtlCol="0">
              <a:spAutoFit/>
            </a:bodyPr>
            <a:lstStyle/>
            <a:p>
              <a:pPr/>
              <a:r>
                <a:rPr lang="en-US" sz="2400" dirty="0">
                  <a:solidFill/>
                  <a:latin typeface="Times" pitchFamily="2" charset="0"/>
                </a:rPr>
                <a:t>This conversion is shown formally from Equation 6.7b:</a:t>
              </a:r>
            </a:p>
          </p:txBody>
        </p:sp>
        <p:sp>
          <p:nvSpPr>
            <p:cNvPr id="13" name="Rounded Rectangle 12">
              <a:extLst>
                <a:ext uri="{FF2B5EF4-FFF2-40B4-BE49-F238E27FC236}">
                  <a16:creationId xmlns:a16="http://schemas.microsoft.com/office/drawing/2014/main" id="{8EC73110-B03D-B3BA-6DB0-B8A851831840}"/>
                </a:ext>
              </a:extLst>
            </p:cNvPr>
            <p:cNvSpPr/>
            <p:nvPr/>
          </p:nvSpPr>
          <p:spPr>
            <a:xfrm>
              <a:off x="4754950" y="3379942"/>
              <a:ext cx="5354250" cy="50928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TextBox 13">
            <a:extLst>
              <a:ext uri="{FF2B5EF4-FFF2-40B4-BE49-F238E27FC236}">
                <a16:creationId xmlns:a16="http://schemas.microsoft.com/office/drawing/2014/main" id="{7A53DBE1-F3EB-4932-220C-8B70EA6D4485}"/>
              </a:ext>
            </a:extLst>
          </p:cNvPr>
          <p:cNvSpPr txBox="1"/>
          <p:nvPr/>
        </p:nvSpPr>
        <p:spPr>
          <a:xfrm>
            <a:off x="5436765" y="2958007"/>
            <a:ext cx="2575988"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dirty="0">
                <a:solidFill/>
                <a:latin typeface="Symbol" pitchFamily="2" charset="2"/>
              </a:rPr>
              <a:t>D</a:t>
            </a:r>
            <a:r>
              <a:rPr lang="en-US" sz="2400" dirty="0">
                <a:solidFill/>
                <a:latin typeface="Times" pitchFamily="2" charset="0"/>
              </a:rPr>
              <a:t>KE + </a:t>
            </a:r>
            <a:r>
              <a:rPr lang="en-US" sz="2400" dirty="0">
                <a:solidFill/>
                <a:latin typeface="Symbol" pitchFamily="2" charset="2"/>
              </a:rPr>
              <a:t>D</a:t>
            </a:r>
            <a:r>
              <a:rPr lang="en-US" sz="2400" dirty="0">
                <a:solidFill/>
                <a:latin typeface="Times" pitchFamily="2" charset="0"/>
              </a:rPr>
              <a:t>PE</a:t>
            </a:r>
            <a:endParaRPr lang="en-US" sz="2400" baseline="-25000" dirty="0">
              <a:latin typeface="Times" pitchFamily="2" charset="0"/>
            </a:endParaRPr>
          </a:p>
        </p:txBody>
      </p:sp>
      <p:sp>
        <p:nvSpPr>
          <p:cNvPr id="28" name="TextBox 27">
            <a:extLst>
              <a:ext uri="{FF2B5EF4-FFF2-40B4-BE49-F238E27FC236}">
                <a16:creationId xmlns:a16="http://schemas.microsoft.com/office/drawing/2014/main" id="{6DE11A4D-9F74-573F-166C-FB2CEE229446}"/>
              </a:ext>
            </a:extLst>
          </p:cNvPr>
          <p:cNvSpPr txBox="1"/>
          <p:nvPr/>
        </p:nvSpPr>
        <p:spPr>
          <a:xfrm>
            <a:off x="7878552" y="2947847"/>
            <a:ext cx="845502" cy="461665"/>
          </a:xfrm>
          <a:prstGeom prst="rect">
            <a:avLst/>
          </a:prstGeom>
          <a:noFill/>
        </p:spPr>
        <p:txBody>
          <a:bodyPr wrap="square" rtlCol="0">
            <a:spAutoFit/>
          </a:bodyPr>
          <a:lstStyle/>
          <a:p>
            <a:pPr/>
            <a:r>
              <a:rPr lang="en-US" sz="2400" dirty="0">
                <a:solidFill/>
                <a:latin typeface="Times" pitchFamily="2" charset="0"/>
              </a:rPr>
              <a:t>= 0</a:t>
            </a:r>
            <a:endParaRPr lang="en-US" sz="2400" baseline="-25000" dirty="0">
              <a:latin typeface="Times" pitchFamily="2" charset="0"/>
            </a:endParaRPr>
          </a:p>
        </p:txBody>
      </p:sp>
      <p:sp>
        <p:nvSpPr>
          <p:cNvPr id="29" name="TextBox 28">
            <a:extLst>
              <a:ext uri="{FF2B5EF4-FFF2-40B4-BE49-F238E27FC236}">
                <a16:creationId xmlns:a16="http://schemas.microsoft.com/office/drawing/2014/main" id="{ABA18C4E-4030-2E4E-2908-6B3E3C94420D}"/>
              </a:ext>
            </a:extLst>
          </p:cNvPr>
          <p:cNvSpPr txBox="1"/>
          <p:nvPr/>
        </p:nvSpPr>
        <p:spPr>
          <a:xfrm>
            <a:off x="8446665" y="2958007"/>
            <a:ext cx="2575988" cy="461665"/>
          </a:xfrm>
          <a:prstGeom prst="rect">
            <a:avLst/>
          </a:prstGeom>
          <a:noFill/>
        </p:spPr>
        <p:txBody>
          <a:bodyPr wrap="square" rtlCol="0">
            <a:spAutoFit/>
          </a:bodyPr>
          <a:lstStyle/>
          <a:p>
            <a:pPr/>
            <a:r>
              <a:rPr lang="en-US" sz="2400" dirty="0">
                <a:solidFill/>
                <a:latin typeface="Times" pitchFamily="2" charset="0"/>
              </a:rPr>
              <a:t>⇒  </a:t>
            </a:r>
            <a:r>
              <a:rPr lang="en-US" sz="2400" dirty="0">
                <a:solidFill/>
                <a:latin typeface="Symbol" pitchFamily="2" charset="2"/>
              </a:rPr>
              <a:t>D</a:t>
            </a:r>
            <a:r>
              <a:rPr lang="en-US" sz="2400" dirty="0">
                <a:solidFill/>
                <a:latin typeface="Times" pitchFamily="2" charset="0"/>
              </a:rPr>
              <a:t>KE = – </a:t>
            </a:r>
            <a:r>
              <a:rPr lang="en-US" sz="2400" dirty="0">
                <a:solidFill/>
                <a:latin typeface="Symbol" pitchFamily="2" charset="2"/>
              </a:rPr>
              <a:t>D</a:t>
            </a:r>
            <a:r>
              <a:rPr lang="en-US" sz="2400" dirty="0">
                <a:solidFill/>
                <a:latin typeface="Times" pitchFamily="2" charset="0"/>
              </a:rPr>
              <a:t>PE</a:t>
            </a:r>
            <a:endParaRPr lang="en-US" sz="2400" baseline="-25000" dirty="0">
              <a:latin typeface="Times" pitchFamily="2" charset="0"/>
            </a:endParaRPr>
          </a:p>
        </p:txBody>
      </p:sp>
      <p:sp>
        <p:nvSpPr>
          <p:cNvPr id="30" name="Rectangle 29">
            <a:extLst>
              <a:ext uri="{FF2B5EF4-FFF2-40B4-BE49-F238E27FC236}">
                <a16:creationId xmlns:a16="http://schemas.microsoft.com/office/drawing/2014/main" id="{A80E3771-D1C2-3F22-3C52-64F7C9F14E51}"/>
              </a:ext>
            </a:extLst>
          </p:cNvPr>
          <p:cNvSpPr/>
          <p:nvPr/>
        </p:nvSpPr>
        <p:spPr>
          <a:xfrm>
            <a:off x="8915400" y="3009900"/>
            <a:ext cx="17526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471E6DD6-0620-869C-DECA-F778773F3A80}"/>
              </a:ext>
            </a:extLst>
          </p:cNvPr>
          <p:cNvSpPr txBox="1"/>
          <p:nvPr/>
        </p:nvSpPr>
        <p:spPr>
          <a:xfrm>
            <a:off x="5474835" y="3610024"/>
            <a:ext cx="5307465" cy="707886"/>
          </a:xfrm>
          <a:prstGeom prst="rect">
            <a:avLst/>
          </a:prstGeom>
          <a:noFill/>
        </p:spPr>
        <p:txBody>
          <a:bodyPr wrap="square" rtlCol="0">
            <a:spAutoFit/>
          </a:bodyPr>
          <a:lstStyle/>
          <a:p>
            <a:pPr/>
            <a:r>
              <a:rPr lang="en-US" sz="2000" dirty="0">
                <a:solidFill/>
                <a:latin typeface="Times" pitchFamily="2" charset="0"/>
              </a:rPr>
              <a:t>*Any change (increase) in KE corresponds to an equal change (decrease) in PE and vice versa.</a:t>
            </a:r>
          </a:p>
        </p:txBody>
      </p:sp>
      <p:sp>
        <p:nvSpPr>
          <p:cNvPr id="32" name="Rectangle 31">
            <a:extLst>
              <a:ext uri="{FF2B5EF4-FFF2-40B4-BE49-F238E27FC236}">
                <a16:creationId xmlns:a16="http://schemas.microsoft.com/office/drawing/2014/main" id="{469A2B9D-21C8-C480-8090-D3007648D82C}"/>
              </a:ext>
            </a:extLst>
          </p:cNvPr>
          <p:cNvSpPr/>
          <p:nvPr/>
        </p:nvSpPr>
        <p:spPr>
          <a:xfrm>
            <a:off x="5511800" y="3606800"/>
            <a:ext cx="5067300" cy="685800"/>
          </a:xfrm>
          <a:prstGeom prst="rect">
            <a:avLst/>
          </a:prstGeom>
          <a:noFill/>
          <a:ln w="254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5011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dissolve">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dissolve">
                                      <p:cBhvr>
                                        <p:cTn id="16" dur="5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dissolve">
                                      <p:cBhvr>
                                        <p:cTn id="21" dur="500"/>
                                        <p:tgtEl>
                                          <p:spTgt spid="25"/>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dissolve">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dissolve">
                                      <p:cBhvr>
                                        <p:cTn id="31" dur="500"/>
                                        <p:tgtEl>
                                          <p:spTgt spid="28"/>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dissolve">
                                      <p:cBhvr>
                                        <p:cTn id="36" dur="500"/>
                                        <p:tgtEl>
                                          <p:spTgt spid="29"/>
                                        </p:tgtEl>
                                      </p:cBhvr>
                                    </p:animEffect>
                                  </p:childTnLst>
                                </p:cTn>
                              </p:par>
                            </p:childTnLst>
                          </p:cTn>
                        </p:par>
                        <p:par>
                          <p:cTn id="37" fill="hold">
                            <p:stCondLst>
                              <p:cond delay="500"/>
                            </p:stCondLst>
                            <p:childTnLst>
                              <p:par>
                                <p:cTn id="38" presetID="9" presetClass="entr" presetSubtype="0" fill="hold" grpId="0" nodeType="after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dissolve">
                                      <p:cBhvr>
                                        <p:cTn id="40" dur="500"/>
                                        <p:tgtEl>
                                          <p:spTgt spid="30"/>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dissolve">
                                      <p:cBhvr>
                                        <p:cTn id="45" dur="500"/>
                                        <p:tgtEl>
                                          <p:spTgt spid="31"/>
                                        </p:tgtEl>
                                      </p:cBhvr>
                                    </p:animEffect>
                                  </p:childTnLst>
                                </p:cTn>
                              </p:par>
                            </p:childTnLst>
                          </p:cTn>
                        </p:par>
                        <p:par>
                          <p:cTn id="46" fill="hold">
                            <p:stCondLst>
                              <p:cond delay="500"/>
                            </p:stCondLst>
                            <p:childTnLst>
                              <p:par>
                                <p:cTn id="47" presetID="9" presetClass="entr" presetSubtype="0" fill="hold" grpId="0" nodeType="after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dissolve">
                                      <p:cBhvr>
                                        <p:cTn id="49" dur="500"/>
                                        <p:tgtEl>
                                          <p:spTgt spid="32"/>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nodeType="click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dissolve">
                                      <p:cBhvr>
                                        <p:cTn id="5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3" grpId="0"/>
      <p:bldP spid="14" grpId="0"/>
      <p:bldP spid="28" grpId="0"/>
      <p:bldP spid="29" grpId="0"/>
      <p:bldP spid="30" grpId="0" animBg="1"/>
      <p:bldP spid="31" grpId="0"/>
      <p:bldP spid="3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AEC33-22EB-3161-1057-E87E300A46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302103-3E3E-E3E9-93DD-B7CB52709EDF}"/>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6.5</a:t>
            </a:r>
            <a:r>
              <a:rPr lang="en-US" dirty="0">
                <a:solidFill/>
                <a:ea typeface="Calibri" charset="0"/>
                <a:cs typeface="Calibri" charset="0"/>
              </a:rPr>
              <a:t> The Conservation of Mechanical Energy</a:t>
            </a:r>
            <a:endParaRPr lang="en-US" sz="3000" dirty="0"/>
          </a:p>
        </p:txBody>
      </p:sp>
      <p:sp>
        <p:nvSpPr>
          <p:cNvPr id="3" name="TextBox 2">
            <a:extLst>
              <a:ext uri="{FF2B5EF4-FFF2-40B4-BE49-F238E27FC236}">
                <a16:creationId xmlns:a16="http://schemas.microsoft.com/office/drawing/2014/main" id="{8B41DB75-394D-E170-4529-9445AFE11FFC}"/>
              </a:ext>
            </a:extLst>
          </p:cNvPr>
          <p:cNvSpPr txBox="1"/>
          <p:nvPr/>
        </p:nvSpPr>
        <p:spPr>
          <a:xfrm>
            <a:off x="158598" y="667295"/>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A Daredevil Motorcyclist</a:t>
            </a:r>
          </a:p>
        </p:txBody>
      </p:sp>
      <p:sp>
        <p:nvSpPr>
          <p:cNvPr id="5" name="TextBox 4">
            <a:extLst>
              <a:ext uri="{FF2B5EF4-FFF2-40B4-BE49-F238E27FC236}">
                <a16:creationId xmlns:a16="http://schemas.microsoft.com/office/drawing/2014/main" id="{14F2981C-AAD7-1DBB-F733-7D72FBC80D3D}"/>
              </a:ext>
            </a:extLst>
          </p:cNvPr>
          <p:cNvSpPr txBox="1"/>
          <p:nvPr/>
        </p:nvSpPr>
        <p:spPr>
          <a:xfrm>
            <a:off x="131110" y="1087442"/>
            <a:ext cx="6296584" cy="1938992"/>
          </a:xfrm>
          <a:prstGeom prst="rect">
            <a:avLst/>
          </a:prstGeom>
          <a:noFill/>
        </p:spPr>
        <p:txBody>
          <a:bodyPr wrap="square">
            <a:spAutoFit/>
          </a:bodyPr>
          <a:lstStyle/>
          <a:p>
            <a:pPr algn="just"/>
            <a:r>
              <a:rPr lang="en-US" sz="2400" dirty="0">
                <a:solidFill/>
                <a:latin typeface="Times" pitchFamily="2" charset="0"/>
              </a:rPr>
              <a:t>A motorcyclist is trying to leap across the canyon shown in the figure by driving horizontally off the cliff at a speed of 38.0 m/s. Ignoring air resistance, find the speed with which the cycle strikes the ground on the other side.</a:t>
            </a:r>
          </a:p>
        </p:txBody>
      </p:sp>
      <p:pic>
        <p:nvPicPr>
          <p:cNvPr id="7" name="Picture 6">
            <a:extLst>
              <a:ext uri="{FF2B5EF4-FFF2-40B4-BE49-F238E27FC236}">
                <a16:creationId xmlns:a16="http://schemas.microsoft.com/office/drawing/2014/main" id="{C680D3AD-4A9D-659E-E412-59C45609B601}"/>
              </a:ext>
            </a:extLst>
          </p:cNvPr>
          <p:cNvPicPr>
            <a:picLocks noChangeAspect="1"/>
          </p:cNvPicPr>
          <p:nvPr/>
        </p:nvPicPr>
        <p:blipFill>
          <a:blip r:embed="rId3"/>
          <a:stretch>
            <a:fillRect/>
          </a:stretch>
        </p:blipFill>
        <p:spPr>
          <a:xfrm>
            <a:off x="6565367" y="833717"/>
            <a:ext cx="5384586" cy="2729754"/>
          </a:xfrm>
          <a:prstGeom prst="rect">
            <a:avLst/>
          </a:prstGeom>
        </p:spPr>
      </p:pic>
      <p:sp>
        <p:nvSpPr>
          <p:cNvPr id="11" name="TextBox 10">
            <a:extLst>
              <a:ext uri="{FF2B5EF4-FFF2-40B4-BE49-F238E27FC236}">
                <a16:creationId xmlns:a16="http://schemas.microsoft.com/office/drawing/2014/main" id="{432BCAF5-7103-582D-1E30-6652754C5418}"/>
              </a:ext>
            </a:extLst>
          </p:cNvPr>
          <p:cNvSpPr txBox="1"/>
          <p:nvPr/>
        </p:nvSpPr>
        <p:spPr>
          <a:xfrm>
            <a:off x="161710" y="3043148"/>
            <a:ext cx="5709003" cy="830997"/>
          </a:xfrm>
          <a:prstGeom prst="rect">
            <a:avLst/>
          </a:prstGeom>
          <a:noFill/>
        </p:spPr>
        <p:txBody>
          <a:bodyPr wrap="square" rtlCol="0">
            <a:spAutoFit/>
          </a:bodyPr>
          <a:lstStyle/>
          <a:p>
            <a:pPr algn="just"/>
            <a:r>
              <a:rPr lang="en-US" sz="2400" dirty="0">
                <a:solidFill/>
                <a:latin typeface="Times" pitchFamily="2" charset="0"/>
              </a:rPr>
              <a:t>We solved problems like this in Chapter 03, using the equations of 2D projectile motion.</a:t>
            </a:r>
          </a:p>
        </p:txBody>
      </p:sp>
      <p:sp>
        <p:nvSpPr>
          <p:cNvPr id="15" name="TextBox 14">
            <a:extLst>
              <a:ext uri="{FF2B5EF4-FFF2-40B4-BE49-F238E27FC236}">
                <a16:creationId xmlns:a16="http://schemas.microsoft.com/office/drawing/2014/main" id="{4713D337-49FC-38DC-ECCA-B1497C39BC57}"/>
              </a:ext>
            </a:extLst>
          </p:cNvPr>
          <p:cNvSpPr txBox="1"/>
          <p:nvPr/>
        </p:nvSpPr>
        <p:spPr>
          <a:xfrm>
            <a:off x="193086" y="3894796"/>
            <a:ext cx="10604901" cy="461665"/>
          </a:xfrm>
          <a:prstGeom prst="rect">
            <a:avLst/>
          </a:prstGeom>
          <a:noFill/>
        </p:spPr>
        <p:txBody>
          <a:bodyPr wrap="square" rtlCol="0">
            <a:spAutoFit/>
          </a:bodyPr>
          <a:lstStyle/>
          <a:p>
            <a:pPr algn="just"/>
            <a:r>
              <a:rPr lang="en-US" sz="2400" dirty="0">
                <a:solidFill/>
                <a:latin typeface="Times" pitchFamily="2" charset="0"/>
              </a:rPr>
              <a:t>But here, </a:t>
            </a:r>
            <a:r>
              <a:rPr lang="en-US" sz="2400" dirty="0">
                <a:solidFill>
                  <a:srgbClr val="007440"/>
                </a:solidFill>
                <a:latin typeface="Times" pitchFamily="2" charset="0"/>
              </a:rPr>
              <a:t>conservation of mechanical energy </a:t>
            </a:r>
            <a:r>
              <a:rPr lang="en-US" sz="2400" dirty="0">
                <a:solidFill/>
                <a:latin typeface="Times" pitchFamily="2" charset="0"/>
              </a:rPr>
              <a:t>makes this problem relatively simple.</a:t>
            </a:r>
          </a:p>
        </p:txBody>
      </p:sp>
      <p:sp>
        <p:nvSpPr>
          <p:cNvPr id="18" name="TextBox 17">
            <a:extLst>
              <a:ext uri="{FF2B5EF4-FFF2-40B4-BE49-F238E27FC236}">
                <a16:creationId xmlns:a16="http://schemas.microsoft.com/office/drawing/2014/main" id="{29393BA0-778C-0F34-1513-2DB744EEEB56}"/>
              </a:ext>
            </a:extLst>
          </p:cNvPr>
          <p:cNvSpPr txBox="1"/>
          <p:nvPr/>
        </p:nvSpPr>
        <p:spPr>
          <a:xfrm>
            <a:off x="197568" y="4396819"/>
            <a:ext cx="11810656" cy="830997"/>
          </a:xfrm>
          <a:prstGeom prst="rect">
            <a:avLst/>
          </a:prstGeom>
          <a:noFill/>
        </p:spPr>
        <p:txBody>
          <a:bodyPr wrap="square" rtlCol="0">
            <a:spAutoFit/>
          </a:bodyPr>
          <a:lstStyle/>
          <a:p>
            <a:pPr algn="just"/>
            <a:r>
              <a:rPr lang="en-US" sz="2400" dirty="0">
                <a:solidFill/>
                <a:latin typeface="Times" pitchFamily="2" charset="0"/>
              </a:rPr>
              <a:t>We are ignoring air resistance, so once the motorcyclist is in the air, the only force that does any work is gravity, and gravity is a </a:t>
            </a:r>
            <a:r>
              <a:rPr lang="en-US" sz="2400" dirty="0">
                <a:solidFill>
                  <a:srgbClr val="007440"/>
                </a:solidFill>
                <a:latin typeface="Times" pitchFamily="2" charset="0"/>
              </a:rPr>
              <a:t>conservative force</a:t>
            </a:r>
            <a:r>
              <a:rPr lang="en-US" sz="2400" dirty="0">
                <a:solidFill/>
                <a:latin typeface="Times" pitchFamily="2" charset="0"/>
              </a:rPr>
              <a:t>.  </a:t>
            </a:r>
          </a:p>
        </p:txBody>
      </p:sp>
      <p:grpSp>
        <p:nvGrpSpPr>
          <p:cNvPr id="21" name="Group 20">
            <a:extLst>
              <a:ext uri="{FF2B5EF4-FFF2-40B4-BE49-F238E27FC236}">
                <a16:creationId xmlns:a16="http://schemas.microsoft.com/office/drawing/2014/main" id="{ED651AD0-4D04-58CB-FFFD-C665DCB2BA7E}"/>
              </a:ext>
            </a:extLst>
          </p:cNvPr>
          <p:cNvGrpSpPr/>
          <p:nvPr/>
        </p:nvGrpSpPr>
        <p:grpSpPr>
          <a:xfrm>
            <a:off x="179638" y="5288806"/>
            <a:ext cx="5541712" cy="560665"/>
            <a:chOff x="179638" y="5288806"/>
            <a:chExt cx="5541712" cy="560665"/>
          </a:xfrm>
        </p:grpSpPr>
        <p:sp>
          <p:nvSpPr>
            <p:cNvPr id="19" name="TextBox 18">
              <a:extLst>
                <a:ext uri="{FF2B5EF4-FFF2-40B4-BE49-F238E27FC236}">
                  <a16:creationId xmlns:a16="http://schemas.microsoft.com/office/drawing/2014/main" id="{6012A3E6-5D1A-79D4-4546-058F4C5B11C1}"/>
                </a:ext>
              </a:extLst>
            </p:cNvPr>
            <p:cNvSpPr txBox="1"/>
            <p:nvPr/>
          </p:nvSpPr>
          <p:spPr>
            <a:xfrm>
              <a:off x="179638" y="5288806"/>
              <a:ext cx="4647857" cy="461665"/>
            </a:xfrm>
            <a:prstGeom prst="rect">
              <a:avLst/>
            </a:prstGeom>
            <a:noFill/>
          </p:spPr>
          <p:txBody>
            <a:bodyPr wrap="square" rtlCol="0">
              <a:spAutoFit/>
            </a:bodyPr>
            <a:lstStyle/>
            <a:p>
              <a:pPr algn="just"/>
              <a:r>
                <a:rPr lang="en-US" sz="2400" dirty="0">
                  <a:solidFill/>
                  <a:latin typeface="Times" pitchFamily="2" charset="0"/>
                </a:rPr>
                <a:t>Thus, we can apply Equation 6.9a:</a:t>
              </a:r>
            </a:p>
          </p:txBody>
        </p:sp>
        <p:sp>
          <p:nvSpPr>
            <p:cNvPr id="20" name="Rounded Rectangle 19">
              <a:extLst>
                <a:ext uri="{FF2B5EF4-FFF2-40B4-BE49-F238E27FC236}">
                  <a16:creationId xmlns:a16="http://schemas.microsoft.com/office/drawing/2014/main" id="{9F426722-7214-1859-F2E2-B5AF1D3E20AE}"/>
                </a:ext>
              </a:extLst>
            </p:cNvPr>
            <p:cNvSpPr/>
            <p:nvPr/>
          </p:nvSpPr>
          <p:spPr>
            <a:xfrm>
              <a:off x="4666129" y="5311588"/>
              <a:ext cx="1055221" cy="5378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TextBox 21">
            <a:extLst>
              <a:ext uri="{FF2B5EF4-FFF2-40B4-BE49-F238E27FC236}">
                <a16:creationId xmlns:a16="http://schemas.microsoft.com/office/drawing/2014/main" id="{7BE64B37-17A9-E443-0E93-CD883637B17B}"/>
              </a:ext>
            </a:extLst>
          </p:cNvPr>
          <p:cNvSpPr txBox="1"/>
          <p:nvPr/>
        </p:nvSpPr>
        <p:spPr>
          <a:xfrm>
            <a:off x="4630472" y="5352140"/>
            <a:ext cx="1286234" cy="461665"/>
          </a:xfrm>
          <a:prstGeom prst="rect">
            <a:avLst/>
          </a:prstGeom>
          <a:noFill/>
        </p:spPr>
        <p:txBody>
          <a:bodyPr wrap="square">
            <a:spAutoFit/>
          </a:bodyPr>
          <a:lstStyle/>
          <a:p>
            <a:pPr algn="just"/>
            <a:r>
              <a:rPr lang="en-US" sz="2400" i="1" dirty="0">
                <a:solidFill/>
                <a:latin typeface="Times" pitchFamily="2" charset="0"/>
              </a:rPr>
              <a:t>E</a:t>
            </a:r>
            <a:r>
              <a:rPr lang="en-US" sz="2400" baseline="-25000" dirty="0">
                <a:solidFill/>
                <a:latin typeface="Times" pitchFamily="2" charset="0"/>
              </a:rPr>
              <a:t>f</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0</a:t>
            </a:r>
          </a:p>
        </p:txBody>
      </p:sp>
      <p:grpSp>
        <p:nvGrpSpPr>
          <p:cNvPr id="34" name="Group 33">
            <a:extLst>
              <a:ext uri="{FF2B5EF4-FFF2-40B4-BE49-F238E27FC236}">
                <a16:creationId xmlns:a16="http://schemas.microsoft.com/office/drawing/2014/main" id="{D461BA0F-BF76-4C97-EEDD-79BB72C5F663}"/>
              </a:ext>
            </a:extLst>
          </p:cNvPr>
          <p:cNvGrpSpPr/>
          <p:nvPr/>
        </p:nvGrpSpPr>
        <p:grpSpPr>
          <a:xfrm>
            <a:off x="192889" y="5282180"/>
            <a:ext cx="11853337" cy="1104395"/>
            <a:chOff x="192889" y="5282180"/>
            <a:chExt cx="11853337" cy="1104395"/>
          </a:xfrm>
        </p:grpSpPr>
        <p:sp>
          <p:nvSpPr>
            <p:cNvPr id="26" name="TextBox 25">
              <a:extLst>
                <a:ext uri="{FF2B5EF4-FFF2-40B4-BE49-F238E27FC236}">
                  <a16:creationId xmlns:a16="http://schemas.microsoft.com/office/drawing/2014/main" id="{68AAAE2D-F433-F067-6705-B423F15690BA}"/>
                </a:ext>
              </a:extLst>
            </p:cNvPr>
            <p:cNvSpPr txBox="1"/>
            <p:nvPr/>
          </p:nvSpPr>
          <p:spPr>
            <a:xfrm>
              <a:off x="6030472" y="5282180"/>
              <a:ext cx="6015754" cy="461665"/>
            </a:xfrm>
            <a:prstGeom prst="rect">
              <a:avLst/>
            </a:prstGeom>
            <a:noFill/>
          </p:spPr>
          <p:txBody>
            <a:bodyPr wrap="square" rtlCol="0">
              <a:spAutoFit/>
            </a:bodyPr>
            <a:lstStyle/>
            <a:p>
              <a:pPr algn="just"/>
              <a:r>
                <a:rPr lang="en-US" sz="2400" dirty="0">
                  <a:solidFill/>
                  <a:latin typeface="Times" pitchFamily="2" charset="0"/>
                </a:rPr>
                <a:t>We choose our origin by placing </a:t>
              </a:r>
              <a:r>
                <a:rPr lang="en-US" sz="2400" i="1" dirty="0">
                  <a:solidFill/>
                  <a:latin typeface="Times" pitchFamily="2" charset="0"/>
                </a:rPr>
                <a:t>y</a:t>
              </a:r>
              <a:r>
                <a:rPr lang="en-US" sz="2400" dirty="0">
                  <a:solidFill/>
                  <a:latin typeface="Times" pitchFamily="2" charset="0"/>
                </a:rPr>
                <a:t> = 0 m at the</a:t>
              </a:r>
            </a:p>
          </p:txBody>
        </p:sp>
        <p:sp>
          <p:nvSpPr>
            <p:cNvPr id="33" name="TextBox 32">
              <a:extLst>
                <a:ext uri="{FF2B5EF4-FFF2-40B4-BE49-F238E27FC236}">
                  <a16:creationId xmlns:a16="http://schemas.microsoft.com/office/drawing/2014/main" id="{AC08B8A5-3FF6-E40E-B99F-84DEC8DF7628}"/>
                </a:ext>
              </a:extLst>
            </p:cNvPr>
            <p:cNvSpPr txBox="1"/>
            <p:nvPr/>
          </p:nvSpPr>
          <p:spPr>
            <a:xfrm>
              <a:off x="192889" y="5924910"/>
              <a:ext cx="8540294" cy="461665"/>
            </a:xfrm>
            <a:prstGeom prst="rect">
              <a:avLst/>
            </a:prstGeom>
            <a:noFill/>
          </p:spPr>
          <p:txBody>
            <a:bodyPr wrap="square" rtlCol="0">
              <a:spAutoFit/>
            </a:bodyPr>
            <a:lstStyle/>
            <a:p>
              <a:pPr algn="just"/>
              <a:r>
                <a:rPr lang="en-US" sz="2400" dirty="0">
                  <a:solidFill/>
                  <a:latin typeface="Times" pitchFamily="2" charset="0"/>
                </a:rPr>
                <a:t>ground, so that our heights are measured relative to that. </a:t>
              </a:r>
            </a:p>
          </p:txBody>
        </p:sp>
      </p:grpSp>
      <p:grpSp>
        <p:nvGrpSpPr>
          <p:cNvPr id="44" name="Group 43">
            <a:extLst>
              <a:ext uri="{FF2B5EF4-FFF2-40B4-BE49-F238E27FC236}">
                <a16:creationId xmlns:a16="http://schemas.microsoft.com/office/drawing/2014/main" id="{2EA513BB-14F9-62A0-0BCB-AA43769EAE25}"/>
              </a:ext>
            </a:extLst>
          </p:cNvPr>
          <p:cNvGrpSpPr/>
          <p:nvPr/>
        </p:nvGrpSpPr>
        <p:grpSpPr>
          <a:xfrm>
            <a:off x="5751443" y="2928731"/>
            <a:ext cx="1736035" cy="892793"/>
            <a:chOff x="5751443" y="2928731"/>
            <a:chExt cx="1736035" cy="892793"/>
          </a:xfrm>
        </p:grpSpPr>
        <p:sp>
          <p:nvSpPr>
            <p:cNvPr id="35" name="TextBox 34">
              <a:extLst>
                <a:ext uri="{FF2B5EF4-FFF2-40B4-BE49-F238E27FC236}">
                  <a16:creationId xmlns:a16="http://schemas.microsoft.com/office/drawing/2014/main" id="{97BA0ABB-DC27-D9EA-7A2F-07571DFAD4D1}"/>
                </a:ext>
              </a:extLst>
            </p:cNvPr>
            <p:cNvSpPr txBox="1"/>
            <p:nvPr/>
          </p:nvSpPr>
          <p:spPr>
            <a:xfrm>
              <a:off x="5751443" y="3352800"/>
              <a:ext cx="1258957" cy="369332"/>
            </a:xfrm>
            <a:prstGeom prst="rect">
              <a:avLst/>
            </a:prstGeom>
            <a:noFill/>
          </p:spPr>
          <p:txBody>
            <a:bodyPr wrap="square" rtlCol="0">
              <a:spAutoFit/>
            </a:bodyPr>
            <a:lstStyle/>
            <a:p>
              <a:pPr/>
              <a:r>
                <a:rPr lang="en-US" i="1" dirty="0">
                  <a:solidFill/>
                  <a:latin typeface="Times" pitchFamily="2" charset="0"/>
                  <a:cs typeface="Times New Roman" panose="02020603050405020304" pitchFamily="18" charset="0"/>
                </a:rPr>
                <a:t>y</a:t>
              </a:r>
              <a:r>
                <a:rPr lang="en-US" dirty="0">
                  <a:solidFill/>
                  <a:latin typeface="Times" pitchFamily="2" charset="0"/>
                </a:rPr>
                <a:t> = 0 m</a:t>
              </a:r>
            </a:p>
          </p:txBody>
        </p:sp>
        <p:grpSp>
          <p:nvGrpSpPr>
            <p:cNvPr id="43" name="Group 42">
              <a:extLst>
                <a:ext uri="{FF2B5EF4-FFF2-40B4-BE49-F238E27FC236}">
                  <a16:creationId xmlns:a16="http://schemas.microsoft.com/office/drawing/2014/main" id="{02AB6BC1-4FE1-7CFC-F091-3C6E372CFE07}"/>
                </a:ext>
              </a:extLst>
            </p:cNvPr>
            <p:cNvGrpSpPr/>
            <p:nvPr/>
          </p:nvGrpSpPr>
          <p:grpSpPr>
            <a:xfrm>
              <a:off x="6142382" y="2928731"/>
              <a:ext cx="1345096" cy="892793"/>
              <a:chOff x="10197547" y="0"/>
              <a:chExt cx="1345096" cy="892793"/>
            </a:xfrm>
          </p:grpSpPr>
          <p:cxnSp>
            <p:nvCxnSpPr>
              <p:cNvPr id="37" name="Straight Arrow Connector 36">
                <a:extLst>
                  <a:ext uri="{FF2B5EF4-FFF2-40B4-BE49-F238E27FC236}">
                    <a16:creationId xmlns:a16="http://schemas.microsoft.com/office/drawing/2014/main" id="{F2A7F86C-FD06-CEBC-97B0-70245AC92222}"/>
                  </a:ext>
                </a:extLst>
              </p:cNvPr>
              <p:cNvCxnSpPr/>
              <p:nvPr/>
            </p:nvCxnSpPr>
            <p:spPr>
              <a:xfrm flipV="1">
                <a:off x="10614991" y="185530"/>
                <a:ext cx="0" cy="43732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139ECD0D-F8FF-9265-4B79-F983F2BFC6FD}"/>
                  </a:ext>
                </a:extLst>
              </p:cNvPr>
              <p:cNvCxnSpPr>
                <a:cxnSpLocks/>
              </p:cNvCxnSpPr>
              <p:nvPr/>
            </p:nvCxnSpPr>
            <p:spPr>
              <a:xfrm>
                <a:off x="10602015" y="629478"/>
                <a:ext cx="53671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90DA8B74-C415-6912-FABB-80A9A3638B1D}"/>
                  </a:ext>
                </a:extLst>
              </p:cNvPr>
              <p:cNvSpPr txBox="1"/>
              <p:nvPr/>
            </p:nvSpPr>
            <p:spPr>
              <a:xfrm>
                <a:off x="10197547" y="0"/>
                <a:ext cx="1258957" cy="369332"/>
              </a:xfrm>
              <a:prstGeom prst="rect">
                <a:avLst/>
              </a:prstGeom>
              <a:noFill/>
            </p:spPr>
            <p:txBody>
              <a:bodyPr wrap="square" rtlCol="0">
                <a:spAutoFit/>
              </a:bodyPr>
              <a:lstStyle/>
              <a:p>
                <a:pPr/>
                <a:r>
                  <a:rPr lang="en-US" i="1" dirty="0">
                    <a:solidFill/>
                    <a:latin typeface="Times" pitchFamily="2" charset="0"/>
                    <a:cs typeface="Times New Roman" panose="02020603050405020304" pitchFamily="18" charset="0"/>
                  </a:rPr>
                  <a:t>+y</a:t>
                </a:r>
                <a:endParaRPr lang="en-US" dirty="0">
                  <a:latin typeface="Times" pitchFamily="2" charset="0"/>
                </a:endParaRPr>
              </a:p>
            </p:txBody>
          </p:sp>
          <p:sp>
            <p:nvSpPr>
              <p:cNvPr id="42" name="TextBox 41">
                <a:extLst>
                  <a:ext uri="{FF2B5EF4-FFF2-40B4-BE49-F238E27FC236}">
                    <a16:creationId xmlns:a16="http://schemas.microsoft.com/office/drawing/2014/main" id="{26AA3CBE-0E35-7FE0-E01F-33896D17B5AE}"/>
                  </a:ext>
                </a:extLst>
              </p:cNvPr>
              <p:cNvSpPr txBox="1"/>
              <p:nvPr/>
            </p:nvSpPr>
            <p:spPr>
              <a:xfrm>
                <a:off x="10906538" y="523461"/>
                <a:ext cx="636105" cy="369332"/>
              </a:xfrm>
              <a:prstGeom prst="rect">
                <a:avLst/>
              </a:prstGeom>
              <a:noFill/>
            </p:spPr>
            <p:txBody>
              <a:bodyPr wrap="square" rtlCol="0">
                <a:spAutoFit/>
              </a:bodyPr>
              <a:lstStyle/>
              <a:p>
                <a:pPr/>
                <a:r>
                  <a:rPr lang="en-US" i="1" dirty="0">
                    <a:solidFill/>
                    <a:latin typeface="Times" pitchFamily="2" charset="0"/>
                    <a:cs typeface="Times New Roman" panose="02020603050405020304" pitchFamily="18" charset="0"/>
                  </a:rPr>
                  <a:t>+x</a:t>
                </a:r>
                <a:endParaRPr lang="en-US" dirty="0">
                  <a:latin typeface="Times" pitchFamily="2" charset="0"/>
                </a:endParaRPr>
              </a:p>
            </p:txBody>
          </p:sp>
        </p:grpSp>
      </p:grpSp>
    </p:spTree>
    <p:extLst>
      <p:ext uri="{BB962C8B-B14F-4D97-AF65-F5344CB8AC3E}">
        <p14:creationId xmlns:p14="http://schemas.microsoft.com/office/powerpoint/2010/main" val="2538095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dissolv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dissolv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dissolv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dissolve">
                                      <p:cBhvr>
                                        <p:cTn id="32" dur="500"/>
                                        <p:tgtEl>
                                          <p:spTgt spid="34"/>
                                        </p:tgtEl>
                                      </p:cBhvr>
                                    </p:animEffect>
                                  </p:childTnLst>
                                </p:cTn>
                              </p:par>
                            </p:childTnLst>
                          </p:cTn>
                        </p:par>
                        <p:par>
                          <p:cTn id="33" fill="hold">
                            <p:stCondLst>
                              <p:cond delay="500"/>
                            </p:stCondLst>
                            <p:childTnLst>
                              <p:par>
                                <p:cTn id="34" presetID="9" presetClass="entr" presetSubtype="0" fill="hold" nodeType="afterEffect">
                                  <p:stCondLst>
                                    <p:cond delay="0"/>
                                  </p:stCondLst>
                                  <p:childTnLst>
                                    <p:set>
                                      <p:cBhvr>
                                        <p:cTn id="35" dur="1" fill="hold">
                                          <p:stCondLst>
                                            <p:cond delay="0"/>
                                          </p:stCondLst>
                                        </p:cTn>
                                        <p:tgtEl>
                                          <p:spTgt spid="44"/>
                                        </p:tgtEl>
                                        <p:attrNameLst>
                                          <p:attrName>style.visibility</p:attrName>
                                        </p:attrNameLst>
                                      </p:cBhvr>
                                      <p:to>
                                        <p:strVal val="visible"/>
                                      </p:to>
                                    </p:set>
                                    <p:animEffect transition="in" filter="dissolve">
                                      <p:cBhvr>
                                        <p:cTn id="36"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18" grpId="0"/>
      <p:bldP spid="2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B4D66-2841-7DE7-875B-A3C95C5368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90F7E1-60F1-A097-B14E-89B1015A1827}"/>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6.5</a:t>
            </a:r>
            <a:r>
              <a:rPr lang="en-US" dirty="0">
                <a:solidFill/>
                <a:ea typeface="Calibri" charset="0"/>
                <a:cs typeface="Calibri" charset="0"/>
              </a:rPr>
              <a:t> The Conservation of Mechanical Energy</a:t>
            </a:r>
            <a:endParaRPr lang="en-US" sz="3000" dirty="0"/>
          </a:p>
        </p:txBody>
      </p:sp>
      <p:sp>
        <p:nvSpPr>
          <p:cNvPr id="3" name="TextBox 2">
            <a:extLst>
              <a:ext uri="{FF2B5EF4-FFF2-40B4-BE49-F238E27FC236}">
                <a16:creationId xmlns:a16="http://schemas.microsoft.com/office/drawing/2014/main" id="{B2B951AF-6875-D3E5-DB6E-9510C7A872A5}"/>
              </a:ext>
            </a:extLst>
          </p:cNvPr>
          <p:cNvSpPr txBox="1"/>
          <p:nvPr/>
        </p:nvSpPr>
        <p:spPr>
          <a:xfrm>
            <a:off x="158598" y="667295"/>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A Daredevil Motorcyclist</a:t>
            </a:r>
          </a:p>
        </p:txBody>
      </p:sp>
      <p:pic>
        <p:nvPicPr>
          <p:cNvPr id="7" name="Picture 6">
            <a:extLst>
              <a:ext uri="{FF2B5EF4-FFF2-40B4-BE49-F238E27FC236}">
                <a16:creationId xmlns:a16="http://schemas.microsoft.com/office/drawing/2014/main" id="{8BEA1ADD-B917-B2B5-1896-33C1FEB66BF6}"/>
              </a:ext>
            </a:extLst>
          </p:cNvPr>
          <p:cNvPicPr>
            <a:picLocks noChangeAspect="1"/>
          </p:cNvPicPr>
          <p:nvPr/>
        </p:nvPicPr>
        <p:blipFill>
          <a:blip r:embed="rId3"/>
          <a:stretch>
            <a:fillRect/>
          </a:stretch>
        </p:blipFill>
        <p:spPr>
          <a:xfrm>
            <a:off x="6565367" y="833717"/>
            <a:ext cx="5384586" cy="2729754"/>
          </a:xfrm>
          <a:prstGeom prst="rect">
            <a:avLst/>
          </a:prstGeom>
        </p:spPr>
      </p:pic>
      <p:grpSp>
        <p:nvGrpSpPr>
          <p:cNvPr id="8" name="Group 7">
            <a:extLst>
              <a:ext uri="{FF2B5EF4-FFF2-40B4-BE49-F238E27FC236}">
                <a16:creationId xmlns:a16="http://schemas.microsoft.com/office/drawing/2014/main" id="{3E6AD092-FF9A-12BF-4351-8D57E18F8F91}"/>
              </a:ext>
            </a:extLst>
          </p:cNvPr>
          <p:cNvGrpSpPr/>
          <p:nvPr/>
        </p:nvGrpSpPr>
        <p:grpSpPr>
          <a:xfrm>
            <a:off x="6142382" y="2928731"/>
            <a:ext cx="1345096" cy="892793"/>
            <a:chOff x="10197547" y="0"/>
            <a:chExt cx="1345096" cy="892793"/>
          </a:xfrm>
        </p:grpSpPr>
        <p:cxnSp>
          <p:nvCxnSpPr>
            <p:cNvPr id="9" name="Straight Arrow Connector 8">
              <a:extLst>
                <a:ext uri="{FF2B5EF4-FFF2-40B4-BE49-F238E27FC236}">
                  <a16:creationId xmlns:a16="http://schemas.microsoft.com/office/drawing/2014/main" id="{3A3C0887-940C-5520-FED4-8D38AE7CA2DF}"/>
                </a:ext>
              </a:extLst>
            </p:cNvPr>
            <p:cNvCxnSpPr/>
            <p:nvPr/>
          </p:nvCxnSpPr>
          <p:spPr>
            <a:xfrm flipV="1">
              <a:off x="10614991" y="185530"/>
              <a:ext cx="0" cy="43732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BB31BAD-1D62-E5C4-6E84-D38273EAB1A5}"/>
                </a:ext>
              </a:extLst>
            </p:cNvPr>
            <p:cNvCxnSpPr>
              <a:cxnSpLocks/>
            </p:cNvCxnSpPr>
            <p:nvPr/>
          </p:nvCxnSpPr>
          <p:spPr>
            <a:xfrm>
              <a:off x="10602015" y="629478"/>
              <a:ext cx="53671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D513E52-1A29-47A7-8CC9-5D2E6C8FE69C}"/>
                </a:ext>
              </a:extLst>
            </p:cNvPr>
            <p:cNvSpPr txBox="1"/>
            <p:nvPr/>
          </p:nvSpPr>
          <p:spPr>
            <a:xfrm>
              <a:off x="10197547" y="0"/>
              <a:ext cx="1258957" cy="369332"/>
            </a:xfrm>
            <a:prstGeom prst="rect">
              <a:avLst/>
            </a:prstGeom>
            <a:noFill/>
          </p:spPr>
          <p:txBody>
            <a:bodyPr wrap="square" rtlCol="0">
              <a:spAutoFit/>
            </a:bodyPr>
            <a:lstStyle/>
            <a:p>
              <a:pPr/>
              <a:r>
                <a:rPr lang="en-US" i="1" dirty="0">
                  <a:solidFill/>
                  <a:latin typeface="Times" pitchFamily="2" charset="0"/>
                  <a:cs typeface="Times New Roman" panose="02020603050405020304" pitchFamily="18" charset="0"/>
                </a:rPr>
                <a:t>+y</a:t>
              </a:r>
              <a:endParaRPr lang="en-US" dirty="0">
                <a:latin typeface="Times" pitchFamily="2" charset="0"/>
              </a:endParaRPr>
            </a:p>
          </p:txBody>
        </p:sp>
        <p:sp>
          <p:nvSpPr>
            <p:cNvPr id="13" name="TextBox 12">
              <a:extLst>
                <a:ext uri="{FF2B5EF4-FFF2-40B4-BE49-F238E27FC236}">
                  <a16:creationId xmlns:a16="http://schemas.microsoft.com/office/drawing/2014/main" id="{B9803B9E-BF8C-6FD7-8595-3643AA128630}"/>
                </a:ext>
              </a:extLst>
            </p:cNvPr>
            <p:cNvSpPr txBox="1"/>
            <p:nvPr/>
          </p:nvSpPr>
          <p:spPr>
            <a:xfrm>
              <a:off x="10906538" y="523461"/>
              <a:ext cx="636105" cy="369332"/>
            </a:xfrm>
            <a:prstGeom prst="rect">
              <a:avLst/>
            </a:prstGeom>
            <a:noFill/>
          </p:spPr>
          <p:txBody>
            <a:bodyPr wrap="square" rtlCol="0">
              <a:spAutoFit/>
            </a:bodyPr>
            <a:lstStyle/>
            <a:p>
              <a:pPr/>
              <a:r>
                <a:rPr lang="en-US" i="1" dirty="0">
                  <a:solidFill/>
                  <a:latin typeface="Times" pitchFamily="2" charset="0"/>
                  <a:cs typeface="Times New Roman" panose="02020603050405020304" pitchFamily="18" charset="0"/>
                </a:rPr>
                <a:t>+x</a:t>
              </a:r>
              <a:endParaRPr lang="en-US" dirty="0">
                <a:latin typeface="Times" pitchFamily="2" charset="0"/>
              </a:endParaRPr>
            </a:p>
          </p:txBody>
        </p:sp>
      </p:grpSp>
      <p:grpSp>
        <p:nvGrpSpPr>
          <p:cNvPr id="24" name="Group 23">
            <a:extLst>
              <a:ext uri="{FF2B5EF4-FFF2-40B4-BE49-F238E27FC236}">
                <a16:creationId xmlns:a16="http://schemas.microsoft.com/office/drawing/2014/main" id="{D26805D8-B9F7-24D9-E1DB-B43F6E5168F7}"/>
              </a:ext>
            </a:extLst>
          </p:cNvPr>
          <p:cNvGrpSpPr/>
          <p:nvPr/>
        </p:nvGrpSpPr>
        <p:grpSpPr>
          <a:xfrm>
            <a:off x="232012" y="1201003"/>
            <a:ext cx="5936776" cy="2074457"/>
            <a:chOff x="232012" y="1201003"/>
            <a:chExt cx="5936776" cy="2074457"/>
          </a:xfrm>
        </p:grpSpPr>
        <p:sp>
          <p:nvSpPr>
            <p:cNvPr id="14" name="TextBox 13">
              <a:extLst>
                <a:ext uri="{FF2B5EF4-FFF2-40B4-BE49-F238E27FC236}">
                  <a16:creationId xmlns:a16="http://schemas.microsoft.com/office/drawing/2014/main" id="{57DC8066-5E5D-FEB5-926E-288D29201199}"/>
                </a:ext>
              </a:extLst>
            </p:cNvPr>
            <p:cNvSpPr txBox="1"/>
            <p:nvPr/>
          </p:nvSpPr>
          <p:spPr>
            <a:xfrm>
              <a:off x="232012" y="1201003"/>
              <a:ext cx="5936776" cy="1569660"/>
            </a:xfrm>
            <a:prstGeom prst="rect">
              <a:avLst/>
            </a:prstGeom>
            <a:noFill/>
          </p:spPr>
          <p:txBody>
            <a:bodyPr wrap="square" rtlCol="0">
              <a:spAutoFit/>
            </a:bodyPr>
            <a:lstStyle/>
            <a:p>
              <a:pPr algn="just"/>
              <a:r>
                <a:rPr lang="en-US" sz="2400" dirty="0">
                  <a:solidFill/>
                  <a:latin typeface="Times" pitchFamily="2" charset="0"/>
                </a:rPr>
                <a:t>At the initial position, when the motorcyclist leaves the cliff, and at the final position, when the motorcyclist lands, he has both KE and PE at each location.  Thus:</a:t>
              </a:r>
            </a:p>
          </p:txBody>
        </p:sp>
        <p:sp>
          <p:nvSpPr>
            <p:cNvPr id="17" name="Rounded Rectangle 16">
              <a:extLst>
                <a:ext uri="{FF2B5EF4-FFF2-40B4-BE49-F238E27FC236}">
                  <a16:creationId xmlns:a16="http://schemas.microsoft.com/office/drawing/2014/main" id="{B919AF1C-C6A6-BBC4-22ED-D3E7EF3FD616}"/>
                </a:ext>
              </a:extLst>
            </p:cNvPr>
            <p:cNvSpPr/>
            <p:nvPr/>
          </p:nvSpPr>
          <p:spPr>
            <a:xfrm>
              <a:off x="327546" y="2756844"/>
              <a:ext cx="4408227" cy="51861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TextBox 15">
            <a:extLst>
              <a:ext uri="{FF2B5EF4-FFF2-40B4-BE49-F238E27FC236}">
                <a16:creationId xmlns:a16="http://schemas.microsoft.com/office/drawing/2014/main" id="{4561A791-CED5-0C6B-51D4-816A3FCE76CC}"/>
              </a:ext>
            </a:extLst>
          </p:cNvPr>
          <p:cNvSpPr txBox="1"/>
          <p:nvPr/>
        </p:nvSpPr>
        <p:spPr>
          <a:xfrm>
            <a:off x="304132" y="2772709"/>
            <a:ext cx="1286234" cy="461665"/>
          </a:xfrm>
          <a:prstGeom prst="rect">
            <a:avLst/>
          </a:prstGeom>
          <a:noFill/>
        </p:spPr>
        <p:txBody>
          <a:bodyPr wrap="square">
            <a:spAutoFit/>
          </a:bodyPr>
          <a:lstStyle/>
          <a:p>
            <a:pPr algn="just"/>
            <a:r>
              <a:rPr lang="en-US" sz="2400" i="1" dirty="0">
                <a:solidFill/>
                <a:latin typeface="Times" pitchFamily="2" charset="0"/>
              </a:rPr>
              <a:t>E</a:t>
            </a:r>
            <a:r>
              <a:rPr lang="en-US" sz="2400" baseline="-25000" dirty="0">
                <a:solidFill/>
                <a:latin typeface="Times" pitchFamily="2" charset="0"/>
              </a:rPr>
              <a:t>f</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0</a:t>
            </a:r>
          </a:p>
        </p:txBody>
      </p:sp>
      <p:sp>
        <p:nvSpPr>
          <p:cNvPr id="25" name="TextBox 24">
            <a:extLst>
              <a:ext uri="{FF2B5EF4-FFF2-40B4-BE49-F238E27FC236}">
                <a16:creationId xmlns:a16="http://schemas.microsoft.com/office/drawing/2014/main" id="{B3901F96-2BB0-E224-E682-004136C4375E}"/>
              </a:ext>
            </a:extLst>
          </p:cNvPr>
          <p:cNvSpPr txBox="1"/>
          <p:nvPr/>
        </p:nvSpPr>
        <p:spPr>
          <a:xfrm>
            <a:off x="1234455" y="2788632"/>
            <a:ext cx="3787921" cy="461665"/>
          </a:xfrm>
          <a:prstGeom prst="rect">
            <a:avLst/>
          </a:prstGeom>
          <a:noFill/>
        </p:spPr>
        <p:txBody>
          <a:bodyPr wrap="square">
            <a:spAutoFit/>
          </a:bodyPr>
          <a:lstStyle/>
          <a:p>
            <a:pPr algn="just"/>
            <a:r>
              <a:rPr lang="en-US" sz="2400" dirty="0">
                <a:solidFill/>
                <a:latin typeface="Times" pitchFamily="2" charset="0"/>
              </a:rPr>
              <a:t>⇒</a:t>
            </a:r>
            <a:r>
              <a:rPr lang="en-US" sz="2400" i="1" dirty="0">
                <a:solidFill/>
                <a:latin typeface="Times" pitchFamily="2" charset="0"/>
              </a:rPr>
              <a:t> </a:t>
            </a:r>
            <a:r>
              <a:rPr lang="en-US" sz="2400" dirty="0" err="1">
                <a:solidFill/>
                <a:latin typeface="Times" pitchFamily="2" charset="0"/>
              </a:rPr>
              <a:t>KE</a:t>
            </a:r>
            <a:r>
              <a:rPr lang="en-US" sz="2400" baseline="-25000" dirty="0" err="1">
                <a:solidFill/>
                <a:latin typeface="Times" pitchFamily="2" charset="0"/>
              </a:rPr>
              <a:t>f</a:t>
            </a:r>
            <a:r>
              <a:rPr lang="en-US" sz="2400" dirty="0">
                <a:solidFill/>
                <a:latin typeface="Times" pitchFamily="2" charset="0"/>
              </a:rPr>
              <a:t> + </a:t>
            </a:r>
            <a:r>
              <a:rPr lang="en-US" sz="2400" dirty="0" err="1">
                <a:solidFill/>
                <a:latin typeface="Times" pitchFamily="2" charset="0"/>
              </a:rPr>
              <a:t>PE</a:t>
            </a:r>
            <a:r>
              <a:rPr lang="en-US" sz="2400" baseline="-25000" dirty="0" err="1">
                <a:solidFill/>
                <a:latin typeface="Times" pitchFamily="2" charset="0"/>
              </a:rPr>
              <a:t>f</a:t>
            </a:r>
            <a:r>
              <a:rPr lang="en-US" sz="2400" dirty="0">
                <a:solidFill/>
                <a:latin typeface="Times" pitchFamily="2" charset="0"/>
              </a:rPr>
              <a:t> = KE</a:t>
            </a:r>
            <a:r>
              <a:rPr lang="en-US" sz="2400" baseline="-25000" dirty="0">
                <a:solidFill/>
                <a:latin typeface="Times" pitchFamily="2" charset="0"/>
              </a:rPr>
              <a:t>0</a:t>
            </a:r>
            <a:r>
              <a:rPr lang="en-US" sz="2400" dirty="0">
                <a:solidFill/>
                <a:latin typeface="Times" pitchFamily="2" charset="0"/>
              </a:rPr>
              <a:t> + PE</a:t>
            </a:r>
            <a:r>
              <a:rPr lang="en-US" sz="2400" baseline="-25000" dirty="0">
                <a:solidFill/>
                <a:latin typeface="Times" pitchFamily="2" charset="0"/>
              </a:rPr>
              <a:t>0</a:t>
            </a:r>
            <a:r>
              <a:rPr lang="en-US" sz="2400" dirty="0">
                <a:solidFill/>
                <a:latin typeface="Times" pitchFamily="2" charset="0"/>
              </a:rPr>
              <a:t> </a:t>
            </a:r>
            <a:endParaRPr lang="en-US" sz="2400" baseline="-25000" dirty="0">
              <a:latin typeface="Times" pitchFamily="2" charset="0"/>
            </a:endParaRPr>
          </a:p>
        </p:txBody>
      </p:sp>
      <p:grpSp>
        <p:nvGrpSpPr>
          <p:cNvPr id="30" name="Group 29">
            <a:extLst>
              <a:ext uri="{FF2B5EF4-FFF2-40B4-BE49-F238E27FC236}">
                <a16:creationId xmlns:a16="http://schemas.microsoft.com/office/drawing/2014/main" id="{66122FAE-DD76-432A-3E08-F5257006862E}"/>
              </a:ext>
            </a:extLst>
          </p:cNvPr>
          <p:cNvGrpSpPr/>
          <p:nvPr/>
        </p:nvGrpSpPr>
        <p:grpSpPr>
          <a:xfrm>
            <a:off x="504971" y="3305030"/>
            <a:ext cx="5063317" cy="1676399"/>
            <a:chOff x="504971" y="3305030"/>
            <a:chExt cx="5063317" cy="1676399"/>
          </a:xfrm>
        </p:grpSpPr>
        <p:sp>
          <p:nvSpPr>
            <p:cNvPr id="27" name="TextBox 26">
              <a:extLst>
                <a:ext uri="{FF2B5EF4-FFF2-40B4-BE49-F238E27FC236}">
                  <a16:creationId xmlns:a16="http://schemas.microsoft.com/office/drawing/2014/main" id="{80A12C89-58A5-EB8F-7C38-D9550969B589}"/>
                </a:ext>
              </a:extLst>
            </p:cNvPr>
            <p:cNvSpPr txBox="1"/>
            <p:nvPr/>
          </p:nvSpPr>
          <p:spPr>
            <a:xfrm>
              <a:off x="620974" y="3305030"/>
              <a:ext cx="4947314" cy="830997"/>
            </a:xfrm>
            <a:prstGeom prst="rect">
              <a:avLst/>
            </a:prstGeom>
            <a:noFill/>
          </p:spPr>
          <p:txBody>
            <a:bodyPr wrap="square" rtlCol="0">
              <a:spAutoFit/>
            </a:bodyPr>
            <a:lstStyle/>
            <a:p>
              <a:pPr algn="just"/>
              <a:r>
                <a:rPr lang="en-US" sz="2400" dirty="0">
                  <a:solidFill/>
                  <a:latin typeface="Times" pitchFamily="2" charset="0"/>
                </a:rPr>
                <a:t>Each KE is equal to a “½</a:t>
              </a:r>
              <a:r>
                <a:rPr lang="en-US" sz="2400" i="1" dirty="0">
                  <a:solidFill/>
                  <a:latin typeface="Times" pitchFamily="2" charset="0"/>
                </a:rPr>
                <a:t>mv</a:t>
              </a:r>
              <a:r>
                <a:rPr lang="en-US" sz="2400" baseline="30000" dirty="0">
                  <a:solidFill/>
                  <a:latin typeface="Times" pitchFamily="2" charset="0"/>
                </a:rPr>
                <a:t>2</a:t>
              </a:r>
              <a:r>
                <a:rPr lang="en-US" sz="2400" dirty="0">
                  <a:solidFill/>
                  <a:latin typeface="Times" pitchFamily="2" charset="0"/>
                </a:rPr>
                <a:t>”,</a:t>
              </a:r>
            </a:p>
            <a:p>
              <a:pPr algn="just"/>
              <a:r>
                <a:rPr lang="en-US" sz="2400" dirty="0">
                  <a:solidFill/>
                  <a:latin typeface="Times" pitchFamily="2" charset="0"/>
                </a:rPr>
                <a:t>and each PE is equal to an </a:t>
              </a:r>
              <a:r>
                <a:rPr lang="en-US" sz="2400" i="1" dirty="0" err="1">
                  <a:solidFill/>
                  <a:latin typeface="Times" pitchFamily="2" charset="0"/>
                </a:rPr>
                <a:t>mgh</a:t>
              </a:r>
              <a:r>
                <a:rPr lang="en-US" sz="2400" dirty="0">
                  <a:solidFill/>
                  <a:latin typeface="Times" pitchFamily="2" charset="0"/>
                </a:rPr>
                <a:t>. </a:t>
              </a:r>
            </a:p>
          </p:txBody>
        </p:sp>
        <p:sp>
          <p:nvSpPr>
            <p:cNvPr id="28" name="Rounded Rectangle 27">
              <a:extLst>
                <a:ext uri="{FF2B5EF4-FFF2-40B4-BE49-F238E27FC236}">
                  <a16:creationId xmlns:a16="http://schemas.microsoft.com/office/drawing/2014/main" id="{0424B316-A417-1F38-3923-5F1A842FEFFB}"/>
                </a:ext>
              </a:extLst>
            </p:cNvPr>
            <p:cNvSpPr/>
            <p:nvPr/>
          </p:nvSpPr>
          <p:spPr>
            <a:xfrm>
              <a:off x="504971" y="4107972"/>
              <a:ext cx="3998794" cy="8734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9" name="Picture 28">
            <a:extLst>
              <a:ext uri="{FF2B5EF4-FFF2-40B4-BE49-F238E27FC236}">
                <a16:creationId xmlns:a16="http://schemas.microsoft.com/office/drawing/2014/main" id="{B3C63692-78F8-C154-D05A-2B26FBA34B7A}"/>
              </a:ext>
            </a:extLst>
          </p:cNvPr>
          <p:cNvPicPr>
            <a:picLocks noChangeAspect="1"/>
          </p:cNvPicPr>
          <p:nvPr/>
        </p:nvPicPr>
        <p:blipFill>
          <a:blip r:embed="rId4"/>
          <a:stretch>
            <a:fillRect/>
          </a:stretch>
        </p:blipFill>
        <p:spPr>
          <a:xfrm>
            <a:off x="614153" y="4217154"/>
            <a:ext cx="3744875" cy="632895"/>
          </a:xfrm>
          <a:prstGeom prst="rect">
            <a:avLst/>
          </a:prstGeom>
        </p:spPr>
      </p:pic>
      <p:sp>
        <p:nvSpPr>
          <p:cNvPr id="31" name="TextBox 30">
            <a:extLst>
              <a:ext uri="{FF2B5EF4-FFF2-40B4-BE49-F238E27FC236}">
                <a16:creationId xmlns:a16="http://schemas.microsoft.com/office/drawing/2014/main" id="{F80BEF19-472E-874D-F58B-C78B33DCB629}"/>
              </a:ext>
            </a:extLst>
          </p:cNvPr>
          <p:cNvSpPr txBox="1"/>
          <p:nvPr/>
        </p:nvSpPr>
        <p:spPr>
          <a:xfrm>
            <a:off x="814317" y="5163399"/>
            <a:ext cx="3471080" cy="830997"/>
          </a:xfrm>
          <a:prstGeom prst="rect">
            <a:avLst/>
          </a:prstGeom>
          <a:noFill/>
        </p:spPr>
        <p:txBody>
          <a:bodyPr wrap="square" rtlCol="0">
            <a:spAutoFit/>
          </a:bodyPr>
          <a:lstStyle/>
          <a:p>
            <a:pPr algn="just"/>
            <a:r>
              <a:rPr lang="en-US" sz="2400" dirty="0">
                <a:solidFill/>
                <a:latin typeface="Times" pitchFamily="2" charset="0"/>
              </a:rPr>
              <a:t>*Note that the mass of the motorcyclist drops out.</a:t>
            </a:r>
          </a:p>
        </p:txBody>
      </p:sp>
      <p:grpSp>
        <p:nvGrpSpPr>
          <p:cNvPr id="46" name="Group 45">
            <a:extLst>
              <a:ext uri="{FF2B5EF4-FFF2-40B4-BE49-F238E27FC236}">
                <a16:creationId xmlns:a16="http://schemas.microsoft.com/office/drawing/2014/main" id="{76A90277-6A00-58E1-DF01-125162044606}"/>
              </a:ext>
            </a:extLst>
          </p:cNvPr>
          <p:cNvGrpSpPr/>
          <p:nvPr/>
        </p:nvGrpSpPr>
        <p:grpSpPr>
          <a:xfrm>
            <a:off x="859812" y="4394574"/>
            <a:ext cx="3061647" cy="359392"/>
            <a:chOff x="682388" y="4653886"/>
            <a:chExt cx="3061647" cy="359392"/>
          </a:xfrm>
        </p:grpSpPr>
        <p:cxnSp>
          <p:nvCxnSpPr>
            <p:cNvPr id="36" name="Straight Connector 35">
              <a:extLst>
                <a:ext uri="{FF2B5EF4-FFF2-40B4-BE49-F238E27FC236}">
                  <a16:creationId xmlns:a16="http://schemas.microsoft.com/office/drawing/2014/main" id="{D92A997D-389B-0CD3-B966-59FAD10C7932}"/>
                </a:ext>
              </a:extLst>
            </p:cNvPr>
            <p:cNvCxnSpPr/>
            <p:nvPr/>
          </p:nvCxnSpPr>
          <p:spPr>
            <a:xfrm flipV="1">
              <a:off x="682388" y="4653886"/>
              <a:ext cx="150125" cy="32754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FE54788-D725-1A59-2DB7-1C50C534BAD1}"/>
                </a:ext>
              </a:extLst>
            </p:cNvPr>
            <p:cNvCxnSpPr/>
            <p:nvPr/>
          </p:nvCxnSpPr>
          <p:spPr>
            <a:xfrm flipV="1">
              <a:off x="1544472" y="4683456"/>
              <a:ext cx="150125" cy="32754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5EBCAA8-89F9-96A4-5EBF-3EA7CB3A69D3}"/>
                </a:ext>
              </a:extLst>
            </p:cNvPr>
            <p:cNvCxnSpPr/>
            <p:nvPr/>
          </p:nvCxnSpPr>
          <p:spPr>
            <a:xfrm flipV="1">
              <a:off x="3593910" y="4685731"/>
              <a:ext cx="150125" cy="32754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9DF6C43-1390-199E-00EC-4C04E6BFF5BC}"/>
                </a:ext>
              </a:extLst>
            </p:cNvPr>
            <p:cNvCxnSpPr/>
            <p:nvPr/>
          </p:nvCxnSpPr>
          <p:spPr>
            <a:xfrm flipV="1">
              <a:off x="2709081" y="4674357"/>
              <a:ext cx="150125" cy="32754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7" name="TextBox 46">
            <a:extLst>
              <a:ext uri="{FF2B5EF4-FFF2-40B4-BE49-F238E27FC236}">
                <a16:creationId xmlns:a16="http://schemas.microsoft.com/office/drawing/2014/main" id="{90BC9778-8694-E8ED-CB28-6E29BAEA091B}"/>
              </a:ext>
            </a:extLst>
          </p:cNvPr>
          <p:cNvSpPr txBox="1"/>
          <p:nvPr/>
        </p:nvSpPr>
        <p:spPr>
          <a:xfrm>
            <a:off x="202443" y="5984542"/>
            <a:ext cx="4738047" cy="461665"/>
          </a:xfrm>
          <a:prstGeom prst="rect">
            <a:avLst/>
          </a:prstGeom>
          <a:noFill/>
        </p:spPr>
        <p:txBody>
          <a:bodyPr wrap="square" rtlCol="0">
            <a:spAutoFit/>
          </a:bodyPr>
          <a:lstStyle/>
          <a:p>
            <a:pPr algn="just"/>
            <a:r>
              <a:rPr lang="en-US" sz="2400" dirty="0">
                <a:solidFill/>
                <a:latin typeface="Times" pitchFamily="2" charset="0"/>
              </a:rPr>
              <a:t>We now solve for the final speed, </a:t>
            </a:r>
            <a:r>
              <a:rPr lang="en-US" sz="2400" i="1" dirty="0" err="1">
                <a:solidFill/>
                <a:latin typeface="Times" pitchFamily="2" charset="0"/>
              </a:rPr>
              <a:t>v</a:t>
            </a:r>
            <a:r>
              <a:rPr lang="en-US" sz="2400" i="1" baseline="-25000" dirty="0" err="1">
                <a:solidFill/>
                <a:latin typeface="Times" pitchFamily="2" charset="0"/>
              </a:rPr>
              <a:t>f</a:t>
            </a:r>
            <a:r>
              <a:rPr lang="en-US" sz="2400" dirty="0">
                <a:solidFill/>
                <a:latin typeface="Times" pitchFamily="2" charset="0"/>
              </a:rPr>
              <a:t>:</a:t>
            </a:r>
          </a:p>
        </p:txBody>
      </p:sp>
      <p:sp>
        <p:nvSpPr>
          <p:cNvPr id="48" name="Rounded Rectangle 47">
            <a:extLst>
              <a:ext uri="{FF2B5EF4-FFF2-40B4-BE49-F238E27FC236}">
                <a16:creationId xmlns:a16="http://schemas.microsoft.com/office/drawing/2014/main" id="{BC2D191F-3B23-012A-89C9-265FB3231EE8}"/>
              </a:ext>
            </a:extLst>
          </p:cNvPr>
          <p:cNvSpPr/>
          <p:nvPr/>
        </p:nvSpPr>
        <p:spPr>
          <a:xfrm>
            <a:off x="7153702" y="3728114"/>
            <a:ext cx="3273188" cy="7756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Picture 48">
            <a:extLst>
              <a:ext uri="{FF2B5EF4-FFF2-40B4-BE49-F238E27FC236}">
                <a16:creationId xmlns:a16="http://schemas.microsoft.com/office/drawing/2014/main" id="{62D55E8D-EA37-2F86-A8A5-F0E867D24DFE}"/>
              </a:ext>
            </a:extLst>
          </p:cNvPr>
          <p:cNvPicPr>
            <a:picLocks noChangeAspect="1"/>
          </p:cNvPicPr>
          <p:nvPr/>
        </p:nvPicPr>
        <p:blipFill>
          <a:blip r:embed="rId5"/>
          <a:stretch>
            <a:fillRect/>
          </a:stretch>
        </p:blipFill>
        <p:spPr>
          <a:xfrm>
            <a:off x="7328848" y="3901261"/>
            <a:ext cx="2926307" cy="565993"/>
          </a:xfrm>
          <a:prstGeom prst="rect">
            <a:avLst/>
          </a:prstGeom>
        </p:spPr>
      </p:pic>
      <p:sp>
        <p:nvSpPr>
          <p:cNvPr id="50" name="Rounded Rectangle 49">
            <a:extLst>
              <a:ext uri="{FF2B5EF4-FFF2-40B4-BE49-F238E27FC236}">
                <a16:creationId xmlns:a16="http://schemas.microsoft.com/office/drawing/2014/main" id="{BD2BFC76-7766-D8CC-43E4-ABB46DC3AE7A}"/>
              </a:ext>
            </a:extLst>
          </p:cNvPr>
          <p:cNvSpPr/>
          <p:nvPr/>
        </p:nvSpPr>
        <p:spPr>
          <a:xfrm>
            <a:off x="5272585" y="4726676"/>
            <a:ext cx="6764739" cy="7756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51">
            <a:extLst>
              <a:ext uri="{FF2B5EF4-FFF2-40B4-BE49-F238E27FC236}">
                <a16:creationId xmlns:a16="http://schemas.microsoft.com/office/drawing/2014/main" id="{F07A23CA-BCF3-1A7C-C565-75FBC09E2CE5}"/>
              </a:ext>
            </a:extLst>
          </p:cNvPr>
          <p:cNvPicPr>
            <a:picLocks noChangeAspect="1"/>
          </p:cNvPicPr>
          <p:nvPr/>
        </p:nvPicPr>
        <p:blipFill>
          <a:blip r:embed="rId6"/>
          <a:stretch>
            <a:fillRect/>
          </a:stretch>
        </p:blipFill>
        <p:spPr>
          <a:xfrm>
            <a:off x="5404513" y="4858603"/>
            <a:ext cx="6314012" cy="541282"/>
          </a:xfrm>
          <a:prstGeom prst="rect">
            <a:avLst/>
          </a:prstGeom>
        </p:spPr>
      </p:pic>
      <p:sp>
        <p:nvSpPr>
          <p:cNvPr id="53" name="Rounded Rectangle 52">
            <a:extLst>
              <a:ext uri="{FF2B5EF4-FFF2-40B4-BE49-F238E27FC236}">
                <a16:creationId xmlns:a16="http://schemas.microsoft.com/office/drawing/2014/main" id="{33F43CA9-3D3E-21E5-D070-7B922DE048CD}"/>
              </a:ext>
            </a:extLst>
          </p:cNvPr>
          <p:cNvSpPr/>
          <p:nvPr/>
        </p:nvSpPr>
        <p:spPr>
          <a:xfrm>
            <a:off x="7786048" y="5616055"/>
            <a:ext cx="1890215" cy="5527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D0C7DF2E-0B6F-2D47-A592-AE6ED3E14E17}"/>
              </a:ext>
            </a:extLst>
          </p:cNvPr>
          <p:cNvSpPr txBox="1"/>
          <p:nvPr/>
        </p:nvSpPr>
        <p:spPr>
          <a:xfrm>
            <a:off x="7861111" y="5672919"/>
            <a:ext cx="2333767" cy="461665"/>
          </a:xfrm>
          <a:prstGeom prst="rect">
            <a:avLst/>
          </a:prstGeom>
          <a:noFill/>
        </p:spPr>
        <p:txBody>
          <a:bodyPr wrap="square" rtlCol="0">
            <a:spAutoFit/>
          </a:bodyPr>
          <a:lstStyle/>
          <a:p>
            <a:pPr algn="just"/>
            <a:r>
              <a:rPr lang="en-US" sz="2400" i="1" dirty="0" err="1">
                <a:solidFill/>
                <a:latin typeface="Times" pitchFamily="2" charset="0"/>
              </a:rPr>
              <a:t>v</a:t>
            </a:r>
            <a:r>
              <a:rPr lang="en-US" sz="2400" i="1" baseline="-25000" dirty="0" err="1">
                <a:solidFill/>
                <a:latin typeface="Times" pitchFamily="2" charset="0"/>
              </a:rPr>
              <a:t>f</a:t>
            </a:r>
            <a:r>
              <a:rPr lang="en-US" sz="2400" dirty="0">
                <a:solidFill/>
                <a:latin typeface="Times" pitchFamily="2" charset="0"/>
              </a:rPr>
              <a:t> = 46.2 m/s</a:t>
            </a:r>
          </a:p>
        </p:txBody>
      </p:sp>
      <p:sp>
        <p:nvSpPr>
          <p:cNvPr id="56" name="Rectangle 55">
            <a:extLst>
              <a:ext uri="{FF2B5EF4-FFF2-40B4-BE49-F238E27FC236}">
                <a16:creationId xmlns:a16="http://schemas.microsoft.com/office/drawing/2014/main" id="{1C03D886-9A97-9C8E-69C0-98FF3169D49F}"/>
              </a:ext>
            </a:extLst>
          </p:cNvPr>
          <p:cNvSpPr/>
          <p:nvPr/>
        </p:nvSpPr>
        <p:spPr>
          <a:xfrm>
            <a:off x="8434316" y="5677469"/>
            <a:ext cx="1119116" cy="42308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8416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dissolv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dissolv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dissolve">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dissolve">
                                      <p:cBhvr>
                                        <p:cTn id="27" dur="5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dissolve">
                                      <p:cBhvr>
                                        <p:cTn id="32" dur="500"/>
                                        <p:tgtEl>
                                          <p:spTgt spid="31"/>
                                        </p:tgtEl>
                                      </p:cBhvr>
                                    </p:animEffect>
                                  </p:childTnLst>
                                </p:cTn>
                              </p:par>
                            </p:childTnLst>
                          </p:cTn>
                        </p:par>
                        <p:par>
                          <p:cTn id="33" fill="hold">
                            <p:stCondLst>
                              <p:cond delay="500"/>
                            </p:stCondLst>
                            <p:childTnLst>
                              <p:par>
                                <p:cTn id="34" presetID="9" presetClass="entr" presetSubtype="0" fill="hold" nodeType="after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dissolve">
                                      <p:cBhvr>
                                        <p:cTn id="36" dur="500"/>
                                        <p:tgtEl>
                                          <p:spTgt spid="46"/>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47"/>
                                        </p:tgtEl>
                                        <p:attrNameLst>
                                          <p:attrName>style.visibility</p:attrName>
                                        </p:attrNameLst>
                                      </p:cBhvr>
                                      <p:to>
                                        <p:strVal val="visible"/>
                                      </p:to>
                                    </p:set>
                                    <p:animEffect transition="in" filter="dissolve">
                                      <p:cBhvr>
                                        <p:cTn id="41" dur="500"/>
                                        <p:tgtEl>
                                          <p:spTgt spid="47"/>
                                        </p:tgtEl>
                                      </p:cBhvr>
                                    </p:animEffect>
                                  </p:childTnLst>
                                </p:cTn>
                              </p:par>
                            </p:childTnLst>
                          </p:cTn>
                        </p:par>
                        <p:par>
                          <p:cTn id="42" fill="hold">
                            <p:stCondLst>
                              <p:cond delay="500"/>
                            </p:stCondLst>
                            <p:childTnLst>
                              <p:par>
                                <p:cTn id="43" presetID="9" presetClass="entr" presetSubtype="0" fill="hold" grpId="0" nodeType="afterEffect">
                                  <p:stCondLst>
                                    <p:cond delay="0"/>
                                  </p:stCondLst>
                                  <p:childTnLst>
                                    <p:set>
                                      <p:cBhvr>
                                        <p:cTn id="44" dur="1" fill="hold">
                                          <p:stCondLst>
                                            <p:cond delay="0"/>
                                          </p:stCondLst>
                                        </p:cTn>
                                        <p:tgtEl>
                                          <p:spTgt spid="48"/>
                                        </p:tgtEl>
                                        <p:attrNameLst>
                                          <p:attrName>style.visibility</p:attrName>
                                        </p:attrNameLst>
                                      </p:cBhvr>
                                      <p:to>
                                        <p:strVal val="visible"/>
                                      </p:to>
                                    </p:set>
                                    <p:animEffect transition="in" filter="dissolve">
                                      <p:cBhvr>
                                        <p:cTn id="45" dur="500"/>
                                        <p:tgtEl>
                                          <p:spTgt spid="48"/>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49"/>
                                        </p:tgtEl>
                                        <p:attrNameLst>
                                          <p:attrName>style.visibility</p:attrName>
                                        </p:attrNameLst>
                                      </p:cBhvr>
                                      <p:to>
                                        <p:strVal val="visible"/>
                                      </p:to>
                                    </p:set>
                                    <p:animEffect transition="in" filter="dissolve">
                                      <p:cBhvr>
                                        <p:cTn id="50" dur="500"/>
                                        <p:tgtEl>
                                          <p:spTgt spid="49"/>
                                        </p:tgtEl>
                                      </p:cBhvr>
                                    </p:animEffect>
                                  </p:childTnLst>
                                </p:cTn>
                              </p:par>
                            </p:childTnLst>
                          </p:cTn>
                        </p:par>
                        <p:par>
                          <p:cTn id="51" fill="hold">
                            <p:stCondLst>
                              <p:cond delay="500"/>
                            </p:stCondLst>
                            <p:childTnLst>
                              <p:par>
                                <p:cTn id="52" presetID="9" presetClass="entr" presetSubtype="0" fill="hold" grpId="0" nodeType="afterEffect">
                                  <p:stCondLst>
                                    <p:cond delay="0"/>
                                  </p:stCondLst>
                                  <p:childTnLst>
                                    <p:set>
                                      <p:cBhvr>
                                        <p:cTn id="53" dur="1" fill="hold">
                                          <p:stCondLst>
                                            <p:cond delay="0"/>
                                          </p:stCondLst>
                                        </p:cTn>
                                        <p:tgtEl>
                                          <p:spTgt spid="50"/>
                                        </p:tgtEl>
                                        <p:attrNameLst>
                                          <p:attrName>style.visibility</p:attrName>
                                        </p:attrNameLst>
                                      </p:cBhvr>
                                      <p:to>
                                        <p:strVal val="visible"/>
                                      </p:to>
                                    </p:set>
                                    <p:animEffect transition="in" filter="dissolve">
                                      <p:cBhvr>
                                        <p:cTn id="54" dur="500"/>
                                        <p:tgtEl>
                                          <p:spTgt spid="50"/>
                                        </p:tgtEl>
                                      </p:cBhvr>
                                    </p:animEffect>
                                  </p:childTnLst>
                                </p:cTn>
                              </p:par>
                            </p:childTnLst>
                          </p:cTn>
                        </p:par>
                      </p:childTnLst>
                    </p:cTn>
                  </p:par>
                  <p:par>
                    <p:cTn id="55" fill="hold">
                      <p:stCondLst>
                        <p:cond delay="indefinite"/>
                      </p:stCondLst>
                      <p:childTnLst>
                        <p:par>
                          <p:cTn id="56" fill="hold">
                            <p:stCondLst>
                              <p:cond delay="0"/>
                            </p:stCondLst>
                            <p:childTnLst>
                              <p:par>
                                <p:cTn id="57" presetID="9" presetClass="entr" presetSubtype="0" fill="hold" nodeType="clickEffect">
                                  <p:stCondLst>
                                    <p:cond delay="0"/>
                                  </p:stCondLst>
                                  <p:childTnLst>
                                    <p:set>
                                      <p:cBhvr>
                                        <p:cTn id="58" dur="1" fill="hold">
                                          <p:stCondLst>
                                            <p:cond delay="0"/>
                                          </p:stCondLst>
                                        </p:cTn>
                                        <p:tgtEl>
                                          <p:spTgt spid="52"/>
                                        </p:tgtEl>
                                        <p:attrNameLst>
                                          <p:attrName>style.visibility</p:attrName>
                                        </p:attrNameLst>
                                      </p:cBhvr>
                                      <p:to>
                                        <p:strVal val="visible"/>
                                      </p:to>
                                    </p:set>
                                    <p:animEffect transition="in" filter="dissolve">
                                      <p:cBhvr>
                                        <p:cTn id="59" dur="500"/>
                                        <p:tgtEl>
                                          <p:spTgt spid="52"/>
                                        </p:tgtEl>
                                      </p:cBhvr>
                                    </p:animEffect>
                                  </p:childTnLst>
                                </p:cTn>
                              </p:par>
                            </p:childTnLst>
                          </p:cTn>
                        </p:par>
                        <p:par>
                          <p:cTn id="60" fill="hold">
                            <p:stCondLst>
                              <p:cond delay="500"/>
                            </p:stCondLst>
                            <p:childTnLst>
                              <p:par>
                                <p:cTn id="61" presetID="9" presetClass="entr" presetSubtype="0" fill="hold" grpId="0" nodeType="afterEffect">
                                  <p:stCondLst>
                                    <p:cond delay="0"/>
                                  </p:stCondLst>
                                  <p:childTnLst>
                                    <p:set>
                                      <p:cBhvr>
                                        <p:cTn id="62" dur="1" fill="hold">
                                          <p:stCondLst>
                                            <p:cond delay="0"/>
                                          </p:stCondLst>
                                        </p:cTn>
                                        <p:tgtEl>
                                          <p:spTgt spid="53"/>
                                        </p:tgtEl>
                                        <p:attrNameLst>
                                          <p:attrName>style.visibility</p:attrName>
                                        </p:attrNameLst>
                                      </p:cBhvr>
                                      <p:to>
                                        <p:strVal val="visible"/>
                                      </p:to>
                                    </p:set>
                                    <p:animEffect transition="in" filter="dissolve">
                                      <p:cBhvr>
                                        <p:cTn id="63" dur="500"/>
                                        <p:tgtEl>
                                          <p:spTgt spid="53"/>
                                        </p:tgtEl>
                                      </p:cBhvr>
                                    </p:animEffec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55"/>
                                        </p:tgtEl>
                                        <p:attrNameLst>
                                          <p:attrName>style.visibility</p:attrName>
                                        </p:attrNameLst>
                                      </p:cBhvr>
                                      <p:to>
                                        <p:strVal val="visible"/>
                                      </p:to>
                                    </p:set>
                                    <p:animEffect transition="in" filter="dissolve">
                                      <p:cBhvr>
                                        <p:cTn id="68" dur="500"/>
                                        <p:tgtEl>
                                          <p:spTgt spid="55"/>
                                        </p:tgtEl>
                                      </p:cBhvr>
                                    </p:animEffect>
                                  </p:childTnLst>
                                </p:cTn>
                              </p:par>
                            </p:childTnLst>
                          </p:cTn>
                        </p:par>
                        <p:par>
                          <p:cTn id="69" fill="hold">
                            <p:stCondLst>
                              <p:cond delay="500"/>
                            </p:stCondLst>
                            <p:childTnLst>
                              <p:par>
                                <p:cTn id="70" presetID="9" presetClass="entr" presetSubtype="0" fill="hold" grpId="0" nodeType="afterEffect">
                                  <p:stCondLst>
                                    <p:cond delay="0"/>
                                  </p:stCondLst>
                                  <p:childTnLst>
                                    <p:set>
                                      <p:cBhvr>
                                        <p:cTn id="71" dur="1" fill="hold">
                                          <p:stCondLst>
                                            <p:cond delay="0"/>
                                          </p:stCondLst>
                                        </p:cTn>
                                        <p:tgtEl>
                                          <p:spTgt spid="56"/>
                                        </p:tgtEl>
                                        <p:attrNameLst>
                                          <p:attrName>style.visibility</p:attrName>
                                        </p:attrNameLst>
                                      </p:cBhvr>
                                      <p:to>
                                        <p:strVal val="visible"/>
                                      </p:to>
                                    </p:set>
                                    <p:animEffect transition="in" filter="dissolve">
                                      <p:cBhvr>
                                        <p:cTn id="72"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5" grpId="0"/>
      <p:bldP spid="31" grpId="0"/>
      <p:bldP spid="47" grpId="0"/>
      <p:bldP spid="48" grpId="0" animBg="1"/>
      <p:bldP spid="50" grpId="0" animBg="1"/>
      <p:bldP spid="53" grpId="0" animBg="1"/>
      <p:bldP spid="55" grpId="0"/>
      <p:bldP spid="5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4E559-8B4F-8712-B758-2B1C4C1A23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4A129B-7A54-E342-E4A8-443E938BDAB5}"/>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6.5</a:t>
            </a:r>
            <a:r>
              <a:rPr lang="en-US" dirty="0">
                <a:solidFill/>
                <a:ea typeface="Calibri" charset="0"/>
                <a:cs typeface="Calibri" charset="0"/>
              </a:rPr>
              <a:t> The Conservation of Mechanical Energy</a:t>
            </a:r>
            <a:endParaRPr lang="en-US" sz="3000" dirty="0"/>
          </a:p>
        </p:txBody>
      </p:sp>
      <p:sp>
        <p:nvSpPr>
          <p:cNvPr id="5" name="TextBox 4">
            <a:extLst>
              <a:ext uri="{FF2B5EF4-FFF2-40B4-BE49-F238E27FC236}">
                <a16:creationId xmlns:a16="http://schemas.microsoft.com/office/drawing/2014/main" id="{49FFED08-4823-FA1A-C2C7-4B515AA9C7EE}"/>
              </a:ext>
            </a:extLst>
          </p:cNvPr>
          <p:cNvSpPr txBox="1"/>
          <p:nvPr/>
        </p:nvSpPr>
        <p:spPr>
          <a:xfrm>
            <a:off x="629321" y="786284"/>
            <a:ext cx="10913633" cy="5262979"/>
          </a:xfrm>
          <a:prstGeom prst="rect">
            <a:avLst/>
          </a:prstGeom>
          <a:noFill/>
        </p:spPr>
        <p:txBody>
          <a:bodyPr wrap="square">
            <a:spAutoFit/>
          </a:bodyPr>
          <a:lstStyle/>
          <a:p>
            <a:pPr algn="just"/>
            <a:r>
              <a:rPr lang="en-US" sz="2400" dirty="0">
                <a:solidFill>
                  <a:srgbClr val="C0694F"/>
                </a:solidFill>
                <a:latin typeface="Times" pitchFamily="2" charset="0"/>
              </a:rPr>
              <a:t>REASONING STRATEGY</a:t>
            </a:r>
          </a:p>
          <a:p>
            <a:pPr algn="just"/>
            <a:r>
              <a:rPr lang="en-US" sz="2400" b="1" dirty="0">
                <a:solidFill/>
                <a:latin typeface="Times" pitchFamily="2" charset="0"/>
              </a:rPr>
              <a:t>Applying the Principle of Conservation of Mechanical Energy</a:t>
            </a:r>
          </a:p>
          <a:p>
            <a:pPr algn="just"/>
            <a:endParaRPr lang="en-US" sz="2400" dirty="0">
              <a:latin typeface="Times" pitchFamily="2" charset="0"/>
            </a:endParaRPr>
          </a:p>
          <a:p>
            <a:pPr algn="just"/>
            <a:r>
              <a:rPr lang="en-US" sz="2400" dirty="0">
                <a:solidFill/>
                <a:latin typeface="Times" pitchFamily="2" charset="0"/>
              </a:rPr>
              <a:t>1. Identify the external conservative and nonconservative forces that act on the object. For this principle to apply, the total work done by nonconservative forces must be zero, </a:t>
            </a: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0. A nonconservative force that is perpendicular to the displacement of the object does no work, for example.</a:t>
            </a:r>
          </a:p>
          <a:p>
            <a:pPr algn="just"/>
            <a:endParaRPr lang="en-US" sz="2400" dirty="0">
              <a:latin typeface="Times" pitchFamily="2" charset="0"/>
            </a:endParaRPr>
          </a:p>
          <a:p>
            <a:pPr algn="just"/>
            <a:r>
              <a:rPr lang="en-US" sz="2400" dirty="0">
                <a:solidFill/>
                <a:latin typeface="Times" pitchFamily="2" charset="0"/>
              </a:rPr>
              <a:t>2. Choose the location where the gravitational potential energy is taken to be zero. This location is arbitrary but must not be changed during the course of solving a problem.</a:t>
            </a:r>
          </a:p>
          <a:p>
            <a:pPr algn="just"/>
            <a:endParaRPr lang="en-US" sz="2400" dirty="0">
              <a:latin typeface="Times" pitchFamily="2" charset="0"/>
            </a:endParaRPr>
          </a:p>
          <a:p>
            <a:pPr algn="just"/>
            <a:r>
              <a:rPr lang="en-US" sz="2400" dirty="0">
                <a:solidFill/>
                <a:latin typeface="Times" pitchFamily="2" charset="0"/>
              </a:rPr>
              <a:t>3. Set the final total mechanical energy of the object (</a:t>
            </a:r>
            <a:r>
              <a:rPr lang="en-US" sz="2400" i="1" dirty="0">
                <a:solidFill/>
                <a:latin typeface="Times" pitchFamily="2" charset="0"/>
              </a:rPr>
              <a:t>E</a:t>
            </a:r>
            <a:r>
              <a:rPr lang="en-US" sz="2400" baseline="-25000" dirty="0">
                <a:solidFill/>
                <a:latin typeface="Times" pitchFamily="2" charset="0"/>
              </a:rPr>
              <a:t>f</a:t>
            </a:r>
            <a:r>
              <a:rPr lang="en-US" sz="2400" dirty="0">
                <a:solidFill/>
                <a:latin typeface="Times" pitchFamily="2" charset="0"/>
              </a:rPr>
              <a:t>) equal to the initial total mechanical energy (</a:t>
            </a:r>
            <a:r>
              <a:rPr lang="en-US" sz="2400" i="1" dirty="0">
                <a:solidFill/>
                <a:latin typeface="Times" pitchFamily="2" charset="0"/>
              </a:rPr>
              <a:t>E</a:t>
            </a:r>
            <a:r>
              <a:rPr lang="en-US" sz="2400" baseline="-25000" dirty="0">
                <a:solidFill/>
                <a:latin typeface="Times" pitchFamily="2" charset="0"/>
              </a:rPr>
              <a:t>0</a:t>
            </a:r>
            <a:r>
              <a:rPr lang="en-US" sz="2400" dirty="0">
                <a:solidFill/>
                <a:latin typeface="Times" pitchFamily="2" charset="0"/>
              </a:rPr>
              <a:t>), as in Equations 6.9a and 6.9b. The total mechanical energy is the sum of the kinetic and potential energies.</a:t>
            </a:r>
          </a:p>
        </p:txBody>
      </p:sp>
      <p:sp>
        <p:nvSpPr>
          <p:cNvPr id="6" name="Rectangle 5">
            <a:extLst>
              <a:ext uri="{FF2B5EF4-FFF2-40B4-BE49-F238E27FC236}">
                <a16:creationId xmlns:a16="http://schemas.microsoft.com/office/drawing/2014/main" id="{4D114A6A-D6AF-74A1-FABF-D7FD1ED75955}"/>
              </a:ext>
            </a:extLst>
          </p:cNvPr>
          <p:cNvSpPr/>
          <p:nvPr/>
        </p:nvSpPr>
        <p:spPr>
          <a:xfrm>
            <a:off x="634701" y="806824"/>
            <a:ext cx="11026588" cy="5228216"/>
          </a:xfrm>
          <a:prstGeom prst="rect">
            <a:avLst/>
          </a:prstGeom>
          <a:noFill/>
          <a:ln w="38100">
            <a:solidFill>
              <a:srgbClr val="C069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92910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28130-E8E3-9038-D225-5BEFAB2ED6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D7132C-1EE7-33E5-434B-A70A1EC4BD4F}"/>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6.5</a:t>
            </a:r>
            <a:r>
              <a:rPr lang="en-US" dirty="0">
                <a:solidFill/>
                <a:ea typeface="Calibri" charset="0"/>
                <a:cs typeface="Calibri" charset="0"/>
              </a:rPr>
              <a:t> The Conservation of Mechanical Energy</a:t>
            </a:r>
            <a:endParaRPr lang="en-US" sz="3000" dirty="0"/>
          </a:p>
        </p:txBody>
      </p:sp>
      <p:grpSp>
        <p:nvGrpSpPr>
          <p:cNvPr id="3" name="Group 2">
            <a:extLst>
              <a:ext uri="{FF2B5EF4-FFF2-40B4-BE49-F238E27FC236}">
                <a16:creationId xmlns:a16="http://schemas.microsoft.com/office/drawing/2014/main" id="{061C9058-6534-2384-0B6A-1F6D8E716504}"/>
              </a:ext>
            </a:extLst>
          </p:cNvPr>
          <p:cNvGrpSpPr/>
          <p:nvPr/>
        </p:nvGrpSpPr>
        <p:grpSpPr>
          <a:xfrm>
            <a:off x="600589" y="1205378"/>
            <a:ext cx="10701395" cy="5030340"/>
            <a:chOff x="1082968" y="4173070"/>
            <a:chExt cx="10701395" cy="5030340"/>
          </a:xfrm>
        </p:grpSpPr>
        <p:sp>
          <p:nvSpPr>
            <p:cNvPr id="4" name="TextBox 3">
              <a:extLst>
                <a:ext uri="{FF2B5EF4-FFF2-40B4-BE49-F238E27FC236}">
                  <a16:creationId xmlns:a16="http://schemas.microsoft.com/office/drawing/2014/main" id="{914B797B-F61C-F640-B2F7-32FE10AE1906}"/>
                </a:ext>
              </a:extLst>
            </p:cNvPr>
            <p:cNvSpPr txBox="1"/>
            <p:nvPr/>
          </p:nvSpPr>
          <p:spPr>
            <a:xfrm>
              <a:off x="1235766" y="4173070"/>
              <a:ext cx="10548597" cy="2677656"/>
            </a:xfrm>
            <a:prstGeom prst="rect">
              <a:avLst/>
            </a:prstGeom>
            <a:noFill/>
          </p:spPr>
          <p:txBody>
            <a:bodyPr wrap="square" rtlCol="0">
              <a:spAutoFit/>
            </a:bodyPr>
            <a:lstStyle/>
            <a:p>
              <a:pPr algn="just"/>
              <a:r>
                <a:rPr lang="en-US" sz="2800" dirty="0">
                  <a:solidFill>
                    <a:srgbClr val="3E5891"/>
                  </a:solidFill>
                  <a:latin typeface="Times" pitchFamily="2" charset="0"/>
                </a:rPr>
                <a:t>CYU/TPS – The figure shows an empty fuel tank about to be released by three different jet planes. At the moment of release, each plane has the same speed, and each tank is at the same height above the ground. However, the directions of the velocities of the planes are different. Which tank has the largest speed upon hitting the ground? Ignore friction and air resistance. </a:t>
              </a:r>
              <a:endParaRPr lang="en-US" sz="2800" dirty="0">
                <a:solidFill>
                  <a:srgbClr val="3E5891"/>
                </a:solidFill>
                <a:latin typeface="Times" pitchFamily="2" charset="0"/>
                <a:cs typeface="Times New Roman" panose="02020603050405020304" pitchFamily="18" charset="0"/>
              </a:endParaRPr>
            </a:p>
          </p:txBody>
        </p:sp>
        <p:sp>
          <p:nvSpPr>
            <p:cNvPr id="7" name="TextBox 6">
              <a:extLst>
                <a:ext uri="{FF2B5EF4-FFF2-40B4-BE49-F238E27FC236}">
                  <a16:creationId xmlns:a16="http://schemas.microsoft.com/office/drawing/2014/main" id="{40B0EE1D-E2DA-9506-0B83-3611E53489A0}"/>
                </a:ext>
              </a:extLst>
            </p:cNvPr>
            <p:cNvSpPr txBox="1"/>
            <p:nvPr/>
          </p:nvSpPr>
          <p:spPr>
            <a:xfrm>
              <a:off x="1082968" y="6956641"/>
              <a:ext cx="5071549" cy="2246769"/>
            </a:xfrm>
            <a:prstGeom prst="rect">
              <a:avLst/>
            </a:prstGeom>
            <a:noFill/>
          </p:spPr>
          <p:txBody>
            <a:bodyPr wrap="square" rtlCol="0">
              <a:spAutoFit/>
            </a:bodyPr>
            <a:lstStyle/>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a</a:t>
              </a:r>
              <a:r>
                <a:rPr lang="en-US" sz="2800" dirty="0">
                  <a:solidFill>
                    <a:srgbClr val="3E5891"/>
                  </a:solidFill>
                  <a:latin typeface="Times" pitchFamily="2" charset="0"/>
                  <a:cs typeface="Times New Roman" panose="02020603050405020304" pitchFamily="18" charset="0"/>
                </a:rPr>
                <a:t>) A</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b</a:t>
              </a:r>
              <a:r>
                <a:rPr lang="en-US" sz="2800" dirty="0">
                  <a:solidFill>
                    <a:srgbClr val="3E5891"/>
                  </a:solidFill>
                  <a:latin typeface="Times" pitchFamily="2" charset="0"/>
                  <a:cs typeface="Times New Roman" panose="02020603050405020304" pitchFamily="18" charset="0"/>
                </a:rPr>
                <a:t>) B</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c</a:t>
              </a:r>
              <a:r>
                <a:rPr lang="en-US" sz="2800" dirty="0">
                  <a:solidFill>
                    <a:srgbClr val="3E5891"/>
                  </a:solidFill>
                  <a:latin typeface="Times" pitchFamily="2" charset="0"/>
                  <a:cs typeface="Times New Roman" panose="02020603050405020304" pitchFamily="18" charset="0"/>
                </a:rPr>
                <a:t>) C</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d</a:t>
              </a:r>
              <a:r>
                <a:rPr lang="en-US" sz="2800" dirty="0">
                  <a:solidFill>
                    <a:srgbClr val="3E5891"/>
                  </a:solidFill>
                  <a:latin typeface="Times" pitchFamily="2" charset="0"/>
                  <a:cs typeface="Times New Roman" panose="02020603050405020304" pitchFamily="18" charset="0"/>
                </a:rPr>
                <a:t>) Each tank hits the ground with the same speed.</a:t>
              </a:r>
            </a:p>
          </p:txBody>
        </p:sp>
      </p:grpSp>
      <p:pic>
        <p:nvPicPr>
          <p:cNvPr id="11" name="Picture 10">
            <a:extLst>
              <a:ext uri="{FF2B5EF4-FFF2-40B4-BE49-F238E27FC236}">
                <a16:creationId xmlns:a16="http://schemas.microsoft.com/office/drawing/2014/main" id="{63D1C810-235F-CB45-4FAE-1B5A3CA10D32}"/>
              </a:ext>
            </a:extLst>
          </p:cNvPr>
          <p:cNvPicPr>
            <a:picLocks noChangeAspect="1"/>
          </p:cNvPicPr>
          <p:nvPr/>
        </p:nvPicPr>
        <p:blipFill>
          <a:blip r:embed="rId3"/>
          <a:stretch>
            <a:fillRect/>
          </a:stretch>
        </p:blipFill>
        <p:spPr>
          <a:xfrm>
            <a:off x="5757863" y="3868591"/>
            <a:ext cx="5522912" cy="1406671"/>
          </a:xfrm>
          <a:prstGeom prst="rect">
            <a:avLst/>
          </a:prstGeom>
        </p:spPr>
      </p:pic>
      <p:sp>
        <p:nvSpPr>
          <p:cNvPr id="8" name="TextBox 7">
            <a:extLst>
              <a:ext uri="{FF2B5EF4-FFF2-40B4-BE49-F238E27FC236}">
                <a16:creationId xmlns:a16="http://schemas.microsoft.com/office/drawing/2014/main" id="{8F1AE192-CD08-C04D-B273-340897702FFF}"/>
              </a:ext>
            </a:extLst>
          </p:cNvPr>
          <p:cNvSpPr txBox="1"/>
          <p:nvPr/>
        </p:nvSpPr>
        <p:spPr>
          <a:xfrm rot="2431060">
            <a:off x="2793010" y="4441052"/>
            <a:ext cx="1988191" cy="461665"/>
          </a:xfrm>
          <a:prstGeom prst="rect">
            <a:avLst/>
          </a:prstGeom>
          <a:noFill/>
        </p:spPr>
        <p:txBody>
          <a:bodyPr wrap="square" rtlCol="0">
            <a:spAutoFit/>
          </a:bodyPr>
          <a:lstStyle/>
          <a:p>
            <a:pPr/>
            <a:r>
              <a:rPr lang="en-US" sz="2400" dirty="0">
                <a:solidFill>
                  <a:srgbClr val="007440"/>
                </a:solidFill>
                <a:latin typeface="Chalkduster" panose="03050602040202020205" pitchFamily="66" charset="77"/>
              </a:rPr>
              <a:t>Explain!</a:t>
            </a:r>
          </a:p>
        </p:txBody>
      </p:sp>
      <p:sp>
        <p:nvSpPr>
          <p:cNvPr id="9" name="Rounded Rectangle 8">
            <a:extLst>
              <a:ext uri="{FF2B5EF4-FFF2-40B4-BE49-F238E27FC236}">
                <a16:creationId xmlns:a16="http://schemas.microsoft.com/office/drawing/2014/main" id="{A5668490-6401-96F7-C033-ABD5427D68A6}"/>
              </a:ext>
            </a:extLst>
          </p:cNvPr>
          <p:cNvSpPr/>
          <p:nvPr/>
        </p:nvSpPr>
        <p:spPr>
          <a:xfrm>
            <a:off x="1000125" y="5300661"/>
            <a:ext cx="4386263" cy="857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1779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dissolv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2D5FA-921B-ED49-5FF7-E318ACABB6D0}"/>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9BEC1D15-C926-58BE-3A37-7F2CFA3CEB63}"/>
              </a:ext>
            </a:extLst>
          </p:cNvPr>
          <p:cNvSpPr/>
          <p:nvPr/>
        </p:nvSpPr>
        <p:spPr>
          <a:xfrm>
            <a:off x="0" y="861392"/>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C8FA0C-D8D4-913C-D014-8E10F40F5373}"/>
              </a:ext>
            </a:extLst>
          </p:cNvPr>
          <p:cNvSpPr>
            <a:spLocks noGrp="1"/>
          </p:cNvSpPr>
          <p:nvPr>
            <p:ph type="title"/>
          </p:nvPr>
        </p:nvSpPr>
        <p:spPr>
          <a:xfrm>
            <a:off x="685805" y="155455"/>
            <a:ext cx="11506195" cy="849312"/>
          </a:xfrm>
        </p:spPr>
        <p:txBody>
          <a:bodyPr>
            <a:normAutofit fontScale="90000"/>
          </a:bodyPr>
          <a:lstStyle/>
          <a:p>
            <a:pPr/>
            <a:r>
              <a:rPr lang="en-US" b="1" dirty="0">
                <a:solidFill/>
                <a:ea typeface="Calibri" charset="0"/>
                <a:cs typeface="Calibri" charset="0"/>
              </a:rPr>
              <a:t>6.6 </a:t>
            </a:r>
            <a:r>
              <a:rPr lang="en-US" dirty="0">
                <a:solidFill/>
                <a:ea typeface="Calibri" charset="0"/>
                <a:cs typeface="Calibri" charset="0"/>
              </a:rPr>
              <a:t>Nonconservative Forces and the Work–Energy Theorem</a:t>
            </a:r>
            <a:endParaRPr lang="en-US" sz="3000" dirty="0"/>
          </a:p>
        </p:txBody>
      </p:sp>
      <p:sp>
        <p:nvSpPr>
          <p:cNvPr id="5" name="Content Placeholder 2">
            <a:extLst>
              <a:ext uri="{FF2B5EF4-FFF2-40B4-BE49-F238E27FC236}">
                <a16:creationId xmlns:a16="http://schemas.microsoft.com/office/drawing/2014/main" id="{89884B2A-2CA5-3536-05B6-B6A667C736E7}"/>
              </a:ext>
            </a:extLst>
          </p:cNvPr>
          <p:cNvSpPr txBox="1">
            <a:spLocks/>
          </p:cNvSpPr>
          <p:nvPr/>
        </p:nvSpPr>
        <p:spPr>
          <a:xfrm>
            <a:off x="959715" y="941831"/>
            <a:ext cx="10820401" cy="542409"/>
          </a:xfrm>
          <a:prstGeom prst="rect">
            <a:avLst/>
          </a:prstGeom>
        </p:spPr>
        <p:txBody>
          <a:bodyPr vert="horz" lIns="91440" tIns="45720" rIns="91440" bIns="45720" rtlCol="0">
            <a:normAutofit fontScale="92500"/>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6.6 </a:t>
            </a:r>
            <a:r>
              <a:rPr lang="en-US" dirty="0">
                <a:solidFill/>
              </a:rPr>
              <a:t>– Solve problems involving nonconservative forces.</a:t>
            </a:r>
          </a:p>
        </p:txBody>
      </p:sp>
      <p:sp>
        <p:nvSpPr>
          <p:cNvPr id="4" name="TextBox 3">
            <a:extLst>
              <a:ext uri="{FF2B5EF4-FFF2-40B4-BE49-F238E27FC236}">
                <a16:creationId xmlns:a16="http://schemas.microsoft.com/office/drawing/2014/main" id="{1932595C-A77C-37EC-1311-2634E74C2EF3}"/>
              </a:ext>
            </a:extLst>
          </p:cNvPr>
          <p:cNvSpPr txBox="1"/>
          <p:nvPr/>
        </p:nvSpPr>
        <p:spPr>
          <a:xfrm>
            <a:off x="961777" y="1672343"/>
            <a:ext cx="10496798" cy="830997"/>
          </a:xfrm>
          <a:prstGeom prst="rect">
            <a:avLst/>
          </a:prstGeom>
          <a:noFill/>
        </p:spPr>
        <p:txBody>
          <a:bodyPr wrap="square">
            <a:spAutoFit/>
          </a:bodyPr>
          <a:lstStyle/>
          <a:p>
            <a:pPr algn="just"/>
            <a:r>
              <a:rPr lang="en-US" sz="2400" dirty="0">
                <a:solidFill/>
                <a:latin typeface="Times" pitchFamily="2" charset="0"/>
              </a:rPr>
              <a:t>It is not uncommon for objects to experience nonconservative forces, such as friction or air resistance. </a:t>
            </a:r>
          </a:p>
        </p:txBody>
      </p:sp>
      <p:grpSp>
        <p:nvGrpSpPr>
          <p:cNvPr id="29" name="Group 28">
            <a:extLst>
              <a:ext uri="{FF2B5EF4-FFF2-40B4-BE49-F238E27FC236}">
                <a16:creationId xmlns:a16="http://schemas.microsoft.com/office/drawing/2014/main" id="{0FD681DA-0FEE-F063-B647-873EE595D8E4}"/>
              </a:ext>
            </a:extLst>
          </p:cNvPr>
          <p:cNvGrpSpPr/>
          <p:nvPr/>
        </p:nvGrpSpPr>
        <p:grpSpPr>
          <a:xfrm>
            <a:off x="1028452" y="2910593"/>
            <a:ext cx="8724224" cy="830997"/>
            <a:chOff x="999877" y="2410531"/>
            <a:chExt cx="8724224" cy="830997"/>
          </a:xfrm>
        </p:grpSpPr>
        <p:sp>
          <p:nvSpPr>
            <p:cNvPr id="8" name="TextBox 7">
              <a:extLst>
                <a:ext uri="{FF2B5EF4-FFF2-40B4-BE49-F238E27FC236}">
                  <a16:creationId xmlns:a16="http://schemas.microsoft.com/office/drawing/2014/main" id="{84BE6762-4CFB-00E9-E18E-B85AAF6448E6}"/>
                </a:ext>
              </a:extLst>
            </p:cNvPr>
            <p:cNvSpPr txBox="1"/>
            <p:nvPr/>
          </p:nvSpPr>
          <p:spPr>
            <a:xfrm>
              <a:off x="999877" y="2410531"/>
              <a:ext cx="6601073" cy="830997"/>
            </a:xfrm>
            <a:prstGeom prst="rect">
              <a:avLst/>
            </a:prstGeom>
            <a:noFill/>
          </p:spPr>
          <p:txBody>
            <a:bodyPr wrap="square">
              <a:spAutoFit/>
            </a:bodyPr>
            <a:lstStyle/>
            <a:p>
              <a:pPr algn="just"/>
              <a:r>
                <a:rPr lang="en-US" sz="2400" dirty="0">
                  <a:solidFill/>
                  <a:latin typeface="Times" pitchFamily="2" charset="0"/>
                </a:rPr>
                <a:t>In these cases where </a:t>
              </a: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0, we can still use the Equation 6.8 form of the Work-Energy Theorem:   </a:t>
              </a:r>
            </a:p>
          </p:txBody>
        </p:sp>
        <p:sp>
          <p:nvSpPr>
            <p:cNvPr id="11" name="Rounded Rectangle 10">
              <a:extLst>
                <a:ext uri="{FF2B5EF4-FFF2-40B4-BE49-F238E27FC236}">
                  <a16:creationId xmlns:a16="http://schemas.microsoft.com/office/drawing/2014/main" id="{8B886FA2-5D0C-2B7F-F034-82F38B671417}"/>
                </a:ext>
              </a:extLst>
            </p:cNvPr>
            <p:cNvSpPr/>
            <p:nvPr/>
          </p:nvSpPr>
          <p:spPr>
            <a:xfrm>
              <a:off x="7882238" y="2721973"/>
              <a:ext cx="1841863" cy="4702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a:extLst>
              <a:ext uri="{FF2B5EF4-FFF2-40B4-BE49-F238E27FC236}">
                <a16:creationId xmlns:a16="http://schemas.microsoft.com/office/drawing/2014/main" id="{0D4E6D58-71EC-A5A3-053F-0F74FAC4B067}"/>
              </a:ext>
            </a:extLst>
          </p:cNvPr>
          <p:cNvSpPr txBox="1"/>
          <p:nvPr/>
        </p:nvSpPr>
        <p:spPr>
          <a:xfrm>
            <a:off x="7897725" y="3237064"/>
            <a:ext cx="2006824"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f  </a:t>
            </a:r>
            <a:r>
              <a:rPr lang="en-US" sz="2400" dirty="0">
                <a:solidFill/>
                <a:latin typeface="Times" pitchFamily="2" charset="0"/>
              </a:rPr>
              <a:t>– </a:t>
            </a:r>
            <a:r>
              <a:rPr lang="en-US" sz="2400" i="1" dirty="0">
                <a:solidFill/>
                <a:latin typeface="Times" pitchFamily="2" charset="0"/>
              </a:rPr>
              <a:t>E</a:t>
            </a:r>
            <a:r>
              <a:rPr lang="en-US" sz="2400" baseline="-25000" dirty="0">
                <a:solidFill/>
                <a:latin typeface="Times" pitchFamily="2" charset="0"/>
              </a:rPr>
              <a:t>0</a:t>
            </a:r>
            <a:endParaRPr lang="en-US" sz="2400" dirty="0"/>
          </a:p>
        </p:txBody>
      </p:sp>
      <p:sp>
        <p:nvSpPr>
          <p:cNvPr id="13" name="TextBox 12">
            <a:extLst>
              <a:ext uri="{FF2B5EF4-FFF2-40B4-BE49-F238E27FC236}">
                <a16:creationId xmlns:a16="http://schemas.microsoft.com/office/drawing/2014/main" id="{D174142F-528A-E130-2A68-96578BD68AF6}"/>
              </a:ext>
            </a:extLst>
          </p:cNvPr>
          <p:cNvSpPr txBox="1"/>
          <p:nvPr/>
        </p:nvSpPr>
        <p:spPr>
          <a:xfrm>
            <a:off x="9917568" y="3246311"/>
            <a:ext cx="1119865" cy="461665"/>
          </a:xfrm>
          <a:prstGeom prst="rect">
            <a:avLst/>
          </a:prstGeom>
          <a:noFill/>
        </p:spPr>
        <p:txBody>
          <a:bodyPr wrap="square" rtlCol="0">
            <a:spAutoFit/>
          </a:bodyPr>
          <a:lstStyle/>
          <a:p>
            <a:pPr/>
            <a:r>
              <a:rPr lang="en-US" sz="2400" dirty="0">
                <a:solidFill/>
                <a:latin typeface="Times" pitchFamily="2" charset="0"/>
              </a:rPr>
              <a:t>(</a:t>
            </a:r>
            <a:r>
              <a:rPr lang="en-US" sz="2400" b="1" dirty="0">
                <a:solidFill/>
                <a:latin typeface="Times" pitchFamily="2" charset="0"/>
              </a:rPr>
              <a:t>6.8</a:t>
            </a:r>
            <a:r>
              <a:rPr lang="en-US" sz="2400" dirty="0">
                <a:solidFill/>
                <a:latin typeface="Times" pitchFamily="2" charset="0"/>
              </a:rPr>
              <a:t>)</a:t>
            </a:r>
          </a:p>
        </p:txBody>
      </p:sp>
      <p:grpSp>
        <p:nvGrpSpPr>
          <p:cNvPr id="32" name="Group 31">
            <a:extLst>
              <a:ext uri="{FF2B5EF4-FFF2-40B4-BE49-F238E27FC236}">
                <a16:creationId xmlns:a16="http://schemas.microsoft.com/office/drawing/2014/main" id="{F8E6426B-4184-F45F-BA5B-590666879D0B}"/>
              </a:ext>
            </a:extLst>
          </p:cNvPr>
          <p:cNvGrpSpPr/>
          <p:nvPr/>
        </p:nvGrpSpPr>
        <p:grpSpPr>
          <a:xfrm>
            <a:off x="1009402" y="4434594"/>
            <a:ext cx="10720636" cy="980370"/>
            <a:chOff x="995114" y="3420181"/>
            <a:chExt cx="10720636" cy="980370"/>
          </a:xfrm>
        </p:grpSpPr>
        <p:sp>
          <p:nvSpPr>
            <p:cNvPr id="30" name="TextBox 29">
              <a:extLst>
                <a:ext uri="{FF2B5EF4-FFF2-40B4-BE49-F238E27FC236}">
                  <a16:creationId xmlns:a16="http://schemas.microsoft.com/office/drawing/2014/main" id="{14134643-7D68-5303-957B-5A2440F02E5F}"/>
                </a:ext>
              </a:extLst>
            </p:cNvPr>
            <p:cNvSpPr txBox="1"/>
            <p:nvPr/>
          </p:nvSpPr>
          <p:spPr>
            <a:xfrm>
              <a:off x="995114" y="3420181"/>
              <a:ext cx="10720636" cy="461665"/>
            </a:xfrm>
            <a:prstGeom prst="rect">
              <a:avLst/>
            </a:prstGeom>
            <a:noFill/>
          </p:spPr>
          <p:txBody>
            <a:bodyPr wrap="square">
              <a:spAutoFit/>
            </a:bodyPr>
            <a:lstStyle/>
            <a:p>
              <a:pPr algn="just"/>
              <a:r>
                <a:rPr lang="en-US" sz="2400" dirty="0">
                  <a:solidFill/>
                  <a:latin typeface="Times" pitchFamily="2" charset="0"/>
                </a:rPr>
                <a:t>*Notice now that </a:t>
              </a:r>
              <a:r>
                <a:rPr lang="en-US" sz="2400" i="1" dirty="0">
                  <a:solidFill/>
                  <a:latin typeface="Times" pitchFamily="2" charset="0"/>
                </a:rPr>
                <a:t>E</a:t>
              </a:r>
              <a:r>
                <a:rPr lang="en-US" sz="2400" baseline="-25000" dirty="0">
                  <a:solidFill/>
                  <a:latin typeface="Times" pitchFamily="2" charset="0"/>
                </a:rPr>
                <a:t>f</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0</a:t>
              </a:r>
              <a:r>
                <a:rPr lang="en-US" sz="2400" dirty="0">
                  <a:solidFill/>
                  <a:latin typeface="Times" pitchFamily="2" charset="0"/>
                </a:rPr>
                <a:t>.  Therefore, when nonconservative forces act on an object</a:t>
              </a:r>
            </a:p>
          </p:txBody>
        </p:sp>
        <p:sp>
          <p:nvSpPr>
            <p:cNvPr id="31" name="Rounded Rectangle 30">
              <a:extLst>
                <a:ext uri="{FF2B5EF4-FFF2-40B4-BE49-F238E27FC236}">
                  <a16:creationId xmlns:a16="http://schemas.microsoft.com/office/drawing/2014/main" id="{D592FE6B-0BAC-BF78-3AE0-76AB2B5DB0DF}"/>
                </a:ext>
              </a:extLst>
            </p:cNvPr>
            <p:cNvSpPr/>
            <p:nvPr/>
          </p:nvSpPr>
          <p:spPr>
            <a:xfrm>
              <a:off x="2743200" y="3943351"/>
              <a:ext cx="6357937"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TextBox 32">
            <a:extLst>
              <a:ext uri="{FF2B5EF4-FFF2-40B4-BE49-F238E27FC236}">
                <a16:creationId xmlns:a16="http://schemas.microsoft.com/office/drawing/2014/main" id="{88A0D4E7-D1EC-D187-8193-CBBB4CB5DF81}"/>
              </a:ext>
            </a:extLst>
          </p:cNvPr>
          <p:cNvSpPr txBox="1"/>
          <p:nvPr/>
        </p:nvSpPr>
        <p:spPr>
          <a:xfrm>
            <a:off x="2743200" y="4986337"/>
            <a:ext cx="6729413"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total mechanical energy is </a:t>
            </a:r>
            <a:r>
              <a:rPr lang="en-US" sz="2000" u="sng" dirty="0">
                <a:solidFill>
                  <a:srgbClr val="007440"/>
                </a:solidFill>
                <a:latin typeface="Chalkduster" panose="03050602040202020205" pitchFamily="66" charset="77"/>
              </a:rPr>
              <a:t>not</a:t>
            </a:r>
            <a:r>
              <a:rPr lang="en-US" sz="2000" dirty="0">
                <a:solidFill>
                  <a:srgbClr val="007440"/>
                </a:solidFill>
                <a:latin typeface="Chalkduster" panose="03050602040202020205" pitchFamily="66" charset="77"/>
              </a:rPr>
              <a:t> conserved!</a:t>
            </a:r>
          </a:p>
        </p:txBody>
      </p:sp>
    </p:spTree>
    <p:extLst>
      <p:ext uri="{BB962C8B-B14F-4D97-AF65-F5344CB8AC3E}">
        <p14:creationId xmlns:p14="http://schemas.microsoft.com/office/powerpoint/2010/main" val="1983736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dissolve">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ssolve">
                                      <p:cBhvr>
                                        <p:cTn id="17" dur="500"/>
                                        <p:tgtEl>
                                          <p:spTgt spid="12"/>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dissolv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dissolve">
                                      <p:cBhvr>
                                        <p:cTn id="26" dur="500"/>
                                        <p:tgtEl>
                                          <p:spTgt spid="32"/>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dissolve">
                                      <p:cBhvr>
                                        <p:cTn id="3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P spid="13" grpId="0"/>
      <p:bldP spid="3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6669B-DBA5-6823-B3B9-135848F41D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AA5AAB-E73D-F462-3CE1-9516BC801E5E}"/>
              </a:ext>
            </a:extLst>
          </p:cNvPr>
          <p:cNvSpPr>
            <a:spLocks noGrp="1"/>
          </p:cNvSpPr>
          <p:nvPr>
            <p:ph type="title"/>
          </p:nvPr>
        </p:nvSpPr>
        <p:spPr>
          <a:xfrm>
            <a:off x="685805" y="155455"/>
            <a:ext cx="11506195" cy="849312"/>
          </a:xfrm>
        </p:spPr>
        <p:txBody>
          <a:bodyPr>
            <a:normAutofit fontScale="90000"/>
          </a:bodyPr>
          <a:lstStyle/>
          <a:p>
            <a:pPr/>
            <a:r>
              <a:rPr lang="en-US" b="1" dirty="0">
                <a:solidFill/>
                <a:ea typeface="Calibri" charset="0"/>
                <a:cs typeface="Calibri" charset="0"/>
              </a:rPr>
              <a:t>6.6 </a:t>
            </a:r>
            <a:r>
              <a:rPr lang="en-US" dirty="0">
                <a:solidFill/>
                <a:ea typeface="Calibri" charset="0"/>
                <a:cs typeface="Calibri" charset="0"/>
              </a:rPr>
              <a:t>Nonconservative Forces and the Work–Energy Theorem</a:t>
            </a:r>
            <a:endParaRPr lang="en-US" sz="3000" dirty="0"/>
          </a:p>
        </p:txBody>
      </p:sp>
      <p:sp>
        <p:nvSpPr>
          <p:cNvPr id="6" name="TextBox 5">
            <a:extLst>
              <a:ext uri="{FF2B5EF4-FFF2-40B4-BE49-F238E27FC236}">
                <a16:creationId xmlns:a16="http://schemas.microsoft.com/office/drawing/2014/main" id="{6F52CD82-58D4-A10A-4D3C-CAFDE8F218A0}"/>
              </a:ext>
            </a:extLst>
          </p:cNvPr>
          <p:cNvSpPr txBox="1"/>
          <p:nvPr/>
        </p:nvSpPr>
        <p:spPr>
          <a:xfrm>
            <a:off x="332185" y="1177469"/>
            <a:ext cx="7783115" cy="2677656"/>
          </a:xfrm>
          <a:prstGeom prst="rect">
            <a:avLst/>
          </a:prstGeom>
          <a:noFill/>
        </p:spPr>
        <p:txBody>
          <a:bodyPr wrap="square">
            <a:spAutoFit/>
          </a:bodyPr>
          <a:lstStyle/>
          <a:p>
            <a:pPr algn="just"/>
            <a:r>
              <a:rPr lang="en-US" sz="2400" dirty="0">
                <a:solidFill/>
                <a:latin typeface="Times" pitchFamily="2" charset="0"/>
              </a:rPr>
              <a:t>A 0.20-kg rocket in a fireworks display is launched from rest and follows an erratic flight path to reach the point </a:t>
            </a:r>
            <a:r>
              <a:rPr lang="en-US" sz="2400" i="1" dirty="0">
                <a:solidFill/>
                <a:latin typeface="Times" pitchFamily="2" charset="0"/>
              </a:rPr>
              <a:t>P</a:t>
            </a:r>
            <a:r>
              <a:rPr lang="en-US" sz="2400" dirty="0">
                <a:solidFill/>
                <a:latin typeface="Times" pitchFamily="2" charset="0"/>
              </a:rPr>
              <a:t>, as the figure shows. Point </a:t>
            </a:r>
            <a:r>
              <a:rPr lang="en-US" sz="2400" i="1" dirty="0">
                <a:solidFill/>
                <a:latin typeface="Times" pitchFamily="2" charset="0"/>
              </a:rPr>
              <a:t>P</a:t>
            </a:r>
            <a:r>
              <a:rPr lang="en-US" sz="2400" dirty="0">
                <a:solidFill/>
                <a:latin typeface="Times" pitchFamily="2" charset="0"/>
              </a:rPr>
              <a:t> is 29 m above the starting point. In the process, 425 J of work is done on the rocket by the </a:t>
            </a:r>
            <a:r>
              <a:rPr lang="en-US" sz="2400" u="sng" dirty="0">
                <a:solidFill/>
                <a:latin typeface="Times" pitchFamily="2" charset="0"/>
              </a:rPr>
              <a:t>nonconservative force</a:t>
            </a:r>
            <a:r>
              <a:rPr lang="en-US" sz="2400" dirty="0">
                <a:solidFill/>
                <a:latin typeface="Times" pitchFamily="2" charset="0"/>
              </a:rPr>
              <a:t> generated by the burning propellant. Ignoring air resistance and the mass lost due to the burning propellant, find the speed  of the rocket at the point </a:t>
            </a:r>
            <a:r>
              <a:rPr lang="en-US" sz="2400" i="1" dirty="0">
                <a:solidFill/>
                <a:latin typeface="Times" pitchFamily="2" charset="0"/>
              </a:rPr>
              <a:t>P</a:t>
            </a:r>
            <a:r>
              <a:rPr lang="en-US" sz="2400" dirty="0">
                <a:solidFill/>
                <a:latin typeface="Times" pitchFamily="2" charset="0"/>
              </a:rPr>
              <a:t>.</a:t>
            </a:r>
          </a:p>
        </p:txBody>
      </p:sp>
      <p:pic>
        <p:nvPicPr>
          <p:cNvPr id="9" name="Picture 8">
            <a:extLst>
              <a:ext uri="{FF2B5EF4-FFF2-40B4-BE49-F238E27FC236}">
                <a16:creationId xmlns:a16="http://schemas.microsoft.com/office/drawing/2014/main" id="{109065F1-101C-E0DB-338E-904055BB22E0}"/>
              </a:ext>
            </a:extLst>
          </p:cNvPr>
          <p:cNvPicPr>
            <a:picLocks noChangeAspect="1"/>
          </p:cNvPicPr>
          <p:nvPr/>
        </p:nvPicPr>
        <p:blipFill>
          <a:blip r:embed="rId3"/>
          <a:stretch>
            <a:fillRect/>
          </a:stretch>
        </p:blipFill>
        <p:spPr>
          <a:xfrm>
            <a:off x="8248650" y="962025"/>
            <a:ext cx="3810000" cy="5448300"/>
          </a:xfrm>
          <a:prstGeom prst="rect">
            <a:avLst/>
          </a:prstGeom>
        </p:spPr>
      </p:pic>
      <p:sp>
        <p:nvSpPr>
          <p:cNvPr id="10" name="TextBox 9">
            <a:extLst>
              <a:ext uri="{FF2B5EF4-FFF2-40B4-BE49-F238E27FC236}">
                <a16:creationId xmlns:a16="http://schemas.microsoft.com/office/drawing/2014/main" id="{63108982-C93E-84C4-A4B4-CC24BF3B7E37}"/>
              </a:ext>
            </a:extLst>
          </p:cNvPr>
          <p:cNvSpPr txBox="1"/>
          <p:nvPr/>
        </p:nvSpPr>
        <p:spPr>
          <a:xfrm>
            <a:off x="358623" y="681582"/>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Fireworks</a:t>
            </a:r>
          </a:p>
        </p:txBody>
      </p:sp>
      <p:sp>
        <p:nvSpPr>
          <p:cNvPr id="14" name="TextBox 13">
            <a:extLst>
              <a:ext uri="{FF2B5EF4-FFF2-40B4-BE49-F238E27FC236}">
                <a16:creationId xmlns:a16="http://schemas.microsoft.com/office/drawing/2014/main" id="{29FEAABF-EC8C-D3D4-E2EC-0F2DB68966A9}"/>
              </a:ext>
            </a:extLst>
          </p:cNvPr>
          <p:cNvSpPr txBox="1"/>
          <p:nvPr/>
        </p:nvSpPr>
        <p:spPr>
          <a:xfrm>
            <a:off x="327422" y="4001632"/>
            <a:ext cx="7783115" cy="830997"/>
          </a:xfrm>
          <a:prstGeom prst="rect">
            <a:avLst/>
          </a:prstGeom>
          <a:noFill/>
        </p:spPr>
        <p:txBody>
          <a:bodyPr wrap="square">
            <a:spAutoFit/>
          </a:bodyPr>
          <a:lstStyle/>
          <a:p>
            <a:pPr algn="just"/>
            <a:r>
              <a:rPr lang="en-US" sz="2400" dirty="0">
                <a:solidFill/>
                <a:latin typeface="Times" pitchFamily="2" charset="0"/>
              </a:rPr>
              <a:t>The final speed of the rocket will be determined by its kinetic energy at point P.  </a:t>
            </a:r>
          </a:p>
        </p:txBody>
      </p:sp>
      <p:grpSp>
        <p:nvGrpSpPr>
          <p:cNvPr id="18" name="Group 17">
            <a:extLst>
              <a:ext uri="{FF2B5EF4-FFF2-40B4-BE49-F238E27FC236}">
                <a16:creationId xmlns:a16="http://schemas.microsoft.com/office/drawing/2014/main" id="{2AF8C3AA-5F9D-ED32-F29F-B52FBDA514E6}"/>
              </a:ext>
            </a:extLst>
          </p:cNvPr>
          <p:cNvGrpSpPr/>
          <p:nvPr/>
        </p:nvGrpSpPr>
        <p:grpSpPr>
          <a:xfrm>
            <a:off x="322659" y="4900612"/>
            <a:ext cx="7783115" cy="472322"/>
            <a:chOff x="322659" y="4900612"/>
            <a:chExt cx="7783115" cy="472322"/>
          </a:xfrm>
        </p:grpSpPr>
        <p:sp>
          <p:nvSpPr>
            <p:cNvPr id="17" name="Rounded Rectangle 16">
              <a:extLst>
                <a:ext uri="{FF2B5EF4-FFF2-40B4-BE49-F238E27FC236}">
                  <a16:creationId xmlns:a16="http://schemas.microsoft.com/office/drawing/2014/main" id="{302B1B61-580F-CBFF-FDD6-8F752F62D4EB}"/>
                </a:ext>
              </a:extLst>
            </p:cNvPr>
            <p:cNvSpPr/>
            <p:nvPr/>
          </p:nvSpPr>
          <p:spPr>
            <a:xfrm>
              <a:off x="5072063" y="4900612"/>
              <a:ext cx="1843087"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07FE382-4008-5FFC-B7FC-8E5A171CA4D2}"/>
                </a:ext>
              </a:extLst>
            </p:cNvPr>
            <p:cNvSpPr txBox="1"/>
            <p:nvPr/>
          </p:nvSpPr>
          <p:spPr>
            <a:xfrm>
              <a:off x="322659" y="4911269"/>
              <a:ext cx="7783115" cy="461665"/>
            </a:xfrm>
            <a:prstGeom prst="rect">
              <a:avLst/>
            </a:prstGeom>
            <a:noFill/>
          </p:spPr>
          <p:txBody>
            <a:bodyPr wrap="square">
              <a:spAutoFit/>
            </a:bodyPr>
            <a:lstStyle/>
            <a:p>
              <a:pPr algn="just"/>
              <a:r>
                <a:rPr lang="en-US" sz="2400" dirty="0">
                  <a:solidFill/>
                  <a:latin typeface="Times" pitchFamily="2" charset="0"/>
                </a:rPr>
                <a:t>We can directly apply Equation 6.8:  </a:t>
              </a:r>
            </a:p>
          </p:txBody>
        </p:sp>
      </p:grpSp>
      <p:grpSp>
        <p:nvGrpSpPr>
          <p:cNvPr id="21" name="Group 20">
            <a:extLst>
              <a:ext uri="{FF2B5EF4-FFF2-40B4-BE49-F238E27FC236}">
                <a16:creationId xmlns:a16="http://schemas.microsoft.com/office/drawing/2014/main" id="{2D76C593-244B-2A58-230A-48D8CE48BCDE}"/>
              </a:ext>
            </a:extLst>
          </p:cNvPr>
          <p:cNvGrpSpPr/>
          <p:nvPr/>
        </p:nvGrpSpPr>
        <p:grpSpPr>
          <a:xfrm>
            <a:off x="317896" y="5406566"/>
            <a:ext cx="9440467" cy="951372"/>
            <a:chOff x="317896" y="5406566"/>
            <a:chExt cx="9440467" cy="951372"/>
          </a:xfrm>
        </p:grpSpPr>
        <p:sp>
          <p:nvSpPr>
            <p:cNvPr id="19" name="TextBox 18">
              <a:extLst>
                <a:ext uri="{FF2B5EF4-FFF2-40B4-BE49-F238E27FC236}">
                  <a16:creationId xmlns:a16="http://schemas.microsoft.com/office/drawing/2014/main" id="{4FAEE8A1-6B04-62EF-1CF3-301A7F513674}"/>
                </a:ext>
              </a:extLst>
            </p:cNvPr>
            <p:cNvSpPr txBox="1"/>
            <p:nvPr/>
          </p:nvSpPr>
          <p:spPr>
            <a:xfrm>
              <a:off x="317896" y="5406566"/>
              <a:ext cx="9440467" cy="461665"/>
            </a:xfrm>
            <a:prstGeom prst="rect">
              <a:avLst/>
            </a:prstGeom>
            <a:noFill/>
          </p:spPr>
          <p:txBody>
            <a:bodyPr wrap="square">
              <a:spAutoFit/>
            </a:bodyPr>
            <a:lstStyle/>
            <a:p>
              <a:pPr algn="just"/>
              <a:r>
                <a:rPr lang="en-US" sz="2400" dirty="0">
                  <a:solidFill/>
                  <a:latin typeface="Times" pitchFamily="2" charset="0"/>
                </a:rPr>
                <a:t>Each energy term (</a:t>
              </a:r>
              <a:r>
                <a:rPr lang="en-US" sz="2400" i="1" dirty="0">
                  <a:solidFill/>
                  <a:latin typeface="Times" pitchFamily="2" charset="0"/>
                </a:rPr>
                <a:t>E</a:t>
              </a:r>
              <a:r>
                <a:rPr lang="en-US" sz="2400" dirty="0">
                  <a:solidFill/>
                  <a:latin typeface="Times" pitchFamily="2" charset="0"/>
                </a:rPr>
                <a:t>) can be written as the sum of a KE and PE:</a:t>
              </a:r>
            </a:p>
          </p:txBody>
        </p:sp>
        <p:sp>
          <p:nvSpPr>
            <p:cNvPr id="20" name="Rounded Rectangle 19">
              <a:extLst>
                <a:ext uri="{FF2B5EF4-FFF2-40B4-BE49-F238E27FC236}">
                  <a16:creationId xmlns:a16="http://schemas.microsoft.com/office/drawing/2014/main" id="{811234F2-3A8F-96AE-7F33-B41C50BE9D6C}"/>
                </a:ext>
              </a:extLst>
            </p:cNvPr>
            <p:cNvSpPr/>
            <p:nvPr/>
          </p:nvSpPr>
          <p:spPr>
            <a:xfrm>
              <a:off x="1747838" y="5872163"/>
              <a:ext cx="5122862" cy="4857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 name="TextBox 15">
            <a:extLst>
              <a:ext uri="{FF2B5EF4-FFF2-40B4-BE49-F238E27FC236}">
                <a16:creationId xmlns:a16="http://schemas.microsoft.com/office/drawing/2014/main" id="{7567184B-6134-4E21-C181-583AA1B26F9E}"/>
              </a:ext>
            </a:extLst>
          </p:cNvPr>
          <p:cNvSpPr txBox="1"/>
          <p:nvPr/>
        </p:nvSpPr>
        <p:spPr>
          <a:xfrm>
            <a:off x="1752600" y="5880100"/>
            <a:ext cx="2241638"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f  </a:t>
            </a:r>
            <a:r>
              <a:rPr lang="en-US" sz="2400" dirty="0">
                <a:solidFill/>
                <a:latin typeface="Times" pitchFamily="2" charset="0"/>
              </a:rPr>
              <a:t>– </a:t>
            </a:r>
            <a:r>
              <a:rPr lang="en-US" sz="2400" i="1" dirty="0">
                <a:solidFill/>
                <a:latin typeface="Times" pitchFamily="2" charset="0"/>
              </a:rPr>
              <a:t>E</a:t>
            </a:r>
            <a:r>
              <a:rPr lang="en-US" sz="2400" baseline="-25000" dirty="0">
                <a:solidFill/>
                <a:latin typeface="Times" pitchFamily="2" charset="0"/>
              </a:rPr>
              <a:t>0</a:t>
            </a:r>
            <a:endParaRPr lang="en-US" sz="2400" dirty="0"/>
          </a:p>
        </p:txBody>
      </p:sp>
      <p:sp>
        <p:nvSpPr>
          <p:cNvPr id="22" name="TextBox 21">
            <a:extLst>
              <a:ext uri="{FF2B5EF4-FFF2-40B4-BE49-F238E27FC236}">
                <a16:creationId xmlns:a16="http://schemas.microsoft.com/office/drawing/2014/main" id="{C12948F5-4F09-C023-D4E7-E1DC5D47CB70}"/>
              </a:ext>
            </a:extLst>
          </p:cNvPr>
          <p:cNvSpPr txBox="1"/>
          <p:nvPr/>
        </p:nvSpPr>
        <p:spPr>
          <a:xfrm>
            <a:off x="3562262" y="5867400"/>
            <a:ext cx="4591138" cy="461665"/>
          </a:xfrm>
          <a:prstGeom prst="rect">
            <a:avLst/>
          </a:prstGeom>
          <a:noFill/>
        </p:spPr>
        <p:txBody>
          <a:bodyPr wrap="square" rtlCol="0">
            <a:spAutoFit/>
          </a:bodyPr>
          <a:lstStyle/>
          <a:p>
            <a:pPr/>
            <a:r>
              <a:rPr lang="en-US" sz="2400" dirty="0">
                <a:solidFill/>
                <a:latin typeface="Times" pitchFamily="2" charset="0"/>
              </a:rPr>
              <a:t>= </a:t>
            </a:r>
            <a:r>
              <a:rPr lang="en-US" sz="2400" dirty="0" err="1">
                <a:solidFill/>
                <a:latin typeface="Times" pitchFamily="2" charset="0"/>
              </a:rPr>
              <a:t>KE</a:t>
            </a:r>
            <a:r>
              <a:rPr lang="en-US" sz="2400" baseline="-25000" dirty="0" err="1">
                <a:solidFill/>
                <a:latin typeface="Times" pitchFamily="2" charset="0"/>
              </a:rPr>
              <a:t>f</a:t>
            </a:r>
            <a:r>
              <a:rPr lang="en-US" sz="2400" dirty="0">
                <a:solidFill/>
                <a:latin typeface="Times" pitchFamily="2" charset="0"/>
              </a:rPr>
              <a:t> + </a:t>
            </a:r>
            <a:r>
              <a:rPr lang="en-US" sz="2400" dirty="0" err="1">
                <a:solidFill/>
                <a:latin typeface="Times" pitchFamily="2" charset="0"/>
              </a:rPr>
              <a:t>PE</a:t>
            </a:r>
            <a:r>
              <a:rPr lang="en-US" sz="2400" baseline="-25000" dirty="0" err="1">
                <a:solidFill/>
                <a:latin typeface="Times" pitchFamily="2" charset="0"/>
              </a:rPr>
              <a:t>f</a:t>
            </a:r>
            <a:r>
              <a:rPr lang="en-US" sz="2400" dirty="0">
                <a:solidFill/>
                <a:latin typeface="Times" pitchFamily="2" charset="0"/>
              </a:rPr>
              <a:t> – KE</a:t>
            </a:r>
            <a:r>
              <a:rPr lang="en-US" sz="2400" baseline="-25000" dirty="0">
                <a:solidFill/>
                <a:latin typeface="Times" pitchFamily="2" charset="0"/>
              </a:rPr>
              <a:t>0</a:t>
            </a:r>
            <a:r>
              <a:rPr lang="en-US" sz="2400" dirty="0">
                <a:solidFill/>
                <a:latin typeface="Times" pitchFamily="2" charset="0"/>
              </a:rPr>
              <a:t> – PE</a:t>
            </a:r>
            <a:r>
              <a:rPr lang="en-US" sz="2400" baseline="-25000" dirty="0">
                <a:solidFill/>
                <a:latin typeface="Times" pitchFamily="2" charset="0"/>
              </a:rPr>
              <a:t>0</a:t>
            </a:r>
            <a:endParaRPr lang="en-US" sz="2400" baseline="-25000" dirty="0"/>
          </a:p>
        </p:txBody>
      </p:sp>
      <p:sp>
        <p:nvSpPr>
          <p:cNvPr id="23" name="TextBox 22">
            <a:extLst>
              <a:ext uri="{FF2B5EF4-FFF2-40B4-BE49-F238E27FC236}">
                <a16:creationId xmlns:a16="http://schemas.microsoft.com/office/drawing/2014/main" id="{B975444F-679B-D1E2-AEFB-2063A7F279DB}"/>
              </a:ext>
            </a:extLst>
          </p:cNvPr>
          <p:cNvSpPr txBox="1"/>
          <p:nvPr/>
        </p:nvSpPr>
        <p:spPr>
          <a:xfrm>
            <a:off x="5029200" y="4889500"/>
            <a:ext cx="2241638"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f  </a:t>
            </a:r>
            <a:r>
              <a:rPr lang="en-US" sz="2400" dirty="0">
                <a:solidFill/>
                <a:latin typeface="Times" pitchFamily="2" charset="0"/>
              </a:rPr>
              <a:t>– </a:t>
            </a:r>
            <a:r>
              <a:rPr lang="en-US" sz="2400" i="1" dirty="0">
                <a:solidFill/>
                <a:latin typeface="Times" pitchFamily="2" charset="0"/>
              </a:rPr>
              <a:t>E</a:t>
            </a:r>
            <a:r>
              <a:rPr lang="en-US" sz="2400" baseline="-25000" dirty="0">
                <a:solidFill/>
                <a:latin typeface="Times" pitchFamily="2" charset="0"/>
              </a:rPr>
              <a:t>0</a:t>
            </a:r>
            <a:endParaRPr lang="en-US" sz="2400" dirty="0"/>
          </a:p>
        </p:txBody>
      </p:sp>
    </p:spTree>
    <p:extLst>
      <p:ext uri="{BB962C8B-B14F-4D97-AF65-F5344CB8AC3E}">
        <p14:creationId xmlns:p14="http://schemas.microsoft.com/office/powerpoint/2010/main" val="1407888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dissolve">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dissolv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dissolv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dissolve">
                                      <p:cBhvr>
                                        <p:cTn id="3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22" grpId="0"/>
      <p:bldP spid="2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AF3DC-3C9E-96D9-A7A0-82A423E801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3BA133-F89F-5099-22B9-B904DC7592A1}"/>
              </a:ext>
            </a:extLst>
          </p:cNvPr>
          <p:cNvSpPr>
            <a:spLocks noGrp="1"/>
          </p:cNvSpPr>
          <p:nvPr>
            <p:ph type="title"/>
          </p:nvPr>
        </p:nvSpPr>
        <p:spPr>
          <a:xfrm>
            <a:off x="685805" y="155455"/>
            <a:ext cx="11506195" cy="849312"/>
          </a:xfrm>
        </p:spPr>
        <p:txBody>
          <a:bodyPr>
            <a:normAutofit fontScale="90000"/>
          </a:bodyPr>
          <a:lstStyle/>
          <a:p>
            <a:pPr/>
            <a:r>
              <a:rPr lang="en-US" b="1" dirty="0">
                <a:solidFill/>
                <a:ea typeface="Calibri" charset="0"/>
                <a:cs typeface="Calibri" charset="0"/>
              </a:rPr>
              <a:t>6.6 </a:t>
            </a:r>
            <a:r>
              <a:rPr lang="en-US" dirty="0">
                <a:solidFill/>
                <a:ea typeface="Calibri" charset="0"/>
                <a:cs typeface="Calibri" charset="0"/>
              </a:rPr>
              <a:t>Nonconservative Forces and the Work–Energy Theorem</a:t>
            </a:r>
            <a:endParaRPr lang="en-US" sz="3000" dirty="0"/>
          </a:p>
        </p:txBody>
      </p:sp>
      <p:pic>
        <p:nvPicPr>
          <p:cNvPr id="9" name="Picture 8">
            <a:extLst>
              <a:ext uri="{FF2B5EF4-FFF2-40B4-BE49-F238E27FC236}">
                <a16:creationId xmlns:a16="http://schemas.microsoft.com/office/drawing/2014/main" id="{06315A9A-C682-97EA-87F7-55569A4F194C}"/>
              </a:ext>
            </a:extLst>
          </p:cNvPr>
          <p:cNvPicPr>
            <a:picLocks noChangeAspect="1"/>
          </p:cNvPicPr>
          <p:nvPr/>
        </p:nvPicPr>
        <p:blipFill>
          <a:blip r:embed="rId3"/>
          <a:stretch>
            <a:fillRect/>
          </a:stretch>
        </p:blipFill>
        <p:spPr>
          <a:xfrm>
            <a:off x="8248650" y="962025"/>
            <a:ext cx="3810000" cy="5448300"/>
          </a:xfrm>
          <a:prstGeom prst="rect">
            <a:avLst/>
          </a:prstGeom>
        </p:spPr>
      </p:pic>
      <p:sp>
        <p:nvSpPr>
          <p:cNvPr id="10" name="TextBox 9">
            <a:extLst>
              <a:ext uri="{FF2B5EF4-FFF2-40B4-BE49-F238E27FC236}">
                <a16:creationId xmlns:a16="http://schemas.microsoft.com/office/drawing/2014/main" id="{E8C9FD76-4293-9B48-9AF0-198DBC8EBB60}"/>
              </a:ext>
            </a:extLst>
          </p:cNvPr>
          <p:cNvSpPr txBox="1"/>
          <p:nvPr/>
        </p:nvSpPr>
        <p:spPr>
          <a:xfrm>
            <a:off x="358623" y="681582"/>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Fireworks</a:t>
            </a:r>
          </a:p>
        </p:txBody>
      </p:sp>
      <p:sp>
        <p:nvSpPr>
          <p:cNvPr id="15" name="TextBox 14">
            <a:extLst>
              <a:ext uri="{FF2B5EF4-FFF2-40B4-BE49-F238E27FC236}">
                <a16:creationId xmlns:a16="http://schemas.microsoft.com/office/drawing/2014/main" id="{AE874197-0346-0F4F-0FC8-5CF390149EEF}"/>
              </a:ext>
            </a:extLst>
          </p:cNvPr>
          <p:cNvSpPr txBox="1"/>
          <p:nvPr/>
        </p:nvSpPr>
        <p:spPr>
          <a:xfrm>
            <a:off x="106759" y="4073069"/>
            <a:ext cx="452041" cy="461665"/>
          </a:xfrm>
          <a:prstGeom prst="rect">
            <a:avLst/>
          </a:prstGeom>
          <a:noFill/>
        </p:spPr>
        <p:txBody>
          <a:bodyPr wrap="square">
            <a:spAutoFit/>
          </a:bodyPr>
          <a:lstStyle/>
          <a:p>
            <a:pPr algn="just"/>
            <a:r>
              <a:rPr lang="en-US" sz="2400" dirty="0">
                <a:solidFill/>
                <a:latin typeface="Times" pitchFamily="2" charset="0"/>
              </a:rPr>
              <a:t>⇒</a:t>
            </a:r>
          </a:p>
        </p:txBody>
      </p:sp>
      <p:grpSp>
        <p:nvGrpSpPr>
          <p:cNvPr id="4" name="Group 3">
            <a:extLst>
              <a:ext uri="{FF2B5EF4-FFF2-40B4-BE49-F238E27FC236}">
                <a16:creationId xmlns:a16="http://schemas.microsoft.com/office/drawing/2014/main" id="{62D348DE-6102-D48B-8523-79E8DCAC8880}"/>
              </a:ext>
            </a:extLst>
          </p:cNvPr>
          <p:cNvGrpSpPr/>
          <p:nvPr/>
        </p:nvGrpSpPr>
        <p:grpSpPr>
          <a:xfrm>
            <a:off x="162322" y="1156832"/>
            <a:ext cx="9781778" cy="1319668"/>
            <a:chOff x="352822" y="2668132"/>
            <a:chExt cx="9781778" cy="1319668"/>
          </a:xfrm>
        </p:grpSpPr>
        <p:sp>
          <p:nvSpPr>
            <p:cNvPr id="14" name="TextBox 13">
              <a:extLst>
                <a:ext uri="{FF2B5EF4-FFF2-40B4-BE49-F238E27FC236}">
                  <a16:creationId xmlns:a16="http://schemas.microsoft.com/office/drawing/2014/main" id="{39DC6102-A319-A1B6-5DD2-B776DCE1602A}"/>
                </a:ext>
              </a:extLst>
            </p:cNvPr>
            <p:cNvSpPr txBox="1"/>
            <p:nvPr/>
          </p:nvSpPr>
          <p:spPr>
            <a:xfrm>
              <a:off x="352822" y="2668132"/>
              <a:ext cx="9781778" cy="461665"/>
            </a:xfrm>
            <a:prstGeom prst="rect">
              <a:avLst/>
            </a:prstGeom>
            <a:noFill/>
          </p:spPr>
          <p:txBody>
            <a:bodyPr wrap="square">
              <a:spAutoFit/>
            </a:bodyPr>
            <a:lstStyle/>
            <a:p>
              <a:pPr algn="just"/>
              <a:r>
                <a:rPr lang="en-US" sz="2400" dirty="0">
                  <a:solidFill/>
                  <a:latin typeface="Times" pitchFamily="2" charset="0"/>
                </a:rPr>
                <a:t>Each KE term is equal to a “½</a:t>
              </a:r>
              <a:r>
                <a:rPr lang="en-US" sz="2400" i="1" dirty="0">
                  <a:solidFill/>
                  <a:latin typeface="Times" pitchFamily="2" charset="0"/>
                </a:rPr>
                <a:t>mv</a:t>
              </a:r>
              <a:r>
                <a:rPr lang="en-US" sz="2400" baseline="30000" dirty="0">
                  <a:solidFill/>
                  <a:latin typeface="Times" pitchFamily="2" charset="0"/>
                </a:rPr>
                <a:t>2</a:t>
              </a:r>
              <a:r>
                <a:rPr lang="en-US" sz="2400" dirty="0">
                  <a:solidFill/>
                  <a:latin typeface="Times" pitchFamily="2" charset="0"/>
                </a:rPr>
                <a:t>”, and each PE term is equal to an “</a:t>
              </a:r>
              <a:r>
                <a:rPr lang="en-US" sz="2400" i="1" dirty="0" err="1">
                  <a:solidFill/>
                  <a:latin typeface="Times" pitchFamily="2" charset="0"/>
                </a:rPr>
                <a:t>mgh</a:t>
              </a:r>
              <a:r>
                <a:rPr lang="en-US" sz="2400" dirty="0">
                  <a:solidFill/>
                  <a:latin typeface="Times" pitchFamily="2" charset="0"/>
                </a:rPr>
                <a:t>”. </a:t>
              </a:r>
            </a:p>
          </p:txBody>
        </p:sp>
        <p:sp>
          <p:nvSpPr>
            <p:cNvPr id="20" name="Rounded Rectangle 19">
              <a:extLst>
                <a:ext uri="{FF2B5EF4-FFF2-40B4-BE49-F238E27FC236}">
                  <a16:creationId xmlns:a16="http://schemas.microsoft.com/office/drawing/2014/main" id="{7CC048C0-3022-A622-CBF1-A63CC3AAFA43}"/>
                </a:ext>
              </a:extLst>
            </p:cNvPr>
            <p:cNvSpPr/>
            <p:nvPr/>
          </p:nvSpPr>
          <p:spPr>
            <a:xfrm>
              <a:off x="414338" y="3294063"/>
              <a:ext cx="4386262" cy="6937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3" name="Picture 2">
            <a:extLst>
              <a:ext uri="{FF2B5EF4-FFF2-40B4-BE49-F238E27FC236}">
                <a16:creationId xmlns:a16="http://schemas.microsoft.com/office/drawing/2014/main" id="{73CB7699-6520-C28B-6D91-1533B0EBF8BB}"/>
              </a:ext>
            </a:extLst>
          </p:cNvPr>
          <p:cNvPicPr>
            <a:picLocks noChangeAspect="1"/>
          </p:cNvPicPr>
          <p:nvPr/>
        </p:nvPicPr>
        <p:blipFill>
          <a:blip r:embed="rId4"/>
          <a:stretch>
            <a:fillRect/>
          </a:stretch>
        </p:blipFill>
        <p:spPr>
          <a:xfrm>
            <a:off x="286543" y="1841500"/>
            <a:ext cx="4171157" cy="557696"/>
          </a:xfrm>
          <a:prstGeom prst="rect">
            <a:avLst/>
          </a:prstGeom>
        </p:spPr>
      </p:pic>
      <p:sp>
        <p:nvSpPr>
          <p:cNvPr id="7" name="TextBox 6">
            <a:extLst>
              <a:ext uri="{FF2B5EF4-FFF2-40B4-BE49-F238E27FC236}">
                <a16:creationId xmlns:a16="http://schemas.microsoft.com/office/drawing/2014/main" id="{EC148610-6AB5-CB95-7195-240855099C51}"/>
              </a:ext>
            </a:extLst>
          </p:cNvPr>
          <p:cNvSpPr txBox="1"/>
          <p:nvPr/>
        </p:nvSpPr>
        <p:spPr>
          <a:xfrm>
            <a:off x="4785122" y="1741032"/>
            <a:ext cx="4816078" cy="830997"/>
          </a:xfrm>
          <a:prstGeom prst="rect">
            <a:avLst/>
          </a:prstGeom>
          <a:noFill/>
        </p:spPr>
        <p:txBody>
          <a:bodyPr wrap="square">
            <a:spAutoFit/>
          </a:bodyPr>
          <a:lstStyle/>
          <a:p>
            <a:pPr algn="just"/>
            <a:r>
              <a:rPr lang="en-US" sz="2400" dirty="0">
                <a:solidFill/>
                <a:latin typeface="Times" pitchFamily="2" charset="0"/>
              </a:rPr>
              <a:t>*Note:  Since the firework starts from rest, </a:t>
            </a:r>
            <a:r>
              <a:rPr lang="en-US" sz="2400" i="1" dirty="0">
                <a:solidFill/>
                <a:latin typeface="Times" pitchFamily="2" charset="0"/>
              </a:rPr>
              <a:t>v</a:t>
            </a:r>
            <a:r>
              <a:rPr lang="en-US" sz="2400" baseline="-25000" dirty="0">
                <a:solidFill/>
                <a:latin typeface="Times" pitchFamily="2" charset="0"/>
              </a:rPr>
              <a:t>0</a:t>
            </a:r>
            <a:r>
              <a:rPr lang="en-US" sz="2400" dirty="0">
                <a:solidFill/>
                <a:latin typeface="Times" pitchFamily="2" charset="0"/>
              </a:rPr>
              <a:t> = 0 m/s.</a:t>
            </a:r>
          </a:p>
        </p:txBody>
      </p:sp>
      <p:grpSp>
        <p:nvGrpSpPr>
          <p:cNvPr id="13" name="Group 12">
            <a:extLst>
              <a:ext uri="{FF2B5EF4-FFF2-40B4-BE49-F238E27FC236}">
                <a16:creationId xmlns:a16="http://schemas.microsoft.com/office/drawing/2014/main" id="{DB232B36-6AEA-64D6-71F5-C86E8F32EB80}"/>
              </a:ext>
            </a:extLst>
          </p:cNvPr>
          <p:cNvGrpSpPr/>
          <p:nvPr/>
        </p:nvGrpSpPr>
        <p:grpSpPr>
          <a:xfrm>
            <a:off x="2997200" y="1460500"/>
            <a:ext cx="1181100" cy="1003300"/>
            <a:chOff x="2997200" y="1460500"/>
            <a:chExt cx="1181100" cy="1003300"/>
          </a:xfrm>
        </p:grpSpPr>
        <p:cxnSp>
          <p:nvCxnSpPr>
            <p:cNvPr id="11" name="Straight Connector 10">
              <a:extLst>
                <a:ext uri="{FF2B5EF4-FFF2-40B4-BE49-F238E27FC236}">
                  <a16:creationId xmlns:a16="http://schemas.microsoft.com/office/drawing/2014/main" id="{90EDBBE3-642C-E3BB-E313-01ADE619D56B}"/>
                </a:ext>
              </a:extLst>
            </p:cNvPr>
            <p:cNvCxnSpPr/>
            <p:nvPr/>
          </p:nvCxnSpPr>
          <p:spPr>
            <a:xfrm flipV="1">
              <a:off x="2997200" y="1778000"/>
              <a:ext cx="520700" cy="68580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51DBBE0-BDDA-795A-A612-8CDFEB839D09}"/>
                </a:ext>
              </a:extLst>
            </p:cNvPr>
            <p:cNvSpPr txBox="1"/>
            <p:nvPr/>
          </p:nvSpPr>
          <p:spPr>
            <a:xfrm>
              <a:off x="3416300" y="1460500"/>
              <a:ext cx="762000" cy="400110"/>
            </a:xfrm>
            <a:prstGeom prst="rect">
              <a:avLst/>
            </a:prstGeom>
            <a:noFill/>
          </p:spPr>
          <p:txBody>
            <a:bodyPr wrap="square" rtlCol="0">
              <a:spAutoFit/>
            </a:bodyPr>
            <a:lstStyle/>
            <a:p>
              <a:pPr/>
              <a:r>
                <a:rPr lang="en-US" sz="2000" dirty="0">
                  <a:solidFill>
                    <a:srgbClr val="FF0000"/>
                  </a:solidFill>
                  <a:latin typeface="Times" pitchFamily="2" charset="0"/>
                </a:rPr>
                <a:t>0</a:t>
              </a:r>
            </a:p>
          </p:txBody>
        </p:sp>
      </p:grpSp>
      <p:grpSp>
        <p:nvGrpSpPr>
          <p:cNvPr id="29" name="Group 28">
            <a:extLst>
              <a:ext uri="{FF2B5EF4-FFF2-40B4-BE49-F238E27FC236}">
                <a16:creationId xmlns:a16="http://schemas.microsoft.com/office/drawing/2014/main" id="{3192BEE0-6B39-FA64-6922-F77369148A87}"/>
              </a:ext>
            </a:extLst>
          </p:cNvPr>
          <p:cNvGrpSpPr/>
          <p:nvPr/>
        </p:nvGrpSpPr>
        <p:grpSpPr>
          <a:xfrm>
            <a:off x="187722" y="2722563"/>
            <a:ext cx="6809978" cy="693737"/>
            <a:chOff x="187722" y="2722563"/>
            <a:chExt cx="6809978" cy="693737"/>
          </a:xfrm>
        </p:grpSpPr>
        <p:sp>
          <p:nvSpPr>
            <p:cNvPr id="23" name="TextBox 22">
              <a:extLst>
                <a:ext uri="{FF2B5EF4-FFF2-40B4-BE49-F238E27FC236}">
                  <a16:creationId xmlns:a16="http://schemas.microsoft.com/office/drawing/2014/main" id="{05A4A460-8442-7642-7AE1-8A2189227E42}"/>
                </a:ext>
              </a:extLst>
            </p:cNvPr>
            <p:cNvSpPr txBox="1"/>
            <p:nvPr/>
          </p:nvSpPr>
          <p:spPr>
            <a:xfrm>
              <a:off x="187722" y="2807832"/>
              <a:ext cx="3647678" cy="461665"/>
            </a:xfrm>
            <a:prstGeom prst="rect">
              <a:avLst/>
            </a:prstGeom>
            <a:noFill/>
          </p:spPr>
          <p:txBody>
            <a:bodyPr wrap="square">
              <a:spAutoFit/>
            </a:bodyPr>
            <a:lstStyle/>
            <a:p>
              <a:pPr algn="just"/>
              <a:r>
                <a:rPr lang="en-US" sz="2400" dirty="0">
                  <a:solidFill/>
                  <a:latin typeface="Times" pitchFamily="2" charset="0"/>
                </a:rPr>
                <a:t>We can now solve for </a:t>
              </a:r>
              <a:r>
                <a:rPr lang="en-US" sz="2400" i="1" dirty="0" err="1">
                  <a:solidFill/>
                  <a:latin typeface="Times" pitchFamily="2" charset="0"/>
                </a:rPr>
                <a:t>v</a:t>
              </a:r>
              <a:r>
                <a:rPr lang="en-US" sz="2400" i="1" baseline="-25000" dirty="0" err="1">
                  <a:solidFill/>
                  <a:latin typeface="Times" pitchFamily="2" charset="0"/>
                </a:rPr>
                <a:t>f</a:t>
              </a:r>
              <a:r>
                <a:rPr lang="en-US" sz="2400" i="1" dirty="0">
                  <a:solidFill/>
                  <a:latin typeface="Times" pitchFamily="2" charset="0"/>
                </a:rPr>
                <a:t>:  </a:t>
              </a:r>
              <a:endParaRPr lang="en-US" sz="2400" i="1" baseline="-25000" dirty="0">
                <a:latin typeface="Times" pitchFamily="2" charset="0"/>
              </a:endParaRPr>
            </a:p>
          </p:txBody>
        </p:sp>
        <p:sp>
          <p:nvSpPr>
            <p:cNvPr id="24" name="Rounded Rectangle 23">
              <a:extLst>
                <a:ext uri="{FF2B5EF4-FFF2-40B4-BE49-F238E27FC236}">
                  <a16:creationId xmlns:a16="http://schemas.microsoft.com/office/drawing/2014/main" id="{DE4727DC-DD43-33FB-D2F5-07F0B665273E}"/>
                </a:ext>
              </a:extLst>
            </p:cNvPr>
            <p:cNvSpPr/>
            <p:nvPr/>
          </p:nvSpPr>
          <p:spPr>
            <a:xfrm>
              <a:off x="3386138" y="2722563"/>
              <a:ext cx="3611562" cy="6937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Rounded Rectangle 27">
            <a:extLst>
              <a:ext uri="{FF2B5EF4-FFF2-40B4-BE49-F238E27FC236}">
                <a16:creationId xmlns:a16="http://schemas.microsoft.com/office/drawing/2014/main" id="{9C17090B-139B-D1CE-A46B-67550508513F}"/>
              </a:ext>
            </a:extLst>
          </p:cNvPr>
          <p:cNvSpPr/>
          <p:nvPr/>
        </p:nvSpPr>
        <p:spPr>
          <a:xfrm>
            <a:off x="495300" y="3632200"/>
            <a:ext cx="3987800" cy="1295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BF84CA58-32B1-0B04-6730-A743BD0044AA}"/>
              </a:ext>
            </a:extLst>
          </p:cNvPr>
          <p:cNvPicPr>
            <a:picLocks noChangeAspect="1"/>
          </p:cNvPicPr>
          <p:nvPr/>
        </p:nvPicPr>
        <p:blipFill>
          <a:blip r:embed="rId5"/>
          <a:stretch>
            <a:fillRect/>
          </a:stretch>
        </p:blipFill>
        <p:spPr>
          <a:xfrm>
            <a:off x="3530600" y="2781434"/>
            <a:ext cx="3314700" cy="590065"/>
          </a:xfrm>
          <a:prstGeom prst="rect">
            <a:avLst/>
          </a:prstGeom>
        </p:spPr>
      </p:pic>
      <p:pic>
        <p:nvPicPr>
          <p:cNvPr id="27" name="Picture 26">
            <a:extLst>
              <a:ext uri="{FF2B5EF4-FFF2-40B4-BE49-F238E27FC236}">
                <a16:creationId xmlns:a16="http://schemas.microsoft.com/office/drawing/2014/main" id="{9185A12B-47F0-CB69-3B29-16227C755386}"/>
              </a:ext>
            </a:extLst>
          </p:cNvPr>
          <p:cNvPicPr>
            <a:picLocks noChangeAspect="1"/>
          </p:cNvPicPr>
          <p:nvPr/>
        </p:nvPicPr>
        <p:blipFill>
          <a:blip r:embed="rId6"/>
          <a:stretch>
            <a:fillRect/>
          </a:stretch>
        </p:blipFill>
        <p:spPr>
          <a:xfrm>
            <a:off x="596900" y="3720288"/>
            <a:ext cx="3721100" cy="1126650"/>
          </a:xfrm>
          <a:prstGeom prst="rect">
            <a:avLst/>
          </a:prstGeom>
        </p:spPr>
      </p:pic>
      <p:sp>
        <p:nvSpPr>
          <p:cNvPr id="30" name="TextBox 29">
            <a:extLst>
              <a:ext uri="{FF2B5EF4-FFF2-40B4-BE49-F238E27FC236}">
                <a16:creationId xmlns:a16="http://schemas.microsoft.com/office/drawing/2014/main" id="{B88C77FB-3F25-F2D7-62F5-DEF5B886AE84}"/>
              </a:ext>
            </a:extLst>
          </p:cNvPr>
          <p:cNvSpPr txBox="1"/>
          <p:nvPr/>
        </p:nvSpPr>
        <p:spPr>
          <a:xfrm>
            <a:off x="94059" y="5508169"/>
            <a:ext cx="452041" cy="461665"/>
          </a:xfrm>
          <a:prstGeom prst="rect">
            <a:avLst/>
          </a:prstGeom>
          <a:noFill/>
        </p:spPr>
        <p:txBody>
          <a:bodyPr wrap="square">
            <a:spAutoFit/>
          </a:bodyPr>
          <a:lstStyle/>
          <a:p>
            <a:pPr algn="just"/>
            <a:r>
              <a:rPr lang="en-US" sz="2400" dirty="0">
                <a:solidFill/>
                <a:latin typeface="Times" pitchFamily="2" charset="0"/>
              </a:rPr>
              <a:t>⇒</a:t>
            </a:r>
          </a:p>
        </p:txBody>
      </p:sp>
      <p:sp>
        <p:nvSpPr>
          <p:cNvPr id="31" name="Rounded Rectangle 30">
            <a:extLst>
              <a:ext uri="{FF2B5EF4-FFF2-40B4-BE49-F238E27FC236}">
                <a16:creationId xmlns:a16="http://schemas.microsoft.com/office/drawing/2014/main" id="{951E5EDB-F0A8-C6FC-9283-AA2F1114E813}"/>
              </a:ext>
            </a:extLst>
          </p:cNvPr>
          <p:cNvSpPr/>
          <p:nvPr/>
        </p:nvSpPr>
        <p:spPr>
          <a:xfrm>
            <a:off x="482600" y="5067300"/>
            <a:ext cx="6134100" cy="1295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A185447C-1908-4843-4DA5-8A0AE48A03F7}"/>
              </a:ext>
            </a:extLst>
          </p:cNvPr>
          <p:cNvPicPr>
            <a:picLocks noChangeAspect="1"/>
          </p:cNvPicPr>
          <p:nvPr/>
        </p:nvPicPr>
        <p:blipFill>
          <a:blip r:embed="rId7"/>
          <a:stretch>
            <a:fillRect/>
          </a:stretch>
        </p:blipFill>
        <p:spPr>
          <a:xfrm>
            <a:off x="558799" y="5308601"/>
            <a:ext cx="4644309" cy="855818"/>
          </a:xfrm>
          <a:prstGeom prst="rect">
            <a:avLst/>
          </a:prstGeom>
        </p:spPr>
      </p:pic>
      <p:sp>
        <p:nvSpPr>
          <p:cNvPr id="33" name="TextBox 32">
            <a:extLst>
              <a:ext uri="{FF2B5EF4-FFF2-40B4-BE49-F238E27FC236}">
                <a16:creationId xmlns:a16="http://schemas.microsoft.com/office/drawing/2014/main" id="{9BD56EF4-34EC-42A4-E431-E958B7AD8892}"/>
              </a:ext>
            </a:extLst>
          </p:cNvPr>
          <p:cNvSpPr txBox="1"/>
          <p:nvPr/>
        </p:nvSpPr>
        <p:spPr>
          <a:xfrm>
            <a:off x="5229622" y="5474832"/>
            <a:ext cx="1869678" cy="461665"/>
          </a:xfrm>
          <a:prstGeom prst="rect">
            <a:avLst/>
          </a:prstGeom>
          <a:noFill/>
        </p:spPr>
        <p:txBody>
          <a:bodyPr wrap="square">
            <a:spAutoFit/>
          </a:bodyPr>
          <a:lstStyle/>
          <a:p>
            <a:pPr algn="just"/>
            <a:r>
              <a:rPr lang="en-US" sz="2400" dirty="0">
                <a:solidFill/>
                <a:latin typeface="Times" pitchFamily="2" charset="0"/>
              </a:rPr>
              <a:t>= 61 m/s</a:t>
            </a:r>
          </a:p>
        </p:txBody>
      </p:sp>
      <p:sp>
        <p:nvSpPr>
          <p:cNvPr id="34" name="Rectangle 33">
            <a:extLst>
              <a:ext uri="{FF2B5EF4-FFF2-40B4-BE49-F238E27FC236}">
                <a16:creationId xmlns:a16="http://schemas.microsoft.com/office/drawing/2014/main" id="{5E442036-16D3-AC92-0242-4C6CE632E549}"/>
              </a:ext>
            </a:extLst>
          </p:cNvPr>
          <p:cNvSpPr/>
          <p:nvPr/>
        </p:nvSpPr>
        <p:spPr>
          <a:xfrm>
            <a:off x="5511800" y="5486400"/>
            <a:ext cx="927100" cy="419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076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dissolv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dissolve">
                                      <p:cBhvr>
                                        <p:cTn id="26" dur="500"/>
                                        <p:tgtEl>
                                          <p:spTgt spid="29"/>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dissolve">
                                      <p:cBhvr>
                                        <p:cTn id="31" dur="500"/>
                                        <p:tgtEl>
                                          <p:spTgt spid="26"/>
                                        </p:tgtEl>
                                      </p:cBhvr>
                                    </p:animEffect>
                                  </p:childTnLst>
                                </p:cTn>
                              </p:par>
                            </p:childTnLst>
                          </p:cTn>
                        </p:par>
                        <p:par>
                          <p:cTn id="32" fill="hold">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dissolve">
                                      <p:cBhvr>
                                        <p:cTn id="35" dur="500"/>
                                        <p:tgtEl>
                                          <p:spTgt spid="15"/>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dissolve">
                                      <p:cBhvr>
                                        <p:cTn id="38" dur="500"/>
                                        <p:tgtEl>
                                          <p:spTgt spid="28"/>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dissolve">
                                      <p:cBhvr>
                                        <p:cTn id="43" dur="500"/>
                                        <p:tgtEl>
                                          <p:spTgt spid="27"/>
                                        </p:tgtEl>
                                      </p:cBhvr>
                                    </p:animEffect>
                                  </p:childTnLst>
                                </p:cTn>
                              </p:par>
                            </p:childTnLst>
                          </p:cTn>
                        </p:par>
                        <p:par>
                          <p:cTn id="44" fill="hold">
                            <p:stCondLst>
                              <p:cond delay="500"/>
                            </p:stCondLst>
                            <p:childTnLst>
                              <p:par>
                                <p:cTn id="45" presetID="9" presetClass="entr" presetSubtype="0"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dissolve">
                                      <p:cBhvr>
                                        <p:cTn id="47" dur="500"/>
                                        <p:tgtEl>
                                          <p:spTgt spid="30"/>
                                        </p:tgtEl>
                                      </p:cBhvr>
                                    </p:animEffect>
                                  </p:childTnLst>
                                </p:cTn>
                              </p:par>
                              <p:par>
                                <p:cTn id="48" presetID="9" presetClass="entr" presetSubtype="0" fill="hold" grpId="0" nodeType="with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dissolve">
                                      <p:cBhvr>
                                        <p:cTn id="50" dur="500"/>
                                        <p:tgtEl>
                                          <p:spTgt spid="31"/>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dissolve">
                                      <p:cBhvr>
                                        <p:cTn id="55" dur="500"/>
                                        <p:tgtEl>
                                          <p:spTgt spid="32"/>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dissolve">
                                      <p:cBhvr>
                                        <p:cTn id="60" dur="500"/>
                                        <p:tgtEl>
                                          <p:spTgt spid="33"/>
                                        </p:tgtEl>
                                      </p:cBhvr>
                                    </p:animEffect>
                                  </p:childTnLst>
                                </p:cTn>
                              </p:par>
                            </p:childTnLst>
                          </p:cTn>
                        </p:par>
                        <p:par>
                          <p:cTn id="61" fill="hold">
                            <p:stCondLst>
                              <p:cond delay="500"/>
                            </p:stCondLst>
                            <p:childTnLst>
                              <p:par>
                                <p:cTn id="62" presetID="9" presetClass="entr" presetSubtype="0" fill="hold" grpId="0" nodeType="afterEffect">
                                  <p:stCondLst>
                                    <p:cond delay="0"/>
                                  </p:stCondLst>
                                  <p:childTnLst>
                                    <p:set>
                                      <p:cBhvr>
                                        <p:cTn id="63" dur="1" fill="hold">
                                          <p:stCondLst>
                                            <p:cond delay="0"/>
                                          </p:stCondLst>
                                        </p:cTn>
                                        <p:tgtEl>
                                          <p:spTgt spid="34"/>
                                        </p:tgtEl>
                                        <p:attrNameLst>
                                          <p:attrName>style.visibility</p:attrName>
                                        </p:attrNameLst>
                                      </p:cBhvr>
                                      <p:to>
                                        <p:strVal val="visible"/>
                                      </p:to>
                                    </p:set>
                                    <p:animEffect transition="in" filter="dissolve">
                                      <p:cBhvr>
                                        <p:cTn id="6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7" grpId="0"/>
      <p:bldP spid="28" grpId="0" animBg="1"/>
      <p:bldP spid="30" grpId="0"/>
      <p:bldP spid="31" grpId="0" animBg="1"/>
      <p:bldP spid="33" grpId="0"/>
      <p:bldP spid="3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7E4AC-D71B-A0F4-771E-65D1BDD054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5F7533-A5D1-CB79-E03E-965B3DF74D17}"/>
              </a:ext>
            </a:extLst>
          </p:cNvPr>
          <p:cNvSpPr>
            <a:spLocks noGrp="1"/>
          </p:cNvSpPr>
          <p:nvPr>
            <p:ph type="title"/>
          </p:nvPr>
        </p:nvSpPr>
        <p:spPr>
          <a:xfrm>
            <a:off x="685805" y="155455"/>
            <a:ext cx="11506195" cy="849312"/>
          </a:xfrm>
        </p:spPr>
        <p:txBody>
          <a:bodyPr>
            <a:normAutofit fontScale="90000"/>
          </a:bodyPr>
          <a:lstStyle/>
          <a:p>
            <a:pPr/>
            <a:r>
              <a:rPr lang="en-US" b="1" dirty="0">
                <a:solidFill/>
                <a:ea typeface="Calibri" charset="0"/>
                <a:cs typeface="Calibri" charset="0"/>
              </a:rPr>
              <a:t>6.6 </a:t>
            </a:r>
            <a:r>
              <a:rPr lang="en-US" dirty="0">
                <a:solidFill/>
                <a:ea typeface="Calibri" charset="0"/>
                <a:cs typeface="Calibri" charset="0"/>
              </a:rPr>
              <a:t>Nonconservative Forces and the Work–Energy Theorem</a:t>
            </a:r>
            <a:endParaRPr lang="en-US" sz="3000" dirty="0"/>
          </a:p>
        </p:txBody>
      </p:sp>
      <p:sp>
        <p:nvSpPr>
          <p:cNvPr id="6" name="TextBox 5">
            <a:extLst>
              <a:ext uri="{FF2B5EF4-FFF2-40B4-BE49-F238E27FC236}">
                <a16:creationId xmlns:a16="http://schemas.microsoft.com/office/drawing/2014/main" id="{DCBCC959-838A-6FE3-88D4-6145F3DBD631}"/>
              </a:ext>
            </a:extLst>
          </p:cNvPr>
          <p:cNvSpPr txBox="1"/>
          <p:nvPr/>
        </p:nvSpPr>
        <p:spPr>
          <a:xfrm>
            <a:off x="830879" y="926409"/>
            <a:ext cx="10548597" cy="1384995"/>
          </a:xfrm>
          <a:prstGeom prst="rect">
            <a:avLst/>
          </a:prstGeom>
          <a:noFill/>
        </p:spPr>
        <p:txBody>
          <a:bodyPr wrap="square" rtlCol="0">
            <a:spAutoFit/>
          </a:bodyPr>
          <a:lstStyle/>
          <a:p>
            <a:pPr algn="just"/>
            <a:r>
              <a:rPr lang="en-US" sz="2800" dirty="0">
                <a:solidFill>
                  <a:srgbClr val="3E5891"/>
                </a:solidFill>
                <a:latin typeface="Times" pitchFamily="2" charset="0"/>
              </a:rPr>
              <a:t>CYU/TPS – A net external nonconservative force does positive work on a particle. Based solely on this information, you are justified in reaching only one of the following conclusions. Which one is it?</a:t>
            </a:r>
            <a:endParaRPr lang="en-US" sz="2800" dirty="0">
              <a:solidFill>
                <a:srgbClr val="3E5891"/>
              </a:solidFill>
              <a:latin typeface="Times" pitchFamily="2" charset="0"/>
              <a:cs typeface="Times New Roman" panose="02020603050405020304" pitchFamily="18" charset="0"/>
            </a:endParaRPr>
          </a:p>
        </p:txBody>
      </p:sp>
      <p:sp>
        <p:nvSpPr>
          <p:cNvPr id="5" name="TextBox 4">
            <a:extLst>
              <a:ext uri="{FF2B5EF4-FFF2-40B4-BE49-F238E27FC236}">
                <a16:creationId xmlns:a16="http://schemas.microsoft.com/office/drawing/2014/main" id="{299CFCA4-91FE-259C-E029-8C78F13BD235}"/>
              </a:ext>
            </a:extLst>
          </p:cNvPr>
          <p:cNvSpPr txBox="1"/>
          <p:nvPr/>
        </p:nvSpPr>
        <p:spPr>
          <a:xfrm>
            <a:off x="399111" y="2408122"/>
            <a:ext cx="11302109" cy="2246769"/>
          </a:xfrm>
          <a:prstGeom prst="rect">
            <a:avLst/>
          </a:prstGeom>
          <a:noFill/>
        </p:spPr>
        <p:txBody>
          <a:bodyPr wrap="square" rtlCol="0">
            <a:spAutoFit/>
          </a:bodyPr>
          <a:lstStyle/>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a</a:t>
            </a:r>
            <a:r>
              <a:rPr lang="en-US" sz="2800" dirty="0">
                <a:solidFill>
                  <a:srgbClr val="3E5891"/>
                </a:solidFill>
                <a:latin typeface="Times" pitchFamily="2" charset="0"/>
                <a:cs typeface="Times New Roman" panose="02020603050405020304" pitchFamily="18" charset="0"/>
              </a:rPr>
              <a:t>) The kinetic and potential energies of the particle both decrease.</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b</a:t>
            </a:r>
            <a:r>
              <a:rPr lang="en-US" sz="2800" dirty="0">
                <a:solidFill>
                  <a:srgbClr val="3E5891"/>
                </a:solidFill>
                <a:latin typeface="Times" pitchFamily="2" charset="0"/>
                <a:cs typeface="Times New Roman" panose="02020603050405020304" pitchFamily="18" charset="0"/>
              </a:rPr>
              <a:t>) The kinetic and potential energies of the particle both increase.</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c</a:t>
            </a:r>
            <a:r>
              <a:rPr lang="en-US" sz="2800" dirty="0">
                <a:solidFill>
                  <a:srgbClr val="3E5891"/>
                </a:solidFill>
                <a:latin typeface="Times" pitchFamily="2" charset="0"/>
                <a:cs typeface="Times New Roman" panose="02020603050405020304" pitchFamily="18" charset="0"/>
              </a:rPr>
              <a:t>) Neither the kinetic nor the potential energy of the particle changes.</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d</a:t>
            </a:r>
            <a:r>
              <a:rPr lang="en-US" sz="2800" dirty="0">
                <a:solidFill>
                  <a:srgbClr val="3E5891"/>
                </a:solidFill>
                <a:latin typeface="Times" pitchFamily="2" charset="0"/>
                <a:cs typeface="Times New Roman" panose="02020603050405020304" pitchFamily="18" charset="0"/>
              </a:rPr>
              <a:t>) The total mechanical energy of the particle decreases.</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e</a:t>
            </a:r>
            <a:r>
              <a:rPr lang="en-US" sz="2800" dirty="0">
                <a:solidFill>
                  <a:srgbClr val="3E5891"/>
                </a:solidFill>
                <a:latin typeface="Times" pitchFamily="2" charset="0"/>
                <a:cs typeface="Times New Roman" panose="02020603050405020304" pitchFamily="18" charset="0"/>
              </a:rPr>
              <a:t>)  The total mechanical energy of the particle increases .</a:t>
            </a:r>
          </a:p>
        </p:txBody>
      </p:sp>
      <p:sp>
        <p:nvSpPr>
          <p:cNvPr id="8" name="Rounded Rectangle 7">
            <a:extLst>
              <a:ext uri="{FF2B5EF4-FFF2-40B4-BE49-F238E27FC236}">
                <a16:creationId xmlns:a16="http://schemas.microsoft.com/office/drawing/2014/main" id="{A09BBB0F-E874-FBE9-7EAF-A321DB7A1B5E}"/>
              </a:ext>
            </a:extLst>
          </p:cNvPr>
          <p:cNvSpPr/>
          <p:nvPr/>
        </p:nvSpPr>
        <p:spPr>
          <a:xfrm>
            <a:off x="805912" y="4138047"/>
            <a:ext cx="8462074" cy="48044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0248F96-D6D2-EDBE-7E6C-37443C3DA033}"/>
              </a:ext>
            </a:extLst>
          </p:cNvPr>
          <p:cNvSpPr txBox="1"/>
          <p:nvPr/>
        </p:nvSpPr>
        <p:spPr>
          <a:xfrm rot="2431060">
            <a:off x="9426285" y="4332564"/>
            <a:ext cx="1988191" cy="461665"/>
          </a:xfrm>
          <a:prstGeom prst="rect">
            <a:avLst/>
          </a:prstGeom>
          <a:noFill/>
        </p:spPr>
        <p:txBody>
          <a:bodyPr wrap="square" rtlCol="0">
            <a:spAutoFit/>
          </a:bodyPr>
          <a:lstStyle/>
          <a:p>
            <a:pPr/>
            <a:r>
              <a:rPr lang="en-US" sz="2400" dirty="0">
                <a:solidFill>
                  <a:srgbClr val="007440"/>
                </a:solidFill>
                <a:latin typeface="Chalkduster" panose="03050602040202020205" pitchFamily="66" charset="77"/>
              </a:rPr>
              <a:t>Discuss!</a:t>
            </a:r>
          </a:p>
        </p:txBody>
      </p:sp>
    </p:spTree>
    <p:extLst>
      <p:ext uri="{BB962C8B-B14F-4D97-AF65-F5344CB8AC3E}">
        <p14:creationId xmlns:p14="http://schemas.microsoft.com/office/powerpoint/2010/main" val="2722498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dissolve">
                                      <p:cBhvr>
                                        <p:cTn id="1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34322-C0C9-E378-39A7-CC4F05264461}"/>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61DC1944-BFAE-8560-1E7B-4D75700AAE98}"/>
              </a:ext>
            </a:extLst>
          </p:cNvPr>
          <p:cNvSpPr/>
          <p:nvPr/>
        </p:nvSpPr>
        <p:spPr>
          <a:xfrm>
            <a:off x="0" y="861392"/>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3FCEFC-B7E0-01A7-0788-D34134ACE654}"/>
              </a:ext>
            </a:extLst>
          </p:cNvPr>
          <p:cNvSpPr>
            <a:spLocks noGrp="1"/>
          </p:cNvSpPr>
          <p:nvPr>
            <p:ph type="title"/>
          </p:nvPr>
        </p:nvSpPr>
        <p:spPr>
          <a:xfrm>
            <a:off x="685805" y="155455"/>
            <a:ext cx="11506195" cy="849312"/>
          </a:xfrm>
        </p:spPr>
        <p:txBody>
          <a:bodyPr>
            <a:normAutofit/>
          </a:bodyPr>
          <a:lstStyle/>
          <a:p>
            <a:pPr/>
            <a:r>
              <a:rPr lang="en-US" b="1" dirty="0">
                <a:solidFill/>
                <a:ea typeface="Calibri" charset="0"/>
                <a:cs typeface="Calibri" charset="0"/>
              </a:rPr>
              <a:t>6.7 </a:t>
            </a:r>
            <a:r>
              <a:rPr lang="en-US" dirty="0">
                <a:solidFill/>
                <a:ea typeface="Calibri" charset="0"/>
                <a:cs typeface="Calibri" charset="0"/>
              </a:rPr>
              <a:t>Power</a:t>
            </a:r>
            <a:endParaRPr lang="en-US" sz="3000" dirty="0"/>
          </a:p>
        </p:txBody>
      </p:sp>
      <p:sp>
        <p:nvSpPr>
          <p:cNvPr id="5" name="Content Placeholder 2">
            <a:extLst>
              <a:ext uri="{FF2B5EF4-FFF2-40B4-BE49-F238E27FC236}">
                <a16:creationId xmlns:a16="http://schemas.microsoft.com/office/drawing/2014/main" id="{03F5C35B-1BB2-8F2C-DEE5-8A6EFFDB01D1}"/>
              </a:ext>
            </a:extLst>
          </p:cNvPr>
          <p:cNvSpPr txBox="1">
            <a:spLocks/>
          </p:cNvSpPr>
          <p:nvPr/>
        </p:nvSpPr>
        <p:spPr>
          <a:xfrm>
            <a:off x="959715" y="941831"/>
            <a:ext cx="10820401" cy="542409"/>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6.7 </a:t>
            </a:r>
            <a:r>
              <a:rPr lang="en-US" dirty="0">
                <a:solidFill/>
              </a:rPr>
              <a:t>– Solve problems involving power.</a:t>
            </a:r>
          </a:p>
        </p:txBody>
      </p:sp>
      <p:grpSp>
        <p:nvGrpSpPr>
          <p:cNvPr id="14" name="Group 13">
            <a:extLst>
              <a:ext uri="{FF2B5EF4-FFF2-40B4-BE49-F238E27FC236}">
                <a16:creationId xmlns:a16="http://schemas.microsoft.com/office/drawing/2014/main" id="{C980A8C8-748A-A449-EAB8-4298E96CB3EC}"/>
              </a:ext>
            </a:extLst>
          </p:cNvPr>
          <p:cNvGrpSpPr/>
          <p:nvPr/>
        </p:nvGrpSpPr>
        <p:grpSpPr>
          <a:xfrm>
            <a:off x="199293" y="1631950"/>
            <a:ext cx="3247490" cy="2154604"/>
            <a:chOff x="199293" y="1631950"/>
            <a:chExt cx="3247490" cy="2154604"/>
          </a:xfrm>
        </p:grpSpPr>
        <p:pic>
          <p:nvPicPr>
            <p:cNvPr id="6" name="Picture 5">
              <a:extLst>
                <a:ext uri="{FF2B5EF4-FFF2-40B4-BE49-F238E27FC236}">
                  <a16:creationId xmlns:a16="http://schemas.microsoft.com/office/drawing/2014/main" id="{A070F3B7-BABC-4FFC-DD24-FCE3D878ED11}"/>
                </a:ext>
              </a:extLst>
            </p:cNvPr>
            <p:cNvPicPr>
              <a:picLocks noChangeAspect="1"/>
            </p:cNvPicPr>
            <p:nvPr/>
          </p:nvPicPr>
          <p:blipFill>
            <a:blip r:embed="rId3"/>
            <a:srcRect l="50875" t="15399" b="35923"/>
            <a:stretch/>
          </p:blipFill>
          <p:spPr>
            <a:xfrm>
              <a:off x="199293" y="1641231"/>
              <a:ext cx="3247490" cy="2145323"/>
            </a:xfrm>
            <a:prstGeom prst="rect">
              <a:avLst/>
            </a:prstGeom>
          </p:spPr>
        </p:pic>
        <p:sp>
          <p:nvSpPr>
            <p:cNvPr id="9" name="Rectangle 8">
              <a:extLst>
                <a:ext uri="{FF2B5EF4-FFF2-40B4-BE49-F238E27FC236}">
                  <a16:creationId xmlns:a16="http://schemas.microsoft.com/office/drawing/2014/main" id="{AE1D2F64-DA13-B92B-73BC-086B2A7CE6DD}"/>
                </a:ext>
              </a:extLst>
            </p:cNvPr>
            <p:cNvSpPr/>
            <p:nvPr/>
          </p:nvSpPr>
          <p:spPr>
            <a:xfrm>
              <a:off x="971550" y="1695450"/>
              <a:ext cx="101600" cy="120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59EA484-5A05-FBD6-679F-3036DD0B01DE}"/>
                </a:ext>
              </a:extLst>
            </p:cNvPr>
            <p:cNvSpPr txBox="1"/>
            <p:nvPr/>
          </p:nvSpPr>
          <p:spPr>
            <a:xfrm>
              <a:off x="889000" y="1631950"/>
              <a:ext cx="304800" cy="261610"/>
            </a:xfrm>
            <a:prstGeom prst="rect">
              <a:avLst/>
            </a:prstGeom>
            <a:noFill/>
          </p:spPr>
          <p:txBody>
            <a:bodyPr wrap="square" rtlCol="0">
              <a:spAutoFit/>
            </a:bodyPr>
            <a:lstStyle/>
            <a:p>
              <a:pPr/>
              <a:r>
                <a:rPr lang="en-US" sz="1100" dirty="0">
                  <a:solidFill>
                    <a:srgbClr val="016F1F"/>
                  </a:solidFill>
                  <a:latin typeface="Times" pitchFamily="2" charset="0"/>
                </a:rPr>
                <a:t>A</a:t>
              </a:r>
            </a:p>
          </p:txBody>
        </p:sp>
      </p:grpSp>
      <p:grpSp>
        <p:nvGrpSpPr>
          <p:cNvPr id="17" name="Group 16">
            <a:extLst>
              <a:ext uri="{FF2B5EF4-FFF2-40B4-BE49-F238E27FC236}">
                <a16:creationId xmlns:a16="http://schemas.microsoft.com/office/drawing/2014/main" id="{9A5C6BE1-3062-E99C-3BA7-2D8B16395881}"/>
              </a:ext>
            </a:extLst>
          </p:cNvPr>
          <p:cNvGrpSpPr/>
          <p:nvPr/>
        </p:nvGrpSpPr>
        <p:grpSpPr>
          <a:xfrm>
            <a:off x="0" y="4162425"/>
            <a:ext cx="3222507" cy="2156314"/>
            <a:chOff x="0" y="4162425"/>
            <a:chExt cx="3222507" cy="2156314"/>
          </a:xfrm>
        </p:grpSpPr>
        <p:pic>
          <p:nvPicPr>
            <p:cNvPr id="7" name="Picture 6">
              <a:extLst>
                <a:ext uri="{FF2B5EF4-FFF2-40B4-BE49-F238E27FC236}">
                  <a16:creationId xmlns:a16="http://schemas.microsoft.com/office/drawing/2014/main" id="{57E66FC5-40D0-55FE-BFE5-8131B6A90D75}"/>
                </a:ext>
              </a:extLst>
            </p:cNvPr>
            <p:cNvPicPr>
              <a:picLocks noChangeAspect="1"/>
            </p:cNvPicPr>
            <p:nvPr/>
          </p:nvPicPr>
          <p:blipFill>
            <a:blip r:embed="rId3"/>
            <a:srcRect t="15399" r="51253" b="35923"/>
            <a:stretch/>
          </p:blipFill>
          <p:spPr>
            <a:xfrm>
              <a:off x="0" y="4173416"/>
              <a:ext cx="3222507" cy="2145323"/>
            </a:xfrm>
            <a:prstGeom prst="rect">
              <a:avLst/>
            </a:prstGeom>
          </p:spPr>
        </p:pic>
        <p:sp>
          <p:nvSpPr>
            <p:cNvPr id="15" name="Rectangle 14">
              <a:extLst>
                <a:ext uri="{FF2B5EF4-FFF2-40B4-BE49-F238E27FC236}">
                  <a16:creationId xmlns:a16="http://schemas.microsoft.com/office/drawing/2014/main" id="{1486F69C-8FDB-3152-91AA-4234658E6523}"/>
                </a:ext>
              </a:extLst>
            </p:cNvPr>
            <p:cNvSpPr/>
            <p:nvPr/>
          </p:nvSpPr>
          <p:spPr>
            <a:xfrm>
              <a:off x="1136650" y="4222750"/>
              <a:ext cx="127000" cy="127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C3633F6-083E-78F0-7365-CD5C943907FB}"/>
                </a:ext>
              </a:extLst>
            </p:cNvPr>
            <p:cNvSpPr txBox="1"/>
            <p:nvPr/>
          </p:nvSpPr>
          <p:spPr>
            <a:xfrm>
              <a:off x="1069975" y="4162425"/>
              <a:ext cx="200025" cy="261610"/>
            </a:xfrm>
            <a:prstGeom prst="rect">
              <a:avLst/>
            </a:prstGeom>
            <a:noFill/>
          </p:spPr>
          <p:txBody>
            <a:bodyPr wrap="square" rtlCol="0">
              <a:spAutoFit/>
            </a:bodyPr>
            <a:lstStyle/>
            <a:p>
              <a:pPr/>
              <a:r>
                <a:rPr lang="en-US" sz="1100" dirty="0">
                  <a:solidFill>
                    <a:srgbClr val="0F4FB1"/>
                  </a:solidFill>
                  <a:latin typeface="Times" pitchFamily="2" charset="0"/>
                </a:rPr>
                <a:t>B</a:t>
              </a:r>
            </a:p>
          </p:txBody>
        </p:sp>
      </p:grpSp>
      <p:sp>
        <p:nvSpPr>
          <p:cNvPr id="18" name="TextBox 17">
            <a:extLst>
              <a:ext uri="{FF2B5EF4-FFF2-40B4-BE49-F238E27FC236}">
                <a16:creationId xmlns:a16="http://schemas.microsoft.com/office/drawing/2014/main" id="{89EBE4FE-C1F9-D297-DCD5-409FE98E7154}"/>
              </a:ext>
            </a:extLst>
          </p:cNvPr>
          <p:cNvSpPr txBox="1"/>
          <p:nvPr/>
        </p:nvSpPr>
        <p:spPr>
          <a:xfrm>
            <a:off x="3218382" y="1538109"/>
            <a:ext cx="8973618" cy="830997"/>
          </a:xfrm>
          <a:prstGeom prst="rect">
            <a:avLst/>
          </a:prstGeom>
          <a:noFill/>
        </p:spPr>
        <p:txBody>
          <a:bodyPr wrap="square" rtlCol="0">
            <a:spAutoFit/>
          </a:bodyPr>
          <a:lstStyle/>
          <a:p>
            <a:pPr/>
            <a:r>
              <a:rPr lang="en-US" sz="2400" dirty="0">
                <a:solidFill>
                  <a:srgbClr val="016F1F"/>
                </a:solidFill>
                <a:latin typeface="Times" pitchFamily="2" charset="0"/>
              </a:rPr>
              <a:t>Person A</a:t>
            </a:r>
            <a:r>
              <a:rPr lang="en-US" sz="2400" dirty="0">
                <a:solidFill/>
                <a:latin typeface="Times" pitchFamily="2" charset="0"/>
              </a:rPr>
              <a:t> lifts 10 identical boxes onto a table – lifting each of them a height of 1 m.  </a:t>
            </a:r>
          </a:p>
        </p:txBody>
      </p:sp>
      <p:sp>
        <p:nvSpPr>
          <p:cNvPr id="19" name="TextBox 18">
            <a:extLst>
              <a:ext uri="{FF2B5EF4-FFF2-40B4-BE49-F238E27FC236}">
                <a16:creationId xmlns:a16="http://schemas.microsoft.com/office/drawing/2014/main" id="{2F26BEA7-BA33-EE81-D5F6-BFC7FC38214E}"/>
              </a:ext>
            </a:extLst>
          </p:cNvPr>
          <p:cNvSpPr txBox="1"/>
          <p:nvPr/>
        </p:nvSpPr>
        <p:spPr>
          <a:xfrm>
            <a:off x="3218382" y="2604908"/>
            <a:ext cx="8973618" cy="461665"/>
          </a:xfrm>
          <a:prstGeom prst="rect">
            <a:avLst/>
          </a:prstGeom>
          <a:noFill/>
        </p:spPr>
        <p:txBody>
          <a:bodyPr wrap="square" rtlCol="0">
            <a:spAutoFit/>
          </a:bodyPr>
          <a:lstStyle/>
          <a:p>
            <a:pPr/>
            <a:r>
              <a:rPr lang="en-US" sz="2400" dirty="0">
                <a:solidFill/>
                <a:latin typeface="Times" pitchFamily="2" charset="0"/>
              </a:rPr>
              <a:t>She completes this task in 2 minutes, or 120 s.</a:t>
            </a:r>
          </a:p>
        </p:txBody>
      </p:sp>
      <p:sp>
        <p:nvSpPr>
          <p:cNvPr id="20" name="TextBox 19">
            <a:extLst>
              <a:ext uri="{FF2B5EF4-FFF2-40B4-BE49-F238E27FC236}">
                <a16:creationId xmlns:a16="http://schemas.microsoft.com/office/drawing/2014/main" id="{420B494B-A605-9486-9452-BDF330EA688C}"/>
              </a:ext>
            </a:extLst>
          </p:cNvPr>
          <p:cNvSpPr txBox="1"/>
          <p:nvPr/>
        </p:nvSpPr>
        <p:spPr>
          <a:xfrm>
            <a:off x="3218382" y="3319283"/>
            <a:ext cx="8973618" cy="830997"/>
          </a:xfrm>
          <a:prstGeom prst="rect">
            <a:avLst/>
          </a:prstGeom>
          <a:noFill/>
        </p:spPr>
        <p:txBody>
          <a:bodyPr wrap="square" rtlCol="0">
            <a:spAutoFit/>
          </a:bodyPr>
          <a:lstStyle/>
          <a:p>
            <a:pPr/>
            <a:r>
              <a:rPr lang="en-US" sz="2400" dirty="0">
                <a:solidFill>
                  <a:srgbClr val="0F4FB1"/>
                </a:solidFill>
                <a:latin typeface="Times" pitchFamily="2" charset="0"/>
              </a:rPr>
              <a:t>Person B</a:t>
            </a:r>
            <a:r>
              <a:rPr lang="en-US" sz="2400" dirty="0">
                <a:solidFill/>
                <a:latin typeface="Times" pitchFamily="2" charset="0"/>
              </a:rPr>
              <a:t> lifts the same 10 identical boxes onto the same table, but he completes the task in just 1 minute, or 60 s.  </a:t>
            </a:r>
          </a:p>
        </p:txBody>
      </p:sp>
      <p:sp>
        <p:nvSpPr>
          <p:cNvPr id="21" name="TextBox 20">
            <a:extLst>
              <a:ext uri="{FF2B5EF4-FFF2-40B4-BE49-F238E27FC236}">
                <a16:creationId xmlns:a16="http://schemas.microsoft.com/office/drawing/2014/main" id="{735656F8-5E5E-65BE-97BC-5493EA1FC93B}"/>
              </a:ext>
            </a:extLst>
          </p:cNvPr>
          <p:cNvSpPr txBox="1"/>
          <p:nvPr/>
        </p:nvSpPr>
        <p:spPr>
          <a:xfrm>
            <a:off x="3218382" y="4343221"/>
            <a:ext cx="8973618" cy="830997"/>
          </a:xfrm>
          <a:prstGeom prst="rect">
            <a:avLst/>
          </a:prstGeom>
          <a:noFill/>
        </p:spPr>
        <p:txBody>
          <a:bodyPr wrap="square" rtlCol="0">
            <a:spAutoFit/>
          </a:bodyPr>
          <a:lstStyle/>
          <a:p>
            <a:pPr/>
            <a:r>
              <a:rPr lang="en-US" sz="2400" dirty="0">
                <a:solidFill/>
                <a:latin typeface="Times" pitchFamily="2" charset="0"/>
              </a:rPr>
              <a:t>Each person has done the same amount of work, but </a:t>
            </a:r>
            <a:r>
              <a:rPr lang="en-US" sz="2400" dirty="0">
                <a:solidFill>
                  <a:srgbClr val="0F4FB1"/>
                </a:solidFill>
                <a:latin typeface="Times" pitchFamily="2" charset="0"/>
              </a:rPr>
              <a:t>Person B</a:t>
            </a:r>
            <a:r>
              <a:rPr lang="en-US" sz="2400" dirty="0">
                <a:solidFill/>
                <a:latin typeface="Times" pitchFamily="2" charset="0"/>
              </a:rPr>
              <a:t> has completed it in half the time.  There must be a way to quantify this...</a:t>
            </a:r>
          </a:p>
        </p:txBody>
      </p:sp>
      <p:grpSp>
        <p:nvGrpSpPr>
          <p:cNvPr id="25" name="Group 24">
            <a:extLst>
              <a:ext uri="{FF2B5EF4-FFF2-40B4-BE49-F238E27FC236}">
                <a16:creationId xmlns:a16="http://schemas.microsoft.com/office/drawing/2014/main" id="{C870A28B-8A2E-4201-EFC9-275D3CB55602}"/>
              </a:ext>
            </a:extLst>
          </p:cNvPr>
          <p:cNvGrpSpPr/>
          <p:nvPr/>
        </p:nvGrpSpPr>
        <p:grpSpPr>
          <a:xfrm>
            <a:off x="3218381" y="5552896"/>
            <a:ext cx="3153843" cy="461665"/>
            <a:chOff x="3218381" y="4781371"/>
            <a:chExt cx="3153843" cy="461665"/>
          </a:xfrm>
        </p:grpSpPr>
        <p:sp>
          <p:nvSpPr>
            <p:cNvPr id="22" name="TextBox 21">
              <a:extLst>
                <a:ext uri="{FF2B5EF4-FFF2-40B4-BE49-F238E27FC236}">
                  <a16:creationId xmlns:a16="http://schemas.microsoft.com/office/drawing/2014/main" id="{15BA88DC-6ABE-6092-CDF0-D3E495A34EA1}"/>
                </a:ext>
              </a:extLst>
            </p:cNvPr>
            <p:cNvSpPr txBox="1"/>
            <p:nvPr/>
          </p:nvSpPr>
          <p:spPr>
            <a:xfrm>
              <a:off x="3218381" y="4781371"/>
              <a:ext cx="3153843" cy="461665"/>
            </a:xfrm>
            <a:prstGeom prst="rect">
              <a:avLst/>
            </a:prstGeom>
            <a:noFill/>
          </p:spPr>
          <p:txBody>
            <a:bodyPr wrap="square" rtlCol="0">
              <a:spAutoFit/>
            </a:bodyPr>
            <a:lstStyle/>
            <a:p>
              <a:pPr/>
              <a:r>
                <a:rPr lang="en-US" sz="2400" dirty="0">
                  <a:solidFill/>
                  <a:latin typeface="Times" pitchFamily="2" charset="0"/>
                </a:rPr>
                <a:t>It’s called              . </a:t>
              </a:r>
            </a:p>
          </p:txBody>
        </p:sp>
        <p:sp>
          <p:nvSpPr>
            <p:cNvPr id="24" name="Rounded Rectangle 23">
              <a:extLst>
                <a:ext uri="{FF2B5EF4-FFF2-40B4-BE49-F238E27FC236}">
                  <a16:creationId xmlns:a16="http://schemas.microsoft.com/office/drawing/2014/main" id="{ECE867FD-6D89-C5B0-3A13-403D0962E758}"/>
                </a:ext>
              </a:extLst>
            </p:cNvPr>
            <p:cNvSpPr/>
            <p:nvPr/>
          </p:nvSpPr>
          <p:spPr>
            <a:xfrm>
              <a:off x="4543426" y="4814888"/>
              <a:ext cx="957262" cy="35718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extBox 22">
            <a:extLst>
              <a:ext uri="{FF2B5EF4-FFF2-40B4-BE49-F238E27FC236}">
                <a16:creationId xmlns:a16="http://schemas.microsoft.com/office/drawing/2014/main" id="{15BDECAD-A12F-59A4-5577-5AA6E3B59753}"/>
              </a:ext>
            </a:extLst>
          </p:cNvPr>
          <p:cNvSpPr txBox="1"/>
          <p:nvPr/>
        </p:nvSpPr>
        <p:spPr>
          <a:xfrm>
            <a:off x="4529138" y="5586413"/>
            <a:ext cx="1228725"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Power</a:t>
            </a:r>
          </a:p>
        </p:txBody>
      </p:sp>
      <p:sp>
        <p:nvSpPr>
          <p:cNvPr id="26" name="Rounded Rectangle 25">
            <a:extLst>
              <a:ext uri="{FF2B5EF4-FFF2-40B4-BE49-F238E27FC236}">
                <a16:creationId xmlns:a16="http://schemas.microsoft.com/office/drawing/2014/main" id="{2C9AE11D-859B-9EBA-236B-7CA238C8BEE4}"/>
              </a:ext>
            </a:extLst>
          </p:cNvPr>
          <p:cNvSpPr/>
          <p:nvPr/>
        </p:nvSpPr>
        <p:spPr>
          <a:xfrm>
            <a:off x="5957888" y="5543550"/>
            <a:ext cx="6005512" cy="4429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C9880B22-EF8C-C1FE-0E15-950F2FAA5FED}"/>
              </a:ext>
            </a:extLst>
          </p:cNvPr>
          <p:cNvSpPr txBox="1"/>
          <p:nvPr/>
        </p:nvSpPr>
        <p:spPr>
          <a:xfrm>
            <a:off x="5924550" y="5581651"/>
            <a:ext cx="6448425"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Power is the </a:t>
            </a:r>
            <a:r>
              <a:rPr lang="en-US" sz="2000" u="sng" dirty="0">
                <a:solidFill>
                  <a:srgbClr val="007440"/>
                </a:solidFill>
                <a:latin typeface="Chalkduster" panose="03050602040202020205" pitchFamily="66" charset="77"/>
              </a:rPr>
              <a:t>rate</a:t>
            </a:r>
            <a:r>
              <a:rPr lang="en-US" sz="2000" dirty="0">
                <a:solidFill>
                  <a:srgbClr val="007440"/>
                </a:solidFill>
                <a:latin typeface="Chalkduster" panose="03050602040202020205" pitchFamily="66" charset="77"/>
              </a:rPr>
              <a:t> at which work is done.</a:t>
            </a:r>
          </a:p>
        </p:txBody>
      </p:sp>
    </p:spTree>
    <p:extLst>
      <p:ext uri="{BB962C8B-B14F-4D97-AF65-F5344CB8AC3E}">
        <p14:creationId xmlns:p14="http://schemas.microsoft.com/office/powerpoint/2010/main" val="3490959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dissolv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dissolv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dissolv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dissolve">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dissolve">
                                      <p:cBhvr>
                                        <p:cTn id="32" dur="500"/>
                                        <p:tgtEl>
                                          <p:spTgt spid="23"/>
                                        </p:tgtEl>
                                      </p:cBhvr>
                                    </p:animEffect>
                                  </p:childTnLst>
                                </p:cTn>
                              </p:par>
                            </p:childTnLst>
                          </p:cTn>
                        </p:par>
                        <p:par>
                          <p:cTn id="33" fill="hold">
                            <p:stCondLst>
                              <p:cond delay="500"/>
                            </p:stCondLst>
                            <p:childTnLst>
                              <p:par>
                                <p:cTn id="34" presetID="9" presetClass="entr" presetSubtype="0" fill="hold" grpId="0" nodeType="after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dissolve">
                                      <p:cBhvr>
                                        <p:cTn id="36" dur="500"/>
                                        <p:tgtEl>
                                          <p:spTgt spid="26"/>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dissolve">
                                      <p:cBhvr>
                                        <p:cTn id="4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3" grpId="0"/>
      <p:bldP spid="26" grpId="0" animBg="1"/>
      <p:bldP spid="2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70C4A-8285-FD74-E64F-4147B5ADC9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AF00C0-066B-C62A-08B8-7C958589E250}"/>
              </a:ext>
            </a:extLst>
          </p:cNvPr>
          <p:cNvSpPr>
            <a:spLocks noGrp="1"/>
          </p:cNvSpPr>
          <p:nvPr>
            <p:ph type="title"/>
          </p:nvPr>
        </p:nvSpPr>
        <p:spPr>
          <a:xfrm>
            <a:off x="685805" y="155455"/>
            <a:ext cx="11506195" cy="849312"/>
          </a:xfrm>
        </p:spPr>
        <p:txBody>
          <a:bodyPr>
            <a:normAutofit/>
          </a:bodyPr>
          <a:lstStyle/>
          <a:p>
            <a:pPr/>
            <a:r>
              <a:rPr lang="en-US" b="1" dirty="0">
                <a:solidFill/>
                <a:ea typeface="Calibri" charset="0"/>
                <a:cs typeface="Calibri" charset="0"/>
              </a:rPr>
              <a:t>6.7 </a:t>
            </a:r>
            <a:r>
              <a:rPr lang="en-US" dirty="0">
                <a:solidFill/>
                <a:ea typeface="Calibri" charset="0"/>
                <a:cs typeface="Calibri" charset="0"/>
              </a:rPr>
              <a:t>Power</a:t>
            </a:r>
            <a:endParaRPr lang="en-US" sz="3000" dirty="0"/>
          </a:p>
        </p:txBody>
      </p:sp>
      <p:grpSp>
        <p:nvGrpSpPr>
          <p:cNvPr id="29" name="Group 28">
            <a:extLst>
              <a:ext uri="{FF2B5EF4-FFF2-40B4-BE49-F238E27FC236}">
                <a16:creationId xmlns:a16="http://schemas.microsoft.com/office/drawing/2014/main" id="{37BE7A5A-F390-2BB9-967D-8A3B0AE175AC}"/>
              </a:ext>
            </a:extLst>
          </p:cNvPr>
          <p:cNvGrpSpPr/>
          <p:nvPr/>
        </p:nvGrpSpPr>
        <p:grpSpPr>
          <a:xfrm>
            <a:off x="485776" y="1023761"/>
            <a:ext cx="5572124" cy="4005440"/>
            <a:chOff x="871538" y="1080910"/>
            <a:chExt cx="5572124" cy="4005440"/>
          </a:xfrm>
        </p:grpSpPr>
        <p:sp>
          <p:nvSpPr>
            <p:cNvPr id="18" name="TextBox 17">
              <a:extLst>
                <a:ext uri="{FF2B5EF4-FFF2-40B4-BE49-F238E27FC236}">
                  <a16:creationId xmlns:a16="http://schemas.microsoft.com/office/drawing/2014/main" id="{5888C548-A44C-D3D2-C5DE-F393DD4C8227}"/>
                </a:ext>
              </a:extLst>
            </p:cNvPr>
            <p:cNvSpPr txBox="1"/>
            <p:nvPr/>
          </p:nvSpPr>
          <p:spPr>
            <a:xfrm>
              <a:off x="918093" y="1080910"/>
              <a:ext cx="5525569" cy="461665"/>
            </a:xfrm>
            <a:prstGeom prst="rect">
              <a:avLst/>
            </a:prstGeom>
            <a:noFill/>
          </p:spPr>
          <p:txBody>
            <a:bodyPr wrap="square" rtlCol="0">
              <a:spAutoFit/>
            </a:bodyPr>
            <a:lstStyle/>
            <a:p>
              <a:pPr/>
              <a:r>
                <a:rPr lang="en-US" sz="2400" dirty="0">
                  <a:solidFill>
                    <a:srgbClr val="C00000"/>
                  </a:solidFill>
                  <a:latin typeface="Times" pitchFamily="2" charset="0"/>
                </a:rPr>
                <a:t>DEFINITION OF AVERAGE POWER</a:t>
              </a:r>
            </a:p>
          </p:txBody>
        </p:sp>
        <p:pic>
          <p:nvPicPr>
            <p:cNvPr id="8" name="Picture 7">
              <a:extLst>
                <a:ext uri="{FF2B5EF4-FFF2-40B4-BE49-F238E27FC236}">
                  <a16:creationId xmlns:a16="http://schemas.microsoft.com/office/drawing/2014/main" id="{1D687910-AE92-F573-B3DF-29BA1E1DD4B6}"/>
                </a:ext>
              </a:extLst>
            </p:cNvPr>
            <p:cNvPicPr>
              <a:picLocks noChangeAspect="1"/>
            </p:cNvPicPr>
            <p:nvPr/>
          </p:nvPicPr>
          <p:blipFill>
            <a:blip r:embed="rId3"/>
            <a:stretch>
              <a:fillRect/>
            </a:stretch>
          </p:blipFill>
          <p:spPr>
            <a:xfrm>
              <a:off x="1952625" y="3326818"/>
              <a:ext cx="2062163" cy="668321"/>
            </a:xfrm>
            <a:prstGeom prst="rect">
              <a:avLst/>
            </a:prstGeom>
          </p:spPr>
        </p:pic>
        <p:sp>
          <p:nvSpPr>
            <p:cNvPr id="11" name="TextBox 10">
              <a:extLst>
                <a:ext uri="{FF2B5EF4-FFF2-40B4-BE49-F238E27FC236}">
                  <a16:creationId xmlns:a16="http://schemas.microsoft.com/office/drawing/2014/main" id="{D3B18A97-62DF-6D70-4CEE-36ACF8D4EDAC}"/>
                </a:ext>
              </a:extLst>
            </p:cNvPr>
            <p:cNvSpPr txBox="1"/>
            <p:nvPr/>
          </p:nvSpPr>
          <p:spPr>
            <a:xfrm>
              <a:off x="4572000" y="3457575"/>
              <a:ext cx="1557338" cy="461665"/>
            </a:xfrm>
            <a:prstGeom prst="rect">
              <a:avLst/>
            </a:prstGeom>
            <a:noFill/>
          </p:spPr>
          <p:txBody>
            <a:bodyPr wrap="square" rtlCol="0">
              <a:spAutoFit/>
            </a:bodyPr>
            <a:lstStyle/>
            <a:p>
              <a:pPr/>
              <a:r>
                <a:rPr lang="en-US" sz="2400" dirty="0">
                  <a:solidFill/>
                  <a:latin typeface="Times" pitchFamily="2" charset="0"/>
                </a:rPr>
                <a:t>(</a:t>
              </a:r>
              <a:r>
                <a:rPr lang="en-US" sz="2400" b="1" dirty="0">
                  <a:solidFill/>
                  <a:latin typeface="Times" pitchFamily="2" charset="0"/>
                </a:rPr>
                <a:t>6.10a</a:t>
              </a:r>
              <a:r>
                <a:rPr lang="en-US" sz="2400" dirty="0">
                  <a:solidFill/>
                  <a:latin typeface="Times" pitchFamily="2" charset="0"/>
                </a:rPr>
                <a:t>)</a:t>
              </a:r>
            </a:p>
          </p:txBody>
        </p:sp>
        <p:grpSp>
          <p:nvGrpSpPr>
            <p:cNvPr id="28" name="Group 27">
              <a:extLst>
                <a:ext uri="{FF2B5EF4-FFF2-40B4-BE49-F238E27FC236}">
                  <a16:creationId xmlns:a16="http://schemas.microsoft.com/office/drawing/2014/main" id="{278D00AA-8154-A9E8-697D-236B367C333D}"/>
                </a:ext>
              </a:extLst>
            </p:cNvPr>
            <p:cNvGrpSpPr/>
            <p:nvPr/>
          </p:nvGrpSpPr>
          <p:grpSpPr>
            <a:xfrm>
              <a:off x="871538" y="1085850"/>
              <a:ext cx="5086350" cy="4000500"/>
              <a:chOff x="871538" y="1085850"/>
              <a:chExt cx="5086350" cy="4000500"/>
            </a:xfrm>
          </p:grpSpPr>
          <p:sp>
            <p:nvSpPr>
              <p:cNvPr id="4" name="TextBox 3">
                <a:extLst>
                  <a:ext uri="{FF2B5EF4-FFF2-40B4-BE49-F238E27FC236}">
                    <a16:creationId xmlns:a16="http://schemas.microsoft.com/office/drawing/2014/main" id="{688A20B6-3639-E476-F8D2-0CD46A0D182D}"/>
                  </a:ext>
                </a:extLst>
              </p:cNvPr>
              <p:cNvSpPr txBox="1"/>
              <p:nvPr/>
            </p:nvSpPr>
            <p:spPr>
              <a:xfrm>
                <a:off x="960833" y="1611629"/>
                <a:ext cx="4897042" cy="3416320"/>
              </a:xfrm>
              <a:prstGeom prst="rect">
                <a:avLst/>
              </a:prstGeom>
              <a:noFill/>
            </p:spPr>
            <p:txBody>
              <a:bodyPr wrap="square">
                <a:spAutoFit/>
              </a:bodyPr>
              <a:lstStyle/>
              <a:p>
                <a:pPr algn="just"/>
                <a:r>
                  <a:rPr lang="en-US" sz="2400" dirty="0">
                    <a:solidFill/>
                    <a:latin typeface="Times" pitchFamily="2" charset="0"/>
                  </a:rPr>
                  <a:t>Average power </a:t>
                </a:r>
                <a:r>
                  <a:rPr lang="en-US" sz="2400" i="1" dirty="0">
                    <a:solidFill/>
                    <a:latin typeface="Times" pitchFamily="2" charset="0"/>
                  </a:rPr>
                  <a:t>P</a:t>
                </a:r>
                <a:r>
                  <a:rPr lang="en-US" sz="2400" dirty="0">
                    <a:solidFill/>
                    <a:latin typeface="Times" pitchFamily="2" charset="0"/>
                  </a:rPr>
                  <a:t> is the average rate at which work </a:t>
                </a:r>
                <a:r>
                  <a:rPr lang="en-US" sz="2400" i="1" dirty="0">
                    <a:solidFill/>
                    <a:latin typeface="Times" pitchFamily="2" charset="0"/>
                  </a:rPr>
                  <a:t>W</a:t>
                </a:r>
                <a:r>
                  <a:rPr lang="en-US" sz="2400" dirty="0">
                    <a:solidFill/>
                    <a:latin typeface="Times" pitchFamily="2" charset="0"/>
                  </a:rPr>
                  <a:t> is done, and it is obtained by dividing </a:t>
                </a:r>
                <a:r>
                  <a:rPr lang="en-US" sz="2400" i="1" dirty="0">
                    <a:solidFill/>
                    <a:latin typeface="Times" pitchFamily="2" charset="0"/>
                  </a:rPr>
                  <a:t>W</a:t>
                </a:r>
                <a:r>
                  <a:rPr lang="en-US" sz="2400" dirty="0">
                    <a:solidFill/>
                    <a:latin typeface="Times" pitchFamily="2" charset="0"/>
                  </a:rPr>
                  <a:t> by the time </a:t>
                </a:r>
                <a:r>
                  <a:rPr lang="en-US" sz="2400" i="1" dirty="0">
                    <a:solidFill/>
                    <a:latin typeface="Times" pitchFamily="2" charset="0"/>
                  </a:rPr>
                  <a:t>t</a:t>
                </a:r>
                <a:r>
                  <a:rPr lang="en-US" sz="2400" dirty="0">
                    <a:solidFill/>
                    <a:latin typeface="Times" pitchFamily="2" charset="0"/>
                  </a:rPr>
                  <a:t> required to perform the work:</a:t>
                </a:r>
              </a:p>
              <a:p>
                <a:pPr algn="just"/>
                <a:endParaRPr lang="en-US" sz="2400" dirty="0">
                  <a:latin typeface="Times" pitchFamily="2" charset="0"/>
                </a:endParaRPr>
              </a:p>
              <a:p>
                <a:pPr algn="just"/>
                <a:endParaRPr lang="en-US" sz="2400" dirty="0">
                  <a:latin typeface="Times" pitchFamily="2" charset="0"/>
                </a:endParaRPr>
              </a:p>
              <a:p>
                <a:pPr algn="just"/>
                <a:endParaRPr lang="en-US" sz="2400" dirty="0">
                  <a:latin typeface="Times" pitchFamily="2" charset="0"/>
                </a:endParaRPr>
              </a:p>
              <a:p>
                <a:pPr algn="just"/>
                <a:endParaRPr lang="en-US" sz="2400" dirty="0">
                  <a:latin typeface="Times" pitchFamily="2" charset="0"/>
                </a:endParaRPr>
              </a:p>
              <a:p>
                <a:pPr algn="just"/>
                <a:r>
                  <a:rPr lang="en-US" sz="2400" dirty="0">
                    <a:solidFill/>
                    <a:latin typeface="Times" pitchFamily="2" charset="0"/>
                  </a:rPr>
                  <a:t>SI Unit of Power: joule/s = watt (W)</a:t>
                </a:r>
              </a:p>
            </p:txBody>
          </p:sp>
          <p:sp>
            <p:nvSpPr>
              <p:cNvPr id="12" name="Rectangle 11">
                <a:extLst>
                  <a:ext uri="{FF2B5EF4-FFF2-40B4-BE49-F238E27FC236}">
                    <a16:creationId xmlns:a16="http://schemas.microsoft.com/office/drawing/2014/main" id="{C91AEA7C-697B-935B-EADF-70BF973D2587}"/>
                  </a:ext>
                </a:extLst>
              </p:cNvPr>
              <p:cNvSpPr/>
              <p:nvPr/>
            </p:nvSpPr>
            <p:spPr>
              <a:xfrm>
                <a:off x="871538" y="1085850"/>
                <a:ext cx="5086350" cy="4000500"/>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A4CD119-EDF4-6865-FFF6-5256B69355F0}"/>
                  </a:ext>
                </a:extLst>
              </p:cNvPr>
              <p:cNvSpPr txBox="1"/>
              <p:nvPr/>
            </p:nvSpPr>
            <p:spPr>
              <a:xfrm>
                <a:off x="2943227" y="1414463"/>
                <a:ext cx="571500" cy="461665"/>
              </a:xfrm>
              <a:prstGeom prst="rect">
                <a:avLst/>
              </a:prstGeom>
              <a:noFill/>
            </p:spPr>
            <p:txBody>
              <a:bodyPr wrap="square" rtlCol="0">
                <a:spAutoFit/>
              </a:bodyPr>
              <a:lstStyle/>
              <a:p>
                <a:pPr/>
                <a:r>
                  <a:rPr lang="en-US" sz="2400" dirty="0">
                    <a:solidFill/>
                    <a:latin typeface="Times" pitchFamily="2" charset="0"/>
                  </a:rPr>
                  <a:t>– </a:t>
                </a:r>
              </a:p>
            </p:txBody>
          </p:sp>
        </p:grpSp>
      </p:grpSp>
      <p:pic>
        <p:nvPicPr>
          <p:cNvPr id="33" name="Picture 32">
            <a:extLst>
              <a:ext uri="{FF2B5EF4-FFF2-40B4-BE49-F238E27FC236}">
                <a16:creationId xmlns:a16="http://schemas.microsoft.com/office/drawing/2014/main" id="{7C93DFDA-914A-95AC-5F21-5B81E8100D9F}"/>
              </a:ext>
            </a:extLst>
          </p:cNvPr>
          <p:cNvPicPr>
            <a:picLocks noChangeAspect="1"/>
          </p:cNvPicPr>
          <p:nvPr/>
        </p:nvPicPr>
        <p:blipFill>
          <a:blip r:embed="rId4"/>
          <a:stretch>
            <a:fillRect/>
          </a:stretch>
        </p:blipFill>
        <p:spPr>
          <a:xfrm>
            <a:off x="6118082" y="242889"/>
            <a:ext cx="5373756" cy="4300538"/>
          </a:xfrm>
          <a:prstGeom prst="rect">
            <a:avLst/>
          </a:prstGeom>
        </p:spPr>
      </p:pic>
      <p:sp>
        <p:nvSpPr>
          <p:cNvPr id="34" name="TextBox 33">
            <a:extLst>
              <a:ext uri="{FF2B5EF4-FFF2-40B4-BE49-F238E27FC236}">
                <a16:creationId xmlns:a16="http://schemas.microsoft.com/office/drawing/2014/main" id="{952773F8-9B98-2A74-4453-0E16D5D33847}"/>
              </a:ext>
            </a:extLst>
          </p:cNvPr>
          <p:cNvSpPr txBox="1"/>
          <p:nvPr/>
        </p:nvSpPr>
        <p:spPr>
          <a:xfrm>
            <a:off x="5815013" y="4514851"/>
            <a:ext cx="6715125" cy="830997"/>
          </a:xfrm>
          <a:prstGeom prst="rect">
            <a:avLst/>
          </a:prstGeom>
          <a:noFill/>
        </p:spPr>
        <p:txBody>
          <a:bodyPr wrap="square" rtlCol="0">
            <a:spAutoFit/>
          </a:bodyPr>
          <a:lstStyle/>
          <a:p>
            <a:pPr/>
            <a:r>
              <a:rPr lang="en-US" sz="2400" dirty="0">
                <a:solidFill/>
                <a:latin typeface="Times" pitchFamily="2" charset="0"/>
              </a:rPr>
              <a:t>One watt is a fairly small power, as the graphic above illustrates.</a:t>
            </a:r>
          </a:p>
        </p:txBody>
      </p:sp>
      <p:grpSp>
        <p:nvGrpSpPr>
          <p:cNvPr id="37" name="Group 36">
            <a:extLst>
              <a:ext uri="{FF2B5EF4-FFF2-40B4-BE49-F238E27FC236}">
                <a16:creationId xmlns:a16="http://schemas.microsoft.com/office/drawing/2014/main" id="{5B67AB3C-5D68-47CE-2D16-DE52299BA1EA}"/>
              </a:ext>
            </a:extLst>
          </p:cNvPr>
          <p:cNvGrpSpPr/>
          <p:nvPr/>
        </p:nvGrpSpPr>
        <p:grpSpPr>
          <a:xfrm>
            <a:off x="152401" y="5300663"/>
            <a:ext cx="11920537" cy="528340"/>
            <a:chOff x="152401" y="5300663"/>
            <a:chExt cx="11920537" cy="528340"/>
          </a:xfrm>
        </p:grpSpPr>
        <p:sp>
          <p:nvSpPr>
            <p:cNvPr id="35" name="TextBox 34">
              <a:extLst>
                <a:ext uri="{FF2B5EF4-FFF2-40B4-BE49-F238E27FC236}">
                  <a16:creationId xmlns:a16="http://schemas.microsoft.com/office/drawing/2014/main" id="{E66BC142-8D97-AF9C-DC78-02672EDADD9A}"/>
                </a:ext>
              </a:extLst>
            </p:cNvPr>
            <p:cNvSpPr txBox="1"/>
            <p:nvPr/>
          </p:nvSpPr>
          <p:spPr>
            <a:xfrm>
              <a:off x="152401" y="5367338"/>
              <a:ext cx="11920537" cy="461665"/>
            </a:xfrm>
            <a:prstGeom prst="rect">
              <a:avLst/>
            </a:prstGeom>
            <a:noFill/>
          </p:spPr>
          <p:txBody>
            <a:bodyPr wrap="square" rtlCol="0">
              <a:spAutoFit/>
            </a:bodyPr>
            <a:lstStyle/>
            <a:p>
              <a:pPr/>
              <a:r>
                <a:rPr lang="en-US" sz="2400" dirty="0">
                  <a:solidFill/>
                  <a:latin typeface="Times" pitchFamily="2" charset="0"/>
                </a:rPr>
                <a:t>Engines and motors commonly use a different unit of power known as:  </a:t>
              </a:r>
            </a:p>
          </p:txBody>
        </p:sp>
        <p:sp>
          <p:nvSpPr>
            <p:cNvPr id="36" name="Rounded Rectangle 35">
              <a:extLst>
                <a:ext uri="{FF2B5EF4-FFF2-40B4-BE49-F238E27FC236}">
                  <a16:creationId xmlns:a16="http://schemas.microsoft.com/office/drawing/2014/main" id="{AF605595-65B9-DB84-4D5A-7010E9C38E12}"/>
                </a:ext>
              </a:extLst>
            </p:cNvPr>
            <p:cNvSpPr/>
            <p:nvPr/>
          </p:nvSpPr>
          <p:spPr>
            <a:xfrm>
              <a:off x="8915400" y="5300663"/>
              <a:ext cx="2686050" cy="5143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TextBox 37">
            <a:extLst>
              <a:ext uri="{FF2B5EF4-FFF2-40B4-BE49-F238E27FC236}">
                <a16:creationId xmlns:a16="http://schemas.microsoft.com/office/drawing/2014/main" id="{01D9AD26-0A4B-F2C3-F7AD-098B21BC9BE8}"/>
              </a:ext>
            </a:extLst>
          </p:cNvPr>
          <p:cNvSpPr txBox="1"/>
          <p:nvPr/>
        </p:nvSpPr>
        <p:spPr>
          <a:xfrm>
            <a:off x="9034462" y="5357813"/>
            <a:ext cx="3157538" cy="400110"/>
          </a:xfrm>
          <a:prstGeom prst="rect">
            <a:avLst/>
          </a:prstGeom>
          <a:noFill/>
        </p:spPr>
        <p:txBody>
          <a:bodyPr wrap="square" rtlCol="0">
            <a:spAutoFit/>
          </a:bodyPr>
          <a:lstStyle/>
          <a:p>
            <a:pPr/>
            <a:r>
              <a:rPr lang="en-US" sz="2000" dirty="0">
                <a:solidFill>
                  <a:srgbClr val="016F1F"/>
                </a:solidFill>
                <a:latin typeface="Chalkduster" panose="03050602040202020205" pitchFamily="66" charset="77"/>
              </a:rPr>
              <a:t>horsepower (hp)</a:t>
            </a:r>
          </a:p>
        </p:txBody>
      </p:sp>
      <p:sp>
        <p:nvSpPr>
          <p:cNvPr id="39" name="TextBox 38">
            <a:extLst>
              <a:ext uri="{FF2B5EF4-FFF2-40B4-BE49-F238E27FC236}">
                <a16:creationId xmlns:a16="http://schemas.microsoft.com/office/drawing/2014/main" id="{26486569-AC37-0ACA-2FC3-1A0441F301E1}"/>
              </a:ext>
            </a:extLst>
          </p:cNvPr>
          <p:cNvSpPr txBox="1"/>
          <p:nvPr/>
        </p:nvSpPr>
        <p:spPr>
          <a:xfrm>
            <a:off x="4791084" y="5848350"/>
            <a:ext cx="2409824" cy="461665"/>
          </a:xfrm>
          <a:prstGeom prst="rect">
            <a:avLst/>
          </a:prstGeom>
          <a:noFill/>
        </p:spPr>
        <p:txBody>
          <a:bodyPr wrap="square" rtlCol="0">
            <a:spAutoFit/>
          </a:bodyPr>
          <a:lstStyle/>
          <a:p>
            <a:pPr/>
            <a:r>
              <a:rPr lang="en-US" sz="2400" dirty="0">
                <a:solidFill/>
                <a:latin typeface="Times" pitchFamily="2" charset="0"/>
              </a:rPr>
              <a:t>1 hp = 745.7 W</a:t>
            </a:r>
          </a:p>
        </p:txBody>
      </p:sp>
      <p:sp>
        <p:nvSpPr>
          <p:cNvPr id="40" name="Rectangle 39">
            <a:extLst>
              <a:ext uri="{FF2B5EF4-FFF2-40B4-BE49-F238E27FC236}">
                <a16:creationId xmlns:a16="http://schemas.microsoft.com/office/drawing/2014/main" id="{4CA5AAA5-20D5-7317-F9AD-52805D683EAC}"/>
              </a:ext>
            </a:extLst>
          </p:cNvPr>
          <p:cNvSpPr/>
          <p:nvPr/>
        </p:nvSpPr>
        <p:spPr>
          <a:xfrm>
            <a:off x="4786320" y="5815013"/>
            <a:ext cx="2085975" cy="485775"/>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251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dissolv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dissolve">
                                      <p:cBhvr>
                                        <p:cTn id="12" dur="500"/>
                                        <p:tgtEl>
                                          <p:spTgt spid="33"/>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dissolve">
                                      <p:cBhvr>
                                        <p:cTn id="16" dur="500"/>
                                        <p:tgtEl>
                                          <p:spTgt spid="34"/>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dissolve">
                                      <p:cBhvr>
                                        <p:cTn id="21" dur="500"/>
                                        <p:tgtEl>
                                          <p:spTgt spid="37"/>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dissolve">
                                      <p:cBhvr>
                                        <p:cTn id="26" dur="500"/>
                                        <p:tgtEl>
                                          <p:spTgt spid="3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dissolve">
                                      <p:cBhvr>
                                        <p:cTn id="31" dur="500"/>
                                        <p:tgtEl>
                                          <p:spTgt spid="39"/>
                                        </p:tgtEl>
                                      </p:cBhvr>
                                    </p:animEffect>
                                  </p:childTnLst>
                                </p:cTn>
                              </p:par>
                            </p:childTnLst>
                          </p:cTn>
                        </p:par>
                        <p:par>
                          <p:cTn id="32" fill="hold">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dissolve">
                                      <p:cBhvr>
                                        <p:cTn id="3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8" grpId="0"/>
      <p:bldP spid="39" grpId="0"/>
      <p:bldP spid="4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A14B9-44F7-9347-B074-30CAAD16FDF3}"/>
            </a:ext>
          </a:extLst>
        </p:cNvPr>
        <p:cNvGrpSpPr/>
        <p:nvPr/>
      </p:nvGrpSpPr>
      <p:grpSpPr>
        <a:xfrm>
          <a:off x="0" y="0"/>
          <a:ext cx="0" cy="0"/>
          <a:chOff x="0" y="0"/>
          <a:chExt cx="0" cy="0"/>
        </a:xfrm>
      </p:grpSpPr>
      <p:sp>
        <p:nvSpPr>
          <p:cNvPr id="9222" name="Rectangle 9221">
            <a:extLst>
              <a:ext uri="{FF2B5EF4-FFF2-40B4-BE49-F238E27FC236}">
                <a16:creationId xmlns:a16="http://schemas.microsoft.com/office/drawing/2014/main" id="{3120630A-F582-A621-E6C8-B03050D829C6}"/>
              </a:ext>
            </a:extLst>
          </p:cNvPr>
          <p:cNvSpPr/>
          <p:nvPr/>
        </p:nvSpPr>
        <p:spPr>
          <a:xfrm>
            <a:off x="10202779" y="5855368"/>
            <a:ext cx="1106905" cy="4812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F4E6C4-AD6E-7A0B-050E-089B19245C74}"/>
              </a:ext>
            </a:extLst>
          </p:cNvPr>
          <p:cNvSpPr>
            <a:spLocks noGrp="1"/>
          </p:cNvSpPr>
          <p:nvPr>
            <p:ph type="title"/>
          </p:nvPr>
        </p:nvSpPr>
        <p:spPr>
          <a:xfrm>
            <a:off x="685805" y="155455"/>
            <a:ext cx="11506195" cy="849312"/>
          </a:xfrm>
        </p:spPr>
        <p:txBody>
          <a:bodyPr>
            <a:normAutofit/>
          </a:bodyPr>
          <a:lstStyle/>
          <a:p>
            <a:pPr/>
            <a:r>
              <a:rPr lang="en-US" b="1" dirty="0">
                <a:solidFill/>
                <a:ea typeface="Calibri" charset="0"/>
                <a:cs typeface="Calibri" charset="0"/>
              </a:rPr>
              <a:t>6.7 </a:t>
            </a:r>
            <a:r>
              <a:rPr lang="en-US" dirty="0">
                <a:solidFill/>
                <a:ea typeface="Calibri" charset="0"/>
                <a:cs typeface="Calibri" charset="0"/>
              </a:rPr>
              <a:t>Power</a:t>
            </a:r>
            <a:endParaRPr lang="en-US" sz="3000" dirty="0"/>
          </a:p>
        </p:txBody>
      </p:sp>
      <p:sp>
        <p:nvSpPr>
          <p:cNvPr id="5" name="TextBox 4">
            <a:extLst>
              <a:ext uri="{FF2B5EF4-FFF2-40B4-BE49-F238E27FC236}">
                <a16:creationId xmlns:a16="http://schemas.microsoft.com/office/drawing/2014/main" id="{FE618942-071C-79A6-B540-C989F7D3FB4D}"/>
              </a:ext>
            </a:extLst>
          </p:cNvPr>
          <p:cNvSpPr txBox="1"/>
          <p:nvPr/>
        </p:nvSpPr>
        <p:spPr>
          <a:xfrm>
            <a:off x="3400927" y="678562"/>
            <a:ext cx="8296257" cy="2308324"/>
          </a:xfrm>
          <a:prstGeom prst="rect">
            <a:avLst/>
          </a:prstGeom>
          <a:noFill/>
        </p:spPr>
        <p:txBody>
          <a:bodyPr wrap="square">
            <a:spAutoFit/>
          </a:bodyPr>
          <a:lstStyle/>
          <a:p>
            <a:pPr algn="just"/>
            <a:r>
              <a:rPr lang="en-US" sz="2400" dirty="0">
                <a:solidFill/>
                <a:latin typeface="Times" pitchFamily="2" charset="0"/>
              </a:rPr>
              <a:t>A person is making homemade ice cream. She exerts a force of magnitude 22 N on the free end of the crank handle on the ice-cream maker, and this end moves on a circular path of radius 0.28 m. The force is always applied parallel to the motion of the handle. If the handle is turned once every 1.3 s, what is the average power being expended?</a:t>
            </a:r>
          </a:p>
        </p:txBody>
      </p:sp>
      <p:sp>
        <p:nvSpPr>
          <p:cNvPr id="6" name="TextBox 5">
            <a:extLst>
              <a:ext uri="{FF2B5EF4-FFF2-40B4-BE49-F238E27FC236}">
                <a16:creationId xmlns:a16="http://schemas.microsoft.com/office/drawing/2014/main" id="{0D5C53AA-C917-80FB-5E82-7205F67A0FB7}"/>
              </a:ext>
            </a:extLst>
          </p:cNvPr>
          <p:cNvSpPr txBox="1"/>
          <p:nvPr/>
        </p:nvSpPr>
        <p:spPr>
          <a:xfrm>
            <a:off x="3403462" y="185561"/>
            <a:ext cx="4944665" cy="523220"/>
          </a:xfrm>
          <a:prstGeom prst="rect">
            <a:avLst/>
          </a:prstGeom>
          <a:noFill/>
        </p:spPr>
        <p:txBody>
          <a:bodyPr wrap="square">
            <a:spAutoFit/>
          </a:bodyPr>
          <a:lstStyle/>
          <a:p>
            <a:pPr algn="just"/>
            <a:r>
              <a:rPr lang="en-US" sz="2800" dirty="0">
                <a:solidFill>
                  <a:srgbClr val="C00000"/>
                </a:solidFill>
                <a:latin typeface="Times" pitchFamily="2" charset="0"/>
              </a:rPr>
              <a:t>Example – Making Ice Cream </a:t>
            </a:r>
          </a:p>
        </p:txBody>
      </p:sp>
      <p:grpSp>
        <p:nvGrpSpPr>
          <p:cNvPr id="25" name="Group 24">
            <a:extLst>
              <a:ext uri="{FF2B5EF4-FFF2-40B4-BE49-F238E27FC236}">
                <a16:creationId xmlns:a16="http://schemas.microsoft.com/office/drawing/2014/main" id="{46AF92BF-96AE-2071-0893-CA1150726823}"/>
              </a:ext>
            </a:extLst>
          </p:cNvPr>
          <p:cNvGrpSpPr/>
          <p:nvPr/>
        </p:nvGrpSpPr>
        <p:grpSpPr>
          <a:xfrm>
            <a:off x="-155628" y="859435"/>
            <a:ext cx="3765698" cy="3030279"/>
            <a:chOff x="1848293" y="3317358"/>
            <a:chExt cx="3765698" cy="3030279"/>
          </a:xfrm>
        </p:grpSpPr>
        <p:pic>
          <p:nvPicPr>
            <p:cNvPr id="9220" name="Picture 4">
              <a:extLst>
                <a:ext uri="{FF2B5EF4-FFF2-40B4-BE49-F238E27FC236}">
                  <a16:creationId xmlns:a16="http://schemas.microsoft.com/office/drawing/2014/main" id="{E901435A-26C6-A463-9831-0CC0FA169A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8293" y="3413051"/>
              <a:ext cx="2934586" cy="2934586"/>
            </a:xfrm>
            <a:prstGeom prst="rect">
              <a:avLst/>
            </a:prstGeom>
            <a:noFill/>
            <a:extLst>
              <a:ext uri="{909E8E84-426E-40DD-AFC4-6F175D3DCCD1}">
                <a14:hiddenFill xmlns:a14="http://schemas.microsoft.com/office/drawing/2010/main">
                  <a:solidFill>
                    <a:srgbClr val="FFFFFF"/>
                  </a:solidFill>
                </a14:hiddenFill>
              </a:ext>
            </a:extLst>
          </p:spPr>
        </p:pic>
        <p:sp>
          <p:nvSpPr>
            <p:cNvPr id="16" name="Oval 15">
              <a:extLst>
                <a:ext uri="{FF2B5EF4-FFF2-40B4-BE49-F238E27FC236}">
                  <a16:creationId xmlns:a16="http://schemas.microsoft.com/office/drawing/2014/main" id="{E95677A9-4AD9-E1BA-45F2-A51EA0EB070D}"/>
                </a:ext>
              </a:extLst>
            </p:cNvPr>
            <p:cNvSpPr/>
            <p:nvPr/>
          </p:nvSpPr>
          <p:spPr>
            <a:xfrm>
              <a:off x="3033591" y="4035425"/>
              <a:ext cx="214434" cy="175846"/>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232D9269-C305-AC5A-6E78-FDB2EE21DAE7}"/>
                </a:ext>
              </a:extLst>
            </p:cNvPr>
            <p:cNvSpPr/>
            <p:nvPr/>
          </p:nvSpPr>
          <p:spPr>
            <a:xfrm>
              <a:off x="4051005" y="3317358"/>
              <a:ext cx="861237" cy="1616149"/>
            </a:xfrm>
            <a:prstGeom prst="ellipse">
              <a:avLst/>
            </a:prstGeom>
            <a:noFill/>
            <a:ln w="254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9EBF0F6B-9D3C-BA51-2294-813E4E18DF43}"/>
                </a:ext>
              </a:extLst>
            </p:cNvPr>
            <p:cNvCxnSpPr/>
            <p:nvPr/>
          </p:nvCxnSpPr>
          <p:spPr>
            <a:xfrm>
              <a:off x="4444409" y="4072270"/>
              <a:ext cx="0" cy="8187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FCA351C-1306-1D52-7B4F-465CDC588C66}"/>
                </a:ext>
              </a:extLst>
            </p:cNvPr>
            <p:cNvSpPr txBox="1"/>
            <p:nvPr/>
          </p:nvSpPr>
          <p:spPr>
            <a:xfrm>
              <a:off x="4391246" y="4221126"/>
              <a:ext cx="606056" cy="400110"/>
            </a:xfrm>
            <a:prstGeom prst="rect">
              <a:avLst/>
            </a:prstGeom>
            <a:noFill/>
          </p:spPr>
          <p:txBody>
            <a:bodyPr wrap="square" rtlCol="0">
              <a:spAutoFit/>
            </a:bodyPr>
            <a:lstStyle/>
            <a:p>
              <a:pPr/>
              <a:r>
                <a:rPr lang="en-US" sz="2000" i="1" dirty="0">
                  <a:solidFill/>
                  <a:latin typeface="Times" pitchFamily="2" charset="0"/>
                </a:rPr>
                <a:t>r</a:t>
              </a:r>
            </a:p>
          </p:txBody>
        </p:sp>
        <p:cxnSp>
          <p:nvCxnSpPr>
            <p:cNvPr id="23" name="Straight Arrow Connector 22">
              <a:extLst>
                <a:ext uri="{FF2B5EF4-FFF2-40B4-BE49-F238E27FC236}">
                  <a16:creationId xmlns:a16="http://schemas.microsoft.com/office/drawing/2014/main" id="{985B94E3-2B4E-9A6D-48C9-232F049F5A1C}"/>
                </a:ext>
              </a:extLst>
            </p:cNvPr>
            <p:cNvCxnSpPr>
              <a:stCxn id="17" idx="4"/>
            </p:cNvCxnSpPr>
            <p:nvPr/>
          </p:nvCxnSpPr>
          <p:spPr>
            <a:xfrm>
              <a:off x="4481624" y="4933507"/>
              <a:ext cx="792125" cy="85060"/>
            </a:xfrm>
            <a:prstGeom prst="straightConnector1">
              <a:avLst/>
            </a:prstGeom>
            <a:ln w="31750">
              <a:solidFill>
                <a:srgbClr val="0F4FB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77D39524-CECB-EF25-0B31-507AC0F31871}"/>
                </a:ext>
              </a:extLst>
            </p:cNvPr>
            <p:cNvSpPr txBox="1"/>
            <p:nvPr/>
          </p:nvSpPr>
          <p:spPr>
            <a:xfrm>
              <a:off x="5061098" y="5018568"/>
              <a:ext cx="552893" cy="400110"/>
            </a:xfrm>
            <a:prstGeom prst="rect">
              <a:avLst/>
            </a:prstGeom>
            <a:noFill/>
          </p:spPr>
          <p:txBody>
            <a:bodyPr wrap="square" rtlCol="0">
              <a:spAutoFit/>
            </a:bodyPr>
            <a:lstStyle/>
            <a:p>
              <a:pPr/>
              <a:r>
                <a:rPr lang="en-US" sz="2000" i="1" dirty="0">
                  <a:solidFill>
                    <a:srgbClr val="2326C0"/>
                  </a:solidFill>
                  <a:latin typeface="Times" pitchFamily="2" charset="0"/>
                </a:rPr>
                <a:t>F</a:t>
              </a:r>
            </a:p>
          </p:txBody>
        </p:sp>
      </p:grpSp>
      <p:sp>
        <p:nvSpPr>
          <p:cNvPr id="26" name="TextBox 25">
            <a:extLst>
              <a:ext uri="{FF2B5EF4-FFF2-40B4-BE49-F238E27FC236}">
                <a16:creationId xmlns:a16="http://schemas.microsoft.com/office/drawing/2014/main" id="{557F6ED1-B134-0622-7A84-5FABE9DC2DE0}"/>
              </a:ext>
            </a:extLst>
          </p:cNvPr>
          <p:cNvSpPr txBox="1"/>
          <p:nvPr/>
        </p:nvSpPr>
        <p:spPr>
          <a:xfrm>
            <a:off x="3425193" y="2987241"/>
            <a:ext cx="8058190" cy="461665"/>
          </a:xfrm>
          <a:prstGeom prst="rect">
            <a:avLst/>
          </a:prstGeom>
          <a:noFill/>
        </p:spPr>
        <p:txBody>
          <a:bodyPr wrap="square">
            <a:spAutoFit/>
          </a:bodyPr>
          <a:lstStyle/>
          <a:p>
            <a:pPr algn="just"/>
            <a:r>
              <a:rPr lang="en-US" sz="2400" dirty="0">
                <a:solidFill/>
                <a:latin typeface="Times" pitchFamily="2" charset="0"/>
              </a:rPr>
              <a:t>The average power can be determined from Equation 6.10a: </a:t>
            </a:r>
          </a:p>
        </p:txBody>
      </p:sp>
      <p:grpSp>
        <p:nvGrpSpPr>
          <p:cNvPr id="50" name="Group 49">
            <a:extLst>
              <a:ext uri="{FF2B5EF4-FFF2-40B4-BE49-F238E27FC236}">
                <a16:creationId xmlns:a16="http://schemas.microsoft.com/office/drawing/2014/main" id="{1B5F74C9-C16F-F4C7-EA2D-212310037A9C}"/>
              </a:ext>
            </a:extLst>
          </p:cNvPr>
          <p:cNvGrpSpPr/>
          <p:nvPr/>
        </p:nvGrpSpPr>
        <p:grpSpPr>
          <a:xfrm>
            <a:off x="294277" y="3625241"/>
            <a:ext cx="8302354" cy="819807"/>
            <a:chOff x="4310062" y="3452648"/>
            <a:chExt cx="8302354" cy="819807"/>
          </a:xfrm>
        </p:grpSpPr>
        <p:pic>
          <p:nvPicPr>
            <p:cNvPr id="32" name="Picture 31">
              <a:extLst>
                <a:ext uri="{FF2B5EF4-FFF2-40B4-BE49-F238E27FC236}">
                  <a16:creationId xmlns:a16="http://schemas.microsoft.com/office/drawing/2014/main" id="{DAA6CB63-0DAC-6A68-2223-4EA1C4B02C2C}"/>
                </a:ext>
              </a:extLst>
            </p:cNvPr>
            <p:cNvPicPr>
              <a:picLocks noChangeAspect="1"/>
            </p:cNvPicPr>
            <p:nvPr/>
          </p:nvPicPr>
          <p:blipFill>
            <a:blip r:embed="rId4"/>
            <a:srcRect r="73537" b="-9943"/>
            <a:stretch/>
          </p:blipFill>
          <p:spPr>
            <a:xfrm>
              <a:off x="4310062" y="3506152"/>
              <a:ext cx="545717" cy="734772"/>
            </a:xfrm>
            <a:prstGeom prst="rect">
              <a:avLst/>
            </a:prstGeom>
          </p:spPr>
        </p:pic>
        <p:sp>
          <p:nvSpPr>
            <p:cNvPr id="49" name="Rounded Rectangle 48">
              <a:extLst>
                <a:ext uri="{FF2B5EF4-FFF2-40B4-BE49-F238E27FC236}">
                  <a16:creationId xmlns:a16="http://schemas.microsoft.com/office/drawing/2014/main" id="{3D11E800-E4B0-E857-CB5B-DA0BAF4A1BCD}"/>
                </a:ext>
              </a:extLst>
            </p:cNvPr>
            <p:cNvSpPr/>
            <p:nvPr/>
          </p:nvSpPr>
          <p:spPr>
            <a:xfrm>
              <a:off x="4950371" y="3452648"/>
              <a:ext cx="7662045" cy="8198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1" name="Picture 50">
            <a:extLst>
              <a:ext uri="{FF2B5EF4-FFF2-40B4-BE49-F238E27FC236}">
                <a16:creationId xmlns:a16="http://schemas.microsoft.com/office/drawing/2014/main" id="{75482286-3158-BB9C-FB42-0AD5A307901D}"/>
              </a:ext>
            </a:extLst>
          </p:cNvPr>
          <p:cNvPicPr>
            <a:picLocks noChangeAspect="1"/>
          </p:cNvPicPr>
          <p:nvPr/>
        </p:nvPicPr>
        <p:blipFill>
          <a:blip r:embed="rId5"/>
          <a:stretch>
            <a:fillRect/>
          </a:stretch>
        </p:blipFill>
        <p:spPr>
          <a:xfrm>
            <a:off x="1035093" y="3721862"/>
            <a:ext cx="309398" cy="636476"/>
          </a:xfrm>
          <a:prstGeom prst="rect">
            <a:avLst/>
          </a:prstGeom>
        </p:spPr>
      </p:pic>
      <p:pic>
        <p:nvPicPr>
          <p:cNvPr id="52" name="Picture 51">
            <a:extLst>
              <a:ext uri="{FF2B5EF4-FFF2-40B4-BE49-F238E27FC236}">
                <a16:creationId xmlns:a16="http://schemas.microsoft.com/office/drawing/2014/main" id="{CAADB2E4-25E7-0DC4-ABBB-9C99FC8BB147}"/>
              </a:ext>
            </a:extLst>
          </p:cNvPr>
          <p:cNvPicPr>
            <a:picLocks noChangeAspect="1"/>
          </p:cNvPicPr>
          <p:nvPr/>
        </p:nvPicPr>
        <p:blipFill>
          <a:blip r:embed="rId6"/>
          <a:stretch>
            <a:fillRect/>
          </a:stretch>
        </p:blipFill>
        <p:spPr>
          <a:xfrm>
            <a:off x="1418496" y="3704068"/>
            <a:ext cx="1711439" cy="657553"/>
          </a:xfrm>
          <a:prstGeom prst="rect">
            <a:avLst/>
          </a:prstGeom>
        </p:spPr>
      </p:pic>
      <p:sp>
        <p:nvSpPr>
          <p:cNvPr id="53" name="TextBox 52">
            <a:extLst>
              <a:ext uri="{FF2B5EF4-FFF2-40B4-BE49-F238E27FC236}">
                <a16:creationId xmlns:a16="http://schemas.microsoft.com/office/drawing/2014/main" id="{37DD65D0-B7C5-4033-BAC0-A5D522D99DDB}"/>
              </a:ext>
            </a:extLst>
          </p:cNvPr>
          <p:cNvSpPr txBox="1"/>
          <p:nvPr/>
        </p:nvSpPr>
        <p:spPr>
          <a:xfrm>
            <a:off x="8818106" y="3441031"/>
            <a:ext cx="3277642" cy="1200329"/>
          </a:xfrm>
          <a:prstGeom prst="rect">
            <a:avLst/>
          </a:prstGeom>
          <a:noFill/>
        </p:spPr>
        <p:txBody>
          <a:bodyPr wrap="square">
            <a:spAutoFit/>
          </a:bodyPr>
          <a:lstStyle/>
          <a:p>
            <a:pPr algn="just"/>
            <a:r>
              <a:rPr lang="en-US" sz="2400" dirty="0">
                <a:solidFill/>
                <a:latin typeface="Times" pitchFamily="2" charset="0"/>
              </a:rPr>
              <a:t>Since the force is always applied parallel to the motion, </a:t>
            </a:r>
            <a:r>
              <a:rPr lang="en-US" sz="2400" i="1" dirty="0">
                <a:solidFill/>
                <a:latin typeface="Symbol" pitchFamily="2" charset="2"/>
              </a:rPr>
              <a:t>q</a:t>
            </a:r>
            <a:r>
              <a:rPr lang="en-US" sz="2400" dirty="0">
                <a:solidFill/>
                <a:latin typeface="Times" pitchFamily="2" charset="0"/>
              </a:rPr>
              <a:t> = 0</a:t>
            </a:r>
            <a:r>
              <a:rPr lang="en-US" sz="2400" baseline="30000" dirty="0">
                <a:solidFill/>
                <a:latin typeface="Times" pitchFamily="2" charset="0"/>
              </a:rPr>
              <a:t>o</a:t>
            </a:r>
            <a:r>
              <a:rPr lang="en-US" sz="2400" dirty="0">
                <a:solidFill/>
                <a:latin typeface="Times" pitchFamily="2" charset="0"/>
              </a:rPr>
              <a:t>.</a:t>
            </a:r>
          </a:p>
        </p:txBody>
      </p:sp>
      <p:grpSp>
        <p:nvGrpSpPr>
          <p:cNvPr id="57" name="Group 56">
            <a:extLst>
              <a:ext uri="{FF2B5EF4-FFF2-40B4-BE49-F238E27FC236}">
                <a16:creationId xmlns:a16="http://schemas.microsoft.com/office/drawing/2014/main" id="{C70A300E-5C91-B91D-4826-10876E4F33EA}"/>
              </a:ext>
            </a:extLst>
          </p:cNvPr>
          <p:cNvGrpSpPr/>
          <p:nvPr/>
        </p:nvGrpSpPr>
        <p:grpSpPr>
          <a:xfrm>
            <a:off x="2117003" y="3147387"/>
            <a:ext cx="1166647" cy="919288"/>
            <a:chOff x="6180084" y="3195512"/>
            <a:chExt cx="1166647" cy="919288"/>
          </a:xfrm>
        </p:grpSpPr>
        <p:cxnSp>
          <p:nvCxnSpPr>
            <p:cNvPr id="55" name="Straight Arrow Connector 54">
              <a:extLst>
                <a:ext uri="{FF2B5EF4-FFF2-40B4-BE49-F238E27FC236}">
                  <a16:creationId xmlns:a16="http://schemas.microsoft.com/office/drawing/2014/main" id="{0C4064B8-F285-939F-49EE-52662BC98840}"/>
                </a:ext>
              </a:extLst>
            </p:cNvPr>
            <p:cNvCxnSpPr/>
            <p:nvPr/>
          </p:nvCxnSpPr>
          <p:spPr>
            <a:xfrm flipV="1">
              <a:off x="6180084" y="3531476"/>
              <a:ext cx="488731" cy="58332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7506B763-A6D4-3547-C1CC-F2AE7859A6A6}"/>
                </a:ext>
              </a:extLst>
            </p:cNvPr>
            <p:cNvSpPr txBox="1"/>
            <p:nvPr/>
          </p:nvSpPr>
          <p:spPr>
            <a:xfrm>
              <a:off x="6603741" y="3195512"/>
              <a:ext cx="742990" cy="461665"/>
            </a:xfrm>
            <a:prstGeom prst="rect">
              <a:avLst/>
            </a:prstGeom>
            <a:noFill/>
          </p:spPr>
          <p:txBody>
            <a:bodyPr wrap="square">
              <a:spAutoFit/>
            </a:bodyPr>
            <a:lstStyle/>
            <a:p>
              <a:pPr algn="just"/>
              <a:r>
                <a:rPr lang="en-US" sz="2400" dirty="0">
                  <a:solidFill>
                    <a:srgbClr val="FF0000"/>
                  </a:solidFill>
                  <a:latin typeface="Times" pitchFamily="2" charset="0"/>
                </a:rPr>
                <a:t>1</a:t>
              </a:r>
            </a:p>
          </p:txBody>
        </p:sp>
      </p:grpSp>
      <p:sp>
        <p:nvSpPr>
          <p:cNvPr id="58" name="TextBox 57">
            <a:extLst>
              <a:ext uri="{FF2B5EF4-FFF2-40B4-BE49-F238E27FC236}">
                <a16:creationId xmlns:a16="http://schemas.microsoft.com/office/drawing/2014/main" id="{39C6B544-DBC6-37CA-214F-D07ABB5B61AD}"/>
              </a:ext>
            </a:extLst>
          </p:cNvPr>
          <p:cNvSpPr txBox="1"/>
          <p:nvPr/>
        </p:nvSpPr>
        <p:spPr>
          <a:xfrm>
            <a:off x="201835" y="4670003"/>
            <a:ext cx="11669323" cy="461665"/>
          </a:xfrm>
          <a:prstGeom prst="rect">
            <a:avLst/>
          </a:prstGeom>
          <a:noFill/>
        </p:spPr>
        <p:txBody>
          <a:bodyPr wrap="square">
            <a:spAutoFit/>
          </a:bodyPr>
          <a:lstStyle/>
          <a:p>
            <a:pPr algn="just"/>
            <a:r>
              <a:rPr lang="en-US" sz="2400" dirty="0">
                <a:solidFill/>
                <a:latin typeface="Times" pitchFamily="2" charset="0"/>
              </a:rPr>
              <a:t>The distance </a:t>
            </a:r>
            <a:r>
              <a:rPr lang="en-US" sz="2400" i="1" dirty="0">
                <a:solidFill/>
                <a:latin typeface="Times" pitchFamily="2" charset="0"/>
              </a:rPr>
              <a:t>s</a:t>
            </a:r>
            <a:r>
              <a:rPr lang="en-US" sz="2400" dirty="0">
                <a:solidFill/>
                <a:latin typeface="Times" pitchFamily="2" charset="0"/>
              </a:rPr>
              <a:t>, for one revolution, is just the circumference.</a:t>
            </a:r>
          </a:p>
        </p:txBody>
      </p:sp>
      <p:pic>
        <p:nvPicPr>
          <p:cNvPr id="59" name="Picture 58">
            <a:extLst>
              <a:ext uri="{FF2B5EF4-FFF2-40B4-BE49-F238E27FC236}">
                <a16:creationId xmlns:a16="http://schemas.microsoft.com/office/drawing/2014/main" id="{85F0A3A5-5F29-7BC6-3013-8F42029CE885}"/>
              </a:ext>
            </a:extLst>
          </p:cNvPr>
          <p:cNvPicPr>
            <a:picLocks noChangeAspect="1"/>
          </p:cNvPicPr>
          <p:nvPr/>
        </p:nvPicPr>
        <p:blipFill>
          <a:blip r:embed="rId7"/>
          <a:stretch>
            <a:fillRect/>
          </a:stretch>
        </p:blipFill>
        <p:spPr>
          <a:xfrm>
            <a:off x="3221661" y="3719833"/>
            <a:ext cx="1167983" cy="651203"/>
          </a:xfrm>
          <a:prstGeom prst="rect">
            <a:avLst/>
          </a:prstGeom>
        </p:spPr>
      </p:pic>
      <p:pic>
        <p:nvPicPr>
          <p:cNvPr id="60" name="Picture 59">
            <a:extLst>
              <a:ext uri="{FF2B5EF4-FFF2-40B4-BE49-F238E27FC236}">
                <a16:creationId xmlns:a16="http://schemas.microsoft.com/office/drawing/2014/main" id="{ED43BCAB-4907-D601-79C0-165F2864E1F0}"/>
              </a:ext>
            </a:extLst>
          </p:cNvPr>
          <p:cNvPicPr>
            <a:picLocks noChangeAspect="1"/>
          </p:cNvPicPr>
          <p:nvPr/>
        </p:nvPicPr>
        <p:blipFill>
          <a:blip r:embed="rId8"/>
          <a:stretch>
            <a:fillRect/>
          </a:stretch>
        </p:blipFill>
        <p:spPr>
          <a:xfrm>
            <a:off x="4468692" y="3718964"/>
            <a:ext cx="2630214" cy="635469"/>
          </a:xfrm>
          <a:prstGeom prst="rect">
            <a:avLst/>
          </a:prstGeom>
        </p:spPr>
      </p:pic>
      <p:pic>
        <p:nvPicPr>
          <p:cNvPr id="61" name="Picture 60">
            <a:extLst>
              <a:ext uri="{FF2B5EF4-FFF2-40B4-BE49-F238E27FC236}">
                <a16:creationId xmlns:a16="http://schemas.microsoft.com/office/drawing/2014/main" id="{07893ECE-9534-2699-3AF5-07CEB5C3DFF4}"/>
              </a:ext>
            </a:extLst>
          </p:cNvPr>
          <p:cNvPicPr>
            <a:picLocks noChangeAspect="1"/>
          </p:cNvPicPr>
          <p:nvPr/>
        </p:nvPicPr>
        <p:blipFill>
          <a:blip r:embed="rId9"/>
          <a:stretch>
            <a:fillRect/>
          </a:stretch>
        </p:blipFill>
        <p:spPr>
          <a:xfrm>
            <a:off x="7241481" y="3913736"/>
            <a:ext cx="945933" cy="220817"/>
          </a:xfrm>
          <a:prstGeom prst="rect">
            <a:avLst/>
          </a:prstGeom>
        </p:spPr>
      </p:pic>
      <p:sp>
        <p:nvSpPr>
          <p:cNvPr id="62" name="Rectangle 61">
            <a:extLst>
              <a:ext uri="{FF2B5EF4-FFF2-40B4-BE49-F238E27FC236}">
                <a16:creationId xmlns:a16="http://schemas.microsoft.com/office/drawing/2014/main" id="{70F73E70-57B0-7766-1698-C8549657D60A}"/>
              </a:ext>
            </a:extLst>
          </p:cNvPr>
          <p:cNvSpPr/>
          <p:nvPr/>
        </p:nvSpPr>
        <p:spPr>
          <a:xfrm>
            <a:off x="7472482" y="3828136"/>
            <a:ext cx="775252" cy="38431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3AB01868-6D0F-B2D7-D3CF-6E66D8BEBFC4}"/>
              </a:ext>
            </a:extLst>
          </p:cNvPr>
          <p:cNvSpPr txBox="1"/>
          <p:nvPr/>
        </p:nvSpPr>
        <p:spPr>
          <a:xfrm>
            <a:off x="145688" y="5223455"/>
            <a:ext cx="11669323" cy="461665"/>
          </a:xfrm>
          <a:prstGeom prst="rect">
            <a:avLst/>
          </a:prstGeom>
          <a:noFill/>
        </p:spPr>
        <p:txBody>
          <a:bodyPr wrap="square">
            <a:spAutoFit/>
          </a:bodyPr>
          <a:lstStyle/>
          <a:p>
            <a:pPr algn="just"/>
            <a:r>
              <a:rPr lang="en-US" sz="2400" i="1" dirty="0">
                <a:solidFill/>
                <a:latin typeface="Times" pitchFamily="2" charset="0"/>
              </a:rPr>
              <a:t>*</a:t>
            </a:r>
            <a:r>
              <a:rPr lang="en-US" sz="2400" dirty="0">
                <a:solidFill/>
                <a:latin typeface="Times" pitchFamily="2" charset="0"/>
              </a:rPr>
              <a:t>Note:  We just showed the average power can be written as:</a:t>
            </a:r>
          </a:p>
        </p:txBody>
      </p:sp>
      <p:pic>
        <p:nvPicPr>
          <p:cNvPr id="9216" name="Picture 9215">
            <a:extLst>
              <a:ext uri="{FF2B5EF4-FFF2-40B4-BE49-F238E27FC236}">
                <a16:creationId xmlns:a16="http://schemas.microsoft.com/office/drawing/2014/main" id="{8F10D2EB-9E40-14CF-87B1-203E5C9D406F}"/>
              </a:ext>
            </a:extLst>
          </p:cNvPr>
          <p:cNvPicPr>
            <a:picLocks noChangeAspect="1"/>
          </p:cNvPicPr>
          <p:nvPr/>
        </p:nvPicPr>
        <p:blipFill>
          <a:blip r:embed="rId10"/>
          <a:stretch>
            <a:fillRect/>
          </a:stretch>
        </p:blipFill>
        <p:spPr>
          <a:xfrm>
            <a:off x="7821822" y="5069305"/>
            <a:ext cx="2294787" cy="792285"/>
          </a:xfrm>
          <a:prstGeom prst="rect">
            <a:avLst/>
          </a:prstGeom>
        </p:spPr>
      </p:pic>
      <p:pic>
        <p:nvPicPr>
          <p:cNvPr id="9217" name="Picture 9216">
            <a:extLst>
              <a:ext uri="{FF2B5EF4-FFF2-40B4-BE49-F238E27FC236}">
                <a16:creationId xmlns:a16="http://schemas.microsoft.com/office/drawing/2014/main" id="{B3E864D0-6EC0-0FB9-E15F-44BD1A9E7A2E}"/>
              </a:ext>
            </a:extLst>
          </p:cNvPr>
          <p:cNvPicPr>
            <a:picLocks noChangeAspect="1"/>
          </p:cNvPicPr>
          <p:nvPr/>
        </p:nvPicPr>
        <p:blipFill>
          <a:blip r:embed="rId11"/>
          <a:stretch>
            <a:fillRect/>
          </a:stretch>
        </p:blipFill>
        <p:spPr>
          <a:xfrm>
            <a:off x="10202778" y="5324123"/>
            <a:ext cx="657727" cy="222515"/>
          </a:xfrm>
          <a:prstGeom prst="rect">
            <a:avLst/>
          </a:prstGeom>
        </p:spPr>
      </p:pic>
      <p:sp>
        <p:nvSpPr>
          <p:cNvPr id="9219" name="TextBox 9218">
            <a:extLst>
              <a:ext uri="{FF2B5EF4-FFF2-40B4-BE49-F238E27FC236}">
                <a16:creationId xmlns:a16="http://schemas.microsoft.com/office/drawing/2014/main" id="{A90E3FA0-845E-0418-292F-6E02D0F0B685}"/>
              </a:ext>
            </a:extLst>
          </p:cNvPr>
          <p:cNvSpPr txBox="1"/>
          <p:nvPr/>
        </p:nvSpPr>
        <p:spPr>
          <a:xfrm>
            <a:off x="128337" y="5921287"/>
            <a:ext cx="11669323" cy="461665"/>
          </a:xfrm>
          <a:prstGeom prst="rect">
            <a:avLst/>
          </a:prstGeom>
          <a:noFill/>
        </p:spPr>
        <p:txBody>
          <a:bodyPr wrap="square">
            <a:spAutoFit/>
          </a:bodyPr>
          <a:lstStyle/>
          <a:p>
            <a:pPr algn="just"/>
            <a:r>
              <a:rPr lang="en-US" sz="2400" dirty="0">
                <a:solidFill/>
                <a:latin typeface="Times" pitchFamily="2" charset="0"/>
              </a:rPr>
              <a:t>This provides another way to calculate the average power by a constant force:</a:t>
            </a:r>
          </a:p>
        </p:txBody>
      </p:sp>
      <p:pic>
        <p:nvPicPr>
          <p:cNvPr id="9221" name="Picture 9220">
            <a:extLst>
              <a:ext uri="{FF2B5EF4-FFF2-40B4-BE49-F238E27FC236}">
                <a16:creationId xmlns:a16="http://schemas.microsoft.com/office/drawing/2014/main" id="{C5713897-FA4C-C566-4FD0-3C5C85C3F23D}"/>
              </a:ext>
            </a:extLst>
          </p:cNvPr>
          <p:cNvPicPr>
            <a:picLocks noChangeAspect="1"/>
          </p:cNvPicPr>
          <p:nvPr/>
        </p:nvPicPr>
        <p:blipFill>
          <a:blip r:embed="rId12"/>
          <a:stretch>
            <a:fillRect/>
          </a:stretch>
        </p:blipFill>
        <p:spPr>
          <a:xfrm>
            <a:off x="10287190" y="5951621"/>
            <a:ext cx="960999" cy="272716"/>
          </a:xfrm>
          <a:prstGeom prst="rect">
            <a:avLst/>
          </a:prstGeom>
        </p:spPr>
      </p:pic>
    </p:spTree>
    <p:extLst>
      <p:ext uri="{BB962C8B-B14F-4D97-AF65-F5344CB8AC3E}">
        <p14:creationId xmlns:p14="http://schemas.microsoft.com/office/powerpoint/2010/main" val="4209523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dissolve">
                                      <p:cBhvr>
                                        <p:cTn id="12" dur="500"/>
                                        <p:tgtEl>
                                          <p:spTgt spid="5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1"/>
                                        </p:tgtEl>
                                        <p:attrNameLst>
                                          <p:attrName>style.visibility</p:attrName>
                                        </p:attrNameLst>
                                      </p:cBhvr>
                                      <p:to>
                                        <p:strVal val="visible"/>
                                      </p:to>
                                    </p:set>
                                    <p:animEffect transition="in" filter="dissolve">
                                      <p:cBhvr>
                                        <p:cTn id="17" dur="500"/>
                                        <p:tgtEl>
                                          <p:spTgt spid="5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dissolve">
                                      <p:cBhvr>
                                        <p:cTn id="22" dur="500"/>
                                        <p:tgtEl>
                                          <p:spTgt spid="5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dissolve">
                                      <p:cBhvr>
                                        <p:cTn id="27" dur="500"/>
                                        <p:tgtEl>
                                          <p:spTgt spid="53"/>
                                        </p:tgtEl>
                                      </p:cBhvr>
                                    </p:animEffect>
                                  </p:childTnLst>
                                </p:cTn>
                              </p:par>
                            </p:childTnLst>
                          </p:cTn>
                        </p:par>
                        <p:par>
                          <p:cTn id="28" fill="hold">
                            <p:stCondLst>
                              <p:cond delay="500"/>
                            </p:stCondLst>
                            <p:childTnLst>
                              <p:par>
                                <p:cTn id="29" presetID="9" presetClass="entr" presetSubtype="0" fill="hold" nodeType="afterEffect">
                                  <p:stCondLst>
                                    <p:cond delay="0"/>
                                  </p:stCondLst>
                                  <p:childTnLst>
                                    <p:set>
                                      <p:cBhvr>
                                        <p:cTn id="30" dur="1" fill="hold">
                                          <p:stCondLst>
                                            <p:cond delay="0"/>
                                          </p:stCondLst>
                                        </p:cTn>
                                        <p:tgtEl>
                                          <p:spTgt spid="57"/>
                                        </p:tgtEl>
                                        <p:attrNameLst>
                                          <p:attrName>style.visibility</p:attrName>
                                        </p:attrNameLst>
                                      </p:cBhvr>
                                      <p:to>
                                        <p:strVal val="visible"/>
                                      </p:to>
                                    </p:set>
                                    <p:animEffect transition="in" filter="dissolve">
                                      <p:cBhvr>
                                        <p:cTn id="31" dur="500"/>
                                        <p:tgtEl>
                                          <p:spTgt spid="57"/>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58"/>
                                        </p:tgtEl>
                                        <p:attrNameLst>
                                          <p:attrName>style.visibility</p:attrName>
                                        </p:attrNameLst>
                                      </p:cBhvr>
                                      <p:to>
                                        <p:strVal val="visible"/>
                                      </p:to>
                                    </p:set>
                                    <p:animEffect transition="in" filter="dissolve">
                                      <p:cBhvr>
                                        <p:cTn id="36" dur="500"/>
                                        <p:tgtEl>
                                          <p:spTgt spid="58"/>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59"/>
                                        </p:tgtEl>
                                        <p:attrNameLst>
                                          <p:attrName>style.visibility</p:attrName>
                                        </p:attrNameLst>
                                      </p:cBhvr>
                                      <p:to>
                                        <p:strVal val="visible"/>
                                      </p:to>
                                    </p:set>
                                    <p:animEffect transition="in" filter="dissolve">
                                      <p:cBhvr>
                                        <p:cTn id="41" dur="500"/>
                                        <p:tgtEl>
                                          <p:spTgt spid="59"/>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60"/>
                                        </p:tgtEl>
                                        <p:attrNameLst>
                                          <p:attrName>style.visibility</p:attrName>
                                        </p:attrNameLst>
                                      </p:cBhvr>
                                      <p:to>
                                        <p:strVal val="visible"/>
                                      </p:to>
                                    </p:set>
                                    <p:animEffect transition="in" filter="dissolve">
                                      <p:cBhvr>
                                        <p:cTn id="46" dur="500"/>
                                        <p:tgtEl>
                                          <p:spTgt spid="60"/>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61"/>
                                        </p:tgtEl>
                                        <p:attrNameLst>
                                          <p:attrName>style.visibility</p:attrName>
                                        </p:attrNameLst>
                                      </p:cBhvr>
                                      <p:to>
                                        <p:strVal val="visible"/>
                                      </p:to>
                                    </p:set>
                                    <p:animEffect transition="in" filter="dissolve">
                                      <p:cBhvr>
                                        <p:cTn id="51" dur="500"/>
                                        <p:tgtEl>
                                          <p:spTgt spid="61"/>
                                        </p:tgtEl>
                                      </p:cBhvr>
                                    </p:animEffect>
                                  </p:childTnLst>
                                </p:cTn>
                              </p:par>
                            </p:childTnLst>
                          </p:cTn>
                        </p:par>
                        <p:par>
                          <p:cTn id="52" fill="hold">
                            <p:stCondLst>
                              <p:cond delay="500"/>
                            </p:stCondLst>
                            <p:childTnLst>
                              <p:par>
                                <p:cTn id="53" presetID="9" presetClass="entr" presetSubtype="0" fill="hold" grpId="0" nodeType="afterEffect">
                                  <p:stCondLst>
                                    <p:cond delay="0"/>
                                  </p:stCondLst>
                                  <p:childTnLst>
                                    <p:set>
                                      <p:cBhvr>
                                        <p:cTn id="54" dur="1" fill="hold">
                                          <p:stCondLst>
                                            <p:cond delay="0"/>
                                          </p:stCondLst>
                                        </p:cTn>
                                        <p:tgtEl>
                                          <p:spTgt spid="62"/>
                                        </p:tgtEl>
                                        <p:attrNameLst>
                                          <p:attrName>style.visibility</p:attrName>
                                        </p:attrNameLst>
                                      </p:cBhvr>
                                      <p:to>
                                        <p:strVal val="visible"/>
                                      </p:to>
                                    </p:set>
                                    <p:animEffect transition="in" filter="dissolve">
                                      <p:cBhvr>
                                        <p:cTn id="55" dur="500"/>
                                        <p:tgtEl>
                                          <p:spTgt spid="62"/>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63"/>
                                        </p:tgtEl>
                                        <p:attrNameLst>
                                          <p:attrName>style.visibility</p:attrName>
                                        </p:attrNameLst>
                                      </p:cBhvr>
                                      <p:to>
                                        <p:strVal val="visible"/>
                                      </p:to>
                                    </p:set>
                                    <p:animEffect transition="in" filter="dissolve">
                                      <p:cBhvr>
                                        <p:cTn id="60" dur="500"/>
                                        <p:tgtEl>
                                          <p:spTgt spid="63"/>
                                        </p:tgtEl>
                                      </p:cBhvr>
                                    </p:animEffect>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nodeType="clickEffect">
                                  <p:stCondLst>
                                    <p:cond delay="0"/>
                                  </p:stCondLst>
                                  <p:childTnLst>
                                    <p:set>
                                      <p:cBhvr>
                                        <p:cTn id="64" dur="1" fill="hold">
                                          <p:stCondLst>
                                            <p:cond delay="0"/>
                                          </p:stCondLst>
                                        </p:cTn>
                                        <p:tgtEl>
                                          <p:spTgt spid="9216"/>
                                        </p:tgtEl>
                                        <p:attrNameLst>
                                          <p:attrName>style.visibility</p:attrName>
                                        </p:attrNameLst>
                                      </p:cBhvr>
                                      <p:to>
                                        <p:strVal val="visible"/>
                                      </p:to>
                                    </p:set>
                                    <p:animEffect transition="in" filter="dissolve">
                                      <p:cBhvr>
                                        <p:cTn id="65" dur="500"/>
                                        <p:tgtEl>
                                          <p:spTgt spid="9216"/>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nodeType="clickEffect">
                                  <p:stCondLst>
                                    <p:cond delay="0"/>
                                  </p:stCondLst>
                                  <p:childTnLst>
                                    <p:set>
                                      <p:cBhvr>
                                        <p:cTn id="69" dur="1" fill="hold">
                                          <p:stCondLst>
                                            <p:cond delay="0"/>
                                          </p:stCondLst>
                                        </p:cTn>
                                        <p:tgtEl>
                                          <p:spTgt spid="9217"/>
                                        </p:tgtEl>
                                        <p:attrNameLst>
                                          <p:attrName>style.visibility</p:attrName>
                                        </p:attrNameLst>
                                      </p:cBhvr>
                                      <p:to>
                                        <p:strVal val="visible"/>
                                      </p:to>
                                    </p:set>
                                    <p:animEffect transition="in" filter="dissolve">
                                      <p:cBhvr>
                                        <p:cTn id="70" dur="500"/>
                                        <p:tgtEl>
                                          <p:spTgt spid="9217"/>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grpId="0" nodeType="clickEffect">
                                  <p:stCondLst>
                                    <p:cond delay="0"/>
                                  </p:stCondLst>
                                  <p:childTnLst>
                                    <p:set>
                                      <p:cBhvr>
                                        <p:cTn id="74" dur="1" fill="hold">
                                          <p:stCondLst>
                                            <p:cond delay="0"/>
                                          </p:stCondLst>
                                        </p:cTn>
                                        <p:tgtEl>
                                          <p:spTgt spid="9219"/>
                                        </p:tgtEl>
                                        <p:attrNameLst>
                                          <p:attrName>style.visibility</p:attrName>
                                        </p:attrNameLst>
                                      </p:cBhvr>
                                      <p:to>
                                        <p:strVal val="visible"/>
                                      </p:to>
                                    </p:set>
                                    <p:animEffect transition="in" filter="dissolve">
                                      <p:cBhvr>
                                        <p:cTn id="75" dur="500"/>
                                        <p:tgtEl>
                                          <p:spTgt spid="9219"/>
                                        </p:tgtEl>
                                      </p:cBhvr>
                                    </p:animEffect>
                                  </p:childTnLst>
                                </p:cTn>
                              </p:par>
                            </p:childTnLst>
                          </p:cTn>
                        </p:par>
                        <p:par>
                          <p:cTn id="76" fill="hold">
                            <p:stCondLst>
                              <p:cond delay="500"/>
                            </p:stCondLst>
                            <p:childTnLst>
                              <p:par>
                                <p:cTn id="77" presetID="9" presetClass="entr" presetSubtype="0" fill="hold" nodeType="afterEffect">
                                  <p:stCondLst>
                                    <p:cond delay="0"/>
                                  </p:stCondLst>
                                  <p:childTnLst>
                                    <p:set>
                                      <p:cBhvr>
                                        <p:cTn id="78" dur="1" fill="hold">
                                          <p:stCondLst>
                                            <p:cond delay="0"/>
                                          </p:stCondLst>
                                        </p:cTn>
                                        <p:tgtEl>
                                          <p:spTgt spid="9221"/>
                                        </p:tgtEl>
                                        <p:attrNameLst>
                                          <p:attrName>style.visibility</p:attrName>
                                        </p:attrNameLst>
                                      </p:cBhvr>
                                      <p:to>
                                        <p:strVal val="visible"/>
                                      </p:to>
                                    </p:set>
                                    <p:animEffect transition="in" filter="dissolve">
                                      <p:cBhvr>
                                        <p:cTn id="79" dur="500"/>
                                        <p:tgtEl>
                                          <p:spTgt spid="9221"/>
                                        </p:tgtEl>
                                      </p:cBhvr>
                                    </p:animEffect>
                                  </p:childTnLst>
                                </p:cTn>
                              </p:par>
                            </p:childTnLst>
                          </p:cTn>
                        </p:par>
                        <p:par>
                          <p:cTn id="80" fill="hold">
                            <p:stCondLst>
                              <p:cond delay="1000"/>
                            </p:stCondLst>
                            <p:childTnLst>
                              <p:par>
                                <p:cTn id="81" presetID="9" presetClass="entr" presetSubtype="0" fill="hold" grpId="0" nodeType="afterEffect">
                                  <p:stCondLst>
                                    <p:cond delay="0"/>
                                  </p:stCondLst>
                                  <p:childTnLst>
                                    <p:set>
                                      <p:cBhvr>
                                        <p:cTn id="82" dur="1" fill="hold">
                                          <p:stCondLst>
                                            <p:cond delay="0"/>
                                          </p:stCondLst>
                                        </p:cTn>
                                        <p:tgtEl>
                                          <p:spTgt spid="9222"/>
                                        </p:tgtEl>
                                        <p:attrNameLst>
                                          <p:attrName>style.visibility</p:attrName>
                                        </p:attrNameLst>
                                      </p:cBhvr>
                                      <p:to>
                                        <p:strVal val="visible"/>
                                      </p:to>
                                    </p:set>
                                    <p:animEffect transition="in" filter="dissolve">
                                      <p:cBhvr>
                                        <p:cTn id="83" dur="500"/>
                                        <p:tgtEl>
                                          <p:spTgt spid="9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2" grpId="0" animBg="1"/>
      <p:bldP spid="26" grpId="0"/>
      <p:bldP spid="53" grpId="0"/>
      <p:bldP spid="58" grpId="0"/>
      <p:bldP spid="62" grpId="0" animBg="1"/>
      <p:bldP spid="63" grpId="0"/>
      <p:bldP spid="921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7EB3E-D7C3-DA5B-D099-2427CC756A07}"/>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89749B89-6DD8-D2DD-4697-7F575857C943}"/>
              </a:ext>
            </a:extLst>
          </p:cNvPr>
          <p:cNvSpPr/>
          <p:nvPr/>
        </p:nvSpPr>
        <p:spPr>
          <a:xfrm>
            <a:off x="0" y="668888"/>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76DD3D-3365-6CED-4C4C-238F876ED240}"/>
              </a:ext>
            </a:extLst>
          </p:cNvPr>
          <p:cNvSpPr>
            <a:spLocks noGrp="1"/>
          </p:cNvSpPr>
          <p:nvPr>
            <p:ph type="title"/>
          </p:nvPr>
        </p:nvSpPr>
        <p:spPr>
          <a:xfrm>
            <a:off x="685805" y="123370"/>
            <a:ext cx="11506195" cy="849312"/>
          </a:xfrm>
        </p:spPr>
        <p:txBody>
          <a:bodyPr>
            <a:normAutofit fontScale="90000"/>
          </a:bodyPr>
          <a:lstStyle/>
          <a:p>
            <a:pPr/>
            <a:r>
              <a:rPr lang="en-US" b="1" dirty="0">
                <a:solidFill/>
                <a:ea typeface="Calibri" charset="0"/>
                <a:cs typeface="Calibri" charset="0"/>
              </a:rPr>
              <a:t>6.8 </a:t>
            </a:r>
            <a:r>
              <a:rPr lang="en-US" dirty="0">
                <a:solidFill/>
                <a:ea typeface="Calibri" charset="0"/>
                <a:cs typeface="Calibri" charset="0"/>
              </a:rPr>
              <a:t>Other Forms of Energy and the Conservation of Energy</a:t>
            </a:r>
            <a:endParaRPr lang="en-US" sz="3000" dirty="0"/>
          </a:p>
        </p:txBody>
      </p:sp>
      <p:sp>
        <p:nvSpPr>
          <p:cNvPr id="5" name="Content Placeholder 2">
            <a:extLst>
              <a:ext uri="{FF2B5EF4-FFF2-40B4-BE49-F238E27FC236}">
                <a16:creationId xmlns:a16="http://schemas.microsoft.com/office/drawing/2014/main" id="{B20E4B31-E300-52D2-B7FA-6795B1157334}"/>
              </a:ext>
            </a:extLst>
          </p:cNvPr>
          <p:cNvSpPr txBox="1">
            <a:spLocks/>
          </p:cNvSpPr>
          <p:nvPr/>
        </p:nvSpPr>
        <p:spPr>
          <a:xfrm>
            <a:off x="959715" y="749327"/>
            <a:ext cx="10820401" cy="542409"/>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6.8 </a:t>
            </a:r>
            <a:r>
              <a:rPr lang="en-US" dirty="0">
                <a:solidFill/>
              </a:rPr>
              <a:t>– Employ the law of conservation of energy.</a:t>
            </a:r>
          </a:p>
        </p:txBody>
      </p:sp>
      <p:sp>
        <p:nvSpPr>
          <p:cNvPr id="10" name="TextBox 9">
            <a:extLst>
              <a:ext uri="{FF2B5EF4-FFF2-40B4-BE49-F238E27FC236}">
                <a16:creationId xmlns:a16="http://schemas.microsoft.com/office/drawing/2014/main" id="{D0685E4D-D139-BEB6-360C-6819AAF1D63D}"/>
              </a:ext>
            </a:extLst>
          </p:cNvPr>
          <p:cNvSpPr txBox="1"/>
          <p:nvPr/>
        </p:nvSpPr>
        <p:spPr>
          <a:xfrm>
            <a:off x="320842" y="1205989"/>
            <a:ext cx="11678653" cy="1200329"/>
          </a:xfrm>
          <a:prstGeom prst="rect">
            <a:avLst/>
          </a:prstGeom>
          <a:noFill/>
        </p:spPr>
        <p:txBody>
          <a:bodyPr wrap="square" rtlCol="0">
            <a:spAutoFit/>
          </a:bodyPr>
          <a:lstStyle/>
          <a:p>
            <a:pPr/>
            <a:r>
              <a:rPr lang="en-US" sz="2400" dirty="0">
                <a:solidFill/>
                <a:latin typeface="Times" pitchFamily="2" charset="0"/>
              </a:rPr>
              <a:t>So far, we have studied </a:t>
            </a:r>
            <a:r>
              <a:rPr lang="en-US" sz="2400" dirty="0">
                <a:solidFill>
                  <a:srgbClr val="007440"/>
                </a:solidFill>
                <a:latin typeface="Times" pitchFamily="2" charset="0"/>
              </a:rPr>
              <a:t>kinetic energy </a:t>
            </a:r>
            <a:r>
              <a:rPr lang="en-US" sz="2400" dirty="0">
                <a:solidFill/>
                <a:latin typeface="Times" pitchFamily="2" charset="0"/>
              </a:rPr>
              <a:t>and </a:t>
            </a:r>
            <a:r>
              <a:rPr lang="en-US" sz="2400" dirty="0">
                <a:solidFill>
                  <a:srgbClr val="007440"/>
                </a:solidFill>
                <a:latin typeface="Times" pitchFamily="2" charset="0"/>
              </a:rPr>
              <a:t>gravitational potential energy</a:t>
            </a:r>
            <a:r>
              <a:rPr lang="en-US" sz="2400" dirty="0">
                <a:solidFill/>
                <a:latin typeface="Times" pitchFamily="2" charset="0"/>
              </a:rPr>
              <a:t>, but many other forms of energy exist.</a:t>
            </a:r>
          </a:p>
          <a:p>
            <a:pPr/>
            <a:endParaRPr lang="en-US" sz="2400" dirty="0">
              <a:latin typeface="Times" pitchFamily="2" charset="0"/>
            </a:endParaRPr>
          </a:p>
        </p:txBody>
      </p:sp>
      <p:sp>
        <p:nvSpPr>
          <p:cNvPr id="14" name="TextBox 13">
            <a:extLst>
              <a:ext uri="{FF2B5EF4-FFF2-40B4-BE49-F238E27FC236}">
                <a16:creationId xmlns:a16="http://schemas.microsoft.com/office/drawing/2014/main" id="{290231FE-89FA-5CF6-0C1F-EA5E32FADE48}"/>
              </a:ext>
            </a:extLst>
          </p:cNvPr>
          <p:cNvSpPr txBox="1"/>
          <p:nvPr/>
        </p:nvSpPr>
        <p:spPr>
          <a:xfrm>
            <a:off x="304801" y="2062824"/>
            <a:ext cx="11919284" cy="830997"/>
          </a:xfrm>
          <a:prstGeom prst="rect">
            <a:avLst/>
          </a:prstGeom>
          <a:noFill/>
        </p:spPr>
        <p:txBody>
          <a:bodyPr wrap="square" rtlCol="0">
            <a:spAutoFit/>
          </a:bodyPr>
          <a:lstStyle/>
          <a:p>
            <a:pPr/>
            <a:r>
              <a:rPr lang="en-US" sz="2400" dirty="0">
                <a:solidFill>
                  <a:srgbClr val="007440"/>
                </a:solidFill>
                <a:latin typeface="Times" pitchFamily="2" charset="0"/>
              </a:rPr>
              <a:t>Thermal (heat) energy, chemical energy, electrical energy </a:t>
            </a:r>
            <a:r>
              <a:rPr lang="en-US" sz="2400" dirty="0">
                <a:solidFill/>
                <a:latin typeface="Times" pitchFamily="2" charset="0"/>
              </a:rPr>
              <a:t>are other forms that we will study.</a:t>
            </a:r>
          </a:p>
          <a:p>
            <a:pPr/>
            <a:endParaRPr lang="en-US" sz="2400" dirty="0">
              <a:latin typeface="Times" pitchFamily="2" charset="0"/>
            </a:endParaRPr>
          </a:p>
        </p:txBody>
      </p:sp>
      <p:grpSp>
        <p:nvGrpSpPr>
          <p:cNvPr id="18" name="Group 17">
            <a:extLst>
              <a:ext uri="{FF2B5EF4-FFF2-40B4-BE49-F238E27FC236}">
                <a16:creationId xmlns:a16="http://schemas.microsoft.com/office/drawing/2014/main" id="{F9DEA069-7CFE-248F-E415-1F273CF02A52}"/>
              </a:ext>
            </a:extLst>
          </p:cNvPr>
          <p:cNvGrpSpPr/>
          <p:nvPr/>
        </p:nvGrpSpPr>
        <p:grpSpPr>
          <a:xfrm>
            <a:off x="449179" y="2518617"/>
            <a:ext cx="11774906" cy="1619201"/>
            <a:chOff x="577515" y="3529263"/>
            <a:chExt cx="11774906" cy="1619201"/>
          </a:xfrm>
        </p:grpSpPr>
        <p:sp>
          <p:nvSpPr>
            <p:cNvPr id="15" name="TextBox 14">
              <a:extLst>
                <a:ext uri="{FF2B5EF4-FFF2-40B4-BE49-F238E27FC236}">
                  <a16:creationId xmlns:a16="http://schemas.microsoft.com/office/drawing/2014/main" id="{F8305F28-D870-125C-253D-DC89278CAD1D}"/>
                </a:ext>
              </a:extLst>
            </p:cNvPr>
            <p:cNvSpPr txBox="1"/>
            <p:nvPr/>
          </p:nvSpPr>
          <p:spPr>
            <a:xfrm>
              <a:off x="577515" y="3578804"/>
              <a:ext cx="11774906" cy="1569660"/>
            </a:xfrm>
            <a:prstGeom prst="rect">
              <a:avLst/>
            </a:prstGeom>
            <a:noFill/>
          </p:spPr>
          <p:txBody>
            <a:bodyPr wrap="square" rtlCol="0">
              <a:spAutoFit/>
            </a:bodyPr>
            <a:lstStyle/>
            <a:p>
              <a:pPr/>
              <a:r>
                <a:rPr lang="en-US" sz="2400" dirty="0">
                  <a:solidFill>
                    <a:srgbClr val="007440"/>
                  </a:solidFill>
                  <a:latin typeface="Times" pitchFamily="2" charset="0"/>
                </a:rPr>
                <a:t>Mass</a:t>
              </a:r>
              <a:r>
                <a:rPr lang="en-US" sz="2400" dirty="0">
                  <a:solidFill/>
                  <a:latin typeface="Times" pitchFamily="2" charset="0"/>
                </a:rPr>
                <a:t> itself is also a form of energy, as described by Einstein’s famous equation,                . Here, </a:t>
              </a:r>
              <a:r>
                <a:rPr lang="en-US" sz="2400" i="1" dirty="0">
                  <a:solidFill/>
                  <a:latin typeface="Times" pitchFamily="2" charset="0"/>
                </a:rPr>
                <a:t>c</a:t>
              </a:r>
              <a:r>
                <a:rPr lang="en-US" sz="2400" dirty="0">
                  <a:solidFill/>
                  <a:latin typeface="Times" pitchFamily="2" charset="0"/>
                </a:rPr>
                <a:t> is the speed of light, and since it is such a large number (</a:t>
              </a:r>
              <a:r>
                <a:rPr lang="en-US" sz="2400" i="1" dirty="0">
                  <a:solidFill/>
                  <a:latin typeface="Times" pitchFamily="2" charset="0"/>
                </a:rPr>
                <a:t>c</a:t>
              </a:r>
              <a:r>
                <a:rPr lang="en-US" sz="2400" dirty="0">
                  <a:solidFill/>
                  <a:latin typeface="Times" pitchFamily="2" charset="0"/>
                </a:rPr>
                <a:t> = 3.00 × 10</a:t>
              </a:r>
              <a:r>
                <a:rPr lang="en-US" sz="2400" baseline="30000" dirty="0">
                  <a:solidFill/>
                  <a:latin typeface="Times" pitchFamily="2" charset="0"/>
                </a:rPr>
                <a:t>8</a:t>
              </a:r>
              <a:r>
                <a:rPr lang="en-US" sz="2400" dirty="0">
                  <a:solidFill/>
                  <a:latin typeface="Times" pitchFamily="2" charset="0"/>
                </a:rPr>
                <a:t> m/s), a small amount of mass is equivalent to a tremendous amount of energy.</a:t>
              </a:r>
            </a:p>
            <a:p>
              <a:pPr/>
              <a:endParaRPr lang="en-US" sz="2400" dirty="0">
                <a:latin typeface="Times" pitchFamily="2" charset="0"/>
              </a:endParaRPr>
            </a:p>
          </p:txBody>
        </p:sp>
        <p:sp>
          <p:nvSpPr>
            <p:cNvPr id="16" name="Rounded Rectangle 15">
              <a:extLst>
                <a:ext uri="{FF2B5EF4-FFF2-40B4-BE49-F238E27FC236}">
                  <a16:creationId xmlns:a16="http://schemas.microsoft.com/office/drawing/2014/main" id="{58F0180D-D532-97B1-C969-468ABABF729C}"/>
                </a:ext>
              </a:extLst>
            </p:cNvPr>
            <p:cNvSpPr/>
            <p:nvPr/>
          </p:nvSpPr>
          <p:spPr>
            <a:xfrm>
              <a:off x="10459454" y="3529263"/>
              <a:ext cx="1138989" cy="4812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TextBox 16">
            <a:extLst>
              <a:ext uri="{FF2B5EF4-FFF2-40B4-BE49-F238E27FC236}">
                <a16:creationId xmlns:a16="http://schemas.microsoft.com/office/drawing/2014/main" id="{A4D5775A-84EC-70E0-D94A-9F487984E45E}"/>
              </a:ext>
            </a:extLst>
          </p:cNvPr>
          <p:cNvSpPr txBox="1"/>
          <p:nvPr/>
        </p:nvSpPr>
        <p:spPr>
          <a:xfrm>
            <a:off x="10363201" y="2566742"/>
            <a:ext cx="1491916" cy="461665"/>
          </a:xfrm>
          <a:prstGeom prst="rect">
            <a:avLst/>
          </a:prstGeom>
          <a:noFill/>
        </p:spPr>
        <p:txBody>
          <a:bodyPr wrap="square" rtlCol="0">
            <a:spAutoFit/>
          </a:bodyPr>
          <a:lstStyle/>
          <a:p>
            <a:pPr/>
            <a:r>
              <a:rPr lang="en-US" sz="2400" i="1" dirty="0">
                <a:solidFill/>
                <a:latin typeface="Times" pitchFamily="2" charset="0"/>
              </a:rPr>
              <a:t>E</a:t>
            </a:r>
            <a:r>
              <a:rPr lang="en-US" sz="2400" dirty="0">
                <a:solidFill/>
                <a:latin typeface="Times" pitchFamily="2" charset="0"/>
              </a:rPr>
              <a:t> = </a:t>
            </a:r>
            <a:r>
              <a:rPr lang="en-US" sz="2400" i="1" dirty="0">
                <a:solidFill/>
                <a:latin typeface="Times" pitchFamily="2" charset="0"/>
              </a:rPr>
              <a:t>mc</a:t>
            </a:r>
            <a:r>
              <a:rPr lang="en-US" sz="2400" baseline="30000" dirty="0">
                <a:solidFill/>
                <a:latin typeface="Times" pitchFamily="2" charset="0"/>
              </a:rPr>
              <a:t>2</a:t>
            </a:r>
          </a:p>
        </p:txBody>
      </p:sp>
      <p:sp>
        <p:nvSpPr>
          <p:cNvPr id="20" name="TextBox 19">
            <a:extLst>
              <a:ext uri="{FF2B5EF4-FFF2-40B4-BE49-F238E27FC236}">
                <a16:creationId xmlns:a16="http://schemas.microsoft.com/office/drawing/2014/main" id="{B1D8C5B3-49D1-B887-C785-E71BB3C67E6C}"/>
              </a:ext>
            </a:extLst>
          </p:cNvPr>
          <p:cNvSpPr txBox="1"/>
          <p:nvPr/>
        </p:nvSpPr>
        <p:spPr>
          <a:xfrm>
            <a:off x="128337" y="3733345"/>
            <a:ext cx="11967411" cy="830997"/>
          </a:xfrm>
          <a:prstGeom prst="rect">
            <a:avLst/>
          </a:prstGeom>
          <a:noFill/>
        </p:spPr>
        <p:txBody>
          <a:bodyPr wrap="square">
            <a:spAutoFit/>
          </a:bodyPr>
          <a:lstStyle/>
          <a:p>
            <a:pPr algn="just"/>
            <a:r>
              <a:rPr lang="en-US" sz="2400" dirty="0">
                <a:solidFill/>
                <a:latin typeface="Times" pitchFamily="2" charset="0"/>
              </a:rPr>
              <a:t>We have shown that </a:t>
            </a:r>
            <a:r>
              <a:rPr lang="en-US" sz="2400" dirty="0">
                <a:solidFill>
                  <a:srgbClr val="007440"/>
                </a:solidFill>
                <a:latin typeface="Times" pitchFamily="2" charset="0"/>
              </a:rPr>
              <a:t>kinetic energy </a:t>
            </a:r>
            <a:r>
              <a:rPr lang="en-US" sz="2400" dirty="0">
                <a:solidFill/>
                <a:latin typeface="Times" pitchFamily="2" charset="0"/>
              </a:rPr>
              <a:t>can be converted into </a:t>
            </a:r>
            <a:r>
              <a:rPr lang="en-US" sz="2400" dirty="0">
                <a:solidFill>
                  <a:srgbClr val="007440"/>
                </a:solidFill>
                <a:latin typeface="Times" pitchFamily="2" charset="0"/>
              </a:rPr>
              <a:t>gravitational potential energy </a:t>
            </a:r>
            <a:r>
              <a:rPr lang="en-US" sz="2400" dirty="0">
                <a:solidFill/>
                <a:latin typeface="Times" pitchFamily="2" charset="0"/>
              </a:rPr>
              <a:t>and vice versa. </a:t>
            </a:r>
            <a:r>
              <a:rPr lang="en-US" sz="2400" b="1" dirty="0">
                <a:solidFill/>
                <a:latin typeface="Times" pitchFamily="2" charset="0"/>
              </a:rPr>
              <a:t>However, in general, energy of all types can be converted from one form to another.</a:t>
            </a:r>
          </a:p>
        </p:txBody>
      </p:sp>
      <p:sp>
        <p:nvSpPr>
          <p:cNvPr id="23" name="TextBox 22">
            <a:extLst>
              <a:ext uri="{FF2B5EF4-FFF2-40B4-BE49-F238E27FC236}">
                <a16:creationId xmlns:a16="http://schemas.microsoft.com/office/drawing/2014/main" id="{A60BD1CB-2331-1A15-04CD-BAED17F0AD68}"/>
              </a:ext>
            </a:extLst>
          </p:cNvPr>
          <p:cNvSpPr txBox="1"/>
          <p:nvPr/>
        </p:nvSpPr>
        <p:spPr>
          <a:xfrm>
            <a:off x="176465" y="4611381"/>
            <a:ext cx="11919283" cy="830997"/>
          </a:xfrm>
          <a:prstGeom prst="rect">
            <a:avLst/>
          </a:prstGeom>
          <a:noFill/>
        </p:spPr>
        <p:txBody>
          <a:bodyPr wrap="square">
            <a:spAutoFit/>
          </a:bodyPr>
          <a:lstStyle/>
          <a:p>
            <a:pPr algn="just"/>
            <a:r>
              <a:rPr lang="en-US" sz="2400" dirty="0">
                <a:solidFill/>
                <a:latin typeface="Times" pitchFamily="2" charset="0"/>
              </a:rPr>
              <a:t>*Whenever energy is transformed from one form to another, it is found that no energy is gained or lost in the process. This observation leads to the following important principle:</a:t>
            </a:r>
          </a:p>
        </p:txBody>
      </p:sp>
      <p:sp>
        <p:nvSpPr>
          <p:cNvPr id="25" name="TextBox 24">
            <a:extLst>
              <a:ext uri="{FF2B5EF4-FFF2-40B4-BE49-F238E27FC236}">
                <a16:creationId xmlns:a16="http://schemas.microsoft.com/office/drawing/2014/main" id="{166E534C-D573-FA9B-44A0-3DD225D64615}"/>
              </a:ext>
            </a:extLst>
          </p:cNvPr>
          <p:cNvSpPr txBox="1"/>
          <p:nvPr/>
        </p:nvSpPr>
        <p:spPr>
          <a:xfrm>
            <a:off x="128338" y="5562144"/>
            <a:ext cx="12609094" cy="830997"/>
          </a:xfrm>
          <a:prstGeom prst="rect">
            <a:avLst/>
          </a:prstGeom>
          <a:noFill/>
        </p:spPr>
        <p:txBody>
          <a:bodyPr wrap="square">
            <a:spAutoFit/>
          </a:bodyPr>
          <a:lstStyle/>
          <a:p>
            <a:pPr/>
            <a:r>
              <a:rPr lang="en-US" sz="2400" dirty="0">
                <a:solidFill>
                  <a:srgbClr val="C00000"/>
                </a:solidFill>
                <a:latin typeface="Times" pitchFamily="2" charset="0"/>
              </a:rPr>
              <a:t>THE PRINCIPLE OF CONSERVATION OF ENERGY</a:t>
            </a:r>
          </a:p>
          <a:p>
            <a:pPr/>
            <a:r>
              <a:rPr lang="en-US" sz="2400" dirty="0">
                <a:solidFill/>
                <a:latin typeface="Times" pitchFamily="2" charset="0"/>
              </a:rPr>
              <a:t>Energy can neither be created nor destroyed, but can only be converted from one form to another.</a:t>
            </a:r>
          </a:p>
        </p:txBody>
      </p:sp>
      <p:sp>
        <p:nvSpPr>
          <p:cNvPr id="26" name="Rectangle 25">
            <a:extLst>
              <a:ext uri="{FF2B5EF4-FFF2-40B4-BE49-F238E27FC236}">
                <a16:creationId xmlns:a16="http://schemas.microsoft.com/office/drawing/2014/main" id="{911E304F-DFF7-3654-E42C-D750DDB16E0B}"/>
              </a:ext>
            </a:extLst>
          </p:cNvPr>
          <p:cNvSpPr/>
          <p:nvPr/>
        </p:nvSpPr>
        <p:spPr>
          <a:xfrm>
            <a:off x="176463" y="5534526"/>
            <a:ext cx="11935326" cy="850232"/>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2126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dissolv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dissolv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dissolve">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dissolve">
                                      <p:cBhvr>
                                        <p:cTn id="32" dur="500"/>
                                        <p:tgtEl>
                                          <p:spTgt spid="25"/>
                                        </p:tgtEl>
                                      </p:cBhvr>
                                    </p:animEffect>
                                  </p:childTnLst>
                                </p:cTn>
                              </p:par>
                            </p:childTnLst>
                          </p:cTn>
                        </p:par>
                        <p:par>
                          <p:cTn id="33" fill="hold">
                            <p:stCondLst>
                              <p:cond delay="500"/>
                            </p:stCondLst>
                            <p:childTnLst>
                              <p:par>
                                <p:cTn id="34" presetID="9" presetClass="entr" presetSubtype="0" fill="hold" grpId="0" nodeType="after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dissolve">
                                      <p:cBhvr>
                                        <p:cTn id="3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20" grpId="0"/>
      <p:bldP spid="23" grpId="0"/>
      <p:bldP spid="25" grpId="0"/>
      <p:bldP spid="2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F82C1-44D2-46AC-10D5-D487EE8D93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8CC23-6019-D4C3-6F17-B4F5B2A414D2}"/>
              </a:ext>
            </a:extLst>
          </p:cNvPr>
          <p:cNvSpPr>
            <a:spLocks noGrp="1"/>
          </p:cNvSpPr>
          <p:nvPr>
            <p:ph type="title"/>
          </p:nvPr>
        </p:nvSpPr>
        <p:spPr>
          <a:xfrm>
            <a:off x="685805" y="123370"/>
            <a:ext cx="11506195" cy="849312"/>
          </a:xfrm>
        </p:spPr>
        <p:txBody>
          <a:bodyPr>
            <a:normAutofit fontScale="90000"/>
          </a:bodyPr>
          <a:lstStyle/>
          <a:p>
            <a:pPr/>
            <a:r>
              <a:rPr lang="en-US" b="1" dirty="0">
                <a:solidFill/>
                <a:ea typeface="Calibri" charset="0"/>
                <a:cs typeface="Calibri" charset="0"/>
              </a:rPr>
              <a:t>6.8 </a:t>
            </a:r>
            <a:r>
              <a:rPr lang="en-US" dirty="0">
                <a:solidFill/>
                <a:ea typeface="Calibri" charset="0"/>
                <a:cs typeface="Calibri" charset="0"/>
              </a:rPr>
              <a:t>Other Forms of Energy and the Conservation of Energy</a:t>
            </a:r>
            <a:endParaRPr lang="en-US" sz="3000" dirty="0"/>
          </a:p>
        </p:txBody>
      </p:sp>
      <p:sp>
        <p:nvSpPr>
          <p:cNvPr id="4" name="TextBox 3">
            <a:extLst>
              <a:ext uri="{FF2B5EF4-FFF2-40B4-BE49-F238E27FC236}">
                <a16:creationId xmlns:a16="http://schemas.microsoft.com/office/drawing/2014/main" id="{8620C4AB-94EE-F38B-6989-17DD1FDDE172}"/>
              </a:ext>
            </a:extLst>
          </p:cNvPr>
          <p:cNvSpPr txBox="1"/>
          <p:nvPr/>
        </p:nvSpPr>
        <p:spPr>
          <a:xfrm>
            <a:off x="850232" y="1104036"/>
            <a:ext cx="10892589" cy="1938992"/>
          </a:xfrm>
          <a:prstGeom prst="rect">
            <a:avLst/>
          </a:prstGeom>
          <a:noFill/>
        </p:spPr>
        <p:txBody>
          <a:bodyPr wrap="square">
            <a:spAutoFit/>
          </a:bodyPr>
          <a:lstStyle/>
          <a:p>
            <a:pPr algn="just"/>
            <a:r>
              <a:rPr lang="en-US" sz="2400" dirty="0">
                <a:solidFill/>
                <a:latin typeface="Times" pitchFamily="2" charset="0"/>
              </a:rPr>
              <a:t>Part of the chemical energy stored in food, for example, is transformed into gravitational potential energy when a hiker climbs a mountain. Suppose a 65-kg hiker eats a 250-Calorie snack (a typical candy bar, for example), which contains 1.0 × 10</a:t>
            </a:r>
            <a:r>
              <a:rPr lang="en-US" sz="2400" baseline="30000" dirty="0">
                <a:solidFill/>
                <a:latin typeface="Times" pitchFamily="2" charset="0"/>
              </a:rPr>
              <a:t>6</a:t>
            </a:r>
            <a:r>
              <a:rPr lang="en-US" sz="2400" dirty="0">
                <a:solidFill/>
                <a:latin typeface="Times" pitchFamily="2" charset="0"/>
              </a:rPr>
              <a:t> J of chemical energy. If this were 100% converted into potential energy </a:t>
            </a:r>
            <a:r>
              <a:rPr lang="en-US" sz="2400" i="1" dirty="0">
                <a:solidFill/>
                <a:latin typeface="Times" pitchFamily="2" charset="0"/>
              </a:rPr>
              <a:t>mg</a:t>
            </a:r>
            <a:r>
              <a:rPr lang="en-US" sz="2400" dirty="0">
                <a:solidFill/>
                <a:latin typeface="Times" pitchFamily="2" charset="0"/>
              </a:rPr>
              <a:t>(</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 – </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 what would be the change in the hiker’s height?</a:t>
            </a:r>
          </a:p>
        </p:txBody>
      </p:sp>
      <p:sp>
        <p:nvSpPr>
          <p:cNvPr id="6" name="TextBox 5">
            <a:extLst>
              <a:ext uri="{FF2B5EF4-FFF2-40B4-BE49-F238E27FC236}">
                <a16:creationId xmlns:a16="http://schemas.microsoft.com/office/drawing/2014/main" id="{6AE508D9-6C05-AC5E-0F8A-CE18CC239BE8}"/>
              </a:ext>
            </a:extLst>
          </p:cNvPr>
          <p:cNvSpPr txBox="1"/>
          <p:nvPr/>
        </p:nvSpPr>
        <p:spPr>
          <a:xfrm>
            <a:off x="852768" y="634740"/>
            <a:ext cx="11611948" cy="523220"/>
          </a:xfrm>
          <a:prstGeom prst="rect">
            <a:avLst/>
          </a:prstGeom>
          <a:noFill/>
        </p:spPr>
        <p:txBody>
          <a:bodyPr wrap="square">
            <a:spAutoFit/>
          </a:bodyPr>
          <a:lstStyle/>
          <a:p>
            <a:pPr algn="just"/>
            <a:r>
              <a:rPr lang="en-US" sz="2800" dirty="0">
                <a:solidFill>
                  <a:srgbClr val="C00000"/>
                </a:solidFill>
                <a:latin typeface="Times" pitchFamily="2" charset="0"/>
              </a:rPr>
              <a:t>Example – Transforming Chemical Energy In Food Into Mechanical Energy</a:t>
            </a:r>
          </a:p>
        </p:txBody>
      </p:sp>
      <p:sp>
        <p:nvSpPr>
          <p:cNvPr id="7" name="Rounded Rectangle 6">
            <a:extLst>
              <a:ext uri="{FF2B5EF4-FFF2-40B4-BE49-F238E27FC236}">
                <a16:creationId xmlns:a16="http://schemas.microsoft.com/office/drawing/2014/main" id="{8E324CE9-CAF2-BD06-7A21-07E54F58EAC8}"/>
              </a:ext>
            </a:extLst>
          </p:cNvPr>
          <p:cNvSpPr/>
          <p:nvPr/>
        </p:nvSpPr>
        <p:spPr>
          <a:xfrm>
            <a:off x="2310063" y="3048003"/>
            <a:ext cx="7636042" cy="57751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56B49FF-FD43-C400-1F54-918239236DB1}"/>
              </a:ext>
            </a:extLst>
          </p:cNvPr>
          <p:cNvSpPr txBox="1"/>
          <p:nvPr/>
        </p:nvSpPr>
        <p:spPr>
          <a:xfrm>
            <a:off x="2326106" y="3144256"/>
            <a:ext cx="7812505"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Chemical Energy = Gravitational Potential Energy</a:t>
            </a:r>
          </a:p>
        </p:txBody>
      </p:sp>
      <p:sp>
        <p:nvSpPr>
          <p:cNvPr id="9" name="Rounded Rectangle 8">
            <a:extLst>
              <a:ext uri="{FF2B5EF4-FFF2-40B4-BE49-F238E27FC236}">
                <a16:creationId xmlns:a16="http://schemas.microsoft.com/office/drawing/2014/main" id="{8BEAC0B4-4B06-E05C-9AAB-6758C31B9C47}"/>
              </a:ext>
            </a:extLst>
          </p:cNvPr>
          <p:cNvSpPr/>
          <p:nvPr/>
        </p:nvSpPr>
        <p:spPr>
          <a:xfrm>
            <a:off x="753979" y="3818022"/>
            <a:ext cx="11197389" cy="112294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73AF191-5053-06EE-F9F9-2E890FDC1E1D}"/>
              </a:ext>
            </a:extLst>
          </p:cNvPr>
          <p:cNvSpPr txBox="1"/>
          <p:nvPr/>
        </p:nvSpPr>
        <p:spPr>
          <a:xfrm>
            <a:off x="741948" y="4170766"/>
            <a:ext cx="3701715" cy="461665"/>
          </a:xfrm>
          <a:prstGeom prst="rect">
            <a:avLst/>
          </a:prstGeom>
          <a:noFill/>
        </p:spPr>
        <p:txBody>
          <a:bodyPr wrap="square">
            <a:spAutoFit/>
          </a:bodyPr>
          <a:lstStyle/>
          <a:p>
            <a:pPr/>
            <a:r>
              <a:rPr lang="en-US" sz="2400" dirty="0">
                <a:solidFill/>
                <a:latin typeface="Times" pitchFamily="2" charset="0"/>
              </a:rPr>
              <a:t>1.0 × 10</a:t>
            </a:r>
            <a:r>
              <a:rPr lang="en-US" sz="2400" baseline="30000" dirty="0">
                <a:solidFill/>
                <a:latin typeface="Times" pitchFamily="2" charset="0"/>
              </a:rPr>
              <a:t>6</a:t>
            </a:r>
            <a:r>
              <a:rPr lang="en-US" sz="2400" dirty="0">
                <a:solidFill/>
                <a:latin typeface="Times" pitchFamily="2" charset="0"/>
              </a:rPr>
              <a:t> J = </a:t>
            </a:r>
            <a:r>
              <a:rPr lang="en-US" sz="2400" i="1" dirty="0">
                <a:solidFill/>
                <a:latin typeface="Times" pitchFamily="2" charset="0"/>
              </a:rPr>
              <a:t>mg</a:t>
            </a:r>
            <a:r>
              <a:rPr lang="en-US" sz="2400" dirty="0">
                <a:solidFill/>
                <a:latin typeface="Times" pitchFamily="2" charset="0"/>
              </a:rPr>
              <a:t>(</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 – </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a:t>
            </a:r>
            <a:endParaRPr lang="en-US" sz="2400" dirty="0"/>
          </a:p>
        </p:txBody>
      </p:sp>
      <p:pic>
        <p:nvPicPr>
          <p:cNvPr id="13" name="Picture 12">
            <a:extLst>
              <a:ext uri="{FF2B5EF4-FFF2-40B4-BE49-F238E27FC236}">
                <a16:creationId xmlns:a16="http://schemas.microsoft.com/office/drawing/2014/main" id="{B8E1F3CB-1228-AC58-3B02-009307ABBDB4}"/>
              </a:ext>
            </a:extLst>
          </p:cNvPr>
          <p:cNvPicPr>
            <a:picLocks noChangeAspect="1"/>
          </p:cNvPicPr>
          <p:nvPr/>
        </p:nvPicPr>
        <p:blipFill>
          <a:blip r:embed="rId3"/>
          <a:stretch>
            <a:fillRect/>
          </a:stretch>
        </p:blipFill>
        <p:spPr>
          <a:xfrm>
            <a:off x="3974432" y="4034038"/>
            <a:ext cx="3212432" cy="743110"/>
          </a:xfrm>
          <a:prstGeom prst="rect">
            <a:avLst/>
          </a:prstGeom>
        </p:spPr>
      </p:pic>
      <p:pic>
        <p:nvPicPr>
          <p:cNvPr id="19" name="Picture 18">
            <a:extLst>
              <a:ext uri="{FF2B5EF4-FFF2-40B4-BE49-F238E27FC236}">
                <a16:creationId xmlns:a16="http://schemas.microsoft.com/office/drawing/2014/main" id="{AE91322B-817F-10C0-13D5-8C0363EC28CA}"/>
              </a:ext>
            </a:extLst>
          </p:cNvPr>
          <p:cNvPicPr>
            <a:picLocks noChangeAspect="1"/>
          </p:cNvPicPr>
          <p:nvPr/>
        </p:nvPicPr>
        <p:blipFill>
          <a:blip r:embed="rId4"/>
          <a:stretch>
            <a:fillRect/>
          </a:stretch>
        </p:blipFill>
        <p:spPr>
          <a:xfrm>
            <a:off x="7315898" y="4042611"/>
            <a:ext cx="2547729" cy="771023"/>
          </a:xfrm>
          <a:prstGeom prst="rect">
            <a:avLst/>
          </a:prstGeom>
        </p:spPr>
      </p:pic>
      <p:pic>
        <p:nvPicPr>
          <p:cNvPr id="21" name="Picture 20">
            <a:extLst>
              <a:ext uri="{FF2B5EF4-FFF2-40B4-BE49-F238E27FC236}">
                <a16:creationId xmlns:a16="http://schemas.microsoft.com/office/drawing/2014/main" id="{82834926-A681-5EC2-14BA-23D61628D675}"/>
              </a:ext>
            </a:extLst>
          </p:cNvPr>
          <p:cNvPicPr>
            <a:picLocks noChangeAspect="1"/>
          </p:cNvPicPr>
          <p:nvPr/>
        </p:nvPicPr>
        <p:blipFill>
          <a:blip r:embed="rId5"/>
          <a:stretch>
            <a:fillRect/>
          </a:stretch>
        </p:blipFill>
        <p:spPr>
          <a:xfrm>
            <a:off x="10058400" y="4254615"/>
            <a:ext cx="1342858" cy="234835"/>
          </a:xfrm>
          <a:prstGeom prst="rect">
            <a:avLst/>
          </a:prstGeom>
        </p:spPr>
      </p:pic>
      <p:sp>
        <p:nvSpPr>
          <p:cNvPr id="22" name="Rectangle 21">
            <a:extLst>
              <a:ext uri="{FF2B5EF4-FFF2-40B4-BE49-F238E27FC236}">
                <a16:creationId xmlns:a16="http://schemas.microsoft.com/office/drawing/2014/main" id="{20094B64-2261-8AC2-F79F-2E98153D0B76}"/>
              </a:ext>
            </a:extLst>
          </p:cNvPr>
          <p:cNvSpPr/>
          <p:nvPr/>
        </p:nvSpPr>
        <p:spPr>
          <a:xfrm>
            <a:off x="10331116" y="4138864"/>
            <a:ext cx="1187116" cy="46522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E5335EDC-4458-F211-BD9E-D97E706B8927}"/>
              </a:ext>
            </a:extLst>
          </p:cNvPr>
          <p:cNvSpPr txBox="1"/>
          <p:nvPr/>
        </p:nvSpPr>
        <p:spPr>
          <a:xfrm>
            <a:off x="617622" y="5411341"/>
            <a:ext cx="11349789" cy="707886"/>
          </a:xfrm>
          <a:prstGeom prst="rect">
            <a:avLst/>
          </a:prstGeom>
          <a:noFill/>
        </p:spPr>
        <p:txBody>
          <a:bodyPr wrap="square">
            <a:spAutoFit/>
          </a:bodyPr>
          <a:lstStyle/>
          <a:p>
            <a:pPr algn="just"/>
            <a:r>
              <a:rPr lang="en-US" sz="2000" dirty="0">
                <a:solidFill/>
                <a:latin typeface="Times" pitchFamily="2" charset="0"/>
              </a:rPr>
              <a:t>*Although actual metabolic efficiency (converting chemical energy into mechanical work) is around 25-30% (with the rest released as heat), there is a tremendous amount of stored energy in food.</a:t>
            </a:r>
          </a:p>
        </p:txBody>
      </p:sp>
    </p:spTree>
    <p:extLst>
      <p:ext uri="{BB962C8B-B14F-4D97-AF65-F5344CB8AC3E}">
        <p14:creationId xmlns:p14="http://schemas.microsoft.com/office/powerpoint/2010/main" val="3963088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dissolve">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dissolv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dissolv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dissolve">
                                      <p:cBhvr>
                                        <p:cTn id="26" dur="5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dissolve">
                                      <p:cBhvr>
                                        <p:cTn id="31" dur="500"/>
                                        <p:tgtEl>
                                          <p:spTgt spid="21"/>
                                        </p:tgtEl>
                                      </p:cBhvr>
                                    </p:animEffect>
                                  </p:childTnLst>
                                </p:cTn>
                              </p:par>
                            </p:childTnLst>
                          </p:cTn>
                        </p:par>
                        <p:par>
                          <p:cTn id="32" fill="hold">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dissolve">
                                      <p:cBhvr>
                                        <p:cTn id="35" dur="500"/>
                                        <p:tgtEl>
                                          <p:spTgt spid="22"/>
                                        </p:tgtEl>
                                      </p:cBhvr>
                                    </p:animEffect>
                                  </p:childTnLst>
                                </p:cTn>
                              </p:par>
                            </p:childTnLst>
                          </p:cTn>
                        </p:par>
                        <p:par>
                          <p:cTn id="36" fill="hold">
                            <p:stCondLst>
                              <p:cond delay="1000"/>
                            </p:stCondLst>
                            <p:childTnLst>
                              <p:par>
                                <p:cTn id="37" presetID="9" presetClass="entr" presetSubtype="0" fill="hold" grpId="0"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dissolve">
                                      <p:cBhvr>
                                        <p:cTn id="3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2" grpId="0"/>
      <p:bldP spid="22" grpId="0" animBg="1"/>
      <p:bldP spid="2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1D866-19AF-C4F1-4115-A1CA9649E25F}"/>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F8F0791-686A-5D96-6BE0-A280DB146F7F}"/>
              </a:ext>
            </a:extLst>
          </p:cNvPr>
          <p:cNvPicPr>
            <a:picLocks noChangeAspect="1"/>
          </p:cNvPicPr>
          <p:nvPr/>
        </p:nvPicPr>
        <p:blipFill>
          <a:blip r:embed="rId3"/>
          <a:srcRect l="55779" b="5842"/>
          <a:stretch/>
        </p:blipFill>
        <p:spPr>
          <a:xfrm>
            <a:off x="8021051" y="1389986"/>
            <a:ext cx="3753854" cy="4283182"/>
          </a:xfrm>
          <a:prstGeom prst="rect">
            <a:avLst/>
          </a:prstGeom>
        </p:spPr>
      </p:pic>
      <p:sp>
        <p:nvSpPr>
          <p:cNvPr id="49" name="Rectangle 48">
            <a:extLst>
              <a:ext uri="{FF2B5EF4-FFF2-40B4-BE49-F238E27FC236}">
                <a16:creationId xmlns:a16="http://schemas.microsoft.com/office/drawing/2014/main" id="{47BAFB51-AF64-7E0B-7012-FDB0AC1E3690}"/>
              </a:ext>
            </a:extLst>
          </p:cNvPr>
          <p:cNvSpPr/>
          <p:nvPr/>
        </p:nvSpPr>
        <p:spPr>
          <a:xfrm>
            <a:off x="0" y="797224"/>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AFA013-5FBA-C58A-6025-EC64DFE1526C}"/>
              </a:ext>
            </a:extLst>
          </p:cNvPr>
          <p:cNvSpPr>
            <a:spLocks noGrp="1"/>
          </p:cNvSpPr>
          <p:nvPr>
            <p:ph type="title"/>
          </p:nvPr>
        </p:nvSpPr>
        <p:spPr>
          <a:xfrm>
            <a:off x="685805" y="123370"/>
            <a:ext cx="11506195" cy="849312"/>
          </a:xfrm>
        </p:spPr>
        <p:txBody>
          <a:bodyPr>
            <a:normAutofit/>
          </a:bodyPr>
          <a:lstStyle/>
          <a:p>
            <a:pPr/>
            <a:r>
              <a:rPr lang="en-US" b="1" dirty="0">
                <a:solidFill/>
                <a:ea typeface="Calibri" charset="0"/>
                <a:cs typeface="Calibri" charset="0"/>
              </a:rPr>
              <a:t>6.9 </a:t>
            </a:r>
            <a:r>
              <a:rPr lang="en-US" dirty="0">
                <a:solidFill/>
                <a:ea typeface="Calibri" charset="0"/>
                <a:cs typeface="Calibri" charset="0"/>
              </a:rPr>
              <a:t>Work Done by a Variable Force</a:t>
            </a:r>
            <a:endParaRPr lang="en-US" sz="3000" dirty="0"/>
          </a:p>
        </p:txBody>
      </p:sp>
      <p:sp>
        <p:nvSpPr>
          <p:cNvPr id="5" name="Content Placeholder 2">
            <a:extLst>
              <a:ext uri="{FF2B5EF4-FFF2-40B4-BE49-F238E27FC236}">
                <a16:creationId xmlns:a16="http://schemas.microsoft.com/office/drawing/2014/main" id="{EBF2F3B3-DCBD-A007-30A0-789075A3015F}"/>
              </a:ext>
            </a:extLst>
          </p:cNvPr>
          <p:cNvSpPr txBox="1">
            <a:spLocks/>
          </p:cNvSpPr>
          <p:nvPr/>
        </p:nvSpPr>
        <p:spPr>
          <a:xfrm>
            <a:off x="959715" y="877663"/>
            <a:ext cx="10820401" cy="542409"/>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6.9 </a:t>
            </a:r>
            <a:r>
              <a:rPr lang="en-US" dirty="0">
                <a:solidFill/>
              </a:rPr>
              <a:t>– Determine the work done by a variable force.</a:t>
            </a:r>
          </a:p>
        </p:txBody>
      </p:sp>
      <p:sp>
        <p:nvSpPr>
          <p:cNvPr id="3" name="TextBox 2">
            <a:extLst>
              <a:ext uri="{FF2B5EF4-FFF2-40B4-BE49-F238E27FC236}">
                <a16:creationId xmlns:a16="http://schemas.microsoft.com/office/drawing/2014/main" id="{CD20B87D-99B9-C7B7-50E7-D6A3091E6848}"/>
              </a:ext>
            </a:extLst>
          </p:cNvPr>
          <p:cNvSpPr txBox="1"/>
          <p:nvPr/>
        </p:nvSpPr>
        <p:spPr>
          <a:xfrm>
            <a:off x="0" y="1540043"/>
            <a:ext cx="10924674" cy="461665"/>
          </a:xfrm>
          <a:prstGeom prst="rect">
            <a:avLst/>
          </a:prstGeom>
          <a:noFill/>
        </p:spPr>
        <p:txBody>
          <a:bodyPr wrap="square" rtlCol="0">
            <a:spAutoFit/>
          </a:bodyPr>
          <a:lstStyle/>
          <a:p>
            <a:pPr/>
            <a:r>
              <a:rPr lang="en-US" sz="2400" dirty="0">
                <a:solidFill/>
                <a:latin typeface="Times" pitchFamily="2" charset="0"/>
              </a:rPr>
              <a:t>Equation 6.1 gives us the work done by a constant force:  </a:t>
            </a:r>
          </a:p>
        </p:txBody>
      </p:sp>
      <p:sp>
        <p:nvSpPr>
          <p:cNvPr id="4" name="TextBox 3">
            <a:extLst>
              <a:ext uri="{FF2B5EF4-FFF2-40B4-BE49-F238E27FC236}">
                <a16:creationId xmlns:a16="http://schemas.microsoft.com/office/drawing/2014/main" id="{EF08D691-FD48-C4D9-55AC-922A40456045}"/>
              </a:ext>
            </a:extLst>
          </p:cNvPr>
          <p:cNvSpPr txBox="1"/>
          <p:nvPr/>
        </p:nvSpPr>
        <p:spPr>
          <a:xfrm>
            <a:off x="7050854" y="1563757"/>
            <a:ext cx="2438399" cy="461665"/>
          </a:xfrm>
          <a:prstGeom prst="rect">
            <a:avLst/>
          </a:prstGeom>
          <a:noFill/>
        </p:spPr>
        <p:txBody>
          <a:bodyPr wrap="square" rtlCol="0">
            <a:spAutoFit/>
          </a:bodyPr>
          <a:lstStyle/>
          <a:p>
            <a:pPr/>
            <a:r>
              <a:rPr lang="en-US" sz="2400" i="1" dirty="0">
                <a:solidFill/>
                <a:latin typeface="Times" pitchFamily="2" charset="0"/>
              </a:rPr>
              <a:t>W</a:t>
            </a:r>
            <a:r>
              <a:rPr lang="en-US" sz="2400" dirty="0">
                <a:solidFill/>
                <a:latin typeface="Times" pitchFamily="2" charset="0"/>
              </a:rPr>
              <a:t> = (</a:t>
            </a:r>
            <a:r>
              <a:rPr lang="en-US" sz="2400" i="1" dirty="0" err="1">
                <a:solidFill/>
                <a:latin typeface="Times" pitchFamily="2" charset="0"/>
              </a:rPr>
              <a:t>F</a:t>
            </a:r>
            <a:r>
              <a:rPr lang="en-US" sz="2400" dirty="0" err="1">
                <a:solidFill/>
                <a:latin typeface="Times" pitchFamily="2" charset="0"/>
              </a:rPr>
              <a:t>cos</a:t>
            </a:r>
            <a:r>
              <a:rPr lang="en-US" sz="2400" i="1" dirty="0" err="1">
                <a:solidFill/>
                <a:latin typeface="Symbol" pitchFamily="2" charset="2"/>
              </a:rPr>
              <a:t>q</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a:t>
            </a:r>
          </a:p>
        </p:txBody>
      </p:sp>
      <p:sp>
        <p:nvSpPr>
          <p:cNvPr id="6" name="TextBox 5">
            <a:extLst>
              <a:ext uri="{FF2B5EF4-FFF2-40B4-BE49-F238E27FC236}">
                <a16:creationId xmlns:a16="http://schemas.microsoft.com/office/drawing/2014/main" id="{A10758AD-A809-A332-7256-1952E02A5B18}"/>
              </a:ext>
            </a:extLst>
          </p:cNvPr>
          <p:cNvSpPr txBox="1"/>
          <p:nvPr/>
        </p:nvSpPr>
        <p:spPr>
          <a:xfrm>
            <a:off x="0" y="2125580"/>
            <a:ext cx="8518358" cy="830997"/>
          </a:xfrm>
          <a:prstGeom prst="rect">
            <a:avLst/>
          </a:prstGeom>
          <a:noFill/>
        </p:spPr>
        <p:txBody>
          <a:bodyPr wrap="square" rtlCol="0">
            <a:spAutoFit/>
          </a:bodyPr>
          <a:lstStyle/>
          <a:p>
            <a:pPr/>
            <a:r>
              <a:rPr lang="en-US" sz="2400" dirty="0">
                <a:solidFill/>
                <a:latin typeface="Times" pitchFamily="2" charset="0"/>
              </a:rPr>
              <a:t>But what if the force is not constant, but rather it varies with displacement?</a:t>
            </a:r>
          </a:p>
        </p:txBody>
      </p:sp>
      <p:sp>
        <p:nvSpPr>
          <p:cNvPr id="7" name="TextBox 6">
            <a:extLst>
              <a:ext uri="{FF2B5EF4-FFF2-40B4-BE49-F238E27FC236}">
                <a16:creationId xmlns:a16="http://schemas.microsoft.com/office/drawing/2014/main" id="{1514CB13-24CC-3E3A-8BF2-EE5684A14E9E}"/>
              </a:ext>
            </a:extLst>
          </p:cNvPr>
          <p:cNvSpPr txBox="1"/>
          <p:nvPr/>
        </p:nvSpPr>
        <p:spPr>
          <a:xfrm>
            <a:off x="1941095" y="2502569"/>
            <a:ext cx="5470358" cy="461665"/>
          </a:xfrm>
          <a:prstGeom prst="rect">
            <a:avLst/>
          </a:prstGeom>
          <a:noFill/>
        </p:spPr>
        <p:txBody>
          <a:bodyPr wrap="square" rtlCol="0">
            <a:spAutoFit/>
          </a:bodyPr>
          <a:lstStyle/>
          <a:p>
            <a:pPr/>
            <a:r>
              <a:rPr lang="en-US" sz="2400" dirty="0">
                <a:solidFill/>
                <a:latin typeface="Times" pitchFamily="2" charset="0"/>
              </a:rPr>
              <a:t>Consider a compound bow as an example:</a:t>
            </a:r>
          </a:p>
        </p:txBody>
      </p:sp>
      <p:pic>
        <p:nvPicPr>
          <p:cNvPr id="11" name="Picture 10">
            <a:extLst>
              <a:ext uri="{FF2B5EF4-FFF2-40B4-BE49-F238E27FC236}">
                <a16:creationId xmlns:a16="http://schemas.microsoft.com/office/drawing/2014/main" id="{79AC2837-876A-561E-1825-5A58B7BC9832}"/>
              </a:ext>
            </a:extLst>
          </p:cNvPr>
          <p:cNvPicPr>
            <a:picLocks noChangeAspect="1"/>
          </p:cNvPicPr>
          <p:nvPr/>
        </p:nvPicPr>
        <p:blipFill>
          <a:blip r:embed="rId3"/>
          <a:srcRect l="8441" r="55653" b="31409"/>
          <a:stretch/>
        </p:blipFill>
        <p:spPr>
          <a:xfrm>
            <a:off x="160420" y="2967789"/>
            <a:ext cx="1880550" cy="1925053"/>
          </a:xfrm>
          <a:prstGeom prst="rect">
            <a:avLst/>
          </a:prstGeom>
        </p:spPr>
      </p:pic>
      <p:sp>
        <p:nvSpPr>
          <p:cNvPr id="12" name="TextBox 11">
            <a:extLst>
              <a:ext uri="{FF2B5EF4-FFF2-40B4-BE49-F238E27FC236}">
                <a16:creationId xmlns:a16="http://schemas.microsoft.com/office/drawing/2014/main" id="{48AE1C27-6B6C-3931-D615-92561BEACBC4}"/>
              </a:ext>
            </a:extLst>
          </p:cNvPr>
          <p:cNvSpPr txBox="1"/>
          <p:nvPr/>
        </p:nvSpPr>
        <p:spPr>
          <a:xfrm>
            <a:off x="2315360" y="3318447"/>
            <a:ext cx="5470358" cy="830997"/>
          </a:xfrm>
          <a:prstGeom prst="rect">
            <a:avLst/>
          </a:prstGeom>
          <a:noFill/>
        </p:spPr>
        <p:txBody>
          <a:bodyPr wrap="square" rtlCol="0">
            <a:spAutoFit/>
          </a:bodyPr>
          <a:lstStyle/>
          <a:p>
            <a:pPr algn="just"/>
            <a:r>
              <a:rPr lang="en-US" sz="2400" dirty="0">
                <a:solidFill/>
                <a:latin typeface="Times" pitchFamily="2" charset="0"/>
              </a:rPr>
              <a:t>The graph shows how the force to draw the string back varies with displacement.</a:t>
            </a:r>
          </a:p>
        </p:txBody>
      </p:sp>
      <p:grpSp>
        <p:nvGrpSpPr>
          <p:cNvPr id="22" name="Group 21">
            <a:extLst>
              <a:ext uri="{FF2B5EF4-FFF2-40B4-BE49-F238E27FC236}">
                <a16:creationId xmlns:a16="http://schemas.microsoft.com/office/drawing/2014/main" id="{0CF77B24-0D85-25D0-DF5C-60F924CF047D}"/>
              </a:ext>
            </a:extLst>
          </p:cNvPr>
          <p:cNvGrpSpPr/>
          <p:nvPr/>
        </p:nvGrpSpPr>
        <p:grpSpPr>
          <a:xfrm>
            <a:off x="2269201" y="4435493"/>
            <a:ext cx="5470358" cy="465220"/>
            <a:chOff x="2165684" y="3866149"/>
            <a:chExt cx="5470358" cy="465220"/>
          </a:xfrm>
        </p:grpSpPr>
        <p:sp>
          <p:nvSpPr>
            <p:cNvPr id="13" name="TextBox 12">
              <a:extLst>
                <a:ext uri="{FF2B5EF4-FFF2-40B4-BE49-F238E27FC236}">
                  <a16:creationId xmlns:a16="http://schemas.microsoft.com/office/drawing/2014/main" id="{7CBBF08D-2EB9-EA4A-9235-3DD2F5F3EA11}"/>
                </a:ext>
              </a:extLst>
            </p:cNvPr>
            <p:cNvSpPr txBox="1"/>
            <p:nvPr/>
          </p:nvSpPr>
          <p:spPr>
            <a:xfrm>
              <a:off x="2165684" y="3866149"/>
              <a:ext cx="5470358" cy="461665"/>
            </a:xfrm>
            <a:prstGeom prst="rect">
              <a:avLst/>
            </a:prstGeom>
            <a:noFill/>
          </p:spPr>
          <p:txBody>
            <a:bodyPr wrap="square" rtlCol="0">
              <a:spAutoFit/>
            </a:bodyPr>
            <a:lstStyle/>
            <a:p>
              <a:pPr algn="just"/>
              <a:r>
                <a:rPr lang="en-US" sz="2400" dirty="0">
                  <a:solidFill/>
                  <a:latin typeface="Times" pitchFamily="2" charset="0"/>
                </a:rPr>
                <a:t>Here, we can use a</a:t>
              </a:r>
            </a:p>
          </p:txBody>
        </p:sp>
        <p:sp>
          <p:nvSpPr>
            <p:cNvPr id="19" name="Rounded Rectangle 18">
              <a:extLst>
                <a:ext uri="{FF2B5EF4-FFF2-40B4-BE49-F238E27FC236}">
                  <a16:creationId xmlns:a16="http://schemas.microsoft.com/office/drawing/2014/main" id="{97FB2DE3-ED06-E935-9E04-5B04FF4D62BC}"/>
                </a:ext>
              </a:extLst>
            </p:cNvPr>
            <p:cNvSpPr/>
            <p:nvPr/>
          </p:nvSpPr>
          <p:spPr>
            <a:xfrm>
              <a:off x="4588042" y="3882190"/>
              <a:ext cx="2847807" cy="4491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1" name="TextBox 20">
            <a:extLst>
              <a:ext uri="{FF2B5EF4-FFF2-40B4-BE49-F238E27FC236}">
                <a16:creationId xmlns:a16="http://schemas.microsoft.com/office/drawing/2014/main" id="{A43D8AA0-EC20-0B44-5E2D-C323A9094113}"/>
              </a:ext>
            </a:extLst>
          </p:cNvPr>
          <p:cNvSpPr txBox="1"/>
          <p:nvPr/>
        </p:nvSpPr>
        <p:spPr>
          <a:xfrm>
            <a:off x="4747708" y="4459556"/>
            <a:ext cx="2911641" cy="400110"/>
          </a:xfrm>
          <a:prstGeom prst="rect">
            <a:avLst/>
          </a:prstGeom>
          <a:noFill/>
        </p:spPr>
        <p:txBody>
          <a:bodyPr wrap="square" rtlCol="0">
            <a:spAutoFit/>
          </a:bodyPr>
          <a:lstStyle/>
          <a:p>
            <a:pPr algn="just"/>
            <a:r>
              <a:rPr lang="en-US" sz="2000" dirty="0">
                <a:solidFill>
                  <a:srgbClr val="007440"/>
                </a:solidFill>
                <a:latin typeface="Chalkduster" panose="03050602040202020205" pitchFamily="66" charset="77"/>
              </a:rPr>
              <a:t>graphical method,</a:t>
            </a:r>
          </a:p>
        </p:txBody>
      </p:sp>
      <p:sp>
        <p:nvSpPr>
          <p:cNvPr id="24" name="TextBox 23">
            <a:extLst>
              <a:ext uri="{FF2B5EF4-FFF2-40B4-BE49-F238E27FC236}">
                <a16:creationId xmlns:a16="http://schemas.microsoft.com/office/drawing/2014/main" id="{48CC28A3-FB6D-6105-D66F-197CEF464044}"/>
              </a:ext>
            </a:extLst>
          </p:cNvPr>
          <p:cNvSpPr txBox="1"/>
          <p:nvPr/>
        </p:nvSpPr>
        <p:spPr>
          <a:xfrm>
            <a:off x="2285243" y="4932798"/>
            <a:ext cx="5470358" cy="1200329"/>
          </a:xfrm>
          <a:prstGeom prst="rect">
            <a:avLst/>
          </a:prstGeom>
          <a:noFill/>
        </p:spPr>
        <p:txBody>
          <a:bodyPr wrap="square" rtlCol="0">
            <a:spAutoFit/>
          </a:bodyPr>
          <a:lstStyle/>
          <a:p>
            <a:pPr algn="just"/>
            <a:r>
              <a:rPr lang="en-US" sz="2400" dirty="0">
                <a:solidFill/>
                <a:latin typeface="Times" pitchFamily="2" charset="0"/>
              </a:rPr>
              <a:t>where we divide the displacement into small segments and calculate the work using the </a:t>
            </a:r>
            <a:r>
              <a:rPr lang="en-US" sz="2400" i="1" dirty="0">
                <a:solidFill/>
                <a:latin typeface="Times" pitchFamily="2" charset="0"/>
              </a:rPr>
              <a:t>average force </a:t>
            </a:r>
            <a:r>
              <a:rPr lang="en-US" sz="2400" dirty="0">
                <a:solidFill/>
                <a:latin typeface="Times" pitchFamily="2" charset="0"/>
              </a:rPr>
              <a:t>for</a:t>
            </a:r>
            <a:r>
              <a:rPr lang="en-US" sz="2400" i="1" dirty="0">
                <a:solidFill/>
                <a:latin typeface="Times" pitchFamily="2" charset="0"/>
              </a:rPr>
              <a:t> </a:t>
            </a:r>
            <a:r>
              <a:rPr lang="en-US" sz="2400" dirty="0">
                <a:solidFill/>
                <a:latin typeface="Times" pitchFamily="2" charset="0"/>
              </a:rPr>
              <a:t>that segment.</a:t>
            </a:r>
          </a:p>
        </p:txBody>
      </p:sp>
    </p:spTree>
    <p:extLst>
      <p:ext uri="{BB962C8B-B14F-4D97-AF65-F5344CB8AC3E}">
        <p14:creationId xmlns:p14="http://schemas.microsoft.com/office/powerpoint/2010/main" val="1774921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dissolv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dissolve">
                                      <p:cBhvr>
                                        <p:cTn id="21" dur="500"/>
                                        <p:tgtEl>
                                          <p:spTgt spid="7"/>
                                        </p:tgtEl>
                                      </p:cBhvr>
                                    </p:animEffect>
                                  </p:childTnLst>
                                </p:cTn>
                              </p:par>
                            </p:childTnLst>
                          </p:cTn>
                        </p:par>
                        <p:par>
                          <p:cTn id="22" fill="hold">
                            <p:stCondLst>
                              <p:cond delay="500"/>
                            </p:stCondLst>
                            <p:childTnLst>
                              <p:par>
                                <p:cTn id="23" presetID="9" presetClass="entr" presetSubtype="0" fill="hold"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dissolve">
                                      <p:cBhvr>
                                        <p:cTn id="25" dur="500"/>
                                        <p:tgtEl>
                                          <p:spTgt spid="9"/>
                                        </p:tgtEl>
                                      </p:cBhvr>
                                    </p:animEffect>
                                  </p:childTnLst>
                                </p:cTn>
                              </p:par>
                            </p:childTnLst>
                          </p:cTn>
                        </p:par>
                        <p:par>
                          <p:cTn id="26" fill="hold">
                            <p:stCondLst>
                              <p:cond delay="1000"/>
                            </p:stCondLst>
                            <p:childTnLst>
                              <p:par>
                                <p:cTn id="27" presetID="9" presetClass="entr" presetSubtype="0"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dissolve">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dissolve">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dissolve">
                                      <p:cBhvr>
                                        <p:cTn id="39" dur="500"/>
                                        <p:tgtEl>
                                          <p:spTgt spid="22"/>
                                        </p:tgtEl>
                                      </p:cBhvr>
                                    </p:animEffect>
                                  </p:childTnLst>
                                </p:cTn>
                              </p:par>
                              <p:par>
                                <p:cTn id="40" presetID="9" presetClass="entr" presetSubtype="0" fill="hold" grpId="1"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dissolve">
                                      <p:cBhvr>
                                        <p:cTn id="42" dur="50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dissolve">
                                      <p:cBhvr>
                                        <p:cTn id="4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p:bldP spid="12" grpId="0"/>
      <p:bldP spid="21" grpId="0"/>
      <p:bldP spid="24" grpId="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D9677-DEAB-0214-B742-7C285A717E9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793FCC04-6DF6-34A5-958F-11BBA54782FA}"/>
              </a:ext>
            </a:extLst>
          </p:cNvPr>
          <p:cNvPicPr>
            <a:picLocks noChangeAspect="1"/>
          </p:cNvPicPr>
          <p:nvPr/>
        </p:nvPicPr>
        <p:blipFill>
          <a:blip r:embed="rId3"/>
          <a:srcRect l="55779" b="5842"/>
          <a:stretch/>
        </p:blipFill>
        <p:spPr>
          <a:xfrm>
            <a:off x="153761" y="0"/>
            <a:ext cx="3753854" cy="4283182"/>
          </a:xfrm>
          <a:prstGeom prst="rect">
            <a:avLst/>
          </a:prstGeom>
        </p:spPr>
      </p:pic>
      <p:sp>
        <p:nvSpPr>
          <p:cNvPr id="2" name="Title 1">
            <a:extLst>
              <a:ext uri="{FF2B5EF4-FFF2-40B4-BE49-F238E27FC236}">
                <a16:creationId xmlns:a16="http://schemas.microsoft.com/office/drawing/2014/main" id="{246045A5-F5CD-CCA7-5F41-BB1BE8723ACF}"/>
              </a:ext>
            </a:extLst>
          </p:cNvPr>
          <p:cNvSpPr>
            <a:spLocks noGrp="1"/>
          </p:cNvSpPr>
          <p:nvPr>
            <p:ph type="title"/>
          </p:nvPr>
        </p:nvSpPr>
        <p:spPr>
          <a:xfrm>
            <a:off x="4567693" y="0"/>
            <a:ext cx="8354678" cy="849312"/>
          </a:xfrm>
        </p:spPr>
        <p:txBody>
          <a:bodyPr>
            <a:normAutofit/>
          </a:bodyPr>
          <a:lstStyle/>
          <a:p>
            <a:pPr/>
            <a:r>
              <a:rPr lang="en-US" b="1" dirty="0">
                <a:solidFill/>
                <a:ea typeface="Calibri" charset="0"/>
                <a:cs typeface="Calibri" charset="0"/>
              </a:rPr>
              <a:t>6.9 </a:t>
            </a:r>
            <a:r>
              <a:rPr lang="en-US" dirty="0">
                <a:solidFill/>
                <a:ea typeface="Calibri" charset="0"/>
                <a:cs typeface="Calibri" charset="0"/>
              </a:rPr>
              <a:t>Work Done by a Variable Force</a:t>
            </a:r>
            <a:endParaRPr lang="en-US" sz="3000" dirty="0"/>
          </a:p>
        </p:txBody>
      </p:sp>
      <p:pic>
        <p:nvPicPr>
          <p:cNvPr id="10" name="Picture 9">
            <a:extLst>
              <a:ext uri="{FF2B5EF4-FFF2-40B4-BE49-F238E27FC236}">
                <a16:creationId xmlns:a16="http://schemas.microsoft.com/office/drawing/2014/main" id="{EDD7799C-0F2A-136F-9753-5DD8B8574A12}"/>
              </a:ext>
            </a:extLst>
          </p:cNvPr>
          <p:cNvPicPr>
            <a:picLocks noChangeAspect="1"/>
          </p:cNvPicPr>
          <p:nvPr/>
        </p:nvPicPr>
        <p:blipFill>
          <a:blip r:embed="rId4"/>
          <a:stretch>
            <a:fillRect/>
          </a:stretch>
        </p:blipFill>
        <p:spPr>
          <a:xfrm>
            <a:off x="4062203" y="696340"/>
            <a:ext cx="7759700" cy="2946400"/>
          </a:xfrm>
          <a:prstGeom prst="rect">
            <a:avLst/>
          </a:prstGeom>
        </p:spPr>
      </p:pic>
      <p:sp>
        <p:nvSpPr>
          <p:cNvPr id="14" name="TextBox 13">
            <a:extLst>
              <a:ext uri="{FF2B5EF4-FFF2-40B4-BE49-F238E27FC236}">
                <a16:creationId xmlns:a16="http://schemas.microsoft.com/office/drawing/2014/main" id="{66E0A97D-E205-2AD3-BB36-71A9178283D7}"/>
              </a:ext>
            </a:extLst>
          </p:cNvPr>
          <p:cNvSpPr txBox="1"/>
          <p:nvPr/>
        </p:nvSpPr>
        <p:spPr>
          <a:xfrm>
            <a:off x="4807069" y="3699118"/>
            <a:ext cx="7384931" cy="461665"/>
          </a:xfrm>
          <a:prstGeom prst="rect">
            <a:avLst/>
          </a:prstGeom>
          <a:noFill/>
        </p:spPr>
        <p:txBody>
          <a:bodyPr wrap="square" rtlCol="0">
            <a:spAutoFit/>
          </a:bodyPr>
          <a:lstStyle/>
          <a:p>
            <a:pPr algn="just"/>
            <a:r>
              <a:rPr lang="en-US" sz="2400" dirty="0">
                <a:solidFill/>
                <a:latin typeface="Times" pitchFamily="2" charset="0"/>
              </a:rPr>
              <a:t>The total work done is just the sum of these segments:</a:t>
            </a:r>
          </a:p>
        </p:txBody>
      </p:sp>
      <p:pic>
        <p:nvPicPr>
          <p:cNvPr id="15" name="Picture 14">
            <a:extLst>
              <a:ext uri="{FF2B5EF4-FFF2-40B4-BE49-F238E27FC236}">
                <a16:creationId xmlns:a16="http://schemas.microsoft.com/office/drawing/2014/main" id="{5FA9E3A1-DEB5-D7C9-978F-26A2F335DE1F}"/>
              </a:ext>
            </a:extLst>
          </p:cNvPr>
          <p:cNvPicPr>
            <a:picLocks noChangeAspect="1"/>
          </p:cNvPicPr>
          <p:nvPr/>
        </p:nvPicPr>
        <p:blipFill>
          <a:blip r:embed="rId5"/>
          <a:srcRect l="55218" t="69408" r="26138" b="27047"/>
          <a:stretch/>
        </p:blipFill>
        <p:spPr>
          <a:xfrm>
            <a:off x="6021237" y="4083494"/>
            <a:ext cx="5025455" cy="537485"/>
          </a:xfrm>
          <a:prstGeom prst="rect">
            <a:avLst/>
          </a:prstGeom>
        </p:spPr>
      </p:pic>
      <p:sp>
        <p:nvSpPr>
          <p:cNvPr id="18" name="TextBox 17">
            <a:extLst>
              <a:ext uri="{FF2B5EF4-FFF2-40B4-BE49-F238E27FC236}">
                <a16:creationId xmlns:a16="http://schemas.microsoft.com/office/drawing/2014/main" id="{D52F7122-E8C9-8474-87A5-6EA55DD4E88D}"/>
              </a:ext>
            </a:extLst>
          </p:cNvPr>
          <p:cNvSpPr txBox="1"/>
          <p:nvPr/>
        </p:nvSpPr>
        <p:spPr>
          <a:xfrm>
            <a:off x="120770" y="4662401"/>
            <a:ext cx="11938958" cy="830997"/>
          </a:xfrm>
          <a:prstGeom prst="rect">
            <a:avLst/>
          </a:prstGeom>
          <a:noFill/>
        </p:spPr>
        <p:txBody>
          <a:bodyPr wrap="square" rtlCol="0">
            <a:spAutoFit/>
          </a:bodyPr>
          <a:lstStyle/>
          <a:p>
            <a:pPr algn="just"/>
            <a:r>
              <a:rPr lang="en-US" sz="2400" dirty="0">
                <a:solidFill/>
                <a:latin typeface="Times" pitchFamily="2" charset="0"/>
              </a:rPr>
              <a:t>The sum of these areas is approximately equal to the total area under the force curve (right figure above).</a:t>
            </a:r>
          </a:p>
        </p:txBody>
      </p:sp>
      <p:sp>
        <p:nvSpPr>
          <p:cNvPr id="23" name="TextBox 22">
            <a:extLst>
              <a:ext uri="{FF2B5EF4-FFF2-40B4-BE49-F238E27FC236}">
                <a16:creationId xmlns:a16="http://schemas.microsoft.com/office/drawing/2014/main" id="{1C910FF0-BC3F-6729-F39D-5BAEB8076CE7}"/>
              </a:ext>
            </a:extLst>
          </p:cNvPr>
          <p:cNvSpPr txBox="1"/>
          <p:nvPr/>
        </p:nvSpPr>
        <p:spPr>
          <a:xfrm>
            <a:off x="2484408" y="5197264"/>
            <a:ext cx="9420045" cy="1200329"/>
          </a:xfrm>
          <a:prstGeom prst="rect">
            <a:avLst/>
          </a:prstGeom>
          <a:noFill/>
        </p:spPr>
        <p:txBody>
          <a:bodyPr wrap="square">
            <a:spAutoFit/>
          </a:bodyPr>
          <a:lstStyle/>
          <a:p>
            <a:pPr/>
            <a:r>
              <a:rPr lang="en-US" sz="2400" dirty="0">
                <a:solidFill>
                  <a:srgbClr val="C0694F"/>
                </a:solidFill>
                <a:latin typeface="Times" pitchFamily="2" charset="0"/>
              </a:rPr>
              <a:t>Problem-Solving Insight</a:t>
            </a:r>
          </a:p>
          <a:p>
            <a:pPr/>
            <a:r>
              <a:rPr lang="en-US" sz="2400" dirty="0">
                <a:solidFill/>
                <a:latin typeface="Times" pitchFamily="2" charset="0"/>
              </a:rPr>
              <a:t>The work done by a variable force in moving an object is equal to the area under the graph of </a:t>
            </a:r>
            <a:r>
              <a:rPr lang="en-US" sz="2400" i="1" dirty="0" err="1">
                <a:solidFill/>
                <a:latin typeface="Times" pitchFamily="2" charset="0"/>
              </a:rPr>
              <a:t>F</a:t>
            </a:r>
            <a:r>
              <a:rPr lang="en-US" sz="2400" dirty="0" err="1">
                <a:solidFill/>
                <a:latin typeface="Times" pitchFamily="2" charset="0"/>
              </a:rPr>
              <a:t>cos</a:t>
            </a:r>
            <a:r>
              <a:rPr lang="en-US" sz="2400" dirty="0">
                <a:solidFill/>
                <a:latin typeface="Times" pitchFamily="2" charset="0"/>
              </a:rPr>
              <a:t>𝛳 versus </a:t>
            </a:r>
            <a:r>
              <a:rPr lang="en-US" sz="2400" i="1" dirty="0">
                <a:solidFill/>
                <a:latin typeface="Times" pitchFamily="2" charset="0"/>
              </a:rPr>
              <a:t>s</a:t>
            </a:r>
            <a:r>
              <a:rPr lang="en-US" sz="2400" dirty="0">
                <a:solidFill/>
                <a:latin typeface="Times" pitchFamily="2" charset="0"/>
              </a:rPr>
              <a:t> .</a:t>
            </a:r>
          </a:p>
        </p:txBody>
      </p:sp>
      <p:sp>
        <p:nvSpPr>
          <p:cNvPr id="25" name="Rectangle 24">
            <a:extLst>
              <a:ext uri="{FF2B5EF4-FFF2-40B4-BE49-F238E27FC236}">
                <a16:creationId xmlns:a16="http://schemas.microsoft.com/office/drawing/2014/main" id="{7A06A76B-9934-798A-3055-7E9329B7B0B5}"/>
              </a:ext>
            </a:extLst>
          </p:cNvPr>
          <p:cNvSpPr/>
          <p:nvPr/>
        </p:nvSpPr>
        <p:spPr>
          <a:xfrm>
            <a:off x="2432649" y="5210355"/>
            <a:ext cx="9333781" cy="1190445"/>
          </a:xfrm>
          <a:prstGeom prst="rect">
            <a:avLst/>
          </a:prstGeom>
          <a:noFill/>
          <a:ln w="38100">
            <a:solidFill>
              <a:srgbClr val="C069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2053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dissolve">
                                      <p:cBhvr>
                                        <p:cTn id="11" dur="500"/>
                                        <p:tgtEl>
                                          <p:spTgt spid="15"/>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dissolve">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dissolve">
                                      <p:cBhvr>
                                        <p:cTn id="21" dur="500"/>
                                        <p:tgtEl>
                                          <p:spTgt spid="23"/>
                                        </p:tgtEl>
                                      </p:cBhvr>
                                    </p:animEffec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dissolve">
                                      <p:cBhvr>
                                        <p:cTn id="2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P spid="23" grpId="0"/>
      <p:bldP spid="25" grpId="0" animBg="1"/>
    </p:bldLst>
  </p:timing>
</p:sld>
</file>

<file path=ppt/theme/theme1.xml><?xml version="1.0" encoding="utf-8"?>
<a:theme xmlns:a="http://schemas.openxmlformats.org/drawingml/2006/main" name="Wiley Green">
  <a:themeElements>
    <a:clrScheme name="Wiley Green 2">
      <a:dk1>
        <a:srgbClr val="231F20"/>
      </a:dk1>
      <a:lt1>
        <a:srgbClr val="FFFFFF"/>
      </a:lt1>
      <a:dk2>
        <a:srgbClr val="194951"/>
      </a:dk2>
      <a:lt2>
        <a:srgbClr val="EFEFF0"/>
      </a:lt2>
      <a:accent1>
        <a:srgbClr val="A6C0B7"/>
      </a:accent1>
      <a:accent2>
        <a:srgbClr val="36D77E"/>
      </a:accent2>
      <a:accent3>
        <a:srgbClr val="007942"/>
      </a:accent3>
      <a:accent4>
        <a:srgbClr val="194951"/>
      </a:accent4>
      <a:accent5>
        <a:srgbClr val="A6C0B7"/>
      </a:accent5>
      <a:accent6>
        <a:srgbClr val="194951"/>
      </a:accent6>
      <a:hlink>
        <a:srgbClr val="36D77E"/>
      </a:hlink>
      <a:folHlink>
        <a:srgbClr val="194951"/>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iley Green" id="{CB77757E-E413-4E45-832E-56086DCB3229}" vid="{54F1114B-D960-CD41-93B0-DE80B1735C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F487DD02714334AA284610353C6D0A5" ma:contentTypeVersion="7" ma:contentTypeDescription="Create a new document." ma:contentTypeScope="" ma:versionID="afd8265e81daf7a6b239848e27b4a5d5">
  <xsd:schema xmlns:xsd="http://www.w3.org/2001/XMLSchema" xmlns:xs="http://www.w3.org/2001/XMLSchema" xmlns:p="http://schemas.microsoft.com/office/2006/metadata/properties" xmlns:ns2="d1ee5d69-9466-47e8-8dc9-197116f7f5be" targetNamespace="http://schemas.microsoft.com/office/2006/metadata/properties" ma:root="true" ma:fieldsID="a40e57e1c6ab732498fca28ffdcf1584" ns2:_="">
    <xsd:import namespace="d1ee5d69-9466-47e8-8dc9-197116f7f5b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ee5d69-9466-47e8-8dc9-197116f7f5b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496FC2-84ED-4B9D-8E46-0692C845CBC2}">
  <ds:schemaRefs>
    <ds:schemaRef ds:uri="http://schemas.microsoft.com/sharepoint/v3/contenttype/forms"/>
  </ds:schemaRefs>
</ds:datastoreItem>
</file>

<file path=customXml/itemProps2.xml><?xml version="1.0" encoding="utf-8"?>
<ds:datastoreItem xmlns:ds="http://schemas.openxmlformats.org/officeDocument/2006/customXml" ds:itemID="{A093DEE6-2103-438A-87F6-751168FD4D87}">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4039E535-4F22-46E0-ADF4-BB8EDC79693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ee5d69-9466-47e8-8dc9-197116f7f5b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Wiley Green</Template>
  <TotalTime>74827</TotalTime>
  <Words>6209</Words>
  <Application>Microsoft Office PowerPoint</Application>
  <PresentationFormat>Widescreen</PresentationFormat>
  <Paragraphs>565</Paragraphs>
  <Slides>50</Slides>
  <Notes>50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Arial</vt:lpstr>
      <vt:lpstr>Calibri</vt:lpstr>
      <vt:lpstr>Chalkduster</vt:lpstr>
      <vt:lpstr>Symbol</vt:lpstr>
      <vt:lpstr>Times</vt:lpstr>
      <vt:lpstr>Times New Roman</vt:lpstr>
      <vt:lpstr>Wiley Green</vt:lpstr>
      <vt:lpstr>Cutnell &amp; Johnson  Physics</vt:lpstr>
      <vt:lpstr>6.1 Work Done by a Constant Force</vt:lpstr>
      <vt:lpstr>6.1 Work Done by a Constant Force</vt:lpstr>
      <vt:lpstr>6.1 Work Done by a Constant Force</vt:lpstr>
      <vt:lpstr>6.1 Work Done by a Constant Force</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6.3 Gravitation Potential Energy</vt:lpstr>
      <vt:lpstr>6.3 Gravitation Potential Energy</vt:lpstr>
      <vt:lpstr>6.3 Gravitation Potential Energy</vt:lpstr>
      <vt:lpstr>6.3 Gravitation Potential Energy</vt:lpstr>
      <vt:lpstr>6.3 Gravitation Potential Energy</vt:lpstr>
      <vt:lpstr>6.3 Gravitation Potential Energy</vt:lpstr>
      <vt:lpstr>6.3 Gravitation Potential Energy</vt:lpstr>
      <vt:lpstr>6.3 Gravitation Potential Energy</vt:lpstr>
      <vt:lpstr>6.4 Conservative Versus Nonconservative Forces</vt:lpstr>
      <vt:lpstr>6.4 Conservative Versus Nonconservative Forces</vt:lpstr>
      <vt:lpstr>6.4 Conservative Versus Nonconservative Forces</vt:lpstr>
      <vt:lpstr>6.4 Conservative Versus Nonconservative Forces</vt:lpstr>
      <vt:lpstr>6.4 Conservative Versus Nonconservative Forces</vt:lpstr>
      <vt:lpstr>6.4 Conservative Versus Nonconservative Forces</vt:lpstr>
      <vt:lpstr>6.5 The Conservation of Mechanical Energy</vt:lpstr>
      <vt:lpstr>6.5 The Conservation of Mechanical Energy</vt:lpstr>
      <vt:lpstr>6.5 The Conservation of Mechanical Energy</vt:lpstr>
      <vt:lpstr>6.5 The Conservation of Mechanical Energy</vt:lpstr>
      <vt:lpstr>6.5 The Conservation of Mechanical Energy</vt:lpstr>
      <vt:lpstr>6.5 The Conservation of Mechanical Energy</vt:lpstr>
      <vt:lpstr>6.5 The Conservation of Mechanical Energy</vt:lpstr>
      <vt:lpstr>6.5 The Conservation of Mechanical Energy</vt:lpstr>
      <vt:lpstr>6.6 Nonconservative Forces and the Work–Energy Theorem</vt:lpstr>
      <vt:lpstr>6.6 Nonconservative Forces and the Work–Energy Theorem</vt:lpstr>
      <vt:lpstr>6.6 Nonconservative Forces and the Work–Energy Theorem</vt:lpstr>
      <vt:lpstr>6.6 Nonconservative Forces and the Work–Energy Theorem</vt:lpstr>
      <vt:lpstr>6.7 Power</vt:lpstr>
      <vt:lpstr>6.7 Power</vt:lpstr>
      <vt:lpstr>6.7 Power</vt:lpstr>
      <vt:lpstr>6.8 Other Forms of Energy and the Conservation of Energy</vt:lpstr>
      <vt:lpstr>6.8 Other Forms of Energy and the Conservation of Energy</vt:lpstr>
      <vt:lpstr>6.9 Work Done by a Variable Force</vt:lpstr>
      <vt:lpstr>6.9 Work Done by a Variable Force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Lai, Wendy</dc:creator>
  <cp:lastModifiedBy>Vinitha S</cp:lastModifiedBy>
  <cp:revision>944</cp:revision>
  <cp:lastPrinted>2026-04-16T02:17:59Z</cp:lastPrinted>
  <dcterms:created xsi:type="dcterms:W3CDTF">2018-08-23T13:01:59Z</dcterms:created>
  <dcterms:modified xsi:type="dcterms:W3CDTF">2026-09-28T10:06:20Z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0x010100CF487DD02714334AA284610353C6D0A5</vt:lpwstr>
  </property>
</Properties>
</file>