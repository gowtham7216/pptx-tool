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d82199477e64d3652ea86945ef5b07b67dbf1876.jpg" ContentType="image/jpg"/>
  <Override PartName="/ppt/media/e1df035f02c1b10254955d3801c2379fc0eea9b5.jpg" ContentType="image/jpg"/>
  <Override PartName="/ppt/media/f6b14d0751396ab2465d0b784b4c49d50f21dfad.jpg" ContentType="image/jpg"/>
  <Override PartName="/ppt/media/fa50d2bd5f5314e8fe6a54c5d4427c330156801f.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embeddedFontLst>
    <p:embeddedFont>
      <p:font typeface="Figtree Regular" pitchFamily="2" charset="0"/>
      <p:regular r:id="rId42"/>
    </p:embeddedFont>
    <p:embeddedFont>
      <p:font typeface="Figtree Bold" pitchFamily="2" charset="0"/>
      <p:regular r:id="rId4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font" Target="fonts/font1.fntdata"/><Relationship Id="rId43" Type="http://schemas.openxmlformats.org/officeDocument/2006/relationships/font" Target="fonts/font2.fntdata"/><Relationship Id="rId44" Type="http://schemas.openxmlformats.org/officeDocument/2006/relationships/customXml" Target="../customXml/item1.xml"/><Relationship Id="rId45" Type="http://schemas.openxmlformats.org/officeDocument/2006/relationships/customXml" Target="../customXml/item2.xml"/><Relationship Id="rId46"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453b2095f4713b019ac37a20ba4865c312c7edf7.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e1df035f02c1b10254955d3801c2379fc0eea9b5.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f6b14d0751396ab2465d0b784b4c49d50f21dfad.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d82199477e64d3652ea86945ef5b07b67dbf1876.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fa50d2bd5f5314e8fe6a54c5d4427c330156801f.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2383710"/>
            <a:ext cx="12192000" cy="3031569"/>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0" y="2383710"/>
            <a:ext cx="12192000" cy="303157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410200" y="527132"/>
            <a:ext cx="1371600" cy="137160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479147" y="4325655"/>
            <a:ext cx="9233707" cy="600364"/>
          </a:xfrm>
          <a:prstGeom prst="rect">
            <a:avLst/>
          </a:prstGeom>
          <a:noFill/>
          <a:ln/>
        </p:spPr>
        <p:txBody>
          <a:bodyPr wrap="square" lIns="0" tIns="0" rIns="0" bIns="0" rtlCol="0" anchor="ctr"/>
          <a:lstStyle/>
          <a:p>
            <a:pPr algn="ctr" marL="0" indent="0">
              <a:lnSpc>
                <a:spcPct val="9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Chapter 12 - The Human Factor: Combining AI with Human Expertise</a:t>
            </a:r>
            <a:endParaRPr lang="en-US" sz="1800" dirty="0"/>
          </a:p>
        </p:txBody>
      </p:sp>
      <p:sp>
        <p:nvSpPr>
          <p:cNvPr id="8" name="Text 6"/>
          <p:cNvSpPr/>
          <p:nvPr/>
        </p:nvSpPr>
        <p:spPr>
          <a:xfrm>
            <a:off x="1485497" y="2858495"/>
            <a:ext cx="9221007" cy="1314194"/>
          </a:xfrm>
          <a:prstGeom prst="rect">
            <a:avLst/>
          </a:prstGeom>
          <a:noFill/>
          <a:ln/>
        </p:spPr>
        <p:txBody>
          <a:bodyPr wrap="square" lIns="0" tIns="0" rIns="0" bIns="0" rtlCol="0" anchor="ctr"/>
          <a:lstStyle/>
          <a:p>
            <a:pPr algn="ctr"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Cyber Detective's Toolkit: Stories of AI Fighting Digital Crime</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9" name="Text 7"/>
          <p:cNvSpPr/>
          <p:nvPr>
            <p:ph type="title"/>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Introduction: CrowdStrike's Hybrid Intelligence Model</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397"/>
              </a:spcBef>
              <a:buNone/>
            </a:pPr>
            <a:r>
              <a:rPr lang="en-US" sz="1816" dirty="0">
                <a:solidFill>
                  <a:srgbClr val="FFFFFF"/>
                </a:solidFill>
                <a:latin typeface="Figtree Regular" pitchFamily="34" charset="0"/>
                <a:ea typeface="Figtree Regular" pitchFamily="34" charset="-122"/>
                <a:cs typeface="Figtree Regular" pitchFamily="34" charset="-120"/>
              </a:rPr>
              <a:t>Human analysts brought critical judgment and contextual understanding, linking alerts to a known nation-state threat group and deciding on precise containment actions. They interpreted anomalies with organizational knowledge, made strategic decisions such as waking CISOs, and applied intuition that the AI could not replicate.</a:t>
            </a:r>
            <a:endParaRPr lang="en-US" sz="1816"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Human Analyst Role</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397"/>
              </a:spcBef>
              <a:buNone/>
            </a:pPr>
            <a:r>
              <a:rPr lang="en-US" sz="1816" dirty="0">
                <a:solidFill>
                  <a:srgbClr val="FFFFFF"/>
                </a:solidFill>
                <a:latin typeface="Figtree Regular" pitchFamily="34" charset="0"/>
                <a:ea typeface="Figtree Regular" pitchFamily="34" charset="-122"/>
                <a:cs typeface="Figtree Regular" pitchFamily="34" charset="-120"/>
              </a:rPr>
              <a:t>The CrowdStrike Falcon platform's AI processed telemetry from millions of endpoints and flagged unusual process executions, lateral movements, and credential harvesting activities across fourteen organizations. It efficiently correlated billions of events to surface high-confidence alerts, revealing a sophisticated and coordinated attack even when patterns had no prior signature.</a:t>
            </a:r>
            <a:endParaRPr lang="en-US" sz="1816"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 Detection Capabilities</a:t>
            </a:r>
            <a:endParaRPr lang="en-US" sz="2320"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7"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8138160"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323079" y="1739097"/>
            <a:ext cx="3545843" cy="4247080"/>
          </a:xfrm>
          <a:custGeom>
            <a:avLst/>
            <a:gdLst/>
            <a:ahLst/>
            <a:cxnLst/>
            <a:rect l="l" t="t" r="r" b="b"/>
            <a:pathLst>
              <a:path w="3545843" h="4247080">
                <a:moveTo>
                  <a:pt x="119920" y="4247080"/>
                </a:moveTo>
                <a:cubicBezTo>
                  <a:pt x="53684" y="4247080"/>
                  <a:pt x="0" y="4193397"/>
                  <a:pt x="0" y="4127142"/>
                </a:cubicBezTo>
                <a:lnTo>
                  <a:pt x="0" y="119895"/>
                </a:lnTo>
                <a:cubicBezTo>
                  <a:pt x="0" y="53683"/>
                  <a:pt x="53684" y="-43"/>
                  <a:pt x="119920" y="-43"/>
                </a:cubicBezTo>
                <a:lnTo>
                  <a:pt x="3425923" y="-43"/>
                </a:lnTo>
                <a:cubicBezTo>
                  <a:pt x="3492159" y="-43"/>
                  <a:pt x="3545843" y="53641"/>
                  <a:pt x="3545843" y="119895"/>
                </a:cubicBezTo>
                <a:lnTo>
                  <a:pt x="3545843" y="4127142"/>
                </a:lnTo>
                <a:cubicBezTo>
                  <a:pt x="3545843" y="4193354"/>
                  <a:pt x="3492159" y="4247080"/>
                  <a:pt x="3425923" y="4247080"/>
                </a:cubicBezTo>
                <a:lnTo>
                  <a:pt x="11992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8341359"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0" name="Text 8"/>
          <p:cNvSpPr/>
          <p:nvPr>
            <p:ph type="title"/>
          </p:nvPr>
        </p:nvSpPr>
        <p:spPr>
          <a:xfrm>
            <a:off x="8341359"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03</a:t>
            </a:r>
            <a:endParaRPr lang="en-US" sz="1600" dirty="0"/>
          </a:p>
        </p:txBody>
      </p:sp>
      <p:sp>
        <p:nvSpPr>
          <p:cNvPr id="11" name="Text 9"/>
          <p:cNvSpPr/>
          <p:nvPr/>
        </p:nvSpPr>
        <p:spPr>
          <a:xfrm>
            <a:off x="4527825"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4527825"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02</a:t>
            </a:r>
            <a:endParaRPr lang="en-US" sz="1600" dirty="0"/>
          </a:p>
        </p:txBody>
      </p:sp>
      <p:sp>
        <p:nvSpPr>
          <p:cNvPr id="13" name="Text 11"/>
          <p:cNvSpPr/>
          <p:nvPr/>
        </p:nvSpPr>
        <p:spPr>
          <a:xfrm>
            <a:off x="711196" y="1540789"/>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711196" y="1540789"/>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600" dirty="0">
                <a:solidFill>
                  <a:srgbClr val="FFFFFF"/>
                </a:solidFill>
                <a:latin typeface="Figtree Regular" pitchFamily="34" charset="0"/>
                <a:ea typeface="Figtree Regular" pitchFamily="34" charset="-122"/>
                <a:cs typeface="Figtree Regular" pitchFamily="34" charset="-120"/>
              </a:rPr>
              <a:t>01</a:t>
            </a:r>
            <a:endParaRPr lang="en-US" sz="1600"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6" name="Text 14"/>
          <p:cNvSpPr/>
          <p:nvPr/>
        </p:nvSpPr>
        <p:spPr>
          <a:xfrm>
            <a:off x="8341359"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Thirteen of the fourteen intrusions were contained with no data exfiltration, while one organization had a limited breach of approximately 2,000 files. This rapid coordination between AI detection and human judgment mitigated a coordinated nation-state campaign within five hours.</a:t>
            </a:r>
            <a:endParaRPr lang="en-US" sz="1740" dirty="0"/>
          </a:p>
        </p:txBody>
      </p:sp>
      <p:sp>
        <p:nvSpPr>
          <p:cNvPr id="17" name="Text 15"/>
          <p:cNvSpPr/>
          <p:nvPr/>
        </p:nvSpPr>
        <p:spPr>
          <a:xfrm>
            <a:off x="8341359"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Incident Outcome</a:t>
            </a:r>
            <a:endParaRPr lang="en-US" sz="2030" dirty="0"/>
          </a:p>
        </p:txBody>
      </p:sp>
      <p:sp>
        <p:nvSpPr>
          <p:cNvPr id="18" name="Text 16"/>
          <p:cNvSpPr/>
          <p:nvPr/>
        </p:nvSpPr>
        <p:spPr>
          <a:xfrm>
            <a:off x="4527825"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While the AI flagged high-confidence alerts and correlated vast telemetry data, human analysts applied contextual understanding, intuition, and memory to connect the attacks to a known adversary group, deciding on critical containment actions and escalation procedures.</a:t>
            </a:r>
            <a:endParaRPr lang="en-US" sz="1740" dirty="0"/>
          </a:p>
        </p:txBody>
      </p:sp>
      <p:sp>
        <p:nvSpPr>
          <p:cNvPr id="19" name="Text 17"/>
          <p:cNvSpPr/>
          <p:nvPr/>
        </p:nvSpPr>
        <p:spPr>
          <a:xfrm>
            <a:off x="4527825"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Human-AI Collaboration</a:t>
            </a:r>
            <a:endParaRPr lang="en-US" sz="2030" dirty="0"/>
          </a:p>
        </p:txBody>
      </p:sp>
      <p:sp>
        <p:nvSpPr>
          <p:cNvPr id="20" name="Text 18"/>
          <p:cNvSpPr/>
          <p:nvPr/>
        </p:nvSpPr>
        <p:spPr>
          <a:xfrm>
            <a:off x="711196" y="2711196"/>
            <a:ext cx="3108960" cy="3011686"/>
          </a:xfrm>
          <a:prstGeom prst="rect">
            <a:avLst/>
          </a:prstGeom>
          <a:noFill/>
          <a:ln/>
        </p:spPr>
        <p:txBody>
          <a:bodyPr wrap="square" lIns="0" tIns="0" rIns="0" bIns="0" rtlCol="0" anchor="t"/>
          <a:lstStyle/>
          <a:p>
            <a:pPr algn="l" marL="0" indent="0">
              <a:lnSpc>
                <a:spcPct val="100000"/>
              </a:lnSpc>
              <a:spcBef>
                <a:spcPts val="1450"/>
              </a:spcBef>
              <a:buNone/>
            </a:pPr>
            <a:r>
              <a:rPr lang="en-US" sz="1740" dirty="0">
                <a:solidFill>
                  <a:srgbClr val="FFFFFF"/>
                </a:solidFill>
                <a:latin typeface="Figtree Regular" pitchFamily="34" charset="0"/>
                <a:ea typeface="Figtree Regular" pitchFamily="34" charset="-122"/>
                <a:cs typeface="Figtree Regular" pitchFamily="34" charset="-120"/>
              </a:rPr>
              <a:t>Simultaneous intrusion attempts targeted fourteen organizations across three continents within the defense industrial base. The AI system detected unusual process executions, lateral movement, and credential harvesting behaviors with no known signature, signaling a sophisticated threat actor.</a:t>
            </a:r>
            <a:endParaRPr lang="en-US" sz="1740" dirty="0"/>
          </a:p>
        </p:txBody>
      </p:sp>
      <p:sp>
        <p:nvSpPr>
          <p:cNvPr id="21" name="Text 19"/>
          <p:cNvSpPr/>
          <p:nvPr/>
        </p:nvSpPr>
        <p:spPr>
          <a:xfrm>
            <a:off x="711196" y="2146522"/>
            <a:ext cx="3108960" cy="45720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Attack Scope</a:t>
            </a:r>
            <a:endParaRPr lang="en-US" sz="2030" dirty="0"/>
          </a:p>
        </p:txBody>
      </p:sp>
      <p:sp>
        <p:nvSpPr>
          <p:cNvPr id="22" name="Text 20"/>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CrowdStrike Attack Overview: Coordinated Nation-State Intrusion</a:t>
            </a:r>
            <a:endParaRPr lang="en-US" sz="2800" dirty="0"/>
          </a:p>
        </p:txBody>
      </p:sp>
      <p:sp>
        <p:nvSpPr>
          <p:cNvPr id="23" name="Text 2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Why Fully Automated Security Doesn't Work: Overview</a:t>
            </a:r>
            <a:endParaRPr lang="en-US" sz="2800"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48638" y="1938599"/>
            <a:ext cx="11094660" cy="3987845"/>
          </a:xfrm>
          <a:custGeom>
            <a:avLst/>
            <a:gdLst/>
            <a:ahLst/>
            <a:cxnLst/>
            <a:rect l="l" t="t" r="r" b="b"/>
            <a:pathLst>
              <a:path w="11094660" h="3987845">
                <a:moveTo>
                  <a:pt x="92086" y="3987845"/>
                </a:moveTo>
                <a:cubicBezTo>
                  <a:pt x="41272" y="3987845"/>
                  <a:pt x="0" y="3946611"/>
                  <a:pt x="0" y="3895766"/>
                </a:cubicBezTo>
                <a:lnTo>
                  <a:pt x="0" y="92079"/>
                </a:lnTo>
                <a:cubicBezTo>
                  <a:pt x="0" y="41234"/>
                  <a:pt x="41272" y="0"/>
                  <a:pt x="92086" y="0"/>
                </a:cubicBezTo>
                <a:lnTo>
                  <a:pt x="11002574" y="0"/>
                </a:lnTo>
                <a:cubicBezTo>
                  <a:pt x="11053388" y="0"/>
                  <a:pt x="11094660" y="41234"/>
                  <a:pt x="11094660" y="92079"/>
                </a:cubicBezTo>
                <a:lnTo>
                  <a:pt x="11094660" y="3895766"/>
                </a:lnTo>
                <a:cubicBezTo>
                  <a:pt x="11094660" y="3946611"/>
                  <a:pt x="11053388" y="3987845"/>
                  <a:pt x="11002574" y="3987845"/>
                </a:cubicBezTo>
                <a:lnTo>
                  <a:pt x="92086" y="3987845"/>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3654168"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815619"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977070"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10138522"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1492717" y="1719320"/>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9498442" y="3191972"/>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When AI operates autonomously, responsibility for errors becomes unclear. Fully automated systems create ethical and legal challenges since AI cannot be held accountable, making human oversight essential for managing risks and ensuring responsible security actions.</a:t>
            </a:r>
            <a:endParaRPr lang="en-US" sz="1304" dirty="0"/>
          </a:p>
        </p:txBody>
      </p:sp>
      <p:sp>
        <p:nvSpPr>
          <p:cNvPr id="16" name="Text 14"/>
          <p:cNvSpPr/>
          <p:nvPr/>
        </p:nvSpPr>
        <p:spPr>
          <a:xfrm>
            <a:off x="9498442" y="2522880"/>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Accountability Gap</a:t>
            </a:r>
            <a:endParaRPr lang="en-US" sz="2030" dirty="0"/>
          </a:p>
        </p:txBody>
      </p:sp>
      <p:sp>
        <p:nvSpPr>
          <p:cNvPr id="17" name="Text 15"/>
          <p:cNvSpPr/>
          <p:nvPr/>
        </p:nvSpPr>
        <p:spPr>
          <a:xfrm>
            <a:off x="7336990" y="3192452"/>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AI relies on historical data and struggles to detect genuinely new attack techniques. Human analysts apply intuition and experience to identify and respond to novel threats that evade automated pattern recognition.</a:t>
            </a:r>
            <a:endParaRPr lang="en-US" sz="1304" dirty="0"/>
          </a:p>
        </p:txBody>
      </p:sp>
      <p:sp>
        <p:nvSpPr>
          <p:cNvPr id="18" name="Text 16"/>
          <p:cNvSpPr/>
          <p:nvPr/>
        </p:nvSpPr>
        <p:spPr>
          <a:xfrm>
            <a:off x="7336990" y="2527055"/>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Novel Threats</a:t>
            </a:r>
            <a:endParaRPr lang="en-US" sz="2030" dirty="0"/>
          </a:p>
        </p:txBody>
      </p:sp>
      <p:sp>
        <p:nvSpPr>
          <p:cNvPr id="19" name="Text 17"/>
          <p:cNvSpPr/>
          <p:nvPr/>
        </p:nvSpPr>
        <p:spPr>
          <a:xfrm>
            <a:off x="5175539" y="3158931"/>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Attackers exploit vulnerabilities in machine learning by subtly modifying malicious inputs or poisoning training data to fool AI systems. Without human oversight, these manipulations remain undetected, making fully automated defenses susceptible to evasion and compromise.</a:t>
            </a:r>
            <a:endParaRPr lang="en-US" sz="1304" dirty="0"/>
          </a:p>
        </p:txBody>
      </p:sp>
      <p:sp>
        <p:nvSpPr>
          <p:cNvPr id="20" name="Text 18"/>
          <p:cNvSpPr/>
          <p:nvPr/>
        </p:nvSpPr>
        <p:spPr>
          <a:xfrm>
            <a:off x="5175539" y="2512594"/>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Adversarial Attacks</a:t>
            </a:r>
            <a:endParaRPr lang="en-US" sz="2030" dirty="0"/>
          </a:p>
        </p:txBody>
      </p:sp>
      <p:sp>
        <p:nvSpPr>
          <p:cNvPr id="21" name="Text 19"/>
          <p:cNvSpPr/>
          <p:nvPr/>
        </p:nvSpPr>
        <p:spPr>
          <a:xfrm>
            <a:off x="3014088" y="3192452"/>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AI lacks the ability to understand nuanced organizational context, such as business processes, user roles, and unusual but legitimate activities. Without this understanding, automated systems misinterpret behaviors, causing erroneous responses and missed legitimate explanations.</a:t>
            </a:r>
            <a:endParaRPr lang="en-US" sz="1304" dirty="0"/>
          </a:p>
        </p:txBody>
      </p:sp>
      <p:sp>
        <p:nvSpPr>
          <p:cNvPr id="22" name="Text 20"/>
          <p:cNvSpPr/>
          <p:nvPr/>
        </p:nvSpPr>
        <p:spPr>
          <a:xfrm>
            <a:off x="3014088" y="2523360"/>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Context Blindness</a:t>
            </a:r>
            <a:endParaRPr lang="en-US" sz="2030" dirty="0"/>
          </a:p>
        </p:txBody>
      </p:sp>
      <p:sp>
        <p:nvSpPr>
          <p:cNvPr id="23" name="Text 21"/>
          <p:cNvSpPr/>
          <p:nvPr/>
        </p:nvSpPr>
        <p:spPr>
          <a:xfrm>
            <a:off x="852637" y="3182545"/>
            <a:ext cx="1828800" cy="2560320"/>
          </a:xfrm>
          <a:prstGeom prst="rect">
            <a:avLst/>
          </a:prstGeom>
          <a:noFill/>
          <a:ln/>
        </p:spPr>
        <p:txBody>
          <a:bodyPr wrap="square" lIns="0" tIns="0" rIns="0" bIns="0" rtlCol="0" anchor="t"/>
          <a:lstStyle/>
          <a:p>
            <a:pPr algn="ctr" marL="0" indent="0">
              <a:lnSpc>
                <a:spcPct val="90000"/>
              </a:lnSpc>
              <a:spcBef>
                <a:spcPts val="1087"/>
              </a:spcBef>
              <a:buNone/>
            </a:pPr>
            <a:r>
              <a:rPr lang="en-US" sz="1304" dirty="0">
                <a:solidFill>
                  <a:srgbClr val="FFFFFF"/>
                </a:solidFill>
                <a:latin typeface="Figtree Regular" pitchFamily="34" charset="0"/>
                <a:ea typeface="Figtree Regular" pitchFamily="34" charset="-122"/>
                <a:cs typeface="Figtree Regular" pitchFamily="34" charset="-120"/>
              </a:rPr>
              <a:t>Automated AI systems frequently generate incorrect alerts, mistaking legitimate activity for threats. High false positive rates cause operational disruptions, overwhelm security teams, and foster alert fatigue, which undermines trust and allows real threats to be missed.</a:t>
            </a:r>
            <a:endParaRPr lang="en-US" sz="1304" dirty="0"/>
          </a:p>
        </p:txBody>
      </p:sp>
      <p:sp>
        <p:nvSpPr>
          <p:cNvPr id="24" name="Text 22"/>
          <p:cNvSpPr/>
          <p:nvPr/>
        </p:nvSpPr>
        <p:spPr>
          <a:xfrm>
            <a:off x="852637" y="2522880"/>
            <a:ext cx="1828800" cy="548640"/>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False Positives</a:t>
            </a:r>
            <a:endParaRPr lang="en-US" sz="2030" dirty="0"/>
          </a:p>
        </p:txBody>
      </p:sp>
      <p:sp>
        <p:nvSpPr>
          <p:cNvPr id="25" name="Text 23"/>
          <p:cNvSpPr/>
          <p:nvPr/>
        </p:nvSpPr>
        <p:spPr>
          <a:xfrm>
            <a:off x="285400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6" name="Text 24"/>
          <p:cNvSpPr/>
          <p:nvPr/>
        </p:nvSpPr>
        <p:spPr>
          <a:xfrm>
            <a:off x="500665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7" name="Text 25"/>
          <p:cNvSpPr/>
          <p:nvPr/>
        </p:nvSpPr>
        <p:spPr>
          <a:xfrm>
            <a:off x="717835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8" name="Text 26"/>
          <p:cNvSpPr/>
          <p:nvPr/>
        </p:nvSpPr>
        <p:spPr>
          <a:xfrm>
            <a:off x="9331004" y="1938599"/>
            <a:ext cx="9525" cy="3987846"/>
          </a:xfrm>
          <a:custGeom>
            <a:avLst/>
            <a:gdLst/>
            <a:ahLst/>
            <a:cxnLst/>
            <a:rect l="l" t="t" r="r" b="b"/>
            <a:pathLst>
              <a:path w="9525" h="3987846">
                <a:moveTo>
                  <a:pt x="0" y="0"/>
                </a:moveTo>
                <a:lnTo>
                  <a:pt x="9525" y="3987846"/>
                </a:lnTo>
              </a:path>
            </a:pathLst>
          </a:custGeom>
          <a:noFill/>
          <a:ln w="19050">
            <a:solidFill>
              <a:srgbClr val="104862">
                <a:alpha val="40000"/>
              </a:srgbClr>
            </a:solidFill>
          </a:ln>
        </p:spPr>
        <p:txBody>
          <a:bodyPr wrap="square" lIns="0" tIns="0" rIns="0" bIns="0" rtlCol="0" anchor="ctr"/>
          <a:lstStyle/>
          <a:p>
            <a:pPr indent="0" marL="0">
              <a:buNone/>
            </a:pPr>
            <a:endParaRPr lang="en-US" dirty="0"/>
          </a:p>
        </p:txBody>
      </p:sp>
      <p:sp>
        <p:nvSpPr>
          <p:cNvPr id="29" name="Text 27"/>
          <p:cNvSpPr/>
          <p:nvPr/>
        </p:nvSpPr>
        <p:spPr>
          <a:xfrm>
            <a:off x="8131375" y="1856480"/>
            <a:ext cx="240030" cy="274320"/>
          </a:xfrm>
          <a:custGeom>
            <a:avLst/>
            <a:gdLst/>
            <a:ahLst/>
            <a:cxnLst/>
            <a:rect l="l" t="t" r="r" b="b"/>
            <a:pathLst>
              <a:path w="240030" h="274320">
                <a:moveTo>
                  <a:pt x="162877" y="68580"/>
                </a:moveTo>
                <a:cubicBezTo>
                  <a:pt x="162877" y="44909"/>
                  <a:pt x="143687" y="25718"/>
                  <a:pt x="120015" y="25718"/>
                </a:cubicBezTo>
                <a:cubicBezTo>
                  <a:pt x="96343" y="25718"/>
                  <a:pt x="77153" y="44909"/>
                  <a:pt x="77153" y="68580"/>
                </a:cubicBezTo>
                <a:cubicBezTo>
                  <a:pt x="77153" y="92251"/>
                  <a:pt x="96343" y="111443"/>
                  <a:pt x="120015" y="111443"/>
                </a:cubicBezTo>
                <a:cubicBezTo>
                  <a:pt x="143687" y="111443"/>
                  <a:pt x="162877" y="92251"/>
                  <a:pt x="162877" y="68580"/>
                </a:cubicBezTo>
                <a:lnTo>
                  <a:pt x="162877" y="68580"/>
                </a:lnTo>
                <a:moveTo>
                  <a:pt x="51436" y="68580"/>
                </a:moveTo>
                <a:cubicBezTo>
                  <a:pt x="51436" y="30705"/>
                  <a:pt x="82141" y="0"/>
                  <a:pt x="120015" y="0"/>
                </a:cubicBezTo>
                <a:cubicBezTo>
                  <a:pt x="157892" y="0"/>
                  <a:pt x="188594" y="30705"/>
                  <a:pt x="188594" y="68580"/>
                </a:cubicBezTo>
                <a:cubicBezTo>
                  <a:pt x="188594" y="106455"/>
                  <a:pt x="157889" y="137160"/>
                  <a:pt x="120015" y="137160"/>
                </a:cubicBezTo>
                <a:cubicBezTo>
                  <a:pt x="82138" y="137160"/>
                  <a:pt x="51436" y="106455"/>
                  <a:pt x="51436" y="68580"/>
                </a:cubicBezTo>
                <a:lnTo>
                  <a:pt x="51436" y="68580"/>
                </a:lnTo>
                <a:moveTo>
                  <a:pt x="26413" y="248603"/>
                </a:moveTo>
                <a:lnTo>
                  <a:pt x="213668" y="248603"/>
                </a:lnTo>
                <a:cubicBezTo>
                  <a:pt x="208898" y="214688"/>
                  <a:pt x="179754" y="188595"/>
                  <a:pt x="144551" y="188595"/>
                </a:cubicBezTo>
                <a:lnTo>
                  <a:pt x="95580" y="188595"/>
                </a:lnTo>
                <a:cubicBezTo>
                  <a:pt x="60380" y="188595"/>
                  <a:pt x="31233" y="214688"/>
                  <a:pt x="26463" y="248603"/>
                </a:cubicBezTo>
                <a:lnTo>
                  <a:pt x="26413" y="248603"/>
                </a:lnTo>
                <a:moveTo>
                  <a:pt x="0" y="258407"/>
                </a:moveTo>
                <a:cubicBezTo>
                  <a:pt x="0" y="205633"/>
                  <a:pt x="42754" y="162878"/>
                  <a:pt x="95530" y="162878"/>
                </a:cubicBezTo>
                <a:lnTo>
                  <a:pt x="144500" y="162878"/>
                </a:lnTo>
                <a:cubicBezTo>
                  <a:pt x="197276" y="162878"/>
                  <a:pt x="240030" y="205633"/>
                  <a:pt x="240030" y="258407"/>
                </a:cubicBezTo>
                <a:cubicBezTo>
                  <a:pt x="240030" y="267193"/>
                  <a:pt x="232903" y="274320"/>
                  <a:pt x="224118" y="274320"/>
                </a:cubicBezTo>
                <a:lnTo>
                  <a:pt x="15914" y="274320"/>
                </a:lnTo>
                <a:cubicBezTo>
                  <a:pt x="7127" y="274320"/>
                  <a:pt x="2" y="267193"/>
                  <a:pt x="2" y="258407"/>
                </a:cubicBezTo>
                <a:lnTo>
                  <a:pt x="0" y="258407"/>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3834191" y="1856480"/>
            <a:ext cx="188595" cy="274320"/>
          </a:xfrm>
          <a:custGeom>
            <a:avLst/>
            <a:gdLst/>
            <a:ahLst/>
            <a:cxnLst/>
            <a:rect l="l" t="t" r="r" b="b"/>
            <a:pathLst>
              <a:path w="188595" h="274320">
                <a:moveTo>
                  <a:pt x="150661" y="133355"/>
                </a:moveTo>
                <a:cubicBezTo>
                  <a:pt x="158376" y="122319"/>
                  <a:pt x="162876" y="108869"/>
                  <a:pt x="162876" y="94298"/>
                </a:cubicBezTo>
                <a:cubicBezTo>
                  <a:pt x="162876" y="56417"/>
                  <a:pt x="132177" y="25718"/>
                  <a:pt x="94296" y="25718"/>
                </a:cubicBezTo>
                <a:cubicBezTo>
                  <a:pt x="56416" y="25718"/>
                  <a:pt x="25715" y="56417"/>
                  <a:pt x="25715" y="94298"/>
                </a:cubicBezTo>
                <a:cubicBezTo>
                  <a:pt x="25715" y="108869"/>
                  <a:pt x="30215" y="122319"/>
                  <a:pt x="37930" y="133355"/>
                </a:cubicBezTo>
                <a:cubicBezTo>
                  <a:pt x="39913" y="136194"/>
                  <a:pt x="42270" y="139409"/>
                  <a:pt x="44788" y="142838"/>
                </a:cubicBezTo>
                <a:lnTo>
                  <a:pt x="44788" y="142838"/>
                </a:lnTo>
                <a:cubicBezTo>
                  <a:pt x="51700" y="152322"/>
                  <a:pt x="59951" y="163681"/>
                  <a:pt x="66112" y="174879"/>
                </a:cubicBezTo>
                <a:cubicBezTo>
                  <a:pt x="71685" y="185059"/>
                  <a:pt x="74524" y="195667"/>
                  <a:pt x="75917" y="205685"/>
                </a:cubicBezTo>
                <a:lnTo>
                  <a:pt x="49825" y="205740"/>
                </a:lnTo>
                <a:cubicBezTo>
                  <a:pt x="48646" y="199310"/>
                  <a:pt x="46664" y="193042"/>
                  <a:pt x="43503" y="187256"/>
                </a:cubicBezTo>
                <a:cubicBezTo>
                  <a:pt x="38198" y="177611"/>
                  <a:pt x="31609" y="168559"/>
                  <a:pt x="25019" y="159503"/>
                </a:cubicBezTo>
                <a:lnTo>
                  <a:pt x="25019" y="159503"/>
                </a:lnTo>
                <a:lnTo>
                  <a:pt x="25019" y="159503"/>
                </a:lnTo>
                <a:cubicBezTo>
                  <a:pt x="22234" y="155699"/>
                  <a:pt x="19446" y="151897"/>
                  <a:pt x="16768" y="148037"/>
                </a:cubicBezTo>
                <a:cubicBezTo>
                  <a:pt x="6212" y="132820"/>
                  <a:pt x="-2" y="114282"/>
                  <a:pt x="-2" y="94298"/>
                </a:cubicBezTo>
                <a:cubicBezTo>
                  <a:pt x="-2" y="42221"/>
                  <a:pt x="42217" y="0"/>
                  <a:pt x="94296" y="0"/>
                </a:cubicBezTo>
                <a:cubicBezTo>
                  <a:pt x="146374" y="0"/>
                  <a:pt x="188593" y="42221"/>
                  <a:pt x="188593" y="94298"/>
                </a:cubicBezTo>
                <a:cubicBezTo>
                  <a:pt x="188593" y="114282"/>
                  <a:pt x="182379" y="132820"/>
                  <a:pt x="171771" y="148037"/>
                </a:cubicBezTo>
                <a:cubicBezTo>
                  <a:pt x="169092" y="151894"/>
                  <a:pt x="166305" y="155699"/>
                  <a:pt x="163519" y="159503"/>
                </a:cubicBezTo>
                <a:lnTo>
                  <a:pt x="163519" y="159503"/>
                </a:lnTo>
                <a:lnTo>
                  <a:pt x="163519" y="159503"/>
                </a:lnTo>
                <a:cubicBezTo>
                  <a:pt x="156930" y="168504"/>
                  <a:pt x="150339" y="177559"/>
                  <a:pt x="145035" y="187256"/>
                </a:cubicBezTo>
                <a:cubicBezTo>
                  <a:pt x="141874" y="193042"/>
                  <a:pt x="139892" y="199313"/>
                  <a:pt x="138714" y="205740"/>
                </a:cubicBezTo>
                <a:lnTo>
                  <a:pt x="112674" y="205740"/>
                </a:lnTo>
                <a:cubicBezTo>
                  <a:pt x="114068" y="195722"/>
                  <a:pt x="116906" y="185059"/>
                  <a:pt x="122479" y="174934"/>
                </a:cubicBezTo>
                <a:cubicBezTo>
                  <a:pt x="128641" y="163736"/>
                  <a:pt x="136892" y="152377"/>
                  <a:pt x="143804" y="142893"/>
                </a:cubicBezTo>
                <a:lnTo>
                  <a:pt x="143804" y="142893"/>
                </a:lnTo>
                <a:lnTo>
                  <a:pt x="143804" y="142893"/>
                </a:lnTo>
                <a:lnTo>
                  <a:pt x="143804" y="142893"/>
                </a:lnTo>
                <a:cubicBezTo>
                  <a:pt x="146321" y="139464"/>
                  <a:pt x="148626" y="136249"/>
                  <a:pt x="150608" y="133410"/>
                </a:cubicBezTo>
                <a:lnTo>
                  <a:pt x="150661" y="133355"/>
                </a:lnTo>
              </a:path>
              <a:path w="188595" h="274320">
                <a:moveTo>
                  <a:pt x="94298" y="68580"/>
                </a:moveTo>
                <a:cubicBezTo>
                  <a:pt x="80100" y="68580"/>
                  <a:pt x="68581" y="80099"/>
                  <a:pt x="68581" y="94298"/>
                </a:cubicBezTo>
                <a:cubicBezTo>
                  <a:pt x="68581" y="99013"/>
                  <a:pt x="64724" y="102870"/>
                  <a:pt x="60009" y="102870"/>
                </a:cubicBezTo>
                <a:cubicBezTo>
                  <a:pt x="55294" y="102870"/>
                  <a:pt x="51437" y="99013"/>
                  <a:pt x="51437" y="94298"/>
                </a:cubicBezTo>
                <a:cubicBezTo>
                  <a:pt x="51437" y="70615"/>
                  <a:pt x="70617" y="51435"/>
                  <a:pt x="94299" y="51435"/>
                </a:cubicBezTo>
                <a:cubicBezTo>
                  <a:pt x="99014" y="51435"/>
                  <a:pt x="102871" y="55292"/>
                  <a:pt x="102871" y="60008"/>
                </a:cubicBezTo>
                <a:cubicBezTo>
                  <a:pt x="102871" y="64723"/>
                  <a:pt x="99014" y="68580"/>
                  <a:pt x="94299" y="68580"/>
                </a:cubicBezTo>
                <a:lnTo>
                  <a:pt x="94298" y="68580"/>
                </a:lnTo>
              </a:path>
              <a:path w="188595" h="274320">
                <a:moveTo>
                  <a:pt x="94298" y="274320"/>
                </a:moveTo>
                <a:cubicBezTo>
                  <a:pt x="70616" y="274320"/>
                  <a:pt x="51435" y="255140"/>
                  <a:pt x="51435" y="231458"/>
                </a:cubicBezTo>
                <a:lnTo>
                  <a:pt x="51435" y="222885"/>
                </a:lnTo>
                <a:lnTo>
                  <a:pt x="137161" y="222885"/>
                </a:lnTo>
                <a:lnTo>
                  <a:pt x="137161" y="231458"/>
                </a:lnTo>
                <a:cubicBezTo>
                  <a:pt x="137161" y="255140"/>
                  <a:pt x="117981" y="274320"/>
                  <a:pt x="94299" y="274320"/>
                </a:cubicBezTo>
                <a:lnTo>
                  <a:pt x="94298" y="274320"/>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10283547" y="1856480"/>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5952779" y="1886969"/>
            <a:ext cx="274320" cy="213341"/>
          </a:xfrm>
          <a:custGeom>
            <a:avLst/>
            <a:gdLst/>
            <a:ahLst/>
            <a:cxnLst/>
            <a:rect l="l" t="t" r="r" b="b"/>
            <a:pathLst>
              <a:path w="274320" h="213341">
                <a:moveTo>
                  <a:pt x="137135" y="22857"/>
                </a:moveTo>
                <a:cubicBezTo>
                  <a:pt x="106088" y="22857"/>
                  <a:pt x="80562" y="36953"/>
                  <a:pt x="60990" y="55098"/>
                </a:cubicBezTo>
                <a:cubicBezTo>
                  <a:pt x="42657" y="72146"/>
                  <a:pt x="29989" y="92385"/>
                  <a:pt x="23512" y="106671"/>
                </a:cubicBezTo>
                <a:cubicBezTo>
                  <a:pt x="29989" y="120956"/>
                  <a:pt x="42657" y="141196"/>
                  <a:pt x="60943" y="158244"/>
                </a:cubicBezTo>
                <a:cubicBezTo>
                  <a:pt x="80562" y="176387"/>
                  <a:pt x="106088" y="190484"/>
                  <a:pt x="137135" y="190484"/>
                </a:cubicBezTo>
                <a:cubicBezTo>
                  <a:pt x="168183" y="190484"/>
                  <a:pt x="193708" y="176389"/>
                  <a:pt x="213281" y="158244"/>
                </a:cubicBezTo>
                <a:cubicBezTo>
                  <a:pt x="231614" y="141196"/>
                  <a:pt x="244282" y="120956"/>
                  <a:pt x="250759" y="106671"/>
                </a:cubicBezTo>
                <a:cubicBezTo>
                  <a:pt x="244282" y="92385"/>
                  <a:pt x="231614" y="72146"/>
                  <a:pt x="213328" y="55098"/>
                </a:cubicBezTo>
                <a:cubicBezTo>
                  <a:pt x="193708" y="36955"/>
                  <a:pt x="168183" y="22857"/>
                  <a:pt x="137135" y="22857"/>
                </a:cubicBezTo>
                <a:lnTo>
                  <a:pt x="137135" y="22857"/>
                </a:lnTo>
                <a:moveTo>
                  <a:pt x="45419" y="38382"/>
                </a:moveTo>
                <a:cubicBezTo>
                  <a:pt x="67848" y="17524"/>
                  <a:pt x="98659" y="0"/>
                  <a:pt x="137138" y="0"/>
                </a:cubicBezTo>
                <a:cubicBezTo>
                  <a:pt x="175617" y="0"/>
                  <a:pt x="206426" y="17524"/>
                  <a:pt x="228857" y="38382"/>
                </a:cubicBezTo>
                <a:cubicBezTo>
                  <a:pt x="251143" y="59098"/>
                  <a:pt x="266049" y="83813"/>
                  <a:pt x="273143" y="100812"/>
                </a:cubicBezTo>
                <a:cubicBezTo>
                  <a:pt x="274715" y="104574"/>
                  <a:pt x="274715" y="108766"/>
                  <a:pt x="273143" y="112527"/>
                </a:cubicBezTo>
                <a:cubicBezTo>
                  <a:pt x="266046" y="129528"/>
                  <a:pt x="251143" y="154291"/>
                  <a:pt x="228857" y="174957"/>
                </a:cubicBezTo>
                <a:cubicBezTo>
                  <a:pt x="206429" y="195815"/>
                  <a:pt x="175617" y="213339"/>
                  <a:pt x="137138" y="213339"/>
                </a:cubicBezTo>
                <a:cubicBezTo>
                  <a:pt x="98659" y="213339"/>
                  <a:pt x="67850" y="195815"/>
                  <a:pt x="45419" y="174957"/>
                </a:cubicBezTo>
                <a:cubicBezTo>
                  <a:pt x="23133" y="154291"/>
                  <a:pt x="8227" y="129526"/>
                  <a:pt x="1180" y="112527"/>
                </a:cubicBezTo>
                <a:cubicBezTo>
                  <a:pt x="-392" y="108766"/>
                  <a:pt x="-392" y="104574"/>
                  <a:pt x="1180" y="100812"/>
                </a:cubicBezTo>
                <a:cubicBezTo>
                  <a:pt x="8227" y="83811"/>
                  <a:pt x="23133" y="59049"/>
                  <a:pt x="45419" y="38382"/>
                </a:cubicBezTo>
                <a:lnTo>
                  <a:pt x="45419" y="38382"/>
                </a:lnTo>
                <a:moveTo>
                  <a:pt x="137135" y="144767"/>
                </a:moveTo>
                <a:cubicBezTo>
                  <a:pt x="158184" y="144767"/>
                  <a:pt x="175233" y="127719"/>
                  <a:pt x="175233" y="106671"/>
                </a:cubicBezTo>
                <a:cubicBezTo>
                  <a:pt x="175233" y="85623"/>
                  <a:pt x="158184" y="68574"/>
                  <a:pt x="137135" y="68574"/>
                </a:cubicBezTo>
                <a:cubicBezTo>
                  <a:pt x="136801" y="68574"/>
                  <a:pt x="136515" y="68574"/>
                  <a:pt x="136183" y="68574"/>
                </a:cubicBezTo>
                <a:cubicBezTo>
                  <a:pt x="136803" y="71002"/>
                  <a:pt x="137135" y="73575"/>
                  <a:pt x="137135" y="76193"/>
                </a:cubicBezTo>
                <a:cubicBezTo>
                  <a:pt x="137135" y="93002"/>
                  <a:pt x="123469" y="106671"/>
                  <a:pt x="106658" y="106671"/>
                </a:cubicBezTo>
                <a:cubicBezTo>
                  <a:pt x="104039" y="106671"/>
                  <a:pt x="101468" y="106338"/>
                  <a:pt x="99038" y="105719"/>
                </a:cubicBezTo>
                <a:cubicBezTo>
                  <a:pt x="99038" y="106052"/>
                  <a:pt x="99038" y="106338"/>
                  <a:pt x="99038" y="106671"/>
                </a:cubicBezTo>
                <a:cubicBezTo>
                  <a:pt x="99038" y="127719"/>
                  <a:pt x="116087" y="144767"/>
                  <a:pt x="137135" y="144767"/>
                </a:cubicBezTo>
                <a:moveTo>
                  <a:pt x="137135" y="45717"/>
                </a:moveTo>
                <a:cubicBezTo>
                  <a:pt x="170800" y="45717"/>
                  <a:pt x="198089" y="73008"/>
                  <a:pt x="198089" y="106671"/>
                </a:cubicBezTo>
                <a:cubicBezTo>
                  <a:pt x="198089" y="140336"/>
                  <a:pt x="170800" y="167625"/>
                  <a:pt x="137135" y="167625"/>
                </a:cubicBezTo>
                <a:cubicBezTo>
                  <a:pt x="103471" y="167625"/>
                  <a:pt x="76181" y="140334"/>
                  <a:pt x="76181" y="106671"/>
                </a:cubicBezTo>
                <a:cubicBezTo>
                  <a:pt x="76181" y="73006"/>
                  <a:pt x="103471" y="45717"/>
                  <a:pt x="137135" y="45717"/>
                </a:cubicBezTo>
                <a:lnTo>
                  <a:pt x="137135" y="45717"/>
                </a:ln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747443" y="1856480"/>
            <a:ext cx="39189" cy="274320"/>
          </a:xfrm>
          <a:custGeom>
            <a:avLst/>
            <a:gdLst/>
            <a:ahLst/>
            <a:cxnLst/>
            <a:rect l="l" t="t" r="r" b="b"/>
            <a:pathLst>
              <a:path w="39189" h="274320">
                <a:moveTo>
                  <a:pt x="34290" y="14695"/>
                </a:moveTo>
                <a:cubicBezTo>
                  <a:pt x="34290" y="6551"/>
                  <a:pt x="27738" y="0"/>
                  <a:pt x="19594" y="0"/>
                </a:cubicBezTo>
                <a:cubicBezTo>
                  <a:pt x="11450" y="0"/>
                  <a:pt x="4899" y="6551"/>
                  <a:pt x="4899" y="14695"/>
                </a:cubicBezTo>
                <a:lnTo>
                  <a:pt x="4899" y="191045"/>
                </a:lnTo>
                <a:cubicBezTo>
                  <a:pt x="4899" y="199189"/>
                  <a:pt x="11450" y="205740"/>
                  <a:pt x="19594" y="205740"/>
                </a:cubicBezTo>
                <a:cubicBezTo>
                  <a:pt x="27738" y="205740"/>
                  <a:pt x="34290" y="199189"/>
                  <a:pt x="34290" y="191045"/>
                </a:cubicBezTo>
                <a:lnTo>
                  <a:pt x="34290" y="14695"/>
                </a:lnTo>
                <a:moveTo>
                  <a:pt x="19594" y="274320"/>
                </a:moveTo>
                <a:cubicBezTo>
                  <a:pt x="30416" y="274320"/>
                  <a:pt x="39189" y="265547"/>
                  <a:pt x="39189" y="254725"/>
                </a:cubicBezTo>
                <a:cubicBezTo>
                  <a:pt x="39189" y="243903"/>
                  <a:pt x="30416" y="235131"/>
                  <a:pt x="19594" y="235131"/>
                </a:cubicBezTo>
                <a:cubicBezTo>
                  <a:pt x="8773" y="235131"/>
                  <a:pt x="0" y="243903"/>
                  <a:pt x="0" y="254725"/>
                </a:cubicBezTo>
                <a:cubicBezTo>
                  <a:pt x="0" y="265547"/>
                  <a:pt x="8773" y="274320"/>
                  <a:pt x="19594" y="274320"/>
                </a:cubicBez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5463" y="1776248"/>
            <a:ext cx="11178539" cy="4136460"/>
          </a:xfrm>
          <a:prstGeom prst="rect">
            <a:avLst/>
          </a:prstGeom>
          <a:blipFill>
            <a:blip r:embed="rId1"/>
            <a:srcRect/>
            <a:stretch>
              <a:fillRect l="0" r="0" t="6" b="6"/>
            </a:stretch>
          </a:blipFill>
          <a:ln/>
        </p:spPr>
        <p:txBody>
          <a:bodyPr wrap="square" lIns="0" tIns="0" rIns="0" bIns="0" rtlCol="0" anchor="ctr"/>
          <a:lstStyle/>
          <a:p>
            <a:pPr indent="0" marL="0">
              <a:buNone/>
            </a:pPr>
            <a:endParaRPr lang="en-US" dirty="0"/>
          </a:p>
        </p:txBody>
      </p:sp>
      <p:sp>
        <p:nvSpPr>
          <p:cNvPr id="5" name="Text 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False Positive Catastrophe in Fully Automated AI Security</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4324133" y="3991372"/>
            <a:ext cx="6519120" cy="2286000"/>
          </a:xfrm>
          <a:custGeom>
            <a:avLst/>
            <a:gdLst/>
            <a:ahLst/>
            <a:cxnLst/>
            <a:rect l="l" t="t" r="r" b="b"/>
            <a:pathLst>
              <a:path w="6519120" h="2286000">
                <a:moveTo>
                  <a:pt x="154764" y="2286000"/>
                </a:moveTo>
                <a:cubicBezTo>
                  <a:pt x="69298" y="2286000"/>
                  <a:pt x="0" y="2216711"/>
                  <a:pt x="0" y="2131238"/>
                </a:cubicBezTo>
                <a:lnTo>
                  <a:pt x="0" y="154762"/>
                </a:lnTo>
                <a:cubicBezTo>
                  <a:pt x="0" y="69289"/>
                  <a:pt x="69298" y="0"/>
                  <a:pt x="154764" y="0"/>
                </a:cubicBezTo>
                <a:lnTo>
                  <a:pt x="6364356" y="0"/>
                </a:lnTo>
                <a:cubicBezTo>
                  <a:pt x="6449822" y="0"/>
                  <a:pt x="6519120" y="69289"/>
                  <a:pt x="6519120" y="154762"/>
                </a:cubicBezTo>
                <a:lnTo>
                  <a:pt x="6519120" y="2131238"/>
                </a:lnTo>
                <a:cubicBezTo>
                  <a:pt x="6519120" y="2216711"/>
                  <a:pt x="6449822" y="2286000"/>
                  <a:pt x="6364356" y="2286000"/>
                </a:cubicBezTo>
                <a:lnTo>
                  <a:pt x="154764" y="22860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4324133" y="1586827"/>
            <a:ext cx="6519120" cy="2286000"/>
          </a:xfrm>
          <a:custGeom>
            <a:avLst/>
            <a:gdLst/>
            <a:ahLst/>
            <a:cxnLst/>
            <a:rect l="l" t="t" r="r" b="b"/>
            <a:pathLst>
              <a:path w="6519120" h="2286000">
                <a:moveTo>
                  <a:pt x="154764" y="2286000"/>
                </a:moveTo>
                <a:cubicBezTo>
                  <a:pt x="69298" y="2286000"/>
                  <a:pt x="0" y="2216711"/>
                  <a:pt x="0" y="2131238"/>
                </a:cubicBezTo>
                <a:lnTo>
                  <a:pt x="0" y="154762"/>
                </a:lnTo>
                <a:cubicBezTo>
                  <a:pt x="0" y="69289"/>
                  <a:pt x="69298" y="0"/>
                  <a:pt x="154764" y="0"/>
                </a:cubicBezTo>
                <a:lnTo>
                  <a:pt x="6364356" y="0"/>
                </a:lnTo>
                <a:cubicBezTo>
                  <a:pt x="6449822" y="0"/>
                  <a:pt x="6519120" y="69289"/>
                  <a:pt x="6519120" y="154762"/>
                </a:cubicBezTo>
                <a:lnTo>
                  <a:pt x="6519120" y="2131238"/>
                </a:lnTo>
                <a:cubicBezTo>
                  <a:pt x="6519120" y="2216711"/>
                  <a:pt x="6449822" y="2286000"/>
                  <a:pt x="6364356" y="2286000"/>
                </a:cubicBezTo>
                <a:lnTo>
                  <a:pt x="154764" y="228600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4097015" y="40733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4097016" y="16672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4940298" y="6495651"/>
            <a:ext cx="658368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1" name="Text 9"/>
          <p:cNvSpPr/>
          <p:nvPr/>
        </p:nvSpPr>
        <p:spPr>
          <a:xfrm>
            <a:off x="4715502" y="4724567"/>
            <a:ext cx="5852160" cy="1416427"/>
          </a:xfrm>
          <a:prstGeom prst="rect">
            <a:avLst/>
          </a:prstGeom>
          <a:noFill/>
          <a:ln/>
        </p:spPr>
        <p:txBody>
          <a:bodyPr wrap="square" lIns="0" tIns="0" rIns="0" bIns="0" rtlCol="0" anchor="t"/>
          <a:lstStyle/>
          <a:p>
            <a:pPr algn="l" marL="0" indent="0">
              <a:lnSpc>
                <a:spcPct val="100000"/>
              </a:lnSpc>
              <a:spcBef>
                <a:spcPts val="1311"/>
              </a:spcBef>
              <a:buNone/>
            </a:pPr>
            <a:r>
              <a:rPr lang="en-US" sz="1573" dirty="0">
                <a:solidFill>
                  <a:srgbClr val="FFFFFF"/>
                </a:solidFill>
                <a:latin typeface="Figtree Regular" pitchFamily="34" charset="0"/>
                <a:ea typeface="Figtree Regular" pitchFamily="34" charset="-122"/>
                <a:cs typeface="Figtree Regular" pitchFamily="34" charset="-120"/>
              </a:rPr>
              <a:t>Humans understand organizational context and can interpret why certain behaviors occur outside normal patterns. Consider a CFO working late at night downloading sensitive financial data to an approved cloud storage service. While AI flags this as suspicious, a human analyst recognizes the business need and timing, avoiding a false alarm and inappropriate lockdown.</a:t>
            </a:r>
            <a:endParaRPr lang="en-US" sz="1573" dirty="0"/>
          </a:p>
        </p:txBody>
      </p:sp>
      <p:sp>
        <p:nvSpPr>
          <p:cNvPr id="12" name="Text 10"/>
          <p:cNvSpPr/>
          <p:nvPr/>
        </p:nvSpPr>
        <p:spPr>
          <a:xfrm>
            <a:off x="4715502" y="4151356"/>
            <a:ext cx="58521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Human Contextual Judgment</a:t>
            </a:r>
            <a:endParaRPr lang="en-US" sz="2030" dirty="0"/>
          </a:p>
        </p:txBody>
      </p:sp>
      <p:sp>
        <p:nvSpPr>
          <p:cNvPr id="13" name="Text 11"/>
          <p:cNvSpPr/>
          <p:nvPr/>
        </p:nvSpPr>
        <p:spPr>
          <a:xfrm>
            <a:off x="4715502" y="2320022"/>
            <a:ext cx="5852160" cy="1416427"/>
          </a:xfrm>
          <a:prstGeom prst="rect">
            <a:avLst/>
          </a:prstGeom>
          <a:noFill/>
          <a:ln/>
        </p:spPr>
        <p:txBody>
          <a:bodyPr wrap="square" lIns="0" tIns="0" rIns="0" bIns="0" rtlCol="0" anchor="t"/>
          <a:lstStyle/>
          <a:p>
            <a:pPr algn="l" marL="0" indent="0">
              <a:lnSpc>
                <a:spcPct val="100000"/>
              </a:lnSpc>
              <a:spcBef>
                <a:spcPts val="1311"/>
              </a:spcBef>
              <a:buNone/>
            </a:pPr>
            <a:r>
              <a:rPr lang="en-US" sz="1573" dirty="0">
                <a:solidFill>
                  <a:srgbClr val="FFFFFF"/>
                </a:solidFill>
                <a:latin typeface="Figtree Regular" pitchFamily="34" charset="0"/>
                <a:ea typeface="Figtree Regular" pitchFamily="34" charset="-122"/>
                <a:cs typeface="Figtree Regular" pitchFamily="34" charset="-120"/>
              </a:rPr>
              <a:t>AI systems excel at detecting anomalies by comparing behavior against learned baselines but lack the ability to understand situational context. This deficiency causes them to flag legitimate but unusual activities as threats, leading to false positives and unnecessary responses. For example, an AI might detect unusual access patterns without recognizing underlying business reasons.</a:t>
            </a:r>
            <a:endParaRPr lang="en-US" sz="1573" dirty="0"/>
          </a:p>
        </p:txBody>
      </p:sp>
      <p:sp>
        <p:nvSpPr>
          <p:cNvPr id="14" name="Text 12"/>
          <p:cNvSpPr/>
          <p:nvPr>
            <p:ph type="title"/>
          </p:nvPr>
        </p:nvSpPr>
        <p:spPr>
          <a:xfrm>
            <a:off x="4715502" y="1736036"/>
            <a:ext cx="58521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Lack of Contextual Awareness</a:t>
            </a:r>
            <a:endParaRPr lang="en-US" sz="2030" dirty="0"/>
          </a:p>
        </p:txBody>
      </p:sp>
      <p:sp>
        <p:nvSpPr>
          <p:cNvPr id="15" name="Text 13"/>
          <p:cNvSpPr/>
          <p:nvPr/>
        </p:nvSpPr>
        <p:spPr>
          <a:xfrm>
            <a:off x="4097015"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Context Blindness Problem</a:t>
            </a:r>
            <a:endParaRPr lang="en-US" sz="2800" dirty="0"/>
          </a:p>
        </p:txBody>
      </p:sp>
      <p:sp>
        <p:nvSpPr>
          <p:cNvPr id="16" name="Text 14"/>
          <p:cNvSpPr/>
          <p:nvPr/>
        </p:nvSpPr>
        <p:spPr>
          <a:xfrm>
            <a:off x="505464" y="6129891"/>
            <a:ext cx="914400" cy="548640"/>
          </a:xfrm>
          <a:prstGeom prst="rect">
            <a:avLst/>
          </a:prstGeom>
          <a:noFill/>
          <a:ln/>
        </p:spPr>
        <p:txBody>
          <a:bodyPr wrap="square" lIns="0" tIns="0" rIns="0" bIns="0" rtlCol="0" anchor="ctr"/>
          <a:lstStyle/>
          <a:p>
            <a:pPr indent="0" marL="0">
              <a:buNone/>
            </a:pPr>
            <a:endParaRPr lang="en-US" dirty="0"/>
          </a:p>
        </p:txBody>
      </p:sp>
      <p:sp>
        <p:nvSpPr>
          <p:cNvPr id="17" name="Text 15"/>
          <p:cNvSpPr/>
          <p:nvPr/>
        </p:nvSpPr>
        <p:spPr>
          <a:xfrm>
            <a:off x="4190463" y="4164788"/>
            <a:ext cx="274320" cy="274320"/>
          </a:xfrm>
          <a:custGeom>
            <a:avLst/>
            <a:gdLst/>
            <a:ahLst/>
            <a:cxnLst/>
            <a:rect l="l" t="t" r="r" b="b"/>
            <a:pathLst>
              <a:path w="274320" h="274320">
                <a:moveTo>
                  <a:pt x="137160" y="0"/>
                </a:moveTo>
                <a:cubicBezTo>
                  <a:pt x="111067" y="0"/>
                  <a:pt x="88188" y="13716"/>
                  <a:pt x="75331" y="34290"/>
                </a:cubicBezTo>
                <a:cubicBezTo>
                  <a:pt x="33541" y="35308"/>
                  <a:pt x="0" y="69436"/>
                  <a:pt x="0" y="111443"/>
                </a:cubicBezTo>
                <a:cubicBezTo>
                  <a:pt x="0" y="154036"/>
                  <a:pt x="34559" y="188595"/>
                  <a:pt x="77153" y="188595"/>
                </a:cubicBezTo>
                <a:cubicBezTo>
                  <a:pt x="82189" y="188595"/>
                  <a:pt x="87171" y="188112"/>
                  <a:pt x="91941" y="187149"/>
                </a:cubicBezTo>
                <a:cubicBezTo>
                  <a:pt x="103567" y="198616"/>
                  <a:pt x="119535" y="205740"/>
                  <a:pt x="137160" y="205740"/>
                </a:cubicBezTo>
                <a:cubicBezTo>
                  <a:pt x="154788" y="205740"/>
                  <a:pt x="170753" y="198613"/>
                  <a:pt x="182379" y="187149"/>
                </a:cubicBezTo>
                <a:cubicBezTo>
                  <a:pt x="187201" y="188060"/>
                  <a:pt x="192131" y="188595"/>
                  <a:pt x="197168" y="188595"/>
                </a:cubicBezTo>
                <a:cubicBezTo>
                  <a:pt x="239761" y="188595"/>
                  <a:pt x="274320" y="154036"/>
                  <a:pt x="274320" y="111442"/>
                </a:cubicBezTo>
                <a:cubicBezTo>
                  <a:pt x="274320" y="69436"/>
                  <a:pt x="240779" y="35308"/>
                  <a:pt x="198989" y="34290"/>
                </a:cubicBezTo>
                <a:cubicBezTo>
                  <a:pt x="186132" y="13716"/>
                  <a:pt x="163253" y="0"/>
                  <a:pt x="137160" y="0"/>
                </a:cubicBezTo>
                <a:lnTo>
                  <a:pt x="137160" y="0"/>
                </a:lnTo>
                <a:moveTo>
                  <a:pt x="94459" y="52881"/>
                </a:moveTo>
                <a:cubicBezTo>
                  <a:pt x="102014" y="36808"/>
                  <a:pt x="118300" y="25717"/>
                  <a:pt x="137160" y="25717"/>
                </a:cubicBezTo>
                <a:cubicBezTo>
                  <a:pt x="156020" y="25717"/>
                  <a:pt x="172309" y="36808"/>
                  <a:pt x="179861" y="52881"/>
                </a:cubicBezTo>
                <a:cubicBezTo>
                  <a:pt x="182165" y="57755"/>
                  <a:pt x="187254" y="60704"/>
                  <a:pt x="192611" y="60222"/>
                </a:cubicBezTo>
                <a:cubicBezTo>
                  <a:pt x="194112" y="60115"/>
                  <a:pt x="195612" y="60008"/>
                  <a:pt x="197165" y="60008"/>
                </a:cubicBezTo>
                <a:cubicBezTo>
                  <a:pt x="225562" y="60008"/>
                  <a:pt x="248600" y="83045"/>
                  <a:pt x="248600" y="111443"/>
                </a:cubicBezTo>
                <a:cubicBezTo>
                  <a:pt x="248600" y="139840"/>
                  <a:pt x="225562" y="162878"/>
                  <a:pt x="197165" y="162878"/>
                </a:cubicBezTo>
                <a:cubicBezTo>
                  <a:pt x="191807" y="162878"/>
                  <a:pt x="186609" y="162074"/>
                  <a:pt x="181789" y="160521"/>
                </a:cubicBezTo>
                <a:cubicBezTo>
                  <a:pt x="176646" y="158914"/>
                  <a:pt x="171074" y="160683"/>
                  <a:pt x="167752" y="164968"/>
                </a:cubicBezTo>
                <a:cubicBezTo>
                  <a:pt x="160680" y="174130"/>
                  <a:pt x="149589" y="180023"/>
                  <a:pt x="137160" y="180023"/>
                </a:cubicBezTo>
                <a:cubicBezTo>
                  <a:pt x="124730" y="180023"/>
                  <a:pt x="113640" y="174130"/>
                  <a:pt x="106568" y="164968"/>
                </a:cubicBezTo>
                <a:cubicBezTo>
                  <a:pt x="103301" y="160683"/>
                  <a:pt x="97674" y="158914"/>
                  <a:pt x="92531" y="160521"/>
                </a:cubicBezTo>
                <a:cubicBezTo>
                  <a:pt x="87708" y="162022"/>
                  <a:pt x="82513" y="162878"/>
                  <a:pt x="77155" y="162878"/>
                </a:cubicBezTo>
                <a:cubicBezTo>
                  <a:pt x="48757" y="162878"/>
                  <a:pt x="25720" y="139840"/>
                  <a:pt x="25720" y="111443"/>
                </a:cubicBezTo>
                <a:cubicBezTo>
                  <a:pt x="25720" y="83045"/>
                  <a:pt x="48757" y="60008"/>
                  <a:pt x="77155" y="60008"/>
                </a:cubicBezTo>
                <a:cubicBezTo>
                  <a:pt x="78708" y="60008"/>
                  <a:pt x="80208" y="60062"/>
                  <a:pt x="81709" y="60222"/>
                </a:cubicBezTo>
                <a:cubicBezTo>
                  <a:pt x="87066" y="60704"/>
                  <a:pt x="92158" y="57758"/>
                  <a:pt x="94459" y="52881"/>
                </a:cubicBezTo>
                <a:lnTo>
                  <a:pt x="94459" y="52881"/>
                </a:lnTo>
                <a:moveTo>
                  <a:pt x="102870" y="231458"/>
                </a:moveTo>
                <a:cubicBezTo>
                  <a:pt x="102870" y="217253"/>
                  <a:pt x="91357" y="205740"/>
                  <a:pt x="77153" y="205740"/>
                </a:cubicBezTo>
                <a:cubicBezTo>
                  <a:pt x="62948" y="205740"/>
                  <a:pt x="51435" y="217253"/>
                  <a:pt x="51435" y="231458"/>
                </a:cubicBezTo>
                <a:cubicBezTo>
                  <a:pt x="51435" y="245662"/>
                  <a:pt x="62948" y="257175"/>
                  <a:pt x="77153" y="257175"/>
                </a:cubicBezTo>
                <a:cubicBezTo>
                  <a:pt x="91357" y="257175"/>
                  <a:pt x="102870" y="245662"/>
                  <a:pt x="102870" y="231458"/>
                </a:cubicBezTo>
                <a:moveTo>
                  <a:pt x="34290" y="257175"/>
                </a:moveTo>
                <a:cubicBezTo>
                  <a:pt x="34290" y="247705"/>
                  <a:pt x="26615" y="240030"/>
                  <a:pt x="17145" y="240030"/>
                </a:cubicBezTo>
                <a:cubicBezTo>
                  <a:pt x="7675" y="240030"/>
                  <a:pt x="0" y="247705"/>
                  <a:pt x="0" y="257175"/>
                </a:cubicBezTo>
                <a:cubicBezTo>
                  <a:pt x="0" y="266645"/>
                  <a:pt x="7675" y="274320"/>
                  <a:pt x="17145" y="274320"/>
                </a:cubicBezTo>
                <a:cubicBezTo>
                  <a:pt x="26615" y="274320"/>
                  <a:pt x="34290" y="266645"/>
                  <a:pt x="34290" y="257175"/>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4190463" y="1758707"/>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9327246" y="1673398"/>
            <a:ext cx="274320" cy="274320"/>
          </a:xfrm>
          <a:custGeom>
            <a:avLst/>
            <a:gdLst/>
            <a:ahLst/>
            <a:cxnLst/>
            <a:rect l="l" t="t" r="r" b="b"/>
            <a:pathLst>
              <a:path w="274320" h="274320">
                <a:moveTo>
                  <a:pt x="218106" y="3777"/>
                </a:moveTo>
                <a:cubicBezTo>
                  <a:pt x="213070" y="8814"/>
                  <a:pt x="213070" y="16959"/>
                  <a:pt x="218106" y="21943"/>
                </a:cubicBezTo>
                <a:lnTo>
                  <a:pt x="226144" y="29981"/>
                </a:lnTo>
                <a:lnTo>
                  <a:pt x="205784" y="50448"/>
                </a:lnTo>
                <a:lnTo>
                  <a:pt x="176314" y="20923"/>
                </a:lnTo>
                <a:cubicBezTo>
                  <a:pt x="171277" y="15886"/>
                  <a:pt x="163133" y="15886"/>
                  <a:pt x="158148" y="20923"/>
                </a:cubicBezTo>
                <a:cubicBezTo>
                  <a:pt x="153164" y="25959"/>
                  <a:pt x="153112" y="34104"/>
                  <a:pt x="158148" y="39088"/>
                </a:cubicBezTo>
                <a:lnTo>
                  <a:pt x="196728" y="77668"/>
                </a:lnTo>
                <a:lnTo>
                  <a:pt x="235309" y="116249"/>
                </a:lnTo>
                <a:cubicBezTo>
                  <a:pt x="240345" y="121285"/>
                  <a:pt x="248490" y="121285"/>
                  <a:pt x="253474" y="116249"/>
                </a:cubicBezTo>
                <a:cubicBezTo>
                  <a:pt x="258459" y="111212"/>
                  <a:pt x="258511" y="103068"/>
                  <a:pt x="253474" y="98083"/>
                </a:cubicBezTo>
                <a:lnTo>
                  <a:pt x="224004" y="68613"/>
                </a:lnTo>
                <a:lnTo>
                  <a:pt x="244364" y="48198"/>
                </a:lnTo>
                <a:lnTo>
                  <a:pt x="252402" y="56236"/>
                </a:lnTo>
                <a:cubicBezTo>
                  <a:pt x="257438" y="61272"/>
                  <a:pt x="265583" y="61272"/>
                  <a:pt x="270567" y="56236"/>
                </a:cubicBezTo>
                <a:cubicBezTo>
                  <a:pt x="275552" y="51199"/>
                  <a:pt x="275604" y="43055"/>
                  <a:pt x="270567" y="38070"/>
                </a:cubicBezTo>
                <a:lnTo>
                  <a:pt x="253474" y="20925"/>
                </a:lnTo>
                <a:lnTo>
                  <a:pt x="236329" y="3780"/>
                </a:lnTo>
                <a:cubicBezTo>
                  <a:pt x="231293" y="-1256"/>
                  <a:pt x="223148" y="-1256"/>
                  <a:pt x="218164" y="3780"/>
                </a:cubicBezTo>
                <a:lnTo>
                  <a:pt x="218106" y="3777"/>
                </a:lnTo>
                <a:moveTo>
                  <a:pt x="145447" y="50716"/>
                </a:moveTo>
                <a:lnTo>
                  <a:pt x="43107" y="153057"/>
                </a:lnTo>
                <a:cubicBezTo>
                  <a:pt x="37480" y="158735"/>
                  <a:pt x="34320" y="166345"/>
                  <a:pt x="34320" y="174328"/>
                </a:cubicBezTo>
                <a:lnTo>
                  <a:pt x="34320" y="221908"/>
                </a:lnTo>
                <a:lnTo>
                  <a:pt x="3777" y="252396"/>
                </a:lnTo>
                <a:cubicBezTo>
                  <a:pt x="-1259" y="257433"/>
                  <a:pt x="-1259" y="265577"/>
                  <a:pt x="3777" y="270562"/>
                </a:cubicBezTo>
                <a:cubicBezTo>
                  <a:pt x="8814" y="275546"/>
                  <a:pt x="16959" y="275598"/>
                  <a:pt x="21943" y="270562"/>
                </a:cubicBezTo>
                <a:lnTo>
                  <a:pt x="52486" y="240019"/>
                </a:lnTo>
                <a:lnTo>
                  <a:pt x="100067" y="240019"/>
                </a:lnTo>
                <a:cubicBezTo>
                  <a:pt x="108049" y="240019"/>
                  <a:pt x="115659" y="236859"/>
                  <a:pt x="121285" y="231233"/>
                </a:cubicBezTo>
                <a:lnTo>
                  <a:pt x="223626" y="128892"/>
                </a:lnTo>
                <a:cubicBezTo>
                  <a:pt x="223464" y="128730"/>
                  <a:pt x="223250" y="128571"/>
                  <a:pt x="223091" y="128357"/>
                </a:cubicBezTo>
                <a:lnTo>
                  <a:pt x="205408" y="110674"/>
                </a:lnTo>
                <a:lnTo>
                  <a:pt x="103068" y="213015"/>
                </a:lnTo>
                <a:cubicBezTo>
                  <a:pt x="102264" y="213819"/>
                  <a:pt x="101191" y="214247"/>
                  <a:pt x="100014" y="214247"/>
                </a:cubicBezTo>
                <a:lnTo>
                  <a:pt x="60043" y="214354"/>
                </a:lnTo>
                <a:lnTo>
                  <a:pt x="60043" y="174328"/>
                </a:lnTo>
                <a:cubicBezTo>
                  <a:pt x="60043" y="173203"/>
                  <a:pt x="60471" y="172078"/>
                  <a:pt x="61275" y="171274"/>
                </a:cubicBezTo>
                <a:lnTo>
                  <a:pt x="75902" y="156648"/>
                </a:lnTo>
                <a:lnTo>
                  <a:pt x="88227" y="168973"/>
                </a:lnTo>
                <a:cubicBezTo>
                  <a:pt x="91549" y="172295"/>
                  <a:pt x="97013" y="172295"/>
                  <a:pt x="100335" y="168973"/>
                </a:cubicBezTo>
                <a:cubicBezTo>
                  <a:pt x="103657" y="165651"/>
                  <a:pt x="103657" y="160186"/>
                  <a:pt x="100335" y="156864"/>
                </a:cubicBezTo>
                <a:lnTo>
                  <a:pt x="88010" y="144539"/>
                </a:lnTo>
                <a:lnTo>
                  <a:pt x="110194" y="122355"/>
                </a:lnTo>
                <a:lnTo>
                  <a:pt x="122520" y="134680"/>
                </a:lnTo>
                <a:cubicBezTo>
                  <a:pt x="125842" y="138002"/>
                  <a:pt x="131306" y="138002"/>
                  <a:pt x="134628" y="134680"/>
                </a:cubicBezTo>
                <a:cubicBezTo>
                  <a:pt x="137950" y="131358"/>
                  <a:pt x="137950" y="125894"/>
                  <a:pt x="134628" y="122572"/>
                </a:cubicBezTo>
                <a:lnTo>
                  <a:pt x="122303" y="110246"/>
                </a:lnTo>
                <a:lnTo>
                  <a:pt x="144487" y="88062"/>
                </a:lnTo>
                <a:lnTo>
                  <a:pt x="156812" y="100387"/>
                </a:lnTo>
                <a:cubicBezTo>
                  <a:pt x="160134" y="103709"/>
                  <a:pt x="165599" y="103709"/>
                  <a:pt x="168921" y="100387"/>
                </a:cubicBezTo>
                <a:cubicBezTo>
                  <a:pt x="172243" y="97065"/>
                  <a:pt x="172243" y="91601"/>
                  <a:pt x="168921" y="88279"/>
                </a:cubicBezTo>
                <a:lnTo>
                  <a:pt x="156596" y="75954"/>
                </a:lnTo>
                <a:lnTo>
                  <a:pt x="163615" y="68934"/>
                </a:lnTo>
                <a:lnTo>
                  <a:pt x="145933" y="51251"/>
                </a:lnTo>
                <a:cubicBezTo>
                  <a:pt x="145771" y="51089"/>
                  <a:pt x="145612" y="50875"/>
                  <a:pt x="145398" y="50716"/>
                </a:cubicBezTo>
                <a:lnTo>
                  <a:pt x="145447" y="50716"/>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703887"/>
            <a:ext cx="274320" cy="213341"/>
          </a:xfrm>
          <a:custGeom>
            <a:avLst/>
            <a:gdLst/>
            <a:ahLst/>
            <a:cxnLst/>
            <a:rect l="l" t="t" r="r" b="b"/>
            <a:pathLst>
              <a:path w="274320" h="213341">
                <a:moveTo>
                  <a:pt x="137135" y="22857"/>
                </a:moveTo>
                <a:cubicBezTo>
                  <a:pt x="106088" y="22857"/>
                  <a:pt x="80562" y="36953"/>
                  <a:pt x="60990" y="55098"/>
                </a:cubicBezTo>
                <a:cubicBezTo>
                  <a:pt x="42657" y="72146"/>
                  <a:pt x="29989" y="92385"/>
                  <a:pt x="23512" y="106671"/>
                </a:cubicBezTo>
                <a:cubicBezTo>
                  <a:pt x="29989" y="120956"/>
                  <a:pt x="42657" y="141196"/>
                  <a:pt x="60943" y="158244"/>
                </a:cubicBezTo>
                <a:cubicBezTo>
                  <a:pt x="80562" y="176387"/>
                  <a:pt x="106088" y="190484"/>
                  <a:pt x="137135" y="190484"/>
                </a:cubicBezTo>
                <a:cubicBezTo>
                  <a:pt x="168183" y="190484"/>
                  <a:pt x="193708" y="176389"/>
                  <a:pt x="213281" y="158244"/>
                </a:cubicBezTo>
                <a:cubicBezTo>
                  <a:pt x="231614" y="141196"/>
                  <a:pt x="244282" y="120956"/>
                  <a:pt x="250759" y="106671"/>
                </a:cubicBezTo>
                <a:cubicBezTo>
                  <a:pt x="244282" y="92385"/>
                  <a:pt x="231614" y="72146"/>
                  <a:pt x="213328" y="55098"/>
                </a:cubicBezTo>
                <a:cubicBezTo>
                  <a:pt x="193708" y="36955"/>
                  <a:pt x="168183" y="22857"/>
                  <a:pt x="137135" y="22857"/>
                </a:cubicBezTo>
                <a:lnTo>
                  <a:pt x="137135" y="22857"/>
                </a:lnTo>
                <a:moveTo>
                  <a:pt x="45419" y="38382"/>
                </a:moveTo>
                <a:cubicBezTo>
                  <a:pt x="67848" y="17524"/>
                  <a:pt x="98659" y="0"/>
                  <a:pt x="137138" y="0"/>
                </a:cubicBezTo>
                <a:cubicBezTo>
                  <a:pt x="175617" y="0"/>
                  <a:pt x="206426" y="17524"/>
                  <a:pt x="228857" y="38382"/>
                </a:cubicBezTo>
                <a:cubicBezTo>
                  <a:pt x="251143" y="59098"/>
                  <a:pt x="266049" y="83813"/>
                  <a:pt x="273143" y="100812"/>
                </a:cubicBezTo>
                <a:cubicBezTo>
                  <a:pt x="274715" y="104574"/>
                  <a:pt x="274715" y="108766"/>
                  <a:pt x="273143" y="112527"/>
                </a:cubicBezTo>
                <a:cubicBezTo>
                  <a:pt x="266046" y="129528"/>
                  <a:pt x="251143" y="154291"/>
                  <a:pt x="228857" y="174957"/>
                </a:cubicBezTo>
                <a:cubicBezTo>
                  <a:pt x="206429" y="195815"/>
                  <a:pt x="175617" y="213339"/>
                  <a:pt x="137138" y="213339"/>
                </a:cubicBezTo>
                <a:cubicBezTo>
                  <a:pt x="98659" y="213339"/>
                  <a:pt x="67850" y="195815"/>
                  <a:pt x="45419" y="174957"/>
                </a:cubicBezTo>
                <a:cubicBezTo>
                  <a:pt x="23133" y="154291"/>
                  <a:pt x="8227" y="129526"/>
                  <a:pt x="1180" y="112527"/>
                </a:cubicBezTo>
                <a:cubicBezTo>
                  <a:pt x="-392" y="108766"/>
                  <a:pt x="-392" y="104574"/>
                  <a:pt x="1180" y="100812"/>
                </a:cubicBezTo>
                <a:cubicBezTo>
                  <a:pt x="8227" y="83811"/>
                  <a:pt x="23133" y="59049"/>
                  <a:pt x="45419" y="38382"/>
                </a:cubicBezTo>
                <a:lnTo>
                  <a:pt x="45419" y="38382"/>
                </a:lnTo>
                <a:moveTo>
                  <a:pt x="137135" y="144767"/>
                </a:moveTo>
                <a:cubicBezTo>
                  <a:pt x="158184" y="144767"/>
                  <a:pt x="175233" y="127719"/>
                  <a:pt x="175233" y="106671"/>
                </a:cubicBezTo>
                <a:cubicBezTo>
                  <a:pt x="175233" y="85623"/>
                  <a:pt x="158184" y="68574"/>
                  <a:pt x="137135" y="68574"/>
                </a:cubicBezTo>
                <a:cubicBezTo>
                  <a:pt x="136801" y="68574"/>
                  <a:pt x="136515" y="68574"/>
                  <a:pt x="136183" y="68574"/>
                </a:cubicBezTo>
                <a:cubicBezTo>
                  <a:pt x="136803" y="71002"/>
                  <a:pt x="137135" y="73575"/>
                  <a:pt x="137135" y="76193"/>
                </a:cubicBezTo>
                <a:cubicBezTo>
                  <a:pt x="137135" y="93002"/>
                  <a:pt x="123469" y="106671"/>
                  <a:pt x="106658" y="106671"/>
                </a:cubicBezTo>
                <a:cubicBezTo>
                  <a:pt x="104039" y="106671"/>
                  <a:pt x="101468" y="106338"/>
                  <a:pt x="99038" y="105719"/>
                </a:cubicBezTo>
                <a:cubicBezTo>
                  <a:pt x="99038" y="106052"/>
                  <a:pt x="99038" y="106338"/>
                  <a:pt x="99038" y="106671"/>
                </a:cubicBezTo>
                <a:cubicBezTo>
                  <a:pt x="99038" y="127719"/>
                  <a:pt x="116087" y="144767"/>
                  <a:pt x="137135" y="144767"/>
                </a:cubicBezTo>
                <a:moveTo>
                  <a:pt x="137135" y="45717"/>
                </a:moveTo>
                <a:cubicBezTo>
                  <a:pt x="170800" y="45717"/>
                  <a:pt x="198089" y="73008"/>
                  <a:pt x="198089" y="106671"/>
                </a:cubicBezTo>
                <a:cubicBezTo>
                  <a:pt x="198089" y="140336"/>
                  <a:pt x="170800" y="167625"/>
                  <a:pt x="137135" y="167625"/>
                </a:cubicBezTo>
                <a:cubicBezTo>
                  <a:pt x="103471" y="167625"/>
                  <a:pt x="76181" y="140334"/>
                  <a:pt x="76181" y="106671"/>
                </a:cubicBezTo>
                <a:cubicBezTo>
                  <a:pt x="76181" y="73006"/>
                  <a:pt x="103471" y="45717"/>
                  <a:pt x="137135" y="45717"/>
                </a:cubicBezTo>
                <a:lnTo>
                  <a:pt x="137135" y="4571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30086" y="1673398"/>
            <a:ext cx="240030" cy="274320"/>
          </a:xfrm>
          <a:custGeom>
            <a:avLst/>
            <a:gdLst/>
            <a:ahLst/>
            <a:cxnLst/>
            <a:rect l="l" t="t" r="r" b="b"/>
            <a:pathLst>
              <a:path w="240030" h="274320">
                <a:moveTo>
                  <a:pt x="94298" y="105443"/>
                </a:moveTo>
                <a:cubicBezTo>
                  <a:pt x="94298" y="116534"/>
                  <a:pt x="91190" y="127411"/>
                  <a:pt x="85405" y="136894"/>
                </a:cubicBezTo>
                <a:lnTo>
                  <a:pt x="64134" y="171453"/>
                </a:lnTo>
                <a:lnTo>
                  <a:pt x="175899" y="171453"/>
                </a:lnTo>
                <a:lnTo>
                  <a:pt x="154627" y="136894"/>
                </a:lnTo>
                <a:cubicBezTo>
                  <a:pt x="148787" y="127411"/>
                  <a:pt x="145734" y="116534"/>
                  <a:pt x="145734" y="105443"/>
                </a:cubicBezTo>
                <a:lnTo>
                  <a:pt x="145734" y="25718"/>
                </a:lnTo>
                <a:lnTo>
                  <a:pt x="94298" y="25718"/>
                </a:lnTo>
                <a:lnTo>
                  <a:pt x="94298" y="105443"/>
                </a:lnTo>
                <a:moveTo>
                  <a:pt x="171451" y="25718"/>
                </a:moveTo>
                <a:lnTo>
                  <a:pt x="171451" y="105443"/>
                </a:lnTo>
                <a:cubicBezTo>
                  <a:pt x="171451" y="111766"/>
                  <a:pt x="173220" y="118034"/>
                  <a:pt x="176542" y="123392"/>
                </a:cubicBezTo>
                <a:lnTo>
                  <a:pt x="234514" y="217634"/>
                </a:lnTo>
                <a:cubicBezTo>
                  <a:pt x="238105" y="223475"/>
                  <a:pt x="240032" y="230226"/>
                  <a:pt x="240032" y="237136"/>
                </a:cubicBezTo>
                <a:cubicBezTo>
                  <a:pt x="240032" y="257655"/>
                  <a:pt x="223370" y="274320"/>
                  <a:pt x="202849" y="274320"/>
                </a:cubicBezTo>
                <a:lnTo>
                  <a:pt x="37185" y="274320"/>
                </a:lnTo>
                <a:cubicBezTo>
                  <a:pt x="16665" y="274320"/>
                  <a:pt x="2" y="257658"/>
                  <a:pt x="2" y="237136"/>
                </a:cubicBezTo>
                <a:cubicBezTo>
                  <a:pt x="2" y="230278"/>
                  <a:pt x="1932" y="223527"/>
                  <a:pt x="5521" y="217634"/>
                </a:cubicBezTo>
                <a:lnTo>
                  <a:pt x="63493" y="123444"/>
                </a:lnTo>
                <a:cubicBezTo>
                  <a:pt x="66815" y="118032"/>
                  <a:pt x="68584" y="111818"/>
                  <a:pt x="68584" y="105495"/>
                </a:cubicBezTo>
                <a:lnTo>
                  <a:pt x="68584" y="25717"/>
                </a:lnTo>
                <a:lnTo>
                  <a:pt x="64297" y="25717"/>
                </a:lnTo>
                <a:cubicBezTo>
                  <a:pt x="57170" y="25717"/>
                  <a:pt x="51438" y="19984"/>
                  <a:pt x="51438" y="12860"/>
                </a:cubicBezTo>
                <a:cubicBezTo>
                  <a:pt x="51438" y="5733"/>
                  <a:pt x="57170" y="3"/>
                  <a:pt x="64297" y="3"/>
                </a:cubicBezTo>
                <a:lnTo>
                  <a:pt x="85729" y="3"/>
                </a:lnTo>
                <a:lnTo>
                  <a:pt x="154308" y="3"/>
                </a:lnTo>
                <a:lnTo>
                  <a:pt x="175740" y="3"/>
                </a:lnTo>
                <a:cubicBezTo>
                  <a:pt x="182867" y="3"/>
                  <a:pt x="188599" y="5736"/>
                  <a:pt x="188599" y="12863"/>
                </a:cubicBezTo>
                <a:cubicBezTo>
                  <a:pt x="188599" y="19989"/>
                  <a:pt x="182867" y="25723"/>
                  <a:pt x="175740" y="25723"/>
                </a:cubicBezTo>
                <a:lnTo>
                  <a:pt x="171451" y="25718"/>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55456" y="1719118"/>
            <a:ext cx="274320" cy="182880"/>
          </a:xfrm>
          <a:custGeom>
            <a:avLst/>
            <a:gdLst/>
            <a:ahLst/>
            <a:cxnLst/>
            <a:rect l="l" t="t" r="r" b="b"/>
            <a:pathLst>
              <a:path w="274320" h="182880">
                <a:moveTo>
                  <a:pt x="43529" y="46815"/>
                </a:moveTo>
                <a:cubicBezTo>
                  <a:pt x="29050" y="59293"/>
                  <a:pt x="22859" y="76771"/>
                  <a:pt x="22859" y="99061"/>
                </a:cubicBezTo>
                <a:cubicBezTo>
                  <a:pt x="22859" y="119967"/>
                  <a:pt x="30145" y="134684"/>
                  <a:pt x="40385" y="144305"/>
                </a:cubicBezTo>
                <a:cubicBezTo>
                  <a:pt x="50862" y="154117"/>
                  <a:pt x="65960" y="160022"/>
                  <a:pt x="83818" y="160022"/>
                </a:cubicBezTo>
                <a:lnTo>
                  <a:pt x="87818" y="160022"/>
                </a:lnTo>
                <a:cubicBezTo>
                  <a:pt x="90723" y="160022"/>
                  <a:pt x="93343" y="158403"/>
                  <a:pt x="94629" y="155830"/>
                </a:cubicBezTo>
                <a:lnTo>
                  <a:pt x="105679" y="133781"/>
                </a:lnTo>
                <a:lnTo>
                  <a:pt x="124253" y="143067"/>
                </a:lnTo>
                <a:lnTo>
                  <a:pt x="105679" y="133781"/>
                </a:lnTo>
                <a:cubicBezTo>
                  <a:pt x="111632" y="121828"/>
                  <a:pt x="123825" y="114302"/>
                  <a:pt x="137160" y="114302"/>
                </a:cubicBezTo>
                <a:cubicBezTo>
                  <a:pt x="150495" y="114302"/>
                  <a:pt x="162688" y="121828"/>
                  <a:pt x="168641" y="133733"/>
                </a:cubicBezTo>
                <a:lnTo>
                  <a:pt x="179690" y="155783"/>
                </a:lnTo>
                <a:cubicBezTo>
                  <a:pt x="180977" y="158354"/>
                  <a:pt x="183597" y="159974"/>
                  <a:pt x="186502" y="159974"/>
                </a:cubicBezTo>
                <a:lnTo>
                  <a:pt x="190501" y="159974"/>
                </a:lnTo>
                <a:cubicBezTo>
                  <a:pt x="208313" y="159974"/>
                  <a:pt x="223458" y="154069"/>
                  <a:pt x="233934" y="144258"/>
                </a:cubicBezTo>
                <a:cubicBezTo>
                  <a:pt x="244175" y="134638"/>
                  <a:pt x="251461" y="119922"/>
                  <a:pt x="251461" y="99013"/>
                </a:cubicBezTo>
                <a:cubicBezTo>
                  <a:pt x="251461" y="76724"/>
                  <a:pt x="245269" y="59246"/>
                  <a:pt x="230791" y="46768"/>
                </a:cubicBezTo>
                <a:cubicBezTo>
                  <a:pt x="215695" y="33767"/>
                  <a:pt x="187785" y="22860"/>
                  <a:pt x="137160" y="22860"/>
                </a:cubicBezTo>
                <a:cubicBezTo>
                  <a:pt x="86534" y="22860"/>
                  <a:pt x="58627" y="33767"/>
                  <a:pt x="43529" y="46815"/>
                </a:cubicBezTo>
                <a:lnTo>
                  <a:pt x="43529" y="46815"/>
                </a:lnTo>
                <a:moveTo>
                  <a:pt x="0" y="99061"/>
                </a:moveTo>
                <a:cubicBezTo>
                  <a:pt x="0" y="45720"/>
                  <a:pt x="30480" y="0"/>
                  <a:pt x="137160" y="0"/>
                </a:cubicBezTo>
                <a:cubicBezTo>
                  <a:pt x="243840" y="0"/>
                  <a:pt x="274320" y="45720"/>
                  <a:pt x="274320" y="99061"/>
                </a:cubicBezTo>
                <a:cubicBezTo>
                  <a:pt x="274320" y="152401"/>
                  <a:pt x="236220" y="182880"/>
                  <a:pt x="190499" y="182880"/>
                </a:cubicBezTo>
                <a:lnTo>
                  <a:pt x="186499" y="182880"/>
                </a:lnTo>
                <a:cubicBezTo>
                  <a:pt x="174975" y="182880"/>
                  <a:pt x="164400" y="176355"/>
                  <a:pt x="159256" y="166020"/>
                </a:cubicBezTo>
                <a:lnTo>
                  <a:pt x="148207" y="143970"/>
                </a:lnTo>
                <a:cubicBezTo>
                  <a:pt x="146111" y="139779"/>
                  <a:pt x="141873" y="137160"/>
                  <a:pt x="137157" y="137160"/>
                </a:cubicBezTo>
                <a:cubicBezTo>
                  <a:pt x="132442" y="137160"/>
                  <a:pt x="128204" y="139779"/>
                  <a:pt x="126108" y="143970"/>
                </a:cubicBezTo>
                <a:lnTo>
                  <a:pt x="115058" y="166020"/>
                </a:lnTo>
                <a:cubicBezTo>
                  <a:pt x="109915" y="176355"/>
                  <a:pt x="99342" y="182880"/>
                  <a:pt x="87815" y="182880"/>
                </a:cubicBezTo>
                <a:lnTo>
                  <a:pt x="83816" y="182880"/>
                </a:lnTo>
                <a:cubicBezTo>
                  <a:pt x="38095" y="182880"/>
                  <a:pt x="-5" y="152399"/>
                  <a:pt x="-5" y="99061"/>
                </a:cubicBezTo>
                <a:lnTo>
                  <a:pt x="0" y="99061"/>
                </a:lnTo>
                <a:moveTo>
                  <a:pt x="45721" y="91440"/>
                </a:moveTo>
                <a:cubicBezTo>
                  <a:pt x="45721" y="74606"/>
                  <a:pt x="59368" y="60959"/>
                  <a:pt x="76201" y="60959"/>
                </a:cubicBezTo>
                <a:cubicBezTo>
                  <a:pt x="93033" y="60959"/>
                  <a:pt x="106680" y="74606"/>
                  <a:pt x="106680" y="91440"/>
                </a:cubicBezTo>
                <a:cubicBezTo>
                  <a:pt x="106680" y="108274"/>
                  <a:pt x="93033" y="121921"/>
                  <a:pt x="76201" y="121921"/>
                </a:cubicBezTo>
                <a:cubicBezTo>
                  <a:pt x="59368" y="121921"/>
                  <a:pt x="45721" y="108274"/>
                  <a:pt x="45721" y="91440"/>
                </a:cubicBezTo>
                <a:lnTo>
                  <a:pt x="45721" y="91440"/>
                </a:lnTo>
                <a:moveTo>
                  <a:pt x="198119" y="60959"/>
                </a:moveTo>
                <a:cubicBezTo>
                  <a:pt x="214952" y="60959"/>
                  <a:pt x="228599" y="74606"/>
                  <a:pt x="228599" y="91440"/>
                </a:cubicBezTo>
                <a:cubicBezTo>
                  <a:pt x="228599" y="108274"/>
                  <a:pt x="214952" y="121921"/>
                  <a:pt x="198119" y="121921"/>
                </a:cubicBezTo>
                <a:cubicBezTo>
                  <a:pt x="181287" y="121921"/>
                  <a:pt x="167640" y="108274"/>
                  <a:pt x="167640" y="91440"/>
                </a:cubicBezTo>
                <a:cubicBezTo>
                  <a:pt x="167640" y="74606"/>
                  <a:pt x="181287" y="60959"/>
                  <a:pt x="198119" y="60959"/>
                </a:cubicBezTo>
                <a:lnTo>
                  <a:pt x="198119" y="6095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Adversarial Attacks: When AI Becomes The Target</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For AI systems using large language models, attackers craft inputs that override intended instructions. This manipulation may cause the system to leak sensitive information or perform harmful actions, compromising AI security functions.</a:t>
            </a:r>
            <a:endParaRPr lang="en-US" sz="159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Prompt Injection</a:t>
            </a:r>
            <a:endParaRPr lang="en-US" sz="2030"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By repeatedly querying AI systems and analyzing responses, attackers reverse-engineer the AI model. This knowledge enables crafting attacks specifically designed to evade detection by exploiting the system's learned patterns.</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Model Extraction</a:t>
            </a:r>
            <a:endParaRPr lang="en-US" sz="2030"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Attackers inject corrupted samples or slowly shift training data so the AI learns malicious patterns as normal. This creates blind spots or backdoors in the AI model, allowing future attacks to bypass detection unseen by automated systems.</a:t>
            </a:r>
            <a:endParaRPr lang="en-US" sz="159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Data Poisoning</a:t>
            </a:r>
            <a:endParaRPr lang="en-US" sz="2030"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Attackers subtly modify malicious inputs such as malware code, network packets, or phishing emails to appear benign to AI classifiers while remaining functional. They add small noise patterns or minor changes to cause AI to misclassify threats as safe, evading detection.</a:t>
            </a:r>
            <a:endParaRPr lang="en-US" sz="1595"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Evasion Attacks</a:t>
            </a:r>
            <a:endParaRPr lang="en-US" sz="2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9" name="Text 7"/>
          <p:cNvSpPr/>
          <p:nvPr>
            <p:ph type="title"/>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Novel Threat Problem</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Human threat hunters excel in ambiguous situations where AI falls short. Analysts use intuition, drawing on experience to sense when 'something feels wrong' even without clear signatures. They hypothesize attacker motivations, improvise responses, and predict next moves based on subtle clues. This contextual understanding and creative problem-solving are essential for identifying and mitigating novel threats.</a:t>
            </a:r>
            <a:endParaRPr lang="en-US" sz="1674"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093" dirty="0">
                <a:solidFill>
                  <a:srgbClr val="FFFFFF"/>
                </a:solidFill>
                <a:latin typeface="Figtree Regular" pitchFamily="34" charset="0"/>
                <a:ea typeface="Figtree Regular" pitchFamily="34" charset="-122"/>
                <a:cs typeface="Figtree Regular" pitchFamily="34" charset="-120"/>
              </a:rPr>
              <a:t>Human Analyst Intuition and Adaptability</a:t>
            </a:r>
            <a:endParaRPr lang="en-US" sz="2093"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287"/>
              </a:spcBef>
              <a:buNone/>
            </a:pPr>
            <a:r>
              <a:rPr lang="en-US" sz="1674" dirty="0">
                <a:solidFill>
                  <a:srgbClr val="FFFFFF"/>
                </a:solidFill>
                <a:latin typeface="Figtree Regular" pitchFamily="34" charset="0"/>
                <a:ea typeface="Figtree Regular" pitchFamily="34" charset="-122"/>
                <a:cs typeface="Figtree Regular" pitchFamily="34" charset="-120"/>
              </a:rPr>
              <a:t>AI systems rely on historical data to learn patterns and detect threats. When faced with genuinely new attack techniques not seen before, AI lacks the training data to accurately classify or respond. It can flag unusual behavior as anomalous but cannot interpret or adapt effectively to unknown threats. This creates a detection blind spot during the initial emergence of novel attacks.</a:t>
            </a:r>
            <a:endParaRPr lang="en-US" sz="1674"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093" dirty="0">
                <a:solidFill>
                  <a:srgbClr val="FFFFFF"/>
                </a:solidFill>
                <a:latin typeface="Figtree Regular" pitchFamily="34" charset="0"/>
                <a:ea typeface="Figtree Regular" pitchFamily="34" charset="-122"/>
                <a:cs typeface="Figtree Regular" pitchFamily="34" charset="-120"/>
              </a:rPr>
              <a:t>AI's Limitation with Novel Attacks</a:t>
            </a:r>
            <a:endParaRPr lang="en-US" sz="2093"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713796"/>
            <a:ext cx="7481459" cy="4305530"/>
          </a:xfrm>
          <a:custGeom>
            <a:avLst/>
            <a:gdLst/>
            <a:ahLst/>
            <a:cxnLst/>
            <a:rect l="l" t="t" r="r" b="b"/>
            <a:pathLst>
              <a:path w="7481459" h="4305530">
                <a:moveTo>
                  <a:pt x="204393" y="4305530"/>
                </a:moveTo>
                <a:cubicBezTo>
                  <a:pt x="91498" y="4305530"/>
                  <a:pt x="0" y="4214038"/>
                  <a:pt x="0" y="4101146"/>
                </a:cubicBezTo>
                <a:lnTo>
                  <a:pt x="0" y="204384"/>
                </a:lnTo>
                <a:cubicBezTo>
                  <a:pt x="0" y="91493"/>
                  <a:pt x="91498" y="0"/>
                  <a:pt x="204393" y="0"/>
                </a:cubicBezTo>
                <a:lnTo>
                  <a:pt x="7277066" y="0"/>
                </a:lnTo>
                <a:cubicBezTo>
                  <a:pt x="7389961" y="0"/>
                  <a:pt x="7481459" y="91492"/>
                  <a:pt x="7481459" y="204384"/>
                </a:cubicBezTo>
                <a:lnTo>
                  <a:pt x="7481459" y="4101146"/>
                </a:lnTo>
                <a:cubicBezTo>
                  <a:pt x="7481459" y="4214037"/>
                  <a:pt x="7389961" y="4305530"/>
                  <a:pt x="7277066" y="4305530"/>
                </a:cubicBezTo>
                <a:lnTo>
                  <a:pt x="204393"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01874" y="2715637"/>
            <a:ext cx="6637362" cy="2932924"/>
          </a:xfrm>
          <a:prstGeom prst="rect">
            <a:avLst/>
          </a:prstGeom>
          <a:noFill/>
          <a:ln/>
        </p:spPr>
        <p:txBody>
          <a:bodyPr wrap="square" lIns="0" tIns="0" rIns="0" bIns="0" rtlCol="0" anchor="t"/>
          <a:lstStyle/>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Legal and Ethical Challenges</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AI systems lack moral agency and cannot be held accountable for errors they cause in security operations. When fully automated systems contribute to failures such as missed breaches or business disruptions, responsibility becomes unclear, creating an accountability gap.</a:t>
            </a:r>
            <a:endParaRPr lang="en-US" sz="1075" dirty="0"/>
          </a:p>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Human Oversight Requirements</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Organizations must design security operations with meaningful human control. Humans bear responsibility for configuring AI systems appropriately, supervising critical decisions, and providing oversight to catch AI errors or manipulation.</a:t>
            </a:r>
            <a:endParaRPr lang="en-US" sz="1075" dirty="0"/>
          </a:p>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Regulatory Compliance</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Regulations like GDPR and the EU AI Act mandate explainability, human review, and clear accountability chains for automated decisions affecting people and business functions. "The AI did it" is not an acceptable explanation for failures.</a:t>
            </a:r>
            <a:endParaRPr lang="en-US" sz="1075" dirty="0"/>
          </a:p>
          <a:p>
            <a:pPr algn="l" marL="0" indent="0">
              <a:lnSpc>
                <a:spcPct val="100000"/>
              </a:lnSpc>
              <a:spcBef>
                <a:spcPts val="768"/>
              </a:spcBef>
              <a:buNone/>
            </a:pPr>
            <a:r>
              <a:rPr lang="en-US" sz="1075" dirty="0">
                <a:solidFill>
                  <a:srgbClr val="FFFFFF"/>
                </a:solidFill>
                <a:latin typeface="Figtree Regular" pitchFamily="34" charset="0"/>
                <a:ea typeface="Figtree Regular" pitchFamily="34" charset="-122"/>
                <a:cs typeface="Figtree Regular" pitchFamily="34" charset="-120"/>
              </a:rPr>
              <a:t>Ethical Allocation of Responsibility</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Accountability should be distributed among organizations (design and deployment), analysts (application and judgment), and vendors (transparency and support). Clear processes and audit trails are essential.</a:t>
            </a:r>
            <a:endParaRPr lang="en-US" sz="1075" dirty="0"/>
          </a:p>
          <a:p>
            <a:pPr algn="l" marL="142875" indent="0">
              <a:lnSpc>
                <a:spcPct val="100000"/>
              </a:lnSpc>
              <a:spcBef>
                <a:spcPts val="768"/>
              </a:spcBef>
              <a:buNone/>
            </a:pPr>
            <a:r>
              <a:rPr lang="en-US" sz="913" dirty="0">
                <a:solidFill>
                  <a:srgbClr val="FFFFFF"/>
                </a:solidFill>
                <a:latin typeface="Figtree Regular" pitchFamily="34" charset="0"/>
                <a:ea typeface="Figtree Regular" pitchFamily="34" charset="-122"/>
                <a:cs typeface="Figtree Regular" pitchFamily="34" charset="-120"/>
              </a:rPr>
              <a:t>Building these frameworks ensures that AI augmentation enhances security without creating legal or ethical blind spots, preserving trust and responsibility in cybersecurity operations.</a:t>
            </a:r>
            <a:endParaRPr lang="en-US" sz="1075" dirty="0"/>
          </a:p>
        </p:txBody>
      </p:sp>
      <p:sp>
        <p:nvSpPr>
          <p:cNvPr id="8" name="Text 6"/>
          <p:cNvSpPr/>
          <p:nvPr/>
        </p:nvSpPr>
        <p:spPr>
          <a:xfrm>
            <a:off x="811875" y="2044751"/>
            <a:ext cx="457200" cy="366435"/>
          </a:xfrm>
          <a:custGeom>
            <a:avLst/>
            <a:gdLst/>
            <a:ahLst/>
            <a:cxnLst/>
            <a:rect l="l" t="t" r="r" b="b"/>
            <a:pathLst>
              <a:path w="457200" h="366435">
                <a:moveTo>
                  <a:pt x="372133" y="34353"/>
                </a:moveTo>
                <a:lnTo>
                  <a:pt x="281457" y="34353"/>
                </a:lnTo>
                <a:cubicBezTo>
                  <a:pt x="272656" y="14100"/>
                  <a:pt x="252470" y="0"/>
                  <a:pt x="228998" y="0"/>
                </a:cubicBezTo>
                <a:cubicBezTo>
                  <a:pt x="205525" y="0"/>
                  <a:pt x="185340" y="14100"/>
                  <a:pt x="176539" y="34353"/>
                </a:cubicBezTo>
                <a:lnTo>
                  <a:pt x="85862" y="34353"/>
                </a:lnTo>
                <a:cubicBezTo>
                  <a:pt x="76343" y="34353"/>
                  <a:pt x="68685" y="42012"/>
                  <a:pt x="68685" y="51532"/>
                </a:cubicBezTo>
                <a:cubicBezTo>
                  <a:pt x="68685" y="61052"/>
                  <a:pt x="76343" y="68710"/>
                  <a:pt x="85862" y="68710"/>
                </a:cubicBezTo>
                <a:lnTo>
                  <a:pt x="172890" y="68710"/>
                </a:lnTo>
                <a:cubicBezTo>
                  <a:pt x="177042" y="89180"/>
                  <a:pt x="192143" y="105713"/>
                  <a:pt x="211825" y="111866"/>
                </a:cubicBezTo>
                <a:lnTo>
                  <a:pt x="211825" y="332086"/>
                </a:lnTo>
                <a:lnTo>
                  <a:pt x="85862" y="332086"/>
                </a:lnTo>
                <a:cubicBezTo>
                  <a:pt x="76343" y="332086"/>
                  <a:pt x="68685" y="339744"/>
                  <a:pt x="68685" y="349264"/>
                </a:cubicBezTo>
                <a:cubicBezTo>
                  <a:pt x="68685" y="358784"/>
                  <a:pt x="76343" y="366443"/>
                  <a:pt x="85862" y="366443"/>
                </a:cubicBezTo>
                <a:lnTo>
                  <a:pt x="229002" y="366443"/>
                </a:lnTo>
                <a:lnTo>
                  <a:pt x="372143" y="366443"/>
                </a:lnTo>
                <a:cubicBezTo>
                  <a:pt x="381661" y="366443"/>
                  <a:pt x="389320" y="358784"/>
                  <a:pt x="389320" y="349268"/>
                </a:cubicBezTo>
                <a:cubicBezTo>
                  <a:pt x="389320" y="339748"/>
                  <a:pt x="381661" y="332093"/>
                  <a:pt x="372143" y="332093"/>
                </a:cubicBezTo>
                <a:lnTo>
                  <a:pt x="246179" y="332093"/>
                </a:lnTo>
                <a:lnTo>
                  <a:pt x="246179" y="111873"/>
                </a:lnTo>
                <a:cubicBezTo>
                  <a:pt x="265862" y="105717"/>
                  <a:pt x="280963" y="89187"/>
                  <a:pt x="285114" y="68718"/>
                </a:cubicBezTo>
                <a:lnTo>
                  <a:pt x="372143" y="68718"/>
                </a:lnTo>
                <a:cubicBezTo>
                  <a:pt x="381661" y="68718"/>
                  <a:pt x="389320" y="61059"/>
                  <a:pt x="389320" y="51543"/>
                </a:cubicBezTo>
                <a:cubicBezTo>
                  <a:pt x="389320" y="42023"/>
                  <a:pt x="381661" y="34368"/>
                  <a:pt x="372143" y="34368"/>
                </a:cubicBezTo>
                <a:lnTo>
                  <a:pt x="372133" y="34353"/>
                </a:lnTo>
                <a:moveTo>
                  <a:pt x="366405" y="140132"/>
                </a:moveTo>
                <a:lnTo>
                  <a:pt x="418219" y="229022"/>
                </a:lnTo>
                <a:lnTo>
                  <a:pt x="314517" y="229022"/>
                </a:lnTo>
                <a:lnTo>
                  <a:pt x="366405" y="140132"/>
                </a:lnTo>
                <a:moveTo>
                  <a:pt x="276231" y="241261"/>
                </a:moveTo>
                <a:cubicBezTo>
                  <a:pt x="283962" y="273398"/>
                  <a:pt x="321393" y="297729"/>
                  <a:pt x="366409" y="297729"/>
                </a:cubicBezTo>
                <a:cubicBezTo>
                  <a:pt x="411425" y="297729"/>
                  <a:pt x="448856" y="273394"/>
                  <a:pt x="456587" y="241261"/>
                </a:cubicBezTo>
                <a:cubicBezTo>
                  <a:pt x="458448" y="233390"/>
                  <a:pt x="455870" y="225303"/>
                  <a:pt x="451791" y="218286"/>
                </a:cubicBezTo>
                <a:lnTo>
                  <a:pt x="383659" y="101484"/>
                </a:lnTo>
                <a:cubicBezTo>
                  <a:pt x="380080" y="95328"/>
                  <a:pt x="373496" y="91609"/>
                  <a:pt x="366409" y="91609"/>
                </a:cubicBezTo>
                <a:cubicBezTo>
                  <a:pt x="359323" y="91609"/>
                  <a:pt x="352739" y="95401"/>
                  <a:pt x="349159" y="101484"/>
                </a:cubicBezTo>
                <a:lnTo>
                  <a:pt x="281027" y="218359"/>
                </a:lnTo>
                <a:cubicBezTo>
                  <a:pt x="276949" y="225372"/>
                  <a:pt x="274370" y="233460"/>
                  <a:pt x="276231" y="241334"/>
                </a:cubicBezTo>
                <a:lnTo>
                  <a:pt x="276231" y="241261"/>
                </a:lnTo>
                <a:moveTo>
                  <a:pt x="38903" y="229022"/>
                </a:moveTo>
                <a:lnTo>
                  <a:pt x="90718" y="140132"/>
                </a:lnTo>
                <a:lnTo>
                  <a:pt x="142605" y="229022"/>
                </a:lnTo>
                <a:lnTo>
                  <a:pt x="38903" y="229022"/>
                </a:lnTo>
                <a:moveTo>
                  <a:pt x="90722" y="297729"/>
                </a:moveTo>
                <a:cubicBezTo>
                  <a:pt x="135738" y="297729"/>
                  <a:pt x="173169" y="273394"/>
                  <a:pt x="180900" y="241261"/>
                </a:cubicBezTo>
                <a:cubicBezTo>
                  <a:pt x="182761" y="233390"/>
                  <a:pt x="180183" y="225303"/>
                  <a:pt x="176104" y="218286"/>
                </a:cubicBezTo>
                <a:lnTo>
                  <a:pt x="107972" y="101484"/>
                </a:lnTo>
                <a:cubicBezTo>
                  <a:pt x="104392" y="95328"/>
                  <a:pt x="97809" y="91609"/>
                  <a:pt x="90722" y="91609"/>
                </a:cubicBezTo>
                <a:cubicBezTo>
                  <a:pt x="83636" y="91609"/>
                  <a:pt x="77052" y="95401"/>
                  <a:pt x="73472" y="101484"/>
                </a:cubicBezTo>
                <a:lnTo>
                  <a:pt x="5409" y="218359"/>
                </a:lnTo>
                <a:cubicBezTo>
                  <a:pt x="1330" y="225372"/>
                  <a:pt x="-1248" y="233460"/>
                  <a:pt x="613" y="241334"/>
                </a:cubicBezTo>
                <a:cubicBezTo>
                  <a:pt x="8344" y="273398"/>
                  <a:pt x="45775" y="297733"/>
                  <a:pt x="90718" y="297733"/>
                </a:cubicBezTo>
                <a:lnTo>
                  <a:pt x="90722" y="297729"/>
                </a:lnTo>
                <a:moveTo>
                  <a:pt x="228993" y="34353"/>
                </a:moveTo>
                <a:cubicBezTo>
                  <a:pt x="241644" y="34353"/>
                  <a:pt x="251894" y="44606"/>
                  <a:pt x="251894" y="57256"/>
                </a:cubicBezTo>
                <a:cubicBezTo>
                  <a:pt x="251894" y="69905"/>
                  <a:pt x="241639" y="80158"/>
                  <a:pt x="228993" y="80158"/>
                </a:cubicBezTo>
                <a:cubicBezTo>
                  <a:pt x="216342" y="80158"/>
                  <a:pt x="206092" y="69905"/>
                  <a:pt x="206092" y="57256"/>
                </a:cubicBezTo>
                <a:cubicBezTo>
                  <a:pt x="206092" y="44606"/>
                  <a:pt x="216347" y="34353"/>
                  <a:pt x="228993" y="34353"/>
                </a:cubicBezTo>
                <a:lnTo>
                  <a:pt x="228993" y="34353"/>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0" name="Text 8"/>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ph type="title"/>
          </p:nvPr>
        </p:nvSpPr>
        <p:spPr>
          <a:xfrm>
            <a:off x="505463" y="289560"/>
            <a:ext cx="748399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Accountability Gap in Fully Automated Security</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nvSpPr>
        <p:spPr>
          <a:xfrm>
            <a:off x="841721"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56082"/>
          </a:solidFill>
          <a:ln/>
        </p:spPr>
        <p:txBody>
          <a:bodyPr wrap="square" lIns="0" tIns="0" rIns="0" bIns="0" rtlCol="0" anchor="ctr"/>
          <a:lstStyle/>
          <a:p>
            <a:pPr indent="0" marL="0">
              <a:buNone/>
            </a:pPr>
            <a:endParaRPr lang="en-US" dirty="0"/>
          </a:p>
        </p:txBody>
      </p:sp>
      <p:sp>
        <p:nvSpPr>
          <p:cNvPr id="8" name="Text 6"/>
          <p:cNvSpPr/>
          <p:nvPr/>
        </p:nvSpPr>
        <p:spPr>
          <a:xfrm>
            <a:off x="4132128"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7424875" y="2390407"/>
            <a:ext cx="3936979" cy="2539669"/>
          </a:xfrm>
          <a:custGeom>
            <a:avLst/>
            <a:gdLst/>
            <a:ahLst/>
            <a:cxnLst/>
            <a:rect l="l" t="t" r="r" b="b"/>
            <a:pathLst>
              <a:path w="3936979" h="2539669">
                <a:moveTo>
                  <a:pt x="0" y="0"/>
                </a:moveTo>
                <a:lnTo>
                  <a:pt x="3301984" y="0"/>
                </a:lnTo>
                <a:lnTo>
                  <a:pt x="3936979" y="1269835"/>
                </a:lnTo>
                <a:lnTo>
                  <a:pt x="3301984" y="2539669"/>
                </a:lnTo>
                <a:lnTo>
                  <a:pt x="0" y="2539669"/>
                </a:lnTo>
                <a:lnTo>
                  <a:pt x="634995" y="1269835"/>
                </a:lnTo>
                <a:lnTo>
                  <a:pt x="0" y="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830145" y="3088815"/>
            <a:ext cx="1142994" cy="1142851"/>
          </a:xfrm>
          <a:custGeom>
            <a:avLst/>
            <a:gdLst/>
            <a:ahLst/>
            <a:cxnLst/>
            <a:rect l="l" t="t" r="r" b="b"/>
            <a:pathLst>
              <a:path w="1142994" h="1142851">
                <a:moveTo>
                  <a:pt x="1142994" y="571426"/>
                </a:moveTo>
                <a:cubicBezTo>
                  <a:pt x="1142994" y="887012"/>
                  <a:pt x="887123" y="1142851"/>
                  <a:pt x="571497" y="1142851"/>
                </a:cubicBezTo>
                <a:cubicBezTo>
                  <a:pt x="255871" y="1142851"/>
                  <a:pt x="0" y="887012"/>
                  <a:pt x="0" y="571426"/>
                </a:cubicBezTo>
                <a:cubicBezTo>
                  <a:pt x="0" y="255839"/>
                  <a:pt x="255871" y="0"/>
                  <a:pt x="571497" y="0"/>
                </a:cubicBezTo>
                <a:cubicBezTo>
                  <a:pt x="887123" y="0"/>
                  <a:pt x="1142994" y="255839"/>
                  <a:pt x="1142994" y="571426"/>
                </a:cubicBezTo>
              </a:path>
            </a:pathLst>
          </a:custGeom>
          <a:solidFill>
            <a:srgbClr val="104862"/>
          </a:solidFill>
          <a:ln w="5715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1" name="Text 9"/>
          <p:cNvSpPr/>
          <p:nvPr/>
        </p:nvSpPr>
        <p:spPr>
          <a:xfrm>
            <a:off x="4132128" y="3088815"/>
            <a:ext cx="1142994" cy="1142851"/>
          </a:xfrm>
          <a:custGeom>
            <a:avLst/>
            <a:gdLst/>
            <a:ahLst/>
            <a:cxnLst/>
            <a:rect l="l" t="t" r="r" b="b"/>
            <a:pathLst>
              <a:path w="1142994" h="1142851">
                <a:moveTo>
                  <a:pt x="1142994" y="571426"/>
                </a:moveTo>
                <a:cubicBezTo>
                  <a:pt x="1142994" y="887012"/>
                  <a:pt x="887123" y="1142851"/>
                  <a:pt x="571497" y="1142851"/>
                </a:cubicBezTo>
                <a:cubicBezTo>
                  <a:pt x="255871" y="1142851"/>
                  <a:pt x="0" y="887012"/>
                  <a:pt x="0" y="571426"/>
                </a:cubicBezTo>
                <a:cubicBezTo>
                  <a:pt x="0" y="255839"/>
                  <a:pt x="255871" y="0"/>
                  <a:pt x="571497" y="0"/>
                </a:cubicBezTo>
                <a:cubicBezTo>
                  <a:pt x="887123" y="0"/>
                  <a:pt x="1142994" y="255839"/>
                  <a:pt x="1142994" y="571426"/>
                </a:cubicBezTo>
              </a:path>
            </a:pathLst>
          </a:custGeom>
          <a:solidFill>
            <a:srgbClr val="104862"/>
          </a:solidFill>
          <a:ln w="5715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2" name="Text 10"/>
          <p:cNvSpPr/>
          <p:nvPr/>
        </p:nvSpPr>
        <p:spPr>
          <a:xfrm>
            <a:off x="7434111" y="3088815"/>
            <a:ext cx="1142994" cy="1142851"/>
          </a:xfrm>
          <a:custGeom>
            <a:avLst/>
            <a:gdLst/>
            <a:ahLst/>
            <a:cxnLst/>
            <a:rect l="l" t="t" r="r" b="b"/>
            <a:pathLst>
              <a:path w="1142994" h="1142851">
                <a:moveTo>
                  <a:pt x="1142994" y="571426"/>
                </a:moveTo>
                <a:cubicBezTo>
                  <a:pt x="1142994" y="887012"/>
                  <a:pt x="887123" y="1142851"/>
                  <a:pt x="571497" y="1142851"/>
                </a:cubicBezTo>
                <a:cubicBezTo>
                  <a:pt x="255871" y="1142851"/>
                  <a:pt x="0" y="887012"/>
                  <a:pt x="0" y="571426"/>
                </a:cubicBezTo>
                <a:cubicBezTo>
                  <a:pt x="0" y="255839"/>
                  <a:pt x="255871" y="0"/>
                  <a:pt x="571497" y="0"/>
                </a:cubicBezTo>
                <a:cubicBezTo>
                  <a:pt x="887123" y="0"/>
                  <a:pt x="1142994" y="255839"/>
                  <a:pt x="1142994" y="571426"/>
                </a:cubicBezTo>
              </a:path>
            </a:pathLst>
          </a:custGeom>
          <a:solidFill>
            <a:srgbClr val="104862"/>
          </a:solidFill>
          <a:ln w="57150">
            <a:solidFill>
              <a:srgbClr val="156082"/>
            </a:solidFill>
          </a:ln>
          <a:effectLst>
            <a:outerShdw sx="100000" sy="100000" kx="0" ky="0" algn="bl" rotWithShape="0" blurRad="200025" dist="38100" dir="2700000">
              <a:srgbClr val="000000">
                <a:alpha val="40000"/>
              </a:srgbClr>
            </a:outerShdw>
          </a:effectLst>
        </p:spPr>
        <p:txBody>
          <a:bodyPr wrap="square" lIns="0" tIns="0" rIns="0" bIns="0" rtlCol="0" anchor="ctr"/>
          <a:lstStyle/>
          <a:p>
            <a:pPr indent="0" marL="0">
              <a:buNone/>
            </a:pPr>
            <a:endParaRPr lang="en-US" dirty="0"/>
          </a:p>
        </p:txBody>
      </p:sp>
      <p:sp>
        <p:nvSpPr>
          <p:cNvPr id="13" name="Text 11"/>
          <p:cNvSpPr/>
          <p:nvPr/>
        </p:nvSpPr>
        <p:spPr>
          <a:xfrm>
            <a:off x="7786701" y="3431640"/>
            <a:ext cx="437813" cy="457200"/>
          </a:xfrm>
          <a:custGeom>
            <a:avLst/>
            <a:gdLst/>
            <a:ahLst/>
            <a:cxnLst/>
            <a:rect l="l" t="t" r="r" b="b"/>
            <a:pathLst>
              <a:path w="437813" h="457200">
                <a:moveTo>
                  <a:pt x="218911" y="0"/>
                </a:moveTo>
                <a:cubicBezTo>
                  <a:pt x="234090" y="0"/>
                  <a:pt x="248914" y="1518"/>
                  <a:pt x="263380" y="4289"/>
                </a:cubicBezTo>
                <a:cubicBezTo>
                  <a:pt x="270433" y="5628"/>
                  <a:pt x="282845" y="9734"/>
                  <a:pt x="289631" y="22238"/>
                </a:cubicBezTo>
                <a:cubicBezTo>
                  <a:pt x="291417" y="25544"/>
                  <a:pt x="292845" y="29023"/>
                  <a:pt x="293738" y="32777"/>
                </a:cubicBezTo>
                <a:lnTo>
                  <a:pt x="302043" y="67158"/>
                </a:lnTo>
                <a:cubicBezTo>
                  <a:pt x="303295" y="72338"/>
                  <a:pt x="312043" y="77427"/>
                  <a:pt x="317134" y="75909"/>
                </a:cubicBezTo>
                <a:lnTo>
                  <a:pt x="351069" y="65905"/>
                </a:lnTo>
                <a:cubicBezTo>
                  <a:pt x="354642" y="64836"/>
                  <a:pt x="358302" y="64296"/>
                  <a:pt x="361962" y="64209"/>
                </a:cubicBezTo>
                <a:cubicBezTo>
                  <a:pt x="376340" y="63761"/>
                  <a:pt x="386073" y="72603"/>
                  <a:pt x="390805" y="77962"/>
                </a:cubicBezTo>
                <a:cubicBezTo>
                  <a:pt x="410542" y="100374"/>
                  <a:pt x="425721" y="126718"/>
                  <a:pt x="435366" y="155023"/>
                </a:cubicBezTo>
                <a:cubicBezTo>
                  <a:pt x="437686" y="161808"/>
                  <a:pt x="440366" y="174490"/>
                  <a:pt x="432954" y="186634"/>
                </a:cubicBezTo>
                <a:cubicBezTo>
                  <a:pt x="430988" y="189848"/>
                  <a:pt x="428580" y="192884"/>
                  <a:pt x="425808" y="195563"/>
                </a:cubicBezTo>
                <a:lnTo>
                  <a:pt x="400179" y="219941"/>
                </a:lnTo>
                <a:cubicBezTo>
                  <a:pt x="396427" y="223511"/>
                  <a:pt x="396427" y="233780"/>
                  <a:pt x="400179" y="237355"/>
                </a:cubicBezTo>
                <a:lnTo>
                  <a:pt x="425808" y="261733"/>
                </a:lnTo>
                <a:cubicBezTo>
                  <a:pt x="428575" y="264412"/>
                  <a:pt x="430988" y="267448"/>
                  <a:pt x="432954" y="270662"/>
                </a:cubicBezTo>
                <a:cubicBezTo>
                  <a:pt x="440274" y="282806"/>
                  <a:pt x="437599" y="295488"/>
                  <a:pt x="435366" y="302273"/>
                </a:cubicBezTo>
                <a:cubicBezTo>
                  <a:pt x="425721" y="330578"/>
                  <a:pt x="410542" y="356835"/>
                  <a:pt x="390805" y="379334"/>
                </a:cubicBezTo>
                <a:cubicBezTo>
                  <a:pt x="386073" y="384693"/>
                  <a:pt x="376248" y="393530"/>
                  <a:pt x="361962" y="393087"/>
                </a:cubicBezTo>
                <a:cubicBezTo>
                  <a:pt x="358302" y="392995"/>
                  <a:pt x="354642" y="392374"/>
                  <a:pt x="351069" y="391391"/>
                </a:cubicBezTo>
                <a:lnTo>
                  <a:pt x="317134" y="381300"/>
                </a:lnTo>
                <a:cubicBezTo>
                  <a:pt x="312043" y="379782"/>
                  <a:pt x="303295" y="384871"/>
                  <a:pt x="302043" y="390051"/>
                </a:cubicBezTo>
                <a:lnTo>
                  <a:pt x="293738" y="424432"/>
                </a:lnTo>
                <a:cubicBezTo>
                  <a:pt x="292845" y="428182"/>
                  <a:pt x="291417" y="431757"/>
                  <a:pt x="289631" y="434971"/>
                </a:cubicBezTo>
                <a:cubicBezTo>
                  <a:pt x="282753" y="447471"/>
                  <a:pt x="270341" y="451490"/>
                  <a:pt x="263380" y="452921"/>
                </a:cubicBezTo>
                <a:cubicBezTo>
                  <a:pt x="248914" y="455687"/>
                  <a:pt x="234090" y="457205"/>
                  <a:pt x="218911" y="457205"/>
                </a:cubicBezTo>
                <a:cubicBezTo>
                  <a:pt x="203732" y="457205"/>
                  <a:pt x="188908" y="455687"/>
                  <a:pt x="174442" y="452916"/>
                </a:cubicBezTo>
                <a:cubicBezTo>
                  <a:pt x="167389" y="451576"/>
                  <a:pt x="154977" y="447471"/>
                  <a:pt x="148191" y="434966"/>
                </a:cubicBezTo>
                <a:cubicBezTo>
                  <a:pt x="146405" y="431661"/>
                  <a:pt x="144978" y="428182"/>
                  <a:pt x="144084" y="424428"/>
                </a:cubicBezTo>
                <a:lnTo>
                  <a:pt x="135779" y="390046"/>
                </a:lnTo>
                <a:cubicBezTo>
                  <a:pt x="134527" y="384866"/>
                  <a:pt x="125779" y="379778"/>
                  <a:pt x="120688" y="381296"/>
                </a:cubicBezTo>
                <a:lnTo>
                  <a:pt x="86753" y="391295"/>
                </a:lnTo>
                <a:cubicBezTo>
                  <a:pt x="83180" y="392364"/>
                  <a:pt x="79520" y="392904"/>
                  <a:pt x="75860" y="392991"/>
                </a:cubicBezTo>
                <a:cubicBezTo>
                  <a:pt x="61482" y="393439"/>
                  <a:pt x="51750" y="384597"/>
                  <a:pt x="47017" y="379238"/>
                </a:cubicBezTo>
                <a:cubicBezTo>
                  <a:pt x="27372" y="356826"/>
                  <a:pt x="12101" y="330482"/>
                  <a:pt x="2456" y="302177"/>
                </a:cubicBezTo>
                <a:cubicBezTo>
                  <a:pt x="136" y="295392"/>
                  <a:pt x="-2544" y="282710"/>
                  <a:pt x="4869" y="270566"/>
                </a:cubicBezTo>
                <a:cubicBezTo>
                  <a:pt x="6834" y="267352"/>
                  <a:pt x="9242" y="264316"/>
                  <a:pt x="12014" y="261637"/>
                </a:cubicBezTo>
                <a:lnTo>
                  <a:pt x="37643" y="237259"/>
                </a:lnTo>
                <a:cubicBezTo>
                  <a:pt x="41395" y="233689"/>
                  <a:pt x="41395" y="223420"/>
                  <a:pt x="37643" y="219845"/>
                </a:cubicBezTo>
                <a:lnTo>
                  <a:pt x="11926" y="195467"/>
                </a:lnTo>
                <a:cubicBezTo>
                  <a:pt x="9159" y="192788"/>
                  <a:pt x="6747" y="189752"/>
                  <a:pt x="4781" y="186538"/>
                </a:cubicBezTo>
                <a:cubicBezTo>
                  <a:pt x="-2539" y="174394"/>
                  <a:pt x="136" y="161712"/>
                  <a:pt x="2461" y="155014"/>
                </a:cubicBezTo>
                <a:cubicBezTo>
                  <a:pt x="12106" y="126708"/>
                  <a:pt x="27285" y="100451"/>
                  <a:pt x="47021" y="77953"/>
                </a:cubicBezTo>
                <a:cubicBezTo>
                  <a:pt x="51754" y="72594"/>
                  <a:pt x="61579" y="63757"/>
                  <a:pt x="75864" y="64200"/>
                </a:cubicBezTo>
                <a:cubicBezTo>
                  <a:pt x="79525" y="64291"/>
                  <a:pt x="83185" y="64913"/>
                  <a:pt x="86757" y="65896"/>
                </a:cubicBezTo>
                <a:lnTo>
                  <a:pt x="120692" y="75900"/>
                </a:lnTo>
                <a:cubicBezTo>
                  <a:pt x="125784" y="77418"/>
                  <a:pt x="134531" y="72329"/>
                  <a:pt x="135784" y="67149"/>
                </a:cubicBezTo>
                <a:lnTo>
                  <a:pt x="144089" y="32768"/>
                </a:lnTo>
                <a:cubicBezTo>
                  <a:pt x="144982" y="29018"/>
                  <a:pt x="146409" y="25443"/>
                  <a:pt x="148196" y="22229"/>
                </a:cubicBezTo>
                <a:cubicBezTo>
                  <a:pt x="155074" y="9729"/>
                  <a:pt x="167486" y="5710"/>
                  <a:pt x="174447" y="4279"/>
                </a:cubicBezTo>
                <a:cubicBezTo>
                  <a:pt x="188912" y="1513"/>
                  <a:pt x="203737" y="-9"/>
                  <a:pt x="218916" y="-9"/>
                </a:cubicBezTo>
                <a:lnTo>
                  <a:pt x="218911" y="0"/>
                </a:lnTo>
                <a:moveTo>
                  <a:pt x="185068" y="45898"/>
                </a:moveTo>
                <a:lnTo>
                  <a:pt x="177476" y="77239"/>
                </a:lnTo>
                <a:cubicBezTo>
                  <a:pt x="170511" y="106084"/>
                  <a:pt x="137027" y="125369"/>
                  <a:pt x="108538" y="117066"/>
                </a:cubicBezTo>
                <a:lnTo>
                  <a:pt x="77729" y="107959"/>
                </a:lnTo>
                <a:cubicBezTo>
                  <a:pt x="62997" y="125195"/>
                  <a:pt x="51386" y="145198"/>
                  <a:pt x="43795" y="166627"/>
                </a:cubicBezTo>
                <a:lnTo>
                  <a:pt x="67191" y="188860"/>
                </a:lnTo>
                <a:cubicBezTo>
                  <a:pt x="88622" y="209219"/>
                  <a:pt x="88622" y="247976"/>
                  <a:pt x="67191" y="268335"/>
                </a:cubicBezTo>
                <a:lnTo>
                  <a:pt x="43795" y="290569"/>
                </a:lnTo>
                <a:cubicBezTo>
                  <a:pt x="51386" y="312002"/>
                  <a:pt x="62993" y="332000"/>
                  <a:pt x="77729" y="349237"/>
                </a:cubicBezTo>
                <a:lnTo>
                  <a:pt x="108626" y="340129"/>
                </a:lnTo>
                <a:cubicBezTo>
                  <a:pt x="137023" y="331735"/>
                  <a:pt x="170598" y="351111"/>
                  <a:pt x="177564" y="379956"/>
                </a:cubicBezTo>
                <a:lnTo>
                  <a:pt x="185156" y="411297"/>
                </a:lnTo>
                <a:cubicBezTo>
                  <a:pt x="207121" y="415316"/>
                  <a:pt x="230964" y="415316"/>
                  <a:pt x="252934" y="411297"/>
                </a:cubicBezTo>
                <a:lnTo>
                  <a:pt x="260525" y="379956"/>
                </a:lnTo>
                <a:cubicBezTo>
                  <a:pt x="267491" y="351111"/>
                  <a:pt x="300975" y="331827"/>
                  <a:pt x="329463" y="340129"/>
                </a:cubicBezTo>
                <a:lnTo>
                  <a:pt x="360360" y="349237"/>
                </a:lnTo>
                <a:cubicBezTo>
                  <a:pt x="375092" y="332000"/>
                  <a:pt x="386703" y="311998"/>
                  <a:pt x="394295" y="290569"/>
                </a:cubicBezTo>
                <a:lnTo>
                  <a:pt x="370898" y="268335"/>
                </a:lnTo>
                <a:cubicBezTo>
                  <a:pt x="349467" y="247976"/>
                  <a:pt x="349467" y="209219"/>
                  <a:pt x="370898" y="188860"/>
                </a:cubicBezTo>
                <a:lnTo>
                  <a:pt x="394295" y="166627"/>
                </a:lnTo>
                <a:cubicBezTo>
                  <a:pt x="386703" y="145198"/>
                  <a:pt x="375097" y="125191"/>
                  <a:pt x="360360" y="107959"/>
                </a:cubicBezTo>
                <a:lnTo>
                  <a:pt x="329463" y="117066"/>
                </a:lnTo>
                <a:cubicBezTo>
                  <a:pt x="301067" y="125460"/>
                  <a:pt x="267491" y="106084"/>
                  <a:pt x="260525" y="77239"/>
                </a:cubicBezTo>
                <a:lnTo>
                  <a:pt x="252934" y="45898"/>
                </a:lnTo>
                <a:cubicBezTo>
                  <a:pt x="230968" y="41880"/>
                  <a:pt x="207125" y="41880"/>
                  <a:pt x="185156" y="45898"/>
                </a:cubicBezTo>
                <a:lnTo>
                  <a:pt x="185068" y="45898"/>
                </a:lnTo>
                <a:moveTo>
                  <a:pt x="176049" y="228600"/>
                </a:moveTo>
                <a:cubicBezTo>
                  <a:pt x="176049" y="252274"/>
                  <a:pt x="195238" y="271463"/>
                  <a:pt x="218911" y="271463"/>
                </a:cubicBezTo>
                <a:cubicBezTo>
                  <a:pt x="242584" y="271463"/>
                  <a:pt x="261773" y="252274"/>
                  <a:pt x="261773" y="228600"/>
                </a:cubicBezTo>
                <a:cubicBezTo>
                  <a:pt x="261773" y="204926"/>
                  <a:pt x="242584" y="185738"/>
                  <a:pt x="218911" y="185738"/>
                </a:cubicBezTo>
                <a:cubicBezTo>
                  <a:pt x="195238" y="185738"/>
                  <a:pt x="176049" y="204926"/>
                  <a:pt x="176049" y="228600"/>
                </a:cubicBezTo>
                <a:moveTo>
                  <a:pt x="218911" y="314325"/>
                </a:moveTo>
                <a:cubicBezTo>
                  <a:pt x="171566" y="314325"/>
                  <a:pt x="133187" y="275943"/>
                  <a:pt x="133187" y="228600"/>
                </a:cubicBezTo>
                <a:cubicBezTo>
                  <a:pt x="133187" y="181257"/>
                  <a:pt x="171566" y="142875"/>
                  <a:pt x="218911" y="142875"/>
                </a:cubicBezTo>
                <a:cubicBezTo>
                  <a:pt x="266256" y="142875"/>
                  <a:pt x="304635" y="181257"/>
                  <a:pt x="304635" y="228600"/>
                </a:cubicBezTo>
                <a:cubicBezTo>
                  <a:pt x="304635" y="275943"/>
                  <a:pt x="266256" y="314325"/>
                  <a:pt x="218911" y="314325"/>
                </a:cubicBezTo>
              </a:path>
            </a:pathLst>
          </a:custGeom>
          <a:solidFill>
            <a:srgbClr val="FFFFFF"/>
          </a:solidFill>
          <a:ln/>
        </p:spPr>
        <p:txBody>
          <a:bodyPr wrap="square" lIns="0" tIns="0" rIns="0" bIns="0" rtlCol="0" anchor="ctr"/>
          <a:lstStyle/>
          <a:p>
            <a:pPr indent="0" marL="0">
              <a:buNone/>
            </a:pPr>
            <a:endParaRPr lang="en-US" dirty="0"/>
          </a:p>
        </p:txBody>
      </p:sp>
      <p:sp>
        <p:nvSpPr>
          <p:cNvPr id="14" name="Text 12"/>
          <p:cNvSpPr/>
          <p:nvPr/>
        </p:nvSpPr>
        <p:spPr>
          <a:xfrm>
            <a:off x="4475025" y="3431640"/>
            <a:ext cx="457200" cy="457200"/>
          </a:xfrm>
          <a:custGeom>
            <a:avLst/>
            <a:gdLst/>
            <a:ahLst/>
            <a:cxnLst/>
            <a:rect l="l" t="t" r="r" b="b"/>
            <a:pathLst>
              <a:path w="457200" h="457200">
                <a:moveTo>
                  <a:pt x="137069" y="68671"/>
                </a:moveTo>
                <a:cubicBezTo>
                  <a:pt x="135372" y="74743"/>
                  <a:pt x="130997" y="79745"/>
                  <a:pt x="125282" y="82333"/>
                </a:cubicBezTo>
                <a:cubicBezTo>
                  <a:pt x="110460" y="89031"/>
                  <a:pt x="100099" y="103853"/>
                  <a:pt x="100013" y="121176"/>
                </a:cubicBezTo>
                <a:cubicBezTo>
                  <a:pt x="99921" y="129301"/>
                  <a:pt x="95367" y="136625"/>
                  <a:pt x="88134" y="140196"/>
                </a:cubicBezTo>
                <a:cubicBezTo>
                  <a:pt x="73938" y="147250"/>
                  <a:pt x="64291" y="161808"/>
                  <a:pt x="64291" y="178591"/>
                </a:cubicBezTo>
                <a:cubicBezTo>
                  <a:pt x="64291" y="184933"/>
                  <a:pt x="65631" y="190826"/>
                  <a:pt x="68041" y="196185"/>
                </a:cubicBezTo>
                <a:cubicBezTo>
                  <a:pt x="71968" y="204848"/>
                  <a:pt x="69737" y="214939"/>
                  <a:pt x="62595" y="221189"/>
                </a:cubicBezTo>
                <a:cubicBezTo>
                  <a:pt x="50452" y="231636"/>
                  <a:pt x="42863" y="247085"/>
                  <a:pt x="42863" y="264321"/>
                </a:cubicBezTo>
                <a:cubicBezTo>
                  <a:pt x="42863" y="282358"/>
                  <a:pt x="51165" y="298341"/>
                  <a:pt x="64205" y="308880"/>
                </a:cubicBezTo>
                <a:cubicBezTo>
                  <a:pt x="70189" y="313703"/>
                  <a:pt x="73134" y="321380"/>
                  <a:pt x="71972" y="328974"/>
                </a:cubicBezTo>
                <a:cubicBezTo>
                  <a:pt x="71616" y="331205"/>
                  <a:pt x="71438" y="333441"/>
                  <a:pt x="71438" y="335759"/>
                </a:cubicBezTo>
                <a:cubicBezTo>
                  <a:pt x="71438" y="359067"/>
                  <a:pt x="90009" y="377995"/>
                  <a:pt x="113139" y="378621"/>
                </a:cubicBezTo>
                <a:cubicBezTo>
                  <a:pt x="121355" y="378891"/>
                  <a:pt x="128674" y="383710"/>
                  <a:pt x="132071" y="391212"/>
                </a:cubicBezTo>
                <a:cubicBezTo>
                  <a:pt x="138234" y="404873"/>
                  <a:pt x="151982" y="414342"/>
                  <a:pt x="167879" y="414342"/>
                </a:cubicBezTo>
                <a:cubicBezTo>
                  <a:pt x="189578" y="414342"/>
                  <a:pt x="207171" y="396749"/>
                  <a:pt x="207171" y="375050"/>
                </a:cubicBezTo>
                <a:lnTo>
                  <a:pt x="207171" y="78584"/>
                </a:lnTo>
                <a:cubicBezTo>
                  <a:pt x="207171" y="58851"/>
                  <a:pt x="191187" y="42867"/>
                  <a:pt x="171455" y="42867"/>
                </a:cubicBezTo>
                <a:cubicBezTo>
                  <a:pt x="155201" y="42867"/>
                  <a:pt x="141362" y="53762"/>
                  <a:pt x="137073" y="68676"/>
                </a:cubicBezTo>
                <a:lnTo>
                  <a:pt x="137069" y="68671"/>
                </a:lnTo>
                <a:moveTo>
                  <a:pt x="228600" y="430413"/>
                </a:moveTo>
                <a:cubicBezTo>
                  <a:pt x="213599" y="446931"/>
                  <a:pt x="191901" y="457200"/>
                  <a:pt x="167879" y="457200"/>
                </a:cubicBezTo>
                <a:cubicBezTo>
                  <a:pt x="139126" y="457200"/>
                  <a:pt x="113857" y="442464"/>
                  <a:pt x="99208" y="420144"/>
                </a:cubicBezTo>
                <a:cubicBezTo>
                  <a:pt x="59025" y="413002"/>
                  <a:pt x="28575" y="377908"/>
                  <a:pt x="28575" y="335759"/>
                </a:cubicBezTo>
                <a:cubicBezTo>
                  <a:pt x="28575" y="335310"/>
                  <a:pt x="28575" y="334776"/>
                  <a:pt x="28575" y="334328"/>
                </a:cubicBezTo>
                <a:cubicBezTo>
                  <a:pt x="10895" y="316291"/>
                  <a:pt x="0" y="291556"/>
                  <a:pt x="0" y="264321"/>
                </a:cubicBezTo>
                <a:cubicBezTo>
                  <a:pt x="0" y="239495"/>
                  <a:pt x="9021" y="216813"/>
                  <a:pt x="23930" y="199403"/>
                </a:cubicBezTo>
                <a:cubicBezTo>
                  <a:pt x="22321" y="192705"/>
                  <a:pt x="21429" y="185742"/>
                  <a:pt x="21429" y="178596"/>
                </a:cubicBezTo>
                <a:cubicBezTo>
                  <a:pt x="21429" y="149486"/>
                  <a:pt x="35986" y="123677"/>
                  <a:pt x="58128" y="108228"/>
                </a:cubicBezTo>
                <a:cubicBezTo>
                  <a:pt x="62147" y="82419"/>
                  <a:pt x="77596" y="60456"/>
                  <a:pt x="99116" y="47686"/>
                </a:cubicBezTo>
                <a:cubicBezTo>
                  <a:pt x="111173" y="19646"/>
                  <a:pt x="139030" y="0"/>
                  <a:pt x="171445" y="0"/>
                </a:cubicBezTo>
                <a:cubicBezTo>
                  <a:pt x="193949" y="0"/>
                  <a:pt x="214308" y="9464"/>
                  <a:pt x="228595" y="24648"/>
                </a:cubicBezTo>
                <a:cubicBezTo>
                  <a:pt x="242883" y="9469"/>
                  <a:pt x="263242" y="0"/>
                  <a:pt x="285745" y="0"/>
                </a:cubicBezTo>
                <a:cubicBezTo>
                  <a:pt x="318161" y="0"/>
                  <a:pt x="346023" y="19646"/>
                  <a:pt x="357988" y="47686"/>
                </a:cubicBezTo>
                <a:cubicBezTo>
                  <a:pt x="379508" y="60456"/>
                  <a:pt x="395044" y="82424"/>
                  <a:pt x="398976" y="108228"/>
                </a:cubicBezTo>
                <a:cubicBezTo>
                  <a:pt x="421209" y="123677"/>
                  <a:pt x="435766" y="149482"/>
                  <a:pt x="435766" y="178596"/>
                </a:cubicBezTo>
                <a:cubicBezTo>
                  <a:pt x="435766" y="185742"/>
                  <a:pt x="434875" y="192705"/>
                  <a:pt x="433266" y="199403"/>
                </a:cubicBezTo>
                <a:cubicBezTo>
                  <a:pt x="448179" y="216905"/>
                  <a:pt x="457195" y="239587"/>
                  <a:pt x="457195" y="264321"/>
                </a:cubicBezTo>
                <a:cubicBezTo>
                  <a:pt x="457195" y="291556"/>
                  <a:pt x="446300" y="316291"/>
                  <a:pt x="428620" y="334328"/>
                </a:cubicBezTo>
                <a:cubicBezTo>
                  <a:pt x="428620" y="334776"/>
                  <a:pt x="428620" y="335310"/>
                  <a:pt x="428620" y="335759"/>
                </a:cubicBezTo>
                <a:cubicBezTo>
                  <a:pt x="428620" y="377995"/>
                  <a:pt x="398171" y="413002"/>
                  <a:pt x="357988" y="420144"/>
                </a:cubicBezTo>
                <a:cubicBezTo>
                  <a:pt x="343343" y="442469"/>
                  <a:pt x="318074" y="457200"/>
                  <a:pt x="289316" y="457200"/>
                </a:cubicBezTo>
                <a:cubicBezTo>
                  <a:pt x="265295" y="457200"/>
                  <a:pt x="243596" y="446840"/>
                  <a:pt x="228595" y="430413"/>
                </a:cubicBezTo>
                <a:lnTo>
                  <a:pt x="228600" y="430413"/>
                </a:lnTo>
                <a:moveTo>
                  <a:pt x="250034" y="375046"/>
                </a:moveTo>
                <a:cubicBezTo>
                  <a:pt x="250034" y="396744"/>
                  <a:pt x="267627" y="414338"/>
                  <a:pt x="289325" y="414338"/>
                </a:cubicBezTo>
                <a:cubicBezTo>
                  <a:pt x="305222" y="414338"/>
                  <a:pt x="318970" y="404873"/>
                  <a:pt x="325133" y="391208"/>
                </a:cubicBezTo>
                <a:cubicBezTo>
                  <a:pt x="328526" y="383705"/>
                  <a:pt x="335850" y="378795"/>
                  <a:pt x="344066" y="378616"/>
                </a:cubicBezTo>
                <a:cubicBezTo>
                  <a:pt x="367196" y="377990"/>
                  <a:pt x="385767" y="359062"/>
                  <a:pt x="385767" y="335754"/>
                </a:cubicBezTo>
                <a:cubicBezTo>
                  <a:pt x="385767" y="333431"/>
                  <a:pt x="385589" y="331109"/>
                  <a:pt x="385232" y="328969"/>
                </a:cubicBezTo>
                <a:cubicBezTo>
                  <a:pt x="383984" y="321380"/>
                  <a:pt x="387020" y="313699"/>
                  <a:pt x="393000" y="308875"/>
                </a:cubicBezTo>
                <a:cubicBezTo>
                  <a:pt x="406039" y="298337"/>
                  <a:pt x="414342" y="282353"/>
                  <a:pt x="414342" y="264316"/>
                </a:cubicBezTo>
                <a:cubicBezTo>
                  <a:pt x="414342" y="247080"/>
                  <a:pt x="406753" y="231636"/>
                  <a:pt x="394609" y="221184"/>
                </a:cubicBezTo>
                <a:cubicBezTo>
                  <a:pt x="387468" y="215021"/>
                  <a:pt x="385232" y="204844"/>
                  <a:pt x="389164" y="196180"/>
                </a:cubicBezTo>
                <a:cubicBezTo>
                  <a:pt x="391574" y="190822"/>
                  <a:pt x="392913" y="184928"/>
                  <a:pt x="392913" y="178587"/>
                </a:cubicBezTo>
                <a:cubicBezTo>
                  <a:pt x="392913" y="161799"/>
                  <a:pt x="383271" y="147246"/>
                  <a:pt x="369070" y="140191"/>
                </a:cubicBezTo>
                <a:cubicBezTo>
                  <a:pt x="361837" y="136621"/>
                  <a:pt x="357192" y="129209"/>
                  <a:pt x="357192" y="121172"/>
                </a:cubicBezTo>
                <a:cubicBezTo>
                  <a:pt x="357101" y="103935"/>
                  <a:pt x="346745" y="89026"/>
                  <a:pt x="331923" y="82328"/>
                </a:cubicBezTo>
                <a:cubicBezTo>
                  <a:pt x="326208" y="79740"/>
                  <a:pt x="321832" y="74738"/>
                  <a:pt x="320136" y="68667"/>
                </a:cubicBezTo>
                <a:cubicBezTo>
                  <a:pt x="315852" y="53753"/>
                  <a:pt x="302008" y="42858"/>
                  <a:pt x="285755" y="42858"/>
                </a:cubicBezTo>
                <a:cubicBezTo>
                  <a:pt x="266022" y="42858"/>
                  <a:pt x="250038" y="58842"/>
                  <a:pt x="250038" y="78579"/>
                </a:cubicBezTo>
                <a:lnTo>
                  <a:pt x="250034" y="375046"/>
                </a:lnTo>
              </a:path>
            </a:pathLst>
          </a:custGeom>
          <a:solidFill>
            <a:srgbClr val="FFFFFF"/>
          </a:solidFill>
          <a:ln/>
        </p:spPr>
        <p:txBody>
          <a:bodyPr wrap="square" lIns="0" tIns="0" rIns="0" bIns="0" rtlCol="0" anchor="ctr"/>
          <a:lstStyle/>
          <a:p>
            <a:pPr indent="0" marL="0">
              <a:buNone/>
            </a:pPr>
            <a:endParaRPr lang="en-US" dirty="0"/>
          </a:p>
        </p:txBody>
      </p:sp>
      <p:sp>
        <p:nvSpPr>
          <p:cNvPr id="15" name="Text 13"/>
          <p:cNvSpPr/>
          <p:nvPr/>
        </p:nvSpPr>
        <p:spPr>
          <a:xfrm>
            <a:off x="1173042" y="3431640"/>
            <a:ext cx="457200" cy="457200"/>
          </a:xfrm>
          <a:custGeom>
            <a:avLst/>
            <a:gdLst/>
            <a:ahLst/>
            <a:cxnLst/>
            <a:rect l="l" t="t" r="r" b="b"/>
            <a:pathLst>
              <a:path w="457200" h="457200">
                <a:moveTo>
                  <a:pt x="171450" y="42863"/>
                </a:moveTo>
                <a:cubicBezTo>
                  <a:pt x="191183" y="42863"/>
                  <a:pt x="207171" y="58846"/>
                  <a:pt x="207171" y="78584"/>
                </a:cubicBezTo>
                <a:lnTo>
                  <a:pt x="207171" y="114305"/>
                </a:lnTo>
                <a:lnTo>
                  <a:pt x="189935" y="114305"/>
                </a:lnTo>
                <a:cubicBezTo>
                  <a:pt x="184398" y="101713"/>
                  <a:pt x="171807" y="92876"/>
                  <a:pt x="157163" y="92876"/>
                </a:cubicBezTo>
                <a:cubicBezTo>
                  <a:pt x="137430" y="92876"/>
                  <a:pt x="121446" y="108859"/>
                  <a:pt x="121446" y="128597"/>
                </a:cubicBezTo>
                <a:cubicBezTo>
                  <a:pt x="121446" y="148329"/>
                  <a:pt x="137430" y="164318"/>
                  <a:pt x="157167" y="164318"/>
                </a:cubicBezTo>
                <a:cubicBezTo>
                  <a:pt x="171811" y="164318"/>
                  <a:pt x="184402" y="155475"/>
                  <a:pt x="189939" y="142889"/>
                </a:cubicBezTo>
                <a:lnTo>
                  <a:pt x="207176" y="142889"/>
                </a:lnTo>
                <a:lnTo>
                  <a:pt x="207176" y="228614"/>
                </a:lnTo>
                <a:lnTo>
                  <a:pt x="171459" y="228614"/>
                </a:lnTo>
                <a:cubicBezTo>
                  <a:pt x="147794" y="228614"/>
                  <a:pt x="128597" y="247812"/>
                  <a:pt x="128597" y="271476"/>
                </a:cubicBezTo>
                <a:lnTo>
                  <a:pt x="128597" y="281567"/>
                </a:lnTo>
                <a:cubicBezTo>
                  <a:pt x="116005" y="287103"/>
                  <a:pt x="107168" y="299695"/>
                  <a:pt x="107168" y="314339"/>
                </a:cubicBezTo>
                <a:cubicBezTo>
                  <a:pt x="107168" y="334071"/>
                  <a:pt x="123151" y="350060"/>
                  <a:pt x="142889" y="350060"/>
                </a:cubicBezTo>
                <a:cubicBezTo>
                  <a:pt x="162621" y="350060"/>
                  <a:pt x="178610" y="334076"/>
                  <a:pt x="178610" y="314343"/>
                </a:cubicBezTo>
                <a:cubicBezTo>
                  <a:pt x="178610" y="299699"/>
                  <a:pt x="169768" y="287108"/>
                  <a:pt x="157181" y="281571"/>
                </a:cubicBezTo>
                <a:lnTo>
                  <a:pt x="157181" y="271481"/>
                </a:lnTo>
                <a:cubicBezTo>
                  <a:pt x="157181" y="263622"/>
                  <a:pt x="163609" y="257193"/>
                  <a:pt x="171468" y="257193"/>
                </a:cubicBezTo>
                <a:lnTo>
                  <a:pt x="207189" y="257193"/>
                </a:lnTo>
                <a:lnTo>
                  <a:pt x="207189" y="375064"/>
                </a:lnTo>
                <a:cubicBezTo>
                  <a:pt x="207189" y="396763"/>
                  <a:pt x="189596" y="414356"/>
                  <a:pt x="167898" y="414356"/>
                </a:cubicBezTo>
                <a:cubicBezTo>
                  <a:pt x="152001" y="414356"/>
                  <a:pt x="138253" y="404892"/>
                  <a:pt x="132090" y="391226"/>
                </a:cubicBezTo>
                <a:cubicBezTo>
                  <a:pt x="128697" y="383723"/>
                  <a:pt x="121373" y="378813"/>
                  <a:pt x="113157" y="378635"/>
                </a:cubicBezTo>
                <a:cubicBezTo>
                  <a:pt x="90027" y="378008"/>
                  <a:pt x="71456" y="359080"/>
                  <a:pt x="71456" y="335772"/>
                </a:cubicBezTo>
                <a:cubicBezTo>
                  <a:pt x="71456" y="333450"/>
                  <a:pt x="71634" y="331127"/>
                  <a:pt x="71991" y="328987"/>
                </a:cubicBezTo>
                <a:cubicBezTo>
                  <a:pt x="73239" y="321398"/>
                  <a:pt x="70203" y="313717"/>
                  <a:pt x="64223" y="308893"/>
                </a:cubicBezTo>
                <a:cubicBezTo>
                  <a:pt x="51184" y="298355"/>
                  <a:pt x="42881" y="282371"/>
                  <a:pt x="42881" y="264335"/>
                </a:cubicBezTo>
                <a:cubicBezTo>
                  <a:pt x="42881" y="247098"/>
                  <a:pt x="50470" y="231654"/>
                  <a:pt x="62614" y="221203"/>
                </a:cubicBezTo>
                <a:cubicBezTo>
                  <a:pt x="69760" y="215039"/>
                  <a:pt x="71991" y="204862"/>
                  <a:pt x="68059" y="196198"/>
                </a:cubicBezTo>
                <a:cubicBezTo>
                  <a:pt x="65649" y="190840"/>
                  <a:pt x="64310" y="184947"/>
                  <a:pt x="64310" y="178605"/>
                </a:cubicBezTo>
                <a:cubicBezTo>
                  <a:pt x="64310" y="161817"/>
                  <a:pt x="73952" y="147264"/>
                  <a:pt x="88153" y="140210"/>
                </a:cubicBezTo>
                <a:cubicBezTo>
                  <a:pt x="95386" y="136639"/>
                  <a:pt x="100031" y="129228"/>
                  <a:pt x="100031" y="121190"/>
                </a:cubicBezTo>
                <a:cubicBezTo>
                  <a:pt x="100122" y="103954"/>
                  <a:pt x="110478" y="89044"/>
                  <a:pt x="125300" y="82346"/>
                </a:cubicBezTo>
                <a:cubicBezTo>
                  <a:pt x="131015" y="79759"/>
                  <a:pt x="135391" y="74757"/>
                  <a:pt x="137087" y="68685"/>
                </a:cubicBezTo>
                <a:cubicBezTo>
                  <a:pt x="141375" y="53771"/>
                  <a:pt x="155215" y="42876"/>
                  <a:pt x="171468" y="42876"/>
                </a:cubicBezTo>
                <a:lnTo>
                  <a:pt x="171450" y="42863"/>
                </a:lnTo>
                <a:moveTo>
                  <a:pt x="167879" y="457200"/>
                </a:moveTo>
                <a:cubicBezTo>
                  <a:pt x="191901" y="457200"/>
                  <a:pt x="213599" y="446840"/>
                  <a:pt x="228600" y="430413"/>
                </a:cubicBezTo>
                <a:cubicBezTo>
                  <a:pt x="243601" y="446931"/>
                  <a:pt x="265299" y="457200"/>
                  <a:pt x="289321" y="457200"/>
                </a:cubicBezTo>
                <a:cubicBezTo>
                  <a:pt x="318074" y="457200"/>
                  <a:pt x="343343" y="442464"/>
                  <a:pt x="357992" y="420144"/>
                </a:cubicBezTo>
                <a:cubicBezTo>
                  <a:pt x="398175" y="413002"/>
                  <a:pt x="428625" y="377908"/>
                  <a:pt x="428625" y="335759"/>
                </a:cubicBezTo>
                <a:cubicBezTo>
                  <a:pt x="428625" y="335310"/>
                  <a:pt x="428625" y="334776"/>
                  <a:pt x="428625" y="334328"/>
                </a:cubicBezTo>
                <a:cubicBezTo>
                  <a:pt x="446305" y="316291"/>
                  <a:pt x="457200" y="291556"/>
                  <a:pt x="457200" y="264321"/>
                </a:cubicBezTo>
                <a:cubicBezTo>
                  <a:pt x="457200" y="239495"/>
                  <a:pt x="448179" y="216813"/>
                  <a:pt x="433270" y="199403"/>
                </a:cubicBezTo>
                <a:cubicBezTo>
                  <a:pt x="434879" y="192705"/>
                  <a:pt x="435771" y="185742"/>
                  <a:pt x="435771" y="178596"/>
                </a:cubicBezTo>
                <a:cubicBezTo>
                  <a:pt x="435771" y="149486"/>
                  <a:pt x="421214" y="123677"/>
                  <a:pt x="399072" y="108228"/>
                </a:cubicBezTo>
                <a:cubicBezTo>
                  <a:pt x="395053" y="82419"/>
                  <a:pt x="379604" y="60456"/>
                  <a:pt x="358084" y="47686"/>
                </a:cubicBezTo>
                <a:cubicBezTo>
                  <a:pt x="346027" y="19646"/>
                  <a:pt x="318170" y="0"/>
                  <a:pt x="285755" y="0"/>
                </a:cubicBezTo>
                <a:cubicBezTo>
                  <a:pt x="263251" y="0"/>
                  <a:pt x="242892" y="9464"/>
                  <a:pt x="228605" y="24648"/>
                </a:cubicBezTo>
                <a:cubicBezTo>
                  <a:pt x="214317" y="9469"/>
                  <a:pt x="193958" y="0"/>
                  <a:pt x="171455" y="0"/>
                </a:cubicBezTo>
                <a:cubicBezTo>
                  <a:pt x="139039" y="0"/>
                  <a:pt x="111177" y="19646"/>
                  <a:pt x="99212" y="47686"/>
                </a:cubicBezTo>
                <a:cubicBezTo>
                  <a:pt x="77601" y="60456"/>
                  <a:pt x="62156" y="82424"/>
                  <a:pt x="58138" y="108228"/>
                </a:cubicBezTo>
                <a:cubicBezTo>
                  <a:pt x="35991" y="123677"/>
                  <a:pt x="21438" y="149482"/>
                  <a:pt x="21438" y="178596"/>
                </a:cubicBezTo>
                <a:cubicBezTo>
                  <a:pt x="21438" y="185742"/>
                  <a:pt x="22330" y="192705"/>
                  <a:pt x="23939" y="199403"/>
                </a:cubicBezTo>
                <a:cubicBezTo>
                  <a:pt x="9025" y="216818"/>
                  <a:pt x="9" y="239500"/>
                  <a:pt x="9" y="264321"/>
                </a:cubicBezTo>
                <a:cubicBezTo>
                  <a:pt x="9" y="291556"/>
                  <a:pt x="10904" y="316291"/>
                  <a:pt x="28584" y="334328"/>
                </a:cubicBezTo>
                <a:cubicBezTo>
                  <a:pt x="28584" y="334776"/>
                  <a:pt x="28584" y="335310"/>
                  <a:pt x="28584" y="335759"/>
                </a:cubicBezTo>
                <a:cubicBezTo>
                  <a:pt x="28584" y="377995"/>
                  <a:pt x="59034" y="413002"/>
                  <a:pt x="99217" y="420144"/>
                </a:cubicBezTo>
                <a:cubicBezTo>
                  <a:pt x="113861" y="442469"/>
                  <a:pt x="139131" y="457200"/>
                  <a:pt x="167888" y="457200"/>
                </a:cubicBezTo>
                <a:lnTo>
                  <a:pt x="167879" y="457200"/>
                </a:lnTo>
                <a:moveTo>
                  <a:pt x="289321" y="414338"/>
                </a:moveTo>
                <a:cubicBezTo>
                  <a:pt x="267622" y="414338"/>
                  <a:pt x="250029" y="396744"/>
                  <a:pt x="250029" y="375046"/>
                </a:cubicBezTo>
                <a:lnTo>
                  <a:pt x="250029" y="314325"/>
                </a:lnTo>
                <a:lnTo>
                  <a:pt x="295840" y="314325"/>
                </a:lnTo>
                <a:cubicBezTo>
                  <a:pt x="301377" y="326916"/>
                  <a:pt x="313968" y="335759"/>
                  <a:pt x="328613" y="335759"/>
                </a:cubicBezTo>
                <a:cubicBezTo>
                  <a:pt x="348345" y="335759"/>
                  <a:pt x="364334" y="319775"/>
                  <a:pt x="364334" y="300042"/>
                </a:cubicBezTo>
                <a:cubicBezTo>
                  <a:pt x="364334" y="280309"/>
                  <a:pt x="348350" y="264326"/>
                  <a:pt x="328617" y="264326"/>
                </a:cubicBezTo>
                <a:cubicBezTo>
                  <a:pt x="313973" y="264326"/>
                  <a:pt x="301382" y="273168"/>
                  <a:pt x="295845" y="285759"/>
                </a:cubicBezTo>
                <a:lnTo>
                  <a:pt x="250034" y="285759"/>
                </a:lnTo>
                <a:lnTo>
                  <a:pt x="250034" y="142884"/>
                </a:lnTo>
                <a:lnTo>
                  <a:pt x="285755" y="142884"/>
                </a:lnTo>
                <a:cubicBezTo>
                  <a:pt x="293614" y="142884"/>
                  <a:pt x="300042" y="149312"/>
                  <a:pt x="300042" y="157172"/>
                </a:cubicBezTo>
                <a:lnTo>
                  <a:pt x="300042" y="167262"/>
                </a:lnTo>
                <a:cubicBezTo>
                  <a:pt x="287451" y="172799"/>
                  <a:pt x="278613" y="185390"/>
                  <a:pt x="278613" y="200034"/>
                </a:cubicBezTo>
                <a:cubicBezTo>
                  <a:pt x="278613" y="219767"/>
                  <a:pt x="294597" y="235755"/>
                  <a:pt x="314334" y="235755"/>
                </a:cubicBezTo>
                <a:cubicBezTo>
                  <a:pt x="334067" y="235755"/>
                  <a:pt x="350055" y="219771"/>
                  <a:pt x="350055" y="200039"/>
                </a:cubicBezTo>
                <a:cubicBezTo>
                  <a:pt x="350055" y="185395"/>
                  <a:pt x="341213" y="172803"/>
                  <a:pt x="328626" y="167267"/>
                </a:cubicBezTo>
                <a:lnTo>
                  <a:pt x="328626" y="157176"/>
                </a:lnTo>
                <a:cubicBezTo>
                  <a:pt x="328626" y="133512"/>
                  <a:pt x="309428" y="114314"/>
                  <a:pt x="285764" y="114314"/>
                </a:cubicBezTo>
                <a:lnTo>
                  <a:pt x="250047" y="114314"/>
                </a:lnTo>
                <a:lnTo>
                  <a:pt x="250047" y="78597"/>
                </a:lnTo>
                <a:cubicBezTo>
                  <a:pt x="250047" y="58864"/>
                  <a:pt x="266031" y="42881"/>
                  <a:pt x="285768" y="42881"/>
                </a:cubicBezTo>
                <a:cubicBezTo>
                  <a:pt x="302022" y="42881"/>
                  <a:pt x="315861" y="53776"/>
                  <a:pt x="320150" y="68690"/>
                </a:cubicBezTo>
                <a:cubicBezTo>
                  <a:pt x="321846" y="74761"/>
                  <a:pt x="326221" y="79763"/>
                  <a:pt x="331936" y="82351"/>
                </a:cubicBezTo>
                <a:cubicBezTo>
                  <a:pt x="346759" y="89049"/>
                  <a:pt x="357119" y="103871"/>
                  <a:pt x="357206" y="121195"/>
                </a:cubicBezTo>
                <a:cubicBezTo>
                  <a:pt x="357297" y="129319"/>
                  <a:pt x="361851" y="136643"/>
                  <a:pt x="369084" y="140214"/>
                </a:cubicBezTo>
                <a:cubicBezTo>
                  <a:pt x="383280" y="147269"/>
                  <a:pt x="392927" y="161826"/>
                  <a:pt x="392927" y="178610"/>
                </a:cubicBezTo>
                <a:cubicBezTo>
                  <a:pt x="392927" y="184951"/>
                  <a:pt x="391587" y="190844"/>
                  <a:pt x="389178" y="196203"/>
                </a:cubicBezTo>
                <a:cubicBezTo>
                  <a:pt x="385250" y="204867"/>
                  <a:pt x="387482" y="214957"/>
                  <a:pt x="394623" y="221207"/>
                </a:cubicBezTo>
                <a:cubicBezTo>
                  <a:pt x="406679" y="231746"/>
                  <a:pt x="414356" y="247103"/>
                  <a:pt x="414356" y="264339"/>
                </a:cubicBezTo>
                <a:cubicBezTo>
                  <a:pt x="414356" y="282376"/>
                  <a:pt x="406053" y="298360"/>
                  <a:pt x="393014" y="308898"/>
                </a:cubicBezTo>
                <a:cubicBezTo>
                  <a:pt x="387029" y="313721"/>
                  <a:pt x="384085" y="321398"/>
                  <a:pt x="385246" y="328992"/>
                </a:cubicBezTo>
                <a:cubicBezTo>
                  <a:pt x="385602" y="331223"/>
                  <a:pt x="385781" y="333459"/>
                  <a:pt x="385781" y="335777"/>
                </a:cubicBezTo>
                <a:cubicBezTo>
                  <a:pt x="385781" y="359085"/>
                  <a:pt x="367205" y="378013"/>
                  <a:pt x="344080" y="378639"/>
                </a:cubicBezTo>
                <a:cubicBezTo>
                  <a:pt x="335864" y="378909"/>
                  <a:pt x="328544" y="383728"/>
                  <a:pt x="325147" y="391231"/>
                </a:cubicBezTo>
                <a:cubicBezTo>
                  <a:pt x="318984" y="404892"/>
                  <a:pt x="305236" y="414360"/>
                  <a:pt x="289339" y="414360"/>
                </a:cubicBezTo>
                <a:lnTo>
                  <a:pt x="289321" y="414338"/>
                </a:lnTo>
                <a:moveTo>
                  <a:pt x="157163" y="114300"/>
                </a:moveTo>
                <a:cubicBezTo>
                  <a:pt x="165054" y="114300"/>
                  <a:pt x="171450" y="120696"/>
                  <a:pt x="171450" y="128588"/>
                </a:cubicBezTo>
                <a:cubicBezTo>
                  <a:pt x="171450" y="136479"/>
                  <a:pt x="165054" y="142875"/>
                  <a:pt x="157163" y="142875"/>
                </a:cubicBezTo>
                <a:cubicBezTo>
                  <a:pt x="149271" y="142875"/>
                  <a:pt x="142875" y="136479"/>
                  <a:pt x="142875" y="128588"/>
                </a:cubicBezTo>
                <a:cubicBezTo>
                  <a:pt x="142875" y="120696"/>
                  <a:pt x="149271" y="114300"/>
                  <a:pt x="157163" y="114300"/>
                </a:cubicBezTo>
                <a:moveTo>
                  <a:pt x="142875" y="300038"/>
                </a:moveTo>
                <a:cubicBezTo>
                  <a:pt x="150766" y="300038"/>
                  <a:pt x="157163" y="306434"/>
                  <a:pt x="157163" y="314325"/>
                </a:cubicBezTo>
                <a:cubicBezTo>
                  <a:pt x="157163" y="322216"/>
                  <a:pt x="150766" y="328613"/>
                  <a:pt x="142875" y="328613"/>
                </a:cubicBezTo>
                <a:cubicBezTo>
                  <a:pt x="134984" y="328613"/>
                  <a:pt x="128588" y="322216"/>
                  <a:pt x="128588" y="314325"/>
                </a:cubicBezTo>
                <a:cubicBezTo>
                  <a:pt x="128588" y="306434"/>
                  <a:pt x="134984" y="300038"/>
                  <a:pt x="142875" y="300038"/>
                </a:cubicBezTo>
                <a:moveTo>
                  <a:pt x="300038" y="200025"/>
                </a:moveTo>
                <a:cubicBezTo>
                  <a:pt x="300038" y="192134"/>
                  <a:pt x="306434" y="185738"/>
                  <a:pt x="314325" y="185738"/>
                </a:cubicBezTo>
                <a:cubicBezTo>
                  <a:pt x="322216" y="185738"/>
                  <a:pt x="328613" y="192134"/>
                  <a:pt x="328613" y="200025"/>
                </a:cubicBezTo>
                <a:cubicBezTo>
                  <a:pt x="328613" y="207916"/>
                  <a:pt x="322216" y="214313"/>
                  <a:pt x="314325" y="214313"/>
                </a:cubicBezTo>
                <a:cubicBezTo>
                  <a:pt x="306434" y="214313"/>
                  <a:pt x="300038" y="207916"/>
                  <a:pt x="300038" y="200025"/>
                </a:cubicBezTo>
                <a:moveTo>
                  <a:pt x="328613" y="285750"/>
                </a:moveTo>
                <a:cubicBezTo>
                  <a:pt x="336504" y="285750"/>
                  <a:pt x="342900" y="292146"/>
                  <a:pt x="342900" y="300038"/>
                </a:cubicBezTo>
                <a:cubicBezTo>
                  <a:pt x="342900" y="307929"/>
                  <a:pt x="336504" y="314325"/>
                  <a:pt x="328613" y="314325"/>
                </a:cubicBezTo>
                <a:cubicBezTo>
                  <a:pt x="320721" y="314325"/>
                  <a:pt x="314325" y="307929"/>
                  <a:pt x="314325" y="300038"/>
                </a:cubicBezTo>
                <a:cubicBezTo>
                  <a:pt x="314325" y="292146"/>
                  <a:pt x="320721" y="285750"/>
                  <a:pt x="328613" y="285750"/>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7" name="Text 15"/>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Human-in-the-Loop Systems: Architecture and Components</a:t>
            </a:r>
            <a:endParaRPr lang="en-US" sz="2800" dirty="0"/>
          </a:p>
        </p:txBody>
      </p:sp>
      <p:sp>
        <p:nvSpPr>
          <p:cNvPr id="18" name="Text 16"/>
          <p:cNvSpPr/>
          <p:nvPr/>
        </p:nvSpPr>
        <p:spPr>
          <a:xfrm>
            <a:off x="8691321" y="2667474"/>
            <a:ext cx="1940787" cy="1985535"/>
          </a:xfrm>
          <a:prstGeom prst="rect">
            <a:avLst/>
          </a:prstGeom>
          <a:noFill/>
          <a:ln/>
        </p:spPr>
        <p:txBody>
          <a:bodyPr wrap="square" lIns="0" tIns="0" rIns="0" bIns="0" rtlCol="0" anchor="ctr"/>
          <a:lstStyle/>
          <a:p>
            <a:pPr algn="l" marL="0" indent="0">
              <a:lnSpc>
                <a:spcPct val="100000"/>
              </a:lnSpc>
              <a:spcBef>
                <a:spcPts val="1088"/>
              </a:spcBef>
              <a:buNone/>
            </a:pPr>
            <a:r>
              <a:rPr lang="en-US" sz="1088" dirty="0">
                <a:solidFill>
                  <a:srgbClr val="FFFFFF"/>
                </a:solidFill>
                <a:latin typeface="Figtree Regular" pitchFamily="34" charset="0"/>
                <a:ea typeface="Figtree Regular" pitchFamily="34" charset="-122"/>
                <a:cs typeface="Figtree Regular" pitchFamily="34" charset="-120"/>
              </a:rPr>
              <a:t>Automated Response Layer with Guardrails</a:t>
            </a:r>
            <a:endParaRPr lang="en-US" sz="1088" dirty="0"/>
          </a:p>
          <a:p>
            <a:pPr algn="l" marL="142875" indent="0">
              <a:lnSpc>
                <a:spcPct val="100000"/>
              </a:lnSpc>
              <a:spcBef>
                <a:spcPts val="1088"/>
              </a:spcBef>
              <a:buNone/>
            </a:pPr>
            <a:r>
              <a:rPr lang="en-US" sz="925" dirty="0">
                <a:solidFill>
                  <a:srgbClr val="FFFFFF"/>
                </a:solidFill>
                <a:latin typeface="Figtree Regular" pitchFamily="34" charset="0"/>
                <a:ea typeface="Figtree Regular" pitchFamily="34" charset="-122"/>
                <a:cs typeface="Figtree Regular" pitchFamily="34" charset="-120"/>
              </a:rPr>
              <a:t>This layer executes low-risk responses automatically, like blocking known-malicious IPs or quarantining malware. High-impact actions require human approval, supported by rate limiting and rollback capabilities to prevent cascade failures. This ensures safety and preserves human oversight at critical decision points.</a:t>
            </a:r>
            <a:endParaRPr lang="en-US" sz="1088" dirty="0"/>
          </a:p>
        </p:txBody>
      </p:sp>
      <p:sp>
        <p:nvSpPr>
          <p:cNvPr id="19" name="Text 17"/>
          <p:cNvSpPr/>
          <p:nvPr/>
        </p:nvSpPr>
        <p:spPr>
          <a:xfrm>
            <a:off x="5385307" y="2667474"/>
            <a:ext cx="1940787" cy="1985535"/>
          </a:xfrm>
          <a:prstGeom prst="rect">
            <a:avLst/>
          </a:prstGeom>
          <a:noFill/>
          <a:ln/>
        </p:spPr>
        <p:txBody>
          <a:bodyPr wrap="square" lIns="0" tIns="0" rIns="0" bIns="0" rtlCol="0" anchor="ctr"/>
          <a:lstStyle/>
          <a:p>
            <a:pPr algn="l" marL="0" indent="0">
              <a:lnSpc>
                <a:spcPct val="100000"/>
              </a:lnSpc>
              <a:spcBef>
                <a:spcPts val="1088"/>
              </a:spcBef>
              <a:buNone/>
            </a:pPr>
            <a:r>
              <a:rPr lang="en-US" sz="1088" dirty="0">
                <a:solidFill>
                  <a:srgbClr val="FFFFFF"/>
                </a:solidFill>
                <a:latin typeface="Figtree Regular" pitchFamily="34" charset="0"/>
                <a:ea typeface="Figtree Regular" pitchFamily="34" charset="-122"/>
                <a:cs typeface="Figtree Regular" pitchFamily="34" charset="-120"/>
              </a:rPr>
              <a:t>Human Decision Layer</a:t>
            </a:r>
            <a:endParaRPr lang="en-US" sz="1088" dirty="0"/>
          </a:p>
          <a:p>
            <a:pPr algn="l" marL="142875" indent="0">
              <a:lnSpc>
                <a:spcPct val="100000"/>
              </a:lnSpc>
              <a:spcBef>
                <a:spcPts val="1088"/>
              </a:spcBef>
              <a:buNone/>
            </a:pPr>
            <a:r>
              <a:rPr lang="en-US" sz="925" dirty="0">
                <a:solidFill>
                  <a:srgbClr val="FFFFFF"/>
                </a:solidFill>
                <a:latin typeface="Figtree Regular" pitchFamily="34" charset="0"/>
                <a:ea typeface="Figtree Regular" pitchFamily="34" charset="-122"/>
                <a:cs typeface="Figtree Regular" pitchFamily="34" charset="-120"/>
              </a:rPr>
              <a:t>At this critical layer, human analysts review AI-generated alerts, especially those with high impact or ambiguity. They apply contextual knowledge and business understanding to make judgment calls on responses and provide feedback that improves AI accuracy over time.</a:t>
            </a:r>
            <a:endParaRPr lang="en-US" sz="1088" dirty="0"/>
          </a:p>
        </p:txBody>
      </p:sp>
      <p:sp>
        <p:nvSpPr>
          <p:cNvPr id="20" name="Text 18"/>
          <p:cNvSpPr/>
          <p:nvPr/>
        </p:nvSpPr>
        <p:spPr>
          <a:xfrm>
            <a:off x="2092917" y="2667474"/>
            <a:ext cx="1940787" cy="1985535"/>
          </a:xfrm>
          <a:prstGeom prst="rect">
            <a:avLst/>
          </a:prstGeom>
          <a:noFill/>
          <a:ln/>
        </p:spPr>
        <p:txBody>
          <a:bodyPr wrap="square" lIns="0" tIns="0" rIns="0" bIns="0" rtlCol="0" anchor="ctr"/>
          <a:lstStyle/>
          <a:p>
            <a:pPr algn="l" marL="0" indent="0">
              <a:lnSpc>
                <a:spcPct val="100000"/>
              </a:lnSpc>
              <a:spcBef>
                <a:spcPts val="1088"/>
              </a:spcBef>
              <a:buNone/>
            </a:pPr>
            <a:r>
              <a:rPr lang="en-US" sz="1088" dirty="0">
                <a:solidFill>
                  <a:srgbClr val="FFFFFF"/>
                </a:solidFill>
                <a:latin typeface="Figtree Regular" pitchFamily="34" charset="0"/>
                <a:ea typeface="Figtree Regular" pitchFamily="34" charset="-122"/>
                <a:cs typeface="Figtree Regular" pitchFamily="34" charset="-120"/>
              </a:rPr>
              <a:t>AI-Powered Processing Layer</a:t>
            </a:r>
            <a:endParaRPr lang="en-US" sz="1088" dirty="0"/>
          </a:p>
          <a:p>
            <a:pPr algn="l" marL="142875" indent="0">
              <a:lnSpc>
                <a:spcPct val="100000"/>
              </a:lnSpc>
              <a:spcBef>
                <a:spcPts val="1088"/>
              </a:spcBef>
              <a:buNone/>
            </a:pPr>
            <a:r>
              <a:rPr lang="en-US" sz="925" dirty="0">
                <a:solidFill>
                  <a:srgbClr val="FFFFFF"/>
                </a:solidFill>
                <a:latin typeface="Figtree Regular" pitchFamily="34" charset="0"/>
                <a:ea typeface="Figtree Regular" pitchFamily="34" charset="-122"/>
                <a:cs typeface="Figtree Regular" pitchFamily="34" charset="-120"/>
              </a:rPr>
              <a:t>This layer ingests massive data volumes such as logs, network traffic, and endpoint telemetry. It applies machine learning to detect anomalies and classify threats by correlating events across sources and time windows. It generates prioritized alerts with confidence scores and supporting evidence to feed the human layer.</a:t>
            </a:r>
            <a:endParaRPr lang="en-US" sz="1088"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Where Humans Must Stay in the Loop</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Humans decide whether to immediately contain threats or continue monitoring for intelligence, allocate resources across simultaneous incidents, and balance security response with business continuity. These strategic judgments rely on intuition, experience, and understanding of organizational priorities.</a:t>
            </a:r>
            <a:endParaRPr lang="en-US" sz="1367"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Strategic Response Choices</a:t>
            </a:r>
            <a:endParaRPr lang="en-US" sz="2030" dirty="0"/>
          </a:p>
        </p:txBody>
      </p:sp>
      <p:sp>
        <p:nvSpPr>
          <p:cNvPr id="18" name="Text 16"/>
          <p:cNvSpPr/>
          <p:nvPr/>
        </p:nvSpPr>
        <p:spPr>
          <a:xfrm>
            <a:off x="6404508" y="4202888"/>
            <a:ext cx="262688" cy="274320"/>
          </a:xfrm>
          <a:custGeom>
            <a:avLst/>
            <a:gdLst/>
            <a:ahLst/>
            <a:cxnLst/>
            <a:rect l="l" t="t" r="r" b="b"/>
            <a:pathLst>
              <a:path w="262688" h="274320">
                <a:moveTo>
                  <a:pt x="131347" y="0"/>
                </a:moveTo>
                <a:cubicBezTo>
                  <a:pt x="140454" y="0"/>
                  <a:pt x="149349" y="911"/>
                  <a:pt x="158028" y="2573"/>
                </a:cubicBezTo>
                <a:cubicBezTo>
                  <a:pt x="162260" y="3377"/>
                  <a:pt x="169707" y="5840"/>
                  <a:pt x="173779" y="13343"/>
                </a:cubicBezTo>
                <a:cubicBezTo>
                  <a:pt x="174850" y="15326"/>
                  <a:pt x="175707" y="17414"/>
                  <a:pt x="176243" y="19666"/>
                </a:cubicBezTo>
                <a:lnTo>
                  <a:pt x="181226" y="40295"/>
                </a:lnTo>
                <a:cubicBezTo>
                  <a:pt x="181977" y="43403"/>
                  <a:pt x="187226" y="46456"/>
                  <a:pt x="190281" y="45545"/>
                </a:cubicBezTo>
                <a:lnTo>
                  <a:pt x="210642" y="39543"/>
                </a:lnTo>
                <a:cubicBezTo>
                  <a:pt x="212785" y="38901"/>
                  <a:pt x="214981" y="38578"/>
                  <a:pt x="217177" y="38525"/>
                </a:cubicBezTo>
                <a:cubicBezTo>
                  <a:pt x="225804" y="38257"/>
                  <a:pt x="231643" y="43562"/>
                  <a:pt x="234483" y="46777"/>
                </a:cubicBezTo>
                <a:cubicBezTo>
                  <a:pt x="246325" y="60224"/>
                  <a:pt x="255432" y="76030"/>
                  <a:pt x="261220" y="93014"/>
                </a:cubicBezTo>
                <a:cubicBezTo>
                  <a:pt x="262612" y="97085"/>
                  <a:pt x="264219" y="104694"/>
                  <a:pt x="259772" y="111980"/>
                </a:cubicBezTo>
                <a:cubicBezTo>
                  <a:pt x="258593" y="113909"/>
                  <a:pt x="257148" y="115730"/>
                  <a:pt x="255485" y="117338"/>
                </a:cubicBezTo>
                <a:lnTo>
                  <a:pt x="240107" y="131964"/>
                </a:lnTo>
                <a:cubicBezTo>
                  <a:pt x="237856" y="134107"/>
                  <a:pt x="237856" y="140268"/>
                  <a:pt x="240107" y="142413"/>
                </a:cubicBezTo>
                <a:lnTo>
                  <a:pt x="255485" y="157040"/>
                </a:lnTo>
                <a:cubicBezTo>
                  <a:pt x="257145" y="158647"/>
                  <a:pt x="258593" y="160469"/>
                  <a:pt x="259772" y="162397"/>
                </a:cubicBezTo>
                <a:cubicBezTo>
                  <a:pt x="264164" y="169683"/>
                  <a:pt x="262559" y="177293"/>
                  <a:pt x="261220" y="181364"/>
                </a:cubicBezTo>
                <a:cubicBezTo>
                  <a:pt x="255432" y="198347"/>
                  <a:pt x="246325" y="214101"/>
                  <a:pt x="234483" y="227600"/>
                </a:cubicBezTo>
                <a:cubicBezTo>
                  <a:pt x="231643" y="230816"/>
                  <a:pt x="225749" y="236118"/>
                  <a:pt x="217177" y="235852"/>
                </a:cubicBezTo>
                <a:cubicBezTo>
                  <a:pt x="214981" y="235797"/>
                  <a:pt x="212785" y="235424"/>
                  <a:pt x="210642" y="234834"/>
                </a:cubicBezTo>
                <a:lnTo>
                  <a:pt x="190281" y="228780"/>
                </a:lnTo>
                <a:cubicBezTo>
                  <a:pt x="187226" y="227869"/>
                  <a:pt x="181977" y="230922"/>
                  <a:pt x="181226" y="234030"/>
                </a:cubicBezTo>
                <a:lnTo>
                  <a:pt x="176243" y="254659"/>
                </a:lnTo>
                <a:cubicBezTo>
                  <a:pt x="175707" y="256909"/>
                  <a:pt x="174850" y="259054"/>
                  <a:pt x="173779" y="260982"/>
                </a:cubicBezTo>
                <a:cubicBezTo>
                  <a:pt x="169652" y="268482"/>
                  <a:pt x="162205" y="270893"/>
                  <a:pt x="158028" y="271752"/>
                </a:cubicBezTo>
                <a:cubicBezTo>
                  <a:pt x="149349" y="273412"/>
                  <a:pt x="140454" y="274323"/>
                  <a:pt x="131347" y="274323"/>
                </a:cubicBezTo>
                <a:cubicBezTo>
                  <a:pt x="122239" y="274323"/>
                  <a:pt x="113345" y="273412"/>
                  <a:pt x="104665" y="271749"/>
                </a:cubicBezTo>
                <a:cubicBezTo>
                  <a:pt x="100434" y="270946"/>
                  <a:pt x="92986" y="268482"/>
                  <a:pt x="88915" y="260980"/>
                </a:cubicBezTo>
                <a:cubicBezTo>
                  <a:pt x="87843" y="258996"/>
                  <a:pt x="86986" y="256909"/>
                  <a:pt x="86451" y="254657"/>
                </a:cubicBezTo>
                <a:lnTo>
                  <a:pt x="81467" y="234028"/>
                </a:lnTo>
                <a:cubicBezTo>
                  <a:pt x="80716" y="230920"/>
                  <a:pt x="75468" y="227866"/>
                  <a:pt x="72413" y="228777"/>
                </a:cubicBezTo>
                <a:lnTo>
                  <a:pt x="52052" y="234777"/>
                </a:lnTo>
                <a:cubicBezTo>
                  <a:pt x="49908" y="235419"/>
                  <a:pt x="47712" y="235742"/>
                  <a:pt x="45516" y="235794"/>
                </a:cubicBezTo>
                <a:cubicBezTo>
                  <a:pt x="36889" y="236063"/>
                  <a:pt x="31050" y="230758"/>
                  <a:pt x="28210" y="227543"/>
                </a:cubicBezTo>
                <a:cubicBezTo>
                  <a:pt x="16423" y="214096"/>
                  <a:pt x="7261" y="198289"/>
                  <a:pt x="1474" y="181306"/>
                </a:cubicBezTo>
                <a:cubicBezTo>
                  <a:pt x="81" y="177235"/>
                  <a:pt x="-1526" y="169626"/>
                  <a:pt x="2921" y="162340"/>
                </a:cubicBezTo>
                <a:cubicBezTo>
                  <a:pt x="4101" y="160411"/>
                  <a:pt x="5545" y="158590"/>
                  <a:pt x="7208" y="156982"/>
                </a:cubicBezTo>
                <a:lnTo>
                  <a:pt x="22586" y="142356"/>
                </a:lnTo>
                <a:cubicBezTo>
                  <a:pt x="24837" y="140213"/>
                  <a:pt x="24837" y="134052"/>
                  <a:pt x="22586" y="131907"/>
                </a:cubicBezTo>
                <a:lnTo>
                  <a:pt x="7156" y="117280"/>
                </a:lnTo>
                <a:cubicBezTo>
                  <a:pt x="5495" y="115672"/>
                  <a:pt x="4048" y="113851"/>
                  <a:pt x="2869" y="111923"/>
                </a:cubicBezTo>
                <a:cubicBezTo>
                  <a:pt x="-1524" y="104637"/>
                  <a:pt x="81" y="97027"/>
                  <a:pt x="1476" y="93008"/>
                </a:cubicBezTo>
                <a:cubicBezTo>
                  <a:pt x="7263" y="76025"/>
                  <a:pt x="16371" y="60271"/>
                  <a:pt x="28213" y="46772"/>
                </a:cubicBezTo>
                <a:cubicBezTo>
                  <a:pt x="31052" y="43556"/>
                  <a:pt x="36947" y="38254"/>
                  <a:pt x="45519" y="38520"/>
                </a:cubicBezTo>
                <a:cubicBezTo>
                  <a:pt x="47715" y="38575"/>
                  <a:pt x="49911" y="38948"/>
                  <a:pt x="52054" y="39538"/>
                </a:cubicBezTo>
                <a:lnTo>
                  <a:pt x="72415" y="45540"/>
                </a:lnTo>
                <a:cubicBezTo>
                  <a:pt x="75470" y="46451"/>
                  <a:pt x="80719" y="43397"/>
                  <a:pt x="81470" y="40289"/>
                </a:cubicBezTo>
                <a:lnTo>
                  <a:pt x="86453" y="19661"/>
                </a:lnTo>
                <a:cubicBezTo>
                  <a:pt x="86989" y="17411"/>
                  <a:pt x="87845" y="15266"/>
                  <a:pt x="88917" y="13337"/>
                </a:cubicBezTo>
                <a:cubicBezTo>
                  <a:pt x="93044" y="5838"/>
                  <a:pt x="100491" y="3426"/>
                  <a:pt x="104668" y="2568"/>
                </a:cubicBezTo>
                <a:cubicBezTo>
                  <a:pt x="113347" y="908"/>
                  <a:pt x="122242" y="-5"/>
                  <a:pt x="131349" y="-5"/>
                </a:cubicBezTo>
                <a:lnTo>
                  <a:pt x="131347" y="0"/>
                </a:lnTo>
                <a:moveTo>
                  <a:pt x="111041" y="27539"/>
                </a:moveTo>
                <a:lnTo>
                  <a:pt x="106486" y="46344"/>
                </a:lnTo>
                <a:cubicBezTo>
                  <a:pt x="102306" y="63650"/>
                  <a:pt x="82216" y="75221"/>
                  <a:pt x="65123" y="70240"/>
                </a:cubicBezTo>
                <a:lnTo>
                  <a:pt x="46638" y="64775"/>
                </a:lnTo>
                <a:cubicBezTo>
                  <a:pt x="37798" y="75117"/>
                  <a:pt x="30832" y="87119"/>
                  <a:pt x="26277" y="99976"/>
                </a:cubicBezTo>
                <a:lnTo>
                  <a:pt x="40315" y="113316"/>
                </a:lnTo>
                <a:cubicBezTo>
                  <a:pt x="53173" y="125531"/>
                  <a:pt x="53173" y="148786"/>
                  <a:pt x="40315" y="161001"/>
                </a:cubicBezTo>
                <a:lnTo>
                  <a:pt x="26277" y="174341"/>
                </a:lnTo>
                <a:cubicBezTo>
                  <a:pt x="30832" y="187201"/>
                  <a:pt x="37795" y="199200"/>
                  <a:pt x="46638" y="209542"/>
                </a:cubicBezTo>
                <a:lnTo>
                  <a:pt x="65175" y="204078"/>
                </a:lnTo>
                <a:cubicBezTo>
                  <a:pt x="82213" y="199041"/>
                  <a:pt x="102359" y="210667"/>
                  <a:pt x="106538" y="227974"/>
                </a:cubicBezTo>
                <a:lnTo>
                  <a:pt x="111093" y="246778"/>
                </a:lnTo>
                <a:cubicBezTo>
                  <a:pt x="124272" y="249189"/>
                  <a:pt x="138578" y="249189"/>
                  <a:pt x="151760" y="246778"/>
                </a:cubicBezTo>
                <a:lnTo>
                  <a:pt x="156315" y="227974"/>
                </a:lnTo>
                <a:cubicBezTo>
                  <a:pt x="160495" y="210667"/>
                  <a:pt x="180585" y="199096"/>
                  <a:pt x="197678" y="204078"/>
                </a:cubicBezTo>
                <a:lnTo>
                  <a:pt x="216216" y="209542"/>
                </a:lnTo>
                <a:cubicBezTo>
                  <a:pt x="225055" y="199200"/>
                  <a:pt x="232022" y="187199"/>
                  <a:pt x="236577" y="174341"/>
                </a:cubicBezTo>
                <a:lnTo>
                  <a:pt x="222539" y="161001"/>
                </a:lnTo>
                <a:cubicBezTo>
                  <a:pt x="209680" y="148786"/>
                  <a:pt x="209680" y="125531"/>
                  <a:pt x="222539" y="113316"/>
                </a:cubicBezTo>
                <a:lnTo>
                  <a:pt x="236577" y="99976"/>
                </a:lnTo>
                <a:cubicBezTo>
                  <a:pt x="232022" y="87119"/>
                  <a:pt x="225058" y="75114"/>
                  <a:pt x="216216" y="64775"/>
                </a:cubicBezTo>
                <a:lnTo>
                  <a:pt x="197678" y="70240"/>
                </a:lnTo>
                <a:cubicBezTo>
                  <a:pt x="180640" y="75276"/>
                  <a:pt x="160495" y="63650"/>
                  <a:pt x="156315" y="46344"/>
                </a:cubicBezTo>
                <a:lnTo>
                  <a:pt x="151760" y="27539"/>
                </a:lnTo>
                <a:cubicBezTo>
                  <a:pt x="138581" y="25128"/>
                  <a:pt x="124275" y="25128"/>
                  <a:pt x="111093" y="27539"/>
                </a:cubicBezTo>
                <a:lnTo>
                  <a:pt x="111041" y="27539"/>
                </a:lnTo>
                <a:moveTo>
                  <a:pt x="105629" y="137160"/>
                </a:moveTo>
                <a:cubicBezTo>
                  <a:pt x="105629" y="151364"/>
                  <a:pt x="117143" y="162878"/>
                  <a:pt x="131347" y="162878"/>
                </a:cubicBezTo>
                <a:cubicBezTo>
                  <a:pt x="145550" y="162878"/>
                  <a:pt x="157064" y="151364"/>
                  <a:pt x="157064" y="137160"/>
                </a:cubicBezTo>
                <a:cubicBezTo>
                  <a:pt x="157064" y="122956"/>
                  <a:pt x="145550" y="111443"/>
                  <a:pt x="131347" y="111443"/>
                </a:cubicBezTo>
                <a:cubicBezTo>
                  <a:pt x="117143" y="111443"/>
                  <a:pt x="105629" y="122956"/>
                  <a:pt x="105629" y="137160"/>
                </a:cubicBezTo>
                <a:lnTo>
                  <a:pt x="105629" y="137160"/>
                </a:lnTo>
                <a:moveTo>
                  <a:pt x="131347" y="188595"/>
                </a:moveTo>
                <a:cubicBezTo>
                  <a:pt x="102940" y="188595"/>
                  <a:pt x="79912" y="165566"/>
                  <a:pt x="79912" y="137160"/>
                </a:cubicBezTo>
                <a:cubicBezTo>
                  <a:pt x="79912" y="108754"/>
                  <a:pt x="102940" y="85725"/>
                  <a:pt x="131347" y="85725"/>
                </a:cubicBezTo>
                <a:cubicBezTo>
                  <a:pt x="159754" y="85725"/>
                  <a:pt x="182781" y="108754"/>
                  <a:pt x="182781" y="137160"/>
                </a:cubicBezTo>
                <a:cubicBezTo>
                  <a:pt x="182781" y="165566"/>
                  <a:pt x="159754" y="188595"/>
                  <a:pt x="131347" y="188595"/>
                </a:cubicBezTo>
                <a:lnTo>
                  <a:pt x="131347" y="188595"/>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Decisions about notifying customers, regulators, law enforcement, or engaging third-party incident responders require human discretion. Effective communication balances transparency, legal considerations, and business relationships, aspects that AI cannot fully manage on its own.</a:t>
            </a:r>
            <a:endParaRPr lang="en-US" sz="1367"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External Communication</a:t>
            </a:r>
            <a:endParaRPr lang="en-US" sz="2030" dirty="0"/>
          </a:p>
        </p:txBody>
      </p:sp>
      <p:sp>
        <p:nvSpPr>
          <p:cNvPr id="21" name="Text 19"/>
          <p:cNvSpPr/>
          <p:nvPr/>
        </p:nvSpPr>
        <p:spPr>
          <a:xfrm>
            <a:off x="6398692" y="1776487"/>
            <a:ext cx="274320" cy="213360"/>
          </a:xfrm>
          <a:custGeom>
            <a:avLst/>
            <a:gdLst/>
            <a:ahLst/>
            <a:cxnLst/>
            <a:rect l="l" t="t" r="r" b="b"/>
            <a:pathLst>
              <a:path w="274320" h="213360">
                <a:moveTo>
                  <a:pt x="262889" y="0"/>
                </a:moveTo>
                <a:cubicBezTo>
                  <a:pt x="256555" y="0"/>
                  <a:pt x="251458" y="5095"/>
                  <a:pt x="251458" y="11430"/>
                </a:cubicBezTo>
                <a:lnTo>
                  <a:pt x="251458" y="14144"/>
                </a:lnTo>
                <a:lnTo>
                  <a:pt x="22859" y="76485"/>
                </a:lnTo>
                <a:lnTo>
                  <a:pt x="22859" y="72389"/>
                </a:lnTo>
                <a:cubicBezTo>
                  <a:pt x="22859" y="66054"/>
                  <a:pt x="17762" y="60959"/>
                  <a:pt x="11428" y="60959"/>
                </a:cubicBezTo>
                <a:cubicBezTo>
                  <a:pt x="5094" y="60959"/>
                  <a:pt x="-3" y="66054"/>
                  <a:pt x="-3" y="72389"/>
                </a:cubicBezTo>
                <a:lnTo>
                  <a:pt x="-3" y="82724"/>
                </a:lnTo>
                <a:lnTo>
                  <a:pt x="-3" y="91440"/>
                </a:lnTo>
                <a:lnTo>
                  <a:pt x="-3" y="121920"/>
                </a:lnTo>
                <a:lnTo>
                  <a:pt x="-3" y="130636"/>
                </a:lnTo>
                <a:lnTo>
                  <a:pt x="-3" y="140971"/>
                </a:lnTo>
                <a:cubicBezTo>
                  <a:pt x="-3" y="147306"/>
                  <a:pt x="5094" y="152401"/>
                  <a:pt x="11428" y="152401"/>
                </a:cubicBezTo>
                <a:cubicBezTo>
                  <a:pt x="17762" y="152401"/>
                  <a:pt x="22859" y="147306"/>
                  <a:pt x="22859" y="140971"/>
                </a:cubicBezTo>
                <a:lnTo>
                  <a:pt x="22859" y="136875"/>
                </a:lnTo>
                <a:lnTo>
                  <a:pt x="78867" y="152162"/>
                </a:lnTo>
                <a:cubicBezTo>
                  <a:pt x="77153" y="157020"/>
                  <a:pt x="76201" y="162211"/>
                  <a:pt x="76201" y="167639"/>
                </a:cubicBezTo>
                <a:cubicBezTo>
                  <a:pt x="76201" y="192880"/>
                  <a:pt x="96679" y="213360"/>
                  <a:pt x="121922" y="213360"/>
                </a:cubicBezTo>
                <a:cubicBezTo>
                  <a:pt x="144257" y="213360"/>
                  <a:pt x="162880" y="197358"/>
                  <a:pt x="166833" y="176165"/>
                </a:cubicBezTo>
                <a:lnTo>
                  <a:pt x="251464" y="199217"/>
                </a:lnTo>
                <a:lnTo>
                  <a:pt x="251464" y="201931"/>
                </a:lnTo>
                <a:cubicBezTo>
                  <a:pt x="251464" y="208265"/>
                  <a:pt x="256561" y="213360"/>
                  <a:pt x="262895" y="213360"/>
                </a:cubicBezTo>
                <a:cubicBezTo>
                  <a:pt x="269229" y="213360"/>
                  <a:pt x="274326" y="208265"/>
                  <a:pt x="274326" y="201931"/>
                </a:cubicBezTo>
                <a:lnTo>
                  <a:pt x="274326" y="190501"/>
                </a:lnTo>
                <a:lnTo>
                  <a:pt x="274326" y="22862"/>
                </a:lnTo>
                <a:lnTo>
                  <a:pt x="274326" y="11432"/>
                </a:lnTo>
                <a:cubicBezTo>
                  <a:pt x="274326" y="5097"/>
                  <a:pt x="269229" y="2"/>
                  <a:pt x="262895" y="2"/>
                </a:cubicBezTo>
                <a:lnTo>
                  <a:pt x="262889" y="0"/>
                </a:lnTo>
                <a:moveTo>
                  <a:pt x="251461" y="175546"/>
                </a:moveTo>
                <a:lnTo>
                  <a:pt x="22862" y="113205"/>
                </a:lnTo>
                <a:lnTo>
                  <a:pt x="22862" y="100202"/>
                </a:lnTo>
                <a:lnTo>
                  <a:pt x="251461" y="37814"/>
                </a:lnTo>
                <a:lnTo>
                  <a:pt x="251461" y="175546"/>
                </a:lnTo>
                <a:moveTo>
                  <a:pt x="99060" y="167639"/>
                </a:moveTo>
                <a:cubicBezTo>
                  <a:pt x="99060" y="164257"/>
                  <a:pt x="99773" y="161068"/>
                  <a:pt x="101109" y="158209"/>
                </a:cubicBezTo>
                <a:lnTo>
                  <a:pt x="144685" y="170067"/>
                </a:lnTo>
                <a:cubicBezTo>
                  <a:pt x="143447" y="181544"/>
                  <a:pt x="133731" y="190452"/>
                  <a:pt x="121968" y="190452"/>
                </a:cubicBezTo>
                <a:cubicBezTo>
                  <a:pt x="109347" y="190452"/>
                  <a:pt x="99109" y="180212"/>
                  <a:pt x="99109" y="167592"/>
                </a:cubicBezTo>
                <a:lnTo>
                  <a:pt x="99060" y="167639"/>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Alerts with moderate confidence or unusual patterns that do not clearly match known attack signatures demand human analysis. Humans apply organizational context and experience to discern whether an alert indicates a true threat or legitimate unusual activity, reducing false positives and missed detections.</a:t>
            </a:r>
            <a:endParaRPr lang="en-US" sz="1367"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Ambiguous Classifications</a:t>
            </a:r>
            <a:endParaRPr lang="en-US" sz="2030" dirty="0"/>
          </a:p>
        </p:txBody>
      </p:sp>
      <p:sp>
        <p:nvSpPr>
          <p:cNvPr id="24" name="Text 22"/>
          <p:cNvSpPr/>
          <p:nvPr/>
        </p:nvSpPr>
        <p:spPr>
          <a:xfrm>
            <a:off x="637500" y="4202888"/>
            <a:ext cx="176327" cy="274320"/>
          </a:xfrm>
          <a:custGeom>
            <a:avLst/>
            <a:gdLst/>
            <a:ahLst/>
            <a:cxnLst/>
            <a:rect l="l" t="t" r="r" b="b"/>
            <a:pathLst>
              <a:path w="176327" h="274320">
                <a:moveTo>
                  <a:pt x="29397" y="78335"/>
                </a:moveTo>
                <a:cubicBezTo>
                  <a:pt x="29397" y="51265"/>
                  <a:pt x="51323" y="29339"/>
                  <a:pt x="78393" y="29339"/>
                </a:cubicBezTo>
                <a:lnTo>
                  <a:pt x="97992" y="29339"/>
                </a:lnTo>
                <a:cubicBezTo>
                  <a:pt x="125063" y="29339"/>
                  <a:pt x="146988" y="51265"/>
                  <a:pt x="146988" y="78335"/>
                </a:cubicBezTo>
                <a:lnTo>
                  <a:pt x="146988" y="81152"/>
                </a:lnTo>
                <a:cubicBezTo>
                  <a:pt x="146988" y="95913"/>
                  <a:pt x="139638" y="109692"/>
                  <a:pt x="127327" y="117840"/>
                </a:cubicBezTo>
                <a:lnTo>
                  <a:pt x="95296" y="139215"/>
                </a:lnTo>
                <a:cubicBezTo>
                  <a:pt x="81699" y="148278"/>
                  <a:pt x="73493" y="163591"/>
                  <a:pt x="73493" y="180003"/>
                </a:cubicBezTo>
                <a:lnTo>
                  <a:pt x="73493" y="181230"/>
                </a:lnTo>
                <a:cubicBezTo>
                  <a:pt x="73493" y="189374"/>
                  <a:pt x="80047" y="195928"/>
                  <a:pt x="88191" y="195928"/>
                </a:cubicBezTo>
                <a:cubicBezTo>
                  <a:pt x="96338" y="195928"/>
                  <a:pt x="102890" y="189374"/>
                  <a:pt x="102890" y="181230"/>
                </a:cubicBezTo>
                <a:lnTo>
                  <a:pt x="102890" y="180003"/>
                </a:lnTo>
                <a:cubicBezTo>
                  <a:pt x="102890" y="173450"/>
                  <a:pt x="106136" y="167324"/>
                  <a:pt x="111586" y="163712"/>
                </a:cubicBezTo>
                <a:lnTo>
                  <a:pt x="143618" y="142336"/>
                </a:lnTo>
                <a:cubicBezTo>
                  <a:pt x="164074" y="128678"/>
                  <a:pt x="176323" y="105772"/>
                  <a:pt x="176323" y="81212"/>
                </a:cubicBezTo>
                <a:lnTo>
                  <a:pt x="176323" y="78395"/>
                </a:lnTo>
                <a:cubicBezTo>
                  <a:pt x="176323" y="35094"/>
                  <a:pt x="141229" y="0"/>
                  <a:pt x="97928" y="0"/>
                </a:cubicBezTo>
                <a:lnTo>
                  <a:pt x="78329" y="0"/>
                </a:lnTo>
                <a:cubicBezTo>
                  <a:pt x="35091" y="-60"/>
                  <a:pt x="-4" y="35033"/>
                  <a:pt x="-4" y="78332"/>
                </a:cubicBezTo>
                <a:cubicBezTo>
                  <a:pt x="-4" y="86477"/>
                  <a:pt x="6550" y="93030"/>
                  <a:pt x="14695" y="93030"/>
                </a:cubicBezTo>
                <a:cubicBezTo>
                  <a:pt x="22841" y="93030"/>
                  <a:pt x="29393" y="86477"/>
                  <a:pt x="29393" y="78332"/>
                </a:cubicBezTo>
                <a:lnTo>
                  <a:pt x="29397" y="78335"/>
                </a:lnTo>
                <a:moveTo>
                  <a:pt x="88193" y="274320"/>
                </a:moveTo>
                <a:cubicBezTo>
                  <a:pt x="99018" y="274320"/>
                  <a:pt x="107792" y="265545"/>
                  <a:pt x="107792" y="254723"/>
                </a:cubicBezTo>
                <a:cubicBezTo>
                  <a:pt x="107792" y="243898"/>
                  <a:pt x="99018" y="235125"/>
                  <a:pt x="88193" y="235125"/>
                </a:cubicBezTo>
                <a:cubicBezTo>
                  <a:pt x="77369" y="235125"/>
                  <a:pt x="68595" y="243901"/>
                  <a:pt x="68595" y="254723"/>
                </a:cubicBezTo>
                <a:cubicBezTo>
                  <a:pt x="68595" y="265547"/>
                  <a:pt x="77369" y="274320"/>
                  <a:pt x="88193" y="274320"/>
                </a:cubicBez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139"/>
              </a:spcBef>
              <a:buNone/>
            </a:pPr>
            <a:r>
              <a:rPr lang="en-US" sz="1367" dirty="0">
                <a:solidFill>
                  <a:srgbClr val="FFFFFF"/>
                </a:solidFill>
                <a:latin typeface="Figtree Regular" pitchFamily="34" charset="0"/>
                <a:ea typeface="Figtree Regular" pitchFamily="34" charset="-122"/>
                <a:cs typeface="Figtree Regular" pitchFamily="34" charset="-120"/>
              </a:rPr>
              <a:t>Human judgment is essential for decisions that significantly affect critical production systems, senior accounts, or business operations. This includes isolating systems, disabling accounts, and initiating incident responses that involve external parties. Such choices require weighing security risks against operational impacts and cannot be fully automated.</a:t>
            </a:r>
            <a:endParaRPr lang="en-US" sz="1367"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High-Impact Response Decisions</a:t>
            </a:r>
            <a:endParaRPr lang="en-US" sz="2030" dirty="0"/>
          </a:p>
        </p:txBody>
      </p:sp>
      <p:sp>
        <p:nvSpPr>
          <p:cNvPr id="27" name="Text 25"/>
          <p:cNvSpPr/>
          <p:nvPr/>
        </p:nvSpPr>
        <p:spPr>
          <a:xfrm>
            <a:off x="596368" y="1746007"/>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9327246" y="1727884"/>
            <a:ext cx="274320" cy="165347"/>
          </a:xfrm>
          <a:custGeom>
            <a:avLst/>
            <a:gdLst/>
            <a:ahLst/>
            <a:cxnLst/>
            <a:rect l="l" t="t" r="r" b="b"/>
            <a:pathLst>
              <a:path w="274320" h="165347">
                <a:moveTo>
                  <a:pt x="116671" y="258"/>
                </a:moveTo>
                <a:lnTo>
                  <a:pt x="94769" y="22161"/>
                </a:lnTo>
                <a:cubicBezTo>
                  <a:pt x="88210" y="23962"/>
                  <a:pt x="82126" y="27262"/>
                  <a:pt x="76982" y="31806"/>
                </a:cubicBezTo>
                <a:lnTo>
                  <a:pt x="65582" y="41965"/>
                </a:lnTo>
                <a:cubicBezTo>
                  <a:pt x="61209" y="45866"/>
                  <a:pt x="55509" y="48008"/>
                  <a:pt x="49636" y="48008"/>
                </a:cubicBezTo>
                <a:lnTo>
                  <a:pt x="41148" y="48008"/>
                </a:lnTo>
                <a:lnTo>
                  <a:pt x="41148" y="102872"/>
                </a:lnTo>
                <a:cubicBezTo>
                  <a:pt x="49891" y="103130"/>
                  <a:pt x="58208" y="106687"/>
                  <a:pt x="64421" y="112902"/>
                </a:cubicBezTo>
                <a:lnTo>
                  <a:pt x="79679" y="128160"/>
                </a:lnTo>
                <a:lnTo>
                  <a:pt x="82680" y="131161"/>
                </a:lnTo>
                <a:lnTo>
                  <a:pt x="82680" y="131161"/>
                </a:lnTo>
                <a:lnTo>
                  <a:pt x="94254" y="142734"/>
                </a:lnTo>
                <a:cubicBezTo>
                  <a:pt x="96912" y="145391"/>
                  <a:pt x="101284" y="145391"/>
                  <a:pt x="103940" y="142734"/>
                </a:cubicBezTo>
                <a:cubicBezTo>
                  <a:pt x="104670" y="142005"/>
                  <a:pt x="105226" y="141148"/>
                  <a:pt x="105525" y="140247"/>
                </a:cubicBezTo>
                <a:cubicBezTo>
                  <a:pt x="106727" y="136947"/>
                  <a:pt x="109511" y="134460"/>
                  <a:pt x="112940" y="133690"/>
                </a:cubicBezTo>
                <a:cubicBezTo>
                  <a:pt x="116369" y="132917"/>
                  <a:pt x="119968" y="133948"/>
                  <a:pt x="122456" y="136476"/>
                </a:cubicBezTo>
                <a:lnTo>
                  <a:pt x="127087" y="141019"/>
                </a:lnTo>
                <a:cubicBezTo>
                  <a:pt x="132060" y="145991"/>
                  <a:pt x="140117" y="145991"/>
                  <a:pt x="145047" y="141019"/>
                </a:cubicBezTo>
                <a:cubicBezTo>
                  <a:pt x="147362" y="138705"/>
                  <a:pt x="148605" y="135748"/>
                  <a:pt x="148734" y="132704"/>
                </a:cubicBezTo>
                <a:cubicBezTo>
                  <a:pt x="148904" y="128933"/>
                  <a:pt x="151134" y="125589"/>
                  <a:pt x="154563" y="123961"/>
                </a:cubicBezTo>
                <a:cubicBezTo>
                  <a:pt x="157992" y="122332"/>
                  <a:pt x="161978" y="122674"/>
                  <a:pt x="165020" y="124860"/>
                </a:cubicBezTo>
                <a:cubicBezTo>
                  <a:pt x="169050" y="127732"/>
                  <a:pt x="174665" y="127347"/>
                  <a:pt x="178264" y="123746"/>
                </a:cubicBezTo>
                <a:cubicBezTo>
                  <a:pt x="182294" y="119716"/>
                  <a:pt x="182294" y="113201"/>
                  <a:pt x="178264" y="109215"/>
                </a:cubicBezTo>
                <a:lnTo>
                  <a:pt x="145774" y="76726"/>
                </a:lnTo>
                <a:lnTo>
                  <a:pt x="130428" y="90871"/>
                </a:lnTo>
                <a:cubicBezTo>
                  <a:pt x="118726" y="101673"/>
                  <a:pt x="100769" y="101844"/>
                  <a:pt x="88852" y="91257"/>
                </a:cubicBezTo>
                <a:cubicBezTo>
                  <a:pt x="75265" y="79170"/>
                  <a:pt x="74963" y="58081"/>
                  <a:pt x="88166" y="45608"/>
                </a:cubicBezTo>
                <a:lnTo>
                  <a:pt x="118213" y="17232"/>
                </a:lnTo>
                <a:cubicBezTo>
                  <a:pt x="129956" y="6174"/>
                  <a:pt x="145472" y="2"/>
                  <a:pt x="161632" y="2"/>
                </a:cubicBezTo>
                <a:cubicBezTo>
                  <a:pt x="177106" y="2"/>
                  <a:pt x="192065" y="5703"/>
                  <a:pt x="203595" y="15946"/>
                </a:cubicBezTo>
                <a:lnTo>
                  <a:pt x="216496" y="27433"/>
                </a:lnTo>
                <a:lnTo>
                  <a:pt x="233169" y="27433"/>
                </a:lnTo>
                <a:lnTo>
                  <a:pt x="250314" y="27433"/>
                </a:lnTo>
                <a:lnTo>
                  <a:pt x="267459" y="27433"/>
                </a:lnTo>
                <a:cubicBezTo>
                  <a:pt x="271231" y="27433"/>
                  <a:pt x="274317" y="30518"/>
                  <a:pt x="274317" y="34291"/>
                </a:cubicBezTo>
                <a:lnTo>
                  <a:pt x="274317" y="123445"/>
                </a:lnTo>
                <a:cubicBezTo>
                  <a:pt x="274317" y="131031"/>
                  <a:pt x="268189" y="137160"/>
                  <a:pt x="260601" y="137160"/>
                </a:cubicBezTo>
                <a:lnTo>
                  <a:pt x="246885" y="137160"/>
                </a:lnTo>
                <a:cubicBezTo>
                  <a:pt x="241827" y="137160"/>
                  <a:pt x="237369" y="134417"/>
                  <a:pt x="235013" y="130302"/>
                </a:cubicBezTo>
                <a:lnTo>
                  <a:pt x="198621" y="130302"/>
                </a:lnTo>
                <a:cubicBezTo>
                  <a:pt x="197165" y="133174"/>
                  <a:pt x="195236" y="135917"/>
                  <a:pt x="192836" y="138318"/>
                </a:cubicBezTo>
                <a:cubicBezTo>
                  <a:pt x="185506" y="145648"/>
                  <a:pt x="175348" y="148520"/>
                  <a:pt x="165832" y="146932"/>
                </a:cubicBezTo>
                <a:cubicBezTo>
                  <a:pt x="164290" y="150061"/>
                  <a:pt x="162189" y="152976"/>
                  <a:pt x="159575" y="155590"/>
                </a:cubicBezTo>
                <a:cubicBezTo>
                  <a:pt x="147872" y="167292"/>
                  <a:pt x="129572" y="168449"/>
                  <a:pt x="116542" y="159062"/>
                </a:cubicBezTo>
                <a:cubicBezTo>
                  <a:pt x="105783" y="167978"/>
                  <a:pt x="89752" y="167420"/>
                  <a:pt x="79682" y="157305"/>
                </a:cubicBezTo>
                <a:lnTo>
                  <a:pt x="68152" y="145732"/>
                </a:lnTo>
                <a:lnTo>
                  <a:pt x="65151" y="142731"/>
                </a:lnTo>
                <a:lnTo>
                  <a:pt x="49891" y="127473"/>
                </a:lnTo>
                <a:cubicBezTo>
                  <a:pt x="47534" y="125115"/>
                  <a:pt x="44448" y="123744"/>
                  <a:pt x="41148" y="123486"/>
                </a:cubicBezTo>
                <a:cubicBezTo>
                  <a:pt x="41148" y="131029"/>
                  <a:pt x="34976" y="137159"/>
                  <a:pt x="27432" y="137159"/>
                </a:cubicBezTo>
                <a:lnTo>
                  <a:pt x="13716" y="137159"/>
                </a:lnTo>
                <a:cubicBezTo>
                  <a:pt x="6128" y="137159"/>
                  <a:pt x="0" y="131029"/>
                  <a:pt x="0" y="123443"/>
                </a:cubicBezTo>
                <a:lnTo>
                  <a:pt x="0" y="34290"/>
                </a:lnTo>
                <a:cubicBezTo>
                  <a:pt x="0" y="30518"/>
                  <a:pt x="3086" y="27431"/>
                  <a:pt x="6858" y="27431"/>
                </a:cubicBezTo>
                <a:lnTo>
                  <a:pt x="24003" y="27431"/>
                </a:lnTo>
                <a:lnTo>
                  <a:pt x="41148" y="27431"/>
                </a:lnTo>
                <a:lnTo>
                  <a:pt x="49635" y="27431"/>
                </a:lnTo>
                <a:cubicBezTo>
                  <a:pt x="50494" y="27431"/>
                  <a:pt x="51306" y="27132"/>
                  <a:pt x="51907" y="26575"/>
                </a:cubicBezTo>
                <a:lnTo>
                  <a:pt x="63266" y="16459"/>
                </a:lnTo>
                <a:cubicBezTo>
                  <a:pt x="75224" y="5871"/>
                  <a:pt x="90613" y="0"/>
                  <a:pt x="106601" y="0"/>
                </a:cubicBezTo>
                <a:lnTo>
                  <a:pt x="111014" y="0"/>
                </a:lnTo>
                <a:cubicBezTo>
                  <a:pt x="112899" y="0"/>
                  <a:pt x="114830" y="86"/>
                  <a:pt x="116671" y="258"/>
                </a:cubicBezTo>
                <a:lnTo>
                  <a:pt x="116671" y="258"/>
                </a:lnTo>
                <a:moveTo>
                  <a:pt x="233172" y="109728"/>
                </a:moveTo>
                <a:lnTo>
                  <a:pt x="233172" y="48005"/>
                </a:lnTo>
                <a:lnTo>
                  <a:pt x="212598" y="48005"/>
                </a:lnTo>
                <a:cubicBezTo>
                  <a:pt x="210069" y="48005"/>
                  <a:pt x="207625" y="47063"/>
                  <a:pt x="205784" y="45391"/>
                </a:cubicBezTo>
                <a:lnTo>
                  <a:pt x="189967" y="31332"/>
                </a:lnTo>
                <a:cubicBezTo>
                  <a:pt x="182165" y="24389"/>
                  <a:pt x="172092" y="20572"/>
                  <a:pt x="161635" y="20572"/>
                </a:cubicBezTo>
                <a:cubicBezTo>
                  <a:pt x="150747" y="20572"/>
                  <a:pt x="140290" y="24731"/>
                  <a:pt x="132359" y="32188"/>
                </a:cubicBezTo>
                <a:lnTo>
                  <a:pt x="102313" y="60563"/>
                </a:lnTo>
                <a:cubicBezTo>
                  <a:pt x="97899" y="64763"/>
                  <a:pt x="97984" y="71837"/>
                  <a:pt x="102527" y="75865"/>
                </a:cubicBezTo>
                <a:cubicBezTo>
                  <a:pt x="106513" y="79423"/>
                  <a:pt x="112556" y="79337"/>
                  <a:pt x="116457" y="75736"/>
                </a:cubicBezTo>
                <a:lnTo>
                  <a:pt x="147274" y="47274"/>
                </a:lnTo>
                <a:cubicBezTo>
                  <a:pt x="151433" y="43417"/>
                  <a:pt x="157948" y="43673"/>
                  <a:pt x="161805" y="47875"/>
                </a:cubicBezTo>
                <a:cubicBezTo>
                  <a:pt x="165662" y="52074"/>
                  <a:pt x="165407" y="58548"/>
                  <a:pt x="161204" y="62405"/>
                </a:cubicBezTo>
                <a:lnTo>
                  <a:pt x="160861" y="62747"/>
                </a:lnTo>
                <a:lnTo>
                  <a:pt x="192751" y="94638"/>
                </a:lnTo>
                <a:cubicBezTo>
                  <a:pt x="197039" y="98924"/>
                  <a:pt x="199823" y="104197"/>
                  <a:pt x="201066" y="109683"/>
                </a:cubicBezTo>
                <a:lnTo>
                  <a:pt x="233125" y="109683"/>
                </a:lnTo>
                <a:lnTo>
                  <a:pt x="233172" y="109728"/>
                </a:lnTo>
                <a:moveTo>
                  <a:pt x="27432" y="116586"/>
                </a:moveTo>
                <a:cubicBezTo>
                  <a:pt x="27432" y="112798"/>
                  <a:pt x="24362" y="109728"/>
                  <a:pt x="20574" y="109728"/>
                </a:cubicBezTo>
                <a:cubicBezTo>
                  <a:pt x="16786" y="109728"/>
                  <a:pt x="13716" y="112798"/>
                  <a:pt x="13716" y="116586"/>
                </a:cubicBezTo>
                <a:cubicBezTo>
                  <a:pt x="13716" y="120374"/>
                  <a:pt x="16786" y="123445"/>
                  <a:pt x="20574" y="123445"/>
                </a:cubicBezTo>
                <a:cubicBezTo>
                  <a:pt x="24362" y="123445"/>
                  <a:pt x="27432" y="120374"/>
                  <a:pt x="27432" y="116586"/>
                </a:cubicBezTo>
                <a:moveTo>
                  <a:pt x="253746" y="123445"/>
                </a:moveTo>
                <a:cubicBezTo>
                  <a:pt x="257534" y="123445"/>
                  <a:pt x="260604" y="120374"/>
                  <a:pt x="260604" y="116586"/>
                </a:cubicBezTo>
                <a:cubicBezTo>
                  <a:pt x="260604" y="112798"/>
                  <a:pt x="257534" y="109728"/>
                  <a:pt x="253746" y="109728"/>
                </a:cubicBezTo>
                <a:cubicBezTo>
                  <a:pt x="249958" y="109728"/>
                  <a:pt x="246888" y="112798"/>
                  <a:pt x="246888" y="116586"/>
                </a:cubicBezTo>
                <a:cubicBezTo>
                  <a:pt x="246888" y="120374"/>
                  <a:pt x="249958" y="123445"/>
                  <a:pt x="253746" y="123445"/>
                </a:cubicBez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703887"/>
            <a:ext cx="274320" cy="213341"/>
          </a:xfrm>
          <a:custGeom>
            <a:avLst/>
            <a:gdLst/>
            <a:ahLst/>
            <a:cxnLst/>
            <a:rect l="l" t="t" r="r" b="b"/>
            <a:pathLst>
              <a:path w="274320" h="213341">
                <a:moveTo>
                  <a:pt x="137135" y="22857"/>
                </a:moveTo>
                <a:cubicBezTo>
                  <a:pt x="106088" y="22857"/>
                  <a:pt x="80562" y="36953"/>
                  <a:pt x="60990" y="55098"/>
                </a:cubicBezTo>
                <a:cubicBezTo>
                  <a:pt x="42657" y="72146"/>
                  <a:pt x="29989" y="92385"/>
                  <a:pt x="23512" y="106671"/>
                </a:cubicBezTo>
                <a:cubicBezTo>
                  <a:pt x="29989" y="120956"/>
                  <a:pt x="42657" y="141196"/>
                  <a:pt x="60943" y="158244"/>
                </a:cubicBezTo>
                <a:cubicBezTo>
                  <a:pt x="80562" y="176387"/>
                  <a:pt x="106088" y="190484"/>
                  <a:pt x="137135" y="190484"/>
                </a:cubicBezTo>
                <a:cubicBezTo>
                  <a:pt x="168183" y="190484"/>
                  <a:pt x="193708" y="176389"/>
                  <a:pt x="213281" y="158244"/>
                </a:cubicBezTo>
                <a:cubicBezTo>
                  <a:pt x="231614" y="141196"/>
                  <a:pt x="244282" y="120956"/>
                  <a:pt x="250759" y="106671"/>
                </a:cubicBezTo>
                <a:cubicBezTo>
                  <a:pt x="244282" y="92385"/>
                  <a:pt x="231614" y="72146"/>
                  <a:pt x="213328" y="55098"/>
                </a:cubicBezTo>
                <a:cubicBezTo>
                  <a:pt x="193708" y="36955"/>
                  <a:pt x="168183" y="22857"/>
                  <a:pt x="137135" y="22857"/>
                </a:cubicBezTo>
                <a:lnTo>
                  <a:pt x="137135" y="22857"/>
                </a:lnTo>
                <a:moveTo>
                  <a:pt x="45419" y="38382"/>
                </a:moveTo>
                <a:cubicBezTo>
                  <a:pt x="67848" y="17524"/>
                  <a:pt x="98659" y="0"/>
                  <a:pt x="137138" y="0"/>
                </a:cubicBezTo>
                <a:cubicBezTo>
                  <a:pt x="175617" y="0"/>
                  <a:pt x="206426" y="17524"/>
                  <a:pt x="228857" y="38382"/>
                </a:cubicBezTo>
                <a:cubicBezTo>
                  <a:pt x="251143" y="59098"/>
                  <a:pt x="266049" y="83813"/>
                  <a:pt x="273143" y="100812"/>
                </a:cubicBezTo>
                <a:cubicBezTo>
                  <a:pt x="274715" y="104574"/>
                  <a:pt x="274715" y="108766"/>
                  <a:pt x="273143" y="112527"/>
                </a:cubicBezTo>
                <a:cubicBezTo>
                  <a:pt x="266046" y="129528"/>
                  <a:pt x="251143" y="154291"/>
                  <a:pt x="228857" y="174957"/>
                </a:cubicBezTo>
                <a:cubicBezTo>
                  <a:pt x="206429" y="195815"/>
                  <a:pt x="175617" y="213339"/>
                  <a:pt x="137138" y="213339"/>
                </a:cubicBezTo>
                <a:cubicBezTo>
                  <a:pt x="98659" y="213339"/>
                  <a:pt x="67850" y="195815"/>
                  <a:pt x="45419" y="174957"/>
                </a:cubicBezTo>
                <a:cubicBezTo>
                  <a:pt x="23133" y="154291"/>
                  <a:pt x="8227" y="129526"/>
                  <a:pt x="1180" y="112527"/>
                </a:cubicBezTo>
                <a:cubicBezTo>
                  <a:pt x="-392" y="108766"/>
                  <a:pt x="-392" y="104574"/>
                  <a:pt x="1180" y="100812"/>
                </a:cubicBezTo>
                <a:cubicBezTo>
                  <a:pt x="8227" y="83811"/>
                  <a:pt x="23133" y="59049"/>
                  <a:pt x="45419" y="38382"/>
                </a:cubicBezTo>
                <a:lnTo>
                  <a:pt x="45419" y="38382"/>
                </a:lnTo>
                <a:moveTo>
                  <a:pt x="137135" y="144767"/>
                </a:moveTo>
                <a:cubicBezTo>
                  <a:pt x="158184" y="144767"/>
                  <a:pt x="175233" y="127719"/>
                  <a:pt x="175233" y="106671"/>
                </a:cubicBezTo>
                <a:cubicBezTo>
                  <a:pt x="175233" y="85623"/>
                  <a:pt x="158184" y="68574"/>
                  <a:pt x="137135" y="68574"/>
                </a:cubicBezTo>
                <a:cubicBezTo>
                  <a:pt x="136801" y="68574"/>
                  <a:pt x="136515" y="68574"/>
                  <a:pt x="136183" y="68574"/>
                </a:cubicBezTo>
                <a:cubicBezTo>
                  <a:pt x="136803" y="71002"/>
                  <a:pt x="137135" y="73575"/>
                  <a:pt x="137135" y="76193"/>
                </a:cubicBezTo>
                <a:cubicBezTo>
                  <a:pt x="137135" y="93002"/>
                  <a:pt x="123469" y="106671"/>
                  <a:pt x="106658" y="106671"/>
                </a:cubicBezTo>
                <a:cubicBezTo>
                  <a:pt x="104039" y="106671"/>
                  <a:pt x="101468" y="106338"/>
                  <a:pt x="99038" y="105719"/>
                </a:cubicBezTo>
                <a:cubicBezTo>
                  <a:pt x="99038" y="106052"/>
                  <a:pt x="99038" y="106338"/>
                  <a:pt x="99038" y="106671"/>
                </a:cubicBezTo>
                <a:cubicBezTo>
                  <a:pt x="99038" y="127719"/>
                  <a:pt x="116087" y="144767"/>
                  <a:pt x="137135" y="144767"/>
                </a:cubicBezTo>
                <a:moveTo>
                  <a:pt x="137135" y="45717"/>
                </a:moveTo>
                <a:cubicBezTo>
                  <a:pt x="170800" y="45717"/>
                  <a:pt x="198089" y="73008"/>
                  <a:pt x="198089" y="106671"/>
                </a:cubicBezTo>
                <a:cubicBezTo>
                  <a:pt x="198089" y="140336"/>
                  <a:pt x="170800" y="167625"/>
                  <a:pt x="137135" y="167625"/>
                </a:cubicBezTo>
                <a:cubicBezTo>
                  <a:pt x="103471" y="167625"/>
                  <a:pt x="76181" y="140334"/>
                  <a:pt x="76181" y="106671"/>
                </a:cubicBezTo>
                <a:cubicBezTo>
                  <a:pt x="76181" y="73006"/>
                  <a:pt x="103471" y="45717"/>
                  <a:pt x="137135" y="45717"/>
                </a:cubicBezTo>
                <a:lnTo>
                  <a:pt x="137135" y="4571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12941" y="1700830"/>
            <a:ext cx="274320" cy="219456"/>
          </a:xfrm>
          <a:custGeom>
            <a:avLst/>
            <a:gdLst/>
            <a:ahLst/>
            <a:cxnLst/>
            <a:rect l="l" t="t" r="r" b="b"/>
            <a:pathLst>
              <a:path w="274320" h="219456">
                <a:moveTo>
                  <a:pt x="137160" y="0"/>
                </a:moveTo>
                <a:cubicBezTo>
                  <a:pt x="142860" y="0"/>
                  <a:pt x="147447" y="4587"/>
                  <a:pt x="147447" y="10288"/>
                </a:cubicBezTo>
                <a:lnTo>
                  <a:pt x="147447" y="41150"/>
                </a:lnTo>
                <a:lnTo>
                  <a:pt x="192024" y="41150"/>
                </a:lnTo>
                <a:cubicBezTo>
                  <a:pt x="214740" y="41150"/>
                  <a:pt x="233172" y="59580"/>
                  <a:pt x="233172" y="82298"/>
                </a:cubicBezTo>
                <a:lnTo>
                  <a:pt x="233172" y="178310"/>
                </a:lnTo>
                <a:cubicBezTo>
                  <a:pt x="233172" y="201028"/>
                  <a:pt x="214740" y="219458"/>
                  <a:pt x="192024" y="219458"/>
                </a:cubicBezTo>
                <a:lnTo>
                  <a:pt x="82296" y="219458"/>
                </a:lnTo>
                <a:cubicBezTo>
                  <a:pt x="59580" y="219458"/>
                  <a:pt x="41148" y="201028"/>
                  <a:pt x="41148" y="178310"/>
                </a:cubicBezTo>
                <a:lnTo>
                  <a:pt x="41148" y="82298"/>
                </a:lnTo>
                <a:cubicBezTo>
                  <a:pt x="41148" y="59580"/>
                  <a:pt x="59580" y="41150"/>
                  <a:pt x="82296" y="41150"/>
                </a:cubicBezTo>
                <a:lnTo>
                  <a:pt x="126873" y="41150"/>
                </a:lnTo>
                <a:lnTo>
                  <a:pt x="126873" y="10290"/>
                </a:lnTo>
                <a:cubicBezTo>
                  <a:pt x="126873" y="4589"/>
                  <a:pt x="131460" y="5"/>
                  <a:pt x="137160" y="5"/>
                </a:cubicBezTo>
                <a:lnTo>
                  <a:pt x="137160" y="0"/>
                </a:lnTo>
                <a:moveTo>
                  <a:pt x="82296" y="61722"/>
                </a:moveTo>
                <a:cubicBezTo>
                  <a:pt x="70936" y="61722"/>
                  <a:pt x="61722" y="70937"/>
                  <a:pt x="61722" y="82296"/>
                </a:cubicBezTo>
                <a:lnTo>
                  <a:pt x="61722" y="178308"/>
                </a:lnTo>
                <a:cubicBezTo>
                  <a:pt x="61722" y="189667"/>
                  <a:pt x="70936" y="198882"/>
                  <a:pt x="82296" y="198882"/>
                </a:cubicBezTo>
                <a:lnTo>
                  <a:pt x="192024" y="198882"/>
                </a:lnTo>
                <a:cubicBezTo>
                  <a:pt x="203384" y="198882"/>
                  <a:pt x="212598" y="189667"/>
                  <a:pt x="212598" y="178308"/>
                </a:cubicBezTo>
                <a:lnTo>
                  <a:pt x="212598" y="82296"/>
                </a:lnTo>
                <a:cubicBezTo>
                  <a:pt x="212598" y="70937"/>
                  <a:pt x="203384" y="61722"/>
                  <a:pt x="192024" y="61722"/>
                </a:cubicBezTo>
                <a:lnTo>
                  <a:pt x="137160" y="61722"/>
                </a:lnTo>
                <a:lnTo>
                  <a:pt x="82296" y="61722"/>
                </a:lnTo>
                <a:moveTo>
                  <a:pt x="20574" y="96012"/>
                </a:moveTo>
                <a:lnTo>
                  <a:pt x="27432" y="96012"/>
                </a:lnTo>
                <a:lnTo>
                  <a:pt x="27432" y="178308"/>
                </a:lnTo>
                <a:lnTo>
                  <a:pt x="20574" y="178308"/>
                </a:lnTo>
                <a:cubicBezTo>
                  <a:pt x="9214" y="178308"/>
                  <a:pt x="0" y="169093"/>
                  <a:pt x="0" y="157734"/>
                </a:cubicBezTo>
                <a:lnTo>
                  <a:pt x="0" y="116586"/>
                </a:lnTo>
                <a:cubicBezTo>
                  <a:pt x="0" y="105227"/>
                  <a:pt x="9214" y="96012"/>
                  <a:pt x="20574" y="96012"/>
                </a:cubicBezTo>
                <a:lnTo>
                  <a:pt x="20574" y="96012"/>
                </a:lnTo>
                <a:moveTo>
                  <a:pt x="253746" y="96012"/>
                </a:moveTo>
                <a:cubicBezTo>
                  <a:pt x="265106" y="96012"/>
                  <a:pt x="274320" y="105227"/>
                  <a:pt x="274320" y="116586"/>
                </a:cubicBezTo>
                <a:lnTo>
                  <a:pt x="274320" y="157734"/>
                </a:lnTo>
                <a:cubicBezTo>
                  <a:pt x="274320" y="169093"/>
                  <a:pt x="265106" y="178308"/>
                  <a:pt x="253746" y="178308"/>
                </a:cubicBezTo>
                <a:lnTo>
                  <a:pt x="246888" y="178308"/>
                </a:lnTo>
                <a:lnTo>
                  <a:pt x="246888" y="96012"/>
                </a:lnTo>
                <a:lnTo>
                  <a:pt x="253746" y="96012"/>
                </a:lnTo>
                <a:moveTo>
                  <a:pt x="89154" y="164592"/>
                </a:moveTo>
                <a:lnTo>
                  <a:pt x="102870" y="164592"/>
                </a:lnTo>
                <a:cubicBezTo>
                  <a:pt x="106642" y="164592"/>
                  <a:pt x="109728" y="167678"/>
                  <a:pt x="109728" y="171450"/>
                </a:cubicBezTo>
                <a:cubicBezTo>
                  <a:pt x="109728" y="175222"/>
                  <a:pt x="106642" y="178308"/>
                  <a:pt x="102870" y="178308"/>
                </a:cubicBezTo>
                <a:lnTo>
                  <a:pt x="89154" y="178308"/>
                </a:lnTo>
                <a:cubicBezTo>
                  <a:pt x="85382" y="178308"/>
                  <a:pt x="82296" y="175222"/>
                  <a:pt x="82296" y="171450"/>
                </a:cubicBezTo>
                <a:cubicBezTo>
                  <a:pt x="82296" y="167678"/>
                  <a:pt x="85382" y="164592"/>
                  <a:pt x="89154" y="164592"/>
                </a:cubicBezTo>
                <a:moveTo>
                  <a:pt x="130302" y="164592"/>
                </a:moveTo>
                <a:lnTo>
                  <a:pt x="144018" y="164592"/>
                </a:lnTo>
                <a:cubicBezTo>
                  <a:pt x="147790" y="164592"/>
                  <a:pt x="150876" y="167678"/>
                  <a:pt x="150876" y="171450"/>
                </a:cubicBezTo>
                <a:cubicBezTo>
                  <a:pt x="150876" y="175222"/>
                  <a:pt x="147790" y="178308"/>
                  <a:pt x="144018" y="178308"/>
                </a:cubicBezTo>
                <a:lnTo>
                  <a:pt x="130302" y="178308"/>
                </a:lnTo>
                <a:cubicBezTo>
                  <a:pt x="126530" y="178308"/>
                  <a:pt x="123444" y="175222"/>
                  <a:pt x="123444" y="171450"/>
                </a:cubicBezTo>
                <a:cubicBezTo>
                  <a:pt x="123444" y="167678"/>
                  <a:pt x="126530" y="164592"/>
                  <a:pt x="130302" y="164592"/>
                </a:cubicBezTo>
                <a:moveTo>
                  <a:pt x="171450" y="164592"/>
                </a:moveTo>
                <a:lnTo>
                  <a:pt x="185166" y="164592"/>
                </a:lnTo>
                <a:cubicBezTo>
                  <a:pt x="188938" y="164592"/>
                  <a:pt x="192024" y="167678"/>
                  <a:pt x="192024" y="171450"/>
                </a:cubicBezTo>
                <a:cubicBezTo>
                  <a:pt x="192024" y="175222"/>
                  <a:pt x="188938" y="178308"/>
                  <a:pt x="185166" y="178308"/>
                </a:cubicBezTo>
                <a:lnTo>
                  <a:pt x="171450" y="178308"/>
                </a:lnTo>
                <a:cubicBezTo>
                  <a:pt x="167678" y="178308"/>
                  <a:pt x="164592" y="175222"/>
                  <a:pt x="164592" y="171450"/>
                </a:cubicBezTo>
                <a:cubicBezTo>
                  <a:pt x="164592" y="167678"/>
                  <a:pt x="167678" y="164592"/>
                  <a:pt x="171450" y="164592"/>
                </a:cubicBezTo>
                <a:moveTo>
                  <a:pt x="85725" y="109728"/>
                </a:moveTo>
                <a:cubicBezTo>
                  <a:pt x="85725" y="100258"/>
                  <a:pt x="93400" y="92584"/>
                  <a:pt x="102870" y="92584"/>
                </a:cubicBezTo>
                <a:cubicBezTo>
                  <a:pt x="112340" y="92584"/>
                  <a:pt x="120015" y="100261"/>
                  <a:pt x="120015" y="109730"/>
                </a:cubicBezTo>
                <a:cubicBezTo>
                  <a:pt x="120015" y="119200"/>
                  <a:pt x="112340" y="126876"/>
                  <a:pt x="102870" y="126876"/>
                </a:cubicBezTo>
                <a:cubicBezTo>
                  <a:pt x="93400" y="126876"/>
                  <a:pt x="85725" y="119200"/>
                  <a:pt x="85725" y="109733"/>
                </a:cubicBezTo>
                <a:lnTo>
                  <a:pt x="85725" y="109728"/>
                </a:lnTo>
                <a:moveTo>
                  <a:pt x="171450" y="92584"/>
                </a:moveTo>
                <a:cubicBezTo>
                  <a:pt x="180920" y="92584"/>
                  <a:pt x="188595" y="100261"/>
                  <a:pt x="188595" y="109730"/>
                </a:cubicBezTo>
                <a:cubicBezTo>
                  <a:pt x="188595" y="119200"/>
                  <a:pt x="180920" y="126876"/>
                  <a:pt x="171450" y="126876"/>
                </a:cubicBezTo>
                <a:cubicBezTo>
                  <a:pt x="161980" y="126876"/>
                  <a:pt x="154305" y="119200"/>
                  <a:pt x="154305" y="109733"/>
                </a:cubicBezTo>
                <a:cubicBezTo>
                  <a:pt x="154305" y="100263"/>
                  <a:pt x="161980" y="92589"/>
                  <a:pt x="171450" y="92589"/>
                </a:cubicBezTo>
                <a:lnTo>
                  <a:pt x="171450" y="92584"/>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72601" y="1673398"/>
            <a:ext cx="240030" cy="274320"/>
          </a:xfrm>
          <a:custGeom>
            <a:avLst/>
            <a:gdLst/>
            <a:ahLst/>
            <a:cxnLst/>
            <a:rect l="l" t="t" r="r" b="b"/>
            <a:pathLst>
              <a:path w="240030" h="274320">
                <a:moveTo>
                  <a:pt x="162877" y="68580"/>
                </a:moveTo>
                <a:cubicBezTo>
                  <a:pt x="162877" y="44909"/>
                  <a:pt x="143687" y="25718"/>
                  <a:pt x="120015" y="25718"/>
                </a:cubicBezTo>
                <a:cubicBezTo>
                  <a:pt x="96343" y="25718"/>
                  <a:pt x="77153" y="44909"/>
                  <a:pt x="77153" y="68580"/>
                </a:cubicBezTo>
                <a:cubicBezTo>
                  <a:pt x="77153" y="92251"/>
                  <a:pt x="96343" y="111443"/>
                  <a:pt x="120015" y="111443"/>
                </a:cubicBezTo>
                <a:cubicBezTo>
                  <a:pt x="143687" y="111443"/>
                  <a:pt x="162877" y="92251"/>
                  <a:pt x="162877" y="68580"/>
                </a:cubicBezTo>
                <a:lnTo>
                  <a:pt x="162877" y="68580"/>
                </a:lnTo>
                <a:moveTo>
                  <a:pt x="51436" y="68580"/>
                </a:moveTo>
                <a:cubicBezTo>
                  <a:pt x="51436" y="30705"/>
                  <a:pt x="82141" y="0"/>
                  <a:pt x="120015" y="0"/>
                </a:cubicBezTo>
                <a:cubicBezTo>
                  <a:pt x="157892" y="0"/>
                  <a:pt x="188594" y="30705"/>
                  <a:pt x="188594" y="68580"/>
                </a:cubicBezTo>
                <a:cubicBezTo>
                  <a:pt x="188594" y="106455"/>
                  <a:pt x="157889" y="137160"/>
                  <a:pt x="120015" y="137160"/>
                </a:cubicBezTo>
                <a:cubicBezTo>
                  <a:pt x="82138" y="137160"/>
                  <a:pt x="51436" y="106455"/>
                  <a:pt x="51436" y="68580"/>
                </a:cubicBezTo>
                <a:lnTo>
                  <a:pt x="51436" y="68580"/>
                </a:lnTo>
                <a:moveTo>
                  <a:pt x="26413" y="248603"/>
                </a:moveTo>
                <a:lnTo>
                  <a:pt x="213668" y="248603"/>
                </a:lnTo>
                <a:cubicBezTo>
                  <a:pt x="208898" y="214688"/>
                  <a:pt x="179754" y="188595"/>
                  <a:pt x="144551" y="188595"/>
                </a:cubicBezTo>
                <a:lnTo>
                  <a:pt x="95580" y="188595"/>
                </a:lnTo>
                <a:cubicBezTo>
                  <a:pt x="60380" y="188595"/>
                  <a:pt x="31233" y="214688"/>
                  <a:pt x="26463" y="248603"/>
                </a:cubicBezTo>
                <a:lnTo>
                  <a:pt x="26413" y="248603"/>
                </a:lnTo>
                <a:moveTo>
                  <a:pt x="0" y="258407"/>
                </a:moveTo>
                <a:cubicBezTo>
                  <a:pt x="0" y="205633"/>
                  <a:pt x="42754" y="162878"/>
                  <a:pt x="95530" y="162878"/>
                </a:cubicBezTo>
                <a:lnTo>
                  <a:pt x="144500" y="162878"/>
                </a:lnTo>
                <a:cubicBezTo>
                  <a:pt x="197276" y="162878"/>
                  <a:pt x="240030" y="205633"/>
                  <a:pt x="240030" y="258407"/>
                </a:cubicBezTo>
                <a:cubicBezTo>
                  <a:pt x="240030" y="267193"/>
                  <a:pt x="232903" y="274320"/>
                  <a:pt x="224118" y="274320"/>
                </a:cubicBezTo>
                <a:lnTo>
                  <a:pt x="15914" y="274320"/>
                </a:lnTo>
                <a:cubicBezTo>
                  <a:pt x="7127" y="274320"/>
                  <a:pt x="2" y="267193"/>
                  <a:pt x="2" y="258407"/>
                </a:cubicBezTo>
                <a:lnTo>
                  <a:pt x="0" y="258407"/>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Automation Models: HITL vs Human-on-the-Loop and Fully Automated</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Humans participate actively in critical decisions, reviewing AI-generated alerts especially in ambiguous or high-impact situations. AI supports by processing data and prioritizing alerts, but humans provide contextual understanding, judgment, and accountability. This model balances speed with careful oversight for complex security tasks.</a:t>
            </a:r>
            <a:endParaRPr lang="en-US" sz="1450"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Human-in-the-Loop (HITL)</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AI runs independently but humans monitor the AI's actions and can intervene if necessary. This model allows for quick responses while maintaining oversight. It works well when timely intervention is critical but decisions generally do not require constant human judgment.</a:t>
            </a:r>
            <a:endParaRPr lang="en-US" sz="1450"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Human-on-the-Loop</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AI operates autonomously without human involvement. It is fast and efficient for routine, well-understood, low-risk decisions such as blocking known malicious IPs. However, it is fragile, prone to false positives, and vulnerable to adversarial attacks without human oversight.</a:t>
            </a:r>
            <a:endParaRPr lang="en-US" sz="1450"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Fully Automated</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318"/>
              </a:spcBef>
              <a:buNone/>
            </a:pPr>
            <a:r>
              <a:rPr lang="en-US" sz="1450" dirty="0">
                <a:solidFill>
                  <a:srgbClr val="FFFFFF"/>
                </a:solidFill>
                <a:latin typeface="Figtree Regular" pitchFamily="34" charset="0"/>
                <a:ea typeface="Figtree Regular" pitchFamily="34" charset="-122"/>
                <a:cs typeface="Figtree Regular" pitchFamily="34" charset="-120"/>
              </a:rPr>
              <a:t>Humans make all security decisions without AI assistance. This approach is thorough but slow and impractical for modern data volumes. It is best suited for strategic planning and post-incident analysis where deep human insight is required.</a:t>
            </a:r>
            <a:endParaRPr lang="en-US" sz="1450"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Fully Manual</a:t>
            </a:r>
            <a:endParaRPr lang="en-US" sz="16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909606" y="1673233"/>
            <a:ext cx="2689265" cy="2021933"/>
          </a:xfrm>
          <a:custGeom>
            <a:avLst/>
            <a:gdLst/>
            <a:ahLst/>
            <a:cxnLst/>
            <a:rect l="l" t="t" r="r" b="b"/>
            <a:pathLst>
              <a:path w="2689265" h="2021933">
                <a:moveTo>
                  <a:pt x="2279394" y="2042"/>
                </a:moveTo>
                <a:cubicBezTo>
                  <a:pt x="2248521" y="728"/>
                  <a:pt x="2217541" y="0"/>
                  <a:pt x="2186319" y="0"/>
                </a:cubicBezTo>
                <a:cubicBezTo>
                  <a:pt x="1038029" y="0"/>
                  <a:pt x="95926" y="882048"/>
                  <a:pt x="-27" y="2005596"/>
                </a:cubicBezTo>
                <a:lnTo>
                  <a:pt x="540381" y="1600299"/>
                </a:lnTo>
                <a:lnTo>
                  <a:pt x="1102626" y="2021933"/>
                </a:lnTo>
                <a:cubicBezTo>
                  <a:pt x="1185482" y="1497990"/>
                  <a:pt x="1639053" y="1097364"/>
                  <a:pt x="2186319" y="1097364"/>
                </a:cubicBezTo>
                <a:cubicBezTo>
                  <a:pt x="2216223" y="1097364"/>
                  <a:pt x="2245752" y="1098557"/>
                  <a:pt x="2275065" y="1100963"/>
                </a:cubicBezTo>
                <a:lnTo>
                  <a:pt x="2689238" y="548672"/>
                </a:lnTo>
                <a:lnTo>
                  <a:pt x="2279394" y="2042"/>
                </a:lnTo>
              </a:path>
            </a:pathLst>
          </a:custGeom>
          <a:solidFill>
            <a:srgbClr val="156082"/>
          </a:solidFill>
          <a:ln/>
        </p:spPr>
        <p:txBody>
          <a:bodyPr wrap="square" lIns="0" tIns="0" rIns="0" bIns="0" rtlCol="0" anchor="ctr"/>
          <a:lstStyle/>
          <a:p>
            <a:pPr indent="0" marL="0">
              <a:buNone/>
            </a:pPr>
            <a:endParaRPr lang="en-US" dirty="0"/>
          </a:p>
        </p:txBody>
      </p:sp>
      <p:sp>
        <p:nvSpPr>
          <p:cNvPr id="5" name="Text 3"/>
          <p:cNvSpPr/>
          <p:nvPr/>
        </p:nvSpPr>
        <p:spPr>
          <a:xfrm>
            <a:off x="6268748" y="1681399"/>
            <a:ext cx="2021812" cy="2689265"/>
          </a:xfrm>
          <a:custGeom>
            <a:avLst/>
            <a:gdLst/>
            <a:ahLst/>
            <a:cxnLst/>
            <a:rect l="l" t="t" r="r" b="b"/>
            <a:pathLst>
              <a:path w="2021812" h="2689265">
                <a:moveTo>
                  <a:pt x="0" y="1102652"/>
                </a:moveTo>
                <a:cubicBezTo>
                  <a:pt x="523953" y="1185509"/>
                  <a:pt x="924554" y="1639080"/>
                  <a:pt x="924554" y="2186346"/>
                </a:cubicBezTo>
                <a:cubicBezTo>
                  <a:pt x="924554" y="2216250"/>
                  <a:pt x="923362" y="2245778"/>
                  <a:pt x="920956" y="2275091"/>
                </a:cubicBezTo>
                <a:lnTo>
                  <a:pt x="1473234" y="2689265"/>
                </a:lnTo>
                <a:lnTo>
                  <a:pt x="2019750" y="2279394"/>
                </a:lnTo>
                <a:cubicBezTo>
                  <a:pt x="2021064" y="2248522"/>
                  <a:pt x="2021792" y="2217541"/>
                  <a:pt x="2021792" y="2186319"/>
                </a:cubicBezTo>
                <a:cubicBezTo>
                  <a:pt x="2021913" y="1038030"/>
                  <a:pt x="1139857" y="95926"/>
                  <a:pt x="16316" y="-27"/>
                </a:cubicBezTo>
                <a:lnTo>
                  <a:pt x="421609" y="540489"/>
                </a:lnTo>
                <a:lnTo>
                  <a:pt x="-20" y="1102733"/>
                </a:lnTo>
                <a:lnTo>
                  <a:pt x="0" y="1102652"/>
                </a:lnTo>
              </a:path>
            </a:pathLst>
          </a:custGeom>
          <a:solidFill>
            <a:srgbClr val="104862"/>
          </a:solidFill>
          <a:ln/>
        </p:spPr>
        <p:txBody>
          <a:bodyPr wrap="square" lIns="0" tIns="0" rIns="0" bIns="0" rtlCol="0" anchor="ctr"/>
          <a:lstStyle/>
          <a:p>
            <a:pPr indent="0" marL="0">
              <a:buNone/>
            </a:pPr>
            <a:endParaRPr lang="en-US" dirty="0"/>
          </a:p>
        </p:txBody>
      </p:sp>
      <p:sp>
        <p:nvSpPr>
          <p:cNvPr id="6" name="Text 4"/>
          <p:cNvSpPr/>
          <p:nvPr/>
        </p:nvSpPr>
        <p:spPr>
          <a:xfrm>
            <a:off x="5593128" y="4040541"/>
            <a:ext cx="2689385" cy="2021812"/>
          </a:xfrm>
          <a:custGeom>
            <a:avLst/>
            <a:gdLst/>
            <a:ahLst/>
            <a:cxnLst/>
            <a:rect l="l" t="t" r="r" b="b"/>
            <a:pathLst>
              <a:path w="2689385" h="2021812">
                <a:moveTo>
                  <a:pt x="2148872" y="421629"/>
                </a:moveTo>
                <a:lnTo>
                  <a:pt x="1586630" y="0"/>
                </a:lnTo>
                <a:cubicBezTo>
                  <a:pt x="1503770" y="523953"/>
                  <a:pt x="1050205" y="924554"/>
                  <a:pt x="502942" y="924554"/>
                </a:cubicBezTo>
                <a:cubicBezTo>
                  <a:pt x="473036" y="924554"/>
                  <a:pt x="443506" y="923362"/>
                  <a:pt x="414192" y="920956"/>
                </a:cubicBezTo>
                <a:lnTo>
                  <a:pt x="0" y="1473234"/>
                </a:lnTo>
                <a:lnTo>
                  <a:pt x="409862" y="2019750"/>
                </a:lnTo>
                <a:cubicBezTo>
                  <a:pt x="440736" y="2021064"/>
                  <a:pt x="471718" y="2021792"/>
                  <a:pt x="502942" y="2021792"/>
                </a:cubicBezTo>
                <a:cubicBezTo>
                  <a:pt x="1651363" y="2021792"/>
                  <a:pt x="2593455" y="1139736"/>
                  <a:pt x="2689385" y="16195"/>
                </a:cubicBezTo>
                <a:lnTo>
                  <a:pt x="2148980" y="421487"/>
                </a:lnTo>
                <a:lnTo>
                  <a:pt x="2148872" y="421629"/>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3901440" y="3364921"/>
            <a:ext cx="2021933" cy="2689385"/>
          </a:xfrm>
          <a:custGeom>
            <a:avLst/>
            <a:gdLst/>
            <a:ahLst/>
            <a:cxnLst/>
            <a:rect l="l" t="t" r="r" b="b"/>
            <a:pathLst>
              <a:path w="2021933" h="2689385">
                <a:moveTo>
                  <a:pt x="1097242" y="502942"/>
                </a:moveTo>
                <a:cubicBezTo>
                  <a:pt x="1097242" y="473036"/>
                  <a:pt x="1098435" y="443506"/>
                  <a:pt x="1100841" y="414192"/>
                </a:cubicBezTo>
                <a:lnTo>
                  <a:pt x="548550" y="0"/>
                </a:lnTo>
                <a:lnTo>
                  <a:pt x="2022" y="409862"/>
                </a:lnTo>
                <a:cubicBezTo>
                  <a:pt x="708" y="440737"/>
                  <a:pt x="-20" y="471718"/>
                  <a:pt x="-20" y="502942"/>
                </a:cubicBezTo>
                <a:cubicBezTo>
                  <a:pt x="-20" y="1651363"/>
                  <a:pt x="882028" y="2593455"/>
                  <a:pt x="2005576" y="2689385"/>
                </a:cubicBezTo>
                <a:lnTo>
                  <a:pt x="1600279" y="2148980"/>
                </a:lnTo>
                <a:lnTo>
                  <a:pt x="2021913" y="1586737"/>
                </a:lnTo>
                <a:cubicBezTo>
                  <a:pt x="1497969" y="1503877"/>
                  <a:pt x="1097343" y="1050312"/>
                  <a:pt x="1097343" y="503049"/>
                </a:cubicBezTo>
                <a:lnTo>
                  <a:pt x="1097242" y="502942"/>
                </a:lnTo>
              </a:path>
            </a:pathLst>
          </a:custGeom>
          <a:solidFill>
            <a:srgbClr val="46B1E1"/>
          </a:solidFill>
          <a:ln/>
        </p:spPr>
        <p:txBody>
          <a:bodyPr wrap="square" lIns="0" tIns="0" rIns="0" bIns="0" rtlCol="0" anchor="ctr"/>
          <a:lstStyle/>
          <a:p>
            <a:pPr indent="0" marL="0">
              <a:buNone/>
            </a:pPr>
            <a:endParaRPr lang="en-US" dirty="0"/>
          </a:p>
        </p:txBody>
      </p:sp>
      <p:sp>
        <p:nvSpPr>
          <p:cNvPr id="8" name="Text 6"/>
          <p:cNvSpPr/>
          <p:nvPr/>
        </p:nvSpPr>
        <p:spPr>
          <a:xfrm>
            <a:off x="5025638" y="2252460"/>
            <a:ext cx="457200" cy="457077"/>
          </a:xfrm>
          <a:custGeom>
            <a:avLst/>
            <a:gdLst/>
            <a:ahLst/>
            <a:cxnLst/>
            <a:rect l="l" t="t" r="r" b="b"/>
            <a:pathLst>
              <a:path w="457200" h="457077">
                <a:moveTo>
                  <a:pt x="328580" y="185720"/>
                </a:moveTo>
                <a:cubicBezTo>
                  <a:pt x="328580" y="106819"/>
                  <a:pt x="264618" y="42860"/>
                  <a:pt x="185719" y="42860"/>
                </a:cubicBezTo>
                <a:cubicBezTo>
                  <a:pt x="106820" y="42860"/>
                  <a:pt x="42858" y="106819"/>
                  <a:pt x="42858" y="185720"/>
                </a:cubicBezTo>
                <a:cubicBezTo>
                  <a:pt x="42858" y="264620"/>
                  <a:pt x="106820" y="328579"/>
                  <a:pt x="185719" y="328579"/>
                </a:cubicBezTo>
                <a:cubicBezTo>
                  <a:pt x="264618" y="328579"/>
                  <a:pt x="328580" y="264620"/>
                  <a:pt x="328580" y="185720"/>
                </a:cubicBezTo>
                <a:moveTo>
                  <a:pt x="300988" y="331349"/>
                </a:moveTo>
                <a:cubicBezTo>
                  <a:pt x="269382" y="356438"/>
                  <a:pt x="229290" y="371439"/>
                  <a:pt x="185719" y="371439"/>
                </a:cubicBezTo>
                <a:cubicBezTo>
                  <a:pt x="83128" y="371439"/>
                  <a:pt x="0" y="288311"/>
                  <a:pt x="0" y="185720"/>
                </a:cubicBezTo>
                <a:cubicBezTo>
                  <a:pt x="0" y="83129"/>
                  <a:pt x="83128" y="0"/>
                  <a:pt x="185719" y="0"/>
                </a:cubicBezTo>
                <a:cubicBezTo>
                  <a:pt x="288310" y="0"/>
                  <a:pt x="371438" y="83129"/>
                  <a:pt x="371438" y="185720"/>
                </a:cubicBezTo>
                <a:cubicBezTo>
                  <a:pt x="371438" y="229293"/>
                  <a:pt x="356438" y="269383"/>
                  <a:pt x="331347" y="300990"/>
                </a:cubicBezTo>
                <a:lnTo>
                  <a:pt x="450904" y="420548"/>
                </a:lnTo>
                <a:cubicBezTo>
                  <a:pt x="459299" y="428940"/>
                  <a:pt x="459299" y="442515"/>
                  <a:pt x="450904" y="450815"/>
                </a:cubicBezTo>
                <a:cubicBezTo>
                  <a:pt x="442510" y="459121"/>
                  <a:pt x="428940" y="459207"/>
                  <a:pt x="420638" y="450815"/>
                </a:cubicBezTo>
                <a:lnTo>
                  <a:pt x="300988" y="331349"/>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7238547" y="2797431"/>
            <a:ext cx="437813" cy="457200"/>
          </a:xfrm>
          <a:custGeom>
            <a:avLst/>
            <a:gdLst/>
            <a:ahLst/>
            <a:cxnLst/>
            <a:rect l="l" t="t" r="r" b="b"/>
            <a:pathLst>
              <a:path w="437813" h="457200">
                <a:moveTo>
                  <a:pt x="218911" y="0"/>
                </a:moveTo>
                <a:cubicBezTo>
                  <a:pt x="234090" y="0"/>
                  <a:pt x="248914" y="1518"/>
                  <a:pt x="263380" y="4289"/>
                </a:cubicBezTo>
                <a:cubicBezTo>
                  <a:pt x="270433" y="5628"/>
                  <a:pt x="282845" y="9734"/>
                  <a:pt x="289631" y="22238"/>
                </a:cubicBezTo>
                <a:cubicBezTo>
                  <a:pt x="291417" y="25544"/>
                  <a:pt x="292845" y="29023"/>
                  <a:pt x="293738" y="32777"/>
                </a:cubicBezTo>
                <a:lnTo>
                  <a:pt x="302043" y="67158"/>
                </a:lnTo>
                <a:cubicBezTo>
                  <a:pt x="303295" y="72338"/>
                  <a:pt x="312043" y="77427"/>
                  <a:pt x="317134" y="75909"/>
                </a:cubicBezTo>
                <a:lnTo>
                  <a:pt x="351069" y="65905"/>
                </a:lnTo>
                <a:cubicBezTo>
                  <a:pt x="354642" y="64836"/>
                  <a:pt x="358302" y="64296"/>
                  <a:pt x="361962" y="64209"/>
                </a:cubicBezTo>
                <a:cubicBezTo>
                  <a:pt x="376340" y="63761"/>
                  <a:pt x="386073" y="72603"/>
                  <a:pt x="390805" y="77962"/>
                </a:cubicBezTo>
                <a:cubicBezTo>
                  <a:pt x="410542" y="100374"/>
                  <a:pt x="425721" y="126718"/>
                  <a:pt x="435366" y="155023"/>
                </a:cubicBezTo>
                <a:cubicBezTo>
                  <a:pt x="437686" y="161808"/>
                  <a:pt x="440366" y="174490"/>
                  <a:pt x="432954" y="186634"/>
                </a:cubicBezTo>
                <a:cubicBezTo>
                  <a:pt x="430988" y="189848"/>
                  <a:pt x="428580" y="192884"/>
                  <a:pt x="425808" y="195563"/>
                </a:cubicBezTo>
                <a:lnTo>
                  <a:pt x="400179" y="219941"/>
                </a:lnTo>
                <a:cubicBezTo>
                  <a:pt x="396427" y="223511"/>
                  <a:pt x="396427" y="233780"/>
                  <a:pt x="400179" y="237355"/>
                </a:cubicBezTo>
                <a:lnTo>
                  <a:pt x="425808" y="261733"/>
                </a:lnTo>
                <a:cubicBezTo>
                  <a:pt x="428575" y="264412"/>
                  <a:pt x="430988" y="267448"/>
                  <a:pt x="432954" y="270662"/>
                </a:cubicBezTo>
                <a:cubicBezTo>
                  <a:pt x="440274" y="282806"/>
                  <a:pt x="437599" y="295488"/>
                  <a:pt x="435366" y="302273"/>
                </a:cubicBezTo>
                <a:cubicBezTo>
                  <a:pt x="425721" y="330578"/>
                  <a:pt x="410542" y="356835"/>
                  <a:pt x="390805" y="379334"/>
                </a:cubicBezTo>
                <a:cubicBezTo>
                  <a:pt x="386073" y="384693"/>
                  <a:pt x="376248" y="393530"/>
                  <a:pt x="361962" y="393087"/>
                </a:cubicBezTo>
                <a:cubicBezTo>
                  <a:pt x="358302" y="392995"/>
                  <a:pt x="354642" y="392374"/>
                  <a:pt x="351069" y="391391"/>
                </a:cubicBezTo>
                <a:lnTo>
                  <a:pt x="317134" y="381300"/>
                </a:lnTo>
                <a:cubicBezTo>
                  <a:pt x="312043" y="379782"/>
                  <a:pt x="303295" y="384871"/>
                  <a:pt x="302043" y="390051"/>
                </a:cubicBezTo>
                <a:lnTo>
                  <a:pt x="293738" y="424432"/>
                </a:lnTo>
                <a:cubicBezTo>
                  <a:pt x="292845" y="428182"/>
                  <a:pt x="291417" y="431757"/>
                  <a:pt x="289631" y="434971"/>
                </a:cubicBezTo>
                <a:cubicBezTo>
                  <a:pt x="282753" y="447471"/>
                  <a:pt x="270341" y="451490"/>
                  <a:pt x="263380" y="452921"/>
                </a:cubicBezTo>
                <a:cubicBezTo>
                  <a:pt x="248914" y="455687"/>
                  <a:pt x="234090" y="457205"/>
                  <a:pt x="218911" y="457205"/>
                </a:cubicBezTo>
                <a:cubicBezTo>
                  <a:pt x="203732" y="457205"/>
                  <a:pt x="188908" y="455687"/>
                  <a:pt x="174442" y="452916"/>
                </a:cubicBezTo>
                <a:cubicBezTo>
                  <a:pt x="167389" y="451576"/>
                  <a:pt x="154977" y="447471"/>
                  <a:pt x="148191" y="434966"/>
                </a:cubicBezTo>
                <a:cubicBezTo>
                  <a:pt x="146405" y="431661"/>
                  <a:pt x="144978" y="428182"/>
                  <a:pt x="144084" y="424428"/>
                </a:cubicBezTo>
                <a:lnTo>
                  <a:pt x="135779" y="390046"/>
                </a:lnTo>
                <a:cubicBezTo>
                  <a:pt x="134527" y="384866"/>
                  <a:pt x="125779" y="379778"/>
                  <a:pt x="120688" y="381296"/>
                </a:cubicBezTo>
                <a:lnTo>
                  <a:pt x="86753" y="391295"/>
                </a:lnTo>
                <a:cubicBezTo>
                  <a:pt x="83180" y="392364"/>
                  <a:pt x="79520" y="392904"/>
                  <a:pt x="75860" y="392991"/>
                </a:cubicBezTo>
                <a:cubicBezTo>
                  <a:pt x="61482" y="393439"/>
                  <a:pt x="51750" y="384597"/>
                  <a:pt x="47017" y="379238"/>
                </a:cubicBezTo>
                <a:cubicBezTo>
                  <a:pt x="27372" y="356826"/>
                  <a:pt x="12101" y="330482"/>
                  <a:pt x="2456" y="302177"/>
                </a:cubicBezTo>
                <a:cubicBezTo>
                  <a:pt x="136" y="295392"/>
                  <a:pt x="-2544" y="282710"/>
                  <a:pt x="4869" y="270566"/>
                </a:cubicBezTo>
                <a:cubicBezTo>
                  <a:pt x="6834" y="267352"/>
                  <a:pt x="9242" y="264316"/>
                  <a:pt x="12014" y="261637"/>
                </a:cubicBezTo>
                <a:lnTo>
                  <a:pt x="37643" y="237259"/>
                </a:lnTo>
                <a:cubicBezTo>
                  <a:pt x="41395" y="233689"/>
                  <a:pt x="41395" y="223420"/>
                  <a:pt x="37643" y="219845"/>
                </a:cubicBezTo>
                <a:lnTo>
                  <a:pt x="11926" y="195467"/>
                </a:lnTo>
                <a:cubicBezTo>
                  <a:pt x="9159" y="192788"/>
                  <a:pt x="6747" y="189752"/>
                  <a:pt x="4781" y="186538"/>
                </a:cubicBezTo>
                <a:cubicBezTo>
                  <a:pt x="-2539" y="174394"/>
                  <a:pt x="136" y="161712"/>
                  <a:pt x="2461" y="155014"/>
                </a:cubicBezTo>
                <a:cubicBezTo>
                  <a:pt x="12106" y="126708"/>
                  <a:pt x="27285" y="100451"/>
                  <a:pt x="47021" y="77953"/>
                </a:cubicBezTo>
                <a:cubicBezTo>
                  <a:pt x="51754" y="72594"/>
                  <a:pt x="61579" y="63757"/>
                  <a:pt x="75864" y="64200"/>
                </a:cubicBezTo>
                <a:cubicBezTo>
                  <a:pt x="79525" y="64291"/>
                  <a:pt x="83185" y="64913"/>
                  <a:pt x="86757" y="65896"/>
                </a:cubicBezTo>
                <a:lnTo>
                  <a:pt x="120692" y="75900"/>
                </a:lnTo>
                <a:cubicBezTo>
                  <a:pt x="125784" y="77418"/>
                  <a:pt x="134531" y="72329"/>
                  <a:pt x="135784" y="67149"/>
                </a:cubicBezTo>
                <a:lnTo>
                  <a:pt x="144089" y="32768"/>
                </a:lnTo>
                <a:cubicBezTo>
                  <a:pt x="144982" y="29018"/>
                  <a:pt x="146409" y="25443"/>
                  <a:pt x="148196" y="22229"/>
                </a:cubicBezTo>
                <a:cubicBezTo>
                  <a:pt x="155074" y="9729"/>
                  <a:pt x="167486" y="5710"/>
                  <a:pt x="174447" y="4279"/>
                </a:cubicBezTo>
                <a:cubicBezTo>
                  <a:pt x="188912" y="1513"/>
                  <a:pt x="203737" y="-9"/>
                  <a:pt x="218916" y="-9"/>
                </a:cubicBezTo>
                <a:lnTo>
                  <a:pt x="218911" y="0"/>
                </a:lnTo>
                <a:moveTo>
                  <a:pt x="185068" y="45898"/>
                </a:moveTo>
                <a:lnTo>
                  <a:pt x="177476" y="77239"/>
                </a:lnTo>
                <a:cubicBezTo>
                  <a:pt x="170511" y="106084"/>
                  <a:pt x="137027" y="125369"/>
                  <a:pt x="108538" y="117066"/>
                </a:cubicBezTo>
                <a:lnTo>
                  <a:pt x="77729" y="107959"/>
                </a:lnTo>
                <a:cubicBezTo>
                  <a:pt x="62997" y="125195"/>
                  <a:pt x="51386" y="145198"/>
                  <a:pt x="43795" y="166627"/>
                </a:cubicBezTo>
                <a:lnTo>
                  <a:pt x="67191" y="188860"/>
                </a:lnTo>
                <a:cubicBezTo>
                  <a:pt x="88622" y="209219"/>
                  <a:pt x="88622" y="247976"/>
                  <a:pt x="67191" y="268335"/>
                </a:cubicBezTo>
                <a:lnTo>
                  <a:pt x="43795" y="290569"/>
                </a:lnTo>
                <a:cubicBezTo>
                  <a:pt x="51386" y="312002"/>
                  <a:pt x="62993" y="332000"/>
                  <a:pt x="77729" y="349237"/>
                </a:cubicBezTo>
                <a:lnTo>
                  <a:pt x="108626" y="340129"/>
                </a:lnTo>
                <a:cubicBezTo>
                  <a:pt x="137023" y="331735"/>
                  <a:pt x="170598" y="351111"/>
                  <a:pt x="177564" y="379956"/>
                </a:cubicBezTo>
                <a:lnTo>
                  <a:pt x="185156" y="411297"/>
                </a:lnTo>
                <a:cubicBezTo>
                  <a:pt x="207121" y="415316"/>
                  <a:pt x="230964" y="415316"/>
                  <a:pt x="252934" y="411297"/>
                </a:cubicBezTo>
                <a:lnTo>
                  <a:pt x="260525" y="379956"/>
                </a:lnTo>
                <a:cubicBezTo>
                  <a:pt x="267491" y="351111"/>
                  <a:pt x="300975" y="331827"/>
                  <a:pt x="329463" y="340129"/>
                </a:cubicBezTo>
                <a:lnTo>
                  <a:pt x="360360" y="349237"/>
                </a:lnTo>
                <a:cubicBezTo>
                  <a:pt x="375092" y="332000"/>
                  <a:pt x="386703" y="311998"/>
                  <a:pt x="394295" y="290569"/>
                </a:cubicBezTo>
                <a:lnTo>
                  <a:pt x="370898" y="268335"/>
                </a:lnTo>
                <a:cubicBezTo>
                  <a:pt x="349467" y="247976"/>
                  <a:pt x="349467" y="209219"/>
                  <a:pt x="370898" y="188860"/>
                </a:cubicBezTo>
                <a:lnTo>
                  <a:pt x="394295" y="166627"/>
                </a:lnTo>
                <a:cubicBezTo>
                  <a:pt x="386703" y="145198"/>
                  <a:pt x="375097" y="125191"/>
                  <a:pt x="360360" y="107959"/>
                </a:cubicBezTo>
                <a:lnTo>
                  <a:pt x="329463" y="117066"/>
                </a:lnTo>
                <a:cubicBezTo>
                  <a:pt x="301067" y="125460"/>
                  <a:pt x="267491" y="106084"/>
                  <a:pt x="260525" y="77239"/>
                </a:cubicBezTo>
                <a:lnTo>
                  <a:pt x="252934" y="45898"/>
                </a:lnTo>
                <a:cubicBezTo>
                  <a:pt x="230968" y="41880"/>
                  <a:pt x="207125" y="41880"/>
                  <a:pt x="185156" y="45898"/>
                </a:cubicBezTo>
                <a:lnTo>
                  <a:pt x="185068" y="45898"/>
                </a:lnTo>
                <a:moveTo>
                  <a:pt x="176049" y="228600"/>
                </a:moveTo>
                <a:cubicBezTo>
                  <a:pt x="176049" y="252274"/>
                  <a:pt x="195238" y="271463"/>
                  <a:pt x="218911" y="271463"/>
                </a:cubicBezTo>
                <a:cubicBezTo>
                  <a:pt x="242584" y="271463"/>
                  <a:pt x="261773" y="252274"/>
                  <a:pt x="261773" y="228600"/>
                </a:cubicBezTo>
                <a:cubicBezTo>
                  <a:pt x="261773" y="204926"/>
                  <a:pt x="242584" y="185738"/>
                  <a:pt x="218911" y="185738"/>
                </a:cubicBezTo>
                <a:cubicBezTo>
                  <a:pt x="195238" y="185738"/>
                  <a:pt x="176049" y="204926"/>
                  <a:pt x="176049" y="228600"/>
                </a:cubicBezTo>
                <a:moveTo>
                  <a:pt x="218911" y="314325"/>
                </a:moveTo>
                <a:cubicBezTo>
                  <a:pt x="171566" y="314325"/>
                  <a:pt x="133187" y="275943"/>
                  <a:pt x="133187" y="228600"/>
                </a:cubicBezTo>
                <a:cubicBezTo>
                  <a:pt x="133187" y="181257"/>
                  <a:pt x="171566" y="142875"/>
                  <a:pt x="218911" y="142875"/>
                </a:cubicBezTo>
                <a:cubicBezTo>
                  <a:pt x="266256" y="142875"/>
                  <a:pt x="304635" y="181257"/>
                  <a:pt x="304635" y="228600"/>
                </a:cubicBezTo>
                <a:cubicBezTo>
                  <a:pt x="304635" y="275943"/>
                  <a:pt x="266256" y="314325"/>
                  <a:pt x="218911" y="314325"/>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6709220" y="5089562"/>
            <a:ext cx="457200" cy="355569"/>
          </a:xfrm>
          <a:custGeom>
            <a:avLst/>
            <a:gdLst/>
            <a:ahLst/>
            <a:cxnLst/>
            <a:rect l="l" t="t" r="r" b="b"/>
            <a:pathLst>
              <a:path w="457200" h="355569">
                <a:moveTo>
                  <a:pt x="228559" y="38096"/>
                </a:moveTo>
                <a:cubicBezTo>
                  <a:pt x="176813" y="38096"/>
                  <a:pt x="134270" y="61588"/>
                  <a:pt x="101649" y="91829"/>
                </a:cubicBezTo>
                <a:cubicBezTo>
                  <a:pt x="71095" y="120243"/>
                  <a:pt x="49981" y="153976"/>
                  <a:pt x="39187" y="177785"/>
                </a:cubicBezTo>
                <a:cubicBezTo>
                  <a:pt x="49981" y="201593"/>
                  <a:pt x="71095" y="235326"/>
                  <a:pt x="101572" y="263740"/>
                </a:cubicBezTo>
                <a:cubicBezTo>
                  <a:pt x="134270" y="293978"/>
                  <a:pt x="176813" y="317473"/>
                  <a:pt x="228559" y="317473"/>
                </a:cubicBezTo>
                <a:cubicBezTo>
                  <a:pt x="280305" y="317473"/>
                  <a:pt x="322847" y="293981"/>
                  <a:pt x="355468" y="263740"/>
                </a:cubicBezTo>
                <a:cubicBezTo>
                  <a:pt x="386023" y="235326"/>
                  <a:pt x="407137" y="201594"/>
                  <a:pt x="417931" y="177785"/>
                </a:cubicBezTo>
                <a:cubicBezTo>
                  <a:pt x="407137" y="153976"/>
                  <a:pt x="386023" y="120243"/>
                  <a:pt x="355546" y="91829"/>
                </a:cubicBezTo>
                <a:cubicBezTo>
                  <a:pt x="322847" y="61592"/>
                  <a:pt x="280305" y="38096"/>
                  <a:pt x="228559" y="38096"/>
                </a:cubicBezTo>
                <a:lnTo>
                  <a:pt x="228559" y="38096"/>
                </a:lnTo>
                <a:moveTo>
                  <a:pt x="75699" y="63970"/>
                </a:moveTo>
                <a:cubicBezTo>
                  <a:pt x="113079" y="29207"/>
                  <a:pt x="164432" y="0"/>
                  <a:pt x="228563" y="0"/>
                </a:cubicBezTo>
                <a:cubicBezTo>
                  <a:pt x="292695" y="0"/>
                  <a:pt x="344043" y="29206"/>
                  <a:pt x="381428" y="63970"/>
                </a:cubicBezTo>
                <a:cubicBezTo>
                  <a:pt x="418571" y="98496"/>
                  <a:pt x="443415" y="139689"/>
                  <a:pt x="455239" y="168021"/>
                </a:cubicBezTo>
                <a:cubicBezTo>
                  <a:pt x="457858" y="174289"/>
                  <a:pt x="457858" y="181276"/>
                  <a:pt x="455239" y="187545"/>
                </a:cubicBezTo>
                <a:cubicBezTo>
                  <a:pt x="443411" y="215880"/>
                  <a:pt x="418571" y="257151"/>
                  <a:pt x="381428" y="291595"/>
                </a:cubicBezTo>
                <a:cubicBezTo>
                  <a:pt x="344048" y="326359"/>
                  <a:pt x="292695" y="355566"/>
                  <a:pt x="228563" y="355566"/>
                </a:cubicBezTo>
                <a:cubicBezTo>
                  <a:pt x="164432" y="355566"/>
                  <a:pt x="113084" y="326359"/>
                  <a:pt x="75699" y="291595"/>
                </a:cubicBezTo>
                <a:cubicBezTo>
                  <a:pt x="38556" y="257151"/>
                  <a:pt x="13711" y="215877"/>
                  <a:pt x="1966" y="187545"/>
                </a:cubicBezTo>
                <a:cubicBezTo>
                  <a:pt x="-654" y="181276"/>
                  <a:pt x="-654" y="174289"/>
                  <a:pt x="1966" y="168021"/>
                </a:cubicBezTo>
                <a:cubicBezTo>
                  <a:pt x="13711" y="139685"/>
                  <a:pt x="38556" y="98414"/>
                  <a:pt x="75699" y="63970"/>
                </a:cubicBezTo>
                <a:lnTo>
                  <a:pt x="75699" y="63970"/>
                </a:lnTo>
                <a:moveTo>
                  <a:pt x="228559" y="241279"/>
                </a:moveTo>
                <a:cubicBezTo>
                  <a:pt x="263640" y="241279"/>
                  <a:pt x="292055" y="212865"/>
                  <a:pt x="292055" y="177785"/>
                </a:cubicBezTo>
                <a:cubicBezTo>
                  <a:pt x="292055" y="142704"/>
                  <a:pt x="263640" y="114291"/>
                  <a:pt x="228559" y="114291"/>
                </a:cubicBezTo>
                <a:cubicBezTo>
                  <a:pt x="228001" y="114291"/>
                  <a:pt x="227526" y="114291"/>
                  <a:pt x="226972" y="114291"/>
                </a:cubicBezTo>
                <a:cubicBezTo>
                  <a:pt x="228006" y="118337"/>
                  <a:pt x="228559" y="122625"/>
                  <a:pt x="228559" y="126988"/>
                </a:cubicBezTo>
                <a:cubicBezTo>
                  <a:pt x="228559" y="155003"/>
                  <a:pt x="205781" y="177785"/>
                  <a:pt x="177764" y="177785"/>
                </a:cubicBezTo>
                <a:cubicBezTo>
                  <a:pt x="173398" y="177785"/>
                  <a:pt x="169114" y="177230"/>
                  <a:pt x="165063" y="176199"/>
                </a:cubicBezTo>
                <a:cubicBezTo>
                  <a:pt x="165063" y="176754"/>
                  <a:pt x="165063" y="177230"/>
                  <a:pt x="165063" y="177785"/>
                </a:cubicBezTo>
                <a:cubicBezTo>
                  <a:pt x="165063" y="212865"/>
                  <a:pt x="193478" y="241279"/>
                  <a:pt x="228559" y="241279"/>
                </a:cubicBezTo>
                <a:lnTo>
                  <a:pt x="228559" y="241279"/>
                </a:lnTo>
                <a:moveTo>
                  <a:pt x="228559" y="76195"/>
                </a:moveTo>
                <a:cubicBezTo>
                  <a:pt x="284666" y="76195"/>
                  <a:pt x="330149" y="121679"/>
                  <a:pt x="330149" y="177785"/>
                </a:cubicBezTo>
                <a:cubicBezTo>
                  <a:pt x="330149" y="233893"/>
                  <a:pt x="284666" y="279374"/>
                  <a:pt x="228559" y="279374"/>
                </a:cubicBezTo>
                <a:cubicBezTo>
                  <a:pt x="172451" y="279374"/>
                  <a:pt x="126969" y="233890"/>
                  <a:pt x="126969" y="177785"/>
                </a:cubicBezTo>
                <a:cubicBezTo>
                  <a:pt x="126969" y="121676"/>
                  <a:pt x="172451" y="76195"/>
                  <a:pt x="228559" y="76195"/>
                </a:cubicBezTo>
                <a:lnTo>
                  <a:pt x="228559" y="76195"/>
                </a:lnTo>
              </a:path>
            </a:pathLst>
          </a:custGeom>
          <a:solidFill>
            <a:srgbClr val="FFFFFF"/>
          </a:solidFill>
          <a:ln/>
        </p:spPr>
        <p:txBody>
          <a:bodyPr wrap="square" lIns="0" tIns="0" rIns="0" bIns="0" rtlCol="0" anchor="ctr"/>
          <a:lstStyle/>
          <a:p>
            <a:pPr indent="0" marL="0">
              <a:buNone/>
            </a:pPr>
            <a:endParaRPr lang="en-US" dirty="0"/>
          </a:p>
        </p:txBody>
      </p:sp>
      <p:sp>
        <p:nvSpPr>
          <p:cNvPr id="11" name="Text 9"/>
          <p:cNvSpPr/>
          <p:nvPr/>
        </p:nvSpPr>
        <p:spPr>
          <a:xfrm>
            <a:off x="4518706" y="4571824"/>
            <a:ext cx="457200" cy="275578"/>
          </a:xfrm>
          <a:custGeom>
            <a:avLst/>
            <a:gdLst/>
            <a:ahLst/>
            <a:cxnLst/>
            <a:rect l="l" t="t" r="r" b="b"/>
            <a:pathLst>
              <a:path w="457200" h="275578">
                <a:moveTo>
                  <a:pt x="194452" y="430"/>
                </a:moveTo>
                <a:lnTo>
                  <a:pt x="157949" y="36936"/>
                </a:lnTo>
                <a:cubicBezTo>
                  <a:pt x="147017" y="39937"/>
                  <a:pt x="136877" y="45437"/>
                  <a:pt x="128304" y="53010"/>
                </a:cubicBezTo>
                <a:lnTo>
                  <a:pt x="109303" y="69942"/>
                </a:lnTo>
                <a:cubicBezTo>
                  <a:pt x="102015" y="76443"/>
                  <a:pt x="92514" y="80014"/>
                  <a:pt x="82726" y="80014"/>
                </a:cubicBezTo>
                <a:lnTo>
                  <a:pt x="68580" y="80014"/>
                </a:lnTo>
                <a:lnTo>
                  <a:pt x="68580" y="171454"/>
                </a:lnTo>
                <a:cubicBezTo>
                  <a:pt x="83151" y="171884"/>
                  <a:pt x="97013" y="177811"/>
                  <a:pt x="107369" y="188170"/>
                </a:cubicBezTo>
                <a:lnTo>
                  <a:pt x="132798" y="213601"/>
                </a:lnTo>
                <a:lnTo>
                  <a:pt x="137800" y="218603"/>
                </a:lnTo>
                <a:lnTo>
                  <a:pt x="137800" y="218603"/>
                </a:lnTo>
                <a:lnTo>
                  <a:pt x="157089" y="237890"/>
                </a:lnTo>
                <a:cubicBezTo>
                  <a:pt x="161520" y="242319"/>
                  <a:pt x="168807" y="242319"/>
                  <a:pt x="173233" y="237890"/>
                </a:cubicBezTo>
                <a:cubicBezTo>
                  <a:pt x="174449" y="236675"/>
                  <a:pt x="175377" y="235248"/>
                  <a:pt x="175876" y="233746"/>
                </a:cubicBezTo>
                <a:cubicBezTo>
                  <a:pt x="177878" y="228245"/>
                  <a:pt x="182519" y="224100"/>
                  <a:pt x="188234" y="222816"/>
                </a:cubicBezTo>
                <a:cubicBezTo>
                  <a:pt x="193949" y="221529"/>
                  <a:pt x="199947" y="223246"/>
                  <a:pt x="204094" y="227460"/>
                </a:cubicBezTo>
                <a:lnTo>
                  <a:pt x="211812" y="235033"/>
                </a:lnTo>
                <a:cubicBezTo>
                  <a:pt x="220101" y="243319"/>
                  <a:pt x="233529" y="243319"/>
                  <a:pt x="241744" y="235033"/>
                </a:cubicBezTo>
                <a:cubicBezTo>
                  <a:pt x="245603" y="231175"/>
                  <a:pt x="247674" y="226247"/>
                  <a:pt x="247889" y="221174"/>
                </a:cubicBezTo>
                <a:cubicBezTo>
                  <a:pt x="248173" y="214888"/>
                  <a:pt x="251890" y="209316"/>
                  <a:pt x="257605" y="206601"/>
                </a:cubicBezTo>
                <a:cubicBezTo>
                  <a:pt x="263320" y="203887"/>
                  <a:pt x="269963" y="204457"/>
                  <a:pt x="275033" y="208100"/>
                </a:cubicBezTo>
                <a:cubicBezTo>
                  <a:pt x="281750" y="212887"/>
                  <a:pt x="291108" y="212245"/>
                  <a:pt x="297107" y="206243"/>
                </a:cubicBezTo>
                <a:cubicBezTo>
                  <a:pt x="303823" y="199527"/>
                  <a:pt x="303823" y="188669"/>
                  <a:pt x="297107" y="182025"/>
                </a:cubicBezTo>
                <a:lnTo>
                  <a:pt x="242956" y="127877"/>
                </a:lnTo>
                <a:lnTo>
                  <a:pt x="217380" y="151452"/>
                </a:lnTo>
                <a:cubicBezTo>
                  <a:pt x="197876" y="169456"/>
                  <a:pt x="167948" y="169740"/>
                  <a:pt x="148087" y="152095"/>
                </a:cubicBezTo>
                <a:cubicBezTo>
                  <a:pt x="125442" y="131950"/>
                  <a:pt x="124939" y="96802"/>
                  <a:pt x="146944" y="76013"/>
                </a:cubicBezTo>
                <a:lnTo>
                  <a:pt x="197021" y="28721"/>
                </a:lnTo>
                <a:cubicBezTo>
                  <a:pt x="216594" y="10290"/>
                  <a:pt x="242453" y="3"/>
                  <a:pt x="269387" y="3"/>
                </a:cubicBezTo>
                <a:cubicBezTo>
                  <a:pt x="295177" y="3"/>
                  <a:pt x="320109" y="9505"/>
                  <a:pt x="339325" y="26577"/>
                </a:cubicBezTo>
                <a:lnTo>
                  <a:pt x="360827" y="45721"/>
                </a:lnTo>
                <a:lnTo>
                  <a:pt x="388615" y="45721"/>
                </a:lnTo>
                <a:lnTo>
                  <a:pt x="417190" y="45721"/>
                </a:lnTo>
                <a:lnTo>
                  <a:pt x="445765" y="45721"/>
                </a:lnTo>
                <a:cubicBezTo>
                  <a:pt x="452052" y="45721"/>
                  <a:pt x="457195" y="50863"/>
                  <a:pt x="457195" y="57152"/>
                </a:cubicBezTo>
                <a:lnTo>
                  <a:pt x="457195" y="205741"/>
                </a:lnTo>
                <a:cubicBezTo>
                  <a:pt x="457195" y="218385"/>
                  <a:pt x="446982" y="228600"/>
                  <a:pt x="434335" y="228600"/>
                </a:cubicBezTo>
                <a:lnTo>
                  <a:pt x="411475" y="228600"/>
                </a:lnTo>
                <a:cubicBezTo>
                  <a:pt x="403045" y="228600"/>
                  <a:pt x="395615" y="224029"/>
                  <a:pt x="391688" y="217170"/>
                </a:cubicBezTo>
                <a:lnTo>
                  <a:pt x="331036" y="217170"/>
                </a:lnTo>
                <a:cubicBezTo>
                  <a:pt x="328608" y="221956"/>
                  <a:pt x="325394" y="226528"/>
                  <a:pt x="321393" y="230530"/>
                </a:cubicBezTo>
                <a:cubicBezTo>
                  <a:pt x="309177" y="242746"/>
                  <a:pt x="292247" y="247533"/>
                  <a:pt x="276387" y="244887"/>
                </a:cubicBezTo>
                <a:cubicBezTo>
                  <a:pt x="273817" y="250101"/>
                  <a:pt x="270315" y="254960"/>
                  <a:pt x="265958" y="259317"/>
                </a:cubicBezTo>
                <a:cubicBezTo>
                  <a:pt x="246454" y="278819"/>
                  <a:pt x="215954" y="280748"/>
                  <a:pt x="194237" y="265104"/>
                </a:cubicBezTo>
                <a:cubicBezTo>
                  <a:pt x="176305" y="279963"/>
                  <a:pt x="149587" y="279034"/>
                  <a:pt x="132803" y="262174"/>
                </a:cubicBezTo>
                <a:lnTo>
                  <a:pt x="113587" y="242886"/>
                </a:lnTo>
                <a:lnTo>
                  <a:pt x="108585" y="237885"/>
                </a:lnTo>
                <a:lnTo>
                  <a:pt x="83151" y="212454"/>
                </a:lnTo>
                <a:cubicBezTo>
                  <a:pt x="79224" y="208525"/>
                  <a:pt x="74080" y="206240"/>
                  <a:pt x="68580" y="205810"/>
                </a:cubicBezTo>
                <a:cubicBezTo>
                  <a:pt x="68580" y="218382"/>
                  <a:pt x="58293" y="228598"/>
                  <a:pt x="45720" y="228598"/>
                </a:cubicBezTo>
                <a:lnTo>
                  <a:pt x="22860" y="228598"/>
                </a:lnTo>
                <a:cubicBezTo>
                  <a:pt x="10214" y="228598"/>
                  <a:pt x="0" y="218382"/>
                  <a:pt x="0" y="205738"/>
                </a:cubicBezTo>
                <a:lnTo>
                  <a:pt x="0" y="57149"/>
                </a:lnTo>
                <a:cubicBezTo>
                  <a:pt x="0" y="50863"/>
                  <a:pt x="5144" y="45718"/>
                  <a:pt x="11430" y="45718"/>
                </a:cubicBezTo>
                <a:lnTo>
                  <a:pt x="40005" y="45718"/>
                </a:lnTo>
                <a:lnTo>
                  <a:pt x="68580" y="45718"/>
                </a:lnTo>
                <a:lnTo>
                  <a:pt x="82726" y="45718"/>
                </a:lnTo>
                <a:cubicBezTo>
                  <a:pt x="84157" y="45718"/>
                  <a:pt x="85510" y="45220"/>
                  <a:pt x="86511" y="44291"/>
                </a:cubicBezTo>
                <a:lnTo>
                  <a:pt x="105444" y="27431"/>
                </a:lnTo>
                <a:cubicBezTo>
                  <a:pt x="125373" y="9786"/>
                  <a:pt x="151022" y="0"/>
                  <a:pt x="177668" y="0"/>
                </a:cubicBezTo>
                <a:lnTo>
                  <a:pt x="185024" y="0"/>
                </a:lnTo>
                <a:cubicBezTo>
                  <a:pt x="188165" y="0"/>
                  <a:pt x="191384" y="143"/>
                  <a:pt x="194452" y="430"/>
                </a:cubicBezTo>
                <a:lnTo>
                  <a:pt x="194452" y="430"/>
                </a:lnTo>
                <a:moveTo>
                  <a:pt x="388620" y="182879"/>
                </a:moveTo>
                <a:lnTo>
                  <a:pt x="388620" y="80009"/>
                </a:lnTo>
                <a:lnTo>
                  <a:pt x="354330" y="80009"/>
                </a:lnTo>
                <a:cubicBezTo>
                  <a:pt x="350115" y="80009"/>
                  <a:pt x="346041" y="78438"/>
                  <a:pt x="342973" y="75652"/>
                </a:cubicBezTo>
                <a:lnTo>
                  <a:pt x="316611" y="52219"/>
                </a:lnTo>
                <a:cubicBezTo>
                  <a:pt x="303608" y="40648"/>
                  <a:pt x="286820" y="34287"/>
                  <a:pt x="269391" y="34287"/>
                </a:cubicBezTo>
                <a:cubicBezTo>
                  <a:pt x="251245" y="34287"/>
                  <a:pt x="233817" y="41218"/>
                  <a:pt x="220599" y="53647"/>
                </a:cubicBezTo>
                <a:lnTo>
                  <a:pt x="170522" y="100939"/>
                </a:lnTo>
                <a:cubicBezTo>
                  <a:pt x="163166" y="107939"/>
                  <a:pt x="163307" y="119728"/>
                  <a:pt x="170879" y="126441"/>
                </a:cubicBezTo>
                <a:cubicBezTo>
                  <a:pt x="177522" y="132371"/>
                  <a:pt x="187594" y="132228"/>
                  <a:pt x="194095" y="126226"/>
                </a:cubicBezTo>
                <a:lnTo>
                  <a:pt x="245457" y="78791"/>
                </a:lnTo>
                <a:cubicBezTo>
                  <a:pt x="252388" y="72361"/>
                  <a:pt x="263247" y="72788"/>
                  <a:pt x="269675" y="79791"/>
                </a:cubicBezTo>
                <a:cubicBezTo>
                  <a:pt x="276103" y="86791"/>
                  <a:pt x="275678" y="97579"/>
                  <a:pt x="268674" y="104009"/>
                </a:cubicBezTo>
                <a:lnTo>
                  <a:pt x="268102" y="104579"/>
                </a:lnTo>
                <a:lnTo>
                  <a:pt x="321252" y="157730"/>
                </a:lnTo>
                <a:cubicBezTo>
                  <a:pt x="328398" y="164873"/>
                  <a:pt x="333038" y="173661"/>
                  <a:pt x="335109" y="182805"/>
                </a:cubicBezTo>
                <a:lnTo>
                  <a:pt x="388542" y="182805"/>
                </a:lnTo>
                <a:lnTo>
                  <a:pt x="388620" y="182879"/>
                </a:lnTo>
                <a:moveTo>
                  <a:pt x="45720" y="194310"/>
                </a:moveTo>
                <a:cubicBezTo>
                  <a:pt x="45720" y="187997"/>
                  <a:pt x="40604" y="182879"/>
                  <a:pt x="34290" y="182879"/>
                </a:cubicBezTo>
                <a:cubicBezTo>
                  <a:pt x="27976" y="182879"/>
                  <a:pt x="22860" y="187997"/>
                  <a:pt x="22860" y="194310"/>
                </a:cubicBezTo>
                <a:cubicBezTo>
                  <a:pt x="22860" y="200624"/>
                  <a:pt x="27976" y="205741"/>
                  <a:pt x="34290" y="205741"/>
                </a:cubicBezTo>
                <a:cubicBezTo>
                  <a:pt x="40604" y="205741"/>
                  <a:pt x="45720" y="200624"/>
                  <a:pt x="45720" y="194310"/>
                </a:cubicBezTo>
                <a:moveTo>
                  <a:pt x="422910" y="205741"/>
                </a:moveTo>
                <a:cubicBezTo>
                  <a:pt x="429224" y="205741"/>
                  <a:pt x="434340" y="200624"/>
                  <a:pt x="434340" y="194310"/>
                </a:cubicBezTo>
                <a:cubicBezTo>
                  <a:pt x="434340" y="187997"/>
                  <a:pt x="429224" y="182879"/>
                  <a:pt x="422910" y="182879"/>
                </a:cubicBezTo>
                <a:cubicBezTo>
                  <a:pt x="416596" y="182879"/>
                  <a:pt x="411480" y="187997"/>
                  <a:pt x="411480" y="194310"/>
                </a:cubicBezTo>
                <a:cubicBezTo>
                  <a:pt x="411480" y="200624"/>
                  <a:pt x="416596" y="205741"/>
                  <a:pt x="422910" y="205741"/>
                </a:cubicBezTo>
              </a:path>
            </a:pathLst>
          </a:custGeom>
          <a:solidFill>
            <a:srgbClr val="FFFFFF"/>
          </a:solidFill>
          <a:ln/>
        </p:spPr>
        <p:txBody>
          <a:bodyPr wrap="square" lIns="0" tIns="0" rIns="0" bIns="0" rtlCol="0" anchor="ctr"/>
          <a:lstStyle/>
          <a:p>
            <a:pPr indent="0" marL="0">
              <a:buNone/>
            </a:pPr>
            <a:endParaRPr lang="en-US" dirty="0"/>
          </a:p>
        </p:txBody>
      </p:sp>
      <p:sp>
        <p:nvSpPr>
          <p:cNvPr id="12" name="Text 10"/>
          <p:cNvSpPr/>
          <p:nvPr/>
        </p:nvSpPr>
        <p:spPr>
          <a:xfrm>
            <a:off x="852637" y="4162395"/>
            <a:ext cx="2743200" cy="221599"/>
          </a:xfrm>
          <a:prstGeom prst="rect">
            <a:avLst/>
          </a:prstGeom>
          <a:noFill/>
          <a:ln/>
        </p:spPr>
        <p:txBody>
          <a:bodyPr wrap="square" lIns="0" tIns="0" rIns="0" bIns="0" rtlCol="0" anchor="t"/>
          <a:lstStyle/>
          <a:p>
            <a:pPr algn="r"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Feedback Integration and Improvement</a:t>
            </a:r>
            <a:endParaRPr lang="en-US" sz="1187" dirty="0"/>
          </a:p>
        </p:txBody>
      </p:sp>
      <p:sp>
        <p:nvSpPr>
          <p:cNvPr id="13" name="Text 11"/>
          <p:cNvSpPr/>
          <p:nvPr/>
        </p:nvSpPr>
        <p:spPr>
          <a:xfrm>
            <a:off x="852637" y="4478253"/>
            <a:ext cx="2743200" cy="914400"/>
          </a:xfrm>
          <a:prstGeom prst="rect">
            <a:avLst/>
          </a:prstGeom>
          <a:noFill/>
          <a:ln/>
        </p:spPr>
        <p:txBody>
          <a:bodyPr wrap="square" lIns="0" tIns="0" rIns="0" bIns="0" rtlCol="0" anchor="t"/>
          <a:lstStyle/>
          <a:p>
            <a:pPr algn="r"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Analysts provide ongoing feedback on AI performance, signaling missed detections or new threat indicators that the AI may not yet recognize. This ongoing dialogue ensures that both the AI and human teams evolve collaboratively, maintaining robust and adaptive security.</a:t>
            </a:r>
            <a:endParaRPr lang="en-US" sz="886" dirty="0"/>
          </a:p>
        </p:txBody>
      </p:sp>
      <p:sp>
        <p:nvSpPr>
          <p:cNvPr id="14" name="Text 12"/>
          <p:cNvSpPr/>
          <p:nvPr/>
        </p:nvSpPr>
        <p:spPr>
          <a:xfrm>
            <a:off x="8610265" y="4162395"/>
            <a:ext cx="2743200" cy="221599"/>
          </a:xfrm>
          <a:prstGeom prst="rect">
            <a:avLst/>
          </a:prstGeom>
          <a:noFill/>
          <a:ln/>
        </p:spPr>
        <p:txBody>
          <a:bodyPr wrap="square" lIns="0" tIns="0" rIns="0" bIns="0" rtlCol="0" anchor="t"/>
          <a:lstStyle/>
          <a:p>
            <a:pPr algn="l"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Continuous Monitoring</a:t>
            </a:r>
            <a:endParaRPr lang="en-US" sz="1187" dirty="0"/>
          </a:p>
        </p:txBody>
      </p:sp>
      <p:sp>
        <p:nvSpPr>
          <p:cNvPr id="15" name="Text 13"/>
          <p:cNvSpPr/>
          <p:nvPr/>
        </p:nvSpPr>
        <p:spPr>
          <a:xfrm>
            <a:off x="8610265" y="4478253"/>
            <a:ext cx="2743200" cy="914400"/>
          </a:xfrm>
          <a:prstGeom prst="rect">
            <a:avLst/>
          </a:prstGeom>
          <a:noFill/>
          <a:ln/>
        </p:spPr>
        <p:txBody>
          <a:bodyPr wrap="square" lIns="0" tIns="0" rIns="0" bIns="0" rtlCol="0" anchor="t"/>
          <a:lstStyle/>
          <a:p>
            <a:pPr algn="l"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The adjusted AI model continues to monitor network and endpoint data, applying its improved detection parameters to new alerts. As behavior patterns evolve, the system remains adaptive and sensitive to emerging threats while minimizing noise.</a:t>
            </a:r>
            <a:endParaRPr lang="en-US" sz="886" dirty="0"/>
          </a:p>
        </p:txBody>
      </p:sp>
      <p:sp>
        <p:nvSpPr>
          <p:cNvPr id="16" name="Text 14"/>
          <p:cNvSpPr/>
          <p:nvPr/>
        </p:nvSpPr>
        <p:spPr>
          <a:xfrm>
            <a:off x="8610265" y="2104329"/>
            <a:ext cx="2743200" cy="221599"/>
          </a:xfrm>
          <a:prstGeom prst="rect">
            <a:avLst/>
          </a:prstGeom>
          <a:noFill/>
          <a:ln/>
        </p:spPr>
        <p:txBody>
          <a:bodyPr wrap="square" lIns="0" tIns="0" rIns="0" bIns="0" rtlCol="0" anchor="t"/>
          <a:lstStyle/>
          <a:p>
            <a:pPr algn="l"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AI Model Adjustment</a:t>
            </a:r>
            <a:endParaRPr lang="en-US" sz="1187" dirty="0"/>
          </a:p>
        </p:txBody>
      </p:sp>
      <p:sp>
        <p:nvSpPr>
          <p:cNvPr id="17" name="Text 15"/>
          <p:cNvSpPr/>
          <p:nvPr/>
        </p:nvSpPr>
        <p:spPr>
          <a:xfrm>
            <a:off x="8610265" y="2420187"/>
            <a:ext cx="2743200" cy="914400"/>
          </a:xfrm>
          <a:prstGeom prst="rect">
            <a:avLst/>
          </a:prstGeom>
          <a:noFill/>
          <a:ln/>
        </p:spPr>
        <p:txBody>
          <a:bodyPr wrap="square" lIns="0" tIns="0" rIns="0" bIns="0" rtlCol="0" anchor="t"/>
          <a:lstStyle/>
          <a:p>
            <a:pPr algn="l"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Based on the high-quality feedback from analysts, the AI model updates its detection patterns, learning to distinguish benign behavior from malicious actions more accurately. This refinement reduces false positives and improves overall detection capability over time.</a:t>
            </a:r>
            <a:endParaRPr lang="en-US" sz="886" dirty="0"/>
          </a:p>
        </p:txBody>
      </p:sp>
      <p:sp>
        <p:nvSpPr>
          <p:cNvPr id="18" name="Text 16"/>
          <p:cNvSpPr/>
          <p:nvPr/>
        </p:nvSpPr>
        <p:spPr>
          <a:xfrm>
            <a:off x="852637" y="2104329"/>
            <a:ext cx="2743200" cy="221599"/>
          </a:xfrm>
          <a:prstGeom prst="rect">
            <a:avLst/>
          </a:prstGeom>
          <a:noFill/>
          <a:ln/>
        </p:spPr>
        <p:txBody>
          <a:bodyPr wrap="square" lIns="0" tIns="0" rIns="0" bIns="0" rtlCol="0" anchor="t"/>
          <a:lstStyle/>
          <a:p>
            <a:pPr algn="r" marL="0" indent="0">
              <a:lnSpc>
                <a:spcPct val="90000"/>
              </a:lnSpc>
              <a:buNone/>
            </a:pPr>
            <a:r>
              <a:rPr lang="en-US" sz="1187" dirty="0">
                <a:solidFill>
                  <a:srgbClr val="FFFFFF"/>
                </a:solidFill>
                <a:latin typeface="Figtree Bold" pitchFamily="34" charset="0"/>
                <a:ea typeface="Figtree Bold" pitchFamily="34" charset="-122"/>
                <a:cs typeface="Figtree Bold" pitchFamily="34" charset="-120"/>
              </a:rPr>
              <a:t>Human Analysis of Alerts</a:t>
            </a:r>
            <a:endParaRPr lang="en-US" sz="1187" dirty="0"/>
          </a:p>
        </p:txBody>
      </p:sp>
      <p:sp>
        <p:nvSpPr>
          <p:cNvPr id="19" name="Text 17"/>
          <p:cNvSpPr/>
          <p:nvPr/>
        </p:nvSpPr>
        <p:spPr>
          <a:xfrm>
            <a:off x="852637" y="2420187"/>
            <a:ext cx="2743200" cy="914400"/>
          </a:xfrm>
          <a:prstGeom prst="rect">
            <a:avLst/>
          </a:prstGeom>
          <a:noFill/>
          <a:ln/>
        </p:spPr>
        <p:txBody>
          <a:bodyPr wrap="square" lIns="0" tIns="0" rIns="0" bIns="0" rtlCol="0" anchor="t"/>
          <a:lstStyle/>
          <a:p>
            <a:pPr algn="r" marL="0" indent="0">
              <a:lnSpc>
                <a:spcPct val="110000"/>
              </a:lnSpc>
              <a:buNone/>
            </a:pPr>
            <a:r>
              <a:rPr lang="en-US" sz="886" dirty="0">
                <a:solidFill>
                  <a:srgbClr val="FFFFFF"/>
                </a:solidFill>
                <a:latin typeface="Figtree Regular" pitchFamily="34" charset="0"/>
                <a:ea typeface="Figtree Regular" pitchFamily="34" charset="-122"/>
                <a:cs typeface="Figtree Regular" pitchFamily="34" charset="-120"/>
              </a:rPr>
              <a:t>Human analysts carefully review AI-generated alerts, determining which are true positives and which are false positives. They also add contextual explanations that clarify why certain activities are or are not threats. This detailed assessment forms the foundation for improving AI understanding and accuracy.</a:t>
            </a:r>
            <a:endParaRPr lang="en-US" sz="886" dirty="0"/>
          </a:p>
        </p:txBody>
      </p:sp>
      <p:sp>
        <p:nvSpPr>
          <p:cNvPr id="20" name="Text 1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3" name="Text 21"/>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4" name="Text 22"/>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Feedback Loop: Humans Training AI</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possesses perfect recall, maintaining detailed memory of historical events and telemetry, enabling rapid correlation across billions of records that human memory cannot match.</a:t>
            </a:r>
            <a:endParaRPr lang="en-US" sz="1684"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Memory and Recall</a:t>
            </a:r>
            <a:endParaRPr lang="en-US" sz="1797"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establishes behavioral baselines for users, systems, and applications, tracking normal activity to detect deviations even when such deviations appear subtle or are otherwise unremarkable.</a:t>
            </a:r>
            <a:endParaRPr lang="en-US" sz="1684"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Baseline Behavior Learning</a:t>
            </a:r>
            <a:endParaRPr lang="en-US" sz="1797"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applies uniform criteria to every alert without influence from bias, fatigue, or distraction, ensuring consistent and objective analysis without tunnel vision or anchoring errors.</a:t>
            </a:r>
            <a:endParaRPr lang="en-US" sz="1684"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Consistency and Objectivity</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excels at detecting subtle statistical anomalies and patterns across thousands of variables simultaneously, recognizing connections spanning extensive time periods that humans cannot perceive.</a:t>
            </a:r>
            <a:endParaRPr lang="en-US" sz="1684"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Pattern Recognition</a:t>
            </a:r>
            <a:endParaRPr lang="en-US" sz="1797"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403"/>
              </a:spcBef>
              <a:buNone/>
            </a:pPr>
            <a:r>
              <a:rPr lang="en-US" sz="1684" dirty="0">
                <a:solidFill>
                  <a:srgbClr val="FFFFFF"/>
                </a:solidFill>
                <a:latin typeface="Figtree Regular" pitchFamily="34" charset="0"/>
                <a:ea typeface="Figtree Regular" pitchFamily="34" charset="-122"/>
                <a:cs typeface="Figtree Regular" pitchFamily="34" charset="-120"/>
              </a:rPr>
              <a:t>AI can process millions of events per second, analyzing vast volumes of data beyond human capability. It operates continuously without fatigue, handling tasks tirelessly around the clock to detect threats in real time.</a:t>
            </a:r>
            <a:endParaRPr lang="en-US" sz="1684"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Scale and Speed</a:t>
            </a:r>
            <a:endParaRPr lang="en-US" sz="1797"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What AI Does Better Than Humans</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8" name="Text 26"/>
          <p:cNvSpPr/>
          <p:nvPr/>
        </p:nvSpPr>
        <p:spPr>
          <a:xfrm>
            <a:off x="9762515" y="1688057"/>
            <a:ext cx="182880" cy="182880"/>
          </a:xfrm>
          <a:custGeom>
            <a:avLst/>
            <a:gdLst/>
            <a:ahLst/>
            <a:cxnLst/>
            <a:rect l="l" t="t" r="r" b="b"/>
            <a:pathLst>
              <a:path w="182880" h="182880">
                <a:moveTo>
                  <a:pt x="54827" y="27469"/>
                </a:moveTo>
                <a:cubicBezTo>
                  <a:pt x="54149" y="29897"/>
                  <a:pt x="52399" y="31898"/>
                  <a:pt x="50113" y="32933"/>
                </a:cubicBezTo>
                <a:cubicBezTo>
                  <a:pt x="44184" y="35612"/>
                  <a:pt x="40040" y="41541"/>
                  <a:pt x="40005" y="48471"/>
                </a:cubicBezTo>
                <a:cubicBezTo>
                  <a:pt x="39968" y="51720"/>
                  <a:pt x="38147" y="54650"/>
                  <a:pt x="35254" y="56078"/>
                </a:cubicBezTo>
                <a:cubicBezTo>
                  <a:pt x="29575" y="58900"/>
                  <a:pt x="25717" y="64723"/>
                  <a:pt x="25717" y="71437"/>
                </a:cubicBezTo>
                <a:cubicBezTo>
                  <a:pt x="25717" y="73973"/>
                  <a:pt x="26252" y="76330"/>
                  <a:pt x="27216" y="78474"/>
                </a:cubicBezTo>
                <a:cubicBezTo>
                  <a:pt x="28787" y="81939"/>
                  <a:pt x="27895" y="85976"/>
                  <a:pt x="25038" y="88476"/>
                </a:cubicBezTo>
                <a:cubicBezTo>
                  <a:pt x="20181" y="92654"/>
                  <a:pt x="17145" y="98834"/>
                  <a:pt x="17145" y="105729"/>
                </a:cubicBezTo>
                <a:cubicBezTo>
                  <a:pt x="17145" y="112943"/>
                  <a:pt x="20466" y="119337"/>
                  <a:pt x="25682" y="123552"/>
                </a:cubicBezTo>
                <a:cubicBezTo>
                  <a:pt x="28076" y="125481"/>
                  <a:pt x="29254" y="128552"/>
                  <a:pt x="28789" y="131590"/>
                </a:cubicBezTo>
                <a:cubicBezTo>
                  <a:pt x="28646" y="132482"/>
                  <a:pt x="28575" y="133376"/>
                  <a:pt x="28575" y="134304"/>
                </a:cubicBezTo>
                <a:cubicBezTo>
                  <a:pt x="28575" y="143627"/>
                  <a:pt x="36004" y="151198"/>
                  <a:pt x="45256" y="151449"/>
                </a:cubicBezTo>
                <a:cubicBezTo>
                  <a:pt x="48542" y="151556"/>
                  <a:pt x="51470" y="153484"/>
                  <a:pt x="52829" y="156485"/>
                </a:cubicBezTo>
                <a:cubicBezTo>
                  <a:pt x="55294" y="161950"/>
                  <a:pt x="60793" y="165737"/>
                  <a:pt x="67152" y="165737"/>
                </a:cubicBezTo>
                <a:cubicBezTo>
                  <a:pt x="75831" y="165737"/>
                  <a:pt x="82868" y="158700"/>
                  <a:pt x="82868" y="150020"/>
                </a:cubicBezTo>
                <a:lnTo>
                  <a:pt x="82868" y="31434"/>
                </a:lnTo>
                <a:cubicBezTo>
                  <a:pt x="82868" y="23540"/>
                  <a:pt x="76475" y="17147"/>
                  <a:pt x="68582" y="17147"/>
                </a:cubicBezTo>
                <a:cubicBezTo>
                  <a:pt x="62081" y="17147"/>
                  <a:pt x="56545" y="21505"/>
                  <a:pt x="54829" y="27471"/>
                </a:cubicBezTo>
                <a:lnTo>
                  <a:pt x="54827" y="27469"/>
                </a:lnTo>
                <a:moveTo>
                  <a:pt x="91440" y="172165"/>
                </a:moveTo>
                <a:cubicBezTo>
                  <a:pt x="85440" y="178773"/>
                  <a:pt x="76760" y="182880"/>
                  <a:pt x="67152" y="182880"/>
                </a:cubicBezTo>
                <a:cubicBezTo>
                  <a:pt x="55650" y="182880"/>
                  <a:pt x="45543" y="176986"/>
                  <a:pt x="39683" y="168058"/>
                </a:cubicBezTo>
                <a:cubicBezTo>
                  <a:pt x="23610" y="165201"/>
                  <a:pt x="11430" y="151163"/>
                  <a:pt x="11430" y="134303"/>
                </a:cubicBezTo>
                <a:cubicBezTo>
                  <a:pt x="11430" y="134124"/>
                  <a:pt x="11430" y="133910"/>
                  <a:pt x="11430" y="133731"/>
                </a:cubicBezTo>
                <a:cubicBezTo>
                  <a:pt x="4358" y="126516"/>
                  <a:pt x="0" y="116623"/>
                  <a:pt x="0" y="105728"/>
                </a:cubicBezTo>
                <a:cubicBezTo>
                  <a:pt x="0" y="95798"/>
                  <a:pt x="3608" y="86725"/>
                  <a:pt x="9572" y="79761"/>
                </a:cubicBezTo>
                <a:cubicBezTo>
                  <a:pt x="8928" y="77082"/>
                  <a:pt x="8572" y="74297"/>
                  <a:pt x="8572" y="71438"/>
                </a:cubicBezTo>
                <a:cubicBezTo>
                  <a:pt x="8572" y="59795"/>
                  <a:pt x="14395" y="49471"/>
                  <a:pt x="23251" y="43291"/>
                </a:cubicBezTo>
                <a:cubicBezTo>
                  <a:pt x="24859" y="32968"/>
                  <a:pt x="31038" y="24182"/>
                  <a:pt x="39647" y="19074"/>
                </a:cubicBezTo>
                <a:cubicBezTo>
                  <a:pt x="44469" y="7858"/>
                  <a:pt x="55612" y="0"/>
                  <a:pt x="68578" y="0"/>
                </a:cubicBezTo>
                <a:cubicBezTo>
                  <a:pt x="77580" y="0"/>
                  <a:pt x="85723" y="3786"/>
                  <a:pt x="91438" y="9859"/>
                </a:cubicBezTo>
                <a:cubicBezTo>
                  <a:pt x="97153" y="3788"/>
                  <a:pt x="105297" y="0"/>
                  <a:pt x="114298" y="0"/>
                </a:cubicBezTo>
                <a:cubicBezTo>
                  <a:pt x="127264" y="0"/>
                  <a:pt x="138409" y="7858"/>
                  <a:pt x="143195" y="19074"/>
                </a:cubicBezTo>
                <a:cubicBezTo>
                  <a:pt x="151803" y="24182"/>
                  <a:pt x="158017" y="32970"/>
                  <a:pt x="159590" y="43291"/>
                </a:cubicBezTo>
                <a:cubicBezTo>
                  <a:pt x="168484" y="49471"/>
                  <a:pt x="174307" y="59793"/>
                  <a:pt x="174307" y="71438"/>
                </a:cubicBezTo>
                <a:cubicBezTo>
                  <a:pt x="174307" y="74297"/>
                  <a:pt x="173950" y="77082"/>
                  <a:pt x="173306" y="79761"/>
                </a:cubicBezTo>
                <a:cubicBezTo>
                  <a:pt x="179272" y="86762"/>
                  <a:pt x="182878" y="95835"/>
                  <a:pt x="182878" y="105728"/>
                </a:cubicBezTo>
                <a:cubicBezTo>
                  <a:pt x="182878" y="116623"/>
                  <a:pt x="178520" y="126516"/>
                  <a:pt x="171448" y="133731"/>
                </a:cubicBezTo>
                <a:cubicBezTo>
                  <a:pt x="171448" y="133910"/>
                  <a:pt x="171448" y="134124"/>
                  <a:pt x="171448" y="134303"/>
                </a:cubicBezTo>
                <a:cubicBezTo>
                  <a:pt x="171448" y="151198"/>
                  <a:pt x="159268" y="165201"/>
                  <a:pt x="143195" y="168058"/>
                </a:cubicBezTo>
                <a:cubicBezTo>
                  <a:pt x="137337" y="176988"/>
                  <a:pt x="127230" y="182880"/>
                  <a:pt x="115726" y="182880"/>
                </a:cubicBezTo>
                <a:cubicBezTo>
                  <a:pt x="106118" y="182880"/>
                  <a:pt x="97438" y="178736"/>
                  <a:pt x="91438" y="172165"/>
                </a:cubicBezTo>
                <a:lnTo>
                  <a:pt x="91440" y="172165"/>
                </a:lnTo>
                <a:moveTo>
                  <a:pt x="100013" y="150018"/>
                </a:moveTo>
                <a:cubicBezTo>
                  <a:pt x="100013" y="158698"/>
                  <a:pt x="107051" y="165735"/>
                  <a:pt x="115730" y="165735"/>
                </a:cubicBezTo>
                <a:cubicBezTo>
                  <a:pt x="122089" y="165735"/>
                  <a:pt x="127588" y="161949"/>
                  <a:pt x="130053" y="156483"/>
                </a:cubicBezTo>
                <a:cubicBezTo>
                  <a:pt x="131410" y="153482"/>
                  <a:pt x="134340" y="151518"/>
                  <a:pt x="137626" y="151447"/>
                </a:cubicBezTo>
                <a:cubicBezTo>
                  <a:pt x="146878" y="151196"/>
                  <a:pt x="154307" y="143625"/>
                  <a:pt x="154307" y="134302"/>
                </a:cubicBezTo>
                <a:cubicBezTo>
                  <a:pt x="154307" y="133372"/>
                  <a:pt x="154235" y="132444"/>
                  <a:pt x="154093" y="131588"/>
                </a:cubicBezTo>
                <a:cubicBezTo>
                  <a:pt x="153594" y="128552"/>
                  <a:pt x="154808" y="125479"/>
                  <a:pt x="157200" y="123550"/>
                </a:cubicBezTo>
                <a:cubicBezTo>
                  <a:pt x="162416" y="119335"/>
                  <a:pt x="165737" y="112941"/>
                  <a:pt x="165737" y="105727"/>
                </a:cubicBezTo>
                <a:cubicBezTo>
                  <a:pt x="165737" y="98832"/>
                  <a:pt x="162701" y="92654"/>
                  <a:pt x="157844" y="88474"/>
                </a:cubicBezTo>
                <a:cubicBezTo>
                  <a:pt x="154987" y="86008"/>
                  <a:pt x="154093" y="81937"/>
                  <a:pt x="155666" y="78472"/>
                </a:cubicBezTo>
                <a:cubicBezTo>
                  <a:pt x="156629" y="76329"/>
                  <a:pt x="157165" y="73971"/>
                  <a:pt x="157165" y="71435"/>
                </a:cubicBezTo>
                <a:cubicBezTo>
                  <a:pt x="157165" y="64719"/>
                  <a:pt x="153308" y="58898"/>
                  <a:pt x="147628" y="56076"/>
                </a:cubicBezTo>
                <a:cubicBezTo>
                  <a:pt x="144735" y="54648"/>
                  <a:pt x="142877" y="51684"/>
                  <a:pt x="142877" y="48469"/>
                </a:cubicBezTo>
                <a:cubicBezTo>
                  <a:pt x="142840" y="41574"/>
                  <a:pt x="138698" y="35610"/>
                  <a:pt x="132769" y="32931"/>
                </a:cubicBezTo>
                <a:cubicBezTo>
                  <a:pt x="130483" y="31896"/>
                  <a:pt x="128733" y="29895"/>
                  <a:pt x="128054" y="27467"/>
                </a:cubicBezTo>
                <a:cubicBezTo>
                  <a:pt x="126341" y="21501"/>
                  <a:pt x="120803" y="17143"/>
                  <a:pt x="114302" y="17143"/>
                </a:cubicBezTo>
                <a:cubicBezTo>
                  <a:pt x="106409" y="17143"/>
                  <a:pt x="100015" y="23536"/>
                  <a:pt x="100015" y="31431"/>
                </a:cubicBezTo>
                <a:lnTo>
                  <a:pt x="100013" y="150018"/>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710098"/>
            <a:ext cx="182880" cy="160020"/>
          </a:xfrm>
          <a:custGeom>
            <a:avLst/>
            <a:gdLst/>
            <a:ahLst/>
            <a:cxnLst/>
            <a:rect l="l" t="t" r="r" b="b"/>
            <a:pathLst>
              <a:path w="182880" h="160020">
                <a:moveTo>
                  <a:pt x="148590" y="17145"/>
                </a:moveTo>
                <a:cubicBezTo>
                  <a:pt x="151734" y="17145"/>
                  <a:pt x="154305" y="19716"/>
                  <a:pt x="154305" y="22859"/>
                </a:cubicBezTo>
                <a:cubicBezTo>
                  <a:pt x="154305" y="26002"/>
                  <a:pt x="151734" y="28573"/>
                  <a:pt x="148590" y="28573"/>
                </a:cubicBezTo>
                <a:lnTo>
                  <a:pt x="34290" y="28573"/>
                </a:lnTo>
                <a:cubicBezTo>
                  <a:pt x="31146" y="28573"/>
                  <a:pt x="28575" y="26002"/>
                  <a:pt x="28575" y="22859"/>
                </a:cubicBezTo>
                <a:cubicBezTo>
                  <a:pt x="28575" y="19716"/>
                  <a:pt x="31146" y="17145"/>
                  <a:pt x="34290" y="17145"/>
                </a:cubicBezTo>
                <a:lnTo>
                  <a:pt x="148590" y="17145"/>
                </a:lnTo>
                <a:moveTo>
                  <a:pt x="34290" y="0"/>
                </a:moveTo>
                <a:cubicBezTo>
                  <a:pt x="21680" y="0"/>
                  <a:pt x="11430" y="10251"/>
                  <a:pt x="11430" y="22860"/>
                </a:cubicBezTo>
                <a:cubicBezTo>
                  <a:pt x="11430" y="35468"/>
                  <a:pt x="21680" y="45721"/>
                  <a:pt x="34290" y="45721"/>
                </a:cubicBezTo>
                <a:lnTo>
                  <a:pt x="82868" y="45721"/>
                </a:lnTo>
                <a:lnTo>
                  <a:pt x="82868" y="51435"/>
                </a:lnTo>
                <a:lnTo>
                  <a:pt x="79332" y="54972"/>
                </a:lnTo>
                <a:lnTo>
                  <a:pt x="69295" y="65008"/>
                </a:lnTo>
                <a:lnTo>
                  <a:pt x="65723" y="68580"/>
                </a:lnTo>
                <a:lnTo>
                  <a:pt x="45722" y="68580"/>
                </a:lnTo>
                <a:cubicBezTo>
                  <a:pt x="28363" y="68580"/>
                  <a:pt x="14290" y="82654"/>
                  <a:pt x="14290" y="100013"/>
                </a:cubicBezTo>
                <a:lnTo>
                  <a:pt x="14290" y="114301"/>
                </a:lnTo>
                <a:lnTo>
                  <a:pt x="11434" y="114301"/>
                </a:lnTo>
                <a:cubicBezTo>
                  <a:pt x="5112" y="114301"/>
                  <a:pt x="4" y="119409"/>
                  <a:pt x="4" y="125731"/>
                </a:cubicBezTo>
                <a:lnTo>
                  <a:pt x="4" y="148591"/>
                </a:lnTo>
                <a:cubicBezTo>
                  <a:pt x="4" y="154914"/>
                  <a:pt x="5112" y="160022"/>
                  <a:pt x="11434" y="160022"/>
                </a:cubicBezTo>
                <a:lnTo>
                  <a:pt x="34294" y="160022"/>
                </a:lnTo>
                <a:cubicBezTo>
                  <a:pt x="40616" y="160022"/>
                  <a:pt x="45724" y="154914"/>
                  <a:pt x="45724" y="148591"/>
                </a:cubicBezTo>
                <a:lnTo>
                  <a:pt x="45724" y="125731"/>
                </a:lnTo>
                <a:cubicBezTo>
                  <a:pt x="45724" y="119409"/>
                  <a:pt x="40616" y="114301"/>
                  <a:pt x="34294" y="114301"/>
                </a:cubicBezTo>
                <a:lnTo>
                  <a:pt x="31437" y="114301"/>
                </a:lnTo>
                <a:lnTo>
                  <a:pt x="31437" y="100013"/>
                </a:lnTo>
                <a:cubicBezTo>
                  <a:pt x="31437" y="92119"/>
                  <a:pt x="37831" y="85724"/>
                  <a:pt x="45726" y="85724"/>
                </a:cubicBezTo>
                <a:lnTo>
                  <a:pt x="65729" y="85724"/>
                </a:lnTo>
                <a:lnTo>
                  <a:pt x="69266" y="89261"/>
                </a:lnTo>
                <a:lnTo>
                  <a:pt x="79302" y="99297"/>
                </a:lnTo>
                <a:lnTo>
                  <a:pt x="82874" y="102869"/>
                </a:lnTo>
                <a:lnTo>
                  <a:pt x="82874" y="114299"/>
                </a:lnTo>
                <a:lnTo>
                  <a:pt x="80018" y="114299"/>
                </a:lnTo>
                <a:cubicBezTo>
                  <a:pt x="73695" y="114299"/>
                  <a:pt x="68588" y="119407"/>
                  <a:pt x="68588" y="125729"/>
                </a:cubicBezTo>
                <a:lnTo>
                  <a:pt x="68588" y="148590"/>
                </a:lnTo>
                <a:cubicBezTo>
                  <a:pt x="68588" y="154912"/>
                  <a:pt x="73695" y="160020"/>
                  <a:pt x="80018" y="160020"/>
                </a:cubicBezTo>
                <a:lnTo>
                  <a:pt x="102878" y="160020"/>
                </a:lnTo>
                <a:cubicBezTo>
                  <a:pt x="109200" y="160020"/>
                  <a:pt x="114308" y="154912"/>
                  <a:pt x="114308" y="148590"/>
                </a:cubicBezTo>
                <a:lnTo>
                  <a:pt x="114308" y="125729"/>
                </a:lnTo>
                <a:cubicBezTo>
                  <a:pt x="114308" y="119407"/>
                  <a:pt x="109200" y="114299"/>
                  <a:pt x="102878" y="114299"/>
                </a:cubicBezTo>
                <a:lnTo>
                  <a:pt x="100021" y="114299"/>
                </a:lnTo>
                <a:lnTo>
                  <a:pt x="100021" y="102869"/>
                </a:lnTo>
                <a:lnTo>
                  <a:pt x="103558" y="99333"/>
                </a:lnTo>
                <a:lnTo>
                  <a:pt x="113594" y="89296"/>
                </a:lnTo>
                <a:lnTo>
                  <a:pt x="117166" y="85724"/>
                </a:lnTo>
                <a:lnTo>
                  <a:pt x="137170" y="85724"/>
                </a:lnTo>
                <a:cubicBezTo>
                  <a:pt x="145063" y="85724"/>
                  <a:pt x="151458" y="92119"/>
                  <a:pt x="151458" y="100013"/>
                </a:cubicBezTo>
                <a:lnTo>
                  <a:pt x="151458" y="114301"/>
                </a:lnTo>
                <a:lnTo>
                  <a:pt x="148602" y="114301"/>
                </a:lnTo>
                <a:cubicBezTo>
                  <a:pt x="142279" y="114301"/>
                  <a:pt x="137172" y="119409"/>
                  <a:pt x="137172" y="125731"/>
                </a:cubicBezTo>
                <a:lnTo>
                  <a:pt x="137172" y="148591"/>
                </a:lnTo>
                <a:cubicBezTo>
                  <a:pt x="137172" y="154914"/>
                  <a:pt x="142279" y="160022"/>
                  <a:pt x="148602" y="160022"/>
                </a:cubicBezTo>
                <a:lnTo>
                  <a:pt x="171462" y="160022"/>
                </a:lnTo>
                <a:cubicBezTo>
                  <a:pt x="177784" y="160022"/>
                  <a:pt x="182892" y="154914"/>
                  <a:pt x="182892" y="148591"/>
                </a:cubicBezTo>
                <a:lnTo>
                  <a:pt x="182892" y="125731"/>
                </a:lnTo>
                <a:cubicBezTo>
                  <a:pt x="182892" y="119409"/>
                  <a:pt x="177784" y="114301"/>
                  <a:pt x="171462" y="114301"/>
                </a:cubicBezTo>
                <a:lnTo>
                  <a:pt x="168605" y="114301"/>
                </a:lnTo>
                <a:lnTo>
                  <a:pt x="168605" y="100013"/>
                </a:lnTo>
                <a:cubicBezTo>
                  <a:pt x="168605" y="82654"/>
                  <a:pt x="154532" y="68580"/>
                  <a:pt x="137173" y="68580"/>
                </a:cubicBezTo>
                <a:lnTo>
                  <a:pt x="117172" y="68580"/>
                </a:lnTo>
                <a:lnTo>
                  <a:pt x="113635" y="65043"/>
                </a:lnTo>
                <a:lnTo>
                  <a:pt x="103598" y="55007"/>
                </a:lnTo>
                <a:lnTo>
                  <a:pt x="100027" y="51435"/>
                </a:lnTo>
                <a:lnTo>
                  <a:pt x="100027" y="45721"/>
                </a:lnTo>
                <a:lnTo>
                  <a:pt x="148605" y="45721"/>
                </a:lnTo>
                <a:cubicBezTo>
                  <a:pt x="161215" y="45721"/>
                  <a:pt x="171465" y="35470"/>
                  <a:pt x="171465" y="22860"/>
                </a:cubicBezTo>
                <a:cubicBezTo>
                  <a:pt x="171465" y="10253"/>
                  <a:pt x="161215" y="0"/>
                  <a:pt x="148605" y="0"/>
                </a:cubicBezTo>
                <a:lnTo>
                  <a:pt x="34290" y="0"/>
                </a:lnTo>
                <a:moveTo>
                  <a:pt x="17145" y="142875"/>
                </a:moveTo>
                <a:lnTo>
                  <a:pt x="17145" y="131445"/>
                </a:lnTo>
                <a:lnTo>
                  <a:pt x="28575" y="131445"/>
                </a:lnTo>
                <a:lnTo>
                  <a:pt x="28575" y="142875"/>
                </a:lnTo>
                <a:lnTo>
                  <a:pt x="17145" y="142875"/>
                </a:lnTo>
                <a:moveTo>
                  <a:pt x="85725" y="142875"/>
                </a:moveTo>
                <a:lnTo>
                  <a:pt x="85725" y="131445"/>
                </a:lnTo>
                <a:lnTo>
                  <a:pt x="97155" y="131445"/>
                </a:lnTo>
                <a:lnTo>
                  <a:pt x="97155" y="142875"/>
                </a:lnTo>
                <a:lnTo>
                  <a:pt x="85725" y="142875"/>
                </a:lnTo>
                <a:moveTo>
                  <a:pt x="154305" y="142875"/>
                </a:moveTo>
                <a:lnTo>
                  <a:pt x="154305" y="131445"/>
                </a:lnTo>
                <a:lnTo>
                  <a:pt x="165735" y="131445"/>
                </a:lnTo>
                <a:lnTo>
                  <a:pt x="165735" y="142875"/>
                </a:lnTo>
                <a:lnTo>
                  <a:pt x="154305" y="142875"/>
                </a:lnTo>
                <a:moveTo>
                  <a:pt x="81404" y="77152"/>
                </a:moveTo>
                <a:lnTo>
                  <a:pt x="91440" y="67116"/>
                </a:lnTo>
                <a:lnTo>
                  <a:pt x="101476" y="77152"/>
                </a:lnTo>
                <a:lnTo>
                  <a:pt x="91440" y="87189"/>
                </a:lnTo>
                <a:lnTo>
                  <a:pt x="81404" y="77152"/>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47356" y="1727432"/>
            <a:ext cx="182880" cy="146574"/>
          </a:xfrm>
          <a:custGeom>
            <a:avLst/>
            <a:gdLst/>
            <a:ahLst/>
            <a:cxnLst/>
            <a:rect l="l" t="t" r="r" b="b"/>
            <a:pathLst>
              <a:path w="182880" h="146574">
                <a:moveTo>
                  <a:pt x="148853" y="13741"/>
                </a:moveTo>
                <a:lnTo>
                  <a:pt x="112583" y="13741"/>
                </a:lnTo>
                <a:cubicBezTo>
                  <a:pt x="109062" y="5640"/>
                  <a:pt x="100988" y="0"/>
                  <a:pt x="91599" y="0"/>
                </a:cubicBezTo>
                <a:cubicBezTo>
                  <a:pt x="82210" y="0"/>
                  <a:pt x="74136" y="5640"/>
                  <a:pt x="70615" y="13741"/>
                </a:cubicBezTo>
                <a:lnTo>
                  <a:pt x="34345" y="13741"/>
                </a:lnTo>
                <a:cubicBezTo>
                  <a:pt x="30537" y="13741"/>
                  <a:pt x="27474" y="16805"/>
                  <a:pt x="27474" y="20613"/>
                </a:cubicBezTo>
                <a:cubicBezTo>
                  <a:pt x="27474" y="24421"/>
                  <a:pt x="30537" y="27484"/>
                  <a:pt x="34345" y="27484"/>
                </a:cubicBezTo>
                <a:lnTo>
                  <a:pt x="69156" y="27484"/>
                </a:lnTo>
                <a:cubicBezTo>
                  <a:pt x="70817" y="35672"/>
                  <a:pt x="76857" y="42285"/>
                  <a:pt x="84730" y="44746"/>
                </a:cubicBezTo>
                <a:lnTo>
                  <a:pt x="84730" y="132834"/>
                </a:lnTo>
                <a:lnTo>
                  <a:pt x="34345" y="132834"/>
                </a:lnTo>
                <a:cubicBezTo>
                  <a:pt x="30537" y="132834"/>
                  <a:pt x="27474" y="135898"/>
                  <a:pt x="27474" y="139706"/>
                </a:cubicBezTo>
                <a:cubicBezTo>
                  <a:pt x="27474" y="143514"/>
                  <a:pt x="30537" y="146577"/>
                  <a:pt x="34345" y="146577"/>
                </a:cubicBezTo>
                <a:lnTo>
                  <a:pt x="91601" y="146577"/>
                </a:lnTo>
                <a:lnTo>
                  <a:pt x="148857" y="146577"/>
                </a:lnTo>
                <a:cubicBezTo>
                  <a:pt x="152665" y="146577"/>
                  <a:pt x="155728" y="143514"/>
                  <a:pt x="155728" y="139707"/>
                </a:cubicBezTo>
                <a:cubicBezTo>
                  <a:pt x="155728" y="135899"/>
                  <a:pt x="152665" y="132837"/>
                  <a:pt x="148857" y="132837"/>
                </a:cubicBezTo>
                <a:lnTo>
                  <a:pt x="98472" y="132837"/>
                </a:lnTo>
                <a:lnTo>
                  <a:pt x="98472" y="44749"/>
                </a:lnTo>
                <a:cubicBezTo>
                  <a:pt x="106345" y="42287"/>
                  <a:pt x="112385" y="35675"/>
                  <a:pt x="114046" y="27487"/>
                </a:cubicBezTo>
                <a:lnTo>
                  <a:pt x="148857" y="27487"/>
                </a:lnTo>
                <a:cubicBezTo>
                  <a:pt x="152665" y="27487"/>
                  <a:pt x="155728" y="24424"/>
                  <a:pt x="155728" y="20617"/>
                </a:cubicBezTo>
                <a:cubicBezTo>
                  <a:pt x="155728" y="16809"/>
                  <a:pt x="152665" y="13747"/>
                  <a:pt x="148857" y="13747"/>
                </a:cubicBezTo>
                <a:lnTo>
                  <a:pt x="148853" y="13741"/>
                </a:lnTo>
                <a:moveTo>
                  <a:pt x="146562" y="56053"/>
                </a:moveTo>
                <a:lnTo>
                  <a:pt x="167288" y="91609"/>
                </a:lnTo>
                <a:lnTo>
                  <a:pt x="125807" y="91609"/>
                </a:lnTo>
                <a:lnTo>
                  <a:pt x="146562" y="56053"/>
                </a:lnTo>
                <a:moveTo>
                  <a:pt x="110492" y="96504"/>
                </a:moveTo>
                <a:cubicBezTo>
                  <a:pt x="113585" y="109359"/>
                  <a:pt x="128557" y="119092"/>
                  <a:pt x="146564" y="119092"/>
                </a:cubicBezTo>
                <a:cubicBezTo>
                  <a:pt x="164570" y="119092"/>
                  <a:pt x="179543" y="109358"/>
                  <a:pt x="182635" y="96504"/>
                </a:cubicBezTo>
                <a:cubicBezTo>
                  <a:pt x="183379" y="93356"/>
                  <a:pt x="182348" y="90121"/>
                  <a:pt x="180717" y="87314"/>
                </a:cubicBezTo>
                <a:lnTo>
                  <a:pt x="153464" y="40594"/>
                </a:lnTo>
                <a:cubicBezTo>
                  <a:pt x="152032" y="38131"/>
                  <a:pt x="149398" y="36644"/>
                  <a:pt x="146564" y="36644"/>
                </a:cubicBezTo>
                <a:cubicBezTo>
                  <a:pt x="143729" y="36644"/>
                  <a:pt x="141096" y="38161"/>
                  <a:pt x="139664" y="40594"/>
                </a:cubicBezTo>
                <a:lnTo>
                  <a:pt x="112411" y="87344"/>
                </a:lnTo>
                <a:cubicBezTo>
                  <a:pt x="110780" y="90149"/>
                  <a:pt x="109748" y="93384"/>
                  <a:pt x="110492" y="96534"/>
                </a:cubicBezTo>
                <a:lnTo>
                  <a:pt x="110492" y="96504"/>
                </a:lnTo>
                <a:moveTo>
                  <a:pt x="15561" y="91609"/>
                </a:moveTo>
                <a:lnTo>
                  <a:pt x="36287" y="56053"/>
                </a:lnTo>
                <a:lnTo>
                  <a:pt x="57042" y="91609"/>
                </a:lnTo>
                <a:lnTo>
                  <a:pt x="15561" y="91609"/>
                </a:lnTo>
                <a:moveTo>
                  <a:pt x="36289" y="119092"/>
                </a:moveTo>
                <a:cubicBezTo>
                  <a:pt x="54295" y="119092"/>
                  <a:pt x="69268" y="109358"/>
                  <a:pt x="72360" y="96504"/>
                </a:cubicBezTo>
                <a:cubicBezTo>
                  <a:pt x="73104" y="93356"/>
                  <a:pt x="72073" y="90121"/>
                  <a:pt x="70442" y="87314"/>
                </a:cubicBezTo>
                <a:lnTo>
                  <a:pt x="43189" y="40594"/>
                </a:lnTo>
                <a:cubicBezTo>
                  <a:pt x="41757" y="38131"/>
                  <a:pt x="39124" y="36644"/>
                  <a:pt x="36289" y="36644"/>
                </a:cubicBezTo>
                <a:cubicBezTo>
                  <a:pt x="33454" y="36644"/>
                  <a:pt x="30821" y="38161"/>
                  <a:pt x="29389" y="40594"/>
                </a:cubicBezTo>
                <a:lnTo>
                  <a:pt x="2164" y="87344"/>
                </a:lnTo>
                <a:cubicBezTo>
                  <a:pt x="532" y="90149"/>
                  <a:pt x="-499" y="93384"/>
                  <a:pt x="245" y="96534"/>
                </a:cubicBezTo>
                <a:cubicBezTo>
                  <a:pt x="3338" y="109359"/>
                  <a:pt x="18310" y="119093"/>
                  <a:pt x="36287" y="119093"/>
                </a:cubicBezTo>
                <a:lnTo>
                  <a:pt x="36289" y="119092"/>
                </a:lnTo>
                <a:moveTo>
                  <a:pt x="91597" y="13741"/>
                </a:moveTo>
                <a:cubicBezTo>
                  <a:pt x="96658" y="13741"/>
                  <a:pt x="100758" y="17843"/>
                  <a:pt x="100758" y="22902"/>
                </a:cubicBezTo>
                <a:cubicBezTo>
                  <a:pt x="100758" y="27962"/>
                  <a:pt x="96656" y="32063"/>
                  <a:pt x="91597" y="32063"/>
                </a:cubicBezTo>
                <a:cubicBezTo>
                  <a:pt x="86537" y="32063"/>
                  <a:pt x="82437" y="27962"/>
                  <a:pt x="82437" y="22902"/>
                </a:cubicBezTo>
                <a:cubicBezTo>
                  <a:pt x="82437" y="17842"/>
                  <a:pt x="86539" y="13741"/>
                  <a:pt x="91597" y="13741"/>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89776" y="1719915"/>
            <a:ext cx="182880" cy="182831"/>
          </a:xfrm>
          <a:custGeom>
            <a:avLst/>
            <a:gdLst/>
            <a:ahLst/>
            <a:cxnLst/>
            <a:rect l="l" t="t" r="r" b="b"/>
            <a:pathLst>
              <a:path w="182880" h="182831">
                <a:moveTo>
                  <a:pt x="131432" y="74288"/>
                </a:moveTo>
                <a:cubicBezTo>
                  <a:pt x="131432" y="42728"/>
                  <a:pt x="105847" y="17144"/>
                  <a:pt x="74288" y="17144"/>
                </a:cubicBezTo>
                <a:cubicBezTo>
                  <a:pt x="42728" y="17144"/>
                  <a:pt x="17143" y="42728"/>
                  <a:pt x="17143" y="74288"/>
                </a:cubicBezTo>
                <a:cubicBezTo>
                  <a:pt x="17143" y="105848"/>
                  <a:pt x="42728" y="131432"/>
                  <a:pt x="74288" y="131432"/>
                </a:cubicBezTo>
                <a:cubicBezTo>
                  <a:pt x="105847" y="131432"/>
                  <a:pt x="131432" y="105848"/>
                  <a:pt x="131432" y="74288"/>
                </a:cubicBezTo>
                <a:lnTo>
                  <a:pt x="131432" y="74288"/>
                </a:lnTo>
                <a:moveTo>
                  <a:pt x="120395" y="132540"/>
                </a:moveTo>
                <a:cubicBezTo>
                  <a:pt x="107753" y="142575"/>
                  <a:pt x="91716" y="148576"/>
                  <a:pt x="74288" y="148576"/>
                </a:cubicBezTo>
                <a:cubicBezTo>
                  <a:pt x="33251" y="148576"/>
                  <a:pt x="0" y="115324"/>
                  <a:pt x="0" y="74288"/>
                </a:cubicBezTo>
                <a:cubicBezTo>
                  <a:pt x="0" y="33251"/>
                  <a:pt x="33251" y="0"/>
                  <a:pt x="74288" y="0"/>
                </a:cubicBezTo>
                <a:cubicBezTo>
                  <a:pt x="115324" y="0"/>
                  <a:pt x="148575" y="33251"/>
                  <a:pt x="148575" y="74288"/>
                </a:cubicBezTo>
                <a:cubicBezTo>
                  <a:pt x="148575" y="91717"/>
                  <a:pt x="142575" y="107753"/>
                  <a:pt x="132539" y="120396"/>
                </a:cubicBezTo>
                <a:lnTo>
                  <a:pt x="180362" y="168219"/>
                </a:lnTo>
                <a:cubicBezTo>
                  <a:pt x="183719" y="171576"/>
                  <a:pt x="183719" y="177006"/>
                  <a:pt x="180362" y="180326"/>
                </a:cubicBezTo>
                <a:cubicBezTo>
                  <a:pt x="177004" y="183648"/>
                  <a:pt x="171576" y="183683"/>
                  <a:pt x="168255" y="180326"/>
                </a:cubicBezTo>
                <a:lnTo>
                  <a:pt x="120395" y="132540"/>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30501"/>
            <a:ext cx="182880" cy="182880"/>
          </a:xfrm>
          <a:custGeom>
            <a:avLst/>
            <a:gdLst/>
            <a:ahLst/>
            <a:cxnLst/>
            <a:rect l="l" t="t" r="r" b="b"/>
            <a:pathLst>
              <a:path w="182880" h="182880">
                <a:moveTo>
                  <a:pt x="91440" y="17145"/>
                </a:moveTo>
                <a:cubicBezTo>
                  <a:pt x="132473" y="17145"/>
                  <a:pt x="165735" y="50407"/>
                  <a:pt x="165735" y="91440"/>
                </a:cubicBezTo>
                <a:cubicBezTo>
                  <a:pt x="165735" y="132473"/>
                  <a:pt x="132473" y="165735"/>
                  <a:pt x="91440" y="165735"/>
                </a:cubicBezTo>
                <a:cubicBezTo>
                  <a:pt x="50407" y="165735"/>
                  <a:pt x="17145" y="132473"/>
                  <a:pt x="17145" y="91440"/>
                </a:cubicBezTo>
                <a:cubicBezTo>
                  <a:pt x="17145" y="50407"/>
                  <a:pt x="50407" y="17145"/>
                  <a:pt x="91440" y="17145"/>
                </a:cubicBezTo>
                <a:lnTo>
                  <a:pt x="91440" y="17145"/>
                </a:lnTo>
                <a:moveTo>
                  <a:pt x="91440" y="182880"/>
                </a:moveTo>
                <a:cubicBezTo>
                  <a:pt x="141941" y="182880"/>
                  <a:pt x="182880" y="141941"/>
                  <a:pt x="182880" y="91440"/>
                </a:cubicBezTo>
                <a:cubicBezTo>
                  <a:pt x="182880" y="40939"/>
                  <a:pt x="141941" y="0"/>
                  <a:pt x="91440" y="0"/>
                </a:cubicBezTo>
                <a:cubicBezTo>
                  <a:pt x="40939" y="0"/>
                  <a:pt x="0" y="40939"/>
                  <a:pt x="0" y="91440"/>
                </a:cubicBezTo>
                <a:cubicBezTo>
                  <a:pt x="0" y="141941"/>
                  <a:pt x="40939" y="182880"/>
                  <a:pt x="91440" y="182880"/>
                </a:cubicBezTo>
                <a:moveTo>
                  <a:pt x="111443" y="125730"/>
                </a:moveTo>
                <a:cubicBezTo>
                  <a:pt x="111443" y="117766"/>
                  <a:pt x="106764" y="110871"/>
                  <a:pt x="100013" y="107656"/>
                </a:cubicBezTo>
                <a:lnTo>
                  <a:pt x="100013" y="42862"/>
                </a:lnTo>
                <a:cubicBezTo>
                  <a:pt x="100013" y="38110"/>
                  <a:pt x="96191" y="34290"/>
                  <a:pt x="91442" y="34290"/>
                </a:cubicBezTo>
                <a:cubicBezTo>
                  <a:pt x="86691" y="34290"/>
                  <a:pt x="82870" y="38112"/>
                  <a:pt x="82870" y="42863"/>
                </a:cubicBezTo>
                <a:lnTo>
                  <a:pt x="82870" y="107658"/>
                </a:lnTo>
                <a:cubicBezTo>
                  <a:pt x="76120" y="110873"/>
                  <a:pt x="71440" y="117766"/>
                  <a:pt x="71440" y="125732"/>
                </a:cubicBezTo>
                <a:cubicBezTo>
                  <a:pt x="71440" y="136769"/>
                  <a:pt x="80405" y="145735"/>
                  <a:pt x="91444" y="145735"/>
                </a:cubicBezTo>
                <a:cubicBezTo>
                  <a:pt x="102481" y="145735"/>
                  <a:pt x="111447" y="136771"/>
                  <a:pt x="111447" y="125734"/>
                </a:cubicBezTo>
                <a:lnTo>
                  <a:pt x="111443" y="125730"/>
                </a:lnTo>
                <a:moveTo>
                  <a:pt x="57150" y="68580"/>
                </a:moveTo>
                <a:cubicBezTo>
                  <a:pt x="63463" y="68580"/>
                  <a:pt x="68580" y="63463"/>
                  <a:pt x="68580" y="57150"/>
                </a:cubicBezTo>
                <a:cubicBezTo>
                  <a:pt x="68580" y="50837"/>
                  <a:pt x="63463" y="45720"/>
                  <a:pt x="57150" y="45720"/>
                </a:cubicBezTo>
                <a:cubicBezTo>
                  <a:pt x="50837" y="45720"/>
                  <a:pt x="45720" y="50837"/>
                  <a:pt x="45720" y="57150"/>
                </a:cubicBezTo>
                <a:cubicBezTo>
                  <a:pt x="45720" y="63463"/>
                  <a:pt x="50837" y="68580"/>
                  <a:pt x="57150" y="68580"/>
                </a:cubicBezTo>
                <a:moveTo>
                  <a:pt x="51435" y="91440"/>
                </a:moveTo>
                <a:cubicBezTo>
                  <a:pt x="51435" y="85127"/>
                  <a:pt x="46318" y="80010"/>
                  <a:pt x="40005" y="80010"/>
                </a:cubicBezTo>
                <a:cubicBezTo>
                  <a:pt x="33692" y="80010"/>
                  <a:pt x="28575" y="85127"/>
                  <a:pt x="28575" y="91440"/>
                </a:cubicBezTo>
                <a:cubicBezTo>
                  <a:pt x="28575" y="97753"/>
                  <a:pt x="33692" y="102870"/>
                  <a:pt x="40005" y="102870"/>
                </a:cubicBezTo>
                <a:cubicBezTo>
                  <a:pt x="46318" y="102870"/>
                  <a:pt x="51435" y="97753"/>
                  <a:pt x="51435" y="91440"/>
                </a:cubicBezTo>
                <a:moveTo>
                  <a:pt x="142875" y="102870"/>
                </a:moveTo>
                <a:cubicBezTo>
                  <a:pt x="149188" y="102870"/>
                  <a:pt x="154305" y="97753"/>
                  <a:pt x="154305" y="91440"/>
                </a:cubicBezTo>
                <a:cubicBezTo>
                  <a:pt x="154305" y="85127"/>
                  <a:pt x="149188" y="80010"/>
                  <a:pt x="142875" y="80010"/>
                </a:cubicBezTo>
                <a:cubicBezTo>
                  <a:pt x="136562" y="80010"/>
                  <a:pt x="131445" y="85127"/>
                  <a:pt x="131445" y="91440"/>
                </a:cubicBezTo>
                <a:cubicBezTo>
                  <a:pt x="131445" y="97753"/>
                  <a:pt x="136562" y="102870"/>
                  <a:pt x="142875" y="102870"/>
                </a:cubicBezTo>
                <a:moveTo>
                  <a:pt x="137160" y="57150"/>
                </a:moveTo>
                <a:cubicBezTo>
                  <a:pt x="137160" y="50837"/>
                  <a:pt x="132043" y="45720"/>
                  <a:pt x="125730" y="45720"/>
                </a:cubicBezTo>
                <a:cubicBezTo>
                  <a:pt x="119417" y="45720"/>
                  <a:pt x="114300" y="50837"/>
                  <a:pt x="114300" y="57150"/>
                </a:cubicBezTo>
                <a:cubicBezTo>
                  <a:pt x="114300" y="63463"/>
                  <a:pt x="119417" y="68580"/>
                  <a:pt x="125730" y="68580"/>
                </a:cubicBezTo>
                <a:cubicBezTo>
                  <a:pt x="132043" y="68580"/>
                  <a:pt x="137160" y="63463"/>
                  <a:pt x="137160" y="57150"/>
                </a:cubicBez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What Humans Do Better Than AI</a:t>
            </a:r>
            <a:endParaRPr lang="en-US" sz="2800" dirty="0"/>
          </a:p>
        </p:txBody>
      </p:sp>
      <p:sp>
        <p:nvSpPr>
          <p:cNvPr id="7" name="Text 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05463"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0" name="Text 8"/>
          <p:cNvSpPr/>
          <p:nvPr/>
        </p:nvSpPr>
        <p:spPr>
          <a:xfrm>
            <a:off x="505463"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1" name="Text 9"/>
          <p:cNvSpPr/>
          <p:nvPr/>
        </p:nvSpPr>
        <p:spPr>
          <a:xfrm>
            <a:off x="505463"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2" name="Text 10"/>
          <p:cNvSpPr/>
          <p:nvPr/>
        </p:nvSpPr>
        <p:spPr>
          <a:xfrm>
            <a:off x="1531893" y="2196918"/>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naturally grasp nuanced organizational details, business processes, and social dynamics that AI models cannot fully capture. This understanding explains why certain actions happen and differentiates between technically suspicious and genuinely threatening behavior in cybersecurity operations.</a:t>
            </a:r>
            <a:endParaRPr lang="en-US" sz="976" dirty="0"/>
          </a:p>
        </p:txBody>
      </p:sp>
      <p:sp>
        <p:nvSpPr>
          <p:cNvPr id="13" name="Text 11"/>
          <p:cNvSpPr/>
          <p:nvPr/>
        </p:nvSpPr>
        <p:spPr>
          <a:xfrm>
            <a:off x="1531893"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Contextual Understanding</a:t>
            </a:r>
            <a:endParaRPr lang="en-US" sz="2030" dirty="0"/>
          </a:p>
        </p:txBody>
      </p:sp>
      <p:sp>
        <p:nvSpPr>
          <p:cNvPr id="14" name="Text 12"/>
          <p:cNvSpPr/>
          <p:nvPr/>
        </p:nvSpPr>
        <p:spPr>
          <a:xfrm>
            <a:off x="6200139" y="1560799"/>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5" name="Text 13"/>
          <p:cNvSpPr/>
          <p:nvPr/>
        </p:nvSpPr>
        <p:spPr>
          <a:xfrm>
            <a:off x="6200139" y="3088762"/>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6" name="Text 14"/>
          <p:cNvSpPr/>
          <p:nvPr/>
        </p:nvSpPr>
        <p:spPr>
          <a:xfrm>
            <a:off x="6200139" y="4591325"/>
            <a:ext cx="5486400" cy="1371600"/>
          </a:xfrm>
          <a:custGeom>
            <a:avLst/>
            <a:gdLst/>
            <a:ahLst/>
            <a:cxnLst/>
            <a:rect l="l" t="t" r="r" b="b"/>
            <a:pathLst>
              <a:path w="5486400" h="1371600">
                <a:moveTo>
                  <a:pt x="48664" y="1371600"/>
                </a:moveTo>
                <a:cubicBezTo>
                  <a:pt x="21781" y="1371600"/>
                  <a:pt x="0" y="1349819"/>
                  <a:pt x="0" y="1322936"/>
                </a:cubicBezTo>
                <a:lnTo>
                  <a:pt x="0" y="48664"/>
                </a:lnTo>
                <a:cubicBezTo>
                  <a:pt x="0" y="21781"/>
                  <a:pt x="21781" y="0"/>
                  <a:pt x="48664" y="0"/>
                </a:cubicBezTo>
                <a:lnTo>
                  <a:pt x="5437736" y="0"/>
                </a:lnTo>
                <a:cubicBezTo>
                  <a:pt x="5464619" y="0"/>
                  <a:pt x="5486400" y="21781"/>
                  <a:pt x="5486400" y="48664"/>
                </a:cubicBezTo>
                <a:lnTo>
                  <a:pt x="5486400" y="1322936"/>
                </a:lnTo>
                <a:cubicBezTo>
                  <a:pt x="5486400" y="1349819"/>
                  <a:pt x="5464619" y="1371600"/>
                  <a:pt x="5437736" y="1371600"/>
                </a:cubicBezTo>
                <a:lnTo>
                  <a:pt x="48664" y="137160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17" name="Text 15"/>
          <p:cNvSpPr/>
          <p:nvPr/>
        </p:nvSpPr>
        <p:spPr>
          <a:xfrm>
            <a:off x="7215324" y="2196918"/>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are skilled at making decisions when evidence is incomplete or contradictory. They weigh multiple factors such as security risk, business impact, and customer relations, and take accountability for their decisions and consequences.</a:t>
            </a:r>
            <a:endParaRPr lang="en-US" sz="976" dirty="0"/>
          </a:p>
        </p:txBody>
      </p:sp>
      <p:sp>
        <p:nvSpPr>
          <p:cNvPr id="18" name="Text 16"/>
          <p:cNvSpPr/>
          <p:nvPr/>
        </p:nvSpPr>
        <p:spPr>
          <a:xfrm>
            <a:off x="7215324" y="1738437"/>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Judgment Under Uncertainty</a:t>
            </a:r>
            <a:endParaRPr lang="en-US" sz="2030" dirty="0"/>
          </a:p>
        </p:txBody>
      </p:sp>
      <p:sp>
        <p:nvSpPr>
          <p:cNvPr id="19" name="Text 17"/>
          <p:cNvSpPr/>
          <p:nvPr/>
        </p:nvSpPr>
        <p:spPr>
          <a:xfrm>
            <a:off x="1531893" y="3743039"/>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excel at improvising responses when predefined AI playbooks do not apply. Analysts think like attackers, hypothesizing next moves and devising novel detection and defense strategies beyond AI’s programmed capabilities.</a:t>
            </a:r>
            <a:endParaRPr lang="en-US" sz="976" dirty="0"/>
          </a:p>
        </p:txBody>
      </p:sp>
      <p:sp>
        <p:nvSpPr>
          <p:cNvPr id="20" name="Text 18"/>
          <p:cNvSpPr/>
          <p:nvPr/>
        </p:nvSpPr>
        <p:spPr>
          <a:xfrm>
            <a:off x="1531893"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Creative Problem Solving</a:t>
            </a:r>
            <a:endParaRPr lang="en-US" sz="2030" dirty="0"/>
          </a:p>
        </p:txBody>
      </p:sp>
      <p:sp>
        <p:nvSpPr>
          <p:cNvPr id="21" name="Text 19"/>
          <p:cNvSpPr/>
          <p:nvPr/>
        </p:nvSpPr>
        <p:spPr>
          <a:xfrm>
            <a:off x="7215324" y="3743039"/>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communicate findings effectively to executives, boards, and regulators. They coordinate responses across diverse teams with different priorities and maintain relationships with external partners, law enforcement, and industry groups.</a:t>
            </a:r>
            <a:endParaRPr lang="en-US" sz="976" dirty="0"/>
          </a:p>
        </p:txBody>
      </p:sp>
      <p:sp>
        <p:nvSpPr>
          <p:cNvPr id="22" name="Text 20"/>
          <p:cNvSpPr/>
          <p:nvPr/>
        </p:nvSpPr>
        <p:spPr>
          <a:xfrm>
            <a:off x="7215324" y="3284558"/>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Communication and Coordination</a:t>
            </a:r>
            <a:endParaRPr lang="en-US" sz="2030" dirty="0"/>
          </a:p>
        </p:txBody>
      </p:sp>
      <p:sp>
        <p:nvSpPr>
          <p:cNvPr id="23" name="Text 21"/>
          <p:cNvSpPr/>
          <p:nvPr/>
        </p:nvSpPr>
        <p:spPr>
          <a:xfrm>
            <a:off x="1531893" y="5242207"/>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Experienced analysts develop gut feelings and can recognize subtle patterns from past incidents that AI cannot formally document. This intuition helps sense when an investigation is going off track or uncovering hidden threats.</a:t>
            </a:r>
            <a:endParaRPr lang="en-US" sz="976" dirty="0"/>
          </a:p>
        </p:txBody>
      </p:sp>
      <p:sp>
        <p:nvSpPr>
          <p:cNvPr id="24" name="Text 22"/>
          <p:cNvSpPr/>
          <p:nvPr/>
        </p:nvSpPr>
        <p:spPr>
          <a:xfrm>
            <a:off x="1531893"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Intuition and Experience</a:t>
            </a:r>
            <a:endParaRPr lang="en-US" sz="2030" dirty="0"/>
          </a:p>
        </p:txBody>
      </p:sp>
      <p:sp>
        <p:nvSpPr>
          <p:cNvPr id="25" name="Text 23"/>
          <p:cNvSpPr/>
          <p:nvPr/>
        </p:nvSpPr>
        <p:spPr>
          <a:xfrm>
            <a:off x="7215324" y="5242207"/>
            <a:ext cx="4206240" cy="548640"/>
          </a:xfrm>
          <a:prstGeom prst="rect">
            <a:avLst/>
          </a:prstGeom>
          <a:noFill/>
          <a:ln/>
        </p:spPr>
        <p:txBody>
          <a:bodyPr wrap="square" lIns="0" tIns="0" rIns="0" bIns="0" rtlCol="0" anchor="t"/>
          <a:lstStyle/>
          <a:p>
            <a:pPr algn="l" marL="0" indent="0">
              <a:lnSpc>
                <a:spcPct val="90000"/>
              </a:lnSpc>
              <a:spcBef>
                <a:spcPts val="888"/>
              </a:spcBef>
              <a:buNone/>
            </a:pPr>
            <a:r>
              <a:rPr lang="en-US" sz="976" dirty="0">
                <a:solidFill>
                  <a:srgbClr val="FFFFFF"/>
                </a:solidFill>
                <a:latin typeface="Figtree Regular" pitchFamily="34" charset="0"/>
                <a:ea typeface="Figtree Regular" pitchFamily="34" charset="-122"/>
                <a:cs typeface="Figtree Regular" pitchFamily="34" charset="-120"/>
              </a:rPr>
              <a:t>Humans incorporate external events and organizational changes into their analysis, recognizing when anomalies have legitimate explanations and when they require action. This reduces false positives and prioritizes truly critical alerts.</a:t>
            </a:r>
            <a:endParaRPr lang="en-US" sz="976" dirty="0"/>
          </a:p>
        </p:txBody>
      </p:sp>
      <p:sp>
        <p:nvSpPr>
          <p:cNvPr id="26" name="Text 24"/>
          <p:cNvSpPr/>
          <p:nvPr/>
        </p:nvSpPr>
        <p:spPr>
          <a:xfrm>
            <a:off x="7215324" y="4783726"/>
            <a:ext cx="4206240" cy="365760"/>
          </a:xfrm>
          <a:prstGeom prst="rect">
            <a:avLst/>
          </a:prstGeom>
          <a:noFill/>
          <a:ln/>
        </p:spPr>
        <p:txBody>
          <a:bodyPr wrap="square" lIns="0" tIns="0" rIns="0" bIns="0" rtlCol="0" anchor="t"/>
          <a:lstStyle/>
          <a:p>
            <a:pPr algn="l"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Contextual Integration</a:t>
            </a:r>
            <a:endParaRPr lang="en-US" sz="2030" dirty="0"/>
          </a:p>
        </p:txBody>
      </p:sp>
      <p:sp>
        <p:nvSpPr>
          <p:cNvPr id="27" name="Text 25"/>
          <p:cNvSpPr/>
          <p:nvPr/>
        </p:nvSpPr>
        <p:spPr>
          <a:xfrm>
            <a:off x="685281"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8" name="Text 26"/>
          <p:cNvSpPr/>
          <p:nvPr/>
        </p:nvSpPr>
        <p:spPr>
          <a:xfrm>
            <a:off x="685281"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29" name="Text 27"/>
          <p:cNvSpPr/>
          <p:nvPr/>
        </p:nvSpPr>
        <p:spPr>
          <a:xfrm>
            <a:off x="685281"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0" name="Text 28"/>
          <p:cNvSpPr/>
          <p:nvPr/>
        </p:nvSpPr>
        <p:spPr>
          <a:xfrm>
            <a:off x="6379957" y="1738437"/>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1" name="Text 29"/>
          <p:cNvSpPr/>
          <p:nvPr/>
        </p:nvSpPr>
        <p:spPr>
          <a:xfrm>
            <a:off x="6379957" y="3301326"/>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2" name="Text 30"/>
          <p:cNvSpPr/>
          <p:nvPr/>
        </p:nvSpPr>
        <p:spPr>
          <a:xfrm>
            <a:off x="6379957" y="4751044"/>
            <a:ext cx="638336" cy="638336"/>
          </a:xfrm>
          <a:custGeom>
            <a:avLst/>
            <a:gdLst/>
            <a:ahLst/>
            <a:cxnLst/>
            <a:rect l="l" t="t" r="r" b="b"/>
            <a:pathLst>
              <a:path w="638336" h="638336">
                <a:moveTo>
                  <a:pt x="0" y="319168"/>
                </a:moveTo>
                <a:cubicBezTo>
                  <a:pt x="0" y="142898"/>
                  <a:pt x="142898" y="0"/>
                  <a:pt x="319168" y="0"/>
                </a:cubicBezTo>
                <a:cubicBezTo>
                  <a:pt x="495438" y="0"/>
                  <a:pt x="638336" y="142898"/>
                  <a:pt x="638336" y="319168"/>
                </a:cubicBezTo>
                <a:cubicBezTo>
                  <a:pt x="638336" y="495438"/>
                  <a:pt x="495438" y="638336"/>
                  <a:pt x="319168" y="638336"/>
                </a:cubicBezTo>
                <a:cubicBezTo>
                  <a:pt x="142898" y="638336"/>
                  <a:pt x="0" y="495438"/>
                  <a:pt x="0" y="319168"/>
                </a:cubicBezTo>
              </a:path>
            </a:pathLst>
          </a:custGeom>
          <a:solidFill>
            <a:srgbClr val="46B1E1"/>
          </a:solidFill>
          <a:ln w="9525">
            <a:solidFill>
              <a:srgbClr val="042433"/>
            </a:solidFill>
          </a:ln>
        </p:spPr>
        <p:txBody>
          <a:bodyPr wrap="square" lIns="0" tIns="0" rIns="0" bIns="0" rtlCol="0" anchor="ctr"/>
          <a:lstStyle/>
          <a:p>
            <a:pPr indent="0" marL="0">
              <a:buNone/>
            </a:pPr>
            <a:endParaRPr lang="en-US" dirty="0"/>
          </a:p>
        </p:txBody>
      </p:sp>
      <p:sp>
        <p:nvSpPr>
          <p:cNvPr id="33" name="Text 31"/>
          <p:cNvSpPr/>
          <p:nvPr/>
        </p:nvSpPr>
        <p:spPr>
          <a:xfrm>
            <a:off x="6539105" y="4910192"/>
            <a:ext cx="320040" cy="320040"/>
          </a:xfrm>
          <a:custGeom>
            <a:avLst/>
            <a:gdLst/>
            <a:ahLst/>
            <a:cxnLst/>
            <a:rect l="l" t="t" r="r" b="b"/>
            <a:pathLst>
              <a:path w="320040" h="320040">
                <a:moveTo>
                  <a:pt x="125702" y="35816"/>
                </a:moveTo>
                <a:cubicBezTo>
                  <a:pt x="121327" y="39067"/>
                  <a:pt x="120015" y="42505"/>
                  <a:pt x="120015" y="45004"/>
                </a:cubicBezTo>
                <a:cubicBezTo>
                  <a:pt x="120015" y="47628"/>
                  <a:pt x="121516" y="51319"/>
                  <a:pt x="126515" y="54756"/>
                </a:cubicBezTo>
                <a:cubicBezTo>
                  <a:pt x="131389" y="58068"/>
                  <a:pt x="135015" y="63883"/>
                  <a:pt x="135015" y="70758"/>
                </a:cubicBezTo>
                <a:cubicBezTo>
                  <a:pt x="135015" y="81383"/>
                  <a:pt x="126390" y="89947"/>
                  <a:pt x="115826" y="89947"/>
                </a:cubicBezTo>
                <a:lnTo>
                  <a:pt x="35003" y="90011"/>
                </a:lnTo>
                <a:cubicBezTo>
                  <a:pt x="32254" y="90011"/>
                  <a:pt x="30004" y="92261"/>
                  <a:pt x="30004" y="95014"/>
                </a:cubicBezTo>
                <a:lnTo>
                  <a:pt x="30004" y="127830"/>
                </a:lnTo>
                <a:cubicBezTo>
                  <a:pt x="34628" y="126019"/>
                  <a:pt x="39691" y="125017"/>
                  <a:pt x="45007" y="125017"/>
                </a:cubicBezTo>
                <a:cubicBezTo>
                  <a:pt x="71948" y="125017"/>
                  <a:pt x="90015" y="149644"/>
                  <a:pt x="90015" y="175024"/>
                </a:cubicBezTo>
                <a:cubicBezTo>
                  <a:pt x="90015" y="200403"/>
                  <a:pt x="71948" y="225030"/>
                  <a:pt x="45011" y="225030"/>
                </a:cubicBezTo>
                <a:cubicBezTo>
                  <a:pt x="39698" y="225030"/>
                  <a:pt x="34635" y="224028"/>
                  <a:pt x="30010" y="222217"/>
                </a:cubicBezTo>
                <a:lnTo>
                  <a:pt x="30010" y="285037"/>
                </a:lnTo>
                <a:cubicBezTo>
                  <a:pt x="30010" y="287786"/>
                  <a:pt x="32260" y="290040"/>
                  <a:pt x="35013" y="290040"/>
                </a:cubicBezTo>
                <a:lnTo>
                  <a:pt x="97833" y="290040"/>
                </a:lnTo>
                <a:cubicBezTo>
                  <a:pt x="96022" y="285415"/>
                  <a:pt x="95020" y="280352"/>
                  <a:pt x="95020" y="275039"/>
                </a:cubicBezTo>
                <a:cubicBezTo>
                  <a:pt x="95020" y="248098"/>
                  <a:pt x="119647" y="230035"/>
                  <a:pt x="145026" y="230035"/>
                </a:cubicBezTo>
                <a:cubicBezTo>
                  <a:pt x="170405" y="230035"/>
                  <a:pt x="195033" y="248102"/>
                  <a:pt x="195033" y="275043"/>
                </a:cubicBezTo>
                <a:cubicBezTo>
                  <a:pt x="195033" y="280355"/>
                  <a:pt x="194031" y="285418"/>
                  <a:pt x="192219" y="290046"/>
                </a:cubicBezTo>
                <a:lnTo>
                  <a:pt x="225036" y="290046"/>
                </a:lnTo>
                <a:cubicBezTo>
                  <a:pt x="227785" y="290046"/>
                  <a:pt x="230039" y="287796"/>
                  <a:pt x="230039" y="285047"/>
                </a:cubicBezTo>
                <a:lnTo>
                  <a:pt x="230039" y="204224"/>
                </a:lnTo>
                <a:cubicBezTo>
                  <a:pt x="230039" y="193599"/>
                  <a:pt x="238664" y="185035"/>
                  <a:pt x="249228" y="185035"/>
                </a:cubicBezTo>
                <a:cubicBezTo>
                  <a:pt x="256167" y="185035"/>
                  <a:pt x="261918" y="188661"/>
                  <a:pt x="265230" y="193535"/>
                </a:cubicBezTo>
                <a:cubicBezTo>
                  <a:pt x="268667" y="198537"/>
                  <a:pt x="272357" y="200035"/>
                  <a:pt x="274982" y="200035"/>
                </a:cubicBezTo>
                <a:cubicBezTo>
                  <a:pt x="277481" y="200035"/>
                  <a:pt x="280919" y="198723"/>
                  <a:pt x="284170" y="194348"/>
                </a:cubicBezTo>
                <a:cubicBezTo>
                  <a:pt x="287422" y="189973"/>
                  <a:pt x="289982" y="183159"/>
                  <a:pt x="289982" y="175033"/>
                </a:cubicBezTo>
                <a:cubicBezTo>
                  <a:pt x="289982" y="166908"/>
                  <a:pt x="287483" y="160158"/>
                  <a:pt x="284170" y="155719"/>
                </a:cubicBezTo>
                <a:cubicBezTo>
                  <a:pt x="280858" y="151280"/>
                  <a:pt x="277481" y="150032"/>
                  <a:pt x="274982" y="150032"/>
                </a:cubicBezTo>
                <a:cubicBezTo>
                  <a:pt x="272357" y="150032"/>
                  <a:pt x="268667" y="151533"/>
                  <a:pt x="265230" y="156532"/>
                </a:cubicBezTo>
                <a:cubicBezTo>
                  <a:pt x="261918" y="161406"/>
                  <a:pt x="256103" y="165032"/>
                  <a:pt x="249228" y="165032"/>
                </a:cubicBezTo>
                <a:cubicBezTo>
                  <a:pt x="238603" y="165032"/>
                  <a:pt x="230039" y="156407"/>
                  <a:pt x="230039" y="145843"/>
                </a:cubicBezTo>
                <a:lnTo>
                  <a:pt x="230039" y="95023"/>
                </a:lnTo>
                <a:cubicBezTo>
                  <a:pt x="230039" y="92274"/>
                  <a:pt x="227789" y="90024"/>
                  <a:pt x="225040" y="90024"/>
                </a:cubicBezTo>
                <a:lnTo>
                  <a:pt x="174220" y="90024"/>
                </a:lnTo>
                <a:cubicBezTo>
                  <a:pt x="163595" y="90024"/>
                  <a:pt x="155031" y="81399"/>
                  <a:pt x="155031" y="70835"/>
                </a:cubicBezTo>
                <a:cubicBezTo>
                  <a:pt x="155031" y="63896"/>
                  <a:pt x="158657" y="58145"/>
                  <a:pt x="163531" y="54833"/>
                </a:cubicBezTo>
                <a:cubicBezTo>
                  <a:pt x="168533" y="51396"/>
                  <a:pt x="170031" y="47706"/>
                  <a:pt x="170031" y="45081"/>
                </a:cubicBezTo>
                <a:cubicBezTo>
                  <a:pt x="170031" y="42582"/>
                  <a:pt x="168719" y="39145"/>
                  <a:pt x="164344" y="35893"/>
                </a:cubicBezTo>
                <a:cubicBezTo>
                  <a:pt x="159969" y="32641"/>
                  <a:pt x="153155" y="30017"/>
                  <a:pt x="145030" y="30017"/>
                </a:cubicBezTo>
                <a:cubicBezTo>
                  <a:pt x="136904" y="30017"/>
                  <a:pt x="130154" y="32516"/>
                  <a:pt x="125715" y="35829"/>
                </a:cubicBezTo>
                <a:lnTo>
                  <a:pt x="125702" y="35816"/>
                </a:lnTo>
                <a:moveTo>
                  <a:pt x="107700" y="11813"/>
                </a:moveTo>
                <a:cubicBezTo>
                  <a:pt x="117826" y="4250"/>
                  <a:pt x="131015" y="0"/>
                  <a:pt x="145017" y="0"/>
                </a:cubicBezTo>
                <a:cubicBezTo>
                  <a:pt x="159018" y="0"/>
                  <a:pt x="172207" y="4250"/>
                  <a:pt x="182333" y="11813"/>
                </a:cubicBezTo>
                <a:cubicBezTo>
                  <a:pt x="192459" y="19375"/>
                  <a:pt x="200022" y="30941"/>
                  <a:pt x="200022" y="45004"/>
                </a:cubicBezTo>
                <a:cubicBezTo>
                  <a:pt x="200022" y="50381"/>
                  <a:pt x="198895" y="55444"/>
                  <a:pt x="196959" y="60008"/>
                </a:cubicBezTo>
                <a:lnTo>
                  <a:pt x="225027" y="60008"/>
                </a:lnTo>
                <a:cubicBezTo>
                  <a:pt x="244341" y="60008"/>
                  <a:pt x="260033" y="75696"/>
                  <a:pt x="260033" y="95014"/>
                </a:cubicBezTo>
                <a:lnTo>
                  <a:pt x="260033" y="123081"/>
                </a:lnTo>
                <a:cubicBezTo>
                  <a:pt x="264596" y="121145"/>
                  <a:pt x="269659" y="120018"/>
                  <a:pt x="275036" y="120018"/>
                </a:cubicBezTo>
                <a:cubicBezTo>
                  <a:pt x="289102" y="120018"/>
                  <a:pt x="300665" y="127645"/>
                  <a:pt x="308227" y="137707"/>
                </a:cubicBezTo>
                <a:cubicBezTo>
                  <a:pt x="315790" y="147772"/>
                  <a:pt x="320040" y="161022"/>
                  <a:pt x="320040" y="175024"/>
                </a:cubicBezTo>
                <a:cubicBezTo>
                  <a:pt x="320040" y="189025"/>
                  <a:pt x="315790" y="202214"/>
                  <a:pt x="308227" y="212340"/>
                </a:cubicBezTo>
                <a:cubicBezTo>
                  <a:pt x="300665" y="222466"/>
                  <a:pt x="289099" y="230029"/>
                  <a:pt x="275036" y="230029"/>
                </a:cubicBezTo>
                <a:cubicBezTo>
                  <a:pt x="269659" y="230029"/>
                  <a:pt x="264596" y="228902"/>
                  <a:pt x="260036" y="226966"/>
                </a:cubicBezTo>
                <a:lnTo>
                  <a:pt x="260036" y="285037"/>
                </a:lnTo>
                <a:cubicBezTo>
                  <a:pt x="260036" y="304352"/>
                  <a:pt x="244347" y="320043"/>
                  <a:pt x="225033" y="320043"/>
                </a:cubicBezTo>
                <a:lnTo>
                  <a:pt x="176214" y="320043"/>
                </a:lnTo>
                <a:cubicBezTo>
                  <a:pt x="164526" y="320043"/>
                  <a:pt x="155024" y="310541"/>
                  <a:pt x="155024" y="298853"/>
                </a:cubicBezTo>
                <a:cubicBezTo>
                  <a:pt x="155024" y="292539"/>
                  <a:pt x="157837" y="287290"/>
                  <a:pt x="161214" y="283725"/>
                </a:cubicBezTo>
                <a:cubicBezTo>
                  <a:pt x="163838" y="281037"/>
                  <a:pt x="165025" y="277974"/>
                  <a:pt x="165025" y="275036"/>
                </a:cubicBezTo>
                <a:cubicBezTo>
                  <a:pt x="165025" y="268847"/>
                  <a:pt x="158337" y="260036"/>
                  <a:pt x="145023" y="260036"/>
                </a:cubicBezTo>
                <a:cubicBezTo>
                  <a:pt x="131709" y="260036"/>
                  <a:pt x="125020" y="268850"/>
                  <a:pt x="125020" y="275039"/>
                </a:cubicBezTo>
                <a:cubicBezTo>
                  <a:pt x="125020" y="277977"/>
                  <a:pt x="126208" y="280976"/>
                  <a:pt x="128832" y="283728"/>
                </a:cubicBezTo>
                <a:cubicBezTo>
                  <a:pt x="132269" y="287290"/>
                  <a:pt x="135022" y="292542"/>
                  <a:pt x="135022" y="298857"/>
                </a:cubicBezTo>
                <a:cubicBezTo>
                  <a:pt x="135022" y="310545"/>
                  <a:pt x="125520" y="320047"/>
                  <a:pt x="113832" y="320047"/>
                </a:cubicBezTo>
                <a:lnTo>
                  <a:pt x="35009" y="320047"/>
                </a:lnTo>
                <a:cubicBezTo>
                  <a:pt x="15695" y="320047"/>
                  <a:pt x="6" y="304358"/>
                  <a:pt x="6" y="285044"/>
                </a:cubicBezTo>
                <a:lnTo>
                  <a:pt x="6" y="206221"/>
                </a:lnTo>
                <a:cubicBezTo>
                  <a:pt x="6" y="194533"/>
                  <a:pt x="9508" y="185031"/>
                  <a:pt x="21196" y="185031"/>
                </a:cubicBezTo>
                <a:cubicBezTo>
                  <a:pt x="27511" y="185031"/>
                  <a:pt x="32759" y="187844"/>
                  <a:pt x="36325" y="191221"/>
                </a:cubicBezTo>
                <a:cubicBezTo>
                  <a:pt x="39013" y="193845"/>
                  <a:pt x="42076" y="195033"/>
                  <a:pt x="45014" y="195033"/>
                </a:cubicBezTo>
                <a:cubicBezTo>
                  <a:pt x="51203" y="195033"/>
                  <a:pt x="60017" y="188344"/>
                  <a:pt x="60017" y="175030"/>
                </a:cubicBezTo>
                <a:cubicBezTo>
                  <a:pt x="60017" y="161716"/>
                  <a:pt x="51203" y="155028"/>
                  <a:pt x="45017" y="155028"/>
                </a:cubicBezTo>
                <a:cubicBezTo>
                  <a:pt x="42079" y="155028"/>
                  <a:pt x="39080" y="156215"/>
                  <a:pt x="36328" y="158839"/>
                </a:cubicBezTo>
                <a:cubicBezTo>
                  <a:pt x="32766" y="162216"/>
                  <a:pt x="27514" y="165029"/>
                  <a:pt x="21200" y="165029"/>
                </a:cubicBezTo>
                <a:cubicBezTo>
                  <a:pt x="9512" y="165029"/>
                  <a:pt x="10" y="155527"/>
                  <a:pt x="10" y="143839"/>
                </a:cubicBezTo>
                <a:lnTo>
                  <a:pt x="10" y="95020"/>
                </a:lnTo>
                <a:cubicBezTo>
                  <a:pt x="10" y="75706"/>
                  <a:pt x="15698" y="60017"/>
                  <a:pt x="35016" y="60017"/>
                </a:cubicBezTo>
                <a:lnTo>
                  <a:pt x="93087" y="60017"/>
                </a:lnTo>
                <a:cubicBezTo>
                  <a:pt x="91151" y="55454"/>
                  <a:pt x="90024" y="50390"/>
                  <a:pt x="90024" y="45017"/>
                </a:cubicBezTo>
                <a:cubicBezTo>
                  <a:pt x="90024" y="30951"/>
                  <a:pt x="97651" y="19388"/>
                  <a:pt x="107713" y="11826"/>
                </a:cubicBezTo>
                <a:lnTo>
                  <a:pt x="107700" y="11813"/>
                </a:lnTo>
              </a:path>
            </a:pathLst>
          </a:custGeom>
          <a:solidFill>
            <a:srgbClr val="FFFFFF"/>
          </a:solidFill>
          <a:ln/>
        </p:spPr>
        <p:txBody>
          <a:bodyPr wrap="square" lIns="0" tIns="0" rIns="0" bIns="0" rtlCol="0" anchor="ctr"/>
          <a:lstStyle/>
          <a:p>
            <a:pPr indent="0" marL="0">
              <a:buNone/>
            </a:pPr>
            <a:endParaRPr lang="en-US" dirty="0"/>
          </a:p>
        </p:txBody>
      </p:sp>
      <p:sp>
        <p:nvSpPr>
          <p:cNvPr id="34" name="Text 32"/>
          <p:cNvSpPr/>
          <p:nvPr/>
        </p:nvSpPr>
        <p:spPr>
          <a:xfrm>
            <a:off x="6539105" y="3480481"/>
            <a:ext cx="320040" cy="280027"/>
          </a:xfrm>
          <a:custGeom>
            <a:avLst/>
            <a:gdLst/>
            <a:ahLst/>
            <a:cxnLst/>
            <a:rect l="l" t="t" r="r" b="b"/>
            <a:pathLst>
              <a:path w="320040" h="280027">
                <a:moveTo>
                  <a:pt x="77322" y="224534"/>
                </a:moveTo>
                <a:cubicBezTo>
                  <a:pt x="85383" y="218659"/>
                  <a:pt x="95820" y="217161"/>
                  <a:pt x="105194" y="220535"/>
                </a:cubicBezTo>
                <a:cubicBezTo>
                  <a:pt x="121753" y="226533"/>
                  <a:pt x="140315" y="229972"/>
                  <a:pt x="160062" y="229972"/>
                </a:cubicBezTo>
                <a:cubicBezTo>
                  <a:pt x="237988" y="229972"/>
                  <a:pt x="290046" y="179665"/>
                  <a:pt x="290046" y="129985"/>
                </a:cubicBezTo>
                <a:cubicBezTo>
                  <a:pt x="290046" y="80303"/>
                  <a:pt x="237991" y="29999"/>
                  <a:pt x="160062" y="29999"/>
                </a:cubicBezTo>
                <a:cubicBezTo>
                  <a:pt x="82135" y="29999"/>
                  <a:pt x="30077" y="80306"/>
                  <a:pt x="30077" y="129985"/>
                </a:cubicBezTo>
                <a:cubicBezTo>
                  <a:pt x="30077" y="149982"/>
                  <a:pt x="37825" y="169231"/>
                  <a:pt x="52387" y="185728"/>
                </a:cubicBezTo>
                <a:cubicBezTo>
                  <a:pt x="57761" y="191790"/>
                  <a:pt x="60385" y="199788"/>
                  <a:pt x="59761" y="207911"/>
                </a:cubicBezTo>
                <a:cubicBezTo>
                  <a:pt x="58887" y="219222"/>
                  <a:pt x="56199" y="229597"/>
                  <a:pt x="52701" y="238781"/>
                </a:cubicBezTo>
                <a:cubicBezTo>
                  <a:pt x="63323" y="233845"/>
                  <a:pt x="72137" y="228345"/>
                  <a:pt x="77322" y="224595"/>
                </a:cubicBezTo>
                <a:lnTo>
                  <a:pt x="77322" y="224534"/>
                </a:lnTo>
                <a:moveTo>
                  <a:pt x="13330" y="249904"/>
                </a:moveTo>
                <a:cubicBezTo>
                  <a:pt x="14453" y="248215"/>
                  <a:pt x="15516" y="246530"/>
                  <a:pt x="16517" y="244841"/>
                </a:cubicBezTo>
                <a:cubicBezTo>
                  <a:pt x="22768" y="234466"/>
                  <a:pt x="28704" y="220843"/>
                  <a:pt x="29892" y="205534"/>
                </a:cubicBezTo>
                <a:cubicBezTo>
                  <a:pt x="11144" y="184224"/>
                  <a:pt x="83" y="158165"/>
                  <a:pt x="83" y="129980"/>
                </a:cubicBezTo>
                <a:cubicBezTo>
                  <a:pt x="83" y="58175"/>
                  <a:pt x="71699" y="-3"/>
                  <a:pt x="160062" y="-3"/>
                </a:cubicBezTo>
                <a:cubicBezTo>
                  <a:pt x="248425" y="-3"/>
                  <a:pt x="320040" y="58178"/>
                  <a:pt x="320040" y="129980"/>
                </a:cubicBezTo>
                <a:cubicBezTo>
                  <a:pt x="320040" y="201784"/>
                  <a:pt x="248425" y="259963"/>
                  <a:pt x="160062" y="259963"/>
                </a:cubicBezTo>
                <a:cubicBezTo>
                  <a:pt x="136878" y="259963"/>
                  <a:pt x="114878" y="255964"/>
                  <a:pt x="95007" y="248776"/>
                </a:cubicBezTo>
                <a:cubicBezTo>
                  <a:pt x="87569" y="254214"/>
                  <a:pt x="75446" y="261648"/>
                  <a:pt x="61073" y="267899"/>
                </a:cubicBezTo>
                <a:cubicBezTo>
                  <a:pt x="51638" y="272023"/>
                  <a:pt x="40888" y="275773"/>
                  <a:pt x="29764" y="277960"/>
                </a:cubicBezTo>
                <a:cubicBezTo>
                  <a:pt x="29264" y="278086"/>
                  <a:pt x="28765" y="278148"/>
                  <a:pt x="28263" y="278274"/>
                </a:cubicBezTo>
                <a:cubicBezTo>
                  <a:pt x="25514" y="278775"/>
                  <a:pt x="22825" y="279212"/>
                  <a:pt x="20015" y="279461"/>
                </a:cubicBezTo>
                <a:cubicBezTo>
                  <a:pt x="19891" y="279461"/>
                  <a:pt x="19702" y="279523"/>
                  <a:pt x="19577" y="279523"/>
                </a:cubicBezTo>
                <a:cubicBezTo>
                  <a:pt x="16389" y="279836"/>
                  <a:pt x="13202" y="280024"/>
                  <a:pt x="10014" y="280024"/>
                </a:cubicBezTo>
                <a:cubicBezTo>
                  <a:pt x="5953" y="280024"/>
                  <a:pt x="2327" y="277588"/>
                  <a:pt x="765" y="273838"/>
                </a:cubicBezTo>
                <a:cubicBezTo>
                  <a:pt x="-797" y="270088"/>
                  <a:pt x="77" y="265838"/>
                  <a:pt x="2890" y="262964"/>
                </a:cubicBezTo>
                <a:cubicBezTo>
                  <a:pt x="5454" y="260341"/>
                  <a:pt x="7764" y="257526"/>
                  <a:pt x="9950" y="254527"/>
                </a:cubicBezTo>
                <a:cubicBezTo>
                  <a:pt x="11013" y="253091"/>
                  <a:pt x="12011" y="251651"/>
                  <a:pt x="12949" y="250215"/>
                </a:cubicBezTo>
                <a:lnTo>
                  <a:pt x="13138" y="249901"/>
                </a:lnTo>
                <a:lnTo>
                  <a:pt x="13330" y="249904"/>
                </a:lnTo>
              </a:path>
            </a:pathLst>
          </a:custGeom>
          <a:solidFill>
            <a:srgbClr val="FFFFFF"/>
          </a:solidFill>
          <a:ln/>
        </p:spPr>
        <p:txBody>
          <a:bodyPr wrap="square" lIns="0" tIns="0" rIns="0" bIns="0" rtlCol="0" anchor="ctr"/>
          <a:lstStyle/>
          <a:p>
            <a:pPr indent="0" marL="0">
              <a:buNone/>
            </a:pPr>
            <a:endParaRPr lang="en-US" dirty="0"/>
          </a:p>
        </p:txBody>
      </p:sp>
      <p:sp>
        <p:nvSpPr>
          <p:cNvPr id="35" name="Text 33"/>
          <p:cNvSpPr/>
          <p:nvPr/>
        </p:nvSpPr>
        <p:spPr>
          <a:xfrm>
            <a:off x="6539105" y="1929353"/>
            <a:ext cx="320040" cy="256505"/>
          </a:xfrm>
          <a:custGeom>
            <a:avLst/>
            <a:gdLst/>
            <a:ahLst/>
            <a:cxnLst/>
            <a:rect l="l" t="t" r="r" b="b"/>
            <a:pathLst>
              <a:path w="320040" h="256505">
                <a:moveTo>
                  <a:pt x="260493" y="24047"/>
                </a:moveTo>
                <a:lnTo>
                  <a:pt x="197020" y="24047"/>
                </a:lnTo>
                <a:cubicBezTo>
                  <a:pt x="190859" y="9870"/>
                  <a:pt x="176729" y="0"/>
                  <a:pt x="160298" y="0"/>
                </a:cubicBezTo>
                <a:cubicBezTo>
                  <a:pt x="143868" y="0"/>
                  <a:pt x="129738" y="9870"/>
                  <a:pt x="123577" y="24047"/>
                </a:cubicBezTo>
                <a:lnTo>
                  <a:pt x="60104" y="24047"/>
                </a:lnTo>
                <a:cubicBezTo>
                  <a:pt x="53440" y="24047"/>
                  <a:pt x="48080" y="29408"/>
                  <a:pt x="48080" y="36072"/>
                </a:cubicBezTo>
                <a:cubicBezTo>
                  <a:pt x="48080" y="42736"/>
                  <a:pt x="53440" y="48097"/>
                  <a:pt x="60104" y="48097"/>
                </a:cubicBezTo>
                <a:lnTo>
                  <a:pt x="121023" y="48097"/>
                </a:lnTo>
                <a:cubicBezTo>
                  <a:pt x="123929" y="62426"/>
                  <a:pt x="134500" y="73999"/>
                  <a:pt x="148278" y="78306"/>
                </a:cubicBezTo>
                <a:lnTo>
                  <a:pt x="148278" y="232460"/>
                </a:lnTo>
                <a:lnTo>
                  <a:pt x="60104" y="232460"/>
                </a:lnTo>
                <a:cubicBezTo>
                  <a:pt x="53440" y="232460"/>
                  <a:pt x="48080" y="237821"/>
                  <a:pt x="48080" y="244485"/>
                </a:cubicBezTo>
                <a:cubicBezTo>
                  <a:pt x="48080" y="251149"/>
                  <a:pt x="53440" y="256510"/>
                  <a:pt x="60104" y="256510"/>
                </a:cubicBezTo>
                <a:lnTo>
                  <a:pt x="160302" y="256510"/>
                </a:lnTo>
                <a:lnTo>
                  <a:pt x="260500" y="256510"/>
                </a:lnTo>
                <a:cubicBezTo>
                  <a:pt x="267163" y="256510"/>
                  <a:pt x="272524" y="251149"/>
                  <a:pt x="272524" y="244488"/>
                </a:cubicBezTo>
                <a:cubicBezTo>
                  <a:pt x="272524" y="237824"/>
                  <a:pt x="267163" y="232465"/>
                  <a:pt x="260500" y="232465"/>
                </a:cubicBezTo>
                <a:lnTo>
                  <a:pt x="172326" y="232465"/>
                </a:lnTo>
                <a:lnTo>
                  <a:pt x="172326" y="78311"/>
                </a:lnTo>
                <a:cubicBezTo>
                  <a:pt x="186103" y="74002"/>
                  <a:pt x="196674" y="62431"/>
                  <a:pt x="199580" y="48102"/>
                </a:cubicBezTo>
                <a:lnTo>
                  <a:pt x="260500" y="48102"/>
                </a:lnTo>
                <a:cubicBezTo>
                  <a:pt x="267163" y="48102"/>
                  <a:pt x="272524" y="42741"/>
                  <a:pt x="272524" y="36080"/>
                </a:cubicBezTo>
                <a:cubicBezTo>
                  <a:pt x="272524" y="29416"/>
                  <a:pt x="267163" y="24058"/>
                  <a:pt x="260500" y="24058"/>
                </a:cubicBezTo>
                <a:lnTo>
                  <a:pt x="260493" y="24047"/>
                </a:lnTo>
                <a:moveTo>
                  <a:pt x="256483" y="98093"/>
                </a:moveTo>
                <a:lnTo>
                  <a:pt x="292753" y="160315"/>
                </a:lnTo>
                <a:lnTo>
                  <a:pt x="220162" y="160315"/>
                </a:lnTo>
                <a:lnTo>
                  <a:pt x="256483" y="98093"/>
                </a:lnTo>
                <a:moveTo>
                  <a:pt x="193362" y="168883"/>
                </a:moveTo>
                <a:cubicBezTo>
                  <a:pt x="198774" y="191378"/>
                  <a:pt x="224975" y="208410"/>
                  <a:pt x="256486" y="208410"/>
                </a:cubicBezTo>
                <a:cubicBezTo>
                  <a:pt x="287998" y="208410"/>
                  <a:pt x="314199" y="191376"/>
                  <a:pt x="319611" y="168883"/>
                </a:cubicBezTo>
                <a:cubicBezTo>
                  <a:pt x="320914" y="163373"/>
                  <a:pt x="319109" y="157712"/>
                  <a:pt x="316254" y="152800"/>
                </a:cubicBezTo>
                <a:lnTo>
                  <a:pt x="268562" y="71039"/>
                </a:lnTo>
                <a:cubicBezTo>
                  <a:pt x="266056" y="66730"/>
                  <a:pt x="261447" y="64126"/>
                  <a:pt x="256486" y="64126"/>
                </a:cubicBezTo>
                <a:cubicBezTo>
                  <a:pt x="251526" y="64126"/>
                  <a:pt x="246917" y="66781"/>
                  <a:pt x="244411" y="71039"/>
                </a:cubicBezTo>
                <a:lnTo>
                  <a:pt x="196719" y="152851"/>
                </a:lnTo>
                <a:cubicBezTo>
                  <a:pt x="193864" y="157761"/>
                  <a:pt x="192059" y="163422"/>
                  <a:pt x="193362" y="168934"/>
                </a:cubicBezTo>
                <a:lnTo>
                  <a:pt x="193362" y="168883"/>
                </a:lnTo>
                <a:moveTo>
                  <a:pt x="27232" y="160316"/>
                </a:moveTo>
                <a:lnTo>
                  <a:pt x="63502" y="98093"/>
                </a:lnTo>
                <a:lnTo>
                  <a:pt x="99824" y="160316"/>
                </a:lnTo>
                <a:lnTo>
                  <a:pt x="27232" y="160316"/>
                </a:lnTo>
                <a:moveTo>
                  <a:pt x="63506" y="208410"/>
                </a:moveTo>
                <a:cubicBezTo>
                  <a:pt x="95017" y="208410"/>
                  <a:pt x="121218" y="191376"/>
                  <a:pt x="126630" y="168883"/>
                </a:cubicBezTo>
                <a:cubicBezTo>
                  <a:pt x="127933" y="163373"/>
                  <a:pt x="126128" y="157712"/>
                  <a:pt x="123273" y="152800"/>
                </a:cubicBezTo>
                <a:lnTo>
                  <a:pt x="75581" y="71039"/>
                </a:lnTo>
                <a:cubicBezTo>
                  <a:pt x="73075" y="66730"/>
                  <a:pt x="68466" y="64126"/>
                  <a:pt x="63506" y="64126"/>
                </a:cubicBezTo>
                <a:cubicBezTo>
                  <a:pt x="58545" y="64126"/>
                  <a:pt x="53936" y="66781"/>
                  <a:pt x="51430" y="71039"/>
                </a:cubicBezTo>
                <a:lnTo>
                  <a:pt x="3786" y="152851"/>
                </a:lnTo>
                <a:cubicBezTo>
                  <a:pt x="931" y="157761"/>
                  <a:pt x="-874" y="163422"/>
                  <a:pt x="429" y="168934"/>
                </a:cubicBezTo>
                <a:cubicBezTo>
                  <a:pt x="5841" y="191378"/>
                  <a:pt x="32042" y="208413"/>
                  <a:pt x="63502" y="208413"/>
                </a:cubicBezTo>
                <a:lnTo>
                  <a:pt x="63506" y="208410"/>
                </a:lnTo>
                <a:moveTo>
                  <a:pt x="160295" y="24047"/>
                </a:moveTo>
                <a:cubicBezTo>
                  <a:pt x="169151" y="24047"/>
                  <a:pt x="176326" y="31224"/>
                  <a:pt x="176326" y="40079"/>
                </a:cubicBezTo>
                <a:cubicBezTo>
                  <a:pt x="176326" y="48933"/>
                  <a:pt x="169148" y="56110"/>
                  <a:pt x="160295" y="56110"/>
                </a:cubicBezTo>
                <a:cubicBezTo>
                  <a:pt x="151440" y="56110"/>
                  <a:pt x="144265" y="48933"/>
                  <a:pt x="144265" y="40079"/>
                </a:cubicBezTo>
                <a:cubicBezTo>
                  <a:pt x="144265" y="31224"/>
                  <a:pt x="151443" y="24047"/>
                  <a:pt x="160295" y="24047"/>
                </a:cubicBezTo>
                <a:lnTo>
                  <a:pt x="160295" y="24047"/>
                </a:lnTo>
              </a:path>
            </a:pathLst>
          </a:custGeom>
          <a:solidFill>
            <a:srgbClr val="FFFFFF"/>
          </a:solidFill>
          <a:ln/>
        </p:spPr>
        <p:txBody>
          <a:bodyPr wrap="square" lIns="0" tIns="0" rIns="0" bIns="0" rtlCol="0" anchor="ctr"/>
          <a:lstStyle/>
          <a:p>
            <a:pPr indent="0" marL="0">
              <a:buNone/>
            </a:pPr>
            <a:endParaRPr lang="en-US" dirty="0"/>
          </a:p>
        </p:txBody>
      </p:sp>
      <p:sp>
        <p:nvSpPr>
          <p:cNvPr id="36" name="Text 34"/>
          <p:cNvSpPr/>
          <p:nvPr/>
        </p:nvSpPr>
        <p:spPr>
          <a:xfrm>
            <a:off x="844429" y="4910192"/>
            <a:ext cx="320040" cy="320040"/>
          </a:xfrm>
          <a:custGeom>
            <a:avLst/>
            <a:gdLst/>
            <a:ahLst/>
            <a:cxnLst/>
            <a:rect l="l" t="t" r="r" b="b"/>
            <a:pathLst>
              <a:path w="320040" h="320040">
                <a:moveTo>
                  <a:pt x="95948" y="48070"/>
                </a:moveTo>
                <a:cubicBezTo>
                  <a:pt x="94761" y="52320"/>
                  <a:pt x="91698" y="55821"/>
                  <a:pt x="87697" y="57633"/>
                </a:cubicBezTo>
                <a:cubicBezTo>
                  <a:pt x="77322" y="62321"/>
                  <a:pt x="70070" y="72697"/>
                  <a:pt x="70009" y="84823"/>
                </a:cubicBezTo>
                <a:cubicBezTo>
                  <a:pt x="69945" y="90511"/>
                  <a:pt x="66757" y="95638"/>
                  <a:pt x="61694" y="98137"/>
                </a:cubicBezTo>
                <a:cubicBezTo>
                  <a:pt x="51757" y="103075"/>
                  <a:pt x="45004" y="113265"/>
                  <a:pt x="45004" y="125014"/>
                </a:cubicBezTo>
                <a:cubicBezTo>
                  <a:pt x="45004" y="129453"/>
                  <a:pt x="45942" y="133578"/>
                  <a:pt x="47628" y="137329"/>
                </a:cubicBezTo>
                <a:cubicBezTo>
                  <a:pt x="50377" y="143394"/>
                  <a:pt x="48816" y="150457"/>
                  <a:pt x="43817" y="154832"/>
                </a:cubicBezTo>
                <a:cubicBezTo>
                  <a:pt x="35316" y="162145"/>
                  <a:pt x="30004" y="172959"/>
                  <a:pt x="30004" y="185025"/>
                </a:cubicBezTo>
                <a:cubicBezTo>
                  <a:pt x="30004" y="197650"/>
                  <a:pt x="35816" y="208839"/>
                  <a:pt x="44943" y="216216"/>
                </a:cubicBezTo>
                <a:cubicBezTo>
                  <a:pt x="49132" y="219592"/>
                  <a:pt x="51194" y="224966"/>
                  <a:pt x="50381" y="230282"/>
                </a:cubicBezTo>
                <a:cubicBezTo>
                  <a:pt x="50131" y="231843"/>
                  <a:pt x="50006" y="233408"/>
                  <a:pt x="50006" y="235031"/>
                </a:cubicBezTo>
                <a:cubicBezTo>
                  <a:pt x="50006" y="251347"/>
                  <a:pt x="63006" y="264596"/>
                  <a:pt x="79197" y="265035"/>
                </a:cubicBezTo>
                <a:cubicBezTo>
                  <a:pt x="84948" y="265224"/>
                  <a:pt x="90072" y="268597"/>
                  <a:pt x="92450" y="273849"/>
                </a:cubicBezTo>
                <a:cubicBezTo>
                  <a:pt x="96764" y="283411"/>
                  <a:pt x="106388" y="290039"/>
                  <a:pt x="117515" y="290039"/>
                </a:cubicBezTo>
                <a:cubicBezTo>
                  <a:pt x="132705" y="290039"/>
                  <a:pt x="145020" y="277724"/>
                  <a:pt x="145020" y="262535"/>
                </a:cubicBezTo>
                <a:lnTo>
                  <a:pt x="145020" y="55008"/>
                </a:lnTo>
                <a:cubicBezTo>
                  <a:pt x="145020" y="41196"/>
                  <a:pt x="133831" y="30007"/>
                  <a:pt x="120018" y="30007"/>
                </a:cubicBezTo>
                <a:cubicBezTo>
                  <a:pt x="108641" y="30007"/>
                  <a:pt x="98953" y="37634"/>
                  <a:pt x="95951" y="48073"/>
                </a:cubicBezTo>
                <a:lnTo>
                  <a:pt x="95948" y="48070"/>
                </a:lnTo>
                <a:moveTo>
                  <a:pt x="160020" y="301289"/>
                </a:moveTo>
                <a:cubicBezTo>
                  <a:pt x="149519" y="312852"/>
                  <a:pt x="134330" y="320040"/>
                  <a:pt x="117515" y="320040"/>
                </a:cubicBezTo>
                <a:cubicBezTo>
                  <a:pt x="97388" y="320040"/>
                  <a:pt x="79699" y="309725"/>
                  <a:pt x="69445" y="294101"/>
                </a:cubicBezTo>
                <a:cubicBezTo>
                  <a:pt x="41317" y="289102"/>
                  <a:pt x="20003" y="264535"/>
                  <a:pt x="20003" y="235031"/>
                </a:cubicBezTo>
                <a:cubicBezTo>
                  <a:pt x="20003" y="234717"/>
                  <a:pt x="20003" y="234343"/>
                  <a:pt x="20003" y="234029"/>
                </a:cubicBezTo>
                <a:cubicBezTo>
                  <a:pt x="7627" y="221404"/>
                  <a:pt x="0" y="204090"/>
                  <a:pt x="0" y="185025"/>
                </a:cubicBezTo>
                <a:cubicBezTo>
                  <a:pt x="0" y="167647"/>
                  <a:pt x="6314" y="151769"/>
                  <a:pt x="16751" y="139582"/>
                </a:cubicBezTo>
                <a:cubicBezTo>
                  <a:pt x="15624" y="134894"/>
                  <a:pt x="15000" y="130019"/>
                  <a:pt x="15000" y="125017"/>
                </a:cubicBezTo>
                <a:cubicBezTo>
                  <a:pt x="15000" y="104640"/>
                  <a:pt x="25190" y="86574"/>
                  <a:pt x="40690" y="75760"/>
                </a:cubicBezTo>
                <a:cubicBezTo>
                  <a:pt x="43503" y="57694"/>
                  <a:pt x="54317" y="42319"/>
                  <a:pt x="69381" y="33380"/>
                </a:cubicBezTo>
                <a:cubicBezTo>
                  <a:pt x="77821" y="13752"/>
                  <a:pt x="97321" y="0"/>
                  <a:pt x="120012" y="0"/>
                </a:cubicBezTo>
                <a:cubicBezTo>
                  <a:pt x="135764" y="0"/>
                  <a:pt x="150016" y="6625"/>
                  <a:pt x="160017" y="17253"/>
                </a:cubicBezTo>
                <a:cubicBezTo>
                  <a:pt x="170018" y="6628"/>
                  <a:pt x="184269" y="0"/>
                  <a:pt x="200022" y="0"/>
                </a:cubicBezTo>
                <a:cubicBezTo>
                  <a:pt x="222713" y="0"/>
                  <a:pt x="242216" y="13752"/>
                  <a:pt x="250591" y="33380"/>
                </a:cubicBezTo>
                <a:cubicBezTo>
                  <a:pt x="265656" y="42319"/>
                  <a:pt x="276531" y="57697"/>
                  <a:pt x="279283" y="75760"/>
                </a:cubicBezTo>
                <a:cubicBezTo>
                  <a:pt x="294846" y="86574"/>
                  <a:pt x="305037" y="104637"/>
                  <a:pt x="305037" y="125017"/>
                </a:cubicBezTo>
                <a:cubicBezTo>
                  <a:pt x="305037" y="130019"/>
                  <a:pt x="304412" y="134894"/>
                  <a:pt x="303286" y="139582"/>
                </a:cubicBezTo>
                <a:cubicBezTo>
                  <a:pt x="313726" y="151833"/>
                  <a:pt x="320037" y="167711"/>
                  <a:pt x="320037" y="185025"/>
                </a:cubicBezTo>
                <a:cubicBezTo>
                  <a:pt x="320037" y="204090"/>
                  <a:pt x="312410" y="221404"/>
                  <a:pt x="300034" y="234029"/>
                </a:cubicBezTo>
                <a:cubicBezTo>
                  <a:pt x="300034" y="234343"/>
                  <a:pt x="300034" y="234717"/>
                  <a:pt x="300034" y="235031"/>
                </a:cubicBezTo>
                <a:cubicBezTo>
                  <a:pt x="300034" y="264596"/>
                  <a:pt x="278720" y="289102"/>
                  <a:pt x="250591" y="294101"/>
                </a:cubicBezTo>
                <a:cubicBezTo>
                  <a:pt x="240340" y="309728"/>
                  <a:pt x="222652" y="320040"/>
                  <a:pt x="202521" y="320040"/>
                </a:cubicBezTo>
                <a:cubicBezTo>
                  <a:pt x="185706" y="320040"/>
                  <a:pt x="170517" y="312788"/>
                  <a:pt x="160017" y="301289"/>
                </a:cubicBezTo>
                <a:lnTo>
                  <a:pt x="160020" y="301289"/>
                </a:lnTo>
                <a:moveTo>
                  <a:pt x="175023" y="262532"/>
                </a:moveTo>
                <a:cubicBezTo>
                  <a:pt x="175023" y="277721"/>
                  <a:pt x="187339" y="290036"/>
                  <a:pt x="202528" y="290036"/>
                </a:cubicBezTo>
                <a:cubicBezTo>
                  <a:pt x="213655" y="290036"/>
                  <a:pt x="223279" y="283411"/>
                  <a:pt x="227593" y="273845"/>
                </a:cubicBezTo>
                <a:cubicBezTo>
                  <a:pt x="229968" y="268594"/>
                  <a:pt x="235095" y="265156"/>
                  <a:pt x="240846" y="265032"/>
                </a:cubicBezTo>
                <a:cubicBezTo>
                  <a:pt x="257037" y="264593"/>
                  <a:pt x="270037" y="251344"/>
                  <a:pt x="270037" y="235028"/>
                </a:cubicBezTo>
                <a:cubicBezTo>
                  <a:pt x="270037" y="233402"/>
                  <a:pt x="269912" y="231776"/>
                  <a:pt x="269663" y="230278"/>
                </a:cubicBezTo>
                <a:cubicBezTo>
                  <a:pt x="268789" y="224966"/>
                  <a:pt x="270914" y="219589"/>
                  <a:pt x="275100" y="216213"/>
                </a:cubicBezTo>
                <a:cubicBezTo>
                  <a:pt x="284228" y="208836"/>
                  <a:pt x="290039" y="197647"/>
                  <a:pt x="290039" y="185022"/>
                </a:cubicBezTo>
                <a:cubicBezTo>
                  <a:pt x="290039" y="172956"/>
                  <a:pt x="284727" y="162145"/>
                  <a:pt x="276227" y="154829"/>
                </a:cubicBezTo>
                <a:cubicBezTo>
                  <a:pt x="271228" y="150515"/>
                  <a:pt x="269662" y="143391"/>
                  <a:pt x="272415" y="137326"/>
                </a:cubicBezTo>
                <a:cubicBezTo>
                  <a:pt x="274101" y="133575"/>
                  <a:pt x="275039" y="129450"/>
                  <a:pt x="275039" y="125011"/>
                </a:cubicBezTo>
                <a:cubicBezTo>
                  <a:pt x="275039" y="113259"/>
                  <a:pt x="268290" y="103072"/>
                  <a:pt x="258349" y="98134"/>
                </a:cubicBezTo>
                <a:cubicBezTo>
                  <a:pt x="253286" y="95634"/>
                  <a:pt x="250034" y="90447"/>
                  <a:pt x="250034" y="84820"/>
                </a:cubicBezTo>
                <a:cubicBezTo>
                  <a:pt x="249970" y="72755"/>
                  <a:pt x="242721" y="62318"/>
                  <a:pt x="232346" y="57630"/>
                </a:cubicBezTo>
                <a:cubicBezTo>
                  <a:pt x="228345" y="55818"/>
                  <a:pt x="225283" y="52317"/>
                  <a:pt x="224095" y="48067"/>
                </a:cubicBezTo>
                <a:cubicBezTo>
                  <a:pt x="221096" y="37627"/>
                  <a:pt x="211406" y="30001"/>
                  <a:pt x="200028" y="30001"/>
                </a:cubicBezTo>
                <a:cubicBezTo>
                  <a:pt x="186215" y="30001"/>
                  <a:pt x="175027" y="41189"/>
                  <a:pt x="175027" y="55005"/>
                </a:cubicBezTo>
                <a:lnTo>
                  <a:pt x="175023" y="262532"/>
                </a:lnTo>
              </a:path>
            </a:pathLst>
          </a:custGeom>
          <a:solidFill>
            <a:srgbClr val="FFFFFF"/>
          </a:solidFill>
          <a:ln/>
        </p:spPr>
        <p:txBody>
          <a:bodyPr wrap="square" lIns="0" tIns="0" rIns="0" bIns="0" rtlCol="0" anchor="ctr"/>
          <a:lstStyle/>
          <a:p>
            <a:pPr indent="0" marL="0">
              <a:buNone/>
            </a:pPr>
            <a:endParaRPr lang="en-US" dirty="0"/>
          </a:p>
        </p:txBody>
      </p:sp>
      <p:sp>
        <p:nvSpPr>
          <p:cNvPr id="37" name="Text 35"/>
          <p:cNvSpPr/>
          <p:nvPr/>
        </p:nvSpPr>
        <p:spPr>
          <a:xfrm>
            <a:off x="894435" y="3460474"/>
            <a:ext cx="220028" cy="320040"/>
          </a:xfrm>
          <a:custGeom>
            <a:avLst/>
            <a:gdLst/>
            <a:ahLst/>
            <a:cxnLst/>
            <a:rect l="l" t="t" r="r" b="b"/>
            <a:pathLst>
              <a:path w="220028" h="320040">
                <a:moveTo>
                  <a:pt x="175771" y="155581"/>
                </a:moveTo>
                <a:cubicBezTo>
                  <a:pt x="184773" y="142706"/>
                  <a:pt x="190022" y="127014"/>
                  <a:pt x="190022" y="110014"/>
                </a:cubicBezTo>
                <a:cubicBezTo>
                  <a:pt x="190022" y="65819"/>
                  <a:pt x="154206" y="30004"/>
                  <a:pt x="110012" y="30004"/>
                </a:cubicBezTo>
                <a:cubicBezTo>
                  <a:pt x="65819" y="30004"/>
                  <a:pt x="30001" y="65819"/>
                  <a:pt x="30001" y="110014"/>
                </a:cubicBezTo>
                <a:cubicBezTo>
                  <a:pt x="30001" y="127014"/>
                  <a:pt x="35251" y="142706"/>
                  <a:pt x="44252" y="155581"/>
                </a:cubicBezTo>
                <a:cubicBezTo>
                  <a:pt x="46565" y="158893"/>
                  <a:pt x="49315" y="162644"/>
                  <a:pt x="52252" y="166645"/>
                </a:cubicBezTo>
                <a:lnTo>
                  <a:pt x="52252" y="166645"/>
                </a:lnTo>
                <a:cubicBezTo>
                  <a:pt x="60316" y="177709"/>
                  <a:pt x="69943" y="190961"/>
                  <a:pt x="77131" y="204026"/>
                </a:cubicBezTo>
                <a:cubicBezTo>
                  <a:pt x="83633" y="215902"/>
                  <a:pt x="86944" y="228278"/>
                  <a:pt x="88570" y="239966"/>
                </a:cubicBezTo>
                <a:lnTo>
                  <a:pt x="58129" y="240030"/>
                </a:lnTo>
                <a:cubicBezTo>
                  <a:pt x="56754" y="232528"/>
                  <a:pt x="54442" y="225215"/>
                  <a:pt x="50754" y="218466"/>
                </a:cubicBezTo>
                <a:cubicBezTo>
                  <a:pt x="44565" y="207213"/>
                  <a:pt x="36877" y="196652"/>
                  <a:pt x="29189" y="186087"/>
                </a:cubicBezTo>
                <a:lnTo>
                  <a:pt x="29189" y="186087"/>
                </a:lnTo>
                <a:lnTo>
                  <a:pt x="29189" y="186087"/>
                </a:lnTo>
                <a:cubicBezTo>
                  <a:pt x="25939" y="181648"/>
                  <a:pt x="22687" y="177213"/>
                  <a:pt x="19563" y="172710"/>
                </a:cubicBezTo>
                <a:cubicBezTo>
                  <a:pt x="7248" y="154957"/>
                  <a:pt x="-2" y="133329"/>
                  <a:pt x="-2" y="110014"/>
                </a:cubicBezTo>
                <a:cubicBezTo>
                  <a:pt x="-2" y="49257"/>
                  <a:pt x="49253" y="0"/>
                  <a:pt x="110012" y="0"/>
                </a:cubicBezTo>
                <a:cubicBezTo>
                  <a:pt x="170770" y="0"/>
                  <a:pt x="220025" y="49257"/>
                  <a:pt x="220025" y="110014"/>
                </a:cubicBezTo>
                <a:cubicBezTo>
                  <a:pt x="220025" y="133329"/>
                  <a:pt x="212776" y="154957"/>
                  <a:pt x="200399" y="172710"/>
                </a:cubicBezTo>
                <a:cubicBezTo>
                  <a:pt x="197275" y="177209"/>
                  <a:pt x="194023" y="181648"/>
                  <a:pt x="190773" y="186087"/>
                </a:cubicBezTo>
                <a:lnTo>
                  <a:pt x="190773" y="186087"/>
                </a:lnTo>
                <a:lnTo>
                  <a:pt x="190773" y="186087"/>
                </a:lnTo>
                <a:cubicBezTo>
                  <a:pt x="183085" y="196588"/>
                  <a:pt x="175395" y="207152"/>
                  <a:pt x="169208" y="218466"/>
                </a:cubicBezTo>
                <a:cubicBezTo>
                  <a:pt x="165520" y="225215"/>
                  <a:pt x="163208" y="232531"/>
                  <a:pt x="161833" y="240030"/>
                </a:cubicBezTo>
                <a:lnTo>
                  <a:pt x="131453" y="240030"/>
                </a:lnTo>
                <a:cubicBezTo>
                  <a:pt x="133079" y="228342"/>
                  <a:pt x="136391" y="215902"/>
                  <a:pt x="142893" y="204090"/>
                </a:cubicBezTo>
                <a:cubicBezTo>
                  <a:pt x="150081" y="191025"/>
                  <a:pt x="159707" y="177773"/>
                  <a:pt x="167771" y="166709"/>
                </a:cubicBezTo>
                <a:lnTo>
                  <a:pt x="167771" y="166709"/>
                </a:lnTo>
                <a:lnTo>
                  <a:pt x="167771" y="166709"/>
                </a:lnTo>
                <a:lnTo>
                  <a:pt x="167771" y="166709"/>
                </a:lnTo>
                <a:cubicBezTo>
                  <a:pt x="170709" y="162708"/>
                  <a:pt x="173397" y="158957"/>
                  <a:pt x="175710" y="155645"/>
                </a:cubicBezTo>
                <a:lnTo>
                  <a:pt x="175771" y="155581"/>
                </a:lnTo>
              </a:path>
              <a:path w="220028" h="320040">
                <a:moveTo>
                  <a:pt x="110014" y="80010"/>
                </a:moveTo>
                <a:cubicBezTo>
                  <a:pt x="93450" y="80010"/>
                  <a:pt x="80011" y="93448"/>
                  <a:pt x="80011" y="110014"/>
                </a:cubicBezTo>
                <a:cubicBezTo>
                  <a:pt x="80011" y="115515"/>
                  <a:pt x="75511" y="120015"/>
                  <a:pt x="70010" y="120015"/>
                </a:cubicBezTo>
                <a:cubicBezTo>
                  <a:pt x="64510" y="120015"/>
                  <a:pt x="60010" y="115515"/>
                  <a:pt x="60010" y="110014"/>
                </a:cubicBezTo>
                <a:cubicBezTo>
                  <a:pt x="60010" y="82385"/>
                  <a:pt x="82387" y="60008"/>
                  <a:pt x="110016" y="60008"/>
                </a:cubicBezTo>
                <a:cubicBezTo>
                  <a:pt x="115517" y="60008"/>
                  <a:pt x="120016" y="64507"/>
                  <a:pt x="120016" y="70009"/>
                </a:cubicBezTo>
                <a:cubicBezTo>
                  <a:pt x="120016" y="75510"/>
                  <a:pt x="115517" y="80010"/>
                  <a:pt x="110016" y="80010"/>
                </a:cubicBezTo>
                <a:lnTo>
                  <a:pt x="110014" y="80010"/>
                </a:lnTo>
              </a:path>
              <a:path w="220028" h="320040">
                <a:moveTo>
                  <a:pt x="110014" y="320040"/>
                </a:moveTo>
                <a:cubicBezTo>
                  <a:pt x="82385" y="320040"/>
                  <a:pt x="60008" y="297663"/>
                  <a:pt x="60008" y="270034"/>
                </a:cubicBezTo>
                <a:lnTo>
                  <a:pt x="60008" y="260033"/>
                </a:lnTo>
                <a:lnTo>
                  <a:pt x="160022" y="260033"/>
                </a:lnTo>
                <a:lnTo>
                  <a:pt x="160022" y="270034"/>
                </a:lnTo>
                <a:cubicBezTo>
                  <a:pt x="160022" y="297663"/>
                  <a:pt x="137645" y="320040"/>
                  <a:pt x="110016" y="320040"/>
                </a:cubicBezTo>
                <a:lnTo>
                  <a:pt x="110014" y="320040"/>
                </a:lnTo>
              </a:path>
            </a:pathLst>
          </a:custGeom>
          <a:solidFill>
            <a:srgbClr val="FFFFFF"/>
          </a:solidFill>
          <a:ln/>
        </p:spPr>
        <p:txBody>
          <a:bodyPr wrap="square" lIns="0" tIns="0" rIns="0" bIns="0" rtlCol="0" anchor="ctr"/>
          <a:lstStyle/>
          <a:p>
            <a:pPr indent="0" marL="0">
              <a:buNone/>
            </a:pPr>
            <a:endParaRPr lang="en-US" dirty="0"/>
          </a:p>
        </p:txBody>
      </p:sp>
      <p:sp>
        <p:nvSpPr>
          <p:cNvPr id="38" name="Text 36"/>
          <p:cNvSpPr/>
          <p:nvPr/>
        </p:nvSpPr>
        <p:spPr>
          <a:xfrm>
            <a:off x="844429" y="1933167"/>
            <a:ext cx="320040" cy="248877"/>
          </a:xfrm>
          <a:custGeom>
            <a:avLst/>
            <a:gdLst/>
            <a:ahLst/>
            <a:cxnLst/>
            <a:rect l="l" t="t" r="r" b="b"/>
            <a:pathLst>
              <a:path w="320040" h="248877">
                <a:moveTo>
                  <a:pt x="65887" y="26665"/>
                </a:moveTo>
                <a:cubicBezTo>
                  <a:pt x="59499" y="26665"/>
                  <a:pt x="53997" y="31052"/>
                  <a:pt x="52554" y="37274"/>
                </a:cubicBezTo>
                <a:lnTo>
                  <a:pt x="31722" y="126549"/>
                </a:lnTo>
                <a:cubicBezTo>
                  <a:pt x="45945" y="122216"/>
                  <a:pt x="60942" y="119993"/>
                  <a:pt x="75385" y="119993"/>
                </a:cubicBezTo>
                <a:cubicBezTo>
                  <a:pt x="97663" y="119993"/>
                  <a:pt x="121049" y="125327"/>
                  <a:pt x="141214" y="135160"/>
                </a:cubicBezTo>
                <a:cubicBezTo>
                  <a:pt x="144437" y="136770"/>
                  <a:pt x="146991" y="139214"/>
                  <a:pt x="148713" y="142216"/>
                </a:cubicBezTo>
                <a:lnTo>
                  <a:pt x="171266" y="142216"/>
                </a:lnTo>
                <a:cubicBezTo>
                  <a:pt x="172988" y="139217"/>
                  <a:pt x="175545" y="136773"/>
                  <a:pt x="178765" y="135160"/>
                </a:cubicBezTo>
                <a:cubicBezTo>
                  <a:pt x="198876" y="125272"/>
                  <a:pt x="222319" y="119993"/>
                  <a:pt x="244594" y="119993"/>
                </a:cubicBezTo>
                <a:cubicBezTo>
                  <a:pt x="259037" y="119993"/>
                  <a:pt x="274037" y="122271"/>
                  <a:pt x="288257" y="126549"/>
                </a:cubicBezTo>
                <a:lnTo>
                  <a:pt x="267425" y="37274"/>
                </a:lnTo>
                <a:cubicBezTo>
                  <a:pt x="265982" y="31052"/>
                  <a:pt x="260426" y="26665"/>
                  <a:pt x="254093" y="26665"/>
                </a:cubicBezTo>
                <a:cubicBezTo>
                  <a:pt x="252371" y="26665"/>
                  <a:pt x="250649" y="26998"/>
                  <a:pt x="248981" y="27665"/>
                </a:cubicBezTo>
                <a:lnTo>
                  <a:pt x="231594" y="34609"/>
                </a:lnTo>
                <a:cubicBezTo>
                  <a:pt x="224761" y="37332"/>
                  <a:pt x="216984" y="33997"/>
                  <a:pt x="214260" y="27165"/>
                </a:cubicBezTo>
                <a:cubicBezTo>
                  <a:pt x="211537" y="20331"/>
                  <a:pt x="214872" y="12553"/>
                  <a:pt x="221704" y="9833"/>
                </a:cubicBezTo>
                <a:lnTo>
                  <a:pt x="239092" y="2890"/>
                </a:lnTo>
                <a:cubicBezTo>
                  <a:pt x="243870" y="1001"/>
                  <a:pt x="248924" y="0"/>
                  <a:pt x="254093" y="0"/>
                </a:cubicBezTo>
                <a:cubicBezTo>
                  <a:pt x="272869" y="0"/>
                  <a:pt x="289147" y="12944"/>
                  <a:pt x="293425" y="31222"/>
                </a:cubicBezTo>
                <a:lnTo>
                  <a:pt x="317812" y="135660"/>
                </a:lnTo>
                <a:cubicBezTo>
                  <a:pt x="318757" y="139715"/>
                  <a:pt x="319422" y="143826"/>
                  <a:pt x="319758" y="147992"/>
                </a:cubicBezTo>
                <a:cubicBezTo>
                  <a:pt x="319925" y="148993"/>
                  <a:pt x="320037" y="150048"/>
                  <a:pt x="320037" y="151103"/>
                </a:cubicBezTo>
                <a:lnTo>
                  <a:pt x="320037" y="153993"/>
                </a:lnTo>
                <a:cubicBezTo>
                  <a:pt x="320037" y="154271"/>
                  <a:pt x="320037" y="154548"/>
                  <a:pt x="320037" y="154826"/>
                </a:cubicBezTo>
                <a:lnTo>
                  <a:pt x="320037" y="177770"/>
                </a:lnTo>
                <a:cubicBezTo>
                  <a:pt x="320037" y="177882"/>
                  <a:pt x="320037" y="177992"/>
                  <a:pt x="320037" y="178104"/>
                </a:cubicBezTo>
                <a:lnTo>
                  <a:pt x="320037" y="186660"/>
                </a:lnTo>
                <a:cubicBezTo>
                  <a:pt x="320037" y="221047"/>
                  <a:pt x="292206" y="248879"/>
                  <a:pt x="257818" y="248879"/>
                </a:cubicBezTo>
                <a:lnTo>
                  <a:pt x="233207" y="248879"/>
                </a:lnTo>
                <a:cubicBezTo>
                  <a:pt x="200207" y="248879"/>
                  <a:pt x="172930" y="223103"/>
                  <a:pt x="171100" y="190105"/>
                </a:cubicBezTo>
                <a:lnTo>
                  <a:pt x="170322" y="177773"/>
                </a:lnTo>
                <a:lnTo>
                  <a:pt x="149657" y="177773"/>
                </a:lnTo>
                <a:lnTo>
                  <a:pt x="148991" y="190105"/>
                </a:lnTo>
                <a:cubicBezTo>
                  <a:pt x="147157" y="223103"/>
                  <a:pt x="119880" y="248879"/>
                  <a:pt x="86827" y="248879"/>
                </a:cubicBezTo>
                <a:lnTo>
                  <a:pt x="62216" y="248879"/>
                </a:lnTo>
                <a:cubicBezTo>
                  <a:pt x="27827" y="248879"/>
                  <a:pt x="-3" y="221047"/>
                  <a:pt x="-3" y="186660"/>
                </a:cubicBezTo>
                <a:lnTo>
                  <a:pt x="-3" y="177773"/>
                </a:lnTo>
                <a:lnTo>
                  <a:pt x="-3" y="154829"/>
                </a:lnTo>
                <a:lnTo>
                  <a:pt x="-3" y="151106"/>
                </a:lnTo>
                <a:cubicBezTo>
                  <a:pt x="-3" y="150050"/>
                  <a:pt x="109" y="148995"/>
                  <a:pt x="275" y="147940"/>
                </a:cubicBezTo>
                <a:cubicBezTo>
                  <a:pt x="608" y="143828"/>
                  <a:pt x="1274" y="139717"/>
                  <a:pt x="2221" y="135663"/>
                </a:cubicBezTo>
                <a:lnTo>
                  <a:pt x="26608" y="31224"/>
                </a:lnTo>
                <a:cubicBezTo>
                  <a:pt x="30829" y="12947"/>
                  <a:pt x="47107" y="2"/>
                  <a:pt x="65883" y="2"/>
                </a:cubicBezTo>
                <a:cubicBezTo>
                  <a:pt x="70994" y="2"/>
                  <a:pt x="76105" y="1003"/>
                  <a:pt x="80884" y="2892"/>
                </a:cubicBezTo>
                <a:lnTo>
                  <a:pt x="98271" y="9836"/>
                </a:lnTo>
                <a:cubicBezTo>
                  <a:pt x="105104" y="12558"/>
                  <a:pt x="108439" y="20336"/>
                  <a:pt x="105715" y="27167"/>
                </a:cubicBezTo>
                <a:cubicBezTo>
                  <a:pt x="102992" y="34002"/>
                  <a:pt x="95215" y="37334"/>
                  <a:pt x="88382" y="34611"/>
                </a:cubicBezTo>
                <a:lnTo>
                  <a:pt x="70994" y="27668"/>
                </a:lnTo>
                <a:cubicBezTo>
                  <a:pt x="69384" y="27001"/>
                  <a:pt x="67663" y="26667"/>
                  <a:pt x="65883" y="26667"/>
                </a:cubicBezTo>
                <a:lnTo>
                  <a:pt x="65887" y="26665"/>
                </a:lnTo>
                <a:moveTo>
                  <a:pt x="26666" y="177770"/>
                </a:moveTo>
                <a:lnTo>
                  <a:pt x="26666" y="186658"/>
                </a:lnTo>
                <a:cubicBezTo>
                  <a:pt x="26666" y="206267"/>
                  <a:pt x="42610" y="222212"/>
                  <a:pt x="62219" y="222212"/>
                </a:cubicBezTo>
                <a:lnTo>
                  <a:pt x="86830" y="222212"/>
                </a:lnTo>
                <a:cubicBezTo>
                  <a:pt x="105719" y="222212"/>
                  <a:pt x="121273" y="207491"/>
                  <a:pt x="122329" y="188604"/>
                </a:cubicBezTo>
                <a:lnTo>
                  <a:pt x="124105" y="156661"/>
                </a:lnTo>
                <a:cubicBezTo>
                  <a:pt x="108938" y="150160"/>
                  <a:pt x="91717" y="146661"/>
                  <a:pt x="75385" y="146661"/>
                </a:cubicBezTo>
                <a:cubicBezTo>
                  <a:pt x="58996" y="146661"/>
                  <a:pt x="41775" y="150217"/>
                  <a:pt x="26666" y="156770"/>
                </a:cubicBezTo>
                <a:lnTo>
                  <a:pt x="26666" y="177770"/>
                </a:lnTo>
                <a:moveTo>
                  <a:pt x="244600" y="146661"/>
                </a:moveTo>
                <a:cubicBezTo>
                  <a:pt x="228269" y="146661"/>
                  <a:pt x="211047" y="150160"/>
                  <a:pt x="195880" y="156661"/>
                </a:cubicBezTo>
                <a:lnTo>
                  <a:pt x="197657" y="188604"/>
                </a:lnTo>
                <a:cubicBezTo>
                  <a:pt x="198713" y="207436"/>
                  <a:pt x="214267" y="222212"/>
                  <a:pt x="233156" y="222212"/>
                </a:cubicBezTo>
                <a:lnTo>
                  <a:pt x="257767" y="222212"/>
                </a:lnTo>
                <a:cubicBezTo>
                  <a:pt x="277375" y="222212"/>
                  <a:pt x="293320" y="206269"/>
                  <a:pt x="293320" y="186658"/>
                </a:cubicBezTo>
                <a:lnTo>
                  <a:pt x="293320" y="156770"/>
                </a:lnTo>
                <a:cubicBezTo>
                  <a:pt x="278211" y="150215"/>
                  <a:pt x="260989" y="146661"/>
                  <a:pt x="244600" y="146661"/>
                </a:cubicBezTo>
                <a:lnTo>
                  <a:pt x="244600" y="146661"/>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AI processes and triages alerts automatically, enriching them with context and correlating related events into prioritized incidents. Analysts focus their efforts on critical threats identified by AI, reviewing and modifying AI-recommended responses. This frees analysts to work smarter and address important threats effectively.</a:t>
            </a:r>
            <a:endParaRPr lang="en-US" sz="1885" dirty="0"/>
          </a:p>
        </p:txBody>
      </p:sp>
      <p:sp>
        <p:nvSpPr>
          <p:cNvPr id="9" name="Text 7"/>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AI-Augmented Analyst Workflow</a:t>
            </a:r>
            <a:endParaRPr lang="en-US" sz="2320" dirty="0"/>
          </a:p>
        </p:txBody>
      </p:sp>
      <p:sp>
        <p:nvSpPr>
          <p:cNvPr id="10" name="Text 8"/>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450"/>
              </a:spcBef>
              <a:buNone/>
            </a:pPr>
            <a:r>
              <a:rPr lang="en-US" sz="1885" dirty="0">
                <a:solidFill>
                  <a:srgbClr val="FFFFFF"/>
                </a:solidFill>
                <a:latin typeface="Figtree Regular" pitchFamily="34" charset="0"/>
                <a:ea typeface="Figtree Regular" pitchFamily="34" charset="-122"/>
                <a:cs typeface="Figtree Regular" pitchFamily="34" charset="-120"/>
              </a:rPr>
              <a:t>Analysts receive a high volume of alerts overnight and spend hours triaging each one manually. They investigate a small fraction deeply while many alerts are ignored or reviewed cursory. This leads to missed subtle patterns, exhaustion, and the risk of overlooked threats due to volume and fatigue.</a:t>
            </a:r>
            <a:endParaRPr lang="en-US" sz="1885" dirty="0"/>
          </a:p>
        </p:txBody>
      </p:sp>
      <p:sp>
        <p:nvSpPr>
          <p:cNvPr id="11" name="Text 9"/>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Traditional Analyst Workflow</a:t>
            </a:r>
            <a:endParaRPr lang="en-US" sz="2320" dirty="0"/>
          </a:p>
        </p:txBody>
      </p:sp>
      <p:sp>
        <p:nvSpPr>
          <p:cNvPr id="12" name="Text 10"/>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6613240" y="1786294"/>
            <a:ext cx="274320" cy="219456"/>
          </a:xfrm>
          <a:custGeom>
            <a:avLst/>
            <a:gdLst/>
            <a:ahLst/>
            <a:cxnLst/>
            <a:rect l="l" t="t" r="r" b="b"/>
            <a:pathLst>
              <a:path w="274320" h="219456">
                <a:moveTo>
                  <a:pt x="137160" y="0"/>
                </a:moveTo>
                <a:cubicBezTo>
                  <a:pt x="142860" y="0"/>
                  <a:pt x="147447" y="4587"/>
                  <a:pt x="147447" y="10288"/>
                </a:cubicBezTo>
                <a:lnTo>
                  <a:pt x="147447" y="41150"/>
                </a:lnTo>
                <a:lnTo>
                  <a:pt x="192024" y="41150"/>
                </a:lnTo>
                <a:cubicBezTo>
                  <a:pt x="214740" y="41150"/>
                  <a:pt x="233172" y="59580"/>
                  <a:pt x="233172" y="82298"/>
                </a:cubicBezTo>
                <a:lnTo>
                  <a:pt x="233172" y="178310"/>
                </a:lnTo>
                <a:cubicBezTo>
                  <a:pt x="233172" y="201028"/>
                  <a:pt x="214740" y="219458"/>
                  <a:pt x="192024" y="219458"/>
                </a:cubicBezTo>
                <a:lnTo>
                  <a:pt x="82296" y="219458"/>
                </a:lnTo>
                <a:cubicBezTo>
                  <a:pt x="59580" y="219458"/>
                  <a:pt x="41148" y="201028"/>
                  <a:pt x="41148" y="178310"/>
                </a:cubicBezTo>
                <a:lnTo>
                  <a:pt x="41148" y="82298"/>
                </a:lnTo>
                <a:cubicBezTo>
                  <a:pt x="41148" y="59580"/>
                  <a:pt x="59580" y="41150"/>
                  <a:pt x="82296" y="41150"/>
                </a:cubicBezTo>
                <a:lnTo>
                  <a:pt x="126873" y="41150"/>
                </a:lnTo>
                <a:lnTo>
                  <a:pt x="126873" y="10290"/>
                </a:lnTo>
                <a:cubicBezTo>
                  <a:pt x="126873" y="4589"/>
                  <a:pt x="131460" y="5"/>
                  <a:pt x="137160" y="5"/>
                </a:cubicBezTo>
                <a:lnTo>
                  <a:pt x="137160" y="0"/>
                </a:lnTo>
                <a:moveTo>
                  <a:pt x="82296" y="61722"/>
                </a:moveTo>
                <a:cubicBezTo>
                  <a:pt x="70936" y="61722"/>
                  <a:pt x="61722" y="70937"/>
                  <a:pt x="61722" y="82296"/>
                </a:cubicBezTo>
                <a:lnTo>
                  <a:pt x="61722" y="178308"/>
                </a:lnTo>
                <a:cubicBezTo>
                  <a:pt x="61722" y="189667"/>
                  <a:pt x="70936" y="198882"/>
                  <a:pt x="82296" y="198882"/>
                </a:cubicBezTo>
                <a:lnTo>
                  <a:pt x="192024" y="198882"/>
                </a:lnTo>
                <a:cubicBezTo>
                  <a:pt x="203384" y="198882"/>
                  <a:pt x="212598" y="189667"/>
                  <a:pt x="212598" y="178308"/>
                </a:cubicBezTo>
                <a:lnTo>
                  <a:pt x="212598" y="82296"/>
                </a:lnTo>
                <a:cubicBezTo>
                  <a:pt x="212598" y="70937"/>
                  <a:pt x="203384" y="61722"/>
                  <a:pt x="192024" y="61722"/>
                </a:cubicBezTo>
                <a:lnTo>
                  <a:pt x="137160" y="61722"/>
                </a:lnTo>
                <a:lnTo>
                  <a:pt x="82296" y="61722"/>
                </a:lnTo>
                <a:moveTo>
                  <a:pt x="20574" y="96012"/>
                </a:moveTo>
                <a:lnTo>
                  <a:pt x="27432" y="96012"/>
                </a:lnTo>
                <a:lnTo>
                  <a:pt x="27432" y="178308"/>
                </a:lnTo>
                <a:lnTo>
                  <a:pt x="20574" y="178308"/>
                </a:lnTo>
                <a:cubicBezTo>
                  <a:pt x="9214" y="178308"/>
                  <a:pt x="0" y="169093"/>
                  <a:pt x="0" y="157734"/>
                </a:cubicBezTo>
                <a:lnTo>
                  <a:pt x="0" y="116586"/>
                </a:lnTo>
                <a:cubicBezTo>
                  <a:pt x="0" y="105227"/>
                  <a:pt x="9214" y="96012"/>
                  <a:pt x="20574" y="96012"/>
                </a:cubicBezTo>
                <a:lnTo>
                  <a:pt x="20574" y="96012"/>
                </a:lnTo>
                <a:moveTo>
                  <a:pt x="253746" y="96012"/>
                </a:moveTo>
                <a:cubicBezTo>
                  <a:pt x="265106" y="96012"/>
                  <a:pt x="274320" y="105227"/>
                  <a:pt x="274320" y="116586"/>
                </a:cubicBezTo>
                <a:lnTo>
                  <a:pt x="274320" y="157734"/>
                </a:lnTo>
                <a:cubicBezTo>
                  <a:pt x="274320" y="169093"/>
                  <a:pt x="265106" y="178308"/>
                  <a:pt x="253746" y="178308"/>
                </a:cubicBezTo>
                <a:lnTo>
                  <a:pt x="246888" y="178308"/>
                </a:lnTo>
                <a:lnTo>
                  <a:pt x="246888" y="96012"/>
                </a:lnTo>
                <a:lnTo>
                  <a:pt x="253746" y="96012"/>
                </a:lnTo>
                <a:moveTo>
                  <a:pt x="89154" y="164592"/>
                </a:moveTo>
                <a:lnTo>
                  <a:pt x="102870" y="164592"/>
                </a:lnTo>
                <a:cubicBezTo>
                  <a:pt x="106642" y="164592"/>
                  <a:pt x="109728" y="167678"/>
                  <a:pt x="109728" y="171450"/>
                </a:cubicBezTo>
                <a:cubicBezTo>
                  <a:pt x="109728" y="175222"/>
                  <a:pt x="106642" y="178308"/>
                  <a:pt x="102870" y="178308"/>
                </a:cubicBezTo>
                <a:lnTo>
                  <a:pt x="89154" y="178308"/>
                </a:lnTo>
                <a:cubicBezTo>
                  <a:pt x="85382" y="178308"/>
                  <a:pt x="82296" y="175222"/>
                  <a:pt x="82296" y="171450"/>
                </a:cubicBezTo>
                <a:cubicBezTo>
                  <a:pt x="82296" y="167678"/>
                  <a:pt x="85382" y="164592"/>
                  <a:pt x="89154" y="164592"/>
                </a:cubicBezTo>
                <a:moveTo>
                  <a:pt x="130302" y="164592"/>
                </a:moveTo>
                <a:lnTo>
                  <a:pt x="144018" y="164592"/>
                </a:lnTo>
                <a:cubicBezTo>
                  <a:pt x="147790" y="164592"/>
                  <a:pt x="150876" y="167678"/>
                  <a:pt x="150876" y="171450"/>
                </a:cubicBezTo>
                <a:cubicBezTo>
                  <a:pt x="150876" y="175222"/>
                  <a:pt x="147790" y="178308"/>
                  <a:pt x="144018" y="178308"/>
                </a:cubicBezTo>
                <a:lnTo>
                  <a:pt x="130302" y="178308"/>
                </a:lnTo>
                <a:cubicBezTo>
                  <a:pt x="126530" y="178308"/>
                  <a:pt x="123444" y="175222"/>
                  <a:pt x="123444" y="171450"/>
                </a:cubicBezTo>
                <a:cubicBezTo>
                  <a:pt x="123444" y="167678"/>
                  <a:pt x="126530" y="164592"/>
                  <a:pt x="130302" y="164592"/>
                </a:cubicBezTo>
                <a:moveTo>
                  <a:pt x="171450" y="164592"/>
                </a:moveTo>
                <a:lnTo>
                  <a:pt x="185166" y="164592"/>
                </a:lnTo>
                <a:cubicBezTo>
                  <a:pt x="188938" y="164592"/>
                  <a:pt x="192024" y="167678"/>
                  <a:pt x="192024" y="171450"/>
                </a:cubicBezTo>
                <a:cubicBezTo>
                  <a:pt x="192024" y="175222"/>
                  <a:pt x="188938" y="178308"/>
                  <a:pt x="185166" y="178308"/>
                </a:cubicBezTo>
                <a:lnTo>
                  <a:pt x="171450" y="178308"/>
                </a:lnTo>
                <a:cubicBezTo>
                  <a:pt x="167678" y="178308"/>
                  <a:pt x="164592" y="175222"/>
                  <a:pt x="164592" y="171450"/>
                </a:cubicBezTo>
                <a:cubicBezTo>
                  <a:pt x="164592" y="167678"/>
                  <a:pt x="167678" y="164592"/>
                  <a:pt x="171450" y="164592"/>
                </a:cubicBezTo>
                <a:moveTo>
                  <a:pt x="85725" y="109728"/>
                </a:moveTo>
                <a:cubicBezTo>
                  <a:pt x="85725" y="100258"/>
                  <a:pt x="93400" y="92584"/>
                  <a:pt x="102870" y="92584"/>
                </a:cubicBezTo>
                <a:cubicBezTo>
                  <a:pt x="112340" y="92584"/>
                  <a:pt x="120015" y="100261"/>
                  <a:pt x="120015" y="109730"/>
                </a:cubicBezTo>
                <a:cubicBezTo>
                  <a:pt x="120015" y="119200"/>
                  <a:pt x="112340" y="126876"/>
                  <a:pt x="102870" y="126876"/>
                </a:cubicBezTo>
                <a:cubicBezTo>
                  <a:pt x="93400" y="126876"/>
                  <a:pt x="85725" y="119200"/>
                  <a:pt x="85725" y="109733"/>
                </a:cubicBezTo>
                <a:lnTo>
                  <a:pt x="85725" y="109728"/>
                </a:lnTo>
                <a:moveTo>
                  <a:pt x="171450" y="92584"/>
                </a:moveTo>
                <a:cubicBezTo>
                  <a:pt x="180920" y="92584"/>
                  <a:pt x="188595" y="100261"/>
                  <a:pt x="188595" y="109730"/>
                </a:cubicBezTo>
                <a:cubicBezTo>
                  <a:pt x="188595" y="119200"/>
                  <a:pt x="180920" y="126876"/>
                  <a:pt x="171450" y="126876"/>
                </a:cubicBezTo>
                <a:cubicBezTo>
                  <a:pt x="161980" y="126876"/>
                  <a:pt x="154305" y="119200"/>
                  <a:pt x="154305" y="109733"/>
                </a:cubicBezTo>
                <a:cubicBezTo>
                  <a:pt x="154305" y="100263"/>
                  <a:pt x="161980" y="92589"/>
                  <a:pt x="171450" y="92589"/>
                </a:cubicBezTo>
                <a:lnTo>
                  <a:pt x="171450" y="92584"/>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907057" y="1758862"/>
            <a:ext cx="162877" cy="274320"/>
          </a:xfrm>
          <a:custGeom>
            <a:avLst/>
            <a:gdLst/>
            <a:ahLst/>
            <a:cxnLst/>
            <a:rect l="l" t="t" r="r" b="b"/>
            <a:pathLst>
              <a:path w="162877" h="274320">
                <a:moveTo>
                  <a:pt x="55715" y="25718"/>
                </a:moveTo>
                <a:cubicBezTo>
                  <a:pt x="55715" y="11513"/>
                  <a:pt x="67229" y="0"/>
                  <a:pt x="81434" y="0"/>
                </a:cubicBezTo>
                <a:cubicBezTo>
                  <a:pt x="95636" y="0"/>
                  <a:pt x="107152" y="11513"/>
                  <a:pt x="107152" y="25718"/>
                </a:cubicBezTo>
                <a:cubicBezTo>
                  <a:pt x="107152" y="39922"/>
                  <a:pt x="95638" y="51435"/>
                  <a:pt x="81434" y="51435"/>
                </a:cubicBezTo>
                <a:cubicBezTo>
                  <a:pt x="67231" y="51435"/>
                  <a:pt x="55715" y="39922"/>
                  <a:pt x="55715" y="25718"/>
                </a:cubicBezTo>
                <a:moveTo>
                  <a:pt x="72860" y="94352"/>
                </a:moveTo>
                <a:lnTo>
                  <a:pt x="72860" y="162878"/>
                </a:lnTo>
                <a:lnTo>
                  <a:pt x="90004" y="162878"/>
                </a:lnTo>
                <a:lnTo>
                  <a:pt x="90004" y="94352"/>
                </a:lnTo>
                <a:cubicBezTo>
                  <a:pt x="89629" y="94352"/>
                  <a:pt x="89201" y="94298"/>
                  <a:pt x="88771" y="94298"/>
                </a:cubicBezTo>
                <a:lnTo>
                  <a:pt x="74037" y="94298"/>
                </a:lnTo>
                <a:cubicBezTo>
                  <a:pt x="73609" y="94298"/>
                  <a:pt x="73234" y="94298"/>
                  <a:pt x="72804" y="94352"/>
                </a:cubicBezTo>
                <a:lnTo>
                  <a:pt x="72860" y="94352"/>
                </a:lnTo>
                <a:moveTo>
                  <a:pt x="72860" y="188595"/>
                </a:moveTo>
                <a:lnTo>
                  <a:pt x="72860" y="261463"/>
                </a:lnTo>
                <a:cubicBezTo>
                  <a:pt x="72860" y="268589"/>
                  <a:pt x="67126" y="274323"/>
                  <a:pt x="60001" y="274323"/>
                </a:cubicBezTo>
                <a:cubicBezTo>
                  <a:pt x="52875" y="274323"/>
                  <a:pt x="47141" y="268589"/>
                  <a:pt x="47141" y="261465"/>
                </a:cubicBezTo>
                <a:lnTo>
                  <a:pt x="47141" y="119804"/>
                </a:lnTo>
                <a:lnTo>
                  <a:pt x="24049" y="160631"/>
                </a:lnTo>
                <a:cubicBezTo>
                  <a:pt x="20566" y="166792"/>
                  <a:pt x="12690" y="168989"/>
                  <a:pt x="6528" y="165505"/>
                </a:cubicBezTo>
                <a:cubicBezTo>
                  <a:pt x="366" y="162021"/>
                  <a:pt x="-1831" y="154146"/>
                  <a:pt x="1653" y="147984"/>
                </a:cubicBezTo>
                <a:lnTo>
                  <a:pt x="33049" y="92531"/>
                </a:lnTo>
                <a:cubicBezTo>
                  <a:pt x="41408" y="77742"/>
                  <a:pt x="57106" y="68583"/>
                  <a:pt x="74089" y="68583"/>
                </a:cubicBezTo>
                <a:lnTo>
                  <a:pt x="88823" y="68583"/>
                </a:lnTo>
                <a:cubicBezTo>
                  <a:pt x="105808" y="68583"/>
                  <a:pt x="121506" y="77745"/>
                  <a:pt x="129863" y="92531"/>
                </a:cubicBezTo>
                <a:lnTo>
                  <a:pt x="161207" y="147984"/>
                </a:lnTo>
                <a:cubicBezTo>
                  <a:pt x="164690" y="154146"/>
                  <a:pt x="162546" y="162021"/>
                  <a:pt x="156332" y="165505"/>
                </a:cubicBezTo>
                <a:cubicBezTo>
                  <a:pt x="150117" y="168989"/>
                  <a:pt x="142296" y="166844"/>
                  <a:pt x="138812" y="160631"/>
                </a:cubicBezTo>
                <a:lnTo>
                  <a:pt x="115719" y="119804"/>
                </a:lnTo>
                <a:lnTo>
                  <a:pt x="115719" y="261465"/>
                </a:lnTo>
                <a:cubicBezTo>
                  <a:pt x="115719" y="268592"/>
                  <a:pt x="109986" y="274325"/>
                  <a:pt x="102860" y="274325"/>
                </a:cubicBezTo>
                <a:cubicBezTo>
                  <a:pt x="95734" y="274325"/>
                  <a:pt x="90001" y="268592"/>
                  <a:pt x="90001" y="261468"/>
                </a:cubicBezTo>
                <a:lnTo>
                  <a:pt x="90001" y="188603"/>
                </a:lnTo>
                <a:lnTo>
                  <a:pt x="72860" y="188595"/>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ph type="title"/>
          </p:nvPr>
        </p:nvSpPr>
        <p:spPr>
          <a:xfrm>
            <a:off x="505464"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Augmented Analyst Workflow: Traditional vs AI-Augmented</a:t>
            </a:r>
            <a:endParaRPr lang="en-US" sz="2800" dirty="0"/>
          </a:p>
        </p:txBody>
      </p:sp>
      <p:sp>
        <p:nvSpPr>
          <p:cNvPr id="18" name="Text 1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5463"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164381" y="1523767"/>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505463"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164381" y="3837775"/>
            <a:ext cx="5500505" cy="2194560"/>
          </a:xfrm>
          <a:custGeom>
            <a:avLst/>
            <a:gdLst/>
            <a:ahLst/>
            <a:cxnLst/>
            <a:rect l="l" t="t" r="r" b="b"/>
            <a:pathLst>
              <a:path w="5500505" h="2194560">
                <a:moveTo>
                  <a:pt x="148569" y="2194560"/>
                </a:moveTo>
                <a:cubicBezTo>
                  <a:pt x="66501" y="2194560"/>
                  <a:pt x="0" y="2128043"/>
                  <a:pt x="0" y="2045988"/>
                </a:cubicBezTo>
                <a:lnTo>
                  <a:pt x="0" y="148572"/>
                </a:lnTo>
                <a:cubicBezTo>
                  <a:pt x="0" y="66517"/>
                  <a:pt x="66501" y="0"/>
                  <a:pt x="148569" y="0"/>
                </a:cubicBezTo>
                <a:lnTo>
                  <a:pt x="5351936" y="0"/>
                </a:lnTo>
                <a:cubicBezTo>
                  <a:pt x="5434004" y="0"/>
                  <a:pt x="5500505" y="66517"/>
                  <a:pt x="5500505" y="148572"/>
                </a:cubicBezTo>
                <a:lnTo>
                  <a:pt x="5500505" y="2045988"/>
                </a:lnTo>
                <a:cubicBezTo>
                  <a:pt x="5500505" y="2128043"/>
                  <a:pt x="5434004" y="2194560"/>
                  <a:pt x="5351936" y="2194560"/>
                </a:cubicBezTo>
                <a:lnTo>
                  <a:pt x="148569" y="219456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1" name="Text 9"/>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Real-World AI Augmentation Tools</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3" name="Text 11"/>
          <p:cNvSpPr/>
          <p:nvPr/>
        </p:nvSpPr>
        <p:spPr>
          <a:xfrm>
            <a:off x="3048704" y="3971797"/>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4" name="Text 12"/>
          <p:cNvSpPr/>
          <p:nvPr/>
        </p:nvSpPr>
        <p:spPr>
          <a:xfrm>
            <a:off x="3048704" y="3971797"/>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03</a:t>
            </a:r>
            <a:endParaRPr lang="en-US" sz="1400" dirty="0"/>
          </a:p>
        </p:txBody>
      </p:sp>
      <p:sp>
        <p:nvSpPr>
          <p:cNvPr id="15" name="Text 13"/>
          <p:cNvSpPr/>
          <p:nvPr/>
        </p:nvSpPr>
        <p:spPr>
          <a:xfrm>
            <a:off x="8640313" y="171170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6" name="Text 14"/>
          <p:cNvSpPr/>
          <p:nvPr/>
        </p:nvSpPr>
        <p:spPr>
          <a:xfrm>
            <a:off x="8640313" y="171170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02</a:t>
            </a:r>
            <a:endParaRPr lang="en-US" sz="1400" dirty="0"/>
          </a:p>
        </p:txBody>
      </p:sp>
      <p:sp>
        <p:nvSpPr>
          <p:cNvPr id="17" name="Text 15"/>
          <p:cNvSpPr/>
          <p:nvPr/>
        </p:nvSpPr>
        <p:spPr>
          <a:xfrm>
            <a:off x="2981395" y="170468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18" name="Text 16"/>
          <p:cNvSpPr/>
          <p:nvPr/>
        </p:nvSpPr>
        <p:spPr>
          <a:xfrm>
            <a:off x="2981395" y="170468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01</a:t>
            </a:r>
            <a:endParaRPr lang="en-US" sz="1400" dirty="0"/>
          </a:p>
        </p:txBody>
      </p:sp>
      <p:sp>
        <p:nvSpPr>
          <p:cNvPr id="19" name="Text 17"/>
          <p:cNvSpPr/>
          <p:nvPr/>
        </p:nvSpPr>
        <p:spPr>
          <a:xfrm>
            <a:off x="8640313" y="3965479"/>
            <a:ext cx="548640" cy="548640"/>
          </a:xfrm>
          <a:custGeom>
            <a:avLst/>
            <a:gdLst/>
            <a:ahLst/>
            <a:cxnLst/>
            <a:rect l="l" t="t" r="r" b="b"/>
            <a:pathLst>
              <a:path w="548640" h="548640">
                <a:moveTo>
                  <a:pt x="98755" y="548640"/>
                </a:moveTo>
                <a:cubicBezTo>
                  <a:pt x="44215" y="548640"/>
                  <a:pt x="0" y="504425"/>
                  <a:pt x="0" y="449885"/>
                </a:cubicBezTo>
                <a:lnTo>
                  <a:pt x="0" y="98755"/>
                </a:lnTo>
                <a:cubicBezTo>
                  <a:pt x="0" y="44215"/>
                  <a:pt x="44215" y="0"/>
                  <a:pt x="98755" y="0"/>
                </a:cubicBezTo>
                <a:lnTo>
                  <a:pt x="449885" y="0"/>
                </a:lnTo>
                <a:cubicBezTo>
                  <a:pt x="504425" y="0"/>
                  <a:pt x="548640" y="44215"/>
                  <a:pt x="548640" y="98755"/>
                </a:cubicBezTo>
                <a:lnTo>
                  <a:pt x="548640" y="449885"/>
                </a:lnTo>
                <a:cubicBezTo>
                  <a:pt x="548640" y="504425"/>
                  <a:pt x="504425" y="548640"/>
                  <a:pt x="449885" y="548640"/>
                </a:cubicBezTo>
                <a:lnTo>
                  <a:pt x="98755" y="548640"/>
                </a:lnTo>
              </a:path>
            </a:pathLst>
          </a:custGeom>
          <a:solidFill>
            <a:srgbClr val="C1E5F5"/>
          </a:solidFill>
          <a:ln/>
        </p:spPr>
        <p:txBody>
          <a:bodyPr wrap="square" lIns="0" tIns="0" rIns="0" bIns="0" rtlCol="0" anchor="ctr"/>
          <a:lstStyle/>
          <a:p>
            <a:pPr indent="0" marL="0">
              <a:buNone/>
            </a:pPr>
            <a:endParaRPr lang="en-US" dirty="0"/>
          </a:p>
        </p:txBody>
      </p:sp>
      <p:sp>
        <p:nvSpPr>
          <p:cNvPr id="20" name="Text 18"/>
          <p:cNvSpPr/>
          <p:nvPr/>
        </p:nvSpPr>
        <p:spPr>
          <a:xfrm>
            <a:off x="8640313" y="3965479"/>
            <a:ext cx="548640" cy="548640"/>
          </a:xfrm>
          <a:prstGeom prst="rect">
            <a:avLst/>
          </a:prstGeom>
          <a:noFill/>
          <a:ln/>
        </p:spPr>
        <p:txBody>
          <a:bodyPr wrap="square" lIns="0" tIns="0" rIns="0" bIns="0" rtlCol="0" anchor="ctr"/>
          <a:lstStyle/>
          <a:p>
            <a:pPr algn="ctr" marL="0" indent="0">
              <a:lnSpc>
                <a:spcPct val="100000"/>
              </a:lnSpc>
              <a:buNone/>
            </a:pPr>
            <a:r>
              <a:rPr lang="en-US" sz="1400" dirty="0">
                <a:solidFill>
                  <a:srgbClr val="0B3041"/>
                </a:solidFill>
                <a:latin typeface="Figtree Regular" pitchFamily="34" charset="0"/>
                <a:ea typeface="Figtree Regular" pitchFamily="34" charset="-122"/>
                <a:cs typeface="Figtree Regular" pitchFamily="34" charset="-120"/>
              </a:rPr>
              <a:t>04</a:t>
            </a:r>
            <a:endParaRPr lang="en-US" sz="1400" dirty="0"/>
          </a:p>
        </p:txBody>
      </p:sp>
      <p:sp>
        <p:nvSpPr>
          <p:cNvPr id="21" name="Text 19"/>
          <p:cNvSpPr/>
          <p:nvPr/>
        </p:nvSpPr>
        <p:spPr>
          <a:xfrm>
            <a:off x="6491473" y="5097375"/>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User and Entity Behavior Analytics (UEBA) systems learn normal behavior patterns and surface anomalies by creating risk scores for each user based on deviations. Platforms like Exabeam help analysts prioritize investigations by highlighting the most suspicious activities, reducing false positives and improving efficiency.</a:t>
            </a:r>
            <a:endParaRPr lang="en-US" sz="1098" dirty="0"/>
          </a:p>
        </p:txBody>
      </p:sp>
      <p:sp>
        <p:nvSpPr>
          <p:cNvPr id="22" name="Text 20"/>
          <p:cNvSpPr/>
          <p:nvPr/>
        </p:nvSpPr>
        <p:spPr>
          <a:xfrm>
            <a:off x="6491473" y="4680844"/>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Behavioral Analytics</a:t>
            </a:r>
            <a:endParaRPr lang="en-US" sz="2030" dirty="0"/>
          </a:p>
        </p:txBody>
      </p:sp>
      <p:sp>
        <p:nvSpPr>
          <p:cNvPr id="23" name="Text 21"/>
          <p:cNvSpPr/>
          <p:nvPr/>
        </p:nvSpPr>
        <p:spPr>
          <a:xfrm>
            <a:off x="899864" y="5093408"/>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When AI flags an incident, modern platforms automatically assemble relevant evidence like endpoint telemetry, network connections, user activity, and threat intelligence. This automation saves analysts hours previously spent collecting data manually and delivers a comprehensive investigation package ready for review.</a:t>
            </a:r>
            <a:endParaRPr lang="en-US" sz="1098" dirty="0"/>
          </a:p>
        </p:txBody>
      </p:sp>
      <p:sp>
        <p:nvSpPr>
          <p:cNvPr id="24" name="Text 22"/>
          <p:cNvSpPr/>
          <p:nvPr/>
        </p:nvSpPr>
        <p:spPr>
          <a:xfrm>
            <a:off x="899864" y="4676878"/>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Automated Evidence Collection</a:t>
            </a:r>
            <a:endParaRPr lang="en-US" sz="2030" dirty="0"/>
          </a:p>
        </p:txBody>
      </p:sp>
      <p:sp>
        <p:nvSpPr>
          <p:cNvPr id="25" name="Text 23"/>
          <p:cNvSpPr/>
          <p:nvPr/>
        </p:nvSpPr>
        <p:spPr>
          <a:xfrm>
            <a:off x="6491473"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Tools such as CrowdStrike's Charlotte AI enable analysts to perform investigations using natural language queries. Instead of writing complex commands, analysts ask straightforward questions and receive precise and actionable results, making the investigation process faster and more accessible.</a:t>
            </a:r>
            <a:endParaRPr lang="en-US" sz="1098" dirty="0"/>
          </a:p>
        </p:txBody>
      </p:sp>
      <p:sp>
        <p:nvSpPr>
          <p:cNvPr id="26" name="Text 24"/>
          <p:cNvSpPr/>
          <p:nvPr/>
        </p:nvSpPr>
        <p:spPr>
          <a:xfrm>
            <a:off x="6491473"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Natural Language Investigation</a:t>
            </a:r>
            <a:endParaRPr lang="en-US" sz="2030" dirty="0"/>
          </a:p>
        </p:txBody>
      </p:sp>
      <p:sp>
        <p:nvSpPr>
          <p:cNvPr id="27" name="Text 25"/>
          <p:cNvSpPr/>
          <p:nvPr/>
        </p:nvSpPr>
        <p:spPr>
          <a:xfrm>
            <a:off x="832555" y="2410402"/>
            <a:ext cx="4846320" cy="309783"/>
          </a:xfrm>
          <a:prstGeom prst="rect">
            <a:avLst/>
          </a:prstGeom>
          <a:noFill/>
          <a:ln/>
        </p:spPr>
        <p:txBody>
          <a:bodyPr wrap="square" lIns="0" tIns="0" rIns="0" bIns="0" rtlCol="0" anchor="t"/>
          <a:lstStyle/>
          <a:p>
            <a:pPr algn="ctr" marL="0" indent="0">
              <a:lnSpc>
                <a:spcPct val="90000"/>
              </a:lnSpc>
              <a:spcBef>
                <a:spcPts val="1450"/>
              </a:spcBef>
              <a:buNone/>
            </a:pPr>
            <a:r>
              <a:rPr lang="en-US" sz="2030" dirty="0">
                <a:solidFill>
                  <a:srgbClr val="FFFFFF"/>
                </a:solidFill>
                <a:latin typeface="Figtree Bold" pitchFamily="34" charset="0"/>
                <a:ea typeface="Figtree Bold" pitchFamily="34" charset="-122"/>
                <a:cs typeface="Figtree Bold" pitchFamily="34" charset="-120"/>
              </a:rPr>
              <a:t>AI-Powered Triage Agents</a:t>
            </a:r>
            <a:endParaRPr lang="en-US" sz="2030" dirty="0"/>
          </a:p>
        </p:txBody>
      </p:sp>
      <p:sp>
        <p:nvSpPr>
          <p:cNvPr id="28" name="Text 26"/>
          <p:cNvSpPr/>
          <p:nvPr/>
        </p:nvSpPr>
        <p:spPr>
          <a:xfrm>
            <a:off x="832555" y="2826932"/>
            <a:ext cx="4846320" cy="731520"/>
          </a:xfrm>
          <a:prstGeom prst="rect">
            <a:avLst/>
          </a:prstGeom>
          <a:noFill/>
          <a:ln/>
        </p:spPr>
        <p:txBody>
          <a:bodyPr wrap="square" lIns="0" tIns="0" rIns="0" bIns="0" rtlCol="0" anchor="t"/>
          <a:lstStyle/>
          <a:p>
            <a:pPr algn="ctr" marL="0" indent="0">
              <a:lnSpc>
                <a:spcPct val="90000"/>
              </a:lnSpc>
              <a:spcBef>
                <a:spcPts val="915"/>
              </a:spcBef>
              <a:buNone/>
            </a:pPr>
            <a:r>
              <a:rPr lang="en-US" sz="1098" dirty="0">
                <a:solidFill>
                  <a:srgbClr val="FFFFFF"/>
                </a:solidFill>
                <a:latin typeface="Figtree Regular" pitchFamily="34" charset="0"/>
                <a:ea typeface="Figtree Regular" pitchFamily="34" charset="-122"/>
                <a:cs typeface="Figtree Regular" pitchFamily="34" charset="-120"/>
              </a:rPr>
              <a:t>Platforms like Dropzone AI and Google SecOps' Alert Triage Agent can autonomously investigate alerts at machine speed. These tools gather evidence, run analyses, correlate data, and determine whether alerts are true or false positives, allowing analysts to focus on reviewing clear verdicts rather than raw alerts.</a:t>
            </a:r>
            <a:endParaRPr lang="en-US" sz="1098"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780288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780288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7802880" y="0"/>
            <a:ext cx="4389120" cy="6858000"/>
          </a:xfrm>
          <a:custGeom>
            <a:avLst/>
            <a:gdLst/>
            <a:ahLst/>
            <a:cxnLst/>
            <a:rect l="l" t="t" r="r" b="b"/>
            <a:pathLst>
              <a:path w="4389120" h="6858000">
                <a:moveTo>
                  <a:pt x="0" y="6858000"/>
                </a:moveTo>
                <a:lnTo>
                  <a:pt x="0" y="0"/>
                </a:lnTo>
                <a:lnTo>
                  <a:pt x="4389120" y="0"/>
                </a:lnTo>
                <a:lnTo>
                  <a:pt x="4389120" y="6858000"/>
                </a:lnTo>
                <a:lnTo>
                  <a:pt x="0" y="6858000"/>
                </a:lnTo>
              </a:path>
            </a:pathLst>
          </a:custGeom>
          <a:blipFill>
            <a:blip r:embed="rId1"/>
            <a:srcRect/>
            <a:stretch>
              <a:fillRect l="0" r="0" t="28667" b="28667"/>
            </a:stretch>
          </a:blipFill>
          <a:ln/>
        </p:spPr>
        <p:txBody>
          <a:bodyPr wrap="square" lIns="0" tIns="0" rIns="0" bIns="0" rtlCol="0" anchor="ctr"/>
          <a:lstStyle/>
          <a:p>
            <a:pPr indent="0" marL="0">
              <a:buNone/>
            </a:pPr>
            <a:endParaRPr lang="en-US" dirty="0"/>
          </a:p>
        </p:txBody>
      </p:sp>
      <p:sp>
        <p:nvSpPr>
          <p:cNvPr id="7" name="Text 5"/>
          <p:cNvSpPr/>
          <p:nvPr/>
        </p:nvSpPr>
        <p:spPr>
          <a:xfrm>
            <a:off x="732581" y="1586827"/>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5464" y="1695811"/>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732581" y="3208142"/>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505464" y="3317126"/>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732581" y="4835091"/>
            <a:ext cx="6519120" cy="1463040"/>
          </a:xfrm>
          <a:custGeom>
            <a:avLst/>
            <a:gdLst/>
            <a:ahLst/>
            <a:cxnLst/>
            <a:rect l="l" t="t" r="r" b="b"/>
            <a:pathLst>
              <a:path w="6519120" h="1463040">
                <a:moveTo>
                  <a:pt x="99025" y="1463040"/>
                </a:moveTo>
                <a:cubicBezTo>
                  <a:pt x="44330" y="1463040"/>
                  <a:pt x="0" y="1418695"/>
                  <a:pt x="0" y="1363992"/>
                </a:cubicBezTo>
                <a:lnTo>
                  <a:pt x="0" y="99048"/>
                </a:lnTo>
                <a:cubicBezTo>
                  <a:pt x="0" y="44345"/>
                  <a:pt x="44330" y="0"/>
                  <a:pt x="99025" y="0"/>
                </a:cubicBezTo>
                <a:lnTo>
                  <a:pt x="6420029" y="0"/>
                </a:lnTo>
                <a:cubicBezTo>
                  <a:pt x="6474725" y="0"/>
                  <a:pt x="6519055" y="44345"/>
                  <a:pt x="6519055" y="99048"/>
                </a:cubicBezTo>
                <a:lnTo>
                  <a:pt x="6519055" y="1363992"/>
                </a:lnTo>
                <a:cubicBezTo>
                  <a:pt x="6519055" y="1418695"/>
                  <a:pt x="6474725" y="1463040"/>
                  <a:pt x="6420029" y="1463040"/>
                </a:cubicBezTo>
                <a:lnTo>
                  <a:pt x="99025" y="1463040"/>
                </a:lnTo>
              </a:path>
            </a:pathLst>
          </a:custGeom>
          <a:solidFill>
            <a:srgbClr val="0B3041"/>
          </a:solidFill>
          <a:ln/>
        </p:spPr>
        <p:txBody>
          <a:bodyPr wrap="square" lIns="0" tIns="0" rIns="0" bIns="0" rtlCol="0" anchor="ctr"/>
          <a:lstStyle/>
          <a:p>
            <a:pPr indent="0" marL="0">
              <a:buNone/>
            </a:pPr>
            <a:endParaRPr lang="en-US" dirty="0"/>
          </a:p>
        </p:txBody>
      </p:sp>
      <p:sp>
        <p:nvSpPr>
          <p:cNvPr id="12" name="Text 10"/>
          <p:cNvSpPr/>
          <p:nvPr/>
        </p:nvSpPr>
        <p:spPr>
          <a:xfrm>
            <a:off x="505464" y="49440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1146528" y="5401275"/>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With AI augmentation, analysts can process alerts more efficiently, reducing false positives and responding faster. This allows more time for advanced tasks like threat hunting, hypothesis testing, and proactive defense, elevating the overall security posture.</a:t>
            </a:r>
            <a:endParaRPr lang="en-US" sz="1264" dirty="0"/>
          </a:p>
        </p:txBody>
      </p:sp>
      <p:sp>
        <p:nvSpPr>
          <p:cNvPr id="14" name="Text 12"/>
          <p:cNvSpPr/>
          <p:nvPr/>
        </p:nvSpPr>
        <p:spPr>
          <a:xfrm>
            <a:off x="1146528" y="5006878"/>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Enhanced Analyst Productivity</a:t>
            </a:r>
            <a:endParaRPr lang="en-US" sz="2030" dirty="0"/>
          </a:p>
        </p:txBody>
      </p:sp>
      <p:sp>
        <p:nvSpPr>
          <p:cNvPr id="15" name="Text 13"/>
          <p:cNvSpPr/>
          <p:nvPr/>
        </p:nvSpPr>
        <p:spPr>
          <a:xfrm>
            <a:off x="1146528" y="3774326"/>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Analysts need a conceptual understanding of how AI works rather than coding knowledge. They must interpret AI confidence scores accurately and recognize when AI may be uncertain or require guidance. Directing AI investigations effectively becomes essential as part of the workflow.</a:t>
            </a:r>
            <a:endParaRPr lang="en-US" sz="1264" dirty="0"/>
          </a:p>
        </p:txBody>
      </p:sp>
      <p:sp>
        <p:nvSpPr>
          <p:cNvPr id="16" name="Text 14"/>
          <p:cNvSpPr/>
          <p:nvPr/>
        </p:nvSpPr>
        <p:spPr>
          <a:xfrm>
            <a:off x="1146528" y="3379929"/>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New Skills Required</a:t>
            </a:r>
            <a:endParaRPr lang="en-US" sz="2030" dirty="0"/>
          </a:p>
        </p:txBody>
      </p:sp>
      <p:sp>
        <p:nvSpPr>
          <p:cNvPr id="17" name="Text 15"/>
          <p:cNvSpPr/>
          <p:nvPr/>
        </p:nvSpPr>
        <p:spPr>
          <a:xfrm>
            <a:off x="1146528" y="2153011"/>
            <a:ext cx="5852160" cy="731520"/>
          </a:xfrm>
          <a:prstGeom prst="rect">
            <a:avLst/>
          </a:prstGeom>
          <a:noFill/>
          <a:ln/>
        </p:spPr>
        <p:txBody>
          <a:bodyPr wrap="square" lIns="0" tIns="0" rIns="0" bIns="0" rtlCol="0" anchor="t"/>
          <a:lstStyle/>
          <a:p>
            <a:pPr algn="l" marL="0" indent="0">
              <a:lnSpc>
                <a:spcPct val="100000"/>
              </a:lnSpc>
              <a:spcBef>
                <a:spcPts val="1053"/>
              </a:spcBef>
              <a:buNone/>
            </a:pPr>
            <a:r>
              <a:rPr lang="en-US" sz="1264" dirty="0">
                <a:solidFill>
                  <a:srgbClr val="FFFFFF"/>
                </a:solidFill>
                <a:latin typeface="Figtree Regular" pitchFamily="34" charset="0"/>
                <a:ea typeface="Figtree Regular" pitchFamily="34" charset="-122"/>
                <a:cs typeface="Figtree Regular" pitchFamily="34" charset="-120"/>
              </a:rPr>
              <a:t>AI handles the bulk of alert triage, filtering thousands of daily alerts to identify critical incidents. Analysts then focus their time on deep investigations, hunting for sophisticated threats, and strategic planning rather than routine review. This transition enables more effective use of human expertise where it matters most.</a:t>
            </a:r>
            <a:endParaRPr lang="en-US" sz="1264" dirty="0"/>
          </a:p>
        </p:txBody>
      </p:sp>
      <p:sp>
        <p:nvSpPr>
          <p:cNvPr id="18" name="Text 16"/>
          <p:cNvSpPr/>
          <p:nvPr>
            <p:ph type="title"/>
          </p:nvPr>
        </p:nvSpPr>
        <p:spPr>
          <a:xfrm>
            <a:off x="1146528" y="1758614"/>
            <a:ext cx="5852160" cy="274320"/>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Shift from Triage to Investigation</a:t>
            </a:r>
            <a:endParaRPr lang="en-US" sz="2030" dirty="0"/>
          </a:p>
        </p:txBody>
      </p:sp>
      <p:sp>
        <p:nvSpPr>
          <p:cNvPr id="19" name="Text 17"/>
          <p:cNvSpPr/>
          <p:nvPr/>
        </p:nvSpPr>
        <p:spPr>
          <a:xfrm>
            <a:off x="505464" y="289560"/>
            <a:ext cx="67462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Evolving Role of the Augmented Analyst</a:t>
            </a:r>
            <a:endParaRPr lang="en-US" sz="2800" dirty="0"/>
          </a:p>
        </p:txBody>
      </p:sp>
      <p:sp>
        <p:nvSpPr>
          <p:cNvPr id="20" name="Text 18"/>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595349" y="5052660"/>
            <a:ext cx="274320" cy="240030"/>
          </a:xfrm>
          <a:custGeom>
            <a:avLst/>
            <a:gdLst/>
            <a:ahLst/>
            <a:cxnLst/>
            <a:rect l="l" t="t" r="r" b="b"/>
            <a:pathLst>
              <a:path w="274320" h="240030">
                <a:moveTo>
                  <a:pt x="222885" y="25717"/>
                </a:moveTo>
                <a:cubicBezTo>
                  <a:pt x="227601" y="25717"/>
                  <a:pt x="231458" y="29574"/>
                  <a:pt x="231458" y="34288"/>
                </a:cubicBezTo>
                <a:cubicBezTo>
                  <a:pt x="231458" y="39002"/>
                  <a:pt x="227601" y="42860"/>
                  <a:pt x="222885" y="42860"/>
                </a:cubicBezTo>
                <a:lnTo>
                  <a:pt x="51435" y="42860"/>
                </a:lnTo>
                <a:cubicBezTo>
                  <a:pt x="46719" y="42860"/>
                  <a:pt x="42862" y="39002"/>
                  <a:pt x="42862" y="34288"/>
                </a:cubicBezTo>
                <a:cubicBezTo>
                  <a:pt x="42862" y="29574"/>
                  <a:pt x="46719" y="25717"/>
                  <a:pt x="51435" y="25717"/>
                </a:cubicBezTo>
                <a:lnTo>
                  <a:pt x="222885" y="25717"/>
                </a:lnTo>
                <a:moveTo>
                  <a:pt x="51435" y="0"/>
                </a:moveTo>
                <a:cubicBezTo>
                  <a:pt x="32521" y="0"/>
                  <a:pt x="17145" y="15376"/>
                  <a:pt x="17145" y="34291"/>
                </a:cubicBezTo>
                <a:cubicBezTo>
                  <a:pt x="17145" y="53203"/>
                  <a:pt x="32521" y="68581"/>
                  <a:pt x="51435" y="68581"/>
                </a:cubicBezTo>
                <a:lnTo>
                  <a:pt x="124303" y="68581"/>
                </a:lnTo>
                <a:lnTo>
                  <a:pt x="124303" y="77153"/>
                </a:lnTo>
                <a:lnTo>
                  <a:pt x="118997" y="82457"/>
                </a:lnTo>
                <a:lnTo>
                  <a:pt x="103943" y="97512"/>
                </a:lnTo>
                <a:lnTo>
                  <a:pt x="98585" y="102870"/>
                </a:lnTo>
                <a:lnTo>
                  <a:pt x="68583" y="102870"/>
                </a:lnTo>
                <a:cubicBezTo>
                  <a:pt x="42544" y="102870"/>
                  <a:pt x="21435" y="123980"/>
                  <a:pt x="21435" y="150019"/>
                </a:cubicBezTo>
                <a:lnTo>
                  <a:pt x="21435" y="171451"/>
                </a:lnTo>
                <a:lnTo>
                  <a:pt x="17150" y="171451"/>
                </a:lnTo>
                <a:cubicBezTo>
                  <a:pt x="7667" y="171451"/>
                  <a:pt x="5" y="179113"/>
                  <a:pt x="5" y="188596"/>
                </a:cubicBezTo>
                <a:lnTo>
                  <a:pt x="5" y="222887"/>
                </a:lnTo>
                <a:cubicBezTo>
                  <a:pt x="5" y="232371"/>
                  <a:pt x="7667" y="240032"/>
                  <a:pt x="17150" y="240032"/>
                </a:cubicBezTo>
                <a:lnTo>
                  <a:pt x="51440" y="240032"/>
                </a:lnTo>
                <a:cubicBezTo>
                  <a:pt x="60924" y="240032"/>
                  <a:pt x="68585" y="232371"/>
                  <a:pt x="68585" y="222887"/>
                </a:cubicBezTo>
                <a:lnTo>
                  <a:pt x="68585" y="188596"/>
                </a:lnTo>
                <a:cubicBezTo>
                  <a:pt x="68585" y="179113"/>
                  <a:pt x="60924" y="171451"/>
                  <a:pt x="51440" y="171451"/>
                </a:cubicBezTo>
                <a:lnTo>
                  <a:pt x="47156" y="171451"/>
                </a:lnTo>
                <a:lnTo>
                  <a:pt x="47156" y="150019"/>
                </a:lnTo>
                <a:cubicBezTo>
                  <a:pt x="47156" y="138178"/>
                  <a:pt x="56746" y="128586"/>
                  <a:pt x="68588" y="128586"/>
                </a:cubicBezTo>
                <a:lnTo>
                  <a:pt x="98593" y="128586"/>
                </a:lnTo>
                <a:lnTo>
                  <a:pt x="103899" y="133891"/>
                </a:lnTo>
                <a:lnTo>
                  <a:pt x="118953" y="148946"/>
                </a:lnTo>
                <a:lnTo>
                  <a:pt x="124311" y="154303"/>
                </a:lnTo>
                <a:lnTo>
                  <a:pt x="124311" y="171448"/>
                </a:lnTo>
                <a:lnTo>
                  <a:pt x="120026" y="171448"/>
                </a:lnTo>
                <a:cubicBezTo>
                  <a:pt x="110542" y="171448"/>
                  <a:pt x="102881" y="179110"/>
                  <a:pt x="102881" y="188594"/>
                </a:cubicBezTo>
                <a:lnTo>
                  <a:pt x="102881" y="222885"/>
                </a:lnTo>
                <a:cubicBezTo>
                  <a:pt x="102881" y="232368"/>
                  <a:pt x="110542" y="240030"/>
                  <a:pt x="120026" y="240030"/>
                </a:cubicBezTo>
                <a:lnTo>
                  <a:pt x="154316" y="240030"/>
                </a:lnTo>
                <a:cubicBezTo>
                  <a:pt x="163799" y="240030"/>
                  <a:pt x="171461" y="232368"/>
                  <a:pt x="171461" y="222885"/>
                </a:cubicBezTo>
                <a:lnTo>
                  <a:pt x="171461" y="188594"/>
                </a:lnTo>
                <a:cubicBezTo>
                  <a:pt x="171461" y="179110"/>
                  <a:pt x="163799" y="171448"/>
                  <a:pt x="154316" y="171448"/>
                </a:cubicBezTo>
                <a:lnTo>
                  <a:pt x="150031" y="171448"/>
                </a:lnTo>
                <a:lnTo>
                  <a:pt x="150031" y="154303"/>
                </a:lnTo>
                <a:lnTo>
                  <a:pt x="155336" y="148998"/>
                </a:lnTo>
                <a:lnTo>
                  <a:pt x="170391" y="133944"/>
                </a:lnTo>
                <a:lnTo>
                  <a:pt x="175748" y="128586"/>
                </a:lnTo>
                <a:lnTo>
                  <a:pt x="205753" y="128586"/>
                </a:lnTo>
                <a:cubicBezTo>
                  <a:pt x="217593" y="128586"/>
                  <a:pt x="227186" y="138178"/>
                  <a:pt x="227186" y="150019"/>
                </a:cubicBezTo>
                <a:lnTo>
                  <a:pt x="227186" y="171451"/>
                </a:lnTo>
                <a:lnTo>
                  <a:pt x="222901" y="171451"/>
                </a:lnTo>
                <a:cubicBezTo>
                  <a:pt x="213418" y="171451"/>
                  <a:pt x="205756" y="179113"/>
                  <a:pt x="205756" y="188596"/>
                </a:cubicBezTo>
                <a:lnTo>
                  <a:pt x="205756" y="222887"/>
                </a:lnTo>
                <a:cubicBezTo>
                  <a:pt x="205756" y="232371"/>
                  <a:pt x="213418" y="240032"/>
                  <a:pt x="222901" y="240032"/>
                </a:cubicBezTo>
                <a:lnTo>
                  <a:pt x="257191" y="240032"/>
                </a:lnTo>
                <a:cubicBezTo>
                  <a:pt x="266674" y="240032"/>
                  <a:pt x="274336" y="232371"/>
                  <a:pt x="274336" y="222887"/>
                </a:cubicBezTo>
                <a:lnTo>
                  <a:pt x="274336" y="188596"/>
                </a:lnTo>
                <a:cubicBezTo>
                  <a:pt x="274336" y="179113"/>
                  <a:pt x="266674" y="171451"/>
                  <a:pt x="257191" y="171451"/>
                </a:cubicBezTo>
                <a:lnTo>
                  <a:pt x="252906" y="171451"/>
                </a:lnTo>
                <a:lnTo>
                  <a:pt x="252906" y="150019"/>
                </a:lnTo>
                <a:cubicBezTo>
                  <a:pt x="252906" y="123980"/>
                  <a:pt x="231797" y="102870"/>
                  <a:pt x="205759" y="102870"/>
                </a:cubicBezTo>
                <a:lnTo>
                  <a:pt x="175756" y="102870"/>
                </a:lnTo>
                <a:lnTo>
                  <a:pt x="170451" y="97565"/>
                </a:lnTo>
                <a:lnTo>
                  <a:pt x="155396" y="82510"/>
                </a:lnTo>
                <a:lnTo>
                  <a:pt x="150039" y="77153"/>
                </a:lnTo>
                <a:lnTo>
                  <a:pt x="150039" y="68581"/>
                </a:lnTo>
                <a:lnTo>
                  <a:pt x="222906" y="68581"/>
                </a:lnTo>
                <a:cubicBezTo>
                  <a:pt x="241821" y="68581"/>
                  <a:pt x="257196" y="53205"/>
                  <a:pt x="257196" y="34291"/>
                </a:cubicBezTo>
                <a:cubicBezTo>
                  <a:pt x="257196" y="15379"/>
                  <a:pt x="241821" y="0"/>
                  <a:pt x="222906" y="0"/>
                </a:cubicBezTo>
                <a:lnTo>
                  <a:pt x="51435" y="0"/>
                </a:lnTo>
                <a:moveTo>
                  <a:pt x="25718" y="214313"/>
                </a:moveTo>
                <a:lnTo>
                  <a:pt x="25718" y="197168"/>
                </a:lnTo>
                <a:lnTo>
                  <a:pt x="42863" y="197168"/>
                </a:lnTo>
                <a:lnTo>
                  <a:pt x="42863" y="214313"/>
                </a:lnTo>
                <a:lnTo>
                  <a:pt x="25718" y="214313"/>
                </a:lnTo>
                <a:moveTo>
                  <a:pt x="128588" y="214313"/>
                </a:moveTo>
                <a:lnTo>
                  <a:pt x="128588" y="197168"/>
                </a:lnTo>
                <a:lnTo>
                  <a:pt x="145733" y="197168"/>
                </a:lnTo>
                <a:lnTo>
                  <a:pt x="145733" y="214313"/>
                </a:lnTo>
                <a:lnTo>
                  <a:pt x="128588" y="214313"/>
                </a:lnTo>
                <a:moveTo>
                  <a:pt x="231458" y="214313"/>
                </a:moveTo>
                <a:lnTo>
                  <a:pt x="231458" y="197168"/>
                </a:lnTo>
                <a:lnTo>
                  <a:pt x="248603" y="197168"/>
                </a:lnTo>
                <a:lnTo>
                  <a:pt x="248603" y="214313"/>
                </a:lnTo>
                <a:lnTo>
                  <a:pt x="231458" y="214313"/>
                </a:lnTo>
                <a:moveTo>
                  <a:pt x="122105" y="115728"/>
                </a:moveTo>
                <a:lnTo>
                  <a:pt x="137160" y="100673"/>
                </a:lnTo>
                <a:lnTo>
                  <a:pt x="152215" y="115728"/>
                </a:lnTo>
                <a:lnTo>
                  <a:pt x="137160" y="130783"/>
                </a:lnTo>
                <a:lnTo>
                  <a:pt x="122105" y="115728"/>
                </a:lnTo>
              </a:path>
            </a:pathLst>
          </a:custGeom>
          <a:solidFill>
            <a:srgbClr val="FFFFFF"/>
          </a:solidFill>
          <a:ln/>
        </p:spPr>
        <p:txBody>
          <a:bodyPr wrap="square" lIns="0" tIns="0" rIns="0" bIns="0" rtlCol="0" anchor="ctr"/>
          <a:lstStyle/>
          <a:p>
            <a:pPr indent="0" marL="0">
              <a:buNone/>
            </a:pPr>
            <a:endParaRPr lang="en-US" dirty="0"/>
          </a:p>
        </p:txBody>
      </p:sp>
      <p:sp>
        <p:nvSpPr>
          <p:cNvPr id="23" name="Text 21"/>
          <p:cNvSpPr/>
          <p:nvPr/>
        </p:nvSpPr>
        <p:spPr>
          <a:xfrm>
            <a:off x="595349" y="3408566"/>
            <a:ext cx="274320" cy="274320"/>
          </a:xfrm>
          <a:custGeom>
            <a:avLst/>
            <a:gdLst/>
            <a:ahLst/>
            <a:cxnLst/>
            <a:rect l="l" t="t" r="r" b="b"/>
            <a:pathLst>
              <a:path w="274320" h="274320">
                <a:moveTo>
                  <a:pt x="82241" y="41203"/>
                </a:moveTo>
                <a:cubicBezTo>
                  <a:pt x="81223" y="44846"/>
                  <a:pt x="78598" y="47847"/>
                  <a:pt x="75169" y="49400"/>
                </a:cubicBezTo>
                <a:cubicBezTo>
                  <a:pt x="66276" y="53418"/>
                  <a:pt x="60060" y="62312"/>
                  <a:pt x="60008" y="72706"/>
                </a:cubicBezTo>
                <a:cubicBezTo>
                  <a:pt x="59953" y="77580"/>
                  <a:pt x="57220" y="81975"/>
                  <a:pt x="52881" y="84117"/>
                </a:cubicBezTo>
                <a:cubicBezTo>
                  <a:pt x="44363" y="88350"/>
                  <a:pt x="38575" y="97085"/>
                  <a:pt x="38575" y="107155"/>
                </a:cubicBezTo>
                <a:cubicBezTo>
                  <a:pt x="38575" y="110960"/>
                  <a:pt x="39379" y="114496"/>
                  <a:pt x="40824" y="117711"/>
                </a:cubicBezTo>
                <a:cubicBezTo>
                  <a:pt x="43181" y="122909"/>
                  <a:pt x="41842" y="128963"/>
                  <a:pt x="37557" y="132713"/>
                </a:cubicBezTo>
                <a:cubicBezTo>
                  <a:pt x="30271" y="138981"/>
                  <a:pt x="25717" y="148251"/>
                  <a:pt x="25717" y="158592"/>
                </a:cubicBezTo>
                <a:cubicBezTo>
                  <a:pt x="25717" y="169414"/>
                  <a:pt x="30699" y="179005"/>
                  <a:pt x="38523" y="185328"/>
                </a:cubicBezTo>
                <a:cubicBezTo>
                  <a:pt x="42114" y="188222"/>
                  <a:pt x="43880" y="192828"/>
                  <a:pt x="43183" y="197384"/>
                </a:cubicBezTo>
                <a:cubicBezTo>
                  <a:pt x="42969" y="198723"/>
                  <a:pt x="42862" y="200064"/>
                  <a:pt x="42862" y="201455"/>
                </a:cubicBezTo>
                <a:cubicBezTo>
                  <a:pt x="42862" y="215440"/>
                  <a:pt x="54005" y="226797"/>
                  <a:pt x="67883" y="227172"/>
                </a:cubicBezTo>
                <a:cubicBezTo>
                  <a:pt x="72813" y="227334"/>
                  <a:pt x="77205" y="230226"/>
                  <a:pt x="79243" y="234727"/>
                </a:cubicBezTo>
                <a:cubicBezTo>
                  <a:pt x="82941" y="242924"/>
                  <a:pt x="91189" y="248605"/>
                  <a:pt x="100728" y="248605"/>
                </a:cubicBezTo>
                <a:cubicBezTo>
                  <a:pt x="113747" y="248605"/>
                  <a:pt x="124303" y="238049"/>
                  <a:pt x="124303" y="225030"/>
                </a:cubicBezTo>
                <a:lnTo>
                  <a:pt x="124303" y="47150"/>
                </a:lnTo>
                <a:cubicBezTo>
                  <a:pt x="124303" y="35310"/>
                  <a:pt x="114712" y="25720"/>
                  <a:pt x="102873" y="25720"/>
                </a:cubicBezTo>
                <a:cubicBezTo>
                  <a:pt x="93121" y="25720"/>
                  <a:pt x="84817" y="32257"/>
                  <a:pt x="82244" y="41205"/>
                </a:cubicBezTo>
                <a:lnTo>
                  <a:pt x="82241" y="41203"/>
                </a:lnTo>
                <a:moveTo>
                  <a:pt x="137160" y="258248"/>
                </a:moveTo>
                <a:cubicBezTo>
                  <a:pt x="128160" y="268159"/>
                  <a:pt x="115140" y="274320"/>
                  <a:pt x="100728" y="274320"/>
                </a:cubicBezTo>
                <a:cubicBezTo>
                  <a:pt x="83476" y="274320"/>
                  <a:pt x="68314" y="265479"/>
                  <a:pt x="59525" y="252086"/>
                </a:cubicBezTo>
                <a:cubicBezTo>
                  <a:pt x="35415" y="247801"/>
                  <a:pt x="17145" y="226745"/>
                  <a:pt x="17145" y="201455"/>
                </a:cubicBezTo>
                <a:cubicBezTo>
                  <a:pt x="17145" y="201186"/>
                  <a:pt x="17145" y="200865"/>
                  <a:pt x="17145" y="200597"/>
                </a:cubicBezTo>
                <a:cubicBezTo>
                  <a:pt x="6537" y="189775"/>
                  <a:pt x="0" y="174934"/>
                  <a:pt x="0" y="158593"/>
                </a:cubicBezTo>
                <a:cubicBezTo>
                  <a:pt x="0" y="143697"/>
                  <a:pt x="5412" y="130088"/>
                  <a:pt x="14358" y="119642"/>
                </a:cubicBezTo>
                <a:cubicBezTo>
                  <a:pt x="13392" y="115623"/>
                  <a:pt x="12857" y="111445"/>
                  <a:pt x="12857" y="107158"/>
                </a:cubicBezTo>
                <a:cubicBezTo>
                  <a:pt x="12857" y="89692"/>
                  <a:pt x="21592" y="74206"/>
                  <a:pt x="34877" y="64937"/>
                </a:cubicBezTo>
                <a:cubicBezTo>
                  <a:pt x="37288" y="49452"/>
                  <a:pt x="46558" y="36273"/>
                  <a:pt x="59470" y="28611"/>
                </a:cubicBezTo>
                <a:cubicBezTo>
                  <a:pt x="66704" y="11787"/>
                  <a:pt x="83418" y="0"/>
                  <a:pt x="102867" y="0"/>
                </a:cubicBezTo>
                <a:cubicBezTo>
                  <a:pt x="116369" y="0"/>
                  <a:pt x="128585" y="5678"/>
                  <a:pt x="137157" y="14789"/>
                </a:cubicBezTo>
                <a:cubicBezTo>
                  <a:pt x="145730" y="5681"/>
                  <a:pt x="157945" y="0"/>
                  <a:pt x="171447" y="0"/>
                </a:cubicBezTo>
                <a:cubicBezTo>
                  <a:pt x="190897" y="0"/>
                  <a:pt x="207614" y="11787"/>
                  <a:pt x="214793" y="28611"/>
                </a:cubicBezTo>
                <a:cubicBezTo>
                  <a:pt x="227705" y="36273"/>
                  <a:pt x="237026" y="49454"/>
                  <a:pt x="239385" y="64937"/>
                </a:cubicBezTo>
                <a:cubicBezTo>
                  <a:pt x="252725" y="74206"/>
                  <a:pt x="261460" y="89689"/>
                  <a:pt x="261460" y="107158"/>
                </a:cubicBezTo>
                <a:cubicBezTo>
                  <a:pt x="261460" y="111445"/>
                  <a:pt x="260925" y="115623"/>
                  <a:pt x="259959" y="119642"/>
                </a:cubicBezTo>
                <a:cubicBezTo>
                  <a:pt x="268908" y="130143"/>
                  <a:pt x="274317" y="143752"/>
                  <a:pt x="274317" y="158593"/>
                </a:cubicBezTo>
                <a:cubicBezTo>
                  <a:pt x="274317" y="174934"/>
                  <a:pt x="267780" y="189775"/>
                  <a:pt x="257172" y="200597"/>
                </a:cubicBezTo>
                <a:cubicBezTo>
                  <a:pt x="257172" y="200865"/>
                  <a:pt x="257172" y="201186"/>
                  <a:pt x="257172" y="201455"/>
                </a:cubicBezTo>
                <a:cubicBezTo>
                  <a:pt x="257172" y="226797"/>
                  <a:pt x="238903" y="247801"/>
                  <a:pt x="214793" y="252086"/>
                </a:cubicBezTo>
                <a:cubicBezTo>
                  <a:pt x="206006" y="265481"/>
                  <a:pt x="190844" y="274320"/>
                  <a:pt x="173590" y="274320"/>
                </a:cubicBezTo>
                <a:cubicBezTo>
                  <a:pt x="159177" y="274320"/>
                  <a:pt x="146158" y="268104"/>
                  <a:pt x="137157" y="258248"/>
                </a:cubicBezTo>
                <a:lnTo>
                  <a:pt x="137160" y="258248"/>
                </a:lnTo>
                <a:moveTo>
                  <a:pt x="150020" y="225027"/>
                </a:moveTo>
                <a:cubicBezTo>
                  <a:pt x="150020" y="238047"/>
                  <a:pt x="160576" y="248602"/>
                  <a:pt x="173595" y="248602"/>
                </a:cubicBezTo>
                <a:cubicBezTo>
                  <a:pt x="183133" y="248602"/>
                  <a:pt x="191382" y="242924"/>
                  <a:pt x="195080" y="234725"/>
                </a:cubicBezTo>
                <a:cubicBezTo>
                  <a:pt x="197115" y="230223"/>
                  <a:pt x="201510" y="227277"/>
                  <a:pt x="206440" y="227170"/>
                </a:cubicBezTo>
                <a:cubicBezTo>
                  <a:pt x="220317" y="226794"/>
                  <a:pt x="231460" y="215437"/>
                  <a:pt x="231460" y="201452"/>
                </a:cubicBezTo>
                <a:cubicBezTo>
                  <a:pt x="231460" y="200059"/>
                  <a:pt x="231353" y="198665"/>
                  <a:pt x="231139" y="197382"/>
                </a:cubicBezTo>
                <a:cubicBezTo>
                  <a:pt x="230390" y="192828"/>
                  <a:pt x="232212" y="188219"/>
                  <a:pt x="235800" y="185325"/>
                </a:cubicBezTo>
                <a:cubicBezTo>
                  <a:pt x="243624" y="179002"/>
                  <a:pt x="248605" y="169412"/>
                  <a:pt x="248605" y="158590"/>
                </a:cubicBezTo>
                <a:cubicBezTo>
                  <a:pt x="248605" y="148248"/>
                  <a:pt x="244051" y="138982"/>
                  <a:pt x="236765" y="132711"/>
                </a:cubicBezTo>
                <a:cubicBezTo>
                  <a:pt x="232481" y="129013"/>
                  <a:pt x="231139" y="122906"/>
                  <a:pt x="233498" y="117708"/>
                </a:cubicBezTo>
                <a:cubicBezTo>
                  <a:pt x="234944" y="114493"/>
                  <a:pt x="235748" y="110957"/>
                  <a:pt x="235748" y="107152"/>
                </a:cubicBezTo>
                <a:cubicBezTo>
                  <a:pt x="235748" y="97079"/>
                  <a:pt x="229962" y="88348"/>
                  <a:pt x="221442" y="84115"/>
                </a:cubicBezTo>
                <a:cubicBezTo>
                  <a:pt x="217102" y="81972"/>
                  <a:pt x="214315" y="77526"/>
                  <a:pt x="214315" y="72703"/>
                </a:cubicBezTo>
                <a:cubicBezTo>
                  <a:pt x="214260" y="62361"/>
                  <a:pt x="208047" y="53416"/>
                  <a:pt x="199153" y="49397"/>
                </a:cubicBezTo>
                <a:cubicBezTo>
                  <a:pt x="195724" y="47844"/>
                  <a:pt x="193099" y="44843"/>
                  <a:pt x="192082" y="41200"/>
                </a:cubicBezTo>
                <a:cubicBezTo>
                  <a:pt x="189511" y="32252"/>
                  <a:pt x="181205" y="25715"/>
                  <a:pt x="171453" y="25715"/>
                </a:cubicBezTo>
                <a:cubicBezTo>
                  <a:pt x="159613" y="25715"/>
                  <a:pt x="150023" y="35305"/>
                  <a:pt x="150023" y="47148"/>
                </a:cubicBezTo>
                <a:lnTo>
                  <a:pt x="150020" y="225027"/>
                </a:lnTo>
              </a:path>
            </a:pathLst>
          </a:custGeom>
          <a:solidFill>
            <a:srgbClr val="FFFFFF"/>
          </a:solidFill>
          <a:ln/>
        </p:spPr>
        <p:txBody>
          <a:bodyPr wrap="square" lIns="0" tIns="0" rIns="0" bIns="0" rtlCol="0" anchor="ctr"/>
          <a:lstStyle/>
          <a:p>
            <a:pPr indent="0" marL="0">
              <a:buNone/>
            </a:pPr>
            <a:endParaRPr lang="en-US" dirty="0"/>
          </a:p>
        </p:txBody>
      </p:sp>
      <p:sp>
        <p:nvSpPr>
          <p:cNvPr id="24" name="Text 22"/>
          <p:cNvSpPr/>
          <p:nvPr/>
        </p:nvSpPr>
        <p:spPr>
          <a:xfrm>
            <a:off x="595349" y="1787288"/>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ph type="title"/>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Effective Alert Design: Fighting Fatigue Overview</a:t>
            </a:r>
            <a:endParaRPr lang="en-US" sz="2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Effective Alert Design: Fighting Fatigue Overview</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Security analysts face an overwhelming number of alerts each day, averaging around 11,000. Most of these alerts are noise, making it challenging to find the important signals. This situation leads to alert fatigue, a critical problem where overwhelmed analysts may ignore alerts, spend less time investigating, and eventually miss real threats. Alert fatigue is more than an operational issue; it is a security vulnerability that attackers exploit.</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Effective alert design plays a vital role in mitigating fatigue by prioritizing alerts based on risk, grouping related alerts into coherent incidents, enriching alert information with context, and providing actionable recommendations. These design principles help analysts focus on meaningful threats, reduce noise, and maintain vigilance. Good alert systems also explain AI decisions clearly and continuously calibrate to evolving environments. By improving alert design, security operations can reduce analyst overload, enhance detection, and improve overall response effectiveness.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6" y="4285412"/>
            <a:ext cx="4206240" cy="822960"/>
          </a:xfrm>
          <a:prstGeom prst="rect">
            <a:avLst/>
          </a:prstGeom>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507996" y="2650474"/>
            <a:ext cx="2926080" cy="822960"/>
          </a:xfrm>
          <a:prstGeom prst="rect">
            <a:avLst/>
          </a:prstGeom>
          <a:solidFill>
            <a:srgbClr val="46B1E1"/>
          </a:solidFill>
          <a:ln/>
        </p:spPr>
        <p:txBody>
          <a:bodyPr wrap="square" lIns="0" tIns="0" rIns="0" bIns="0" rtlCol="0" anchor="ctr"/>
          <a:lstStyle/>
          <a:p>
            <a:pPr indent="0" marL="0">
              <a:buNone/>
            </a:pPr>
            <a:endParaRPr lang="en-US" dirty="0"/>
          </a:p>
        </p:txBody>
      </p:sp>
      <p:sp>
        <p:nvSpPr>
          <p:cNvPr id="6" name="Text 4"/>
          <p:cNvSpPr/>
          <p:nvPr/>
        </p:nvSpPr>
        <p:spPr>
          <a:xfrm>
            <a:off x="507996" y="3461593"/>
            <a:ext cx="3566160" cy="822960"/>
          </a:xfrm>
          <a:prstGeom prst="rect">
            <a:avLst/>
          </a:prstGeom>
          <a:solidFill>
            <a:srgbClr val="156082"/>
          </a:solidFill>
          <a:ln/>
        </p:spPr>
        <p:txBody>
          <a:bodyPr wrap="square" lIns="0" tIns="0" rIns="0" bIns="0" rtlCol="0" anchor="ctr"/>
          <a:lstStyle/>
          <a:p>
            <a:pPr indent="0" marL="0">
              <a:buNone/>
            </a:pPr>
            <a:endParaRPr lang="en-US" dirty="0"/>
          </a:p>
        </p:txBody>
      </p:sp>
      <p:sp>
        <p:nvSpPr>
          <p:cNvPr id="7" name="Text 5"/>
          <p:cNvSpPr/>
          <p:nvPr/>
        </p:nvSpPr>
        <p:spPr>
          <a:xfrm>
            <a:off x="507996" y="5101612"/>
            <a:ext cx="4846320" cy="822960"/>
          </a:xfrm>
          <a:prstGeom prst="rect">
            <a:avLst/>
          </a:pr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7996" y="1836383"/>
            <a:ext cx="2286000" cy="822960"/>
          </a:xfrm>
          <a:prstGeom prst="rect">
            <a:avLst/>
          </a:prstGeom>
          <a:solidFill>
            <a:srgbClr val="83CBEB"/>
          </a:solidFill>
          <a:ln/>
        </p:spPr>
        <p:txBody>
          <a:bodyPr wrap="square" lIns="0" tIns="0" rIns="0" bIns="0" rtlCol="0" anchor="ctr"/>
          <a:lstStyle/>
          <a:p>
            <a:pPr indent="0" marL="0">
              <a:buNone/>
            </a:pPr>
            <a:endParaRPr lang="en-US" dirty="0"/>
          </a:p>
        </p:txBody>
      </p:sp>
      <p:sp>
        <p:nvSpPr>
          <p:cNvPr id="9" name="Text 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0" name="Text 8"/>
          <p:cNvSpPr/>
          <p:nvPr/>
        </p:nvSpPr>
        <p:spPr>
          <a:xfrm>
            <a:off x="5825999" y="5245173"/>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Threat Intelligence and Environmental Context</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Incorporating threat intelligence links alerts to known malicious actors or campaigns, increasing their priority. Environmental context considers factors like normal behavior patterns, time of access, and recent organizational events. For instance, activity unusual for that time or user might increase risk, while planned maintenance or approved exceptions could reduce it. Together, these enrichments refine risk scores to guide appropriate handling and triage effectively.</a:t>
            </a:r>
            <a:endParaRPr lang="en-US" sz="724" dirty="0"/>
          </a:p>
        </p:txBody>
      </p:sp>
      <p:sp>
        <p:nvSpPr>
          <p:cNvPr id="11" name="Text 9"/>
          <p:cNvSpPr/>
          <p:nvPr/>
        </p:nvSpPr>
        <p:spPr>
          <a:xfrm>
            <a:off x="5185919" y="4421143"/>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User Risk Profile</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User risk profile evaluates the context of the user involved, considering attributes such as privilege levels and history of suspicious behavior. Alerts triggered by senior personnel or users with elevated privileges are weighted more heavily than those from standard or low-risk users. This helps prioritize alerts that pose greater potential harm if exploited.</a:t>
            </a:r>
            <a:endParaRPr lang="en-US" sz="724" dirty="0"/>
          </a:p>
        </p:txBody>
      </p:sp>
      <p:sp>
        <p:nvSpPr>
          <p:cNvPr id="12" name="Text 10"/>
          <p:cNvSpPr/>
          <p:nvPr/>
        </p:nvSpPr>
        <p:spPr>
          <a:xfrm>
            <a:off x="4545839" y="3601413"/>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Asset Criticality</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Asset criticality measures how important the affected system or resource is to business operations. Systems hosting key applications, sensitive data, or critical infrastructure carry higher priority. An alert involving a domain controller or finance database will yield a higher risk score than one involving test equipment or a non-essential server.</a:t>
            </a:r>
            <a:endParaRPr lang="en-US" sz="724" dirty="0"/>
          </a:p>
        </p:txBody>
      </p:sp>
      <p:sp>
        <p:nvSpPr>
          <p:cNvPr id="13" name="Text 11"/>
          <p:cNvSpPr/>
          <p:nvPr/>
        </p:nvSpPr>
        <p:spPr>
          <a:xfrm>
            <a:off x="3905759" y="2787090"/>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Threat Severity</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Threat severity assesses how dangerous the detected activity would be if it were malicious. For example, an alert involving data exfiltration of sensitive financial data is more severe than one involving access to a low-risk, non-critical system. This severity rating influences how quickly and thoroughly an alert is investigated.</a:t>
            </a:r>
            <a:endParaRPr lang="en-US" sz="724" dirty="0"/>
          </a:p>
        </p:txBody>
      </p:sp>
      <p:sp>
        <p:nvSpPr>
          <p:cNvPr id="14" name="Text 12"/>
          <p:cNvSpPr/>
          <p:nvPr/>
        </p:nvSpPr>
        <p:spPr>
          <a:xfrm>
            <a:off x="3255519" y="1951964"/>
            <a:ext cx="5303520" cy="548640"/>
          </a:xfrm>
          <a:prstGeom prst="rect">
            <a:avLst/>
          </a:prstGeom>
          <a:noFill/>
          <a:ln/>
        </p:spPr>
        <p:txBody>
          <a:bodyPr wrap="square" lIns="0" tIns="0" rIns="0" bIns="0" rtlCol="0" anchor="t"/>
          <a:lstStyle/>
          <a:p>
            <a:pPr algn="l" marL="0" indent="0">
              <a:lnSpc>
                <a:spcPct val="100000"/>
              </a:lnSpc>
              <a:spcBef>
                <a:spcPts val="669"/>
              </a:spcBef>
              <a:buNone/>
            </a:pPr>
            <a:r>
              <a:rPr lang="en-US" sz="724" dirty="0">
                <a:solidFill>
                  <a:srgbClr val="FFFFFF"/>
                </a:solidFill>
                <a:latin typeface="Figtree Regular" pitchFamily="34" charset="0"/>
                <a:ea typeface="Figtree Regular" pitchFamily="34" charset="-122"/>
                <a:cs typeface="Figtree Regular" pitchFamily="34" charset="-120"/>
              </a:rPr>
              <a:t>Dynamic Risk Scores as the Foundation</a:t>
            </a:r>
            <a:endParaRPr lang="en-US" sz="724" dirty="0"/>
          </a:p>
          <a:p>
            <a:pPr algn="l" marL="142875" indent="0">
              <a:lnSpc>
                <a:spcPct val="100000"/>
              </a:lnSpc>
              <a:spcBef>
                <a:spcPts val="669"/>
              </a:spcBef>
              <a:buNone/>
            </a:pPr>
            <a:r>
              <a:rPr lang="en-US" sz="616" dirty="0">
                <a:solidFill>
                  <a:srgbClr val="FFFFFF"/>
                </a:solidFill>
                <a:latin typeface="Figtree Regular" pitchFamily="34" charset="0"/>
                <a:ea typeface="Figtree Regular" pitchFamily="34" charset="-122"/>
                <a:cs typeface="Figtree Regular" pitchFamily="34" charset="-120"/>
              </a:rPr>
              <a:t>Risk-based prioritization begins with calculating dynamic risk scores that weigh multiple critical factors. These scores reflect the overall significance of each alert based on an integration of threat severity, asset criticality, user risk profile, threat intelligence, and environmental context. This holistic scoring enables triage systems to discern which alerts demand urgent attention and which can be reviewed later or handled automatically.</a:t>
            </a:r>
            <a:endParaRPr lang="en-US" sz="724" dirty="0"/>
          </a:p>
        </p:txBody>
      </p:sp>
      <p:sp>
        <p:nvSpPr>
          <p:cNvPr id="15" name="Text 13"/>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6" name="Text 1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7" name="Text 1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8" name="Text 16"/>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Risk-Based Prioritization</a:t>
            </a:r>
            <a:endParaRPr 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5" y="1638508"/>
            <a:ext cx="6604005" cy="4305530"/>
          </a:xfrm>
          <a:custGeom>
            <a:avLst/>
            <a:gdLst/>
            <a:ahLst/>
            <a:cxnLst/>
            <a:rect l="l" t="t" r="r" b="b"/>
            <a:pathLst>
              <a:path w="6604005" h="4305530">
                <a:moveTo>
                  <a:pt x="198847" y="4305530"/>
                </a:moveTo>
                <a:cubicBezTo>
                  <a:pt x="89022" y="4305530"/>
                  <a:pt x="0" y="4216492"/>
                  <a:pt x="0" y="4106658"/>
                </a:cubicBezTo>
                <a:lnTo>
                  <a:pt x="0" y="198872"/>
                </a:lnTo>
                <a:cubicBezTo>
                  <a:pt x="0" y="89038"/>
                  <a:pt x="89022" y="0"/>
                  <a:pt x="198847" y="0"/>
                </a:cubicBezTo>
                <a:lnTo>
                  <a:pt x="6405092" y="0"/>
                </a:lnTo>
                <a:cubicBezTo>
                  <a:pt x="6514917" y="0"/>
                  <a:pt x="6603939" y="89038"/>
                  <a:pt x="6603939" y="198872"/>
                </a:cubicBezTo>
                <a:lnTo>
                  <a:pt x="6603939" y="4106658"/>
                </a:lnTo>
                <a:cubicBezTo>
                  <a:pt x="6603939" y="4216492"/>
                  <a:pt x="6514917" y="4305530"/>
                  <a:pt x="6405092" y="4305530"/>
                </a:cubicBezTo>
                <a:lnTo>
                  <a:pt x="198847" y="430553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502926" y="1638508"/>
            <a:ext cx="4110183" cy="4305530"/>
          </a:xfrm>
          <a:custGeom>
            <a:avLst/>
            <a:gdLst/>
            <a:ahLst/>
            <a:cxnLst/>
            <a:rect l="l" t="t" r="r" b="b"/>
            <a:pathLst>
              <a:path w="4110183" h="4305530">
                <a:moveTo>
                  <a:pt x="281835" y="4305530"/>
                </a:moveTo>
                <a:cubicBezTo>
                  <a:pt x="126183" y="4305530"/>
                  <a:pt x="0" y="4179335"/>
                  <a:pt x="0" y="4023690"/>
                </a:cubicBezTo>
                <a:lnTo>
                  <a:pt x="0" y="281840"/>
                </a:lnTo>
                <a:cubicBezTo>
                  <a:pt x="0" y="126195"/>
                  <a:pt x="126183" y="0"/>
                  <a:pt x="281835" y="0"/>
                </a:cubicBezTo>
                <a:lnTo>
                  <a:pt x="3828348" y="0"/>
                </a:lnTo>
                <a:cubicBezTo>
                  <a:pt x="3984000" y="0"/>
                  <a:pt x="4110183" y="126195"/>
                  <a:pt x="4110183" y="281840"/>
                </a:cubicBezTo>
                <a:lnTo>
                  <a:pt x="4110183" y="4023690"/>
                </a:lnTo>
                <a:cubicBezTo>
                  <a:pt x="4110183" y="4179335"/>
                  <a:pt x="3984000" y="4305530"/>
                  <a:pt x="3828348" y="4305530"/>
                </a:cubicBezTo>
                <a:lnTo>
                  <a:pt x="281835" y="4305530"/>
                </a:lnTo>
              </a:path>
            </a:pathLst>
          </a:custGeom>
          <a:solidFill>
            <a:srgbClr val="000000">
              <a:alpha val="2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6" name="Text 4"/>
          <p:cNvSpPr/>
          <p:nvPr/>
        </p:nvSpPr>
        <p:spPr>
          <a:xfrm>
            <a:off x="507997"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nvSpPr>
        <p:spPr>
          <a:xfrm>
            <a:off x="810959" y="1962473"/>
            <a:ext cx="3494117" cy="3657600"/>
          </a:xfrm>
          <a:custGeom>
            <a:avLst/>
            <a:gdLst/>
            <a:ahLst/>
            <a:cxnLst/>
            <a:rect l="l" t="t" r="r" b="b"/>
            <a:pathLst>
              <a:path w="3494117" h="3657600">
                <a:moveTo>
                  <a:pt x="83614" y="3657600"/>
                </a:moveTo>
                <a:cubicBezTo>
                  <a:pt x="37422" y="3657600"/>
                  <a:pt x="0" y="3620183"/>
                  <a:pt x="0" y="3573987"/>
                </a:cubicBezTo>
                <a:lnTo>
                  <a:pt x="0" y="83613"/>
                </a:lnTo>
                <a:cubicBezTo>
                  <a:pt x="0" y="37417"/>
                  <a:pt x="37422" y="0"/>
                  <a:pt x="83614" y="0"/>
                </a:cubicBezTo>
                <a:lnTo>
                  <a:pt x="3410503" y="0"/>
                </a:lnTo>
                <a:cubicBezTo>
                  <a:pt x="3456695" y="0"/>
                  <a:pt x="3494117" y="37417"/>
                  <a:pt x="3494117" y="83613"/>
                </a:cubicBezTo>
                <a:lnTo>
                  <a:pt x="3494117" y="3573987"/>
                </a:lnTo>
                <a:cubicBezTo>
                  <a:pt x="3494117" y="3620183"/>
                  <a:pt x="3456695" y="3657600"/>
                  <a:pt x="3410503" y="3657600"/>
                </a:cubicBezTo>
                <a:lnTo>
                  <a:pt x="83614" y="3657600"/>
                </a:lnTo>
              </a:path>
            </a:pathLst>
          </a:custGeom>
          <a:blipFill>
            <a:blip r:embed="rId1"/>
            <a:srcRect/>
            <a:stretch>
              <a:fillRect l="0" r="0" t="18157" b="18157"/>
            </a:stretch>
          </a:blipFill>
          <a:ln/>
        </p:spPr>
        <p:txBody>
          <a:bodyPr wrap="square" lIns="0" tIns="0" rIns="0" bIns="0" rtlCol="0" anchor="ctr"/>
          <a:lstStyle/>
          <a:p>
            <a:pPr indent="0" marL="0">
              <a:buNone/>
            </a:pPr>
            <a:endParaRPr lang="en-US" dirty="0"/>
          </a:p>
        </p:txBody>
      </p:sp>
      <p:sp>
        <p:nvSpPr>
          <p:cNvPr id="8" name="Text 6"/>
          <p:cNvSpPr/>
          <p:nvPr/>
        </p:nvSpPr>
        <p:spPr>
          <a:xfrm>
            <a:off x="5383873" y="2593549"/>
            <a:ext cx="5925027" cy="3026524"/>
          </a:xfrm>
          <a:prstGeom prst="rect">
            <a:avLst/>
          </a:prstGeom>
          <a:noFill/>
          <a:ln/>
        </p:spPr>
        <p:txBody>
          <a:bodyPr wrap="square" lIns="0" tIns="0" rIns="0" bIns="0" rtlCol="0" anchor="t"/>
          <a:lstStyle/>
          <a:p>
            <a:pPr algn="l" marL="0" indent="0">
              <a:lnSpc>
                <a:spcPct val="100000"/>
              </a:lnSpc>
              <a:spcBef>
                <a:spcPts val="1297"/>
              </a:spcBef>
              <a:buNone/>
            </a:pPr>
            <a:r>
              <a:rPr lang="en-US" sz="1816" dirty="0">
                <a:solidFill>
                  <a:srgbClr val="FFFFFF"/>
                </a:solidFill>
                <a:latin typeface="Figtree Regular" pitchFamily="34" charset="0"/>
                <a:ea typeface="Figtree Regular" pitchFamily="34" charset="-122"/>
                <a:cs typeface="Figtree Regular" pitchFamily="34" charset="-120"/>
              </a:rPr>
              <a:t>Correlation and Grouping of Alerts</a:t>
            </a:r>
            <a:endParaRPr lang="en-US" sz="1816" dirty="0"/>
          </a:p>
          <a:p>
            <a:pPr algn="l" marL="142875" indent="0">
              <a:lnSpc>
                <a:spcPct val="100000"/>
              </a:lnSpc>
              <a:spcBef>
                <a:spcPts val="1297"/>
              </a:spcBef>
              <a:buNone/>
            </a:pPr>
            <a:r>
              <a:rPr lang="en-US" sz="1543" dirty="0">
                <a:solidFill>
                  <a:srgbClr val="FFFFFF"/>
                </a:solidFill>
                <a:latin typeface="Figtree Regular" pitchFamily="34" charset="0"/>
                <a:ea typeface="Figtree Regular" pitchFamily="34" charset="-122"/>
                <a:cs typeface="Figtree Regular" pitchFamily="34" charset="-120"/>
              </a:rPr>
              <a:t>Correlating and grouping related alerts into unified incidents reduces the overwhelming noise analysts face and reveals coherent attack narratives. Individual alerts like failed logins or file downloads may seem minor alone, but together tell a story of credential compromise or data theft. Effective systems group alerts by common elements such as user, system, time window, or known kill chain stages. This transforms disconnected signals into a clear incident view, allowing analysts to investigate meaningfully rather than triaging isolated events. By focusing on coherent incidents instead of raw alerts, analysts can prioritize efforts, reduce alert fatigue, and respond more effectively to real threats.</a:t>
            </a:r>
            <a:endParaRPr lang="en-US" sz="1816" dirty="0"/>
          </a:p>
        </p:txBody>
      </p:sp>
      <p:sp>
        <p:nvSpPr>
          <p:cNvPr id="9" name="Text 7"/>
          <p:cNvSpPr/>
          <p:nvPr/>
        </p:nvSpPr>
        <p:spPr>
          <a:xfrm>
            <a:off x="5398161" y="1947231"/>
            <a:ext cx="428625" cy="457200"/>
          </a:xfrm>
          <a:custGeom>
            <a:avLst/>
            <a:gdLst/>
            <a:ahLst/>
            <a:cxnLst/>
            <a:rect l="l" t="t" r="r" b="b"/>
            <a:pathLst>
              <a:path w="428625" h="457200">
                <a:moveTo>
                  <a:pt x="328614" y="71438"/>
                </a:moveTo>
                <a:cubicBezTo>
                  <a:pt x="328614" y="55655"/>
                  <a:pt x="341408" y="42863"/>
                  <a:pt x="357190" y="42863"/>
                </a:cubicBezTo>
                <a:cubicBezTo>
                  <a:pt x="372972" y="42863"/>
                  <a:pt x="385767" y="55655"/>
                  <a:pt x="385767" y="71438"/>
                </a:cubicBezTo>
                <a:cubicBezTo>
                  <a:pt x="385767" y="87220"/>
                  <a:pt x="372972" y="100013"/>
                  <a:pt x="357190" y="100013"/>
                </a:cubicBezTo>
                <a:cubicBezTo>
                  <a:pt x="341408" y="100013"/>
                  <a:pt x="328614" y="87220"/>
                  <a:pt x="328614" y="71438"/>
                </a:cubicBezTo>
                <a:moveTo>
                  <a:pt x="301915" y="116623"/>
                </a:moveTo>
                <a:cubicBezTo>
                  <a:pt x="307988" y="124034"/>
                  <a:pt x="315489" y="130197"/>
                  <a:pt x="323972" y="134659"/>
                </a:cubicBezTo>
                <a:lnTo>
                  <a:pt x="291109" y="314860"/>
                </a:lnTo>
                <a:cubicBezTo>
                  <a:pt x="280839" y="316108"/>
                  <a:pt x="271285" y="319592"/>
                  <a:pt x="262803" y="324772"/>
                </a:cubicBezTo>
                <a:lnTo>
                  <a:pt x="136894" y="214491"/>
                </a:lnTo>
                <a:cubicBezTo>
                  <a:pt x="140735" y="205649"/>
                  <a:pt x="142878" y="196006"/>
                  <a:pt x="142878" y="185738"/>
                </a:cubicBezTo>
                <a:cubicBezTo>
                  <a:pt x="142878" y="183950"/>
                  <a:pt x="142788" y="182075"/>
                  <a:pt x="142698" y="180292"/>
                </a:cubicBezTo>
                <a:lnTo>
                  <a:pt x="301915" y="116623"/>
                </a:lnTo>
                <a:moveTo>
                  <a:pt x="366119" y="142340"/>
                </a:moveTo>
                <a:cubicBezTo>
                  <a:pt x="401390" y="137965"/>
                  <a:pt x="428625" y="107872"/>
                  <a:pt x="428625" y="71438"/>
                </a:cubicBezTo>
                <a:cubicBezTo>
                  <a:pt x="428625" y="31967"/>
                  <a:pt x="396658" y="0"/>
                  <a:pt x="357186" y="0"/>
                </a:cubicBezTo>
                <a:cubicBezTo>
                  <a:pt x="317718" y="0"/>
                  <a:pt x="285747" y="31967"/>
                  <a:pt x="285747" y="71438"/>
                </a:cubicBezTo>
                <a:cubicBezTo>
                  <a:pt x="285747" y="73225"/>
                  <a:pt x="285837" y="75100"/>
                  <a:pt x="285927" y="76883"/>
                </a:cubicBezTo>
                <a:lnTo>
                  <a:pt x="126710" y="140552"/>
                </a:lnTo>
                <a:cubicBezTo>
                  <a:pt x="113671" y="124477"/>
                  <a:pt x="93757" y="114300"/>
                  <a:pt x="71435" y="114300"/>
                </a:cubicBezTo>
                <a:cubicBezTo>
                  <a:pt x="31967" y="114300"/>
                  <a:pt x="-4" y="146267"/>
                  <a:pt x="-4" y="185738"/>
                </a:cubicBezTo>
                <a:cubicBezTo>
                  <a:pt x="-4" y="225208"/>
                  <a:pt x="31963" y="257175"/>
                  <a:pt x="71435" y="257175"/>
                </a:cubicBezTo>
                <a:cubicBezTo>
                  <a:pt x="85099" y="257175"/>
                  <a:pt x="97778" y="253335"/>
                  <a:pt x="108584" y="246728"/>
                </a:cubicBezTo>
                <a:lnTo>
                  <a:pt x="234582" y="357009"/>
                </a:lnTo>
                <a:cubicBezTo>
                  <a:pt x="230742" y="365851"/>
                  <a:pt x="228599" y="375494"/>
                  <a:pt x="228599" y="385763"/>
                </a:cubicBezTo>
                <a:cubicBezTo>
                  <a:pt x="228599" y="425233"/>
                  <a:pt x="260565" y="457200"/>
                  <a:pt x="300038" y="457200"/>
                </a:cubicBezTo>
                <a:cubicBezTo>
                  <a:pt x="339505" y="457200"/>
                  <a:pt x="371476" y="425233"/>
                  <a:pt x="371476" y="385763"/>
                </a:cubicBezTo>
                <a:cubicBezTo>
                  <a:pt x="371476" y="358349"/>
                  <a:pt x="356029" y="334506"/>
                  <a:pt x="333346" y="322541"/>
                </a:cubicBezTo>
                <a:lnTo>
                  <a:pt x="366119" y="142340"/>
                </a:lnTo>
                <a:moveTo>
                  <a:pt x="271461" y="385763"/>
                </a:moveTo>
                <a:cubicBezTo>
                  <a:pt x="271461" y="369980"/>
                  <a:pt x="284256" y="357188"/>
                  <a:pt x="300038" y="357188"/>
                </a:cubicBezTo>
                <a:cubicBezTo>
                  <a:pt x="315819" y="357188"/>
                  <a:pt x="328614" y="369980"/>
                  <a:pt x="328614" y="385763"/>
                </a:cubicBezTo>
                <a:cubicBezTo>
                  <a:pt x="328614" y="401545"/>
                  <a:pt x="315819" y="414338"/>
                  <a:pt x="300037" y="414338"/>
                </a:cubicBezTo>
                <a:cubicBezTo>
                  <a:pt x="284256" y="414338"/>
                  <a:pt x="271461" y="401545"/>
                  <a:pt x="271461" y="385763"/>
                </a:cubicBezTo>
                <a:lnTo>
                  <a:pt x="271461" y="385763"/>
                </a:lnTo>
                <a:moveTo>
                  <a:pt x="71439" y="157163"/>
                </a:moveTo>
                <a:cubicBezTo>
                  <a:pt x="87221" y="157163"/>
                  <a:pt x="100015" y="169955"/>
                  <a:pt x="100015" y="185738"/>
                </a:cubicBezTo>
                <a:cubicBezTo>
                  <a:pt x="100015" y="201520"/>
                  <a:pt x="87221" y="214313"/>
                  <a:pt x="71439" y="214313"/>
                </a:cubicBezTo>
                <a:cubicBezTo>
                  <a:pt x="55657" y="214313"/>
                  <a:pt x="42863" y="201520"/>
                  <a:pt x="42863" y="185738"/>
                </a:cubicBezTo>
                <a:cubicBezTo>
                  <a:pt x="42863" y="169955"/>
                  <a:pt x="55657" y="157163"/>
                  <a:pt x="71439" y="157163"/>
                </a:cubicBezTo>
              </a:path>
            </a:pathLst>
          </a:custGeom>
          <a:solidFill>
            <a:srgbClr val="FFFFFF"/>
          </a:solidFill>
          <a:ln/>
        </p:spPr>
        <p:txBody>
          <a:bodyPr wrap="square" lIns="0" tIns="0" rIns="0" bIns="0" rtlCol="0" anchor="ctr"/>
          <a:lstStyle/>
          <a:p>
            <a:pPr indent="0" marL="0">
              <a:buNone/>
            </a:pPr>
            <a:endParaRPr lang="en-US" dirty="0"/>
          </a:p>
        </p:txBody>
      </p:sp>
      <p:sp>
        <p:nvSpPr>
          <p:cNvPr id="10" name="Text 8"/>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1" name="Text 9"/>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2" name="Text 10"/>
          <p:cNvSpPr/>
          <p:nvPr>
            <p:ph type="title"/>
          </p:nvPr>
        </p:nvSpPr>
        <p:spPr>
          <a:xfrm>
            <a:off x="505463" y="289560"/>
            <a:ext cx="11178537"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Correlation and Grouping</a:t>
            </a:r>
            <a:endParaRPr lang="en-US" sz="2800" dirty="0"/>
          </a:p>
        </p:txBody>
      </p:sp>
      <p:sp>
        <p:nvSpPr>
          <p:cNvPr id="13" name="Text 1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00000"/>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9929" y="1832488"/>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5" name="Text 3"/>
          <p:cNvSpPr/>
          <p:nvPr/>
        </p:nvSpPr>
        <p:spPr>
          <a:xfrm>
            <a:off x="2767509" y="1821877"/>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6" name="Text 4"/>
          <p:cNvSpPr/>
          <p:nvPr/>
        </p:nvSpPr>
        <p:spPr>
          <a:xfrm>
            <a:off x="5025089" y="1811266"/>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7" name="Text 5"/>
          <p:cNvSpPr/>
          <p:nvPr/>
        </p:nvSpPr>
        <p:spPr>
          <a:xfrm>
            <a:off x="7282669" y="1800655"/>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8" name="Text 6"/>
          <p:cNvSpPr/>
          <p:nvPr/>
        </p:nvSpPr>
        <p:spPr>
          <a:xfrm>
            <a:off x="9540248" y="1790044"/>
            <a:ext cx="2146288" cy="4297680"/>
          </a:xfrm>
          <a:custGeom>
            <a:avLst/>
            <a:gdLst/>
            <a:ahLst/>
            <a:cxnLst/>
            <a:rect l="l" t="t" r="r" b="b"/>
            <a:pathLst>
              <a:path w="2146288" h="4297680">
                <a:moveTo>
                  <a:pt x="76150" y="4297680"/>
                </a:moveTo>
                <a:cubicBezTo>
                  <a:pt x="34083" y="4297680"/>
                  <a:pt x="0" y="4263599"/>
                  <a:pt x="0" y="4221525"/>
                </a:cubicBezTo>
                <a:lnTo>
                  <a:pt x="0" y="76155"/>
                </a:lnTo>
                <a:cubicBezTo>
                  <a:pt x="0" y="34081"/>
                  <a:pt x="34083" y="0"/>
                  <a:pt x="76150" y="0"/>
                </a:cubicBezTo>
                <a:lnTo>
                  <a:pt x="2070138" y="0"/>
                </a:lnTo>
                <a:cubicBezTo>
                  <a:pt x="2112205" y="0"/>
                  <a:pt x="2146288" y="34081"/>
                  <a:pt x="2146288" y="76155"/>
                </a:cubicBezTo>
                <a:lnTo>
                  <a:pt x="2146288" y="4221525"/>
                </a:lnTo>
                <a:cubicBezTo>
                  <a:pt x="2146288" y="4263599"/>
                  <a:pt x="2112205" y="4297680"/>
                  <a:pt x="2070138" y="4297680"/>
                </a:cubicBezTo>
                <a:lnTo>
                  <a:pt x="76150" y="4297680"/>
                </a:lnTo>
              </a:path>
            </a:pathLst>
          </a:custGeom>
          <a:solidFill>
            <a:srgbClr val="0B3041">
              <a:alpha val="80000"/>
            </a:srgbClr>
          </a:solidFill>
          <a:ln/>
        </p:spPr>
        <p:txBody>
          <a:bodyPr wrap="square" lIns="0" tIns="0" rIns="0" bIns="0" rtlCol="0" anchor="ctr"/>
          <a:lstStyle/>
          <a:p>
            <a:pPr indent="0" marL="0">
              <a:buNone/>
            </a:pPr>
            <a:endParaRPr lang="en-US" dirty="0"/>
          </a:p>
        </p:txBody>
      </p:sp>
      <p:sp>
        <p:nvSpPr>
          <p:cNvPr id="9" name="Text 7"/>
          <p:cNvSpPr/>
          <p:nvPr/>
        </p:nvSpPr>
        <p:spPr>
          <a:xfrm>
            <a:off x="668673" y="1659115"/>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2926253" y="1648504"/>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183833" y="1637893"/>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7441413" y="1627282"/>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698992" y="1616671"/>
            <a:ext cx="309927" cy="325653"/>
          </a:xfrm>
          <a:custGeom>
            <a:avLst/>
            <a:gdLst/>
            <a:ahLst/>
            <a:cxnLst/>
            <a:rect l="l" t="t" r="r" b="b"/>
            <a:pathLst>
              <a:path w="309927" h="325653">
                <a:moveTo>
                  <a:pt x="55787" y="325653"/>
                </a:moveTo>
                <a:cubicBezTo>
                  <a:pt x="24977" y="325653"/>
                  <a:pt x="0" y="300675"/>
                  <a:pt x="0" y="269865"/>
                </a:cubicBezTo>
                <a:lnTo>
                  <a:pt x="0" y="55788"/>
                </a:lnTo>
                <a:cubicBezTo>
                  <a:pt x="0" y="24978"/>
                  <a:pt x="24977" y="0"/>
                  <a:pt x="55787" y="0"/>
                </a:cubicBezTo>
                <a:lnTo>
                  <a:pt x="254140" y="0"/>
                </a:lnTo>
                <a:cubicBezTo>
                  <a:pt x="284950" y="0"/>
                  <a:pt x="309927" y="24978"/>
                  <a:pt x="309927" y="55788"/>
                </a:cubicBezTo>
                <a:lnTo>
                  <a:pt x="309927" y="269865"/>
                </a:lnTo>
                <a:cubicBezTo>
                  <a:pt x="309927" y="300675"/>
                  <a:pt x="284950" y="325653"/>
                  <a:pt x="254140" y="325653"/>
                </a:cubicBezTo>
                <a:lnTo>
                  <a:pt x="55787" y="325653"/>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9698992" y="2616155"/>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The system highlights if related suspicious activity has been observed across the organization or other entities recently. This broader perspective aids in identifying coordinated campaigns or emerging threats.</a:t>
            </a:r>
            <a:endParaRPr lang="en-US" sz="1513" dirty="0"/>
          </a:p>
        </p:txBody>
      </p:sp>
      <p:sp>
        <p:nvSpPr>
          <p:cNvPr id="15" name="Text 13"/>
          <p:cNvSpPr/>
          <p:nvPr/>
        </p:nvSpPr>
        <p:spPr>
          <a:xfrm>
            <a:off x="9698992" y="2043552"/>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Similar Incidents</a:t>
            </a:r>
            <a:endParaRPr lang="en-US" sz="1797" dirty="0"/>
          </a:p>
        </p:txBody>
      </p:sp>
      <p:sp>
        <p:nvSpPr>
          <p:cNvPr id="16" name="Text 14"/>
          <p:cNvSpPr/>
          <p:nvPr/>
        </p:nvSpPr>
        <p:spPr>
          <a:xfrm>
            <a:off x="7441413" y="2626766"/>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Analysts see whether the alerted activity is a first-time occurrence or part of a pattern. Knowing if similar events have been seen before guides decisions on urgency and investigation depth.</a:t>
            </a:r>
            <a:endParaRPr lang="en-US" sz="1513" dirty="0"/>
          </a:p>
        </p:txBody>
      </p:sp>
      <p:sp>
        <p:nvSpPr>
          <p:cNvPr id="17" name="Text 15"/>
          <p:cNvSpPr/>
          <p:nvPr/>
        </p:nvSpPr>
        <p:spPr>
          <a:xfrm>
            <a:off x="7441413" y="2054163"/>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Historical Context</a:t>
            </a:r>
            <a:endParaRPr lang="en-US" sz="1797" dirty="0"/>
          </a:p>
        </p:txBody>
      </p:sp>
      <p:sp>
        <p:nvSpPr>
          <p:cNvPr id="18" name="Text 16"/>
          <p:cNvSpPr/>
          <p:nvPr/>
        </p:nvSpPr>
        <p:spPr>
          <a:xfrm>
            <a:off x="5183833" y="2637377"/>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Information about the user involved in the alert is included, such as their role, risk score based on behavior, and any prior security incidents. This helps determine whether the activity is anomalous or typical for that individual.</a:t>
            </a:r>
            <a:endParaRPr lang="en-US" sz="1513" dirty="0"/>
          </a:p>
        </p:txBody>
      </p:sp>
      <p:sp>
        <p:nvSpPr>
          <p:cNvPr id="19" name="Text 17"/>
          <p:cNvSpPr/>
          <p:nvPr/>
        </p:nvSpPr>
        <p:spPr>
          <a:xfrm>
            <a:off x="5183833" y="2064774"/>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User Profile</a:t>
            </a:r>
            <a:endParaRPr lang="en-US" sz="1797" dirty="0"/>
          </a:p>
        </p:txBody>
      </p:sp>
      <p:sp>
        <p:nvSpPr>
          <p:cNvPr id="20" name="Text 18"/>
          <p:cNvSpPr/>
          <p:nvPr/>
        </p:nvSpPr>
        <p:spPr>
          <a:xfrm>
            <a:off x="2926253" y="2647988"/>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Alerts are enriched with details about the affected systems, including their designation, assigned user or owner, department, and sensitivity level. This context enables analysts to understand potential business impact immediately.</a:t>
            </a:r>
            <a:endParaRPr lang="en-US" sz="1513" dirty="0"/>
          </a:p>
        </p:txBody>
      </p:sp>
      <p:sp>
        <p:nvSpPr>
          <p:cNvPr id="21" name="Text 19"/>
          <p:cNvSpPr/>
          <p:nvPr/>
        </p:nvSpPr>
        <p:spPr>
          <a:xfrm>
            <a:off x="2926253" y="2075385"/>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Asset Context</a:t>
            </a:r>
            <a:endParaRPr lang="en-US" sz="1797" dirty="0"/>
          </a:p>
        </p:txBody>
      </p:sp>
      <p:sp>
        <p:nvSpPr>
          <p:cNvPr id="22" name="Text 20"/>
          <p:cNvSpPr/>
          <p:nvPr/>
        </p:nvSpPr>
        <p:spPr>
          <a:xfrm>
            <a:off x="668673" y="2658599"/>
            <a:ext cx="1828800" cy="3291840"/>
          </a:xfrm>
          <a:prstGeom prst="rect">
            <a:avLst/>
          </a:prstGeom>
          <a:noFill/>
          <a:ln/>
        </p:spPr>
        <p:txBody>
          <a:bodyPr wrap="square" lIns="0" tIns="0" rIns="0" bIns="0" rtlCol="0" anchor="t"/>
          <a:lstStyle/>
          <a:p>
            <a:pPr algn="l" marL="0" indent="0">
              <a:lnSpc>
                <a:spcPct val="90000"/>
              </a:lnSpc>
              <a:spcBef>
                <a:spcPts val="1261"/>
              </a:spcBef>
              <a:buNone/>
            </a:pPr>
            <a:r>
              <a:rPr lang="en-US" sz="1513" dirty="0">
                <a:solidFill>
                  <a:srgbClr val="FFFFFF"/>
                </a:solidFill>
                <a:latin typeface="Figtree Regular" pitchFamily="34" charset="0"/>
                <a:ea typeface="Figtree Regular" pitchFamily="34" charset="-122"/>
                <a:cs typeface="Figtree Regular" pitchFamily="34" charset="-120"/>
              </a:rPr>
              <a:t>Automated enrichment provides information about the reputation of involved IP addresses. Knowing if an IP is associated with known malicious infrastructure, such as command-and-control servers, helps analysts quickly assess threat severity without manual lookup.</a:t>
            </a:r>
            <a:endParaRPr lang="en-US" sz="1513" dirty="0"/>
          </a:p>
        </p:txBody>
      </p:sp>
      <p:sp>
        <p:nvSpPr>
          <p:cNvPr id="23" name="Text 21"/>
          <p:cNvSpPr/>
          <p:nvPr/>
        </p:nvSpPr>
        <p:spPr>
          <a:xfrm>
            <a:off x="668673" y="2085996"/>
            <a:ext cx="1828800" cy="457200"/>
          </a:xfrm>
          <a:prstGeom prst="rect">
            <a:avLst/>
          </a:prstGeom>
          <a:noFill/>
          <a:ln/>
        </p:spPr>
        <p:txBody>
          <a:bodyPr wrap="square" lIns="0" tIns="0" rIns="0" bIns="0" rtlCol="0" anchor="t"/>
          <a:lstStyle/>
          <a:p>
            <a:pPr algn="l" marL="0" indent="0">
              <a:lnSpc>
                <a:spcPct val="90000"/>
              </a:lnSpc>
              <a:buNone/>
            </a:pPr>
            <a:r>
              <a:rPr lang="en-US" sz="1797" dirty="0">
                <a:solidFill>
                  <a:srgbClr val="FFFFFF"/>
                </a:solidFill>
                <a:latin typeface="Figtree Regular" pitchFamily="34" charset="0"/>
                <a:ea typeface="Figtree Regular" pitchFamily="34" charset="-122"/>
                <a:cs typeface="Figtree Regular" pitchFamily="34" charset="-120"/>
              </a:rPr>
              <a:t>IP Reputation</a:t>
            </a:r>
            <a:endParaRPr lang="en-US" sz="1797" dirty="0"/>
          </a:p>
        </p:txBody>
      </p:sp>
      <p:sp>
        <p:nvSpPr>
          <p:cNvPr id="24" name="Text 2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5" name="Text 2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6" name="Text 24"/>
          <p:cNvSpPr/>
          <p:nvPr>
            <p:ph type="title"/>
          </p:nvPr>
        </p:nvSpPr>
        <p:spPr>
          <a:xfrm>
            <a:off x="505462" y="289560"/>
            <a:ext cx="1118107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Automated Enrichment</a:t>
            </a:r>
            <a:endParaRPr lang="en-US" sz="2800" dirty="0"/>
          </a:p>
        </p:txBody>
      </p:sp>
      <p:sp>
        <p:nvSpPr>
          <p:cNvPr id="27" name="Text 25"/>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8" name="Text 26"/>
          <p:cNvSpPr/>
          <p:nvPr/>
        </p:nvSpPr>
        <p:spPr>
          <a:xfrm>
            <a:off x="9762515" y="1706345"/>
            <a:ext cx="182880" cy="146304"/>
          </a:xfrm>
          <a:custGeom>
            <a:avLst/>
            <a:gdLst/>
            <a:ahLst/>
            <a:cxnLst/>
            <a:rect l="l" t="t" r="r" b="b"/>
            <a:pathLst>
              <a:path w="182880" h="146304">
                <a:moveTo>
                  <a:pt x="114300" y="13716"/>
                </a:moveTo>
                <a:lnTo>
                  <a:pt x="114300" y="41148"/>
                </a:lnTo>
                <a:lnTo>
                  <a:pt x="68580" y="41148"/>
                </a:lnTo>
                <a:lnTo>
                  <a:pt x="68580" y="13716"/>
                </a:lnTo>
                <a:lnTo>
                  <a:pt x="114300" y="13716"/>
                </a:lnTo>
                <a:moveTo>
                  <a:pt x="68580" y="0"/>
                </a:moveTo>
                <a:cubicBezTo>
                  <a:pt x="61007" y="0"/>
                  <a:pt x="54864" y="6143"/>
                  <a:pt x="54864" y="13716"/>
                </a:cubicBezTo>
                <a:lnTo>
                  <a:pt x="54864" y="41148"/>
                </a:lnTo>
                <a:cubicBezTo>
                  <a:pt x="54864" y="48721"/>
                  <a:pt x="61007" y="54864"/>
                  <a:pt x="68580" y="54864"/>
                </a:cubicBezTo>
                <a:lnTo>
                  <a:pt x="84582" y="54864"/>
                </a:lnTo>
                <a:lnTo>
                  <a:pt x="84582" y="66295"/>
                </a:lnTo>
                <a:lnTo>
                  <a:pt x="6858" y="66295"/>
                </a:lnTo>
                <a:cubicBezTo>
                  <a:pt x="3058" y="66295"/>
                  <a:pt x="0" y="69352"/>
                  <a:pt x="0" y="73154"/>
                </a:cubicBezTo>
                <a:cubicBezTo>
                  <a:pt x="0" y="76954"/>
                  <a:pt x="3058" y="80012"/>
                  <a:pt x="6858" y="80012"/>
                </a:cubicBezTo>
                <a:lnTo>
                  <a:pt x="38862" y="80012"/>
                </a:lnTo>
                <a:lnTo>
                  <a:pt x="38862" y="91443"/>
                </a:lnTo>
                <a:lnTo>
                  <a:pt x="22860" y="91443"/>
                </a:lnTo>
                <a:cubicBezTo>
                  <a:pt x="15287" y="91443"/>
                  <a:pt x="9144" y="97586"/>
                  <a:pt x="9144" y="105159"/>
                </a:cubicBezTo>
                <a:lnTo>
                  <a:pt x="9144" y="132591"/>
                </a:lnTo>
                <a:cubicBezTo>
                  <a:pt x="9144" y="140164"/>
                  <a:pt x="15287" y="146307"/>
                  <a:pt x="22860" y="146307"/>
                </a:cubicBezTo>
                <a:lnTo>
                  <a:pt x="68580" y="146307"/>
                </a:lnTo>
                <a:cubicBezTo>
                  <a:pt x="76153" y="146307"/>
                  <a:pt x="82296" y="140164"/>
                  <a:pt x="82296" y="132591"/>
                </a:cubicBezTo>
                <a:lnTo>
                  <a:pt x="82296" y="105159"/>
                </a:lnTo>
                <a:cubicBezTo>
                  <a:pt x="82296" y="97586"/>
                  <a:pt x="76153" y="91443"/>
                  <a:pt x="68580" y="91443"/>
                </a:cubicBezTo>
                <a:lnTo>
                  <a:pt x="52578" y="91443"/>
                </a:lnTo>
                <a:lnTo>
                  <a:pt x="52578" y="80014"/>
                </a:lnTo>
                <a:lnTo>
                  <a:pt x="130302" y="80014"/>
                </a:lnTo>
                <a:lnTo>
                  <a:pt x="130302" y="91445"/>
                </a:lnTo>
                <a:lnTo>
                  <a:pt x="114300" y="91445"/>
                </a:lnTo>
                <a:cubicBezTo>
                  <a:pt x="106727" y="91445"/>
                  <a:pt x="100584" y="97588"/>
                  <a:pt x="100584" y="105161"/>
                </a:cubicBezTo>
                <a:lnTo>
                  <a:pt x="100584" y="132593"/>
                </a:lnTo>
                <a:cubicBezTo>
                  <a:pt x="100584" y="140165"/>
                  <a:pt x="106727" y="146309"/>
                  <a:pt x="114300" y="146309"/>
                </a:cubicBezTo>
                <a:lnTo>
                  <a:pt x="160020" y="146309"/>
                </a:lnTo>
                <a:cubicBezTo>
                  <a:pt x="167593" y="146309"/>
                  <a:pt x="173736" y="140165"/>
                  <a:pt x="173736" y="132593"/>
                </a:cubicBezTo>
                <a:lnTo>
                  <a:pt x="173736" y="105161"/>
                </a:lnTo>
                <a:cubicBezTo>
                  <a:pt x="173736" y="97588"/>
                  <a:pt x="167593" y="91445"/>
                  <a:pt x="160020" y="91445"/>
                </a:cubicBezTo>
                <a:lnTo>
                  <a:pt x="144018" y="91445"/>
                </a:lnTo>
                <a:lnTo>
                  <a:pt x="144018" y="80015"/>
                </a:lnTo>
                <a:lnTo>
                  <a:pt x="176022" y="80015"/>
                </a:lnTo>
                <a:cubicBezTo>
                  <a:pt x="179822" y="80015"/>
                  <a:pt x="182880" y="76958"/>
                  <a:pt x="182880" y="73158"/>
                </a:cubicBezTo>
                <a:cubicBezTo>
                  <a:pt x="182880" y="69357"/>
                  <a:pt x="179822" y="66301"/>
                  <a:pt x="176022" y="66301"/>
                </a:cubicBezTo>
                <a:lnTo>
                  <a:pt x="98298" y="66301"/>
                </a:lnTo>
                <a:lnTo>
                  <a:pt x="98298" y="54872"/>
                </a:lnTo>
                <a:lnTo>
                  <a:pt x="114300" y="54872"/>
                </a:lnTo>
                <a:cubicBezTo>
                  <a:pt x="121873" y="54872"/>
                  <a:pt x="128016" y="48728"/>
                  <a:pt x="128016" y="41156"/>
                </a:cubicBezTo>
                <a:lnTo>
                  <a:pt x="128016" y="13724"/>
                </a:lnTo>
                <a:cubicBezTo>
                  <a:pt x="128016" y="6151"/>
                  <a:pt x="121873" y="8"/>
                  <a:pt x="114300" y="8"/>
                </a:cubicBezTo>
                <a:lnTo>
                  <a:pt x="68580" y="0"/>
                </a:lnTo>
                <a:moveTo>
                  <a:pt x="22860" y="105156"/>
                </a:moveTo>
                <a:lnTo>
                  <a:pt x="68580" y="105156"/>
                </a:lnTo>
                <a:lnTo>
                  <a:pt x="68580" y="132588"/>
                </a:lnTo>
                <a:lnTo>
                  <a:pt x="22860" y="132588"/>
                </a:lnTo>
                <a:lnTo>
                  <a:pt x="22860" y="105156"/>
                </a:lnTo>
                <a:moveTo>
                  <a:pt x="160020" y="105156"/>
                </a:moveTo>
                <a:lnTo>
                  <a:pt x="160020" y="132588"/>
                </a:lnTo>
                <a:lnTo>
                  <a:pt x="114300" y="132588"/>
                </a:lnTo>
                <a:lnTo>
                  <a:pt x="114300" y="105156"/>
                </a:lnTo>
                <a:lnTo>
                  <a:pt x="160020" y="105156"/>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7504936" y="1698668"/>
            <a:ext cx="182880" cy="182880"/>
          </a:xfrm>
          <a:custGeom>
            <a:avLst/>
            <a:gdLst/>
            <a:ahLst/>
            <a:cxnLst/>
            <a:rect l="l" t="t" r="r" b="b"/>
            <a:pathLst>
              <a:path w="182880" h="182880">
                <a:moveTo>
                  <a:pt x="165735" y="91440"/>
                </a:moveTo>
                <a:cubicBezTo>
                  <a:pt x="165735" y="132473"/>
                  <a:pt x="132473" y="165735"/>
                  <a:pt x="91440" y="165735"/>
                </a:cubicBezTo>
                <a:cubicBezTo>
                  <a:pt x="50407" y="165735"/>
                  <a:pt x="17145" y="132473"/>
                  <a:pt x="17145" y="91440"/>
                </a:cubicBezTo>
                <a:cubicBezTo>
                  <a:pt x="17145" y="50407"/>
                  <a:pt x="50407" y="17145"/>
                  <a:pt x="91440" y="17145"/>
                </a:cubicBezTo>
                <a:cubicBezTo>
                  <a:pt x="132473" y="17145"/>
                  <a:pt x="165735" y="50407"/>
                  <a:pt x="165735" y="91440"/>
                </a:cubicBezTo>
                <a:lnTo>
                  <a:pt x="165735" y="91440"/>
                </a:lnTo>
                <a:moveTo>
                  <a:pt x="0" y="91440"/>
                </a:moveTo>
                <a:cubicBezTo>
                  <a:pt x="0" y="141941"/>
                  <a:pt x="40939" y="182880"/>
                  <a:pt x="91440" y="182880"/>
                </a:cubicBezTo>
                <a:cubicBezTo>
                  <a:pt x="141941" y="182880"/>
                  <a:pt x="182880" y="141941"/>
                  <a:pt x="182880" y="91440"/>
                </a:cubicBezTo>
                <a:cubicBezTo>
                  <a:pt x="182880" y="40939"/>
                  <a:pt x="141941" y="0"/>
                  <a:pt x="91440" y="0"/>
                </a:cubicBezTo>
                <a:cubicBezTo>
                  <a:pt x="40939" y="0"/>
                  <a:pt x="0" y="40939"/>
                  <a:pt x="0" y="91440"/>
                </a:cubicBezTo>
                <a:moveTo>
                  <a:pt x="82868" y="42863"/>
                </a:moveTo>
                <a:lnTo>
                  <a:pt x="82868" y="91442"/>
                </a:lnTo>
                <a:cubicBezTo>
                  <a:pt x="82868" y="94300"/>
                  <a:pt x="84297" y="96978"/>
                  <a:pt x="86691" y="98585"/>
                </a:cubicBezTo>
                <a:lnTo>
                  <a:pt x="120981" y="121445"/>
                </a:lnTo>
                <a:cubicBezTo>
                  <a:pt x="124909" y="124088"/>
                  <a:pt x="130233" y="123016"/>
                  <a:pt x="132875" y="119051"/>
                </a:cubicBezTo>
                <a:cubicBezTo>
                  <a:pt x="135518" y="115086"/>
                  <a:pt x="134446" y="109799"/>
                  <a:pt x="130481" y="107157"/>
                </a:cubicBezTo>
                <a:lnTo>
                  <a:pt x="100013" y="86868"/>
                </a:lnTo>
                <a:lnTo>
                  <a:pt x="100013" y="42863"/>
                </a:lnTo>
                <a:cubicBezTo>
                  <a:pt x="100013" y="38112"/>
                  <a:pt x="96191" y="34292"/>
                  <a:pt x="91442" y="34292"/>
                </a:cubicBezTo>
                <a:cubicBezTo>
                  <a:pt x="86691" y="34292"/>
                  <a:pt x="82870" y="38114"/>
                  <a:pt x="82870" y="42865"/>
                </a:cubicBezTo>
                <a:lnTo>
                  <a:pt x="82868" y="42863"/>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5284504" y="1709279"/>
            <a:ext cx="108584" cy="182880"/>
          </a:xfrm>
          <a:custGeom>
            <a:avLst/>
            <a:gdLst/>
            <a:ahLst/>
            <a:cxnLst/>
            <a:rect l="l" t="t" r="r" b="b"/>
            <a:pathLst>
              <a:path w="108584" h="182880">
                <a:moveTo>
                  <a:pt x="37143" y="17145"/>
                </a:moveTo>
                <a:cubicBezTo>
                  <a:pt x="37143" y="7675"/>
                  <a:pt x="44819" y="0"/>
                  <a:pt x="54289" y="0"/>
                </a:cubicBezTo>
                <a:cubicBezTo>
                  <a:pt x="63758" y="0"/>
                  <a:pt x="71434" y="7675"/>
                  <a:pt x="71434" y="17145"/>
                </a:cubicBezTo>
                <a:cubicBezTo>
                  <a:pt x="71434" y="26615"/>
                  <a:pt x="63759" y="34290"/>
                  <a:pt x="54289" y="34290"/>
                </a:cubicBezTo>
                <a:cubicBezTo>
                  <a:pt x="44820" y="34290"/>
                  <a:pt x="37143" y="26615"/>
                  <a:pt x="37143" y="17145"/>
                </a:cubicBezTo>
                <a:lnTo>
                  <a:pt x="37143" y="17145"/>
                </a:lnTo>
                <a:moveTo>
                  <a:pt x="48573" y="62902"/>
                </a:moveTo>
                <a:lnTo>
                  <a:pt x="48573" y="108585"/>
                </a:lnTo>
                <a:lnTo>
                  <a:pt x="60003" y="108585"/>
                </a:lnTo>
                <a:lnTo>
                  <a:pt x="60003" y="62902"/>
                </a:lnTo>
                <a:cubicBezTo>
                  <a:pt x="59753" y="62902"/>
                  <a:pt x="59467" y="62865"/>
                  <a:pt x="59181" y="62865"/>
                </a:cubicBezTo>
                <a:lnTo>
                  <a:pt x="49358" y="62865"/>
                </a:lnTo>
                <a:cubicBezTo>
                  <a:pt x="49073" y="62865"/>
                  <a:pt x="48823" y="62865"/>
                  <a:pt x="48536" y="62902"/>
                </a:cubicBezTo>
                <a:lnTo>
                  <a:pt x="48573" y="62902"/>
                </a:lnTo>
                <a:moveTo>
                  <a:pt x="48573" y="125730"/>
                </a:moveTo>
                <a:lnTo>
                  <a:pt x="48573" y="174308"/>
                </a:lnTo>
                <a:cubicBezTo>
                  <a:pt x="48573" y="179060"/>
                  <a:pt x="44751" y="182882"/>
                  <a:pt x="40000" y="182882"/>
                </a:cubicBezTo>
                <a:cubicBezTo>
                  <a:pt x="35250" y="182882"/>
                  <a:pt x="31428" y="179060"/>
                  <a:pt x="31428" y="174310"/>
                </a:cubicBezTo>
                <a:lnTo>
                  <a:pt x="31428" y="79869"/>
                </a:lnTo>
                <a:lnTo>
                  <a:pt x="16032" y="107087"/>
                </a:lnTo>
                <a:cubicBezTo>
                  <a:pt x="13711" y="111195"/>
                  <a:pt x="8460" y="112660"/>
                  <a:pt x="4352" y="110337"/>
                </a:cubicBezTo>
                <a:cubicBezTo>
                  <a:pt x="244" y="108015"/>
                  <a:pt x="-1221" y="102764"/>
                  <a:pt x="1102" y="98657"/>
                </a:cubicBezTo>
                <a:lnTo>
                  <a:pt x="22033" y="61687"/>
                </a:lnTo>
                <a:cubicBezTo>
                  <a:pt x="27605" y="51828"/>
                  <a:pt x="38071" y="45722"/>
                  <a:pt x="49393" y="45722"/>
                </a:cubicBezTo>
                <a:lnTo>
                  <a:pt x="59215" y="45722"/>
                </a:lnTo>
                <a:cubicBezTo>
                  <a:pt x="70539" y="45722"/>
                  <a:pt x="81004" y="51830"/>
                  <a:pt x="86575" y="61687"/>
                </a:cubicBezTo>
                <a:lnTo>
                  <a:pt x="107471" y="98657"/>
                </a:lnTo>
                <a:cubicBezTo>
                  <a:pt x="109793" y="102764"/>
                  <a:pt x="108364" y="108015"/>
                  <a:pt x="104222" y="110337"/>
                </a:cubicBezTo>
                <a:cubicBezTo>
                  <a:pt x="100078" y="112660"/>
                  <a:pt x="94864" y="111230"/>
                  <a:pt x="92541" y="107087"/>
                </a:cubicBezTo>
                <a:lnTo>
                  <a:pt x="77146" y="79869"/>
                </a:lnTo>
                <a:lnTo>
                  <a:pt x="77146" y="174310"/>
                </a:lnTo>
                <a:cubicBezTo>
                  <a:pt x="77146" y="179062"/>
                  <a:pt x="73324" y="182884"/>
                  <a:pt x="68573" y="182884"/>
                </a:cubicBezTo>
                <a:cubicBezTo>
                  <a:pt x="63823" y="182884"/>
                  <a:pt x="60000" y="179062"/>
                  <a:pt x="60000" y="174312"/>
                </a:cubicBezTo>
                <a:lnTo>
                  <a:pt x="60000" y="125736"/>
                </a:lnTo>
                <a:lnTo>
                  <a:pt x="48573" y="125730"/>
                </a:ln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2995019" y="1719890"/>
            <a:ext cx="172393" cy="182880"/>
          </a:xfrm>
          <a:custGeom>
            <a:avLst/>
            <a:gdLst/>
            <a:ahLst/>
            <a:cxnLst/>
            <a:rect l="l" t="t" r="r" b="b"/>
            <a:pathLst>
              <a:path w="172393" h="182880">
                <a:moveTo>
                  <a:pt x="86197" y="17741"/>
                </a:moveTo>
                <a:lnTo>
                  <a:pt x="20472" y="45612"/>
                </a:lnTo>
                <a:cubicBezTo>
                  <a:pt x="18353" y="46510"/>
                  <a:pt x="17203" y="48414"/>
                  <a:pt x="17239" y="50210"/>
                </a:cubicBezTo>
                <a:cubicBezTo>
                  <a:pt x="17419" y="83037"/>
                  <a:pt x="31031" y="139746"/>
                  <a:pt x="84185" y="165174"/>
                </a:cubicBezTo>
                <a:cubicBezTo>
                  <a:pt x="85478" y="165784"/>
                  <a:pt x="86986" y="165784"/>
                  <a:pt x="88243" y="165174"/>
                </a:cubicBezTo>
                <a:cubicBezTo>
                  <a:pt x="141397" y="139709"/>
                  <a:pt x="155009" y="83035"/>
                  <a:pt x="155152" y="50173"/>
                </a:cubicBezTo>
                <a:cubicBezTo>
                  <a:pt x="155152" y="48377"/>
                  <a:pt x="154038" y="46510"/>
                  <a:pt x="151920" y="45576"/>
                </a:cubicBezTo>
                <a:lnTo>
                  <a:pt x="86197" y="17741"/>
                </a:lnTo>
                <a:moveTo>
                  <a:pt x="91010" y="1042"/>
                </a:moveTo>
                <a:lnTo>
                  <a:pt x="158638" y="29738"/>
                </a:lnTo>
                <a:cubicBezTo>
                  <a:pt x="166539" y="33077"/>
                  <a:pt x="172429" y="40872"/>
                  <a:pt x="172393" y="50281"/>
                </a:cubicBezTo>
                <a:cubicBezTo>
                  <a:pt x="172214" y="85910"/>
                  <a:pt x="157560" y="151095"/>
                  <a:pt x="95678" y="180726"/>
                </a:cubicBezTo>
                <a:cubicBezTo>
                  <a:pt x="89681" y="183599"/>
                  <a:pt x="82712" y="183599"/>
                  <a:pt x="76715" y="180726"/>
                </a:cubicBezTo>
                <a:cubicBezTo>
                  <a:pt x="14833" y="151096"/>
                  <a:pt x="179" y="85910"/>
                  <a:pt x="0" y="50281"/>
                </a:cubicBezTo>
                <a:cubicBezTo>
                  <a:pt x="-36" y="40872"/>
                  <a:pt x="5854" y="33078"/>
                  <a:pt x="13755" y="29738"/>
                </a:cubicBezTo>
                <a:lnTo>
                  <a:pt x="81420" y="1042"/>
                </a:lnTo>
                <a:cubicBezTo>
                  <a:pt x="82892" y="360"/>
                  <a:pt x="84543" y="0"/>
                  <a:pt x="86196" y="0"/>
                </a:cubicBezTo>
                <a:cubicBezTo>
                  <a:pt x="87848" y="0"/>
                  <a:pt x="89501" y="358"/>
                  <a:pt x="91010" y="1042"/>
                </a:cubicBezTo>
                <a:lnTo>
                  <a:pt x="91010" y="1042"/>
                </a:lnTo>
              </a:path>
            </a:pathLst>
          </a:custGeom>
          <a:solidFill>
            <a:srgbClr val="FFFFFF"/>
          </a:solidFill>
          <a:ln/>
        </p:spPr>
        <p:txBody>
          <a:bodyPr wrap="square" lIns="0" tIns="0" rIns="0" bIns="0" rtlCol="0" anchor="ctr"/>
          <a:lstStyle/>
          <a:p>
            <a:pPr indent="0" marL="0">
              <a:buNone/>
            </a:pPr>
            <a:endParaRPr lang="en-US" dirty="0"/>
          </a:p>
        </p:txBody>
      </p:sp>
      <p:sp>
        <p:nvSpPr>
          <p:cNvPr id="32" name="Text 30"/>
          <p:cNvSpPr/>
          <p:nvPr/>
        </p:nvSpPr>
        <p:spPr>
          <a:xfrm>
            <a:off x="732196" y="1730501"/>
            <a:ext cx="182880" cy="182880"/>
          </a:xfrm>
          <a:custGeom>
            <a:avLst/>
            <a:gdLst/>
            <a:ahLst/>
            <a:cxnLst/>
            <a:rect l="l" t="t" r="r" b="b"/>
            <a:pathLst>
              <a:path w="182880" h="182880">
                <a:moveTo>
                  <a:pt x="91440" y="165735"/>
                </a:moveTo>
                <a:cubicBezTo>
                  <a:pt x="94083" y="165735"/>
                  <a:pt x="101083" y="163164"/>
                  <a:pt x="108442" y="148447"/>
                </a:cubicBezTo>
                <a:cubicBezTo>
                  <a:pt x="111586" y="142125"/>
                  <a:pt x="114300" y="134446"/>
                  <a:pt x="116301" y="125730"/>
                </a:cubicBezTo>
                <a:lnTo>
                  <a:pt x="66581" y="125730"/>
                </a:lnTo>
                <a:cubicBezTo>
                  <a:pt x="68582" y="134446"/>
                  <a:pt x="71296" y="142125"/>
                  <a:pt x="74439" y="148447"/>
                </a:cubicBezTo>
                <a:cubicBezTo>
                  <a:pt x="81797" y="163164"/>
                  <a:pt x="88799" y="165735"/>
                  <a:pt x="91442" y="165735"/>
                </a:cubicBezTo>
                <a:lnTo>
                  <a:pt x="91440" y="165735"/>
                </a:lnTo>
                <a:moveTo>
                  <a:pt x="63757" y="108585"/>
                </a:moveTo>
                <a:lnTo>
                  <a:pt x="119121" y="108585"/>
                </a:lnTo>
                <a:cubicBezTo>
                  <a:pt x="119693" y="103121"/>
                  <a:pt x="120013" y="97369"/>
                  <a:pt x="120013" y="91440"/>
                </a:cubicBezTo>
                <a:cubicBezTo>
                  <a:pt x="120013" y="85511"/>
                  <a:pt x="119691" y="79759"/>
                  <a:pt x="119121" y="74295"/>
                </a:cubicBezTo>
                <a:lnTo>
                  <a:pt x="63757" y="74295"/>
                </a:lnTo>
                <a:cubicBezTo>
                  <a:pt x="63187" y="79759"/>
                  <a:pt x="62865" y="85511"/>
                  <a:pt x="62865" y="91440"/>
                </a:cubicBezTo>
                <a:cubicBezTo>
                  <a:pt x="62865" y="97369"/>
                  <a:pt x="63187" y="103121"/>
                  <a:pt x="63757" y="108585"/>
                </a:cubicBezTo>
                <a:lnTo>
                  <a:pt x="63757" y="108585"/>
                </a:lnTo>
                <a:moveTo>
                  <a:pt x="66579" y="57150"/>
                </a:moveTo>
                <a:lnTo>
                  <a:pt x="116301" y="57150"/>
                </a:lnTo>
                <a:cubicBezTo>
                  <a:pt x="114300" y="48434"/>
                  <a:pt x="111586" y="40755"/>
                  <a:pt x="108442" y="34433"/>
                </a:cubicBezTo>
                <a:cubicBezTo>
                  <a:pt x="101085" y="19716"/>
                  <a:pt x="94083" y="17145"/>
                  <a:pt x="91440" y="17145"/>
                </a:cubicBezTo>
                <a:cubicBezTo>
                  <a:pt x="88797" y="17145"/>
                  <a:pt x="81797" y="19716"/>
                  <a:pt x="74438" y="34433"/>
                </a:cubicBezTo>
                <a:cubicBezTo>
                  <a:pt x="71294" y="40755"/>
                  <a:pt x="68580" y="48434"/>
                  <a:pt x="66579" y="57150"/>
                </a:cubicBezTo>
                <a:lnTo>
                  <a:pt x="66579" y="57150"/>
                </a:lnTo>
                <a:moveTo>
                  <a:pt x="136339" y="74295"/>
                </a:moveTo>
                <a:cubicBezTo>
                  <a:pt x="136875" y="79831"/>
                  <a:pt x="137125" y="85582"/>
                  <a:pt x="137125" y="91440"/>
                </a:cubicBezTo>
                <a:cubicBezTo>
                  <a:pt x="137125" y="97298"/>
                  <a:pt x="136840" y="103049"/>
                  <a:pt x="136339" y="108585"/>
                </a:cubicBezTo>
                <a:lnTo>
                  <a:pt x="163734" y="108585"/>
                </a:lnTo>
                <a:cubicBezTo>
                  <a:pt x="165020" y="103084"/>
                  <a:pt x="165735" y="97334"/>
                  <a:pt x="165735" y="91440"/>
                </a:cubicBezTo>
                <a:cubicBezTo>
                  <a:pt x="165735" y="85546"/>
                  <a:pt x="165057" y="79796"/>
                  <a:pt x="163734" y="74295"/>
                </a:cubicBezTo>
                <a:lnTo>
                  <a:pt x="136339" y="74295"/>
                </a:lnTo>
                <a:moveTo>
                  <a:pt x="157341" y="57150"/>
                </a:moveTo>
                <a:cubicBezTo>
                  <a:pt x="149696" y="42470"/>
                  <a:pt x="137303" y="30682"/>
                  <a:pt x="122193" y="23789"/>
                </a:cubicBezTo>
                <a:cubicBezTo>
                  <a:pt x="127230" y="32933"/>
                  <a:pt x="131229" y="44326"/>
                  <a:pt x="133837" y="57150"/>
                </a:cubicBezTo>
                <a:lnTo>
                  <a:pt x="157375" y="57150"/>
                </a:lnTo>
                <a:lnTo>
                  <a:pt x="157341" y="57150"/>
                </a:lnTo>
                <a:moveTo>
                  <a:pt x="49006" y="57150"/>
                </a:moveTo>
                <a:cubicBezTo>
                  <a:pt x="51614" y="44326"/>
                  <a:pt x="55614" y="32968"/>
                  <a:pt x="60650" y="23789"/>
                </a:cubicBezTo>
                <a:cubicBezTo>
                  <a:pt x="45541" y="30684"/>
                  <a:pt x="33147" y="42470"/>
                  <a:pt x="25503" y="57150"/>
                </a:cubicBezTo>
                <a:lnTo>
                  <a:pt x="49041" y="57150"/>
                </a:lnTo>
                <a:lnTo>
                  <a:pt x="49006" y="57150"/>
                </a:lnTo>
                <a:moveTo>
                  <a:pt x="19146" y="74295"/>
                </a:moveTo>
                <a:cubicBezTo>
                  <a:pt x="17860" y="79796"/>
                  <a:pt x="17145" y="85546"/>
                  <a:pt x="17145" y="91440"/>
                </a:cubicBezTo>
                <a:cubicBezTo>
                  <a:pt x="17145" y="97334"/>
                  <a:pt x="17823" y="103084"/>
                  <a:pt x="19146" y="108585"/>
                </a:cubicBezTo>
                <a:lnTo>
                  <a:pt x="46541" y="108585"/>
                </a:lnTo>
                <a:cubicBezTo>
                  <a:pt x="46005" y="103049"/>
                  <a:pt x="45755" y="97298"/>
                  <a:pt x="45755" y="91440"/>
                </a:cubicBezTo>
                <a:cubicBezTo>
                  <a:pt x="45755" y="85582"/>
                  <a:pt x="46040" y="79831"/>
                  <a:pt x="46541" y="74295"/>
                </a:cubicBezTo>
                <a:lnTo>
                  <a:pt x="19146" y="74295"/>
                </a:lnTo>
                <a:moveTo>
                  <a:pt x="122193" y="159091"/>
                </a:moveTo>
                <a:cubicBezTo>
                  <a:pt x="137303" y="152196"/>
                  <a:pt x="149696" y="140410"/>
                  <a:pt x="157341" y="125730"/>
                </a:cubicBezTo>
                <a:lnTo>
                  <a:pt x="133802" y="125730"/>
                </a:lnTo>
                <a:cubicBezTo>
                  <a:pt x="131194" y="138554"/>
                  <a:pt x="127195" y="149912"/>
                  <a:pt x="122158" y="159091"/>
                </a:cubicBezTo>
                <a:lnTo>
                  <a:pt x="122193" y="159091"/>
                </a:lnTo>
                <a:moveTo>
                  <a:pt x="60687" y="159091"/>
                </a:moveTo>
                <a:cubicBezTo>
                  <a:pt x="55650" y="149947"/>
                  <a:pt x="51651" y="138554"/>
                  <a:pt x="49043" y="125730"/>
                </a:cubicBezTo>
                <a:lnTo>
                  <a:pt x="25505" y="125730"/>
                </a:lnTo>
                <a:cubicBezTo>
                  <a:pt x="33149" y="140410"/>
                  <a:pt x="45543" y="152198"/>
                  <a:pt x="60652" y="159091"/>
                </a:cubicBezTo>
                <a:lnTo>
                  <a:pt x="60687" y="159091"/>
                </a:lnTo>
                <a:moveTo>
                  <a:pt x="91440" y="182880"/>
                </a:moveTo>
                <a:cubicBezTo>
                  <a:pt x="40939" y="182880"/>
                  <a:pt x="0" y="141941"/>
                  <a:pt x="0" y="91440"/>
                </a:cubicBezTo>
                <a:cubicBezTo>
                  <a:pt x="0" y="40939"/>
                  <a:pt x="40939" y="0"/>
                  <a:pt x="91440" y="0"/>
                </a:cubicBezTo>
                <a:cubicBezTo>
                  <a:pt x="141941" y="0"/>
                  <a:pt x="182880" y="40939"/>
                  <a:pt x="182880" y="91440"/>
                </a:cubicBezTo>
                <a:cubicBezTo>
                  <a:pt x="182880" y="141941"/>
                  <a:pt x="141941" y="182880"/>
                  <a:pt x="91440" y="182880"/>
                </a:cubicBezTo>
              </a:path>
            </a:pathLst>
          </a:custGeom>
          <a:solidFill>
            <a:srgbClr val="FFFFFF"/>
          </a:solidFill>
          <a:ln/>
        </p:spPr>
        <p:txBody>
          <a:bodyPr wrap="square" lIns="0" tIns="0" rIns="0" bIns="0" rtlCol="0" anchor="ctr"/>
          <a:lstStyle/>
          <a:p>
            <a:pPr indent="0" marL="0">
              <a:buNone/>
            </a:pPr>
            <a:endParaRPr lang="en-US" dirty="0"/>
          </a:p>
        </p:txBody>
      </p:sp>
      <p:sp>
        <p:nvSpPr>
          <p:cNvPr id="33" name="Text 31"/>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9215123"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Alerts should connect analysts to relevant investigation procedures and playbooks. Providing direct links streamlines the workflow and ensures best practices are followed consistently.</a:t>
            </a:r>
            <a:endParaRPr lang="en-US" sz="1213" dirty="0"/>
          </a:p>
        </p:txBody>
      </p:sp>
      <p:sp>
        <p:nvSpPr>
          <p:cNvPr id="7" name="Text 5"/>
          <p:cNvSpPr/>
          <p:nvPr/>
        </p:nvSpPr>
        <p:spPr>
          <a:xfrm>
            <a:off x="9215123"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Playbook Links</a:t>
            </a:r>
            <a:endParaRPr lang="en-US" sz="2028" dirty="0"/>
          </a:p>
        </p:txBody>
      </p:sp>
      <p:sp>
        <p:nvSpPr>
          <p:cNvPr id="8" name="Text 6"/>
          <p:cNvSpPr/>
          <p:nvPr/>
        </p:nvSpPr>
        <p:spPr>
          <a:xfrm>
            <a:off x="6312748"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Effective alerts clearly define when and how to escalate an incident. Providing this guidance ensures that critical issues receive timely attention from appropriate stakeholders, maintaining control and accountability.</a:t>
            </a:r>
            <a:endParaRPr lang="en-US" sz="1213" dirty="0"/>
          </a:p>
        </p:txBody>
      </p:sp>
      <p:sp>
        <p:nvSpPr>
          <p:cNvPr id="9" name="Text 7"/>
          <p:cNvSpPr/>
          <p:nvPr/>
        </p:nvSpPr>
        <p:spPr>
          <a:xfrm>
            <a:off x="6312748"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Escalation Paths</a:t>
            </a:r>
            <a:endParaRPr lang="en-US" sz="2028" dirty="0"/>
          </a:p>
        </p:txBody>
      </p:sp>
      <p:sp>
        <p:nvSpPr>
          <p:cNvPr id="10" name="Text 8"/>
          <p:cNvSpPr/>
          <p:nvPr/>
        </p:nvSpPr>
        <p:spPr>
          <a:xfrm>
            <a:off x="3410372"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Alerts should include convenient buttons or options that allow analysts to take actions such as isolating a system, disabling an account, or blocking an IP address directly from the alert interface, reducing response time and errors.</a:t>
            </a:r>
            <a:endParaRPr lang="en-US" sz="1213" dirty="0"/>
          </a:p>
        </p:txBody>
      </p:sp>
      <p:sp>
        <p:nvSpPr>
          <p:cNvPr id="11" name="Text 9"/>
          <p:cNvSpPr/>
          <p:nvPr/>
        </p:nvSpPr>
        <p:spPr>
          <a:xfrm>
            <a:off x="3410372"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One-Click Responses</a:t>
            </a:r>
            <a:endParaRPr lang="en-US" sz="2028" dirty="0"/>
          </a:p>
        </p:txBody>
      </p:sp>
      <p:sp>
        <p:nvSpPr>
          <p:cNvPr id="12" name="Text 10"/>
          <p:cNvSpPr/>
          <p:nvPr/>
        </p:nvSpPr>
        <p:spPr>
          <a:xfrm>
            <a:off x="507996" y="4284691"/>
            <a:ext cx="2468880" cy="1554480"/>
          </a:xfrm>
          <a:prstGeom prst="rect">
            <a:avLst/>
          </a:prstGeom>
          <a:noFill/>
          <a:ln/>
        </p:spPr>
        <p:txBody>
          <a:bodyPr wrap="square" lIns="0" tIns="0" rIns="0" bIns="0" rtlCol="0" anchor="t"/>
          <a:lstStyle/>
          <a:p>
            <a:pPr algn="ctr" marL="0" indent="0">
              <a:lnSpc>
                <a:spcPct val="110000"/>
              </a:lnSpc>
              <a:buNone/>
            </a:pPr>
            <a:r>
              <a:rPr lang="en-US" sz="1213" dirty="0">
                <a:solidFill>
                  <a:srgbClr val="FFFFFF"/>
                </a:solidFill>
                <a:latin typeface="Figtree Regular" pitchFamily="34" charset="0"/>
                <a:ea typeface="Figtree Regular" pitchFamily="34" charset="-122"/>
                <a:cs typeface="Figtree Regular" pitchFamily="34" charset="-120"/>
              </a:rPr>
              <a:t>Good alerts provide explicit guidance outlining recommended actions to take immediately. Analysts should understand what to do next without needing additional research or interpretation, enabling swift and confident responses.</a:t>
            </a:r>
            <a:endParaRPr lang="en-US" sz="1213" dirty="0"/>
          </a:p>
        </p:txBody>
      </p:sp>
      <p:sp>
        <p:nvSpPr>
          <p:cNvPr id="13" name="Text 11"/>
          <p:cNvSpPr/>
          <p:nvPr/>
        </p:nvSpPr>
        <p:spPr>
          <a:xfrm>
            <a:off x="507996" y="3720098"/>
            <a:ext cx="2468880" cy="457200"/>
          </a:xfrm>
          <a:prstGeom prst="rect">
            <a:avLst/>
          </a:prstGeom>
          <a:noFill/>
          <a:ln/>
        </p:spPr>
        <p:txBody>
          <a:bodyPr wrap="square" lIns="0" tIns="0" rIns="0" bIns="0" rtlCol="0" anchor="t"/>
          <a:lstStyle/>
          <a:p>
            <a:pPr algn="ctr" marL="0" indent="0">
              <a:lnSpc>
                <a:spcPct val="90000"/>
              </a:lnSpc>
              <a:buNone/>
            </a:pPr>
            <a:r>
              <a:rPr lang="en-US" sz="2028" dirty="0">
                <a:solidFill>
                  <a:srgbClr val="FFFFFF"/>
                </a:solidFill>
                <a:latin typeface="Figtree Regular" pitchFamily="34" charset="0"/>
                <a:ea typeface="Figtree Regular" pitchFamily="34" charset="-122"/>
                <a:cs typeface="Figtree Regular" pitchFamily="34" charset="-120"/>
              </a:rPr>
              <a:t>Clear Next Steps</a:t>
            </a:r>
            <a:endParaRPr lang="en-US" sz="2028" dirty="0"/>
          </a:p>
        </p:txBody>
      </p:sp>
      <p:sp>
        <p:nvSpPr>
          <p:cNvPr id="14" name="Text 12"/>
          <p:cNvSpPr/>
          <p:nvPr/>
        </p:nvSpPr>
        <p:spPr>
          <a:xfrm>
            <a:off x="9768326"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5" name="Text 13"/>
          <p:cNvSpPr/>
          <p:nvPr/>
        </p:nvSpPr>
        <p:spPr>
          <a:xfrm>
            <a:off x="6849190"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6" name="Text 14"/>
          <p:cNvSpPr/>
          <p:nvPr/>
        </p:nvSpPr>
        <p:spPr>
          <a:xfrm>
            <a:off x="3930053"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7" name="Text 15"/>
          <p:cNvSpPr/>
          <p:nvPr/>
        </p:nvSpPr>
        <p:spPr>
          <a:xfrm>
            <a:off x="1010916" y="1899611"/>
            <a:ext cx="1463040" cy="1463040"/>
          </a:xfrm>
          <a:custGeom>
            <a:avLst/>
            <a:gdLst/>
            <a:ahLst/>
            <a:cxnLst/>
            <a:rect l="l" t="t" r="r" b="b"/>
            <a:pathLst>
              <a:path w="1463040" h="1463040">
                <a:moveTo>
                  <a:pt x="0" y="731520"/>
                </a:moveTo>
                <a:cubicBezTo>
                  <a:pt x="0" y="327516"/>
                  <a:pt x="327516" y="0"/>
                  <a:pt x="731520" y="0"/>
                </a:cubicBezTo>
                <a:cubicBezTo>
                  <a:pt x="1135524" y="0"/>
                  <a:pt x="1463040" y="327516"/>
                  <a:pt x="1463040" y="731520"/>
                </a:cubicBezTo>
                <a:cubicBezTo>
                  <a:pt x="1463040" y="1135524"/>
                  <a:pt x="1135524" y="1463040"/>
                  <a:pt x="731520" y="1463040"/>
                </a:cubicBezTo>
                <a:cubicBezTo>
                  <a:pt x="327516" y="1463040"/>
                  <a:pt x="0" y="1135524"/>
                  <a:pt x="0" y="731520"/>
                </a:cubicBezTo>
              </a:path>
            </a:pathLst>
          </a:custGeom>
          <a:solidFill>
            <a:srgbClr val="0B3041"/>
          </a:solidFill>
          <a:ln/>
        </p:spPr>
        <p:txBody>
          <a:bodyPr wrap="square" lIns="0" tIns="0" rIns="0" bIns="0" rtlCol="0" anchor="ctr"/>
          <a:lstStyle/>
          <a:p>
            <a:pPr indent="0" marL="0">
              <a:buNone/>
            </a:pPr>
            <a:endParaRPr lang="en-US" dirty="0"/>
          </a:p>
        </p:txBody>
      </p:sp>
      <p:sp>
        <p:nvSpPr>
          <p:cNvPr id="18" name="Text 16"/>
          <p:cNvSpPr/>
          <p:nvPr/>
        </p:nvSpPr>
        <p:spPr>
          <a:xfrm>
            <a:off x="10099796" y="2173931"/>
            <a:ext cx="800100" cy="914400"/>
          </a:xfrm>
          <a:custGeom>
            <a:avLst/>
            <a:gdLst/>
            <a:ahLst/>
            <a:cxnLst/>
            <a:rect l="l" t="t" r="r" b="b"/>
            <a:pathLst>
              <a:path w="800100" h="914400">
                <a:moveTo>
                  <a:pt x="0" y="157167"/>
                </a:moveTo>
                <a:cubicBezTo>
                  <a:pt x="0" y="70372"/>
                  <a:pt x="70369" y="9"/>
                  <a:pt x="157164" y="9"/>
                </a:cubicBezTo>
                <a:lnTo>
                  <a:pt x="700088" y="9"/>
                </a:lnTo>
                <a:cubicBezTo>
                  <a:pt x="755270" y="9"/>
                  <a:pt x="800100" y="44833"/>
                  <a:pt x="800100" y="100026"/>
                </a:cubicBezTo>
                <a:lnTo>
                  <a:pt x="800100" y="614376"/>
                </a:lnTo>
                <a:cubicBezTo>
                  <a:pt x="800100" y="654198"/>
                  <a:pt x="776705" y="688671"/>
                  <a:pt x="742949" y="704746"/>
                </a:cubicBezTo>
                <a:lnTo>
                  <a:pt x="742949" y="828693"/>
                </a:lnTo>
                <a:lnTo>
                  <a:pt x="757239" y="828693"/>
                </a:lnTo>
                <a:cubicBezTo>
                  <a:pt x="780994" y="828693"/>
                  <a:pt x="800100" y="847804"/>
                  <a:pt x="800100" y="871560"/>
                </a:cubicBezTo>
                <a:cubicBezTo>
                  <a:pt x="800100" y="895316"/>
                  <a:pt x="780994" y="914427"/>
                  <a:pt x="757239" y="914427"/>
                </a:cubicBezTo>
                <a:lnTo>
                  <a:pt x="142874" y="914427"/>
                </a:lnTo>
                <a:cubicBezTo>
                  <a:pt x="63936" y="914427"/>
                  <a:pt x="0" y="850493"/>
                  <a:pt x="0" y="771552"/>
                </a:cubicBezTo>
                <a:cubicBezTo>
                  <a:pt x="0" y="766734"/>
                  <a:pt x="176" y="761906"/>
                  <a:pt x="712" y="757270"/>
                </a:cubicBezTo>
                <a:lnTo>
                  <a:pt x="0" y="757270"/>
                </a:lnTo>
                <a:lnTo>
                  <a:pt x="0" y="157167"/>
                </a:lnTo>
                <a:moveTo>
                  <a:pt x="142874" y="714375"/>
                </a:moveTo>
                <a:cubicBezTo>
                  <a:pt x="111262" y="714375"/>
                  <a:pt x="85723" y="739914"/>
                  <a:pt x="85723" y="771525"/>
                </a:cubicBezTo>
                <a:cubicBezTo>
                  <a:pt x="85723" y="803136"/>
                  <a:pt x="111262" y="828675"/>
                  <a:pt x="142874" y="828675"/>
                </a:cubicBezTo>
                <a:lnTo>
                  <a:pt x="657226" y="828675"/>
                </a:lnTo>
                <a:lnTo>
                  <a:pt x="657226" y="714375"/>
                </a:lnTo>
                <a:lnTo>
                  <a:pt x="142874" y="714375"/>
                </a:lnTo>
                <a:moveTo>
                  <a:pt x="85723" y="640619"/>
                </a:moveTo>
                <a:cubicBezTo>
                  <a:pt x="103221" y="632939"/>
                  <a:pt x="122511" y="628650"/>
                  <a:pt x="142874" y="628650"/>
                </a:cubicBezTo>
                <a:lnTo>
                  <a:pt x="700088" y="628650"/>
                </a:lnTo>
                <a:cubicBezTo>
                  <a:pt x="707944" y="628650"/>
                  <a:pt x="714377" y="622222"/>
                  <a:pt x="714377" y="614367"/>
                </a:cubicBezTo>
                <a:lnTo>
                  <a:pt x="714377" y="100017"/>
                </a:lnTo>
                <a:cubicBezTo>
                  <a:pt x="714377" y="92162"/>
                  <a:pt x="707944" y="85734"/>
                  <a:pt x="700088" y="85734"/>
                </a:cubicBezTo>
                <a:lnTo>
                  <a:pt x="157164" y="85734"/>
                </a:lnTo>
                <a:cubicBezTo>
                  <a:pt x="117695" y="85734"/>
                  <a:pt x="85723" y="117702"/>
                  <a:pt x="85723" y="157176"/>
                </a:cubicBezTo>
                <a:lnTo>
                  <a:pt x="85723" y="640619"/>
                </a:lnTo>
                <a:moveTo>
                  <a:pt x="271466" y="200025"/>
                </a:moveTo>
                <a:lnTo>
                  <a:pt x="585793" y="200025"/>
                </a:lnTo>
                <a:cubicBezTo>
                  <a:pt x="609548" y="200025"/>
                  <a:pt x="628655" y="219136"/>
                  <a:pt x="628655" y="242892"/>
                </a:cubicBezTo>
                <a:cubicBezTo>
                  <a:pt x="628655" y="266648"/>
                  <a:pt x="609548" y="285759"/>
                  <a:pt x="585793" y="285759"/>
                </a:cubicBezTo>
                <a:lnTo>
                  <a:pt x="271466" y="285759"/>
                </a:lnTo>
                <a:cubicBezTo>
                  <a:pt x="247711" y="285759"/>
                  <a:pt x="228605" y="266648"/>
                  <a:pt x="228605" y="242901"/>
                </a:cubicBezTo>
                <a:cubicBezTo>
                  <a:pt x="228605" y="219145"/>
                  <a:pt x="247711" y="200043"/>
                  <a:pt x="271466" y="200043"/>
                </a:cubicBezTo>
                <a:lnTo>
                  <a:pt x="271466" y="200025"/>
                </a:lnTo>
                <a:moveTo>
                  <a:pt x="271466" y="342900"/>
                </a:moveTo>
                <a:lnTo>
                  <a:pt x="585793" y="342900"/>
                </a:lnTo>
                <a:cubicBezTo>
                  <a:pt x="609548" y="342900"/>
                  <a:pt x="628655" y="362011"/>
                  <a:pt x="628655" y="385767"/>
                </a:cubicBezTo>
                <a:cubicBezTo>
                  <a:pt x="628655" y="409523"/>
                  <a:pt x="609548" y="428634"/>
                  <a:pt x="585793" y="428634"/>
                </a:cubicBezTo>
                <a:lnTo>
                  <a:pt x="271466" y="428634"/>
                </a:lnTo>
                <a:cubicBezTo>
                  <a:pt x="247711" y="428634"/>
                  <a:pt x="228605" y="409523"/>
                  <a:pt x="228605" y="385776"/>
                </a:cubicBezTo>
                <a:cubicBezTo>
                  <a:pt x="228605" y="362020"/>
                  <a:pt x="247711" y="342918"/>
                  <a:pt x="271466" y="342918"/>
                </a:cubicBezTo>
                <a:lnTo>
                  <a:pt x="271466" y="342900"/>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7123510" y="2372563"/>
            <a:ext cx="914400" cy="517136"/>
          </a:xfrm>
          <a:custGeom>
            <a:avLst/>
            <a:gdLst/>
            <a:ahLst/>
            <a:cxnLst/>
            <a:rect l="l" t="t" r="r" b="b"/>
            <a:pathLst>
              <a:path w="914400" h="517136">
                <a:moveTo>
                  <a:pt x="414781" y="17521"/>
                </a:moveTo>
                <a:cubicBezTo>
                  <a:pt x="438144" y="-5838"/>
                  <a:pt x="475909" y="-5838"/>
                  <a:pt x="499025" y="17521"/>
                </a:cubicBezTo>
                <a:lnTo>
                  <a:pt x="896880" y="415126"/>
                </a:lnTo>
                <a:cubicBezTo>
                  <a:pt x="920243" y="438485"/>
                  <a:pt x="920243" y="476256"/>
                  <a:pt x="896880" y="499367"/>
                </a:cubicBezTo>
                <a:cubicBezTo>
                  <a:pt x="873517" y="522478"/>
                  <a:pt x="835752" y="522726"/>
                  <a:pt x="812636" y="499367"/>
                </a:cubicBezTo>
                <a:lnTo>
                  <a:pt x="457273" y="144007"/>
                </a:lnTo>
                <a:lnTo>
                  <a:pt x="101663" y="499615"/>
                </a:lnTo>
                <a:cubicBezTo>
                  <a:pt x="78300" y="522975"/>
                  <a:pt x="40535" y="522975"/>
                  <a:pt x="17419" y="499615"/>
                </a:cubicBezTo>
                <a:cubicBezTo>
                  <a:pt x="-5688" y="476256"/>
                  <a:pt x="-5944" y="438485"/>
                  <a:pt x="17419" y="415374"/>
                </a:cubicBezTo>
                <a:lnTo>
                  <a:pt x="414781" y="17521"/>
                </a:lnTo>
              </a:path>
            </a:pathLst>
          </a:custGeom>
          <a:solidFill>
            <a:srgbClr val="FFFFFF"/>
          </a:solidFill>
          <a:ln/>
        </p:spPr>
        <p:txBody>
          <a:bodyPr wrap="square" lIns="0" tIns="0" rIns="0" bIns="0" rtlCol="0" anchor="ctr"/>
          <a:lstStyle/>
          <a:p>
            <a:pPr indent="0" marL="0">
              <a:buNone/>
            </a:pPr>
            <a:endParaRPr lang="en-US" dirty="0"/>
          </a:p>
        </p:txBody>
      </p:sp>
      <p:sp>
        <p:nvSpPr>
          <p:cNvPr id="20" name="Text 18"/>
          <p:cNvSpPr/>
          <p:nvPr/>
        </p:nvSpPr>
        <p:spPr>
          <a:xfrm>
            <a:off x="4204373" y="2173931"/>
            <a:ext cx="914400" cy="914400"/>
          </a:xfrm>
          <a:custGeom>
            <a:avLst/>
            <a:gdLst/>
            <a:ahLst/>
            <a:cxnLst/>
            <a:rect l="l" t="t" r="r" b="b"/>
            <a:pathLst>
              <a:path w="914400" h="914400">
                <a:moveTo>
                  <a:pt x="702588" y="90727"/>
                </a:moveTo>
                <a:cubicBezTo>
                  <a:pt x="710626" y="87508"/>
                  <a:pt x="719377" y="85725"/>
                  <a:pt x="728667" y="85725"/>
                </a:cubicBezTo>
                <a:cubicBezTo>
                  <a:pt x="768133" y="85725"/>
                  <a:pt x="800109" y="117692"/>
                  <a:pt x="800109" y="157167"/>
                </a:cubicBezTo>
                <a:cubicBezTo>
                  <a:pt x="800109" y="171633"/>
                  <a:pt x="795821" y="185029"/>
                  <a:pt x="788496" y="196276"/>
                </a:cubicBezTo>
                <a:cubicBezTo>
                  <a:pt x="769925" y="186812"/>
                  <a:pt x="749744" y="180027"/>
                  <a:pt x="728484" y="175912"/>
                </a:cubicBezTo>
                <a:cubicBezTo>
                  <a:pt x="726875" y="144841"/>
                  <a:pt x="717594" y="115726"/>
                  <a:pt x="702588" y="90544"/>
                </a:cubicBezTo>
                <a:lnTo>
                  <a:pt x="702588" y="90727"/>
                </a:lnTo>
                <a:moveTo>
                  <a:pt x="856537" y="248598"/>
                </a:moveTo>
                <a:cubicBezTo>
                  <a:pt x="874934" y="222885"/>
                  <a:pt x="885825" y="191265"/>
                  <a:pt x="885825" y="157158"/>
                </a:cubicBezTo>
                <a:cubicBezTo>
                  <a:pt x="885825" y="70363"/>
                  <a:pt x="815462" y="0"/>
                  <a:pt x="728667" y="0"/>
                </a:cubicBezTo>
                <a:cubicBezTo>
                  <a:pt x="695804" y="0"/>
                  <a:pt x="665263" y="10177"/>
                  <a:pt x="640080" y="27322"/>
                </a:cubicBezTo>
                <a:cubicBezTo>
                  <a:pt x="611688" y="9994"/>
                  <a:pt x="578468" y="0"/>
                  <a:pt x="542925" y="0"/>
                </a:cubicBezTo>
                <a:cubicBezTo>
                  <a:pt x="440412" y="0"/>
                  <a:pt x="357192" y="83229"/>
                  <a:pt x="357192" y="185742"/>
                </a:cubicBezTo>
                <a:lnTo>
                  <a:pt x="357192" y="191457"/>
                </a:lnTo>
                <a:cubicBezTo>
                  <a:pt x="357192" y="229322"/>
                  <a:pt x="368622" y="265213"/>
                  <a:pt x="388803" y="295223"/>
                </a:cubicBezTo>
                <a:cubicBezTo>
                  <a:pt x="255749" y="329330"/>
                  <a:pt x="157167" y="450068"/>
                  <a:pt x="157167" y="594013"/>
                </a:cubicBezTo>
                <a:cubicBezTo>
                  <a:pt x="157167" y="616690"/>
                  <a:pt x="162169" y="638123"/>
                  <a:pt x="171276" y="657234"/>
                </a:cubicBezTo>
                <a:lnTo>
                  <a:pt x="128592" y="657234"/>
                </a:lnTo>
                <a:cubicBezTo>
                  <a:pt x="57516" y="657234"/>
                  <a:pt x="9" y="714741"/>
                  <a:pt x="9" y="785826"/>
                </a:cubicBezTo>
                <a:cubicBezTo>
                  <a:pt x="9" y="856903"/>
                  <a:pt x="57516" y="914418"/>
                  <a:pt x="128601" y="914418"/>
                </a:cubicBezTo>
                <a:lnTo>
                  <a:pt x="814401" y="914418"/>
                </a:lnTo>
                <a:cubicBezTo>
                  <a:pt x="838157" y="914418"/>
                  <a:pt x="857268" y="895307"/>
                  <a:pt x="857268" y="871560"/>
                </a:cubicBezTo>
                <a:cubicBezTo>
                  <a:pt x="857268" y="847804"/>
                  <a:pt x="838157" y="828702"/>
                  <a:pt x="814410" y="828702"/>
                </a:cubicBezTo>
                <a:lnTo>
                  <a:pt x="128610" y="828702"/>
                </a:lnTo>
                <a:cubicBezTo>
                  <a:pt x="104854" y="828702"/>
                  <a:pt x="85752" y="809591"/>
                  <a:pt x="85752" y="785845"/>
                </a:cubicBezTo>
                <a:cubicBezTo>
                  <a:pt x="85752" y="762088"/>
                  <a:pt x="104863" y="742987"/>
                  <a:pt x="128620" y="742987"/>
                </a:cubicBezTo>
                <a:lnTo>
                  <a:pt x="306141" y="742987"/>
                </a:lnTo>
                <a:lnTo>
                  <a:pt x="614395" y="742987"/>
                </a:lnTo>
                <a:lnTo>
                  <a:pt x="700120" y="742987"/>
                </a:lnTo>
                <a:cubicBezTo>
                  <a:pt x="723876" y="742987"/>
                  <a:pt x="742987" y="723876"/>
                  <a:pt x="742987" y="700129"/>
                </a:cubicBezTo>
                <a:cubicBezTo>
                  <a:pt x="742987" y="676373"/>
                  <a:pt x="723876" y="657271"/>
                  <a:pt x="700129" y="657271"/>
                </a:cubicBezTo>
                <a:lnTo>
                  <a:pt x="614760" y="657271"/>
                </a:lnTo>
                <a:lnTo>
                  <a:pt x="671910" y="514396"/>
                </a:lnTo>
                <a:lnTo>
                  <a:pt x="814429" y="514396"/>
                </a:lnTo>
                <a:cubicBezTo>
                  <a:pt x="869613" y="514396"/>
                  <a:pt x="914446" y="469572"/>
                  <a:pt x="914446" y="414388"/>
                </a:cubicBezTo>
                <a:lnTo>
                  <a:pt x="914446" y="400635"/>
                </a:lnTo>
                <a:cubicBezTo>
                  <a:pt x="914446" y="342415"/>
                  <a:pt x="892656" y="289188"/>
                  <a:pt x="856582" y="248653"/>
                </a:cubicBezTo>
                <a:lnTo>
                  <a:pt x="856537" y="248598"/>
                </a:lnTo>
                <a:moveTo>
                  <a:pt x="522561" y="657225"/>
                </a:moveTo>
                <a:lnTo>
                  <a:pt x="306287" y="657225"/>
                </a:lnTo>
                <a:cubicBezTo>
                  <a:pt x="271284" y="657225"/>
                  <a:pt x="243066" y="628833"/>
                  <a:pt x="243066" y="594003"/>
                </a:cubicBezTo>
                <a:cubicBezTo>
                  <a:pt x="242883" y="471126"/>
                  <a:pt x="342543" y="371475"/>
                  <a:pt x="465411" y="371475"/>
                </a:cubicBezTo>
                <a:lnTo>
                  <a:pt x="500058" y="371475"/>
                </a:lnTo>
                <a:cubicBezTo>
                  <a:pt x="520422" y="371475"/>
                  <a:pt x="537923" y="357192"/>
                  <a:pt x="542029" y="337185"/>
                </a:cubicBezTo>
                <a:cubicBezTo>
                  <a:pt x="546135" y="317187"/>
                  <a:pt x="535601" y="297180"/>
                  <a:pt x="516846" y="289142"/>
                </a:cubicBezTo>
                <a:lnTo>
                  <a:pt x="503450" y="283427"/>
                </a:lnTo>
                <a:cubicBezTo>
                  <a:pt x="466664" y="267709"/>
                  <a:pt x="442908" y="231453"/>
                  <a:pt x="442908" y="191448"/>
                </a:cubicBezTo>
                <a:lnTo>
                  <a:pt x="442908" y="185733"/>
                </a:lnTo>
                <a:cubicBezTo>
                  <a:pt x="442908" y="130549"/>
                  <a:pt x="487732" y="85725"/>
                  <a:pt x="542925" y="85725"/>
                </a:cubicBezTo>
                <a:cubicBezTo>
                  <a:pt x="598109" y="85725"/>
                  <a:pt x="642942" y="130549"/>
                  <a:pt x="642942" y="185742"/>
                </a:cubicBezTo>
                <a:lnTo>
                  <a:pt x="642942" y="214317"/>
                </a:lnTo>
                <a:cubicBezTo>
                  <a:pt x="642942" y="236638"/>
                  <a:pt x="660270" y="255392"/>
                  <a:pt x="682590" y="257001"/>
                </a:cubicBezTo>
                <a:lnTo>
                  <a:pt x="696883" y="258071"/>
                </a:lnTo>
                <a:cubicBezTo>
                  <a:pt x="771360" y="263786"/>
                  <a:pt x="828867" y="325938"/>
                  <a:pt x="828867" y="400589"/>
                </a:cubicBezTo>
                <a:lnTo>
                  <a:pt x="828867" y="414342"/>
                </a:lnTo>
                <a:cubicBezTo>
                  <a:pt x="828867" y="422197"/>
                  <a:pt x="822439" y="428634"/>
                  <a:pt x="814584" y="428634"/>
                </a:cubicBezTo>
                <a:lnTo>
                  <a:pt x="643134" y="428634"/>
                </a:lnTo>
                <a:cubicBezTo>
                  <a:pt x="625632" y="428634"/>
                  <a:pt x="609914" y="439351"/>
                  <a:pt x="603312" y="455600"/>
                </a:cubicBezTo>
                <a:lnTo>
                  <a:pt x="522561" y="657225"/>
                </a:lnTo>
                <a:moveTo>
                  <a:pt x="707234" y="385767"/>
                </a:moveTo>
                <a:cubicBezTo>
                  <a:pt x="726957" y="385767"/>
                  <a:pt x="742950" y="369774"/>
                  <a:pt x="742950" y="350051"/>
                </a:cubicBezTo>
                <a:cubicBezTo>
                  <a:pt x="742950" y="330327"/>
                  <a:pt x="726957" y="314334"/>
                  <a:pt x="707234" y="314334"/>
                </a:cubicBezTo>
                <a:cubicBezTo>
                  <a:pt x="687510" y="314334"/>
                  <a:pt x="671517" y="330327"/>
                  <a:pt x="671517" y="350051"/>
                </a:cubicBezTo>
                <a:cubicBezTo>
                  <a:pt x="671517" y="369774"/>
                  <a:pt x="687510" y="385767"/>
                  <a:pt x="707234" y="385767"/>
                </a:cubicBezTo>
              </a:path>
            </a:pathLst>
          </a:custGeom>
          <a:solidFill>
            <a:srgbClr val="FFFFFF"/>
          </a:solidFill>
          <a:ln/>
        </p:spPr>
        <p:txBody>
          <a:bodyPr wrap="square" lIns="0" tIns="0" rIns="0" bIns="0" rtlCol="0" anchor="ctr"/>
          <a:lstStyle/>
          <a:p>
            <a:pPr indent="0" marL="0">
              <a:buNone/>
            </a:pPr>
            <a:endParaRPr lang="en-US" dirty="0"/>
          </a:p>
        </p:txBody>
      </p:sp>
      <p:sp>
        <p:nvSpPr>
          <p:cNvPr id="21" name="Text 19"/>
          <p:cNvSpPr/>
          <p:nvPr/>
        </p:nvSpPr>
        <p:spPr>
          <a:xfrm>
            <a:off x="1285236" y="2312693"/>
            <a:ext cx="914400" cy="636876"/>
          </a:xfrm>
          <a:custGeom>
            <a:avLst/>
            <a:gdLst/>
            <a:ahLst/>
            <a:cxnLst/>
            <a:rect l="l" t="t" r="r" b="b"/>
            <a:pathLst>
              <a:path w="914400" h="636876">
                <a:moveTo>
                  <a:pt x="900016" y="14387"/>
                </a:moveTo>
                <a:cubicBezTo>
                  <a:pt x="919201" y="33570"/>
                  <a:pt x="919201" y="64586"/>
                  <a:pt x="900016" y="83565"/>
                </a:cubicBezTo>
                <a:lnTo>
                  <a:pt x="361298" y="622489"/>
                </a:lnTo>
                <a:cubicBezTo>
                  <a:pt x="342114" y="641672"/>
                  <a:pt x="311097" y="641672"/>
                  <a:pt x="292123" y="622489"/>
                </a:cubicBezTo>
                <a:lnTo>
                  <a:pt x="14393" y="344964"/>
                </a:lnTo>
                <a:cubicBezTo>
                  <a:pt x="-4791" y="325781"/>
                  <a:pt x="-4791" y="294766"/>
                  <a:pt x="14393" y="275787"/>
                </a:cubicBezTo>
                <a:cubicBezTo>
                  <a:pt x="33577" y="256808"/>
                  <a:pt x="64593" y="256604"/>
                  <a:pt x="83567" y="275787"/>
                </a:cubicBezTo>
                <a:lnTo>
                  <a:pt x="326404" y="518621"/>
                </a:lnTo>
                <a:lnTo>
                  <a:pt x="830641" y="14387"/>
                </a:lnTo>
                <a:cubicBezTo>
                  <a:pt x="849825" y="-4796"/>
                  <a:pt x="880842" y="-4796"/>
                  <a:pt x="899815" y="14387"/>
                </a:cubicBezTo>
                <a:lnTo>
                  <a:pt x="900016" y="14387"/>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3" name="Text 21"/>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Actionable Recommendations</a:t>
            </a:r>
            <a:endParaRPr lang="en-US" sz="2800" dirty="0"/>
          </a:p>
        </p:txBody>
      </p:sp>
      <p:sp>
        <p:nvSpPr>
          <p:cNvPr id="24" name="Text 2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247"/>
              </a:spcBef>
              <a:buNone/>
            </a:pPr>
            <a:r>
              <a:rPr lang="en-US" sz="1995" dirty="0">
                <a:solidFill>
                  <a:srgbClr val="FFFFFF"/>
                </a:solidFill>
                <a:latin typeface="Figtree Regular" pitchFamily="34" charset="0"/>
                <a:ea typeface="Figtree Regular" pitchFamily="34" charset="-122"/>
                <a:cs typeface="Figtree Regular" pitchFamily="34" charset="-120"/>
              </a:rPr>
              <a:t>Explainable Alerts</a:t>
            </a:r>
            <a:endParaRPr lang="en-US" sz="1995" dirty="0"/>
          </a:p>
          <a:p>
            <a:pPr algn="l" marL="142875" indent="0">
              <a:lnSpc>
                <a:spcPct val="100000"/>
              </a:lnSpc>
              <a:spcBef>
                <a:spcPts val="1247"/>
              </a:spcBef>
              <a:buNone/>
            </a:pPr>
            <a:r>
              <a:rPr lang="en-US" sz="1696" dirty="0">
                <a:solidFill>
                  <a:srgbClr val="FFFFFF"/>
                </a:solidFill>
                <a:latin typeface="Figtree Regular" pitchFamily="34" charset="0"/>
                <a:ea typeface="Figtree Regular" pitchFamily="34" charset="-122"/>
                <a:cs typeface="Figtree Regular" pitchFamily="34" charset="-120"/>
              </a:rPr>
              <a:t>When AI generates an alert, analysts need more than a simple risk score or a vague message about an anomaly. Explainable alerts provide clear insights into why the alert was raised. This includes listing key contributing risk factors such as unusual access times, new privileged status, or matches to patterns seen in known attacks. Alongside these factors, confidence indicators show how reliable the alert is based on AI training data. Comparisons to baseline behaviors highlight deviations, helping analysts see context at a glance. Finally, including the detection method details demystifies the AI’s reasoning process. Such transparency builds trust, empowering analysts to evaluate AI outputs critically and make informed decisions rather than relying blindly on automated judgments.</a:t>
            </a:r>
            <a:endParaRPr lang="en-US" sz="1995"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ph type="title"/>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Explainable AI Decisions</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9297454" y="1544741"/>
            <a:ext cx="1997343" cy="1937297"/>
          </a:xfrm>
          <a:custGeom>
            <a:avLst/>
            <a:gdLst/>
            <a:ahLst/>
            <a:cxnLst/>
            <a:rect l="l" t="t" r="r" b="b"/>
            <a:pathLst>
              <a:path w="1997343" h="1937297">
                <a:moveTo>
                  <a:pt x="9108" y="0"/>
                </a:moveTo>
                <a:lnTo>
                  <a:pt x="231432" y="514585"/>
                </a:lnTo>
                <a:cubicBezTo>
                  <a:pt x="254841" y="568635"/>
                  <a:pt x="253583" y="630067"/>
                  <a:pt x="228296" y="683343"/>
                </a:cubicBezTo>
                <a:lnTo>
                  <a:pt x="0" y="1161313"/>
                </a:lnTo>
                <a:cubicBezTo>
                  <a:pt x="414968" y="1197133"/>
                  <a:pt x="759530" y="1478545"/>
                  <a:pt x="887739" y="1859573"/>
                </a:cubicBezTo>
                <a:lnTo>
                  <a:pt x="1451189" y="1936251"/>
                </a:lnTo>
                <a:cubicBezTo>
                  <a:pt x="1484505" y="1940804"/>
                  <a:pt x="1517961" y="1930749"/>
                  <a:pt x="1543267" y="1908606"/>
                </a:cubicBezTo>
                <a:lnTo>
                  <a:pt x="1997043" y="1512022"/>
                </a:lnTo>
                <a:lnTo>
                  <a:pt x="1997363" y="1511712"/>
                </a:lnTo>
                <a:cubicBezTo>
                  <a:pt x="1708108" y="621620"/>
                  <a:pt x="935056" y="37584"/>
                  <a:pt x="9128" y="39"/>
                </a:cubicBezTo>
                <a:lnTo>
                  <a:pt x="9108" y="0"/>
                </a:lnTo>
              </a:path>
            </a:pathLst>
          </a:custGeom>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9829628" y="3148649"/>
            <a:ext cx="1577139" cy="2343641"/>
          </a:xfrm>
          <a:custGeom>
            <a:avLst/>
            <a:gdLst/>
            <a:ahLst/>
            <a:cxnLst/>
            <a:rect l="l" t="t" r="r" b="b"/>
            <a:pathLst>
              <a:path w="1577139" h="2343641">
                <a:moveTo>
                  <a:pt x="1492983" y="0"/>
                </a:moveTo>
                <a:lnTo>
                  <a:pt x="1068906" y="370647"/>
                </a:lnTo>
                <a:cubicBezTo>
                  <a:pt x="1024604" y="409457"/>
                  <a:pt x="965682" y="427058"/>
                  <a:pt x="907391" y="419207"/>
                </a:cubicBezTo>
                <a:lnTo>
                  <a:pt x="381967" y="347726"/>
                </a:lnTo>
                <a:cubicBezTo>
                  <a:pt x="399884" y="423777"/>
                  <a:pt x="409615" y="502969"/>
                  <a:pt x="409615" y="584504"/>
                </a:cubicBezTo>
                <a:cubicBezTo>
                  <a:pt x="409615" y="920582"/>
                  <a:pt x="248715" y="1218975"/>
                  <a:pt x="0" y="1407356"/>
                </a:cubicBezTo>
                <a:lnTo>
                  <a:pt x="115321" y="1973322"/>
                </a:lnTo>
                <a:cubicBezTo>
                  <a:pt x="122071" y="2006157"/>
                  <a:pt x="142652" y="2034444"/>
                  <a:pt x="171719" y="2051108"/>
                </a:cubicBezTo>
                <a:lnTo>
                  <a:pt x="687081" y="2343664"/>
                </a:lnTo>
                <a:cubicBezTo>
                  <a:pt x="1431206" y="1792487"/>
                  <a:pt x="1740909" y="884771"/>
                  <a:pt x="1493125" y="23"/>
                </a:cubicBezTo>
                <a:lnTo>
                  <a:pt x="1492983" y="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7925459" y="4586792"/>
            <a:ext cx="2512234" cy="1345184"/>
          </a:xfrm>
          <a:custGeom>
            <a:avLst/>
            <a:gdLst/>
            <a:ahLst/>
            <a:cxnLst/>
            <a:rect l="l" t="t" r="r" b="b"/>
            <a:pathLst>
              <a:path w="2512234" h="1345184">
                <a:moveTo>
                  <a:pt x="2032548" y="689299"/>
                </a:moveTo>
                <a:cubicBezTo>
                  <a:pt x="1981324" y="660230"/>
                  <a:pt x="1945198" y="610418"/>
                  <a:pt x="1933415" y="552763"/>
                </a:cubicBezTo>
                <a:lnTo>
                  <a:pt x="1825465" y="23258"/>
                </a:lnTo>
                <a:cubicBezTo>
                  <a:pt x="1667721" y="121147"/>
                  <a:pt x="1481690" y="177874"/>
                  <a:pt x="1282294" y="177874"/>
                </a:cubicBezTo>
                <a:cubicBezTo>
                  <a:pt x="1067498" y="177874"/>
                  <a:pt x="868278" y="112202"/>
                  <a:pt x="703149" y="13"/>
                </a:cubicBezTo>
                <a:lnTo>
                  <a:pt x="193291" y="269952"/>
                </a:lnTo>
                <a:cubicBezTo>
                  <a:pt x="163597" y="285663"/>
                  <a:pt x="142217" y="313320"/>
                  <a:pt x="134681" y="345995"/>
                </a:cubicBezTo>
                <a:lnTo>
                  <a:pt x="25" y="919487"/>
                </a:lnTo>
                <a:cubicBezTo>
                  <a:pt x="762388" y="1472721"/>
                  <a:pt x="1738893" y="1486697"/>
                  <a:pt x="2512259" y="961591"/>
                </a:cubicBezTo>
                <a:lnTo>
                  <a:pt x="2032548" y="689299"/>
                </a:lnTo>
              </a:path>
            </a:pathLst>
          </a:custGeom>
          <a:solidFill>
            <a:srgbClr val="104862"/>
          </a:solidFill>
          <a:ln/>
        </p:spPr>
        <p:txBody>
          <a:bodyPr wrap="square" lIns="0" tIns="0" rIns="0" bIns="0" rtlCol="0" anchor="ctr"/>
          <a:lstStyle/>
          <a:p>
            <a:pPr indent="0" marL="0">
              <a:buNone/>
            </a:pPr>
            <a:endParaRPr lang="en-US" dirty="0"/>
          </a:p>
        </p:txBody>
      </p:sp>
      <p:sp>
        <p:nvSpPr>
          <p:cNvPr id="7" name="Text 5"/>
          <p:cNvSpPr/>
          <p:nvPr/>
        </p:nvSpPr>
        <p:spPr>
          <a:xfrm>
            <a:off x="7016262" y="3023696"/>
            <a:ext cx="1534386" cy="2424757"/>
          </a:xfrm>
          <a:custGeom>
            <a:avLst/>
            <a:gdLst/>
            <a:ahLst/>
            <a:cxnLst/>
            <a:rect l="l" t="t" r="r" b="b"/>
            <a:pathLst>
              <a:path w="1534386" h="2424757">
                <a:moveTo>
                  <a:pt x="1159965" y="709605"/>
                </a:moveTo>
                <a:cubicBezTo>
                  <a:pt x="1159965" y="609826"/>
                  <a:pt x="1174419" y="513515"/>
                  <a:pt x="1200811" y="422223"/>
                </a:cubicBezTo>
                <a:lnTo>
                  <a:pt x="1141414" y="367230"/>
                </a:lnTo>
                <a:lnTo>
                  <a:pt x="778931" y="30988"/>
                </a:lnTo>
                <a:cubicBezTo>
                  <a:pt x="754258" y="8196"/>
                  <a:pt x="721115" y="-2958"/>
                  <a:pt x="687804" y="655"/>
                </a:cubicBezTo>
                <a:lnTo>
                  <a:pt x="102528" y="62559"/>
                </a:lnTo>
                <a:cubicBezTo>
                  <a:pt x="-171023" y="943691"/>
                  <a:pt x="113054" y="1856588"/>
                  <a:pt x="832359" y="2424733"/>
                </a:cubicBezTo>
                <a:lnTo>
                  <a:pt x="958055" y="1889104"/>
                </a:lnTo>
                <a:cubicBezTo>
                  <a:pt x="971573" y="1831758"/>
                  <a:pt x="1009120" y="1783045"/>
                  <a:pt x="1061120" y="1755548"/>
                </a:cubicBezTo>
                <a:lnTo>
                  <a:pt x="1534371" y="1504950"/>
                </a:lnTo>
                <a:cubicBezTo>
                  <a:pt x="1305594" y="1315770"/>
                  <a:pt x="1159796" y="1029819"/>
                  <a:pt x="1159796" y="709751"/>
                </a:cubicBezTo>
                <a:lnTo>
                  <a:pt x="1159965" y="709605"/>
                </a:lnTo>
              </a:path>
            </a:pathLst>
          </a:custGeom>
          <a:solidFill>
            <a:srgbClr val="135675"/>
          </a:solidFill>
          <a:ln/>
        </p:spPr>
        <p:txBody>
          <a:bodyPr wrap="square" lIns="0" tIns="0" rIns="0" bIns="0" rtlCol="0" anchor="ctr"/>
          <a:lstStyle/>
          <a:p>
            <a:pPr indent="0" marL="0">
              <a:buNone/>
            </a:pPr>
            <a:endParaRPr lang="en-US" dirty="0"/>
          </a:p>
        </p:txBody>
      </p:sp>
      <p:sp>
        <p:nvSpPr>
          <p:cNvPr id="8" name="Text 6"/>
          <p:cNvSpPr/>
          <p:nvPr/>
        </p:nvSpPr>
        <p:spPr>
          <a:xfrm>
            <a:off x="7149429" y="1542856"/>
            <a:ext cx="2308310" cy="1812095"/>
          </a:xfrm>
          <a:custGeom>
            <a:avLst/>
            <a:gdLst/>
            <a:ahLst/>
            <a:cxnLst/>
            <a:rect l="l" t="t" r="r" b="b"/>
            <a:pathLst>
              <a:path w="2308310" h="1812095">
                <a:moveTo>
                  <a:pt x="2052642" y="1159088"/>
                </a:moveTo>
                <a:lnTo>
                  <a:pt x="2296976" y="647335"/>
                </a:lnTo>
                <a:cubicBezTo>
                  <a:pt x="2311426" y="617018"/>
                  <a:pt x="2312049" y="582136"/>
                  <a:pt x="2298869" y="551330"/>
                </a:cubicBezTo>
                <a:lnTo>
                  <a:pt x="2060675" y="-18"/>
                </a:lnTo>
                <a:cubicBezTo>
                  <a:pt x="1115422" y="616"/>
                  <a:pt x="314877" y="567186"/>
                  <a:pt x="0" y="1451796"/>
                </a:cubicBezTo>
                <a:lnTo>
                  <a:pt x="545523" y="1394135"/>
                </a:lnTo>
                <a:cubicBezTo>
                  <a:pt x="604131" y="1387847"/>
                  <a:pt x="662416" y="1407327"/>
                  <a:pt x="705627" y="1447393"/>
                </a:cubicBezTo>
                <a:lnTo>
                  <a:pt x="1098756" y="1812077"/>
                </a:lnTo>
                <a:cubicBezTo>
                  <a:pt x="1248957" y="1431374"/>
                  <a:pt x="1618979" y="1161426"/>
                  <a:pt x="2052642" y="1159070"/>
                </a:cubicBezTo>
                <a:lnTo>
                  <a:pt x="2052642" y="1159088"/>
                </a:lnTo>
              </a:path>
            </a:pathLst>
          </a:custGeom>
          <a:solidFill>
            <a:srgbClr val="156082"/>
          </a:solidFill>
          <a:ln/>
        </p:spPr>
        <p:txBody>
          <a:bodyPr wrap="square" lIns="0" tIns="0" rIns="0" bIns="0" rtlCol="0" anchor="ctr"/>
          <a:lstStyle/>
          <a:p>
            <a:pPr indent="0" marL="0">
              <a:buNone/>
            </a:pPr>
            <a:endParaRPr lang="en-US" dirty="0"/>
          </a:p>
        </p:txBody>
      </p:sp>
      <p:sp>
        <p:nvSpPr>
          <p:cNvPr id="9" name="Text 7"/>
          <p:cNvSpPr/>
          <p:nvPr/>
        </p:nvSpPr>
        <p:spPr>
          <a:xfrm>
            <a:off x="544035" y="1784261"/>
            <a:ext cx="45719" cy="548640"/>
          </a:xfrm>
          <a:prstGeom prst="rect">
            <a:avLst/>
          </a:prstGeom>
          <a:solidFill>
            <a:srgbClr val="135675"/>
          </a:solidFill>
          <a:ln/>
        </p:spPr>
        <p:txBody>
          <a:bodyPr wrap="square" lIns="0" tIns="0" rIns="0" bIns="0" rtlCol="0" anchor="ctr"/>
          <a:lstStyle/>
          <a:p>
            <a:pPr indent="0" marL="0">
              <a:buNone/>
            </a:pPr>
            <a:endParaRPr lang="en-US" dirty="0"/>
          </a:p>
        </p:txBody>
      </p:sp>
      <p:sp>
        <p:nvSpPr>
          <p:cNvPr id="10" name="Text 8"/>
          <p:cNvSpPr/>
          <p:nvPr/>
        </p:nvSpPr>
        <p:spPr>
          <a:xfrm>
            <a:off x="544035" y="2666211"/>
            <a:ext cx="45719" cy="548640"/>
          </a:xfrm>
          <a:prstGeom prst="rect">
            <a:avLst/>
          </a:pr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544035" y="3548161"/>
            <a:ext cx="45719" cy="548640"/>
          </a:xfrm>
          <a:prstGeom prst="rect">
            <a:avLst/>
          </a:prstGeom>
          <a:solidFill>
            <a:srgbClr val="156082"/>
          </a:solidFill>
          <a:ln/>
        </p:spPr>
        <p:txBody>
          <a:bodyPr wrap="square" lIns="0" tIns="0" rIns="0" bIns="0" rtlCol="0" anchor="ctr"/>
          <a:lstStyle/>
          <a:p>
            <a:pPr indent="0" marL="0">
              <a:buNone/>
            </a:pPr>
            <a:endParaRPr lang="en-US" dirty="0"/>
          </a:p>
        </p:txBody>
      </p:sp>
      <p:sp>
        <p:nvSpPr>
          <p:cNvPr id="12" name="Text 10"/>
          <p:cNvSpPr/>
          <p:nvPr/>
        </p:nvSpPr>
        <p:spPr>
          <a:xfrm>
            <a:off x="544035" y="4430111"/>
            <a:ext cx="45719" cy="548640"/>
          </a:xfrm>
          <a:prstGeom prst="rect">
            <a:avLst/>
          </a:prstGeom>
          <a:solidFill>
            <a:srgbClr val="46B1E1"/>
          </a:solidFill>
          <a:ln/>
        </p:spPr>
        <p:txBody>
          <a:bodyPr wrap="square" lIns="0" tIns="0" rIns="0" bIns="0" rtlCol="0" anchor="ctr"/>
          <a:lstStyle/>
          <a:p>
            <a:pPr indent="0" marL="0">
              <a:buNone/>
            </a:pPr>
            <a:endParaRPr lang="en-US" dirty="0"/>
          </a:p>
        </p:txBody>
      </p:sp>
      <p:sp>
        <p:nvSpPr>
          <p:cNvPr id="13" name="Text 11"/>
          <p:cNvSpPr/>
          <p:nvPr/>
        </p:nvSpPr>
        <p:spPr>
          <a:xfrm>
            <a:off x="544035" y="5312061"/>
            <a:ext cx="45719" cy="548640"/>
          </a:xfrm>
          <a:prstGeom prst="rect">
            <a:avLst/>
          </a:prstGeom>
          <a:solidFill>
            <a:srgbClr val="83CBEB"/>
          </a:solidFill>
          <a:ln/>
        </p:spPr>
        <p:txBody>
          <a:bodyPr wrap="square" lIns="0" tIns="0" rIns="0" bIns="0" rtlCol="0" anchor="ctr"/>
          <a:lstStyle/>
          <a:p>
            <a:pPr indent="0" marL="0">
              <a:buNone/>
            </a:pPr>
            <a:endParaRPr lang="en-US" dirty="0"/>
          </a:p>
        </p:txBody>
      </p:sp>
      <p:sp>
        <p:nvSpPr>
          <p:cNvPr id="14" name="Text 12"/>
          <p:cNvSpPr/>
          <p:nvPr/>
        </p:nvSpPr>
        <p:spPr>
          <a:xfrm>
            <a:off x="7525909" y="3951997"/>
            <a:ext cx="365760" cy="360010"/>
          </a:xfrm>
          <a:custGeom>
            <a:avLst/>
            <a:gdLst/>
            <a:ahLst/>
            <a:cxnLst/>
            <a:rect l="l" t="t" r="r" b="b"/>
            <a:pathLst>
              <a:path w="365760" h="360010">
                <a:moveTo>
                  <a:pt x="129658" y="29218"/>
                </a:moveTo>
                <a:cubicBezTo>
                  <a:pt x="141231" y="10930"/>
                  <a:pt x="161446" y="0"/>
                  <a:pt x="182880" y="0"/>
                </a:cubicBezTo>
                <a:cubicBezTo>
                  <a:pt x="204310" y="0"/>
                  <a:pt x="224529" y="10930"/>
                  <a:pt x="236102" y="29218"/>
                </a:cubicBezTo>
                <a:lnTo>
                  <a:pt x="280607" y="99298"/>
                </a:lnTo>
                <a:lnTo>
                  <a:pt x="285322" y="76581"/>
                </a:lnTo>
                <a:cubicBezTo>
                  <a:pt x="287250" y="67293"/>
                  <a:pt x="296324" y="61364"/>
                  <a:pt x="305538" y="63221"/>
                </a:cubicBezTo>
                <a:cubicBezTo>
                  <a:pt x="314755" y="65079"/>
                  <a:pt x="320753" y="74223"/>
                  <a:pt x="318895" y="83440"/>
                </a:cubicBezTo>
                <a:lnTo>
                  <a:pt x="305037" y="150877"/>
                </a:lnTo>
                <a:cubicBezTo>
                  <a:pt x="304038" y="155661"/>
                  <a:pt x="301035" y="159805"/>
                  <a:pt x="296822" y="162235"/>
                </a:cubicBezTo>
                <a:cubicBezTo>
                  <a:pt x="292608" y="164665"/>
                  <a:pt x="287462" y="165234"/>
                  <a:pt x="282820" y="163664"/>
                </a:cubicBezTo>
                <a:lnTo>
                  <a:pt x="217529" y="141948"/>
                </a:lnTo>
                <a:cubicBezTo>
                  <a:pt x="208527" y="138949"/>
                  <a:pt x="203670" y="129233"/>
                  <a:pt x="206669" y="120304"/>
                </a:cubicBezTo>
                <a:cubicBezTo>
                  <a:pt x="209668" y="111376"/>
                  <a:pt x="219387" y="106444"/>
                  <a:pt x="228315" y="109447"/>
                </a:cubicBezTo>
                <a:lnTo>
                  <a:pt x="251317" y="117090"/>
                </a:lnTo>
                <a:lnTo>
                  <a:pt x="207170" y="47582"/>
                </a:lnTo>
                <a:cubicBezTo>
                  <a:pt x="201954" y="39367"/>
                  <a:pt x="192741" y="34294"/>
                  <a:pt x="182880" y="34294"/>
                </a:cubicBezTo>
                <a:cubicBezTo>
                  <a:pt x="173023" y="34294"/>
                  <a:pt x="163806" y="39367"/>
                  <a:pt x="158590" y="47582"/>
                </a:cubicBezTo>
                <a:lnTo>
                  <a:pt x="143232" y="71800"/>
                </a:lnTo>
                <a:cubicBezTo>
                  <a:pt x="138232" y="79659"/>
                  <a:pt x="127943" y="82086"/>
                  <a:pt x="119944" y="77301"/>
                </a:cubicBezTo>
                <a:cubicBezTo>
                  <a:pt x="111656" y="72373"/>
                  <a:pt x="109157" y="61587"/>
                  <a:pt x="114300" y="53440"/>
                </a:cubicBezTo>
                <a:lnTo>
                  <a:pt x="129658" y="29218"/>
                </a:lnTo>
              </a:path>
              <a:path w="365760" h="360010">
                <a:moveTo>
                  <a:pt x="313610" y="182522"/>
                </a:moveTo>
                <a:cubicBezTo>
                  <a:pt x="321609" y="177737"/>
                  <a:pt x="331898" y="180163"/>
                  <a:pt x="336898" y="188023"/>
                </a:cubicBezTo>
                <a:lnTo>
                  <a:pt x="356042" y="218170"/>
                </a:lnTo>
                <a:cubicBezTo>
                  <a:pt x="362329" y="228099"/>
                  <a:pt x="365687" y="239601"/>
                  <a:pt x="365756" y="251316"/>
                </a:cubicBezTo>
                <a:cubicBezTo>
                  <a:pt x="365972" y="286035"/>
                  <a:pt x="337896" y="314325"/>
                  <a:pt x="303178" y="314325"/>
                </a:cubicBezTo>
                <a:lnTo>
                  <a:pt x="205166" y="314325"/>
                </a:lnTo>
                <a:lnTo>
                  <a:pt x="222883" y="330039"/>
                </a:lnTo>
                <a:cubicBezTo>
                  <a:pt x="229957" y="336325"/>
                  <a:pt x="230597" y="347183"/>
                  <a:pt x="224313" y="354257"/>
                </a:cubicBezTo>
                <a:cubicBezTo>
                  <a:pt x="218026" y="361328"/>
                  <a:pt x="207170" y="361972"/>
                  <a:pt x="200096" y="355687"/>
                </a:cubicBezTo>
                <a:lnTo>
                  <a:pt x="148663" y="309965"/>
                </a:lnTo>
                <a:cubicBezTo>
                  <a:pt x="145020" y="306678"/>
                  <a:pt x="142877" y="302034"/>
                  <a:pt x="142877" y="297178"/>
                </a:cubicBezTo>
                <a:cubicBezTo>
                  <a:pt x="142877" y="292321"/>
                  <a:pt x="144947" y="287605"/>
                  <a:pt x="148663" y="284390"/>
                </a:cubicBezTo>
                <a:lnTo>
                  <a:pt x="200096" y="238669"/>
                </a:lnTo>
                <a:cubicBezTo>
                  <a:pt x="207170" y="232383"/>
                  <a:pt x="218026" y="233024"/>
                  <a:pt x="224313" y="240098"/>
                </a:cubicBezTo>
                <a:cubicBezTo>
                  <a:pt x="230601" y="247169"/>
                  <a:pt x="229957" y="258030"/>
                  <a:pt x="222883" y="264316"/>
                </a:cubicBezTo>
                <a:lnTo>
                  <a:pt x="205096" y="280030"/>
                </a:lnTo>
                <a:lnTo>
                  <a:pt x="303178" y="280030"/>
                </a:lnTo>
                <a:cubicBezTo>
                  <a:pt x="318895" y="280030"/>
                  <a:pt x="331609" y="267243"/>
                  <a:pt x="331466" y="251528"/>
                </a:cubicBezTo>
                <a:cubicBezTo>
                  <a:pt x="331466" y="246243"/>
                  <a:pt x="329894" y="241027"/>
                  <a:pt x="327037" y="236527"/>
                </a:cubicBezTo>
                <a:lnTo>
                  <a:pt x="307893" y="206379"/>
                </a:lnTo>
                <a:cubicBezTo>
                  <a:pt x="302751" y="198236"/>
                  <a:pt x="305249" y="187450"/>
                  <a:pt x="313537" y="182518"/>
                </a:cubicBezTo>
                <a:lnTo>
                  <a:pt x="313610" y="182522"/>
                </a:lnTo>
              </a:path>
              <a:path w="365760" h="360010">
                <a:moveTo>
                  <a:pt x="91012" y="185164"/>
                </a:moveTo>
                <a:lnTo>
                  <a:pt x="86224" y="161731"/>
                </a:lnTo>
                <a:lnTo>
                  <a:pt x="38719" y="236527"/>
                </a:lnTo>
                <a:cubicBezTo>
                  <a:pt x="35863" y="241027"/>
                  <a:pt x="34363" y="246243"/>
                  <a:pt x="34290" y="251528"/>
                </a:cubicBezTo>
                <a:cubicBezTo>
                  <a:pt x="34217" y="267243"/>
                  <a:pt x="46934" y="280030"/>
                  <a:pt x="62578" y="280030"/>
                </a:cubicBezTo>
                <a:lnTo>
                  <a:pt x="97153" y="280030"/>
                </a:lnTo>
                <a:cubicBezTo>
                  <a:pt x="106656" y="280030"/>
                  <a:pt x="114296" y="287673"/>
                  <a:pt x="114296" y="297174"/>
                </a:cubicBezTo>
                <a:cubicBezTo>
                  <a:pt x="114296" y="306675"/>
                  <a:pt x="106652" y="314318"/>
                  <a:pt x="97153" y="314318"/>
                </a:cubicBezTo>
                <a:lnTo>
                  <a:pt x="62578" y="314318"/>
                </a:lnTo>
                <a:cubicBezTo>
                  <a:pt x="27860" y="314318"/>
                  <a:pt x="-216" y="286100"/>
                  <a:pt x="0" y="251381"/>
                </a:cubicBezTo>
                <a:cubicBezTo>
                  <a:pt x="73" y="239666"/>
                  <a:pt x="3427" y="228164"/>
                  <a:pt x="9715" y="218235"/>
                </a:cubicBezTo>
                <a:lnTo>
                  <a:pt x="56290" y="144868"/>
                </a:lnTo>
                <a:lnTo>
                  <a:pt x="34001" y="152227"/>
                </a:lnTo>
                <a:cubicBezTo>
                  <a:pt x="25000" y="155225"/>
                  <a:pt x="15285" y="150369"/>
                  <a:pt x="12355" y="141369"/>
                </a:cubicBezTo>
                <a:cubicBezTo>
                  <a:pt x="9426" y="132368"/>
                  <a:pt x="14213" y="122652"/>
                  <a:pt x="23215" y="119725"/>
                </a:cubicBezTo>
                <a:lnTo>
                  <a:pt x="88507" y="98009"/>
                </a:lnTo>
                <a:cubicBezTo>
                  <a:pt x="93152" y="96436"/>
                  <a:pt x="98221" y="97008"/>
                  <a:pt x="102508" y="99438"/>
                </a:cubicBezTo>
                <a:cubicBezTo>
                  <a:pt x="106795" y="101868"/>
                  <a:pt x="109724" y="106012"/>
                  <a:pt x="110723" y="110797"/>
                </a:cubicBezTo>
                <a:lnTo>
                  <a:pt x="124581" y="178234"/>
                </a:lnTo>
                <a:cubicBezTo>
                  <a:pt x="126509" y="187522"/>
                  <a:pt x="120511" y="196594"/>
                  <a:pt x="111224" y="198452"/>
                </a:cubicBezTo>
                <a:cubicBezTo>
                  <a:pt x="101937" y="200309"/>
                  <a:pt x="92866" y="194380"/>
                  <a:pt x="91008" y="185092"/>
                </a:cubicBezTo>
                <a:lnTo>
                  <a:pt x="91012" y="185164"/>
                </a:lnTo>
              </a:path>
            </a:pathLst>
          </a:custGeom>
          <a:solidFill>
            <a:srgbClr val="FFFFFF"/>
          </a:solidFill>
          <a:ln/>
        </p:spPr>
        <p:txBody>
          <a:bodyPr wrap="square" lIns="0" tIns="0" rIns="0" bIns="0" rtlCol="0" anchor="ctr"/>
          <a:lstStyle/>
          <a:p>
            <a:pPr indent="0" marL="0">
              <a:buNone/>
            </a:pPr>
            <a:endParaRPr lang="en-US" dirty="0"/>
          </a:p>
        </p:txBody>
      </p:sp>
      <p:sp>
        <p:nvSpPr>
          <p:cNvPr id="15" name="Text 13"/>
          <p:cNvSpPr/>
          <p:nvPr/>
        </p:nvSpPr>
        <p:spPr>
          <a:xfrm>
            <a:off x="8922537" y="5183122"/>
            <a:ext cx="365760" cy="320040"/>
          </a:xfrm>
          <a:custGeom>
            <a:avLst/>
            <a:gdLst/>
            <a:ahLst/>
            <a:cxnLst/>
            <a:rect l="l" t="t" r="r" b="b"/>
            <a:pathLst>
              <a:path w="365760" h="320040">
                <a:moveTo>
                  <a:pt x="177452" y="37361"/>
                </a:moveTo>
                <a:cubicBezTo>
                  <a:pt x="178593" y="35432"/>
                  <a:pt x="180667" y="34289"/>
                  <a:pt x="182880" y="34289"/>
                </a:cubicBezTo>
                <a:cubicBezTo>
                  <a:pt x="185093" y="34289"/>
                  <a:pt x="187167" y="35432"/>
                  <a:pt x="188308" y="37361"/>
                </a:cubicBezTo>
                <a:lnTo>
                  <a:pt x="329967" y="270034"/>
                </a:lnTo>
                <a:cubicBezTo>
                  <a:pt x="330965" y="271676"/>
                  <a:pt x="331466" y="273535"/>
                  <a:pt x="331466" y="275391"/>
                </a:cubicBezTo>
                <a:cubicBezTo>
                  <a:pt x="331466" y="281107"/>
                  <a:pt x="326821" y="285751"/>
                  <a:pt x="321108" y="285751"/>
                </a:cubicBezTo>
                <a:lnTo>
                  <a:pt x="44645" y="285751"/>
                </a:lnTo>
                <a:cubicBezTo>
                  <a:pt x="38932" y="285751"/>
                  <a:pt x="34286" y="281107"/>
                  <a:pt x="34286" y="275391"/>
                </a:cubicBezTo>
                <a:cubicBezTo>
                  <a:pt x="34286" y="273461"/>
                  <a:pt x="34787" y="271605"/>
                  <a:pt x="35786" y="270034"/>
                </a:cubicBezTo>
                <a:lnTo>
                  <a:pt x="177452" y="37361"/>
                </a:lnTo>
                <a:moveTo>
                  <a:pt x="148162" y="19503"/>
                </a:moveTo>
                <a:lnTo>
                  <a:pt x="6503" y="252176"/>
                </a:lnTo>
                <a:cubicBezTo>
                  <a:pt x="2216" y="259178"/>
                  <a:pt x="4" y="267179"/>
                  <a:pt x="4" y="275391"/>
                </a:cubicBezTo>
                <a:cubicBezTo>
                  <a:pt x="4" y="300038"/>
                  <a:pt x="20007" y="320040"/>
                  <a:pt x="44652" y="320040"/>
                </a:cubicBezTo>
                <a:lnTo>
                  <a:pt x="321115" y="320040"/>
                </a:lnTo>
                <a:cubicBezTo>
                  <a:pt x="345760" y="320040"/>
                  <a:pt x="365764" y="300038"/>
                  <a:pt x="365764" y="275391"/>
                </a:cubicBezTo>
                <a:cubicBezTo>
                  <a:pt x="365764" y="267176"/>
                  <a:pt x="363478" y="259175"/>
                  <a:pt x="359264" y="252176"/>
                </a:cubicBezTo>
                <a:lnTo>
                  <a:pt x="217605" y="19503"/>
                </a:lnTo>
                <a:cubicBezTo>
                  <a:pt x="210246" y="7431"/>
                  <a:pt x="197104" y="0"/>
                  <a:pt x="182887" y="0"/>
                </a:cubicBezTo>
                <a:cubicBezTo>
                  <a:pt x="168670" y="0"/>
                  <a:pt x="155528" y="7428"/>
                  <a:pt x="148169" y="19503"/>
                </a:cubicBezTo>
                <a:lnTo>
                  <a:pt x="148162" y="19503"/>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10479005" y="4199428"/>
            <a:ext cx="365760" cy="342900"/>
          </a:xfrm>
          <a:custGeom>
            <a:avLst/>
            <a:gdLst/>
            <a:ahLst/>
            <a:cxnLst/>
            <a:rect l="l" t="t" r="r" b="b"/>
            <a:pathLst>
              <a:path w="365760" h="342900">
                <a:moveTo>
                  <a:pt x="0" y="285749"/>
                </a:moveTo>
                <a:cubicBezTo>
                  <a:pt x="0" y="295251"/>
                  <a:pt x="7644" y="302894"/>
                  <a:pt x="17147" y="302894"/>
                </a:cubicBezTo>
                <a:lnTo>
                  <a:pt x="59794" y="302894"/>
                </a:lnTo>
                <a:cubicBezTo>
                  <a:pt x="67080" y="326112"/>
                  <a:pt x="88726" y="342900"/>
                  <a:pt x="114300" y="342900"/>
                </a:cubicBezTo>
                <a:cubicBezTo>
                  <a:pt x="139874" y="342900"/>
                  <a:pt x="161520" y="326112"/>
                  <a:pt x="168806" y="302894"/>
                </a:cubicBezTo>
                <a:lnTo>
                  <a:pt x="348613" y="302894"/>
                </a:lnTo>
                <a:cubicBezTo>
                  <a:pt x="358116" y="302894"/>
                  <a:pt x="365760" y="295251"/>
                  <a:pt x="365760" y="285749"/>
                </a:cubicBezTo>
                <a:cubicBezTo>
                  <a:pt x="365760" y="276247"/>
                  <a:pt x="358116" y="268604"/>
                  <a:pt x="348617" y="268604"/>
                </a:cubicBezTo>
                <a:lnTo>
                  <a:pt x="168809" y="268604"/>
                </a:lnTo>
                <a:cubicBezTo>
                  <a:pt x="161523" y="245386"/>
                  <a:pt x="139878" y="228598"/>
                  <a:pt x="114304" y="228598"/>
                </a:cubicBezTo>
                <a:cubicBezTo>
                  <a:pt x="88730" y="228598"/>
                  <a:pt x="67084" y="245386"/>
                  <a:pt x="59798" y="268604"/>
                </a:cubicBezTo>
                <a:lnTo>
                  <a:pt x="17150" y="268604"/>
                </a:lnTo>
                <a:cubicBezTo>
                  <a:pt x="7648" y="268604"/>
                  <a:pt x="7" y="276247"/>
                  <a:pt x="7" y="285749"/>
                </a:cubicBezTo>
                <a:lnTo>
                  <a:pt x="0" y="285749"/>
                </a:lnTo>
                <a:moveTo>
                  <a:pt x="91440" y="285749"/>
                </a:moveTo>
                <a:cubicBezTo>
                  <a:pt x="91440" y="273123"/>
                  <a:pt x="101674" y="262888"/>
                  <a:pt x="114300" y="262888"/>
                </a:cubicBezTo>
                <a:cubicBezTo>
                  <a:pt x="126926" y="262888"/>
                  <a:pt x="137160" y="273123"/>
                  <a:pt x="137160" y="285749"/>
                </a:cubicBezTo>
                <a:cubicBezTo>
                  <a:pt x="137160" y="298374"/>
                  <a:pt x="126926" y="308610"/>
                  <a:pt x="114300" y="308610"/>
                </a:cubicBezTo>
                <a:cubicBezTo>
                  <a:pt x="101674" y="308610"/>
                  <a:pt x="91440" y="298374"/>
                  <a:pt x="91440" y="285749"/>
                </a:cubicBezTo>
                <a:lnTo>
                  <a:pt x="91440" y="285749"/>
                </a:lnTo>
                <a:moveTo>
                  <a:pt x="228600" y="171450"/>
                </a:moveTo>
                <a:cubicBezTo>
                  <a:pt x="228600" y="158824"/>
                  <a:pt x="238834" y="148589"/>
                  <a:pt x="251460" y="148589"/>
                </a:cubicBezTo>
                <a:cubicBezTo>
                  <a:pt x="264086" y="148589"/>
                  <a:pt x="274320" y="158824"/>
                  <a:pt x="274320" y="171450"/>
                </a:cubicBezTo>
                <a:cubicBezTo>
                  <a:pt x="274320" y="184076"/>
                  <a:pt x="264086" y="194311"/>
                  <a:pt x="251460" y="194311"/>
                </a:cubicBezTo>
                <a:cubicBezTo>
                  <a:pt x="238834" y="194311"/>
                  <a:pt x="228600" y="184076"/>
                  <a:pt x="228600" y="171450"/>
                </a:cubicBezTo>
                <a:moveTo>
                  <a:pt x="251460" y="114299"/>
                </a:moveTo>
                <a:cubicBezTo>
                  <a:pt x="225886" y="114299"/>
                  <a:pt x="204240" y="131087"/>
                  <a:pt x="196954" y="154305"/>
                </a:cubicBezTo>
                <a:lnTo>
                  <a:pt x="17147" y="154305"/>
                </a:lnTo>
                <a:cubicBezTo>
                  <a:pt x="7644" y="154305"/>
                  <a:pt x="4" y="161948"/>
                  <a:pt x="4" y="171450"/>
                </a:cubicBezTo>
                <a:cubicBezTo>
                  <a:pt x="4" y="180952"/>
                  <a:pt x="7648" y="188595"/>
                  <a:pt x="17150" y="188595"/>
                </a:cubicBezTo>
                <a:lnTo>
                  <a:pt x="196958" y="188595"/>
                </a:lnTo>
                <a:cubicBezTo>
                  <a:pt x="204244" y="211813"/>
                  <a:pt x="225890" y="228601"/>
                  <a:pt x="251464" y="228601"/>
                </a:cubicBezTo>
                <a:cubicBezTo>
                  <a:pt x="277038" y="228601"/>
                  <a:pt x="298683" y="211813"/>
                  <a:pt x="305969" y="188595"/>
                </a:cubicBezTo>
                <a:lnTo>
                  <a:pt x="348617" y="188595"/>
                </a:lnTo>
                <a:cubicBezTo>
                  <a:pt x="358119" y="188595"/>
                  <a:pt x="365764" y="180952"/>
                  <a:pt x="365764" y="171450"/>
                </a:cubicBezTo>
                <a:cubicBezTo>
                  <a:pt x="365764" y="161948"/>
                  <a:pt x="358119" y="154305"/>
                  <a:pt x="348620" y="154305"/>
                </a:cubicBezTo>
                <a:lnTo>
                  <a:pt x="305973" y="154305"/>
                </a:lnTo>
                <a:cubicBezTo>
                  <a:pt x="298687" y="131087"/>
                  <a:pt x="277041" y="114299"/>
                  <a:pt x="251467" y="114299"/>
                </a:cubicBezTo>
                <a:lnTo>
                  <a:pt x="251460" y="114299"/>
                </a:lnTo>
                <a:moveTo>
                  <a:pt x="137160" y="80009"/>
                </a:moveTo>
                <a:cubicBezTo>
                  <a:pt x="124534" y="80009"/>
                  <a:pt x="114300" y="69773"/>
                  <a:pt x="114300" y="57148"/>
                </a:cubicBezTo>
                <a:cubicBezTo>
                  <a:pt x="114300" y="44522"/>
                  <a:pt x="124534" y="34287"/>
                  <a:pt x="137160" y="34287"/>
                </a:cubicBezTo>
                <a:cubicBezTo>
                  <a:pt x="149786" y="34287"/>
                  <a:pt x="160020" y="44522"/>
                  <a:pt x="160020" y="57148"/>
                </a:cubicBezTo>
                <a:cubicBezTo>
                  <a:pt x="160020" y="69773"/>
                  <a:pt x="149786" y="80009"/>
                  <a:pt x="137160" y="80009"/>
                </a:cubicBezTo>
                <a:moveTo>
                  <a:pt x="191666" y="40006"/>
                </a:moveTo>
                <a:cubicBezTo>
                  <a:pt x="184380" y="16788"/>
                  <a:pt x="162734" y="0"/>
                  <a:pt x="137160" y="0"/>
                </a:cubicBezTo>
                <a:cubicBezTo>
                  <a:pt x="111586" y="0"/>
                  <a:pt x="89940" y="16788"/>
                  <a:pt x="82654" y="40006"/>
                </a:cubicBezTo>
                <a:lnTo>
                  <a:pt x="17147" y="40006"/>
                </a:lnTo>
                <a:cubicBezTo>
                  <a:pt x="7644" y="40006"/>
                  <a:pt x="4" y="47649"/>
                  <a:pt x="4" y="57151"/>
                </a:cubicBezTo>
                <a:cubicBezTo>
                  <a:pt x="4" y="66653"/>
                  <a:pt x="7648" y="74296"/>
                  <a:pt x="17150" y="74296"/>
                </a:cubicBezTo>
                <a:lnTo>
                  <a:pt x="82658" y="74296"/>
                </a:lnTo>
                <a:cubicBezTo>
                  <a:pt x="89944" y="97514"/>
                  <a:pt x="111590" y="114302"/>
                  <a:pt x="137164" y="114302"/>
                </a:cubicBezTo>
                <a:cubicBezTo>
                  <a:pt x="162738" y="114302"/>
                  <a:pt x="184383" y="97514"/>
                  <a:pt x="191669" y="74296"/>
                </a:cubicBezTo>
                <a:lnTo>
                  <a:pt x="348617" y="74296"/>
                </a:lnTo>
                <a:cubicBezTo>
                  <a:pt x="358119" y="74296"/>
                  <a:pt x="365764" y="66653"/>
                  <a:pt x="365764" y="57151"/>
                </a:cubicBezTo>
                <a:cubicBezTo>
                  <a:pt x="365764" y="47649"/>
                  <a:pt x="358119" y="40006"/>
                  <a:pt x="348620" y="40006"/>
                </a:cubicBezTo>
                <a:lnTo>
                  <a:pt x="191666" y="40006"/>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10113245" y="2347787"/>
            <a:ext cx="365760" cy="320030"/>
          </a:xfrm>
          <a:custGeom>
            <a:avLst/>
            <a:gdLst/>
            <a:ahLst/>
            <a:cxnLst/>
            <a:rect l="l" t="t" r="r" b="b"/>
            <a:pathLst>
              <a:path w="365760" h="320030">
                <a:moveTo>
                  <a:pt x="88368" y="256610"/>
                </a:moveTo>
                <a:cubicBezTo>
                  <a:pt x="97581" y="249896"/>
                  <a:pt x="109509" y="248184"/>
                  <a:pt x="120222" y="252040"/>
                </a:cubicBezTo>
                <a:cubicBezTo>
                  <a:pt x="139146" y="258895"/>
                  <a:pt x="160360" y="262825"/>
                  <a:pt x="182928" y="262825"/>
                </a:cubicBezTo>
                <a:cubicBezTo>
                  <a:pt x="271987" y="262825"/>
                  <a:pt x="331481" y="205332"/>
                  <a:pt x="331481" y="148555"/>
                </a:cubicBezTo>
                <a:cubicBezTo>
                  <a:pt x="331481" y="91775"/>
                  <a:pt x="271990" y="34285"/>
                  <a:pt x="182928" y="34285"/>
                </a:cubicBezTo>
                <a:cubicBezTo>
                  <a:pt x="93869" y="34285"/>
                  <a:pt x="34374" y="91778"/>
                  <a:pt x="34374" y="148555"/>
                </a:cubicBezTo>
                <a:cubicBezTo>
                  <a:pt x="34374" y="171408"/>
                  <a:pt x="43229" y="193407"/>
                  <a:pt x="59871" y="212260"/>
                </a:cubicBezTo>
                <a:cubicBezTo>
                  <a:pt x="66012" y="219189"/>
                  <a:pt x="69012" y="228329"/>
                  <a:pt x="68298" y="237613"/>
                </a:cubicBezTo>
                <a:cubicBezTo>
                  <a:pt x="67300" y="250539"/>
                  <a:pt x="64228" y="262396"/>
                  <a:pt x="60230" y="272893"/>
                </a:cubicBezTo>
                <a:cubicBezTo>
                  <a:pt x="72369" y="267251"/>
                  <a:pt x="82442" y="260966"/>
                  <a:pt x="88368" y="256680"/>
                </a:cubicBezTo>
                <a:lnTo>
                  <a:pt x="88368" y="256610"/>
                </a:lnTo>
                <a:moveTo>
                  <a:pt x="15234" y="285605"/>
                </a:moveTo>
                <a:cubicBezTo>
                  <a:pt x="16518" y="283675"/>
                  <a:pt x="17732" y="281748"/>
                  <a:pt x="18877" y="279819"/>
                </a:cubicBezTo>
                <a:cubicBezTo>
                  <a:pt x="26020" y="267961"/>
                  <a:pt x="32805" y="252392"/>
                  <a:pt x="34162" y="234896"/>
                </a:cubicBezTo>
                <a:cubicBezTo>
                  <a:pt x="12736" y="210542"/>
                  <a:pt x="95" y="180760"/>
                  <a:pt x="95" y="148549"/>
                </a:cubicBezTo>
                <a:cubicBezTo>
                  <a:pt x="95" y="66486"/>
                  <a:pt x="81941" y="-3"/>
                  <a:pt x="182928" y="-3"/>
                </a:cubicBezTo>
                <a:cubicBezTo>
                  <a:pt x="283914" y="-3"/>
                  <a:pt x="365760" y="66490"/>
                  <a:pt x="365760" y="148549"/>
                </a:cubicBezTo>
                <a:cubicBezTo>
                  <a:pt x="365760" y="230611"/>
                  <a:pt x="283914" y="297100"/>
                  <a:pt x="182928" y="297100"/>
                </a:cubicBezTo>
                <a:cubicBezTo>
                  <a:pt x="156432" y="297100"/>
                  <a:pt x="131290" y="292530"/>
                  <a:pt x="108579" y="284315"/>
                </a:cubicBezTo>
                <a:cubicBezTo>
                  <a:pt x="100079" y="290530"/>
                  <a:pt x="86224" y="299027"/>
                  <a:pt x="69798" y="306170"/>
                </a:cubicBezTo>
                <a:cubicBezTo>
                  <a:pt x="59015" y="310884"/>
                  <a:pt x="46729" y="315169"/>
                  <a:pt x="34016" y="317669"/>
                </a:cubicBezTo>
                <a:cubicBezTo>
                  <a:pt x="33445" y="317813"/>
                  <a:pt x="32874" y="317883"/>
                  <a:pt x="32300" y="318027"/>
                </a:cubicBezTo>
                <a:cubicBezTo>
                  <a:pt x="29158" y="318600"/>
                  <a:pt x="26086" y="319099"/>
                  <a:pt x="22875" y="319384"/>
                </a:cubicBezTo>
                <a:cubicBezTo>
                  <a:pt x="22732" y="319384"/>
                  <a:pt x="22516" y="319454"/>
                  <a:pt x="22373" y="319454"/>
                </a:cubicBezTo>
                <a:cubicBezTo>
                  <a:pt x="18731" y="319813"/>
                  <a:pt x="15088" y="320027"/>
                  <a:pt x="11445" y="320027"/>
                </a:cubicBezTo>
                <a:cubicBezTo>
                  <a:pt x="6803" y="320027"/>
                  <a:pt x="2659" y="317243"/>
                  <a:pt x="874" y="312958"/>
                </a:cubicBezTo>
                <a:cubicBezTo>
                  <a:pt x="-911" y="308673"/>
                  <a:pt x="88" y="303815"/>
                  <a:pt x="3303" y="300531"/>
                </a:cubicBezTo>
                <a:cubicBezTo>
                  <a:pt x="6232" y="297532"/>
                  <a:pt x="8873" y="294316"/>
                  <a:pt x="11371" y="290888"/>
                </a:cubicBezTo>
                <a:cubicBezTo>
                  <a:pt x="12586" y="289247"/>
                  <a:pt x="13727" y="287602"/>
                  <a:pt x="14799" y="285960"/>
                </a:cubicBezTo>
                <a:lnTo>
                  <a:pt x="15014" y="285602"/>
                </a:lnTo>
                <a:lnTo>
                  <a:pt x="15234" y="285605"/>
                </a:ln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8120704" y="2260485"/>
            <a:ext cx="365760" cy="365662"/>
          </a:xfrm>
          <a:custGeom>
            <a:avLst/>
            <a:gdLst/>
            <a:ahLst/>
            <a:cxnLst/>
            <a:rect l="l" t="t" r="r" b="b"/>
            <a:pathLst>
              <a:path w="365760" h="365662">
                <a:moveTo>
                  <a:pt x="262864" y="148576"/>
                </a:moveTo>
                <a:cubicBezTo>
                  <a:pt x="262864" y="85455"/>
                  <a:pt x="211695" y="34288"/>
                  <a:pt x="148575" y="34288"/>
                </a:cubicBezTo>
                <a:cubicBezTo>
                  <a:pt x="85456" y="34288"/>
                  <a:pt x="34286" y="85455"/>
                  <a:pt x="34286" y="148576"/>
                </a:cubicBezTo>
                <a:cubicBezTo>
                  <a:pt x="34286" y="211696"/>
                  <a:pt x="85456" y="262863"/>
                  <a:pt x="148575" y="262863"/>
                </a:cubicBezTo>
                <a:cubicBezTo>
                  <a:pt x="211695" y="262863"/>
                  <a:pt x="262864" y="211696"/>
                  <a:pt x="262864" y="148576"/>
                </a:cubicBezTo>
                <a:lnTo>
                  <a:pt x="262864" y="148576"/>
                </a:lnTo>
                <a:moveTo>
                  <a:pt x="240791" y="265079"/>
                </a:moveTo>
                <a:cubicBezTo>
                  <a:pt x="215506" y="285150"/>
                  <a:pt x="183432" y="297151"/>
                  <a:pt x="148575" y="297151"/>
                </a:cubicBezTo>
                <a:cubicBezTo>
                  <a:pt x="66502" y="297151"/>
                  <a:pt x="0" y="230649"/>
                  <a:pt x="0" y="148576"/>
                </a:cubicBezTo>
                <a:cubicBezTo>
                  <a:pt x="0" y="66503"/>
                  <a:pt x="66503" y="0"/>
                  <a:pt x="148575" y="0"/>
                </a:cubicBezTo>
                <a:cubicBezTo>
                  <a:pt x="230648" y="0"/>
                  <a:pt x="297151" y="66503"/>
                  <a:pt x="297151" y="148576"/>
                </a:cubicBezTo>
                <a:cubicBezTo>
                  <a:pt x="297151" y="183434"/>
                  <a:pt x="285150" y="215506"/>
                  <a:pt x="265077" y="240792"/>
                </a:cubicBezTo>
                <a:lnTo>
                  <a:pt x="360723" y="336438"/>
                </a:lnTo>
                <a:cubicBezTo>
                  <a:pt x="367439" y="343152"/>
                  <a:pt x="367439" y="354012"/>
                  <a:pt x="360723" y="360652"/>
                </a:cubicBezTo>
                <a:cubicBezTo>
                  <a:pt x="354008" y="367296"/>
                  <a:pt x="343152" y="367366"/>
                  <a:pt x="336510" y="360652"/>
                </a:cubicBezTo>
                <a:lnTo>
                  <a:pt x="240791" y="265079"/>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801518" y="529754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System Evolution and Noise Clearing</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The alert system continuously evolves by integrating tracking, feedback, adjustments, and gap analysis. It clears operational noise while enhancing detection capabilities, resulting in more precise, actionable alerts over time. This ongoing cycle returns to false positive tracking for continuous improvement.</a:t>
            </a:r>
            <a:endParaRPr lang="en-US" sz="983" dirty="0"/>
          </a:p>
        </p:txBody>
      </p:sp>
      <p:sp>
        <p:nvSpPr>
          <p:cNvPr id="20" name="Text 18"/>
          <p:cNvSpPr/>
          <p:nvPr/>
        </p:nvSpPr>
        <p:spPr>
          <a:xfrm>
            <a:off x="801518" y="441559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Detection Gap Analysis</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Review incidents that were missed by alerting to identify gaps in detection. Understanding what types of threats bypassed alerts informs further tuning and rule updates. This analysis ensures the system evolves to capture emerging or novel attack patterns.</a:t>
            </a:r>
            <a:endParaRPr lang="en-US" sz="983" dirty="0"/>
          </a:p>
        </p:txBody>
      </p:sp>
      <p:sp>
        <p:nvSpPr>
          <p:cNvPr id="21" name="Text 19"/>
          <p:cNvSpPr/>
          <p:nvPr/>
        </p:nvSpPr>
        <p:spPr>
          <a:xfrm>
            <a:off x="801518" y="353364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Threshold Adjustment</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Based on false positive tracking and analyst feedback, adjust alert sensitivity levels and scoring thresholds. This tuning balances reducing noise without missing true threats, ensuring alerts remain relevant and manageable. Adjustment leads to detection gap analysis.</a:t>
            </a:r>
            <a:endParaRPr lang="en-US" sz="983" dirty="0"/>
          </a:p>
        </p:txBody>
      </p:sp>
      <p:sp>
        <p:nvSpPr>
          <p:cNvPr id="22" name="Text 20"/>
          <p:cNvSpPr/>
          <p:nvPr/>
        </p:nvSpPr>
        <p:spPr>
          <a:xfrm>
            <a:off x="801518" y="265169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Analyst Feedback Integration</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Enable analysts to provide easy input on alert usefulness by marking alerts as helpful or noisy. Their real-time feedback supports fine-tuning alert thresholds and improving AI detection accuracy. Feedback guides threshold adjustment for better tuning.</a:t>
            </a:r>
            <a:endParaRPr lang="en-US" sz="983" dirty="0"/>
          </a:p>
        </p:txBody>
      </p:sp>
      <p:sp>
        <p:nvSpPr>
          <p:cNvPr id="23" name="Text 21"/>
          <p:cNvSpPr/>
          <p:nvPr/>
        </p:nvSpPr>
        <p:spPr>
          <a:xfrm>
            <a:off x="801518" y="1769747"/>
            <a:ext cx="5486400" cy="548640"/>
          </a:xfrm>
          <a:prstGeom prst="rect">
            <a:avLst/>
          </a:prstGeom>
          <a:noFill/>
          <a:ln/>
        </p:spPr>
        <p:txBody>
          <a:bodyPr wrap="square" lIns="0" tIns="0" rIns="0" bIns="0" rtlCol="0" anchor="ctr"/>
          <a:lstStyle/>
          <a:p>
            <a:pPr algn="l" marL="0" indent="0">
              <a:lnSpc>
                <a:spcPct val="90000"/>
              </a:lnSpc>
              <a:spcBef>
                <a:spcPts val="702"/>
              </a:spcBef>
              <a:buNone/>
            </a:pPr>
            <a:r>
              <a:rPr lang="en-US" sz="983" dirty="0">
                <a:solidFill>
                  <a:srgbClr val="FFFFFF"/>
                </a:solidFill>
                <a:latin typeface="Figtree Bold" pitchFamily="34" charset="0"/>
                <a:ea typeface="Figtree Bold" pitchFamily="34" charset="-122"/>
                <a:cs typeface="Figtree Bold" pitchFamily="34" charset="-120"/>
              </a:rPr>
              <a:t>False Positive Tracking</a:t>
            </a:r>
            <a:endParaRPr lang="en-US" sz="983" dirty="0"/>
          </a:p>
          <a:p>
            <a:pPr algn="l" marL="142875" indent="0">
              <a:lnSpc>
                <a:spcPct val="90000"/>
              </a:lnSpc>
              <a:spcBef>
                <a:spcPts val="702"/>
              </a:spcBef>
              <a:buNone/>
            </a:pPr>
            <a:r>
              <a:rPr lang="en-US" sz="836" dirty="0">
                <a:solidFill>
                  <a:srgbClr val="FFFFFF"/>
                </a:solidFill>
                <a:latin typeface="Figtree Regular" pitchFamily="34" charset="0"/>
                <a:ea typeface="Figtree Regular" pitchFamily="34" charset="-122"/>
                <a:cs typeface="Figtree Regular" pitchFamily="34" charset="-120"/>
              </a:rPr>
              <a:t>Monitor alerts that are consistently dismissed or marked as incorrect. Tracking false positives helps identify recurring noise, ensuring the alert system doesn’t overwhelm analysts and can focus on genuine threats. This stage connects to analyst feedback by providing data on alert quality.</a:t>
            </a:r>
            <a:endParaRPr lang="en-US" sz="983" dirty="0"/>
          </a:p>
        </p:txBody>
      </p:sp>
      <p:sp>
        <p:nvSpPr>
          <p:cNvPr id="24" name="Text 2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5" name="Text 23"/>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6" name="Text 2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7" name="Text 2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8" name="Text 26"/>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Principles of Effective Alert Design: Continuous Calibration</a:t>
            </a:r>
            <a:endParaRPr 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2919"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5" name="Text 3"/>
          <p:cNvSpPr/>
          <p:nvPr/>
        </p:nvSpPr>
        <p:spPr>
          <a:xfrm>
            <a:off x="6264824" y="1891476"/>
            <a:ext cx="5394960" cy="4114800"/>
          </a:xfrm>
          <a:custGeom>
            <a:avLst/>
            <a:gdLst/>
            <a:ahLst/>
            <a:cxnLst/>
            <a:rect l="l" t="t" r="r" b="b"/>
            <a:pathLst>
              <a:path w="5394960" h="4114800">
                <a:moveTo>
                  <a:pt x="139136" y="4114800"/>
                </a:moveTo>
                <a:cubicBezTo>
                  <a:pt x="62258" y="4114800"/>
                  <a:pt x="0" y="4052502"/>
                  <a:pt x="0" y="3975637"/>
                </a:cubicBezTo>
                <a:lnTo>
                  <a:pt x="0" y="139163"/>
                </a:lnTo>
                <a:cubicBezTo>
                  <a:pt x="0" y="62298"/>
                  <a:pt x="62312" y="0"/>
                  <a:pt x="139136" y="0"/>
                </a:cubicBezTo>
                <a:lnTo>
                  <a:pt x="5255770" y="0"/>
                </a:lnTo>
                <a:cubicBezTo>
                  <a:pt x="5332648" y="0"/>
                  <a:pt x="5394906" y="62298"/>
                  <a:pt x="5394906" y="139163"/>
                </a:cubicBezTo>
                <a:lnTo>
                  <a:pt x="5394906" y="3975637"/>
                </a:lnTo>
                <a:cubicBezTo>
                  <a:pt x="5394906" y="4052502"/>
                  <a:pt x="5332594" y="4114800"/>
                  <a:pt x="5255770" y="4114800"/>
                </a:cubicBezTo>
                <a:lnTo>
                  <a:pt x="139136" y="4114800"/>
                </a:lnTo>
              </a:path>
            </a:pathLst>
          </a:custGeom>
          <a:solidFill>
            <a:srgbClr val="0B3041"/>
          </a:solidFill>
          <a:ln/>
        </p:spPr>
        <p:txBody>
          <a:bodyPr wrap="square" lIns="0" tIns="0" rIns="0" bIns="0" rtlCol="0" anchor="ctr"/>
          <a:lstStyle/>
          <a:p>
            <a:pPr indent="0" marL="0">
              <a:buNone/>
            </a:pPr>
            <a:endParaRPr lang="en-US" dirty="0"/>
          </a:p>
        </p:txBody>
      </p:sp>
      <p:sp>
        <p:nvSpPr>
          <p:cNvPr id="6" name="Text 4"/>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7" name="Text 5"/>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8" name="Text 6"/>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9" name="Text 7"/>
          <p:cNvSpPr/>
          <p:nvPr>
            <p:ph type="title"/>
          </p:nvPr>
        </p:nvSpPr>
        <p:spPr>
          <a:xfrm>
            <a:off x="505464" y="289560"/>
            <a:ext cx="1118100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Case Study: Alert Design Failure and Recovery</a:t>
            </a:r>
            <a:endParaRPr lang="en-US" sz="2800" dirty="0"/>
          </a:p>
        </p:txBody>
      </p:sp>
      <p:sp>
        <p:nvSpPr>
          <p:cNvPr id="10" name="Text 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11" name="Text 9"/>
          <p:cNvSpPr/>
          <p:nvPr/>
        </p:nvSpPr>
        <p:spPr>
          <a:xfrm>
            <a:off x="6521801" y="2827168"/>
            <a:ext cx="4881007" cy="3017520"/>
          </a:xfrm>
          <a:prstGeom prst="rect">
            <a:avLst/>
          </a:prstGeom>
          <a:noFill/>
          <a:ln/>
        </p:spPr>
        <p:txBody>
          <a:bodyPr wrap="square" lIns="0" tIns="0" rIns="0" bIns="0" rtlCol="0" anchor="t"/>
          <a:lstStyle/>
          <a:p>
            <a:pPr algn="l" marL="0" indent="0">
              <a:lnSpc>
                <a:spcPct val="121795"/>
              </a:lnSpc>
              <a:spcBef>
                <a:spcPts val="1172"/>
              </a:spcBef>
              <a:buNone/>
            </a:pPr>
            <a:r>
              <a:rPr lang="en-US" sz="1524" dirty="0">
                <a:solidFill>
                  <a:srgbClr val="FFFFFF"/>
                </a:solidFill>
                <a:latin typeface="Figtree Regular" pitchFamily="34" charset="0"/>
                <a:ea typeface="Figtree Regular" pitchFamily="34" charset="-122"/>
                <a:cs typeface="Figtree Regular" pitchFamily="34" charset="-120"/>
              </a:rPr>
              <a:t>Following the breach, the healthcare organization redesigned their alert system. They implemented alert correlation to group related incidents, added contextual business information through enrichment, prioritized alerts based on asset criticality, and provided explainable risk scores. As a result, six months later, the same AI platform enabled analysts to detect and contain a similar attack in under two hours, demonstrating the critical role of effective alert design and human-AI collaboration.</a:t>
            </a:r>
            <a:endParaRPr lang="en-US" sz="1524" dirty="0"/>
          </a:p>
        </p:txBody>
      </p:sp>
      <p:sp>
        <p:nvSpPr>
          <p:cNvPr id="12" name="Text 10"/>
          <p:cNvSpPr/>
          <p:nvPr/>
        </p:nvSpPr>
        <p:spPr>
          <a:xfrm>
            <a:off x="6521800"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Improved Alert Design</a:t>
            </a:r>
            <a:endParaRPr lang="en-US" sz="2320" dirty="0"/>
          </a:p>
        </p:txBody>
      </p:sp>
      <p:sp>
        <p:nvSpPr>
          <p:cNvPr id="13" name="Text 11"/>
          <p:cNvSpPr/>
          <p:nvPr/>
        </p:nvSpPr>
        <p:spPr>
          <a:xfrm>
            <a:off x="759896" y="2827168"/>
            <a:ext cx="4881007" cy="3017520"/>
          </a:xfrm>
          <a:prstGeom prst="rect">
            <a:avLst/>
          </a:prstGeom>
          <a:noFill/>
          <a:ln/>
        </p:spPr>
        <p:txBody>
          <a:bodyPr wrap="square" lIns="0" tIns="0" rIns="0" bIns="0" rtlCol="0" anchor="t"/>
          <a:lstStyle/>
          <a:p>
            <a:pPr algn="l" marL="0" indent="0">
              <a:lnSpc>
                <a:spcPct val="121795"/>
              </a:lnSpc>
              <a:spcBef>
                <a:spcPts val="1172"/>
              </a:spcBef>
              <a:buNone/>
            </a:pPr>
            <a:r>
              <a:rPr lang="en-US" sz="1524" dirty="0">
                <a:solidFill>
                  <a:srgbClr val="FFFFFF"/>
                </a:solidFill>
                <a:latin typeface="Figtree Regular" pitchFamily="34" charset="0"/>
                <a:ea typeface="Figtree Regular" pitchFamily="34" charset="-122"/>
                <a:cs typeface="Figtree Regular" pitchFamily="34" charset="-120"/>
              </a:rPr>
              <a:t>During a major ransomware attack on a healthcare organization in 2023, AI detected 47 alerts linked to the attack chain over 72 hours. These alerts included unusual PowerShell commands, lateral movement, and reconnaissance activities. However, analysts were overwhelmed by over 12,000 total alerts that week and did not investigate any of these specific warnings. The alerts were uncorrelated, lacked context about system criticality, and provided risk scores without explanations, leading to missed detection despite AI capabilities.</a:t>
            </a:r>
            <a:endParaRPr lang="en-US" sz="1524" dirty="0"/>
          </a:p>
        </p:txBody>
      </p:sp>
      <p:sp>
        <p:nvSpPr>
          <p:cNvPr id="14" name="Text 12"/>
          <p:cNvSpPr/>
          <p:nvPr/>
        </p:nvSpPr>
        <p:spPr>
          <a:xfrm>
            <a:off x="759895" y="2293310"/>
            <a:ext cx="4881008" cy="389553"/>
          </a:xfrm>
          <a:prstGeom prst="rect">
            <a:avLst/>
          </a:prstGeom>
          <a:noFill/>
          <a:ln/>
        </p:spPr>
        <p:txBody>
          <a:bodyPr wrap="square" lIns="0" tIns="0" rIns="0" bIns="0" rtlCol="0" anchor="t"/>
          <a:lstStyle/>
          <a:p>
            <a:pPr algn="l" marL="0" indent="0">
              <a:lnSpc>
                <a:spcPct val="90000"/>
              </a:lnSpc>
              <a:buNone/>
            </a:pPr>
            <a:r>
              <a:rPr lang="en-US" sz="2320" dirty="0">
                <a:solidFill>
                  <a:srgbClr val="FFFFFF"/>
                </a:solidFill>
                <a:latin typeface="Figtree Regular" pitchFamily="34" charset="0"/>
                <a:ea typeface="Figtree Regular" pitchFamily="34" charset="-122"/>
                <a:cs typeface="Figtree Regular" pitchFamily="34" charset="-120"/>
              </a:rPr>
              <a:t>Initial Alert Overload</a:t>
            </a:r>
            <a:endParaRPr lang="en-US" sz="2320" dirty="0"/>
          </a:p>
        </p:txBody>
      </p:sp>
      <p:sp>
        <p:nvSpPr>
          <p:cNvPr id="15" name="Text 13"/>
          <p:cNvSpPr/>
          <p:nvPr/>
        </p:nvSpPr>
        <p:spPr>
          <a:xfrm>
            <a:off x="759895"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6" name="Text 14"/>
          <p:cNvSpPr/>
          <p:nvPr/>
        </p:nvSpPr>
        <p:spPr>
          <a:xfrm>
            <a:off x="759895"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7" name="Text 15"/>
          <p:cNvSpPr/>
          <p:nvPr/>
        </p:nvSpPr>
        <p:spPr>
          <a:xfrm>
            <a:off x="6521800" y="1667422"/>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8" name="Text 16"/>
          <p:cNvSpPr/>
          <p:nvPr/>
        </p:nvSpPr>
        <p:spPr>
          <a:xfrm>
            <a:off x="6521800" y="1667422"/>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3657601" y="0"/>
            <a:ext cx="8534336"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3657600" y="447"/>
            <a:ext cx="8534336"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ph type="title"/>
          </p:nvPr>
        </p:nvSpPr>
        <p:spPr>
          <a:xfrm>
            <a:off x="4003550" y="289560"/>
            <a:ext cx="768553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Building Trust Between Humans and Machines: Overview</a:t>
            </a:r>
            <a:endParaRPr lang="en-US" sz="2800" dirty="0"/>
          </a:p>
        </p:txBody>
      </p:sp>
      <p:sp>
        <p:nvSpPr>
          <p:cNvPr id="7" name="Text 5"/>
          <p:cNvSpPr/>
          <p:nvPr/>
        </p:nvSpPr>
        <p:spPr>
          <a:xfrm>
            <a:off x="4003550"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6601391"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9199233" y="1782242"/>
            <a:ext cx="2489847" cy="4247080"/>
          </a:xfrm>
          <a:custGeom>
            <a:avLst/>
            <a:gdLst/>
            <a:ahLst/>
            <a:cxnLst/>
            <a:rect l="l" t="t" r="r" b="b"/>
            <a:pathLst>
              <a:path w="2489847" h="4247080">
                <a:moveTo>
                  <a:pt x="128650" y="4247080"/>
                </a:moveTo>
                <a:cubicBezTo>
                  <a:pt x="57590" y="4247080"/>
                  <a:pt x="0" y="4189490"/>
                  <a:pt x="0" y="4118436"/>
                </a:cubicBezTo>
                <a:lnTo>
                  <a:pt x="0" y="128644"/>
                </a:lnTo>
                <a:cubicBezTo>
                  <a:pt x="0" y="57590"/>
                  <a:pt x="57590" y="0"/>
                  <a:pt x="128650" y="0"/>
                </a:cubicBezTo>
                <a:lnTo>
                  <a:pt x="2361197" y="0"/>
                </a:lnTo>
                <a:cubicBezTo>
                  <a:pt x="2432257" y="0"/>
                  <a:pt x="2489847" y="57590"/>
                  <a:pt x="2489847" y="128644"/>
                </a:cubicBezTo>
                <a:lnTo>
                  <a:pt x="2489847" y="4118436"/>
                </a:lnTo>
                <a:cubicBezTo>
                  <a:pt x="2489847" y="4189490"/>
                  <a:pt x="2432257" y="4247080"/>
                  <a:pt x="2361197" y="4247080"/>
                </a:cubicBezTo>
                <a:lnTo>
                  <a:pt x="128650" y="42470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202629"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1" name="Text 9"/>
          <p:cNvSpPr/>
          <p:nvPr/>
        </p:nvSpPr>
        <p:spPr>
          <a:xfrm>
            <a:off x="4202629"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01</a:t>
            </a:r>
            <a:endParaRPr lang="en-US" sz="1400" dirty="0"/>
          </a:p>
        </p:txBody>
      </p:sp>
      <p:sp>
        <p:nvSpPr>
          <p:cNvPr id="12" name="Text 10"/>
          <p:cNvSpPr/>
          <p:nvPr/>
        </p:nvSpPr>
        <p:spPr>
          <a:xfrm>
            <a:off x="6803078"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3" name="Text 11"/>
          <p:cNvSpPr/>
          <p:nvPr/>
        </p:nvSpPr>
        <p:spPr>
          <a:xfrm>
            <a:off x="6803078"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02</a:t>
            </a:r>
            <a:endParaRPr lang="en-US" sz="1400" dirty="0"/>
          </a:p>
        </p:txBody>
      </p:sp>
      <p:sp>
        <p:nvSpPr>
          <p:cNvPr id="14" name="Text 12"/>
          <p:cNvSpPr/>
          <p:nvPr/>
        </p:nvSpPr>
        <p:spPr>
          <a:xfrm>
            <a:off x="9403527" y="1543575"/>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56082"/>
          </a:solidFill>
          <a:ln/>
        </p:spPr>
        <p:txBody>
          <a:bodyPr wrap="square" lIns="0" tIns="0" rIns="0" bIns="0" rtlCol="0" anchor="ctr"/>
          <a:lstStyle/>
          <a:p>
            <a:pPr indent="0" marL="0">
              <a:buNone/>
            </a:pPr>
            <a:endParaRPr lang="en-US" dirty="0"/>
          </a:p>
        </p:txBody>
      </p:sp>
      <p:sp>
        <p:nvSpPr>
          <p:cNvPr id="15" name="Text 13"/>
          <p:cNvSpPr/>
          <p:nvPr/>
        </p:nvSpPr>
        <p:spPr>
          <a:xfrm>
            <a:off x="9403527" y="1543575"/>
            <a:ext cx="457200" cy="457200"/>
          </a:xfrm>
          <a:prstGeom prst="rect">
            <a:avLst/>
          </a:prstGeom>
          <a:noFill/>
          <a:ln/>
        </p:spPr>
        <p:txBody>
          <a:bodyPr wrap="square" lIns="0" tIns="0" rIns="0" bIns="0" rtlCol="0" anchor="ctr"/>
          <a:lstStyle/>
          <a:p>
            <a:pPr algn="ctr" marL="0" indent="0">
              <a:lnSpc>
                <a:spcPct val="100000"/>
              </a:lnSpc>
              <a:buNone/>
            </a:pPr>
            <a:r>
              <a:rPr lang="en-US" sz="1400" dirty="0">
                <a:solidFill>
                  <a:srgbClr val="FFFFFF"/>
                </a:solidFill>
                <a:latin typeface="Figtree Regular" pitchFamily="34" charset="0"/>
                <a:ea typeface="Figtree Regular" pitchFamily="34" charset="-122"/>
                <a:cs typeface="Figtree Regular" pitchFamily="34" charset="-120"/>
              </a:rPr>
              <a:t>03</a:t>
            </a:r>
            <a:endParaRPr lang="en-US" sz="1400" dirty="0"/>
          </a:p>
        </p:txBody>
      </p:sp>
      <p:sp>
        <p:nvSpPr>
          <p:cNvPr id="16" name="Text 14"/>
          <p:cNvSpPr/>
          <p:nvPr/>
        </p:nvSpPr>
        <p:spPr>
          <a:xfrm>
            <a:off x="4003550"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7" name="Text 15"/>
          <p:cNvSpPr/>
          <p:nvPr/>
        </p:nvSpPr>
        <p:spPr>
          <a:xfrm>
            <a:off x="0" y="0"/>
            <a:ext cx="3657600" cy="6858000"/>
          </a:xfrm>
          <a:custGeom>
            <a:avLst/>
            <a:gdLst/>
            <a:ahLst/>
            <a:cxnLst/>
            <a:rect l="l" t="t" r="r" b="b"/>
            <a:pathLst>
              <a:path w="3657600" h="6858000">
                <a:moveTo>
                  <a:pt x="0" y="6858000"/>
                </a:moveTo>
                <a:lnTo>
                  <a:pt x="0" y="0"/>
                </a:lnTo>
                <a:lnTo>
                  <a:pt x="3657600" y="0"/>
                </a:lnTo>
                <a:lnTo>
                  <a:pt x="3657600" y="6858000"/>
                </a:lnTo>
                <a:lnTo>
                  <a:pt x="0" y="6858000"/>
                </a:lnTo>
              </a:path>
            </a:pathLst>
          </a:custGeom>
          <a:blipFill>
            <a:blip r:embed="rId1"/>
            <a:srcRect/>
            <a:stretch>
              <a:fillRect l="0" r="0" t="32222" b="32222"/>
            </a:stretch>
          </a:blipFill>
          <a:ln/>
        </p:spPr>
        <p:txBody>
          <a:bodyPr wrap="square" lIns="0" tIns="0" rIns="0" bIns="0" rtlCol="0" anchor="ctr"/>
          <a:lstStyle/>
          <a:p>
            <a:pPr indent="0" marL="0">
              <a:buNone/>
            </a:pPr>
            <a:endParaRPr lang="en-US" dirty="0"/>
          </a:p>
        </p:txBody>
      </p:sp>
      <p:sp>
        <p:nvSpPr>
          <p:cNvPr id="18" name="Text 16"/>
          <p:cNvSpPr/>
          <p:nvPr/>
        </p:nvSpPr>
        <p:spPr>
          <a:xfrm>
            <a:off x="9403527" y="2655067"/>
            <a:ext cx="2101454" cy="3172398"/>
          </a:xfrm>
          <a:prstGeom prst="rect">
            <a:avLst/>
          </a:prstGeom>
          <a:noFill/>
          <a:ln/>
        </p:spPr>
        <p:txBody>
          <a:bodyPr wrap="square" lIns="0" tIns="0" rIns="0" bIns="0" rtlCol="0" anchor="t"/>
          <a:lstStyle/>
          <a:p>
            <a:pPr algn="l" marL="0" indent="0">
              <a:lnSpc>
                <a:spcPct val="100000"/>
              </a:lnSpc>
              <a:spcBef>
                <a:spcPts val="1279"/>
              </a:spcBef>
              <a:buNone/>
            </a:pPr>
            <a:r>
              <a:rPr lang="en-US" sz="1407" dirty="0">
                <a:solidFill>
                  <a:srgbClr val="FFFFFF"/>
                </a:solidFill>
                <a:latin typeface="Figtree Regular" pitchFamily="34" charset="0"/>
                <a:ea typeface="Figtree Regular" pitchFamily="34" charset="-122"/>
                <a:cs typeface="Figtree Regular" pitchFamily="34" charset="-120"/>
              </a:rPr>
              <a:t>Automation distrust happens when people trust AI too little, ignoring accurate AI recommendations and insisting on manual processes. This skepticism wastes AI investments and leaves analysts overwhelmed by alert volume, reducing overall security effectiveness.</a:t>
            </a:r>
            <a:endParaRPr lang="en-US" sz="1407" dirty="0"/>
          </a:p>
        </p:txBody>
      </p:sp>
      <p:sp>
        <p:nvSpPr>
          <p:cNvPr id="19" name="Text 17"/>
          <p:cNvSpPr/>
          <p:nvPr/>
        </p:nvSpPr>
        <p:spPr>
          <a:xfrm>
            <a:off x="9407647"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Risks of Automation Distrust</a:t>
            </a:r>
            <a:endParaRPr lang="en-US" sz="1567" dirty="0"/>
          </a:p>
        </p:txBody>
      </p:sp>
      <p:sp>
        <p:nvSpPr>
          <p:cNvPr id="20" name="Text 18"/>
          <p:cNvSpPr/>
          <p:nvPr/>
        </p:nvSpPr>
        <p:spPr>
          <a:xfrm>
            <a:off x="6803078" y="2655067"/>
            <a:ext cx="2101454" cy="3172398"/>
          </a:xfrm>
          <a:prstGeom prst="rect">
            <a:avLst/>
          </a:prstGeom>
          <a:noFill/>
          <a:ln/>
        </p:spPr>
        <p:txBody>
          <a:bodyPr wrap="square" lIns="0" tIns="0" rIns="0" bIns="0" rtlCol="0" anchor="t"/>
          <a:lstStyle/>
          <a:p>
            <a:pPr algn="l" marL="0" indent="0">
              <a:lnSpc>
                <a:spcPct val="100000"/>
              </a:lnSpc>
              <a:spcBef>
                <a:spcPts val="1279"/>
              </a:spcBef>
              <a:buNone/>
            </a:pPr>
            <a:r>
              <a:rPr lang="en-US" sz="1407" dirty="0">
                <a:solidFill>
                  <a:srgbClr val="FFFFFF"/>
                </a:solidFill>
                <a:latin typeface="Figtree Regular" pitchFamily="34" charset="0"/>
                <a:ea typeface="Figtree Regular" pitchFamily="34" charset="-122"/>
                <a:cs typeface="Figtree Regular" pitchFamily="34" charset="-120"/>
              </a:rPr>
              <a:t>Automation bias occurs when people trust AI outputs too much, assuming they are correct without verification. This can cause analysts to defer to AI even when human judgment should override, potentially missing obvious errors or attacks that AI fails to detect.</a:t>
            </a:r>
            <a:endParaRPr lang="en-US" sz="1407" dirty="0"/>
          </a:p>
        </p:txBody>
      </p:sp>
      <p:sp>
        <p:nvSpPr>
          <p:cNvPr id="21" name="Text 19"/>
          <p:cNvSpPr/>
          <p:nvPr/>
        </p:nvSpPr>
        <p:spPr>
          <a:xfrm>
            <a:off x="6807198"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Dangers of Automation Bias</a:t>
            </a:r>
            <a:endParaRPr lang="en-US" sz="1567" dirty="0"/>
          </a:p>
        </p:txBody>
      </p:sp>
      <p:sp>
        <p:nvSpPr>
          <p:cNvPr id="22" name="Text 20"/>
          <p:cNvSpPr/>
          <p:nvPr/>
        </p:nvSpPr>
        <p:spPr>
          <a:xfrm>
            <a:off x="4202629" y="2655067"/>
            <a:ext cx="2101454" cy="3172398"/>
          </a:xfrm>
          <a:prstGeom prst="rect">
            <a:avLst/>
          </a:prstGeom>
          <a:noFill/>
          <a:ln/>
        </p:spPr>
        <p:txBody>
          <a:bodyPr wrap="square" lIns="0" tIns="0" rIns="0" bIns="0" rtlCol="0" anchor="t"/>
          <a:lstStyle/>
          <a:p>
            <a:pPr algn="l" marL="0" indent="0">
              <a:lnSpc>
                <a:spcPct val="100000"/>
              </a:lnSpc>
              <a:spcBef>
                <a:spcPts val="1279"/>
              </a:spcBef>
              <a:buNone/>
            </a:pPr>
            <a:r>
              <a:rPr lang="en-US" sz="1407" dirty="0">
                <a:solidFill>
                  <a:srgbClr val="FFFFFF"/>
                </a:solidFill>
                <a:latin typeface="Figtree Regular" pitchFamily="34" charset="0"/>
                <a:ea typeface="Figtree Regular" pitchFamily="34" charset="-122"/>
                <a:cs typeface="Figtree Regular" pitchFamily="34" charset="-120"/>
              </a:rPr>
              <a:t>Effective human-AI collaboration in cybersecurity depends on calibrated trust, which means understanding AI's strengths and limitations well enough to rely on it appropriately. This form of trust avoids both blind acceptance and outright rejection of AI insights, enabling analysts to use AI where it excels and apply human judgment where necessary.</a:t>
            </a:r>
            <a:endParaRPr lang="en-US" sz="1407" dirty="0"/>
          </a:p>
        </p:txBody>
      </p:sp>
      <p:sp>
        <p:nvSpPr>
          <p:cNvPr id="23" name="Text 21"/>
          <p:cNvSpPr/>
          <p:nvPr/>
        </p:nvSpPr>
        <p:spPr>
          <a:xfrm>
            <a:off x="4206749" y="2172664"/>
            <a:ext cx="2101454" cy="398588"/>
          </a:xfrm>
          <a:prstGeom prst="rect">
            <a:avLst/>
          </a:prstGeom>
          <a:noFill/>
          <a:ln/>
        </p:spPr>
        <p:txBody>
          <a:bodyPr wrap="square" lIns="0" tIns="0" rIns="0" bIns="0" rtlCol="0" anchor="t"/>
          <a:lstStyle/>
          <a:p>
            <a:pPr algn="l" marL="0" indent="0">
              <a:lnSpc>
                <a:spcPct val="90000"/>
              </a:lnSpc>
              <a:buNone/>
            </a:pPr>
            <a:r>
              <a:rPr lang="en-US" sz="1567" dirty="0">
                <a:solidFill>
                  <a:srgbClr val="FFFFFF"/>
                </a:solidFill>
                <a:latin typeface="Figtree Regular" pitchFamily="34" charset="0"/>
                <a:ea typeface="Figtree Regular" pitchFamily="34" charset="-122"/>
                <a:cs typeface="Figtree Regular" pitchFamily="34" charset="-120"/>
              </a:rPr>
              <a:t>Calibrated Trust</a:t>
            </a:r>
            <a:endParaRPr lang="en-US" sz="1567" dirty="0"/>
          </a:p>
        </p:txBody>
      </p:sp>
      <p:sp>
        <p:nvSpPr>
          <p:cNvPr id="24" name="Text 22"/>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0558"/>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0836"/>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352150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64016"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9236471" y="158195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5" name="Text 13"/>
          <p:cNvSpPr/>
          <p:nvPr/>
        </p:nvSpPr>
        <p:spPr>
          <a:xfrm>
            <a:off x="9327246" y="1700627"/>
            <a:ext cx="274320" cy="219861"/>
          </a:xfrm>
          <a:custGeom>
            <a:avLst/>
            <a:gdLst/>
            <a:ahLst/>
            <a:cxnLst/>
            <a:rect l="l" t="t" r="r" b="b"/>
            <a:pathLst>
              <a:path w="274320" h="219861">
                <a:moveTo>
                  <a:pt x="223280" y="20612"/>
                </a:moveTo>
                <a:lnTo>
                  <a:pt x="168874" y="20612"/>
                </a:lnTo>
                <a:cubicBezTo>
                  <a:pt x="163593" y="8460"/>
                  <a:pt x="151482" y="0"/>
                  <a:pt x="137399" y="0"/>
                </a:cubicBezTo>
                <a:cubicBezTo>
                  <a:pt x="123315" y="0"/>
                  <a:pt x="111204" y="8460"/>
                  <a:pt x="105923" y="20612"/>
                </a:cubicBezTo>
                <a:lnTo>
                  <a:pt x="51517" y="20612"/>
                </a:lnTo>
                <a:cubicBezTo>
                  <a:pt x="45806" y="20612"/>
                  <a:pt x="41211" y="25207"/>
                  <a:pt x="41211" y="30919"/>
                </a:cubicBezTo>
                <a:cubicBezTo>
                  <a:pt x="41211" y="36631"/>
                  <a:pt x="45806" y="41226"/>
                  <a:pt x="51517" y="41226"/>
                </a:cubicBezTo>
                <a:lnTo>
                  <a:pt x="103734" y="41226"/>
                </a:lnTo>
                <a:cubicBezTo>
                  <a:pt x="106225" y="53508"/>
                  <a:pt x="115286" y="63428"/>
                  <a:pt x="127095" y="67119"/>
                </a:cubicBezTo>
                <a:lnTo>
                  <a:pt x="127095" y="199251"/>
                </a:lnTo>
                <a:lnTo>
                  <a:pt x="51517" y="199251"/>
                </a:lnTo>
                <a:cubicBezTo>
                  <a:pt x="45806" y="199251"/>
                  <a:pt x="41211" y="203847"/>
                  <a:pt x="41211" y="209559"/>
                </a:cubicBezTo>
                <a:cubicBezTo>
                  <a:pt x="41211" y="215271"/>
                  <a:pt x="45806" y="219866"/>
                  <a:pt x="51517" y="219866"/>
                </a:cubicBezTo>
                <a:lnTo>
                  <a:pt x="137401" y="219866"/>
                </a:lnTo>
                <a:lnTo>
                  <a:pt x="223286" y="219866"/>
                </a:lnTo>
                <a:cubicBezTo>
                  <a:pt x="228997" y="219866"/>
                  <a:pt x="233592" y="215271"/>
                  <a:pt x="233592" y="209561"/>
                </a:cubicBezTo>
                <a:cubicBezTo>
                  <a:pt x="233592" y="203849"/>
                  <a:pt x="228997" y="199256"/>
                  <a:pt x="223286" y="199256"/>
                </a:cubicBezTo>
                <a:lnTo>
                  <a:pt x="147708" y="199256"/>
                </a:lnTo>
                <a:lnTo>
                  <a:pt x="147708" y="67124"/>
                </a:lnTo>
                <a:cubicBezTo>
                  <a:pt x="159517" y="63430"/>
                  <a:pt x="168578" y="53512"/>
                  <a:pt x="171069" y="41231"/>
                </a:cubicBezTo>
                <a:lnTo>
                  <a:pt x="223286" y="41231"/>
                </a:lnTo>
                <a:cubicBezTo>
                  <a:pt x="228997" y="41231"/>
                  <a:pt x="233592" y="36635"/>
                  <a:pt x="233592" y="30926"/>
                </a:cubicBezTo>
                <a:cubicBezTo>
                  <a:pt x="233592" y="25214"/>
                  <a:pt x="228997" y="20621"/>
                  <a:pt x="223286" y="20621"/>
                </a:cubicBezTo>
                <a:lnTo>
                  <a:pt x="223280" y="20612"/>
                </a:lnTo>
                <a:moveTo>
                  <a:pt x="219843" y="84079"/>
                </a:moveTo>
                <a:lnTo>
                  <a:pt x="250931" y="137413"/>
                </a:lnTo>
                <a:lnTo>
                  <a:pt x="188710" y="137413"/>
                </a:lnTo>
                <a:lnTo>
                  <a:pt x="219843" y="84079"/>
                </a:lnTo>
                <a:moveTo>
                  <a:pt x="165739" y="144757"/>
                </a:moveTo>
                <a:cubicBezTo>
                  <a:pt x="170377" y="164039"/>
                  <a:pt x="192836" y="178637"/>
                  <a:pt x="219845" y="178637"/>
                </a:cubicBezTo>
                <a:cubicBezTo>
                  <a:pt x="246855" y="178637"/>
                  <a:pt x="269314" y="164036"/>
                  <a:pt x="273952" y="144757"/>
                </a:cubicBezTo>
                <a:cubicBezTo>
                  <a:pt x="275069" y="140034"/>
                  <a:pt x="273522" y="135182"/>
                  <a:pt x="271075" y="130971"/>
                </a:cubicBezTo>
                <a:lnTo>
                  <a:pt x="230196" y="60891"/>
                </a:lnTo>
                <a:cubicBezTo>
                  <a:pt x="228048" y="57197"/>
                  <a:pt x="224097" y="54965"/>
                  <a:pt x="219845" y="54965"/>
                </a:cubicBezTo>
                <a:cubicBezTo>
                  <a:pt x="215594" y="54965"/>
                  <a:pt x="211643" y="57241"/>
                  <a:pt x="209495" y="60891"/>
                </a:cubicBezTo>
                <a:lnTo>
                  <a:pt x="168616" y="131015"/>
                </a:lnTo>
                <a:cubicBezTo>
                  <a:pt x="166169" y="135223"/>
                  <a:pt x="164622" y="140076"/>
                  <a:pt x="165739" y="144801"/>
                </a:cubicBezTo>
                <a:lnTo>
                  <a:pt x="165739" y="144757"/>
                </a:lnTo>
                <a:moveTo>
                  <a:pt x="23342" y="137413"/>
                </a:moveTo>
                <a:lnTo>
                  <a:pt x="54431" y="84079"/>
                </a:lnTo>
                <a:lnTo>
                  <a:pt x="85563" y="137413"/>
                </a:lnTo>
                <a:lnTo>
                  <a:pt x="23342" y="137413"/>
                </a:lnTo>
                <a:moveTo>
                  <a:pt x="54433" y="178637"/>
                </a:moveTo>
                <a:cubicBezTo>
                  <a:pt x="81443" y="178637"/>
                  <a:pt x="103901" y="164036"/>
                  <a:pt x="108540" y="144757"/>
                </a:cubicBezTo>
                <a:cubicBezTo>
                  <a:pt x="109657" y="140034"/>
                  <a:pt x="108109" y="135182"/>
                  <a:pt x="105663" y="130971"/>
                </a:cubicBezTo>
                <a:lnTo>
                  <a:pt x="64783" y="60891"/>
                </a:lnTo>
                <a:cubicBezTo>
                  <a:pt x="62635" y="57197"/>
                  <a:pt x="58685" y="54965"/>
                  <a:pt x="54433" y="54965"/>
                </a:cubicBezTo>
                <a:cubicBezTo>
                  <a:pt x="50181" y="54965"/>
                  <a:pt x="46231" y="57241"/>
                  <a:pt x="44083" y="60891"/>
                </a:cubicBezTo>
                <a:lnTo>
                  <a:pt x="3245" y="131015"/>
                </a:lnTo>
                <a:cubicBezTo>
                  <a:pt x="798" y="135223"/>
                  <a:pt x="-749" y="140076"/>
                  <a:pt x="368" y="144801"/>
                </a:cubicBezTo>
                <a:cubicBezTo>
                  <a:pt x="5006" y="164039"/>
                  <a:pt x="27465" y="178640"/>
                  <a:pt x="54431" y="178640"/>
                </a:cubicBezTo>
                <a:lnTo>
                  <a:pt x="54433" y="178637"/>
                </a:lnTo>
                <a:moveTo>
                  <a:pt x="137396" y="20612"/>
                </a:moveTo>
                <a:cubicBezTo>
                  <a:pt x="144986" y="20612"/>
                  <a:pt x="151137" y="26764"/>
                  <a:pt x="151137" y="34353"/>
                </a:cubicBezTo>
                <a:cubicBezTo>
                  <a:pt x="151137" y="41943"/>
                  <a:pt x="144984" y="48095"/>
                  <a:pt x="137396" y="48095"/>
                </a:cubicBezTo>
                <a:cubicBezTo>
                  <a:pt x="129805" y="48095"/>
                  <a:pt x="123655" y="41943"/>
                  <a:pt x="123655" y="34353"/>
                </a:cubicBezTo>
                <a:cubicBezTo>
                  <a:pt x="123655" y="26764"/>
                  <a:pt x="129808" y="20612"/>
                  <a:pt x="137396" y="20612"/>
                </a:cubicBezTo>
                <a:lnTo>
                  <a:pt x="137396" y="20612"/>
                </a:lnTo>
              </a:path>
            </a:pathLst>
          </a:custGeom>
          <a:solidFill>
            <a:srgbClr val="FFFFFF"/>
          </a:solidFill>
          <a:ln/>
        </p:spPr>
        <p:txBody>
          <a:bodyPr wrap="square" lIns="0" tIns="0" rIns="0" bIns="0" rtlCol="0" anchor="ctr"/>
          <a:lstStyle/>
          <a:p>
            <a:pPr indent="0" marL="0">
              <a:buNone/>
            </a:pPr>
            <a:endParaRPr lang="en-US" dirty="0"/>
          </a:p>
        </p:txBody>
      </p:sp>
      <p:sp>
        <p:nvSpPr>
          <p:cNvPr id="16" name="Text 14"/>
          <p:cNvSpPr/>
          <p:nvPr/>
        </p:nvSpPr>
        <p:spPr>
          <a:xfrm>
            <a:off x="6470426" y="1690543"/>
            <a:ext cx="274320" cy="240030"/>
          </a:xfrm>
          <a:custGeom>
            <a:avLst/>
            <a:gdLst/>
            <a:ahLst/>
            <a:cxnLst/>
            <a:rect l="l" t="t" r="r" b="b"/>
            <a:pathLst>
              <a:path w="274320" h="240030">
                <a:moveTo>
                  <a:pt x="133089" y="28021"/>
                </a:moveTo>
                <a:cubicBezTo>
                  <a:pt x="133945" y="26574"/>
                  <a:pt x="135500" y="25717"/>
                  <a:pt x="137160" y="25717"/>
                </a:cubicBezTo>
                <a:cubicBezTo>
                  <a:pt x="138820" y="25717"/>
                  <a:pt x="140375" y="26574"/>
                  <a:pt x="141231" y="28021"/>
                </a:cubicBezTo>
                <a:lnTo>
                  <a:pt x="247475" y="202525"/>
                </a:lnTo>
                <a:cubicBezTo>
                  <a:pt x="248224" y="203757"/>
                  <a:pt x="248600" y="205151"/>
                  <a:pt x="248600" y="206543"/>
                </a:cubicBezTo>
                <a:cubicBezTo>
                  <a:pt x="248600" y="210830"/>
                  <a:pt x="245116" y="214313"/>
                  <a:pt x="240831" y="214313"/>
                </a:cubicBezTo>
                <a:lnTo>
                  <a:pt x="33483" y="214313"/>
                </a:lnTo>
                <a:cubicBezTo>
                  <a:pt x="29199" y="214313"/>
                  <a:pt x="25715" y="210830"/>
                  <a:pt x="25715" y="206543"/>
                </a:cubicBezTo>
                <a:cubicBezTo>
                  <a:pt x="25715" y="205096"/>
                  <a:pt x="26090" y="203704"/>
                  <a:pt x="26839" y="202525"/>
                </a:cubicBezTo>
                <a:lnTo>
                  <a:pt x="133089" y="28021"/>
                </a:lnTo>
                <a:moveTo>
                  <a:pt x="111122" y="14627"/>
                </a:moveTo>
                <a:lnTo>
                  <a:pt x="4877" y="189132"/>
                </a:lnTo>
                <a:cubicBezTo>
                  <a:pt x="1662" y="194384"/>
                  <a:pt x="3" y="200384"/>
                  <a:pt x="3" y="206543"/>
                </a:cubicBezTo>
                <a:cubicBezTo>
                  <a:pt x="3" y="225028"/>
                  <a:pt x="15005" y="240030"/>
                  <a:pt x="33489" y="240030"/>
                </a:cubicBezTo>
                <a:lnTo>
                  <a:pt x="240836" y="240030"/>
                </a:lnTo>
                <a:cubicBezTo>
                  <a:pt x="259320" y="240030"/>
                  <a:pt x="274323" y="225028"/>
                  <a:pt x="274323" y="206543"/>
                </a:cubicBezTo>
                <a:cubicBezTo>
                  <a:pt x="274323" y="200382"/>
                  <a:pt x="272608" y="194381"/>
                  <a:pt x="269448" y="189132"/>
                </a:cubicBezTo>
                <a:lnTo>
                  <a:pt x="163204" y="14627"/>
                </a:lnTo>
                <a:cubicBezTo>
                  <a:pt x="157685" y="5574"/>
                  <a:pt x="147828" y="0"/>
                  <a:pt x="137165" y="0"/>
                </a:cubicBezTo>
                <a:cubicBezTo>
                  <a:pt x="126503" y="0"/>
                  <a:pt x="116646" y="5571"/>
                  <a:pt x="111127" y="14627"/>
                </a:cubicBezTo>
                <a:lnTo>
                  <a:pt x="111122" y="14627"/>
                </a:lnTo>
              </a:path>
            </a:pathLst>
          </a:custGeom>
          <a:solidFill>
            <a:srgbClr val="FFFFFF"/>
          </a:solidFill>
          <a:ln/>
        </p:spPr>
        <p:txBody>
          <a:bodyPr wrap="square" lIns="0" tIns="0" rIns="0" bIns="0" rtlCol="0" anchor="ctr"/>
          <a:lstStyle/>
          <a:p>
            <a:pPr indent="0" marL="0">
              <a:buNone/>
            </a:pPr>
            <a:endParaRPr lang="en-US" dirty="0"/>
          </a:p>
        </p:txBody>
      </p:sp>
      <p:sp>
        <p:nvSpPr>
          <p:cNvPr id="17" name="Text 15"/>
          <p:cNvSpPr/>
          <p:nvPr/>
        </p:nvSpPr>
        <p:spPr>
          <a:xfrm>
            <a:off x="3661938" y="1673398"/>
            <a:ext cx="176327" cy="274320"/>
          </a:xfrm>
          <a:custGeom>
            <a:avLst/>
            <a:gdLst/>
            <a:ahLst/>
            <a:cxnLst/>
            <a:rect l="l" t="t" r="r" b="b"/>
            <a:pathLst>
              <a:path w="176327" h="274320">
                <a:moveTo>
                  <a:pt x="29397" y="78335"/>
                </a:moveTo>
                <a:cubicBezTo>
                  <a:pt x="29397" y="51265"/>
                  <a:pt x="51323" y="29339"/>
                  <a:pt x="78393" y="29339"/>
                </a:cubicBezTo>
                <a:lnTo>
                  <a:pt x="97992" y="29339"/>
                </a:lnTo>
                <a:cubicBezTo>
                  <a:pt x="125063" y="29339"/>
                  <a:pt x="146988" y="51265"/>
                  <a:pt x="146988" y="78335"/>
                </a:cubicBezTo>
                <a:lnTo>
                  <a:pt x="146988" y="81152"/>
                </a:lnTo>
                <a:cubicBezTo>
                  <a:pt x="146988" y="95913"/>
                  <a:pt x="139638" y="109692"/>
                  <a:pt x="127327" y="117840"/>
                </a:cubicBezTo>
                <a:lnTo>
                  <a:pt x="95296" y="139215"/>
                </a:lnTo>
                <a:cubicBezTo>
                  <a:pt x="81699" y="148278"/>
                  <a:pt x="73493" y="163591"/>
                  <a:pt x="73493" y="180003"/>
                </a:cubicBezTo>
                <a:lnTo>
                  <a:pt x="73493" y="181230"/>
                </a:lnTo>
                <a:cubicBezTo>
                  <a:pt x="73493" y="189374"/>
                  <a:pt x="80047" y="195928"/>
                  <a:pt x="88191" y="195928"/>
                </a:cubicBezTo>
                <a:cubicBezTo>
                  <a:pt x="96338" y="195928"/>
                  <a:pt x="102890" y="189374"/>
                  <a:pt x="102890" y="181230"/>
                </a:cubicBezTo>
                <a:lnTo>
                  <a:pt x="102890" y="180003"/>
                </a:lnTo>
                <a:cubicBezTo>
                  <a:pt x="102890" y="173450"/>
                  <a:pt x="106136" y="167324"/>
                  <a:pt x="111586" y="163712"/>
                </a:cubicBezTo>
                <a:lnTo>
                  <a:pt x="143618" y="142336"/>
                </a:lnTo>
                <a:cubicBezTo>
                  <a:pt x="164074" y="128678"/>
                  <a:pt x="176323" y="105772"/>
                  <a:pt x="176323" y="81212"/>
                </a:cubicBezTo>
                <a:lnTo>
                  <a:pt x="176323" y="78395"/>
                </a:lnTo>
                <a:cubicBezTo>
                  <a:pt x="176323" y="35094"/>
                  <a:pt x="141229" y="0"/>
                  <a:pt x="97928" y="0"/>
                </a:cubicBezTo>
                <a:lnTo>
                  <a:pt x="78329" y="0"/>
                </a:lnTo>
                <a:cubicBezTo>
                  <a:pt x="35091" y="-60"/>
                  <a:pt x="-4" y="35033"/>
                  <a:pt x="-4" y="78332"/>
                </a:cubicBezTo>
                <a:cubicBezTo>
                  <a:pt x="-4" y="86477"/>
                  <a:pt x="6550" y="93030"/>
                  <a:pt x="14695" y="93030"/>
                </a:cubicBezTo>
                <a:cubicBezTo>
                  <a:pt x="22841" y="93030"/>
                  <a:pt x="29393" y="86477"/>
                  <a:pt x="29393" y="78332"/>
                </a:cubicBezTo>
                <a:lnTo>
                  <a:pt x="29397" y="78335"/>
                </a:lnTo>
                <a:moveTo>
                  <a:pt x="88193" y="274320"/>
                </a:moveTo>
                <a:cubicBezTo>
                  <a:pt x="99018" y="274320"/>
                  <a:pt x="107792" y="265545"/>
                  <a:pt x="107792" y="254723"/>
                </a:cubicBezTo>
                <a:cubicBezTo>
                  <a:pt x="107792" y="243898"/>
                  <a:pt x="99018" y="235125"/>
                  <a:pt x="88193" y="235125"/>
                </a:cubicBezTo>
                <a:cubicBezTo>
                  <a:pt x="77369" y="235125"/>
                  <a:pt x="68595" y="243901"/>
                  <a:pt x="68595" y="254723"/>
                </a:cubicBezTo>
                <a:cubicBezTo>
                  <a:pt x="68595" y="265547"/>
                  <a:pt x="77369" y="274320"/>
                  <a:pt x="88193" y="274320"/>
                </a:cubicBezTo>
              </a:path>
            </a:pathLst>
          </a:custGeom>
          <a:solidFill>
            <a:srgbClr val="FFFFFF"/>
          </a:solidFill>
          <a:ln/>
        </p:spPr>
        <p:txBody>
          <a:bodyPr wrap="square" lIns="0" tIns="0" rIns="0" bIns="0" rtlCol="0" anchor="ctr"/>
          <a:lstStyle/>
          <a:p>
            <a:pPr indent="0" marL="0">
              <a:buNone/>
            </a:pPr>
            <a:endParaRPr lang="en-US" dirty="0"/>
          </a:p>
        </p:txBody>
      </p:sp>
      <p:sp>
        <p:nvSpPr>
          <p:cNvPr id="18" name="Text 16"/>
          <p:cNvSpPr/>
          <p:nvPr/>
        </p:nvSpPr>
        <p:spPr>
          <a:xfrm>
            <a:off x="763321" y="1673398"/>
            <a:ext cx="258590" cy="274320"/>
          </a:xfrm>
          <a:custGeom>
            <a:avLst/>
            <a:gdLst/>
            <a:ahLst/>
            <a:cxnLst/>
            <a:rect l="l" t="t" r="r" b="b"/>
            <a:pathLst>
              <a:path w="258590" h="274320">
                <a:moveTo>
                  <a:pt x="129295" y="26612"/>
                </a:moveTo>
                <a:lnTo>
                  <a:pt x="30708" y="68418"/>
                </a:lnTo>
                <a:cubicBezTo>
                  <a:pt x="27529" y="69765"/>
                  <a:pt x="25805" y="72621"/>
                  <a:pt x="25859" y="75315"/>
                </a:cubicBezTo>
                <a:cubicBezTo>
                  <a:pt x="26128" y="124555"/>
                  <a:pt x="46546" y="209619"/>
                  <a:pt x="126277" y="247760"/>
                </a:cubicBezTo>
                <a:cubicBezTo>
                  <a:pt x="128217" y="248677"/>
                  <a:pt x="130479" y="248677"/>
                  <a:pt x="132364" y="247760"/>
                </a:cubicBezTo>
                <a:cubicBezTo>
                  <a:pt x="212095" y="209564"/>
                  <a:pt x="232514" y="124552"/>
                  <a:pt x="232728" y="75260"/>
                </a:cubicBezTo>
                <a:cubicBezTo>
                  <a:pt x="232728" y="72566"/>
                  <a:pt x="231058" y="69765"/>
                  <a:pt x="227880" y="68363"/>
                </a:cubicBezTo>
                <a:lnTo>
                  <a:pt x="129295" y="26612"/>
                </a:lnTo>
                <a:moveTo>
                  <a:pt x="136515" y="1564"/>
                </a:moveTo>
                <a:lnTo>
                  <a:pt x="237957" y="44607"/>
                </a:lnTo>
                <a:cubicBezTo>
                  <a:pt x="249808" y="49616"/>
                  <a:pt x="258644" y="61308"/>
                  <a:pt x="258590" y="75422"/>
                </a:cubicBezTo>
                <a:cubicBezTo>
                  <a:pt x="258321" y="128865"/>
                  <a:pt x="236341" y="226643"/>
                  <a:pt x="143517" y="271088"/>
                </a:cubicBezTo>
                <a:cubicBezTo>
                  <a:pt x="134521" y="275398"/>
                  <a:pt x="124069" y="275398"/>
                  <a:pt x="115072" y="271088"/>
                </a:cubicBezTo>
                <a:cubicBezTo>
                  <a:pt x="22249" y="226643"/>
                  <a:pt x="269" y="128864"/>
                  <a:pt x="0" y="75422"/>
                </a:cubicBezTo>
                <a:cubicBezTo>
                  <a:pt x="-54" y="61308"/>
                  <a:pt x="8782" y="49616"/>
                  <a:pt x="20633" y="44607"/>
                </a:cubicBezTo>
                <a:lnTo>
                  <a:pt x="122129" y="1564"/>
                </a:lnTo>
                <a:cubicBezTo>
                  <a:pt x="124338" y="540"/>
                  <a:pt x="126815" y="0"/>
                  <a:pt x="129295" y="0"/>
                </a:cubicBezTo>
                <a:cubicBezTo>
                  <a:pt x="131772" y="0"/>
                  <a:pt x="134252" y="538"/>
                  <a:pt x="136515" y="1564"/>
                </a:cubicBezTo>
                <a:lnTo>
                  <a:pt x="136515" y="1564"/>
                </a:ln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Trust Calibration Problem</a:t>
            </a:r>
            <a:endParaRPr lang="en-US" sz="2800" dirty="0"/>
          </a:p>
        </p:txBody>
      </p:sp>
      <p:sp>
        <p:nvSpPr>
          <p:cNvPr id="20" name="Text 18"/>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1" name="Text 19"/>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Effective human-AI collaboration requires calibrated trust, where users rely on AI where it excels while applying human judgment as needed. This balance avoids dangers of automation bias and distrust, ensuring reliable and efficient security operations.</a:t>
            </a:r>
            <a:endParaRPr lang="en-US" sz="1595" dirty="0"/>
          </a:p>
        </p:txBody>
      </p:sp>
      <p:sp>
        <p:nvSpPr>
          <p:cNvPr id="22" name="Text 20"/>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Need for Calibrated Trust</a:t>
            </a:r>
            <a:endParaRPr lang="en-US" sz="1675" dirty="0"/>
          </a:p>
        </p:txBody>
      </p:sp>
      <p:sp>
        <p:nvSpPr>
          <p:cNvPr id="23" name="Text 21"/>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Both over-trusting and under-trusting AI result in operational risks. Over-trust may cause complacency and missed alerts; under-trust causes inefficiency and lost opportunities to leverage AI strengths, harming threat detection and response.</a:t>
            </a:r>
            <a:endParaRPr lang="en-US" sz="1595" dirty="0"/>
          </a:p>
        </p:txBody>
      </p:sp>
      <p:sp>
        <p:nvSpPr>
          <p:cNvPr id="24" name="Text 22"/>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Consequences of Miscalibrated Trust</a:t>
            </a:r>
            <a:endParaRPr lang="en-US" sz="1675" dirty="0"/>
          </a:p>
        </p:txBody>
      </p:sp>
      <p:sp>
        <p:nvSpPr>
          <p:cNvPr id="25" name="Text 23"/>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Conversely, analysts may trust AI too little, ignoring accurate recommendations and insisting on manual processes. This underuse of AI leads to wasted investments and continued analyst overwhelm, reducing overall security effectiveness.</a:t>
            </a:r>
            <a:endParaRPr lang="en-US" sz="1595" dirty="0"/>
          </a:p>
        </p:txBody>
      </p:sp>
      <p:sp>
        <p:nvSpPr>
          <p:cNvPr id="26" name="Text 24"/>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Automation Distrust</a:t>
            </a:r>
            <a:endParaRPr lang="en-US" sz="1675" dirty="0"/>
          </a:p>
        </p:txBody>
      </p:sp>
      <p:sp>
        <p:nvSpPr>
          <p:cNvPr id="27" name="Text 25"/>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450"/>
              </a:spcBef>
              <a:buNone/>
            </a:pPr>
            <a:r>
              <a:rPr lang="en-US" sz="1595" dirty="0">
                <a:solidFill>
                  <a:srgbClr val="FFFFFF"/>
                </a:solidFill>
                <a:latin typeface="Figtree Regular" pitchFamily="34" charset="0"/>
                <a:ea typeface="Figtree Regular" pitchFamily="34" charset="-122"/>
                <a:cs typeface="Figtree Regular" pitchFamily="34" charset="-120"/>
              </a:rPr>
              <a:t>Analysts sometimes trust AI outputs too much, accepting recommendations without verification. This can lead to overlooking errors, false positives going unchallenged, and AI manipulation going undetected, ultimately causing critical threats to be missed.</a:t>
            </a:r>
            <a:endParaRPr lang="en-US" sz="1595" dirty="0"/>
          </a:p>
        </p:txBody>
      </p:sp>
      <p:sp>
        <p:nvSpPr>
          <p:cNvPr id="28" name="Text 26"/>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675" dirty="0">
                <a:solidFill>
                  <a:srgbClr val="FFFFFF"/>
                </a:solidFill>
                <a:latin typeface="Figtree Regular" pitchFamily="34" charset="0"/>
                <a:ea typeface="Figtree Regular" pitchFamily="34" charset="-122"/>
                <a:cs typeface="Figtree Regular" pitchFamily="34" charset="-120"/>
              </a:rPr>
              <a:t>Automation Bias</a:t>
            </a:r>
            <a:endParaRPr lang="en-US" sz="167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8991601"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89916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ph type="title"/>
          </p:nvPr>
        </p:nvSpPr>
        <p:spPr>
          <a:xfrm>
            <a:off x="505464" y="289560"/>
            <a:ext cx="7957813"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Building Trustworthy AI Systems</a:t>
            </a:r>
            <a:endParaRPr lang="en-US" sz="2800" dirty="0"/>
          </a:p>
        </p:txBody>
      </p:sp>
      <p:sp>
        <p:nvSpPr>
          <p:cNvPr id="7" name="Text 5"/>
          <p:cNvSpPr/>
          <p:nvPr/>
        </p:nvSpPr>
        <p:spPr>
          <a:xfrm>
            <a:off x="4622797" y="1785161"/>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507997" y="1785439"/>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4622797" y="4114715"/>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507997" y="4114993"/>
            <a:ext cx="3840480" cy="2011680"/>
          </a:xfrm>
          <a:custGeom>
            <a:avLst/>
            <a:gdLst/>
            <a:ahLst/>
            <a:cxnLst/>
            <a:rect l="l" t="t" r="r" b="b"/>
            <a:pathLst>
              <a:path w="3840480" h="2011680">
                <a:moveTo>
                  <a:pt x="71356" y="2011680"/>
                </a:moveTo>
                <a:cubicBezTo>
                  <a:pt x="31953" y="2011680"/>
                  <a:pt x="0" y="1979734"/>
                  <a:pt x="0" y="1940306"/>
                </a:cubicBezTo>
                <a:lnTo>
                  <a:pt x="0" y="71374"/>
                </a:lnTo>
                <a:cubicBezTo>
                  <a:pt x="0" y="31945"/>
                  <a:pt x="31953" y="0"/>
                  <a:pt x="71356" y="0"/>
                </a:cubicBezTo>
                <a:lnTo>
                  <a:pt x="3769086" y="0"/>
                </a:lnTo>
                <a:cubicBezTo>
                  <a:pt x="3808489" y="0"/>
                  <a:pt x="3840442" y="31945"/>
                  <a:pt x="3840442" y="71374"/>
                </a:cubicBezTo>
                <a:lnTo>
                  <a:pt x="3840442" y="1940306"/>
                </a:lnTo>
                <a:cubicBezTo>
                  <a:pt x="3840442" y="1979734"/>
                  <a:pt x="3808489" y="2011680"/>
                  <a:pt x="3769086" y="2011680"/>
                </a:cubicBezTo>
                <a:lnTo>
                  <a:pt x="71356" y="2011680"/>
                </a:lnTo>
              </a:path>
            </a:pathLst>
          </a:custGeom>
          <a:solidFill>
            <a:srgbClr val="0B3041"/>
          </a:solidFill>
          <a:ln/>
        </p:spPr>
        <p:txBody>
          <a:bodyPr wrap="square" lIns="0" tIns="0" rIns="0" bIns="0" rtlCol="0" anchor="ctr"/>
          <a:lstStyle/>
          <a:p>
            <a:pPr indent="0" marL="0">
              <a:buNone/>
            </a:pPr>
            <a:endParaRPr lang="en-US" dirty="0"/>
          </a:p>
        </p:txBody>
      </p:sp>
      <p:sp>
        <p:nvSpPr>
          <p:cNvPr id="11" name="Text 9"/>
          <p:cNvSpPr/>
          <p:nvPr/>
        </p:nvSpPr>
        <p:spPr>
          <a:xfrm>
            <a:off x="4805677" y="1607361"/>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90877" y="1607361"/>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4805677" y="3936915"/>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690877" y="3936915"/>
            <a:ext cx="365760" cy="365760"/>
          </a:xfrm>
          <a:custGeom>
            <a:avLst/>
            <a:gdLst/>
            <a:ahLst/>
            <a:cxnLst/>
            <a:rect l="l" t="t" r="r" b="b"/>
            <a:pathLst>
              <a:path w="365760" h="365760">
                <a:moveTo>
                  <a:pt x="65837" y="365760"/>
                </a:moveTo>
                <a:cubicBezTo>
                  <a:pt x="29477" y="365760"/>
                  <a:pt x="0" y="336283"/>
                  <a:pt x="0" y="299923"/>
                </a:cubicBezTo>
                <a:lnTo>
                  <a:pt x="0" y="65837"/>
                </a:lnTo>
                <a:cubicBezTo>
                  <a:pt x="0" y="29477"/>
                  <a:pt x="29477" y="0"/>
                  <a:pt x="65837" y="0"/>
                </a:cubicBezTo>
                <a:lnTo>
                  <a:pt x="299923" y="0"/>
                </a:lnTo>
                <a:cubicBezTo>
                  <a:pt x="336283" y="0"/>
                  <a:pt x="365760" y="29477"/>
                  <a:pt x="365760" y="65837"/>
                </a:cubicBezTo>
                <a:lnTo>
                  <a:pt x="365760" y="299923"/>
                </a:lnTo>
                <a:cubicBezTo>
                  <a:pt x="365760" y="336283"/>
                  <a:pt x="336283" y="365760"/>
                  <a:pt x="299923" y="365760"/>
                </a:cubicBezTo>
                <a:lnTo>
                  <a:pt x="65837" y="36576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16" name="Text 14"/>
          <p:cNvSpPr/>
          <p:nvPr/>
        </p:nvSpPr>
        <p:spPr>
          <a:xfrm>
            <a:off x="8991600" y="0"/>
            <a:ext cx="3200400" cy="6858000"/>
          </a:xfrm>
          <a:custGeom>
            <a:avLst/>
            <a:gdLst/>
            <a:ahLst/>
            <a:cxnLst/>
            <a:rect l="l" t="t" r="r" b="b"/>
            <a:pathLst>
              <a:path w="3200400" h="6858000">
                <a:moveTo>
                  <a:pt x="0" y="6858000"/>
                </a:moveTo>
                <a:lnTo>
                  <a:pt x="0" y="0"/>
                </a:lnTo>
                <a:lnTo>
                  <a:pt x="3200400" y="0"/>
                </a:lnTo>
                <a:lnTo>
                  <a:pt x="3200400" y="6858000"/>
                </a:lnTo>
                <a:lnTo>
                  <a:pt x="0" y="6858000"/>
                </a:lnTo>
              </a:path>
            </a:pathLst>
          </a:custGeom>
          <a:blipFill>
            <a:blip r:embed="rId1"/>
            <a:srcRect/>
            <a:stretch>
              <a:fillRect l="0" r="0" t="26667" b="26667"/>
            </a:stretch>
          </a:blipFill>
          <a:ln/>
        </p:spPr>
        <p:txBody>
          <a:bodyPr wrap="square" lIns="0" tIns="0" rIns="0" bIns="0" rtlCol="0" anchor="ctr"/>
          <a:lstStyle/>
          <a:p>
            <a:pPr indent="0" marL="0">
              <a:buNone/>
            </a:pPr>
            <a:endParaRPr lang="en-US" dirty="0"/>
          </a:p>
        </p:txBody>
      </p:sp>
      <p:sp>
        <p:nvSpPr>
          <p:cNvPr id="17" name="Text 15"/>
          <p:cNvSpPr/>
          <p:nvPr/>
        </p:nvSpPr>
        <p:spPr>
          <a:xfrm>
            <a:off x="4805677" y="4973701"/>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Alignment means AI objectives and recommendations match security team goals, consider business context, and conform to organizational risk tolerance and values. This ensures AI behavior supports the overall mission and priorities, strengthening trust through consistent, relevant outputs.</a:t>
            </a:r>
            <a:endParaRPr lang="en-US" sz="1087" dirty="0"/>
          </a:p>
        </p:txBody>
      </p:sp>
      <p:sp>
        <p:nvSpPr>
          <p:cNvPr id="18" name="Text 16"/>
          <p:cNvSpPr/>
          <p:nvPr/>
        </p:nvSpPr>
        <p:spPr>
          <a:xfrm>
            <a:off x="4805677" y="4468244"/>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Alignment</a:t>
            </a:r>
            <a:endParaRPr lang="en-US" sz="2030" dirty="0"/>
          </a:p>
        </p:txBody>
      </p:sp>
      <p:sp>
        <p:nvSpPr>
          <p:cNvPr id="19" name="Text 17"/>
          <p:cNvSpPr/>
          <p:nvPr/>
        </p:nvSpPr>
        <p:spPr>
          <a:xfrm>
            <a:off x="4874257" y="4005495"/>
            <a:ext cx="228600" cy="228600"/>
          </a:xfrm>
          <a:custGeom>
            <a:avLst/>
            <a:gdLst/>
            <a:ahLst/>
            <a:cxnLst/>
            <a:rect l="l" t="t" r="r" b="b"/>
            <a:pathLst>
              <a:path w="228600" h="228600">
                <a:moveTo>
                  <a:pt x="207169" y="114300"/>
                </a:moveTo>
                <a:cubicBezTo>
                  <a:pt x="207169" y="63009"/>
                  <a:pt x="165591" y="21431"/>
                  <a:pt x="114300" y="21431"/>
                </a:cubicBezTo>
                <a:cubicBezTo>
                  <a:pt x="63009" y="21431"/>
                  <a:pt x="21431" y="63009"/>
                  <a:pt x="21431" y="114300"/>
                </a:cubicBezTo>
                <a:cubicBezTo>
                  <a:pt x="21431" y="165591"/>
                  <a:pt x="63009" y="207169"/>
                  <a:pt x="114300" y="207169"/>
                </a:cubicBezTo>
                <a:cubicBezTo>
                  <a:pt x="165591" y="207169"/>
                  <a:pt x="207169" y="165591"/>
                  <a:pt x="207169" y="114300"/>
                </a:cubicBezTo>
                <a:moveTo>
                  <a:pt x="0" y="114300"/>
                </a:moveTo>
                <a:cubicBezTo>
                  <a:pt x="0" y="51174"/>
                  <a:pt x="51174" y="0"/>
                  <a:pt x="114300" y="0"/>
                </a:cubicBezTo>
                <a:cubicBezTo>
                  <a:pt x="177426" y="0"/>
                  <a:pt x="228600" y="51174"/>
                  <a:pt x="228600" y="114300"/>
                </a:cubicBezTo>
                <a:cubicBezTo>
                  <a:pt x="228600" y="177426"/>
                  <a:pt x="177426" y="228600"/>
                  <a:pt x="114300" y="228600"/>
                </a:cubicBezTo>
                <a:cubicBezTo>
                  <a:pt x="51174" y="228600"/>
                  <a:pt x="0" y="177426"/>
                  <a:pt x="0" y="114300"/>
                </a:cubicBezTo>
                <a:moveTo>
                  <a:pt x="114300" y="164306"/>
                </a:moveTo>
                <a:cubicBezTo>
                  <a:pt x="141917" y="164306"/>
                  <a:pt x="164306" y="141917"/>
                  <a:pt x="164306" y="114300"/>
                </a:cubicBezTo>
                <a:cubicBezTo>
                  <a:pt x="164306" y="86683"/>
                  <a:pt x="141917" y="64294"/>
                  <a:pt x="114300" y="64294"/>
                </a:cubicBezTo>
                <a:cubicBezTo>
                  <a:pt x="86683" y="64294"/>
                  <a:pt x="64294" y="86683"/>
                  <a:pt x="64294" y="114300"/>
                </a:cubicBezTo>
                <a:cubicBezTo>
                  <a:pt x="64294" y="141917"/>
                  <a:pt x="86683" y="164306"/>
                  <a:pt x="114300" y="164306"/>
                </a:cubicBezTo>
                <a:moveTo>
                  <a:pt x="114300" y="42863"/>
                </a:moveTo>
                <a:cubicBezTo>
                  <a:pt x="153754" y="42863"/>
                  <a:pt x="185738" y="74846"/>
                  <a:pt x="185738" y="114300"/>
                </a:cubicBezTo>
                <a:cubicBezTo>
                  <a:pt x="185738" y="153754"/>
                  <a:pt x="153754" y="185738"/>
                  <a:pt x="114300" y="185738"/>
                </a:cubicBezTo>
                <a:cubicBezTo>
                  <a:pt x="74846" y="185738"/>
                  <a:pt x="42863" y="153754"/>
                  <a:pt x="42863" y="114300"/>
                </a:cubicBezTo>
                <a:cubicBezTo>
                  <a:pt x="42863" y="74846"/>
                  <a:pt x="74846" y="42863"/>
                  <a:pt x="114300" y="42863"/>
                </a:cubicBezTo>
                <a:moveTo>
                  <a:pt x="114300" y="121444"/>
                </a:moveTo>
                <a:cubicBezTo>
                  <a:pt x="118246" y="121444"/>
                  <a:pt x="121444" y="118246"/>
                  <a:pt x="121444" y="114300"/>
                </a:cubicBezTo>
                <a:cubicBezTo>
                  <a:pt x="121444" y="110354"/>
                  <a:pt x="118246" y="107156"/>
                  <a:pt x="114300" y="107156"/>
                </a:cubicBezTo>
                <a:cubicBezTo>
                  <a:pt x="110354" y="107156"/>
                  <a:pt x="107156" y="110354"/>
                  <a:pt x="107156" y="114300"/>
                </a:cubicBezTo>
                <a:cubicBezTo>
                  <a:pt x="107156" y="118246"/>
                  <a:pt x="110354" y="121444"/>
                  <a:pt x="114300" y="121444"/>
                </a:cubicBezTo>
                <a:moveTo>
                  <a:pt x="114300" y="85725"/>
                </a:moveTo>
                <a:cubicBezTo>
                  <a:pt x="130083" y="85725"/>
                  <a:pt x="142875" y="98517"/>
                  <a:pt x="142875" y="114300"/>
                </a:cubicBezTo>
                <a:cubicBezTo>
                  <a:pt x="142875" y="130083"/>
                  <a:pt x="130083" y="142875"/>
                  <a:pt x="114300" y="142875"/>
                </a:cubicBezTo>
                <a:cubicBezTo>
                  <a:pt x="98517" y="142875"/>
                  <a:pt x="85725" y="130083"/>
                  <a:pt x="85725" y="114300"/>
                </a:cubicBezTo>
                <a:cubicBezTo>
                  <a:pt x="85725" y="98517"/>
                  <a:pt x="98517" y="85725"/>
                  <a:pt x="114300" y="85725"/>
                </a:cubicBezTo>
              </a:path>
            </a:pathLst>
          </a:custGeom>
          <a:solidFill>
            <a:srgbClr val="FFFFFF"/>
          </a:solidFill>
          <a:ln/>
        </p:spPr>
        <p:txBody>
          <a:bodyPr wrap="square" lIns="0" tIns="0" rIns="0" bIns="0" rtlCol="0" anchor="ctr"/>
          <a:lstStyle/>
          <a:p>
            <a:pPr indent="0" marL="0">
              <a:buNone/>
            </a:pPr>
            <a:endParaRPr lang="en-US" dirty="0"/>
          </a:p>
        </p:txBody>
      </p:sp>
      <p:sp>
        <p:nvSpPr>
          <p:cNvPr id="20" name="Text 18"/>
          <p:cNvSpPr/>
          <p:nvPr/>
        </p:nvSpPr>
        <p:spPr>
          <a:xfrm>
            <a:off x="690877" y="4973701"/>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Accountability involves creating audit trails of all AI decisions, establishing human oversight for critical actions, defining responsibilities for AI-influenced outcomes, and regularly reviewing AI performance. This ensures there is a responsible party and supports ethical, legal, and operational transparency.</a:t>
            </a:r>
            <a:endParaRPr lang="en-US" sz="1087" dirty="0"/>
          </a:p>
        </p:txBody>
      </p:sp>
      <p:sp>
        <p:nvSpPr>
          <p:cNvPr id="21" name="Text 19"/>
          <p:cNvSpPr/>
          <p:nvPr/>
        </p:nvSpPr>
        <p:spPr>
          <a:xfrm>
            <a:off x="690877" y="4468244"/>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Accountability</a:t>
            </a:r>
            <a:endParaRPr lang="en-US" sz="2030" dirty="0"/>
          </a:p>
        </p:txBody>
      </p:sp>
      <p:sp>
        <p:nvSpPr>
          <p:cNvPr id="22" name="Text 20"/>
          <p:cNvSpPr/>
          <p:nvPr/>
        </p:nvSpPr>
        <p:spPr>
          <a:xfrm>
            <a:off x="759457" y="4028186"/>
            <a:ext cx="228600" cy="183218"/>
          </a:xfrm>
          <a:custGeom>
            <a:avLst/>
            <a:gdLst/>
            <a:ahLst/>
            <a:cxnLst/>
            <a:rect l="l" t="t" r="r" b="b"/>
            <a:pathLst>
              <a:path w="228600" h="183218">
                <a:moveTo>
                  <a:pt x="186067" y="17177"/>
                </a:moveTo>
                <a:lnTo>
                  <a:pt x="140728" y="17177"/>
                </a:lnTo>
                <a:cubicBezTo>
                  <a:pt x="136328" y="7050"/>
                  <a:pt x="126235" y="0"/>
                  <a:pt x="114499" y="0"/>
                </a:cubicBezTo>
                <a:cubicBezTo>
                  <a:pt x="102763" y="0"/>
                  <a:pt x="92670" y="7050"/>
                  <a:pt x="88269" y="17177"/>
                </a:cubicBezTo>
                <a:lnTo>
                  <a:pt x="42931" y="17177"/>
                </a:lnTo>
                <a:cubicBezTo>
                  <a:pt x="38172" y="17177"/>
                  <a:pt x="34343" y="21006"/>
                  <a:pt x="34343" y="25766"/>
                </a:cubicBezTo>
                <a:cubicBezTo>
                  <a:pt x="34343" y="30526"/>
                  <a:pt x="38172" y="34355"/>
                  <a:pt x="42931" y="34355"/>
                </a:cubicBezTo>
                <a:lnTo>
                  <a:pt x="86445" y="34355"/>
                </a:lnTo>
                <a:cubicBezTo>
                  <a:pt x="88521" y="44590"/>
                  <a:pt x="96071" y="52857"/>
                  <a:pt x="105913" y="55933"/>
                </a:cubicBezTo>
                <a:lnTo>
                  <a:pt x="105913" y="166043"/>
                </a:lnTo>
                <a:lnTo>
                  <a:pt x="42931" y="166043"/>
                </a:lnTo>
                <a:cubicBezTo>
                  <a:pt x="38172" y="166043"/>
                  <a:pt x="34343" y="169872"/>
                  <a:pt x="34343" y="174632"/>
                </a:cubicBezTo>
                <a:cubicBezTo>
                  <a:pt x="34343" y="179392"/>
                  <a:pt x="38172" y="183221"/>
                  <a:pt x="42931" y="183221"/>
                </a:cubicBezTo>
                <a:lnTo>
                  <a:pt x="114501" y="183221"/>
                </a:lnTo>
                <a:lnTo>
                  <a:pt x="186071" y="183221"/>
                </a:lnTo>
                <a:cubicBezTo>
                  <a:pt x="190831" y="183221"/>
                  <a:pt x="194660" y="179392"/>
                  <a:pt x="194660" y="174634"/>
                </a:cubicBezTo>
                <a:cubicBezTo>
                  <a:pt x="194660" y="169874"/>
                  <a:pt x="190831" y="166047"/>
                  <a:pt x="186071" y="166047"/>
                </a:cubicBezTo>
                <a:lnTo>
                  <a:pt x="123090" y="166047"/>
                </a:lnTo>
                <a:lnTo>
                  <a:pt x="123090" y="55936"/>
                </a:lnTo>
                <a:cubicBezTo>
                  <a:pt x="132931" y="52858"/>
                  <a:pt x="140482" y="44593"/>
                  <a:pt x="142557" y="34359"/>
                </a:cubicBezTo>
                <a:lnTo>
                  <a:pt x="186071" y="34359"/>
                </a:lnTo>
                <a:cubicBezTo>
                  <a:pt x="190831" y="34359"/>
                  <a:pt x="194660" y="30530"/>
                  <a:pt x="194660" y="25771"/>
                </a:cubicBezTo>
                <a:cubicBezTo>
                  <a:pt x="194660" y="21011"/>
                  <a:pt x="190831" y="17184"/>
                  <a:pt x="186071" y="17184"/>
                </a:cubicBezTo>
                <a:lnTo>
                  <a:pt x="186067" y="17177"/>
                </a:lnTo>
                <a:moveTo>
                  <a:pt x="183202" y="70066"/>
                </a:moveTo>
                <a:lnTo>
                  <a:pt x="209110" y="114511"/>
                </a:lnTo>
                <a:lnTo>
                  <a:pt x="157259" y="114511"/>
                </a:lnTo>
                <a:lnTo>
                  <a:pt x="183202" y="70066"/>
                </a:lnTo>
                <a:moveTo>
                  <a:pt x="138116" y="120631"/>
                </a:moveTo>
                <a:cubicBezTo>
                  <a:pt x="141981" y="136699"/>
                  <a:pt x="160697" y="148864"/>
                  <a:pt x="183205" y="148864"/>
                </a:cubicBezTo>
                <a:cubicBezTo>
                  <a:pt x="205713" y="148864"/>
                  <a:pt x="224428" y="136697"/>
                  <a:pt x="228294" y="120631"/>
                </a:cubicBezTo>
                <a:cubicBezTo>
                  <a:pt x="229224" y="116695"/>
                  <a:pt x="227935" y="112652"/>
                  <a:pt x="225896" y="109143"/>
                </a:cubicBezTo>
                <a:lnTo>
                  <a:pt x="191830" y="50742"/>
                </a:lnTo>
                <a:cubicBezTo>
                  <a:pt x="190040" y="47664"/>
                  <a:pt x="186748" y="45804"/>
                  <a:pt x="183205" y="45804"/>
                </a:cubicBezTo>
                <a:cubicBezTo>
                  <a:pt x="179661" y="45804"/>
                  <a:pt x="176369" y="47701"/>
                  <a:pt x="174580" y="50742"/>
                </a:cubicBezTo>
                <a:lnTo>
                  <a:pt x="140514" y="109180"/>
                </a:lnTo>
                <a:cubicBezTo>
                  <a:pt x="138474" y="112686"/>
                  <a:pt x="137185" y="116730"/>
                  <a:pt x="138116" y="120667"/>
                </a:cubicBezTo>
                <a:lnTo>
                  <a:pt x="138116" y="120631"/>
                </a:lnTo>
                <a:moveTo>
                  <a:pt x="19452" y="114511"/>
                </a:moveTo>
                <a:lnTo>
                  <a:pt x="45359" y="70066"/>
                </a:lnTo>
                <a:lnTo>
                  <a:pt x="71303" y="114511"/>
                </a:lnTo>
                <a:lnTo>
                  <a:pt x="19452" y="114511"/>
                </a:lnTo>
                <a:moveTo>
                  <a:pt x="45361" y="148864"/>
                </a:moveTo>
                <a:cubicBezTo>
                  <a:pt x="67869" y="148864"/>
                  <a:pt x="86585" y="136697"/>
                  <a:pt x="90450" y="120631"/>
                </a:cubicBezTo>
                <a:cubicBezTo>
                  <a:pt x="91381" y="116695"/>
                  <a:pt x="90091" y="112652"/>
                  <a:pt x="88052" y="109143"/>
                </a:cubicBezTo>
                <a:lnTo>
                  <a:pt x="53986" y="50742"/>
                </a:lnTo>
                <a:cubicBezTo>
                  <a:pt x="52196" y="47664"/>
                  <a:pt x="48904" y="45804"/>
                  <a:pt x="45361" y="45804"/>
                </a:cubicBezTo>
                <a:cubicBezTo>
                  <a:pt x="41818" y="45804"/>
                  <a:pt x="38526" y="47701"/>
                  <a:pt x="36736" y="50742"/>
                </a:cubicBezTo>
                <a:lnTo>
                  <a:pt x="2704" y="109180"/>
                </a:lnTo>
                <a:cubicBezTo>
                  <a:pt x="665" y="112686"/>
                  <a:pt x="-624" y="116730"/>
                  <a:pt x="306" y="120667"/>
                </a:cubicBezTo>
                <a:cubicBezTo>
                  <a:pt x="4172" y="136699"/>
                  <a:pt x="22887" y="148866"/>
                  <a:pt x="45359" y="148866"/>
                </a:cubicBezTo>
                <a:lnTo>
                  <a:pt x="45361" y="148864"/>
                </a:lnTo>
                <a:moveTo>
                  <a:pt x="114497" y="17177"/>
                </a:moveTo>
                <a:cubicBezTo>
                  <a:pt x="120822" y="17177"/>
                  <a:pt x="125947" y="22303"/>
                  <a:pt x="125947" y="28628"/>
                </a:cubicBezTo>
                <a:cubicBezTo>
                  <a:pt x="125947" y="34952"/>
                  <a:pt x="120820" y="40079"/>
                  <a:pt x="114497" y="40079"/>
                </a:cubicBezTo>
                <a:cubicBezTo>
                  <a:pt x="108171" y="40079"/>
                  <a:pt x="103046" y="34952"/>
                  <a:pt x="103046" y="28628"/>
                </a:cubicBezTo>
                <a:cubicBezTo>
                  <a:pt x="103046" y="22303"/>
                  <a:pt x="108174" y="17177"/>
                  <a:pt x="114497" y="17177"/>
                </a:cubicBezTo>
                <a:lnTo>
                  <a:pt x="114497" y="17177"/>
                </a:lnTo>
              </a:path>
            </a:pathLst>
          </a:custGeom>
          <a:solidFill>
            <a:srgbClr val="FFFFFF"/>
          </a:solidFill>
          <a:ln/>
        </p:spPr>
        <p:txBody>
          <a:bodyPr wrap="square" lIns="0" tIns="0" rIns="0" bIns="0" rtlCol="0" anchor="ctr"/>
          <a:lstStyle/>
          <a:p>
            <a:pPr indent="0" marL="0">
              <a:buNone/>
            </a:pPr>
            <a:endParaRPr lang="en-US" dirty="0"/>
          </a:p>
        </p:txBody>
      </p:sp>
      <p:sp>
        <p:nvSpPr>
          <p:cNvPr id="23" name="Text 21"/>
          <p:cNvSpPr/>
          <p:nvPr/>
        </p:nvSpPr>
        <p:spPr>
          <a:xfrm>
            <a:off x="4805677" y="2644147"/>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Reliability ensures AI systems perform consistently over time with predictable behavior. It includes gracefully managing edge cases, offering clear confidence scores that correlate with actual accuracy, and maintaining stable outputs without unexpected changes, which builds user trust in AI dependability.</a:t>
            </a:r>
            <a:endParaRPr lang="en-US" sz="1087" dirty="0"/>
          </a:p>
        </p:txBody>
      </p:sp>
      <p:sp>
        <p:nvSpPr>
          <p:cNvPr id="24" name="Text 22"/>
          <p:cNvSpPr/>
          <p:nvPr/>
        </p:nvSpPr>
        <p:spPr>
          <a:xfrm>
            <a:off x="4805677" y="2138690"/>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Reliability</a:t>
            </a:r>
            <a:endParaRPr lang="en-US" sz="2030" dirty="0"/>
          </a:p>
        </p:txBody>
      </p:sp>
      <p:sp>
        <p:nvSpPr>
          <p:cNvPr id="25" name="Text 23"/>
          <p:cNvSpPr/>
          <p:nvPr/>
        </p:nvSpPr>
        <p:spPr>
          <a:xfrm>
            <a:off x="4880811" y="1675941"/>
            <a:ext cx="215491" cy="228600"/>
          </a:xfrm>
          <a:custGeom>
            <a:avLst/>
            <a:gdLst/>
            <a:ahLst/>
            <a:cxnLst/>
            <a:rect l="l" t="t" r="r" b="b"/>
            <a:pathLst>
              <a:path w="215491" h="228600">
                <a:moveTo>
                  <a:pt x="107746" y="22176"/>
                </a:moveTo>
                <a:lnTo>
                  <a:pt x="25590" y="57015"/>
                </a:lnTo>
                <a:cubicBezTo>
                  <a:pt x="22941" y="58138"/>
                  <a:pt x="21504" y="60517"/>
                  <a:pt x="21549" y="62762"/>
                </a:cubicBezTo>
                <a:cubicBezTo>
                  <a:pt x="21773" y="103796"/>
                  <a:pt x="38788" y="174682"/>
                  <a:pt x="105231" y="206467"/>
                </a:cubicBezTo>
                <a:cubicBezTo>
                  <a:pt x="106847" y="207230"/>
                  <a:pt x="108733" y="207230"/>
                  <a:pt x="110304" y="206467"/>
                </a:cubicBezTo>
                <a:cubicBezTo>
                  <a:pt x="176746" y="174637"/>
                  <a:pt x="193761" y="103794"/>
                  <a:pt x="193940" y="62716"/>
                </a:cubicBezTo>
                <a:cubicBezTo>
                  <a:pt x="193940" y="60472"/>
                  <a:pt x="192548" y="58138"/>
                  <a:pt x="189900" y="56969"/>
                </a:cubicBezTo>
                <a:lnTo>
                  <a:pt x="107746" y="22176"/>
                </a:lnTo>
                <a:moveTo>
                  <a:pt x="113762" y="1303"/>
                </a:moveTo>
                <a:lnTo>
                  <a:pt x="198297" y="37173"/>
                </a:lnTo>
                <a:cubicBezTo>
                  <a:pt x="208173" y="41347"/>
                  <a:pt x="215537" y="51090"/>
                  <a:pt x="215491" y="62851"/>
                </a:cubicBezTo>
                <a:cubicBezTo>
                  <a:pt x="215267" y="107387"/>
                  <a:pt x="196951" y="188869"/>
                  <a:pt x="119598" y="225907"/>
                </a:cubicBezTo>
                <a:cubicBezTo>
                  <a:pt x="112101" y="229498"/>
                  <a:pt x="103391" y="229498"/>
                  <a:pt x="95894" y="225907"/>
                </a:cubicBezTo>
                <a:cubicBezTo>
                  <a:pt x="18541" y="188869"/>
                  <a:pt x="224" y="107387"/>
                  <a:pt x="0" y="62851"/>
                </a:cubicBezTo>
                <a:cubicBezTo>
                  <a:pt x="-45" y="51090"/>
                  <a:pt x="7318" y="41347"/>
                  <a:pt x="17194" y="37173"/>
                </a:cubicBezTo>
                <a:lnTo>
                  <a:pt x="101774" y="1303"/>
                </a:lnTo>
                <a:cubicBezTo>
                  <a:pt x="103615" y="450"/>
                  <a:pt x="105679" y="0"/>
                  <a:pt x="107746" y="0"/>
                </a:cubicBezTo>
                <a:cubicBezTo>
                  <a:pt x="109810" y="0"/>
                  <a:pt x="111877" y="448"/>
                  <a:pt x="113762" y="1303"/>
                </a:cubicBezTo>
                <a:lnTo>
                  <a:pt x="113762" y="1303"/>
                </a:lnTo>
              </a:path>
            </a:pathLst>
          </a:custGeom>
          <a:solidFill>
            <a:srgbClr val="FFFFFF"/>
          </a:solidFill>
          <a:ln/>
        </p:spPr>
        <p:txBody>
          <a:bodyPr wrap="square" lIns="0" tIns="0" rIns="0" bIns="0" rtlCol="0" anchor="ctr"/>
          <a:lstStyle/>
          <a:p>
            <a:pPr indent="0" marL="0">
              <a:buNone/>
            </a:pPr>
            <a:endParaRPr lang="en-US" dirty="0"/>
          </a:p>
        </p:txBody>
      </p:sp>
      <p:sp>
        <p:nvSpPr>
          <p:cNvPr id="26" name="Text 24"/>
          <p:cNvSpPr/>
          <p:nvPr/>
        </p:nvSpPr>
        <p:spPr>
          <a:xfrm>
            <a:off x="690877" y="2644147"/>
            <a:ext cx="3383280" cy="960120"/>
          </a:xfrm>
          <a:prstGeom prst="rect">
            <a:avLst/>
          </a:prstGeom>
          <a:noFill/>
          <a:ln/>
        </p:spPr>
        <p:txBody>
          <a:bodyPr wrap="square" lIns="0" tIns="0" rIns="0" bIns="0" rtlCol="0" anchor="t"/>
          <a:lstStyle/>
          <a:p>
            <a:pPr algn="l" marL="0" indent="0">
              <a:lnSpc>
                <a:spcPct val="100000"/>
              </a:lnSpc>
              <a:spcBef>
                <a:spcPts val="1035"/>
              </a:spcBef>
              <a:buNone/>
            </a:pPr>
            <a:r>
              <a:rPr lang="en-US" sz="1087" dirty="0">
                <a:solidFill>
                  <a:srgbClr val="FFFFFF"/>
                </a:solidFill>
                <a:latin typeface="Figtree Regular" pitchFamily="34" charset="0"/>
                <a:ea typeface="Figtree Regular" pitchFamily="34" charset="-122"/>
                <a:cs typeface="Figtree Regular" pitchFamily="34" charset="-120"/>
              </a:rPr>
              <a:t>Transparency means clearly documenting what the AI can and cannot do, communicating honestly about accuracy including failures, and providing visibility into how decisions are made. This openness helps users understand AI behavior, fostering confidence by setting realistic expectations and revealing limitations.</a:t>
            </a:r>
            <a:endParaRPr lang="en-US" sz="1087" dirty="0"/>
          </a:p>
        </p:txBody>
      </p:sp>
      <p:sp>
        <p:nvSpPr>
          <p:cNvPr id="27" name="Text 25"/>
          <p:cNvSpPr/>
          <p:nvPr/>
        </p:nvSpPr>
        <p:spPr>
          <a:xfrm>
            <a:off x="690877" y="2138690"/>
            <a:ext cx="3383280" cy="426159"/>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Transparency</a:t>
            </a:r>
            <a:endParaRPr lang="en-US" sz="2030" dirty="0"/>
          </a:p>
        </p:txBody>
      </p:sp>
      <p:sp>
        <p:nvSpPr>
          <p:cNvPr id="28" name="Text 26"/>
          <p:cNvSpPr/>
          <p:nvPr/>
        </p:nvSpPr>
        <p:spPr>
          <a:xfrm>
            <a:off x="759457" y="1701349"/>
            <a:ext cx="228600" cy="177785"/>
          </a:xfrm>
          <a:custGeom>
            <a:avLst/>
            <a:gdLst/>
            <a:ahLst/>
            <a:cxnLst/>
            <a:rect l="l" t="t" r="r" b="b"/>
            <a:pathLst>
              <a:path w="228600" h="177785">
                <a:moveTo>
                  <a:pt x="114279" y="19048"/>
                </a:moveTo>
                <a:cubicBezTo>
                  <a:pt x="88406" y="19048"/>
                  <a:pt x="67135" y="30794"/>
                  <a:pt x="50825" y="45915"/>
                </a:cubicBezTo>
                <a:cubicBezTo>
                  <a:pt x="35547" y="60121"/>
                  <a:pt x="24991" y="76988"/>
                  <a:pt x="19593" y="88892"/>
                </a:cubicBezTo>
                <a:cubicBezTo>
                  <a:pt x="24991" y="100797"/>
                  <a:pt x="35547" y="117663"/>
                  <a:pt x="50786" y="131870"/>
                </a:cubicBezTo>
                <a:cubicBezTo>
                  <a:pt x="67135" y="146989"/>
                  <a:pt x="88406" y="158737"/>
                  <a:pt x="114279" y="158737"/>
                </a:cubicBezTo>
                <a:cubicBezTo>
                  <a:pt x="140152" y="158737"/>
                  <a:pt x="161424" y="146990"/>
                  <a:pt x="177734" y="131870"/>
                </a:cubicBezTo>
                <a:cubicBezTo>
                  <a:pt x="193012" y="117663"/>
                  <a:pt x="203568" y="100797"/>
                  <a:pt x="208966" y="88892"/>
                </a:cubicBezTo>
                <a:cubicBezTo>
                  <a:pt x="203568" y="76988"/>
                  <a:pt x="193012" y="60121"/>
                  <a:pt x="177773" y="45915"/>
                </a:cubicBezTo>
                <a:cubicBezTo>
                  <a:pt x="161424" y="30796"/>
                  <a:pt x="140152" y="19048"/>
                  <a:pt x="114279" y="19048"/>
                </a:cubicBezTo>
                <a:lnTo>
                  <a:pt x="114279" y="19048"/>
                </a:lnTo>
                <a:moveTo>
                  <a:pt x="37849" y="31985"/>
                </a:moveTo>
                <a:cubicBezTo>
                  <a:pt x="56540" y="14603"/>
                  <a:pt x="82216" y="0"/>
                  <a:pt x="114282" y="0"/>
                </a:cubicBezTo>
                <a:cubicBezTo>
                  <a:pt x="146347" y="0"/>
                  <a:pt x="172022" y="14603"/>
                  <a:pt x="190714" y="31985"/>
                </a:cubicBezTo>
                <a:cubicBezTo>
                  <a:pt x="209286" y="49248"/>
                  <a:pt x="221708" y="69844"/>
                  <a:pt x="227619" y="84010"/>
                </a:cubicBezTo>
                <a:cubicBezTo>
                  <a:pt x="228929" y="87145"/>
                  <a:pt x="228929" y="90638"/>
                  <a:pt x="227619" y="93772"/>
                </a:cubicBezTo>
                <a:cubicBezTo>
                  <a:pt x="221705" y="107940"/>
                  <a:pt x="209286" y="128576"/>
                  <a:pt x="190714" y="145798"/>
                </a:cubicBezTo>
                <a:cubicBezTo>
                  <a:pt x="172024" y="163180"/>
                  <a:pt x="146347" y="177783"/>
                  <a:pt x="114282" y="177783"/>
                </a:cubicBezTo>
                <a:cubicBezTo>
                  <a:pt x="82216" y="177783"/>
                  <a:pt x="56542" y="163180"/>
                  <a:pt x="37849" y="145798"/>
                </a:cubicBezTo>
                <a:cubicBezTo>
                  <a:pt x="19278" y="128576"/>
                  <a:pt x="6856" y="107938"/>
                  <a:pt x="983" y="93772"/>
                </a:cubicBezTo>
                <a:cubicBezTo>
                  <a:pt x="-327" y="90638"/>
                  <a:pt x="-327" y="87145"/>
                  <a:pt x="983" y="84010"/>
                </a:cubicBezTo>
                <a:cubicBezTo>
                  <a:pt x="6856" y="69843"/>
                  <a:pt x="19278" y="49207"/>
                  <a:pt x="37849" y="31985"/>
                </a:cubicBezTo>
                <a:lnTo>
                  <a:pt x="37849" y="31985"/>
                </a:lnTo>
                <a:moveTo>
                  <a:pt x="114279" y="120639"/>
                </a:moveTo>
                <a:cubicBezTo>
                  <a:pt x="131820" y="120639"/>
                  <a:pt x="146027" y="106433"/>
                  <a:pt x="146027" y="88892"/>
                </a:cubicBezTo>
                <a:cubicBezTo>
                  <a:pt x="146027" y="71352"/>
                  <a:pt x="131820" y="57145"/>
                  <a:pt x="114279" y="57145"/>
                </a:cubicBezTo>
                <a:cubicBezTo>
                  <a:pt x="114001" y="57145"/>
                  <a:pt x="113763" y="57145"/>
                  <a:pt x="113486" y="57145"/>
                </a:cubicBezTo>
                <a:cubicBezTo>
                  <a:pt x="114003" y="59168"/>
                  <a:pt x="114279" y="61313"/>
                  <a:pt x="114279" y="63494"/>
                </a:cubicBezTo>
                <a:cubicBezTo>
                  <a:pt x="114279" y="77502"/>
                  <a:pt x="102891" y="88892"/>
                  <a:pt x="88882" y="88892"/>
                </a:cubicBezTo>
                <a:cubicBezTo>
                  <a:pt x="86699" y="88892"/>
                  <a:pt x="84557" y="88615"/>
                  <a:pt x="82531" y="88099"/>
                </a:cubicBezTo>
                <a:cubicBezTo>
                  <a:pt x="82531" y="88377"/>
                  <a:pt x="82531" y="88615"/>
                  <a:pt x="82531" y="88892"/>
                </a:cubicBezTo>
                <a:cubicBezTo>
                  <a:pt x="82531" y="106432"/>
                  <a:pt x="96739" y="120639"/>
                  <a:pt x="114279" y="120639"/>
                </a:cubicBezTo>
                <a:moveTo>
                  <a:pt x="114279" y="38097"/>
                </a:moveTo>
                <a:cubicBezTo>
                  <a:pt x="142333" y="38097"/>
                  <a:pt x="165074" y="60840"/>
                  <a:pt x="165074" y="88892"/>
                </a:cubicBezTo>
                <a:cubicBezTo>
                  <a:pt x="165074" y="116947"/>
                  <a:pt x="142333" y="139687"/>
                  <a:pt x="114279" y="139687"/>
                </a:cubicBezTo>
                <a:cubicBezTo>
                  <a:pt x="86226" y="139687"/>
                  <a:pt x="63485" y="116945"/>
                  <a:pt x="63485" y="88892"/>
                </a:cubicBezTo>
                <a:cubicBezTo>
                  <a:pt x="63485" y="60838"/>
                  <a:pt x="86226" y="38097"/>
                  <a:pt x="114279" y="38097"/>
                </a:cubicBezTo>
                <a:lnTo>
                  <a:pt x="114279" y="38097"/>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3365503"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6223009"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8" name="Text 6"/>
          <p:cNvSpPr/>
          <p:nvPr/>
        </p:nvSpPr>
        <p:spPr>
          <a:xfrm>
            <a:off x="9080515" y="1816944"/>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507997" y="1817222"/>
            <a:ext cx="2603488" cy="4185154"/>
          </a:xfrm>
          <a:custGeom>
            <a:avLst/>
            <a:gdLst/>
            <a:ahLst/>
            <a:cxnLst/>
            <a:rect l="l" t="t" r="r" b="b"/>
            <a:pathLst>
              <a:path w="2603488" h="4185154">
                <a:moveTo>
                  <a:pt x="92372" y="4185154"/>
                </a:moveTo>
                <a:cubicBezTo>
                  <a:pt x="41343" y="4185154"/>
                  <a:pt x="0" y="4143805"/>
                  <a:pt x="0" y="4092788"/>
                </a:cubicBezTo>
                <a:lnTo>
                  <a:pt x="0" y="92366"/>
                </a:lnTo>
                <a:cubicBezTo>
                  <a:pt x="0" y="41349"/>
                  <a:pt x="41343" y="0"/>
                  <a:pt x="92372" y="0"/>
                </a:cubicBezTo>
                <a:lnTo>
                  <a:pt x="2511116" y="0"/>
                </a:lnTo>
                <a:cubicBezTo>
                  <a:pt x="2562145" y="0"/>
                  <a:pt x="2603488" y="41349"/>
                  <a:pt x="2603488" y="92366"/>
                </a:cubicBezTo>
                <a:lnTo>
                  <a:pt x="2603488" y="4092788"/>
                </a:lnTo>
                <a:cubicBezTo>
                  <a:pt x="2603488" y="4143805"/>
                  <a:pt x="2562145" y="4185154"/>
                  <a:pt x="2511116" y="4185154"/>
                </a:cubicBezTo>
                <a:lnTo>
                  <a:pt x="92372" y="4185154"/>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637898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ph type="title"/>
          </p:nvPr>
        </p:nvSpPr>
        <p:spPr>
          <a:xfrm>
            <a:off x="637898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03</a:t>
            </a:r>
            <a:endParaRPr lang="en-US" sz="1500" dirty="0"/>
          </a:p>
        </p:txBody>
      </p:sp>
      <p:sp>
        <p:nvSpPr>
          <p:cNvPr id="12" name="Text 10"/>
          <p:cNvSpPr/>
          <p:nvPr/>
        </p:nvSpPr>
        <p:spPr>
          <a:xfrm>
            <a:off x="352150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352150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02</a:t>
            </a:r>
            <a:endParaRPr lang="en-US" sz="1500" dirty="0"/>
          </a:p>
        </p:txBody>
      </p:sp>
      <p:sp>
        <p:nvSpPr>
          <p:cNvPr id="14" name="Text 12"/>
          <p:cNvSpPr/>
          <p:nvPr/>
        </p:nvSpPr>
        <p:spPr>
          <a:xfrm>
            <a:off x="664016"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64016"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01</a:t>
            </a:r>
            <a:endParaRPr lang="en-US" sz="1500" dirty="0"/>
          </a:p>
        </p:txBody>
      </p:sp>
      <p:sp>
        <p:nvSpPr>
          <p:cNvPr id="16" name="Text 14"/>
          <p:cNvSpPr/>
          <p:nvPr/>
        </p:nvSpPr>
        <p:spPr>
          <a:xfrm>
            <a:off x="9236471" y="1588344"/>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9236471" y="1588344"/>
            <a:ext cx="457200" cy="457200"/>
          </a:xfrm>
          <a:prstGeom prst="rect">
            <a:avLst/>
          </a:prstGeom>
          <a:noFill/>
          <a:ln/>
        </p:spPr>
        <p:txBody>
          <a:bodyPr wrap="square" lIns="0" tIns="0" rIns="0" bIns="0" rtlCol="0" anchor="ctr"/>
          <a:lstStyle/>
          <a:p>
            <a:pPr algn="ctr" marL="0" indent="0">
              <a:lnSpc>
                <a:spcPct val="100000"/>
              </a:lnSpc>
              <a:spcAft>
                <a:spcPts val="1000"/>
              </a:spcAft>
              <a:buNone/>
            </a:pPr>
            <a:r>
              <a:rPr lang="en-US" sz="1500" dirty="0">
                <a:solidFill>
                  <a:srgbClr val="FFFFFF"/>
                </a:solidFill>
                <a:latin typeface="Figtree Regular" pitchFamily="34" charset="0"/>
                <a:ea typeface="Figtree Regular" pitchFamily="34" charset="-122"/>
                <a:cs typeface="Figtree Regular" pitchFamily="34" charset="-120"/>
              </a:rPr>
              <a:t>04</a:t>
            </a:r>
            <a:endParaRPr lang="en-US" sz="1500" dirty="0"/>
          </a:p>
        </p:txBody>
      </p:sp>
      <p:sp>
        <p:nvSpPr>
          <p:cNvPr id="18" name="Text 16"/>
          <p:cNvSpPr/>
          <p:nvPr/>
        </p:nvSpPr>
        <p:spPr>
          <a:xfrm>
            <a:off x="507998" y="1448058"/>
            <a:ext cx="11064240" cy="91440"/>
          </a:xfrm>
          <a:custGeom>
            <a:avLst/>
            <a:gdLst/>
            <a:ahLst/>
            <a:cxnLst/>
            <a:rect l="l" t="t" r="r" b="b"/>
            <a:pathLst>
              <a:path w="11064240" h="91440">
                <a:moveTo>
                  <a:pt x="45695" y="91440"/>
                </a:moveTo>
                <a:cubicBezTo>
                  <a:pt x="20469" y="91440"/>
                  <a:pt x="0" y="70970"/>
                  <a:pt x="0" y="45720"/>
                </a:cubicBezTo>
                <a:lnTo>
                  <a:pt x="0" y="45720"/>
                </a:lnTo>
                <a:cubicBezTo>
                  <a:pt x="0" y="20470"/>
                  <a:pt x="20469" y="0"/>
                  <a:pt x="45695" y="0"/>
                </a:cubicBezTo>
                <a:lnTo>
                  <a:pt x="11018545" y="0"/>
                </a:lnTo>
                <a:cubicBezTo>
                  <a:pt x="11043771" y="0"/>
                  <a:pt x="11064240" y="20470"/>
                  <a:pt x="11064240" y="45720"/>
                </a:cubicBezTo>
                <a:lnTo>
                  <a:pt x="11064240" y="45720"/>
                </a:lnTo>
                <a:cubicBezTo>
                  <a:pt x="11064240" y="70970"/>
                  <a:pt x="11043771" y="91440"/>
                  <a:pt x="11018545" y="91440"/>
                </a:cubicBezTo>
                <a:lnTo>
                  <a:pt x="45695" y="91440"/>
                </a:lnTo>
              </a:path>
            </a:pathLst>
          </a:custGeom>
          <a:solidFill>
            <a:srgbClr val="000000"/>
          </a:solidFill>
          <a:ln/>
        </p:spPr>
        <p:txBody>
          <a:bodyPr wrap="square" lIns="0" tIns="0" rIns="0" bIns="0" rtlCol="0" anchor="ctr"/>
          <a:lstStyle/>
          <a:p>
            <a:pPr indent="0" marL="0">
              <a:buNone/>
            </a:pPr>
            <a:endParaRPr lang="en-US" dirty="0"/>
          </a:p>
        </p:txBody>
      </p:sp>
      <p:sp>
        <p:nvSpPr>
          <p:cNvPr id="19" name="Text 17"/>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0" name="Text 18"/>
          <p:cNvSpPr/>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Helping Humans Trust Appropriately</a:t>
            </a:r>
            <a:endParaRPr lang="en-US" sz="2800" dirty="0"/>
          </a:p>
        </p:txBody>
      </p:sp>
      <p:sp>
        <p:nvSpPr>
          <p:cNvPr id="21" name="Text 1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22" name="Text 20"/>
          <p:cNvSpPr/>
          <p:nvPr/>
        </p:nvSpPr>
        <p:spPr>
          <a:xfrm>
            <a:off x="9236471" y="2739430"/>
            <a:ext cx="2286000"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Building calibrated trust requires organizational commitment to transparency and open communication about AI capabilities and limitations. Encouraging collaboration and continuous learning helps analysts align trust with AI performance. A positive culture balances reliance on AI with critical human judgment for optimal decision making.</a:t>
            </a:r>
            <a:endParaRPr lang="en-US" sz="1402" dirty="0"/>
          </a:p>
        </p:txBody>
      </p:sp>
      <p:sp>
        <p:nvSpPr>
          <p:cNvPr id="23" name="Text 21"/>
          <p:cNvSpPr/>
          <p:nvPr/>
        </p:nvSpPr>
        <p:spPr>
          <a:xfrm>
            <a:off x="9237136" y="2195873"/>
            <a:ext cx="2286000"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Cultural Factors</a:t>
            </a:r>
            <a:endParaRPr lang="en-US" sz="1933" dirty="0"/>
          </a:p>
        </p:txBody>
      </p:sp>
      <p:sp>
        <p:nvSpPr>
          <p:cNvPr id="24" name="Text 22"/>
          <p:cNvSpPr/>
          <p:nvPr/>
        </p:nvSpPr>
        <p:spPr>
          <a:xfrm>
            <a:off x="6383169" y="2739430"/>
            <a:ext cx="2286000"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Creating a culture where questioning AI is encouraged without fear of reprisal is vital. Analysts should feel safe to override AI when appropriate, recognizing these moments as learning opportunities. Avoid blaming either humans or AI exclusively to foster partnership rather than competition between them.</a:t>
            </a:r>
            <a:endParaRPr lang="en-US" sz="1402" dirty="0"/>
          </a:p>
        </p:txBody>
      </p:sp>
      <p:sp>
        <p:nvSpPr>
          <p:cNvPr id="25" name="Text 23"/>
          <p:cNvSpPr/>
          <p:nvPr/>
        </p:nvSpPr>
        <p:spPr>
          <a:xfrm>
            <a:off x="6383834" y="2195873"/>
            <a:ext cx="2286000"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Psychological Safety</a:t>
            </a:r>
            <a:endParaRPr lang="en-US" sz="1933" dirty="0"/>
          </a:p>
        </p:txBody>
      </p:sp>
      <p:sp>
        <p:nvSpPr>
          <p:cNvPr id="26" name="Text 24"/>
          <p:cNvSpPr/>
          <p:nvPr/>
        </p:nvSpPr>
        <p:spPr>
          <a:xfrm>
            <a:off x="3525684" y="2739430"/>
            <a:ext cx="2286000"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Introducing AI as a recommendation engine at first helps build trust without overwhelming users. Autonomy can increase as analysts gain confidence based on demonstrated AI accuracy. Customization options allow analysts to adapt AI behavior to their workflows. Celebrating AI successes and learning collectively from failures reinforces collaboration.</a:t>
            </a:r>
            <a:endParaRPr lang="en-US" sz="1402" dirty="0"/>
          </a:p>
        </p:txBody>
      </p:sp>
      <p:sp>
        <p:nvSpPr>
          <p:cNvPr id="27" name="Text 25"/>
          <p:cNvSpPr/>
          <p:nvPr/>
        </p:nvSpPr>
        <p:spPr>
          <a:xfrm>
            <a:off x="3526349" y="2195873"/>
            <a:ext cx="2286000"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Gradual Exposure</a:t>
            </a:r>
            <a:endParaRPr lang="en-US" sz="1933" dirty="0"/>
          </a:p>
        </p:txBody>
      </p:sp>
      <p:sp>
        <p:nvSpPr>
          <p:cNvPr id="28" name="Text 26"/>
          <p:cNvSpPr/>
          <p:nvPr/>
        </p:nvSpPr>
        <p:spPr>
          <a:xfrm>
            <a:off x="668199" y="2739430"/>
            <a:ext cx="2283878" cy="3108960"/>
          </a:xfrm>
          <a:prstGeom prst="rect">
            <a:avLst/>
          </a:prstGeom>
          <a:noFill/>
          <a:ln/>
        </p:spPr>
        <p:txBody>
          <a:bodyPr wrap="square" lIns="0" tIns="0" rIns="0" bIns="0" rtlCol="0" anchor="t"/>
          <a:lstStyle/>
          <a:p>
            <a:pPr algn="l" marL="0" indent="0">
              <a:lnSpc>
                <a:spcPct val="100000"/>
              </a:lnSpc>
              <a:spcBef>
                <a:spcPts val="1275"/>
              </a:spcBef>
              <a:buNone/>
            </a:pPr>
            <a:r>
              <a:rPr lang="en-US" sz="1402" dirty="0">
                <a:solidFill>
                  <a:srgbClr val="FFFFFF"/>
                </a:solidFill>
                <a:latin typeface="Figtree Regular" pitchFamily="34" charset="0"/>
                <a:ea typeface="Figtree Regular" pitchFamily="34" charset="-122"/>
                <a:cs typeface="Figtree Regular" pitchFamily="34" charset="-120"/>
              </a:rPr>
              <a:t>Training analysts on how the AI works is essential, moving beyond black box perceptions to understandable principles. Clear guidance helps them know when to trust AI outputs and when to override them. Case studies of successes and failures along with hands-on experience foster practical understanding before high-stakes deployment.</a:t>
            </a:r>
            <a:endParaRPr lang="en-US" sz="1402" dirty="0"/>
          </a:p>
        </p:txBody>
      </p:sp>
      <p:sp>
        <p:nvSpPr>
          <p:cNvPr id="29" name="Text 27"/>
          <p:cNvSpPr/>
          <p:nvPr/>
        </p:nvSpPr>
        <p:spPr>
          <a:xfrm>
            <a:off x="668864" y="2195873"/>
            <a:ext cx="2283878" cy="426159"/>
          </a:xfrm>
          <a:prstGeom prst="rect">
            <a:avLst/>
          </a:prstGeom>
          <a:noFill/>
          <a:ln/>
        </p:spPr>
        <p:txBody>
          <a:bodyPr wrap="square" lIns="0" tIns="0" rIns="0" bIns="0" rtlCol="0" anchor="t"/>
          <a:lstStyle/>
          <a:p>
            <a:pPr algn="l" marL="0" indent="0">
              <a:lnSpc>
                <a:spcPct val="90000"/>
              </a:lnSpc>
              <a:buNone/>
            </a:pPr>
            <a:r>
              <a:rPr lang="en-US" sz="1933" dirty="0">
                <a:solidFill>
                  <a:srgbClr val="FFFFFF"/>
                </a:solidFill>
                <a:latin typeface="Figtree Regular" pitchFamily="34" charset="0"/>
                <a:ea typeface="Figtree Regular" pitchFamily="34" charset="-122"/>
                <a:cs typeface="Figtree Regular" pitchFamily="34" charset="-120"/>
              </a:rPr>
              <a:t>Education</a:t>
            </a:r>
            <a:endParaRPr lang="en-US" sz="1933"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1537141"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5" name="Text 3"/>
          <p:cNvSpPr/>
          <p:nvPr/>
        </p:nvSpPr>
        <p:spPr>
          <a:xfrm>
            <a:off x="3651933"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6" name="Text 4"/>
          <p:cNvSpPr/>
          <p:nvPr/>
        </p:nvSpPr>
        <p:spPr>
          <a:xfrm>
            <a:off x="5766724"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7" name="Text 5"/>
          <p:cNvSpPr/>
          <p:nvPr/>
        </p:nvSpPr>
        <p:spPr>
          <a:xfrm>
            <a:off x="7881515"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8" name="Text 6"/>
          <p:cNvSpPr/>
          <p:nvPr/>
        </p:nvSpPr>
        <p:spPr>
          <a:xfrm>
            <a:off x="9996307" y="3596990"/>
            <a:ext cx="640080" cy="640080"/>
          </a:xfrm>
          <a:custGeom>
            <a:avLst/>
            <a:gdLst/>
            <a:ahLst/>
            <a:cxnLst/>
            <a:rect l="l" t="t" r="r" b="b"/>
            <a:pathLst>
              <a:path w="640080" h="640080">
                <a:moveTo>
                  <a:pt x="0" y="320040"/>
                </a:moveTo>
                <a:cubicBezTo>
                  <a:pt x="0" y="143288"/>
                  <a:pt x="143288" y="0"/>
                  <a:pt x="320040" y="0"/>
                </a:cubicBezTo>
                <a:cubicBezTo>
                  <a:pt x="496792" y="0"/>
                  <a:pt x="640080" y="143288"/>
                  <a:pt x="640080" y="320040"/>
                </a:cubicBezTo>
                <a:cubicBezTo>
                  <a:pt x="640080" y="496792"/>
                  <a:pt x="496792" y="640080"/>
                  <a:pt x="320040" y="640080"/>
                </a:cubicBezTo>
                <a:cubicBezTo>
                  <a:pt x="143288" y="640080"/>
                  <a:pt x="0" y="496792"/>
                  <a:pt x="0" y="320040"/>
                </a:cubicBezTo>
              </a:path>
            </a:pathLst>
          </a:custGeom>
          <a:solidFill>
            <a:srgbClr val="156082"/>
          </a:solidFill>
          <a:ln w="38100">
            <a:solidFill>
              <a:srgbClr val="104862"/>
            </a:solidFill>
          </a:ln>
        </p:spPr>
        <p:txBody>
          <a:bodyPr wrap="square" lIns="0" tIns="0" rIns="0" bIns="0" rtlCol="0" anchor="ctr"/>
          <a:lstStyle/>
          <a:p>
            <a:pPr indent="0" marL="0">
              <a:buNone/>
            </a:pPr>
            <a:endParaRPr lang="en-US" dirty="0"/>
          </a:p>
        </p:txBody>
      </p:sp>
      <p:sp>
        <p:nvSpPr>
          <p:cNvPr id="9" name="Text 7"/>
          <p:cNvSpPr/>
          <p:nvPr/>
        </p:nvSpPr>
        <p:spPr>
          <a:xfrm>
            <a:off x="1875748" y="3327762"/>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0" name="Text 8"/>
          <p:cNvSpPr/>
          <p:nvPr/>
        </p:nvSpPr>
        <p:spPr>
          <a:xfrm>
            <a:off x="6096000" y="3327762"/>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10325583" y="3327762"/>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3981209" y="4246666"/>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3" name="Text 11"/>
          <p:cNvSpPr/>
          <p:nvPr/>
        </p:nvSpPr>
        <p:spPr>
          <a:xfrm>
            <a:off x="8210791" y="4246666"/>
            <a:ext cx="9525" cy="267604"/>
          </a:xfrm>
          <a:custGeom>
            <a:avLst/>
            <a:gdLst/>
            <a:ahLst/>
            <a:cxnLst/>
            <a:rect l="l" t="t" r="r" b="b"/>
            <a:pathLst>
              <a:path w="9525" h="267604">
                <a:moveTo>
                  <a:pt x="0" y="267604"/>
                </a:moveTo>
                <a:lnTo>
                  <a:pt x="9525" y="0"/>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4" name="Text 12"/>
          <p:cNvSpPr/>
          <p:nvPr/>
        </p:nvSpPr>
        <p:spPr>
          <a:xfrm>
            <a:off x="2177221" y="3917030"/>
            <a:ext cx="1474712" cy="9525"/>
          </a:xfrm>
          <a:custGeom>
            <a:avLst/>
            <a:gdLst/>
            <a:ahLst/>
            <a:cxnLst/>
            <a:rect l="l" t="t" r="r" b="b"/>
            <a:pathLst>
              <a:path w="1474712" h="9525">
                <a:moveTo>
                  <a:pt x="0" y="0"/>
                </a:moveTo>
                <a:lnTo>
                  <a:pt x="1474712"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4292013" y="3917030"/>
            <a:ext cx="1474711" cy="9525"/>
          </a:xfrm>
          <a:custGeom>
            <a:avLst/>
            <a:gdLst/>
            <a:ahLst/>
            <a:cxnLst/>
            <a:rect l="l" t="t" r="r" b="b"/>
            <a:pathLst>
              <a:path w="1474711" h="9525">
                <a:moveTo>
                  <a:pt x="0" y="0"/>
                </a:moveTo>
                <a:lnTo>
                  <a:pt x="1474711"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406804" y="3917030"/>
            <a:ext cx="1474711" cy="9525"/>
          </a:xfrm>
          <a:custGeom>
            <a:avLst/>
            <a:gdLst/>
            <a:ahLst/>
            <a:cxnLst/>
            <a:rect l="l" t="t" r="r" b="b"/>
            <a:pathLst>
              <a:path w="1474711" h="9525">
                <a:moveTo>
                  <a:pt x="0" y="0"/>
                </a:moveTo>
                <a:lnTo>
                  <a:pt x="1474711"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7" name="Text 15"/>
          <p:cNvSpPr/>
          <p:nvPr/>
        </p:nvSpPr>
        <p:spPr>
          <a:xfrm>
            <a:off x="8521595" y="3917030"/>
            <a:ext cx="1474712" cy="9525"/>
          </a:xfrm>
          <a:custGeom>
            <a:avLst/>
            <a:gdLst/>
            <a:ahLst/>
            <a:cxnLst/>
            <a:rect l="l" t="t" r="r" b="b"/>
            <a:pathLst>
              <a:path w="1474712" h="9525">
                <a:moveTo>
                  <a:pt x="0" y="0"/>
                </a:moveTo>
                <a:lnTo>
                  <a:pt x="1474712" y="9525"/>
                </a:lnTo>
              </a:path>
            </a:pathLst>
          </a:custGeom>
          <a:noFill/>
          <a:ln w="38100">
            <a:solidFill>
              <a:srgbClr val="104862"/>
            </a:solidFill>
          </a:ln>
        </p:spPr>
        <p:txBody>
          <a:bodyPr wrap="square" lIns="0" tIns="0" rIns="0" bIns="0" rtlCol="0" anchor="ctr"/>
          <a:lstStyle/>
          <a:p>
            <a:pPr indent="0" marL="0">
              <a:buNone/>
            </a:pPr>
            <a:endParaRPr lang="en-US" dirty="0"/>
          </a:p>
        </p:txBody>
      </p:sp>
      <p:sp>
        <p:nvSpPr>
          <p:cNvPr id="18" name="Text 16"/>
          <p:cNvSpPr/>
          <p:nvPr/>
        </p:nvSpPr>
        <p:spPr>
          <a:xfrm>
            <a:off x="1809142" y="3326138"/>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19" name="Text 17"/>
          <p:cNvSpPr/>
          <p:nvPr/>
        </p:nvSpPr>
        <p:spPr>
          <a:xfrm>
            <a:off x="6038166" y="3326138"/>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0" name="Text 18"/>
          <p:cNvSpPr/>
          <p:nvPr/>
        </p:nvSpPr>
        <p:spPr>
          <a:xfrm>
            <a:off x="10257003" y="3326138"/>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1" name="Text 19"/>
          <p:cNvSpPr/>
          <p:nvPr/>
        </p:nvSpPr>
        <p:spPr>
          <a:xfrm>
            <a:off x="8142211" y="4455286"/>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2" name="Text 20"/>
          <p:cNvSpPr/>
          <p:nvPr/>
        </p:nvSpPr>
        <p:spPr>
          <a:xfrm>
            <a:off x="3912629" y="4455286"/>
            <a:ext cx="137160" cy="137160"/>
          </a:xfrm>
          <a:custGeom>
            <a:avLst/>
            <a:gdLst/>
            <a:ahLst/>
            <a:cxnLst/>
            <a:rect l="l" t="t" r="r" b="b"/>
            <a:pathLst>
              <a:path w="137160" h="137160">
                <a:moveTo>
                  <a:pt x="0" y="68580"/>
                </a:moveTo>
                <a:cubicBezTo>
                  <a:pt x="0" y="30705"/>
                  <a:pt x="30705" y="0"/>
                  <a:pt x="68580" y="0"/>
                </a:cubicBezTo>
                <a:cubicBezTo>
                  <a:pt x="106455" y="0"/>
                  <a:pt x="137160" y="30705"/>
                  <a:pt x="137160" y="68580"/>
                </a:cubicBezTo>
                <a:cubicBezTo>
                  <a:pt x="137160" y="106455"/>
                  <a:pt x="106455" y="137160"/>
                  <a:pt x="68580" y="137160"/>
                </a:cubicBezTo>
                <a:cubicBezTo>
                  <a:pt x="30705" y="137160"/>
                  <a:pt x="0" y="106455"/>
                  <a:pt x="0" y="68580"/>
                </a:cubicBezTo>
              </a:path>
            </a:pathLst>
          </a:custGeom>
          <a:solidFill>
            <a:srgbClr val="135675"/>
          </a:solidFill>
          <a:ln w="9525">
            <a:solidFill>
              <a:srgbClr val="104862"/>
            </a:solidFill>
          </a:ln>
        </p:spPr>
        <p:txBody>
          <a:bodyPr wrap="square" lIns="0" tIns="0" rIns="0" bIns="0" rtlCol="0" anchor="ctr"/>
          <a:lstStyle/>
          <a:p>
            <a:pPr indent="0" marL="0">
              <a:buNone/>
            </a:pPr>
            <a:endParaRPr lang="en-US" dirty="0"/>
          </a:p>
        </p:txBody>
      </p:sp>
      <p:sp>
        <p:nvSpPr>
          <p:cNvPr id="23" name="Text 21"/>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24" name="Text 22"/>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25" name="Text 23"/>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26" name="Text 24"/>
          <p:cNvSpPr/>
          <p:nvPr/>
        </p:nvSpPr>
        <p:spPr>
          <a:xfrm>
            <a:off x="10145583" y="3790789"/>
            <a:ext cx="360000" cy="250739"/>
          </a:xfrm>
          <a:custGeom>
            <a:avLst/>
            <a:gdLst/>
            <a:ahLst/>
            <a:cxnLst/>
            <a:rect l="l" t="t" r="r" b="b"/>
            <a:pathLst>
              <a:path w="360000" h="250739">
                <a:moveTo>
                  <a:pt x="354337" y="5664"/>
                </a:moveTo>
                <a:cubicBezTo>
                  <a:pt x="361890" y="13217"/>
                  <a:pt x="361890" y="25427"/>
                  <a:pt x="354337" y="32899"/>
                </a:cubicBezTo>
                <a:lnTo>
                  <a:pt x="142243" y="245075"/>
                </a:lnTo>
                <a:cubicBezTo>
                  <a:pt x="134690" y="252627"/>
                  <a:pt x="122479" y="252627"/>
                  <a:pt x="115009" y="245075"/>
                </a:cubicBezTo>
                <a:lnTo>
                  <a:pt x="5666" y="135813"/>
                </a:lnTo>
                <a:cubicBezTo>
                  <a:pt x="-1886" y="128260"/>
                  <a:pt x="-1886" y="116049"/>
                  <a:pt x="5666" y="108577"/>
                </a:cubicBezTo>
                <a:cubicBezTo>
                  <a:pt x="13219" y="101105"/>
                  <a:pt x="25430" y="101025"/>
                  <a:pt x="32900" y="108577"/>
                </a:cubicBezTo>
                <a:lnTo>
                  <a:pt x="128506" y="204182"/>
                </a:lnTo>
                <a:lnTo>
                  <a:pt x="327024" y="5664"/>
                </a:lnTo>
                <a:cubicBezTo>
                  <a:pt x="334577" y="-1888"/>
                  <a:pt x="346788" y="-1888"/>
                  <a:pt x="354258" y="5664"/>
                </a:cubicBezTo>
                <a:lnTo>
                  <a:pt x="354337" y="5664"/>
                </a:lnTo>
              </a:path>
            </a:pathLst>
          </a:custGeom>
          <a:solidFill>
            <a:srgbClr val="FFFFFF"/>
          </a:solidFill>
          <a:ln/>
        </p:spPr>
        <p:txBody>
          <a:bodyPr wrap="square" lIns="0" tIns="0" rIns="0" bIns="0" rtlCol="0" anchor="ctr"/>
          <a:lstStyle/>
          <a:p>
            <a:pPr indent="0" marL="0">
              <a:buNone/>
            </a:pPr>
            <a:endParaRPr lang="en-US" dirty="0"/>
          </a:p>
        </p:txBody>
      </p:sp>
      <p:sp>
        <p:nvSpPr>
          <p:cNvPr id="27" name="Text 25"/>
          <p:cNvSpPr/>
          <p:nvPr/>
        </p:nvSpPr>
        <p:spPr>
          <a:xfrm>
            <a:off x="8030791" y="3736158"/>
            <a:ext cx="360000" cy="360000"/>
          </a:xfrm>
          <a:custGeom>
            <a:avLst/>
            <a:gdLst/>
            <a:ahLst/>
            <a:cxnLst/>
            <a:rect l="l" t="t" r="r" b="b"/>
            <a:pathLst>
              <a:path w="360000" h="360000">
                <a:moveTo>
                  <a:pt x="226616" y="188438"/>
                </a:moveTo>
                <a:cubicBezTo>
                  <a:pt x="233226" y="190267"/>
                  <a:pt x="240188" y="191250"/>
                  <a:pt x="247500" y="191250"/>
                </a:cubicBezTo>
                <a:cubicBezTo>
                  <a:pt x="290038" y="191250"/>
                  <a:pt x="324702" y="157500"/>
                  <a:pt x="326178" y="115312"/>
                </a:cubicBezTo>
                <a:lnTo>
                  <a:pt x="308390" y="133099"/>
                </a:lnTo>
                <a:cubicBezTo>
                  <a:pt x="299952" y="141537"/>
                  <a:pt x="288493" y="146246"/>
                  <a:pt x="276538" y="146246"/>
                </a:cubicBezTo>
                <a:lnTo>
                  <a:pt x="258750" y="146246"/>
                </a:lnTo>
                <a:cubicBezTo>
                  <a:pt x="233928" y="146246"/>
                  <a:pt x="213750" y="126068"/>
                  <a:pt x="213750" y="101246"/>
                </a:cubicBezTo>
                <a:lnTo>
                  <a:pt x="213750" y="83387"/>
                </a:lnTo>
                <a:cubicBezTo>
                  <a:pt x="213750" y="71435"/>
                  <a:pt x="218462" y="59972"/>
                  <a:pt x="226897" y="51534"/>
                </a:cubicBezTo>
                <a:lnTo>
                  <a:pt x="226897" y="51534"/>
                </a:lnTo>
                <a:lnTo>
                  <a:pt x="244685" y="33815"/>
                </a:lnTo>
                <a:cubicBezTo>
                  <a:pt x="202496" y="35222"/>
                  <a:pt x="168746" y="69955"/>
                  <a:pt x="168746" y="112493"/>
                </a:cubicBezTo>
                <a:cubicBezTo>
                  <a:pt x="168746" y="119736"/>
                  <a:pt x="169729" y="126767"/>
                  <a:pt x="171558" y="133376"/>
                </a:cubicBezTo>
                <a:cubicBezTo>
                  <a:pt x="174791" y="145047"/>
                  <a:pt x="171418" y="157565"/>
                  <a:pt x="162839" y="166144"/>
                </a:cubicBezTo>
                <a:lnTo>
                  <a:pt x="40143" y="288770"/>
                </a:lnTo>
                <a:cubicBezTo>
                  <a:pt x="35996" y="292849"/>
                  <a:pt x="33746" y="298472"/>
                  <a:pt x="33746" y="304308"/>
                </a:cubicBezTo>
                <a:cubicBezTo>
                  <a:pt x="33746" y="316400"/>
                  <a:pt x="43589" y="326246"/>
                  <a:pt x="55685" y="326246"/>
                </a:cubicBezTo>
                <a:cubicBezTo>
                  <a:pt x="61520" y="326246"/>
                  <a:pt x="67075" y="323924"/>
                  <a:pt x="71222" y="319849"/>
                </a:cubicBezTo>
                <a:lnTo>
                  <a:pt x="193845" y="197154"/>
                </a:lnTo>
                <a:cubicBezTo>
                  <a:pt x="202424" y="188575"/>
                  <a:pt x="214938" y="185270"/>
                  <a:pt x="226613" y="188435"/>
                </a:cubicBezTo>
                <a:lnTo>
                  <a:pt x="226616" y="188438"/>
                </a:lnTo>
                <a:moveTo>
                  <a:pt x="298548" y="27702"/>
                </a:moveTo>
                <a:lnTo>
                  <a:pt x="250805" y="75445"/>
                </a:lnTo>
                <a:cubicBezTo>
                  <a:pt x="248695" y="77555"/>
                  <a:pt x="247500" y="80438"/>
                  <a:pt x="247500" y="83390"/>
                </a:cubicBezTo>
                <a:lnTo>
                  <a:pt x="247500" y="101250"/>
                </a:lnTo>
                <a:cubicBezTo>
                  <a:pt x="247500" y="107438"/>
                  <a:pt x="252562" y="112500"/>
                  <a:pt x="258750" y="112500"/>
                </a:cubicBezTo>
                <a:lnTo>
                  <a:pt x="276610" y="112500"/>
                </a:lnTo>
                <a:cubicBezTo>
                  <a:pt x="279562" y="112500"/>
                  <a:pt x="282445" y="111305"/>
                  <a:pt x="284555" y="109195"/>
                </a:cubicBezTo>
                <a:lnTo>
                  <a:pt x="332298" y="61452"/>
                </a:lnTo>
                <a:cubicBezTo>
                  <a:pt x="337359" y="56390"/>
                  <a:pt x="345870" y="57305"/>
                  <a:pt x="348962" y="63774"/>
                </a:cubicBezTo>
                <a:cubicBezTo>
                  <a:pt x="356065" y="78541"/>
                  <a:pt x="360000" y="95062"/>
                  <a:pt x="360000" y="112500"/>
                </a:cubicBezTo>
                <a:cubicBezTo>
                  <a:pt x="360000" y="174658"/>
                  <a:pt x="309657" y="225000"/>
                  <a:pt x="247500" y="225000"/>
                </a:cubicBezTo>
                <a:cubicBezTo>
                  <a:pt x="237164" y="225000"/>
                  <a:pt x="227178" y="223592"/>
                  <a:pt x="217757" y="220993"/>
                </a:cubicBezTo>
                <a:lnTo>
                  <a:pt x="95061" y="343688"/>
                </a:lnTo>
                <a:cubicBezTo>
                  <a:pt x="84585" y="354164"/>
                  <a:pt x="70452" y="360000"/>
                  <a:pt x="55688" y="360000"/>
                </a:cubicBezTo>
                <a:cubicBezTo>
                  <a:pt x="24962" y="360000"/>
                  <a:pt x="0" y="335038"/>
                  <a:pt x="0" y="304312"/>
                </a:cubicBezTo>
                <a:cubicBezTo>
                  <a:pt x="0" y="289544"/>
                  <a:pt x="5835" y="275414"/>
                  <a:pt x="16311" y="264938"/>
                </a:cubicBezTo>
                <a:lnTo>
                  <a:pt x="139007" y="142243"/>
                </a:lnTo>
                <a:cubicBezTo>
                  <a:pt x="136404" y="132822"/>
                  <a:pt x="135000" y="122836"/>
                  <a:pt x="135000" y="112500"/>
                </a:cubicBezTo>
                <a:cubicBezTo>
                  <a:pt x="135000" y="50342"/>
                  <a:pt x="185342" y="0"/>
                  <a:pt x="247500" y="0"/>
                </a:cubicBezTo>
                <a:cubicBezTo>
                  <a:pt x="264938" y="0"/>
                  <a:pt x="281462" y="4007"/>
                  <a:pt x="296226" y="11037"/>
                </a:cubicBezTo>
                <a:cubicBezTo>
                  <a:pt x="302695" y="14130"/>
                  <a:pt x="303609" y="22640"/>
                  <a:pt x="298548" y="27702"/>
                </a:cubicBezTo>
                <a:lnTo>
                  <a:pt x="298548" y="27702"/>
                </a:lnTo>
                <a:moveTo>
                  <a:pt x="61877" y="286877"/>
                </a:moveTo>
                <a:cubicBezTo>
                  <a:pt x="68090" y="286877"/>
                  <a:pt x="73127" y="291913"/>
                  <a:pt x="73127" y="298127"/>
                </a:cubicBezTo>
                <a:cubicBezTo>
                  <a:pt x="73127" y="304340"/>
                  <a:pt x="68090" y="309377"/>
                  <a:pt x="61877" y="309377"/>
                </a:cubicBezTo>
                <a:cubicBezTo>
                  <a:pt x="55663" y="309377"/>
                  <a:pt x="50627" y="304340"/>
                  <a:pt x="50627" y="298127"/>
                </a:cubicBezTo>
                <a:cubicBezTo>
                  <a:pt x="50627" y="291913"/>
                  <a:pt x="55663" y="286877"/>
                  <a:pt x="61877" y="286877"/>
                </a:cubicBezTo>
                <a:lnTo>
                  <a:pt x="61877" y="286877"/>
                </a:lnTo>
              </a:path>
            </a:pathLst>
          </a:custGeom>
          <a:solidFill>
            <a:srgbClr val="FFFFFF"/>
          </a:solidFill>
          <a:ln/>
        </p:spPr>
        <p:txBody>
          <a:bodyPr wrap="square" lIns="0" tIns="0" rIns="0" bIns="0" rtlCol="0" anchor="ctr"/>
          <a:lstStyle/>
          <a:p>
            <a:pPr indent="0" marL="0">
              <a:buNone/>
            </a:pPr>
            <a:endParaRPr lang="en-US" dirty="0"/>
          </a:p>
        </p:txBody>
      </p:sp>
      <p:sp>
        <p:nvSpPr>
          <p:cNvPr id="28" name="Text 26"/>
          <p:cNvSpPr/>
          <p:nvPr/>
        </p:nvSpPr>
        <p:spPr>
          <a:xfrm>
            <a:off x="5900760" y="3758663"/>
            <a:ext cx="360000" cy="314991"/>
          </a:xfrm>
          <a:custGeom>
            <a:avLst/>
            <a:gdLst/>
            <a:ahLst/>
            <a:cxnLst/>
            <a:rect l="l" t="t" r="r" b="b"/>
            <a:pathLst>
              <a:path w="360000" h="314991">
                <a:moveTo>
                  <a:pt x="86976" y="252569"/>
                </a:moveTo>
                <a:cubicBezTo>
                  <a:pt x="96044" y="245960"/>
                  <a:pt x="107784" y="244275"/>
                  <a:pt x="118328" y="248071"/>
                </a:cubicBezTo>
                <a:cubicBezTo>
                  <a:pt x="136955" y="254818"/>
                  <a:pt x="157835" y="258686"/>
                  <a:pt x="180047" y="258686"/>
                </a:cubicBezTo>
                <a:cubicBezTo>
                  <a:pt x="267703" y="258686"/>
                  <a:pt x="326261" y="202098"/>
                  <a:pt x="326261" y="146215"/>
                </a:cubicBezTo>
                <a:cubicBezTo>
                  <a:pt x="326261" y="90330"/>
                  <a:pt x="267707" y="33745"/>
                  <a:pt x="180047" y="33745"/>
                </a:cubicBezTo>
                <a:cubicBezTo>
                  <a:pt x="92390" y="33745"/>
                  <a:pt x="33833" y="90333"/>
                  <a:pt x="33833" y="146215"/>
                </a:cubicBezTo>
                <a:cubicBezTo>
                  <a:pt x="33833" y="168709"/>
                  <a:pt x="42548" y="190361"/>
                  <a:pt x="58928" y="208917"/>
                </a:cubicBezTo>
                <a:cubicBezTo>
                  <a:pt x="64973" y="215737"/>
                  <a:pt x="67925" y="224733"/>
                  <a:pt x="67223" y="233871"/>
                </a:cubicBezTo>
                <a:cubicBezTo>
                  <a:pt x="66240" y="246593"/>
                  <a:pt x="63216" y="258264"/>
                  <a:pt x="59281" y="268596"/>
                </a:cubicBezTo>
                <a:cubicBezTo>
                  <a:pt x="71230" y="263042"/>
                  <a:pt x="81144" y="256856"/>
                  <a:pt x="86976" y="252638"/>
                </a:cubicBezTo>
                <a:lnTo>
                  <a:pt x="86976" y="252569"/>
                </a:lnTo>
                <a:moveTo>
                  <a:pt x="14994" y="281107"/>
                </a:moveTo>
                <a:cubicBezTo>
                  <a:pt x="16258" y="279208"/>
                  <a:pt x="17453" y="277311"/>
                  <a:pt x="18580" y="275412"/>
                </a:cubicBezTo>
                <a:cubicBezTo>
                  <a:pt x="25610" y="263742"/>
                  <a:pt x="32288" y="248417"/>
                  <a:pt x="33624" y="231197"/>
                </a:cubicBezTo>
                <a:cubicBezTo>
                  <a:pt x="12535" y="207226"/>
                  <a:pt x="94" y="177913"/>
                  <a:pt x="94" y="146209"/>
                </a:cubicBezTo>
                <a:cubicBezTo>
                  <a:pt x="94" y="65439"/>
                  <a:pt x="80651" y="-3"/>
                  <a:pt x="180047" y="-3"/>
                </a:cubicBezTo>
                <a:cubicBezTo>
                  <a:pt x="279443" y="-3"/>
                  <a:pt x="360000" y="65443"/>
                  <a:pt x="360000" y="146209"/>
                </a:cubicBezTo>
                <a:cubicBezTo>
                  <a:pt x="360000" y="226979"/>
                  <a:pt x="279443" y="292422"/>
                  <a:pt x="180047" y="292422"/>
                </a:cubicBezTo>
                <a:cubicBezTo>
                  <a:pt x="153968" y="292422"/>
                  <a:pt x="129222" y="287923"/>
                  <a:pt x="106869" y="279838"/>
                </a:cubicBezTo>
                <a:cubicBezTo>
                  <a:pt x="98503" y="285955"/>
                  <a:pt x="84866" y="294318"/>
                  <a:pt x="68699" y="301348"/>
                </a:cubicBezTo>
                <a:cubicBezTo>
                  <a:pt x="58086" y="305988"/>
                  <a:pt x="45993" y="310206"/>
                  <a:pt x="33480" y="312666"/>
                </a:cubicBezTo>
                <a:cubicBezTo>
                  <a:pt x="32918" y="312808"/>
                  <a:pt x="32357" y="312877"/>
                  <a:pt x="31791" y="313019"/>
                </a:cubicBezTo>
                <a:cubicBezTo>
                  <a:pt x="28699" y="313583"/>
                  <a:pt x="25675" y="314074"/>
                  <a:pt x="22514" y="314354"/>
                </a:cubicBezTo>
                <a:cubicBezTo>
                  <a:pt x="22374" y="314354"/>
                  <a:pt x="22162" y="314424"/>
                  <a:pt x="22021" y="314424"/>
                </a:cubicBezTo>
                <a:cubicBezTo>
                  <a:pt x="18436" y="314776"/>
                  <a:pt x="14850" y="314988"/>
                  <a:pt x="11264" y="314988"/>
                </a:cubicBezTo>
                <a:cubicBezTo>
                  <a:pt x="6696" y="314988"/>
                  <a:pt x="2617" y="312247"/>
                  <a:pt x="860" y="308029"/>
                </a:cubicBezTo>
                <a:cubicBezTo>
                  <a:pt x="-896" y="303812"/>
                  <a:pt x="86" y="299030"/>
                  <a:pt x="3251" y="295798"/>
                </a:cubicBezTo>
                <a:cubicBezTo>
                  <a:pt x="6134" y="292847"/>
                  <a:pt x="8734" y="289681"/>
                  <a:pt x="11192" y="286308"/>
                </a:cubicBezTo>
                <a:cubicBezTo>
                  <a:pt x="12388" y="284692"/>
                  <a:pt x="13511" y="283073"/>
                  <a:pt x="14566" y="281457"/>
                </a:cubicBezTo>
                <a:lnTo>
                  <a:pt x="14778" y="281104"/>
                </a:lnTo>
                <a:lnTo>
                  <a:pt x="14994" y="281107"/>
                </a:lnTo>
              </a:path>
            </a:pathLst>
          </a:custGeom>
          <a:solidFill>
            <a:srgbClr val="FFFFFF"/>
          </a:solidFill>
          <a:ln/>
        </p:spPr>
        <p:txBody>
          <a:bodyPr wrap="square" lIns="0" tIns="0" rIns="0" bIns="0" rtlCol="0" anchor="ctr"/>
          <a:lstStyle/>
          <a:p>
            <a:pPr indent="0" marL="0">
              <a:buNone/>
            </a:pPr>
            <a:endParaRPr lang="en-US" dirty="0"/>
          </a:p>
        </p:txBody>
      </p:sp>
      <p:sp>
        <p:nvSpPr>
          <p:cNvPr id="29" name="Text 27"/>
          <p:cNvSpPr/>
          <p:nvPr/>
        </p:nvSpPr>
        <p:spPr>
          <a:xfrm>
            <a:off x="3801209" y="3736206"/>
            <a:ext cx="360000" cy="359903"/>
          </a:xfrm>
          <a:custGeom>
            <a:avLst/>
            <a:gdLst/>
            <a:ahLst/>
            <a:cxnLst/>
            <a:rect l="l" t="t" r="r" b="b"/>
            <a:pathLst>
              <a:path w="360000" h="359903">
                <a:moveTo>
                  <a:pt x="258725" y="146236"/>
                </a:moveTo>
                <a:cubicBezTo>
                  <a:pt x="258725" y="84109"/>
                  <a:pt x="208361" y="33748"/>
                  <a:pt x="146236" y="33748"/>
                </a:cubicBezTo>
                <a:cubicBezTo>
                  <a:pt x="84110" y="33748"/>
                  <a:pt x="33746" y="84109"/>
                  <a:pt x="33746" y="146236"/>
                </a:cubicBezTo>
                <a:cubicBezTo>
                  <a:pt x="33746" y="208362"/>
                  <a:pt x="84110" y="258724"/>
                  <a:pt x="146236" y="258724"/>
                </a:cubicBezTo>
                <a:cubicBezTo>
                  <a:pt x="208361" y="258724"/>
                  <a:pt x="258725" y="208362"/>
                  <a:pt x="258725" y="146236"/>
                </a:cubicBezTo>
                <a:lnTo>
                  <a:pt x="258725" y="146236"/>
                </a:lnTo>
                <a:moveTo>
                  <a:pt x="236999" y="260905"/>
                </a:moveTo>
                <a:cubicBezTo>
                  <a:pt x="212112" y="280660"/>
                  <a:pt x="180544" y="292472"/>
                  <a:pt x="146236" y="292472"/>
                </a:cubicBezTo>
                <a:cubicBezTo>
                  <a:pt x="65455" y="292472"/>
                  <a:pt x="0" y="227016"/>
                  <a:pt x="0" y="146236"/>
                </a:cubicBezTo>
                <a:cubicBezTo>
                  <a:pt x="0" y="65456"/>
                  <a:pt x="65455" y="0"/>
                  <a:pt x="146236" y="0"/>
                </a:cubicBezTo>
                <a:cubicBezTo>
                  <a:pt x="227016" y="0"/>
                  <a:pt x="292471" y="65456"/>
                  <a:pt x="292471" y="146236"/>
                </a:cubicBezTo>
                <a:cubicBezTo>
                  <a:pt x="292471" y="180546"/>
                  <a:pt x="280660" y="212113"/>
                  <a:pt x="260903" y="237000"/>
                </a:cubicBezTo>
                <a:lnTo>
                  <a:pt x="355043" y="331140"/>
                </a:lnTo>
                <a:cubicBezTo>
                  <a:pt x="361652" y="337748"/>
                  <a:pt x="361652" y="348437"/>
                  <a:pt x="355043" y="354973"/>
                </a:cubicBezTo>
                <a:cubicBezTo>
                  <a:pt x="348433" y="361512"/>
                  <a:pt x="337748" y="361580"/>
                  <a:pt x="331211" y="354973"/>
                </a:cubicBezTo>
                <a:lnTo>
                  <a:pt x="236999" y="260905"/>
                </a:lnTo>
              </a:path>
            </a:pathLst>
          </a:custGeom>
          <a:solidFill>
            <a:srgbClr val="FFFFFF"/>
          </a:solidFill>
          <a:ln/>
        </p:spPr>
        <p:txBody>
          <a:bodyPr wrap="square" lIns="0" tIns="0" rIns="0" bIns="0" rtlCol="0" anchor="ctr"/>
          <a:lstStyle/>
          <a:p>
            <a:pPr indent="0" marL="0">
              <a:buNone/>
            </a:pPr>
            <a:endParaRPr lang="en-US" dirty="0"/>
          </a:p>
        </p:txBody>
      </p:sp>
      <p:sp>
        <p:nvSpPr>
          <p:cNvPr id="30" name="Text 28"/>
          <p:cNvSpPr/>
          <p:nvPr/>
        </p:nvSpPr>
        <p:spPr>
          <a:xfrm>
            <a:off x="1840703" y="3736158"/>
            <a:ext cx="51429" cy="360000"/>
          </a:xfrm>
          <a:custGeom>
            <a:avLst/>
            <a:gdLst/>
            <a:ahLst/>
            <a:cxnLst/>
            <a:rect l="l" t="t" r="r" b="b"/>
            <a:pathLst>
              <a:path w="51429" h="360000">
                <a:moveTo>
                  <a:pt x="45000" y="19285"/>
                </a:moveTo>
                <a:cubicBezTo>
                  <a:pt x="45000" y="8597"/>
                  <a:pt x="36402" y="0"/>
                  <a:pt x="25714" y="0"/>
                </a:cubicBezTo>
                <a:cubicBezTo>
                  <a:pt x="15027" y="0"/>
                  <a:pt x="6429" y="8597"/>
                  <a:pt x="6429" y="19285"/>
                </a:cubicBezTo>
                <a:lnTo>
                  <a:pt x="6429" y="250715"/>
                </a:lnTo>
                <a:cubicBezTo>
                  <a:pt x="6429" y="261403"/>
                  <a:pt x="15027" y="270000"/>
                  <a:pt x="25714" y="270000"/>
                </a:cubicBezTo>
                <a:cubicBezTo>
                  <a:pt x="36402" y="270000"/>
                  <a:pt x="45000" y="261403"/>
                  <a:pt x="45000" y="250715"/>
                </a:cubicBezTo>
                <a:lnTo>
                  <a:pt x="45000" y="19285"/>
                </a:lnTo>
                <a:moveTo>
                  <a:pt x="25714" y="360000"/>
                </a:moveTo>
                <a:cubicBezTo>
                  <a:pt x="39916" y="360000"/>
                  <a:pt x="51429" y="348487"/>
                  <a:pt x="51429" y="334285"/>
                </a:cubicBezTo>
                <a:cubicBezTo>
                  <a:pt x="51429" y="320083"/>
                  <a:pt x="39916" y="308570"/>
                  <a:pt x="25714" y="308570"/>
                </a:cubicBezTo>
                <a:cubicBezTo>
                  <a:pt x="11513" y="308570"/>
                  <a:pt x="0" y="320083"/>
                  <a:pt x="0" y="334285"/>
                </a:cubicBezTo>
                <a:cubicBezTo>
                  <a:pt x="0" y="348487"/>
                  <a:pt x="11513" y="360000"/>
                  <a:pt x="25714" y="360000"/>
                </a:cubicBezTo>
              </a:path>
            </a:pathLst>
          </a:custGeom>
          <a:solidFill>
            <a:srgbClr val="FFFFFF"/>
          </a:solidFill>
          <a:ln/>
        </p:spPr>
        <p:txBody>
          <a:bodyPr wrap="square" lIns="0" tIns="0" rIns="0" bIns="0" rtlCol="0" anchor="ctr"/>
          <a:lstStyle/>
          <a:p>
            <a:pPr indent="0" marL="0">
              <a:buNone/>
            </a:pPr>
            <a:endParaRPr lang="en-US" dirty="0"/>
          </a:p>
        </p:txBody>
      </p:sp>
      <p:sp>
        <p:nvSpPr>
          <p:cNvPr id="31" name="Text 2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32" name="Text 30"/>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Trust Repair After Failures</a:t>
            </a:r>
            <a:endParaRPr lang="en-US" sz="2800" dirty="0"/>
          </a:p>
        </p:txBody>
      </p:sp>
      <p:sp>
        <p:nvSpPr>
          <p:cNvPr id="33" name="Text 31"/>
          <p:cNvSpPr/>
          <p:nvPr/>
        </p:nvSpPr>
        <p:spPr>
          <a:xfrm>
            <a:off x="8862543" y="1973309"/>
            <a:ext cx="2926079" cy="1188720"/>
          </a:xfrm>
          <a:prstGeom prst="rect">
            <a:avLst/>
          </a:prstGeom>
          <a:noFill/>
          <a:ln/>
        </p:spPr>
        <p:txBody>
          <a:bodyPr wrap="square" lIns="0" tIns="0" rIns="0" bIns="0" rtlCol="0" anchor="b"/>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Validation</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Before restoring full autonomy to the AI system, demonstrate through evidence and testing that corrective actions have resolved the issues. Validating fixes reassures users and sustains confidence in AI assistance moving forward.</a:t>
            </a:r>
            <a:endParaRPr lang="en-US" sz="1179" dirty="0"/>
          </a:p>
        </p:txBody>
      </p:sp>
      <p:sp>
        <p:nvSpPr>
          <p:cNvPr id="34" name="Text 32"/>
          <p:cNvSpPr/>
          <p:nvPr/>
        </p:nvSpPr>
        <p:spPr>
          <a:xfrm>
            <a:off x="6738515" y="4763471"/>
            <a:ext cx="2926079" cy="1188720"/>
          </a:xfrm>
          <a:prstGeom prst="rect">
            <a:avLst/>
          </a:prstGeom>
          <a:noFill/>
          <a:ln/>
        </p:spPr>
        <p:txBody>
          <a:bodyPr wrap="square" lIns="0" tIns="0" rIns="0" bIns="0" rtlCol="0" anchor="t"/>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Corrective Action</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Take concrete steps to fix the underlying problems discovered during analysis. This includes implementing improvements, updating AI models, adjusting processes, or enhancing human oversight measures to prevent recurrence.</a:t>
            </a:r>
            <a:endParaRPr lang="en-US" sz="1179" dirty="0"/>
          </a:p>
        </p:txBody>
      </p:sp>
      <p:sp>
        <p:nvSpPr>
          <p:cNvPr id="35" name="Text 33"/>
          <p:cNvSpPr/>
          <p:nvPr/>
        </p:nvSpPr>
        <p:spPr>
          <a:xfrm>
            <a:off x="4632960" y="1973309"/>
            <a:ext cx="2926079" cy="1188720"/>
          </a:xfrm>
          <a:prstGeom prst="rect">
            <a:avLst/>
          </a:prstGeom>
          <a:noFill/>
          <a:ln/>
        </p:spPr>
        <p:txBody>
          <a:bodyPr wrap="square" lIns="0" tIns="0" rIns="0" bIns="0" rtlCol="0" anchor="b"/>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Transparent Communication</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Share findings openly with affected analysts and stakeholders. Clear and honest communication helps the team understand what went wrong and fosters a culture of trust and learning rather than blame.</a:t>
            </a:r>
            <a:endParaRPr lang="en-US" sz="1179" dirty="0"/>
          </a:p>
        </p:txBody>
      </p:sp>
      <p:sp>
        <p:nvSpPr>
          <p:cNvPr id="36" name="Text 34"/>
          <p:cNvSpPr/>
          <p:nvPr/>
        </p:nvSpPr>
        <p:spPr>
          <a:xfrm>
            <a:off x="2518169" y="4763471"/>
            <a:ext cx="2926079" cy="1188720"/>
          </a:xfrm>
          <a:prstGeom prst="rect">
            <a:avLst/>
          </a:prstGeom>
          <a:noFill/>
          <a:ln/>
        </p:spPr>
        <p:txBody>
          <a:bodyPr wrap="square" lIns="0" tIns="0" rIns="0" bIns="0" rtlCol="0" anchor="t"/>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Root Cause Analysis</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Investigate and understand why the AI failure occurred. This involves detailed examination of the system's behavior, data inputs, and contextual factors that contributed to the error. Identifying the root cause is critical to preventing similar issues in the future.</a:t>
            </a:r>
            <a:endParaRPr lang="en-US" sz="1179" dirty="0"/>
          </a:p>
        </p:txBody>
      </p:sp>
      <p:sp>
        <p:nvSpPr>
          <p:cNvPr id="37" name="Text 35"/>
          <p:cNvSpPr/>
          <p:nvPr/>
        </p:nvSpPr>
        <p:spPr>
          <a:xfrm>
            <a:off x="476673" y="1973309"/>
            <a:ext cx="2926079" cy="1188720"/>
          </a:xfrm>
          <a:prstGeom prst="rect">
            <a:avLst/>
          </a:prstGeom>
          <a:noFill/>
          <a:ln/>
        </p:spPr>
        <p:txBody>
          <a:bodyPr wrap="square" lIns="0" tIns="0" rIns="0" bIns="0" rtlCol="0" anchor="b"/>
          <a:lstStyle/>
          <a:p>
            <a:pPr algn="ctr" marL="0" indent="0">
              <a:lnSpc>
                <a:spcPct val="100000"/>
              </a:lnSpc>
              <a:spcBef>
                <a:spcPts val="1011"/>
              </a:spcBef>
              <a:buNone/>
            </a:pPr>
            <a:r>
              <a:rPr lang="en-US" sz="1179" dirty="0">
                <a:solidFill>
                  <a:srgbClr val="FFFFFF"/>
                </a:solidFill>
                <a:latin typeface="Figtree Bold" pitchFamily="34" charset="0"/>
                <a:ea typeface="Figtree Bold" pitchFamily="34" charset="-122"/>
                <a:cs typeface="Figtree Bold" pitchFamily="34" charset="-120"/>
              </a:rPr>
              <a:t>Immediate Acknowledgment</a:t>
            </a:r>
            <a:endParaRPr lang="en-US" sz="1179" dirty="0"/>
          </a:p>
          <a:p>
            <a:pPr algn="ctr" marL="142875" indent="0">
              <a:lnSpc>
                <a:spcPct val="100000"/>
              </a:lnSpc>
              <a:spcBef>
                <a:spcPts val="1011"/>
              </a:spcBef>
              <a:buNone/>
            </a:pPr>
            <a:r>
              <a:rPr lang="en-US" sz="1002" dirty="0">
                <a:solidFill>
                  <a:srgbClr val="FFFFFF"/>
                </a:solidFill>
                <a:latin typeface="Figtree Regular" pitchFamily="34" charset="0"/>
                <a:ea typeface="Figtree Regular" pitchFamily="34" charset="-122"/>
                <a:cs typeface="Figtree Regular" pitchFamily="34" charset="-120"/>
              </a:rPr>
              <a:t>When an AI system fails, organizations should promptly acknowledge the failure without hiding or minimizing the issue. Transparency about the problem is essential to maintain credibility and begin the trust restoration process.</a:t>
            </a:r>
            <a:endParaRPr lang="en-US" sz="1179"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507999" y="6495651"/>
            <a:ext cx="4937760"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5" name="Text 3"/>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6" name="Text 4"/>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7" name="Text 5"/>
          <p:cNvSpPr/>
          <p:nvPr>
            <p:ph type="title"/>
          </p:nvPr>
        </p:nvSpPr>
        <p:spPr>
          <a:xfrm>
            <a:off x="505463" y="289560"/>
            <a:ext cx="11181071"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Mature Human-AI Partnership</a:t>
            </a:r>
            <a:endParaRPr lang="en-US" sz="2800" dirty="0"/>
          </a:p>
        </p:txBody>
      </p:sp>
      <p:sp>
        <p:nvSpPr>
          <p:cNvPr id="8" name="Text 6"/>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
        <p:nvSpPr>
          <p:cNvPr id="9" name="Text 7"/>
          <p:cNvSpPr/>
          <p:nvPr/>
        </p:nvSpPr>
        <p:spPr>
          <a:xfrm>
            <a:off x="597998" y="1757275"/>
            <a:ext cx="10998536" cy="4203631"/>
          </a:xfrm>
          <a:prstGeom prst="rect">
            <a:avLst/>
          </a:prstGeom>
          <a:noFill/>
          <a:ln/>
        </p:spPr>
        <p:txBody>
          <a:bodyPr wrap="square" lIns="0" tIns="0" rIns="0" bIns="0" rtlCol="0" anchor="t"/>
          <a:lstStyle/>
          <a:p>
            <a:pPr algn="l" marL="0" indent="0">
              <a:lnSpc>
                <a:spcPct val="100000"/>
              </a:lnSpc>
              <a:spcBef>
                <a:spcPts val="1000"/>
              </a:spcBef>
              <a:buNone/>
            </a:pPr>
            <a:r>
              <a:rPr lang="en-US" sz="1800" dirty="0">
                <a:solidFill>
                  <a:srgbClr val="FFFFFF"/>
                </a:solidFill>
                <a:latin typeface="Figtree Regular" pitchFamily="34" charset="0"/>
                <a:ea typeface="Figtree Regular" pitchFamily="34" charset="-122"/>
                <a:cs typeface="Figtree Regular" pitchFamily="34" charset="-120"/>
              </a:rPr>
              <a:t>The Mature Human-AI Partnership</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In mature cybersecurity operations, human-AI collaboration is seamless and highly effective. Analysts trust AI for its strengths: processing large volumes of data, detecting complex patterns, maintaining consistency, and enriching alerts with useful context. This trust is not blind, but based on understanding the AI's capabilities and limitations.</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Humans apply their judgment where it is most valuable: in ambiguous situations, high-stakes decisions, novel threat detection, and interpreting business context. They do not simply defer to AI, but actively engage with its insights, overriding recommendations when their expertise is superior.</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AI continuously improves by learning from analyst feedback, adapting to changing environments, and expanding its capabilities. It does not stagnate after deployment but evolves alongside threats and defenses.</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Meanwhile, human analysts develop new skills, focusing on higher-value work such as complex investigations, strategic threat hunting, and AI supervision. They become trainers and supervisors of AI systems rather than being replaced by them.</a:t>
            </a:r>
            <a:endParaRPr lang="en-US" sz="1800" dirty="0"/>
          </a:p>
          <a:p>
            <a:pPr algn="l" marL="142875" indent="0">
              <a:lnSpc>
                <a:spcPct val="100000"/>
              </a:lnSpc>
              <a:spcBef>
                <a:spcPts val="1000"/>
              </a:spcBef>
              <a:buNone/>
            </a:pPr>
            <a:r>
              <a:rPr lang="en-US" sz="1530" dirty="0">
                <a:solidFill>
                  <a:srgbClr val="FFFFFF"/>
                </a:solidFill>
                <a:latin typeface="Figtree Regular" pitchFamily="34" charset="0"/>
                <a:ea typeface="Figtree Regular" pitchFamily="34" charset="-122"/>
                <a:cs typeface="Figtree Regular" pitchFamily="34" charset="-120"/>
              </a:rPr>
              <a:t>This partnership is not a final destination but an ongoing evolution where both humans and AI advance together, creating a stronger, more adaptive cybersecurity defense.</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5" name="Text 3"/>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6" name="Text 4"/>
          <p:cNvSpPr/>
          <p:nvPr/>
        </p:nvSpPr>
        <p:spPr>
          <a:xfrm>
            <a:off x="507996"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7" name="Text 5"/>
          <p:cNvSpPr/>
          <p:nvPr>
            <p:ph type="title"/>
          </p:nvPr>
        </p:nvSpPr>
        <p:spPr>
          <a:xfrm>
            <a:off x="505464" y="289560"/>
            <a:ext cx="11178539"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Measuring Human-AI Partnership Effectiveness</a:t>
            </a:r>
            <a:endParaRPr lang="en-US" sz="2800" dirty="0"/>
          </a:p>
        </p:txBody>
      </p:sp>
      <p:sp>
        <p:nvSpPr>
          <p:cNvPr id="8" name="Text 6"/>
          <p:cNvSpPr/>
          <p:nvPr/>
        </p:nvSpPr>
        <p:spPr>
          <a:xfrm>
            <a:off x="747209"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9" name="Text 7"/>
          <p:cNvSpPr/>
          <p:nvPr/>
        </p:nvSpPr>
        <p:spPr>
          <a:xfrm>
            <a:off x="747209"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0" name="Text 8"/>
          <p:cNvSpPr/>
          <p:nvPr/>
        </p:nvSpPr>
        <p:spPr>
          <a:xfrm>
            <a:off x="497063"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1" name="Text 9"/>
          <p:cNvSpPr/>
          <p:nvPr/>
        </p:nvSpPr>
        <p:spPr>
          <a:xfrm>
            <a:off x="497063"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2" name="Text 10"/>
          <p:cNvSpPr/>
          <p:nvPr/>
        </p:nvSpPr>
        <p:spPr>
          <a:xfrm>
            <a:off x="6557398" y="4018368"/>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3" name="Text 11"/>
          <p:cNvSpPr/>
          <p:nvPr/>
        </p:nvSpPr>
        <p:spPr>
          <a:xfrm>
            <a:off x="6557398" y="1563023"/>
            <a:ext cx="5120640" cy="2286000"/>
          </a:xfrm>
          <a:custGeom>
            <a:avLst/>
            <a:gdLst/>
            <a:ahLst/>
            <a:cxnLst/>
            <a:rect l="l" t="t" r="r" b="b"/>
            <a:pathLst>
              <a:path w="5120640" h="2286000">
                <a:moveTo>
                  <a:pt x="154746" y="2286000"/>
                </a:moveTo>
                <a:cubicBezTo>
                  <a:pt x="69282" y="2286000"/>
                  <a:pt x="0" y="2216711"/>
                  <a:pt x="0" y="2131238"/>
                </a:cubicBezTo>
                <a:lnTo>
                  <a:pt x="0" y="154762"/>
                </a:lnTo>
                <a:cubicBezTo>
                  <a:pt x="0" y="69289"/>
                  <a:pt x="69282" y="0"/>
                  <a:pt x="154746" y="0"/>
                </a:cubicBezTo>
                <a:lnTo>
                  <a:pt x="4965843" y="0"/>
                </a:lnTo>
                <a:cubicBezTo>
                  <a:pt x="5051306" y="0"/>
                  <a:pt x="5120589" y="69289"/>
                  <a:pt x="5120589" y="154762"/>
                </a:cubicBezTo>
                <a:lnTo>
                  <a:pt x="5120589" y="2131238"/>
                </a:lnTo>
                <a:cubicBezTo>
                  <a:pt x="5120589" y="2216711"/>
                  <a:pt x="5051306" y="2286000"/>
                  <a:pt x="4965843" y="2286000"/>
                </a:cubicBezTo>
                <a:lnTo>
                  <a:pt x="154746" y="2286000"/>
                </a:lnTo>
              </a:path>
            </a:pathLst>
          </a:custGeom>
          <a:solidFill>
            <a:srgbClr val="0B3041"/>
          </a:solidFill>
          <a:ln/>
        </p:spPr>
        <p:txBody>
          <a:bodyPr wrap="square" lIns="0" tIns="0" rIns="0" bIns="0" rtlCol="0" anchor="ctr"/>
          <a:lstStyle/>
          <a:p>
            <a:pPr indent="0" marL="0">
              <a:buNone/>
            </a:pPr>
            <a:endParaRPr lang="en-US" dirty="0"/>
          </a:p>
        </p:txBody>
      </p:sp>
      <p:sp>
        <p:nvSpPr>
          <p:cNvPr id="14" name="Text 12"/>
          <p:cNvSpPr/>
          <p:nvPr/>
        </p:nvSpPr>
        <p:spPr>
          <a:xfrm>
            <a:off x="6307252" y="4111448"/>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5" name="Text 13"/>
          <p:cNvSpPr/>
          <p:nvPr/>
        </p:nvSpPr>
        <p:spPr>
          <a:xfrm>
            <a:off x="6307252" y="1654567"/>
            <a:ext cx="457200" cy="457200"/>
          </a:xfrm>
          <a:custGeom>
            <a:avLst/>
            <a:gdLst/>
            <a:ahLst/>
            <a:cxnLst/>
            <a:rect l="l" t="t" r="r" b="b"/>
            <a:pathLst>
              <a:path w="457200" h="457200">
                <a:moveTo>
                  <a:pt x="82296" y="457200"/>
                </a:moveTo>
                <a:cubicBezTo>
                  <a:pt x="36846" y="457200"/>
                  <a:pt x="0" y="420354"/>
                  <a:pt x="0" y="374904"/>
                </a:cubicBezTo>
                <a:lnTo>
                  <a:pt x="0" y="82296"/>
                </a:lnTo>
                <a:cubicBezTo>
                  <a:pt x="0" y="36846"/>
                  <a:pt x="36846" y="0"/>
                  <a:pt x="82296" y="0"/>
                </a:cubicBezTo>
                <a:lnTo>
                  <a:pt x="374904" y="0"/>
                </a:lnTo>
                <a:cubicBezTo>
                  <a:pt x="420354" y="0"/>
                  <a:pt x="457200" y="36846"/>
                  <a:pt x="457200" y="82296"/>
                </a:cubicBezTo>
                <a:lnTo>
                  <a:pt x="457200" y="374904"/>
                </a:lnTo>
                <a:cubicBezTo>
                  <a:pt x="457200" y="420354"/>
                  <a:pt x="420354" y="457200"/>
                  <a:pt x="374904" y="457200"/>
                </a:cubicBezTo>
                <a:lnTo>
                  <a:pt x="82296" y="457200"/>
                </a:lnTo>
              </a:path>
            </a:pathLst>
          </a:custGeom>
          <a:solidFill>
            <a:srgbClr val="104862"/>
          </a:solidFill>
          <a:ln/>
        </p:spPr>
        <p:txBody>
          <a:bodyPr wrap="square" lIns="0" tIns="0" rIns="0" bIns="0" rtlCol="0" anchor="ctr"/>
          <a:lstStyle/>
          <a:p>
            <a:pPr indent="0" marL="0">
              <a:buNone/>
            </a:pPr>
            <a:endParaRPr lang="en-US" dirty="0"/>
          </a:p>
        </p:txBody>
      </p:sp>
      <p:sp>
        <p:nvSpPr>
          <p:cNvPr id="16" name="Text 14"/>
          <p:cNvSpPr/>
          <p:nvPr/>
        </p:nvSpPr>
        <p:spPr>
          <a:xfrm>
            <a:off x="6948767" y="4751563"/>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Assess the quality of collaboration between humans and AI. Measure analyst trust through surveys and observed behaviors. Track override rates to understand appropriateness of human decisions. Evaluate feedback quality to ensure effective translation of human insight into AI improvements.</a:t>
            </a:r>
            <a:endParaRPr lang="en-US" sz="1492" dirty="0"/>
          </a:p>
        </p:txBody>
      </p:sp>
      <p:sp>
        <p:nvSpPr>
          <p:cNvPr id="17" name="Text 15"/>
          <p:cNvSpPr/>
          <p:nvPr/>
        </p:nvSpPr>
        <p:spPr>
          <a:xfrm>
            <a:off x="6948767"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Partnership Health Metrics</a:t>
            </a:r>
            <a:endParaRPr lang="en-US" sz="2030" dirty="0"/>
          </a:p>
        </p:txBody>
      </p:sp>
      <p:sp>
        <p:nvSpPr>
          <p:cNvPr id="18" name="Text 16"/>
          <p:cNvSpPr/>
          <p:nvPr/>
        </p:nvSpPr>
        <p:spPr>
          <a:xfrm>
            <a:off x="6398692" y="4257374"/>
            <a:ext cx="274320" cy="165347"/>
          </a:xfrm>
          <a:custGeom>
            <a:avLst/>
            <a:gdLst/>
            <a:ahLst/>
            <a:cxnLst/>
            <a:rect l="l" t="t" r="r" b="b"/>
            <a:pathLst>
              <a:path w="274320" h="165347">
                <a:moveTo>
                  <a:pt x="116671" y="258"/>
                </a:moveTo>
                <a:lnTo>
                  <a:pt x="94769" y="22161"/>
                </a:lnTo>
                <a:cubicBezTo>
                  <a:pt x="88210" y="23962"/>
                  <a:pt x="82126" y="27262"/>
                  <a:pt x="76982" y="31806"/>
                </a:cubicBezTo>
                <a:lnTo>
                  <a:pt x="65582" y="41965"/>
                </a:lnTo>
                <a:cubicBezTo>
                  <a:pt x="61209" y="45866"/>
                  <a:pt x="55509" y="48008"/>
                  <a:pt x="49636" y="48008"/>
                </a:cubicBezTo>
                <a:lnTo>
                  <a:pt x="41148" y="48008"/>
                </a:lnTo>
                <a:lnTo>
                  <a:pt x="41148" y="102872"/>
                </a:lnTo>
                <a:cubicBezTo>
                  <a:pt x="49891" y="103130"/>
                  <a:pt x="58208" y="106687"/>
                  <a:pt x="64421" y="112902"/>
                </a:cubicBezTo>
                <a:lnTo>
                  <a:pt x="79679" y="128160"/>
                </a:lnTo>
                <a:lnTo>
                  <a:pt x="82680" y="131161"/>
                </a:lnTo>
                <a:lnTo>
                  <a:pt x="82680" y="131161"/>
                </a:lnTo>
                <a:lnTo>
                  <a:pt x="94254" y="142734"/>
                </a:lnTo>
                <a:cubicBezTo>
                  <a:pt x="96912" y="145391"/>
                  <a:pt x="101284" y="145391"/>
                  <a:pt x="103940" y="142734"/>
                </a:cubicBezTo>
                <a:cubicBezTo>
                  <a:pt x="104670" y="142005"/>
                  <a:pt x="105226" y="141148"/>
                  <a:pt x="105525" y="140247"/>
                </a:cubicBezTo>
                <a:cubicBezTo>
                  <a:pt x="106727" y="136947"/>
                  <a:pt x="109511" y="134460"/>
                  <a:pt x="112940" y="133690"/>
                </a:cubicBezTo>
                <a:cubicBezTo>
                  <a:pt x="116369" y="132917"/>
                  <a:pt x="119968" y="133948"/>
                  <a:pt x="122456" y="136476"/>
                </a:cubicBezTo>
                <a:lnTo>
                  <a:pt x="127087" y="141019"/>
                </a:lnTo>
                <a:cubicBezTo>
                  <a:pt x="132060" y="145991"/>
                  <a:pt x="140117" y="145991"/>
                  <a:pt x="145047" y="141019"/>
                </a:cubicBezTo>
                <a:cubicBezTo>
                  <a:pt x="147362" y="138705"/>
                  <a:pt x="148605" y="135748"/>
                  <a:pt x="148734" y="132704"/>
                </a:cubicBezTo>
                <a:cubicBezTo>
                  <a:pt x="148904" y="128933"/>
                  <a:pt x="151134" y="125589"/>
                  <a:pt x="154563" y="123961"/>
                </a:cubicBezTo>
                <a:cubicBezTo>
                  <a:pt x="157992" y="122332"/>
                  <a:pt x="161978" y="122674"/>
                  <a:pt x="165020" y="124860"/>
                </a:cubicBezTo>
                <a:cubicBezTo>
                  <a:pt x="169050" y="127732"/>
                  <a:pt x="174665" y="127347"/>
                  <a:pt x="178264" y="123746"/>
                </a:cubicBezTo>
                <a:cubicBezTo>
                  <a:pt x="182294" y="119716"/>
                  <a:pt x="182294" y="113201"/>
                  <a:pt x="178264" y="109215"/>
                </a:cubicBezTo>
                <a:lnTo>
                  <a:pt x="145774" y="76726"/>
                </a:lnTo>
                <a:lnTo>
                  <a:pt x="130428" y="90871"/>
                </a:lnTo>
                <a:cubicBezTo>
                  <a:pt x="118726" y="101673"/>
                  <a:pt x="100769" y="101844"/>
                  <a:pt x="88852" y="91257"/>
                </a:cubicBezTo>
                <a:cubicBezTo>
                  <a:pt x="75265" y="79170"/>
                  <a:pt x="74963" y="58081"/>
                  <a:pt x="88166" y="45608"/>
                </a:cubicBezTo>
                <a:lnTo>
                  <a:pt x="118213" y="17232"/>
                </a:lnTo>
                <a:cubicBezTo>
                  <a:pt x="129956" y="6174"/>
                  <a:pt x="145472" y="2"/>
                  <a:pt x="161632" y="2"/>
                </a:cubicBezTo>
                <a:cubicBezTo>
                  <a:pt x="177106" y="2"/>
                  <a:pt x="192065" y="5703"/>
                  <a:pt x="203595" y="15946"/>
                </a:cubicBezTo>
                <a:lnTo>
                  <a:pt x="216496" y="27433"/>
                </a:lnTo>
                <a:lnTo>
                  <a:pt x="233169" y="27433"/>
                </a:lnTo>
                <a:lnTo>
                  <a:pt x="250314" y="27433"/>
                </a:lnTo>
                <a:lnTo>
                  <a:pt x="267459" y="27433"/>
                </a:lnTo>
                <a:cubicBezTo>
                  <a:pt x="271231" y="27433"/>
                  <a:pt x="274317" y="30518"/>
                  <a:pt x="274317" y="34291"/>
                </a:cubicBezTo>
                <a:lnTo>
                  <a:pt x="274317" y="123445"/>
                </a:lnTo>
                <a:cubicBezTo>
                  <a:pt x="274317" y="131031"/>
                  <a:pt x="268189" y="137160"/>
                  <a:pt x="260601" y="137160"/>
                </a:cubicBezTo>
                <a:lnTo>
                  <a:pt x="246885" y="137160"/>
                </a:lnTo>
                <a:cubicBezTo>
                  <a:pt x="241827" y="137160"/>
                  <a:pt x="237369" y="134417"/>
                  <a:pt x="235013" y="130302"/>
                </a:cubicBezTo>
                <a:lnTo>
                  <a:pt x="198621" y="130302"/>
                </a:lnTo>
                <a:cubicBezTo>
                  <a:pt x="197165" y="133174"/>
                  <a:pt x="195236" y="135917"/>
                  <a:pt x="192836" y="138318"/>
                </a:cubicBezTo>
                <a:cubicBezTo>
                  <a:pt x="185506" y="145648"/>
                  <a:pt x="175348" y="148520"/>
                  <a:pt x="165832" y="146932"/>
                </a:cubicBezTo>
                <a:cubicBezTo>
                  <a:pt x="164290" y="150061"/>
                  <a:pt x="162189" y="152976"/>
                  <a:pt x="159575" y="155590"/>
                </a:cubicBezTo>
                <a:cubicBezTo>
                  <a:pt x="147872" y="167292"/>
                  <a:pt x="129572" y="168449"/>
                  <a:pt x="116542" y="159062"/>
                </a:cubicBezTo>
                <a:cubicBezTo>
                  <a:pt x="105783" y="167978"/>
                  <a:pt x="89752" y="167420"/>
                  <a:pt x="79682" y="157305"/>
                </a:cubicBezTo>
                <a:lnTo>
                  <a:pt x="68152" y="145732"/>
                </a:lnTo>
                <a:lnTo>
                  <a:pt x="65151" y="142731"/>
                </a:lnTo>
                <a:lnTo>
                  <a:pt x="49891" y="127473"/>
                </a:lnTo>
                <a:cubicBezTo>
                  <a:pt x="47534" y="125115"/>
                  <a:pt x="44448" y="123744"/>
                  <a:pt x="41148" y="123486"/>
                </a:cubicBezTo>
                <a:cubicBezTo>
                  <a:pt x="41148" y="131029"/>
                  <a:pt x="34976" y="137159"/>
                  <a:pt x="27432" y="137159"/>
                </a:cubicBezTo>
                <a:lnTo>
                  <a:pt x="13716" y="137159"/>
                </a:lnTo>
                <a:cubicBezTo>
                  <a:pt x="6128" y="137159"/>
                  <a:pt x="0" y="131029"/>
                  <a:pt x="0" y="123443"/>
                </a:cubicBezTo>
                <a:lnTo>
                  <a:pt x="0" y="34290"/>
                </a:lnTo>
                <a:cubicBezTo>
                  <a:pt x="0" y="30518"/>
                  <a:pt x="3086" y="27431"/>
                  <a:pt x="6858" y="27431"/>
                </a:cubicBezTo>
                <a:lnTo>
                  <a:pt x="24003" y="27431"/>
                </a:lnTo>
                <a:lnTo>
                  <a:pt x="41148" y="27431"/>
                </a:lnTo>
                <a:lnTo>
                  <a:pt x="49635" y="27431"/>
                </a:lnTo>
                <a:cubicBezTo>
                  <a:pt x="50494" y="27431"/>
                  <a:pt x="51306" y="27132"/>
                  <a:pt x="51907" y="26575"/>
                </a:cubicBezTo>
                <a:lnTo>
                  <a:pt x="63266" y="16459"/>
                </a:lnTo>
                <a:cubicBezTo>
                  <a:pt x="75224" y="5871"/>
                  <a:pt x="90613" y="0"/>
                  <a:pt x="106601" y="0"/>
                </a:cubicBezTo>
                <a:lnTo>
                  <a:pt x="111014" y="0"/>
                </a:lnTo>
                <a:cubicBezTo>
                  <a:pt x="112899" y="0"/>
                  <a:pt x="114830" y="86"/>
                  <a:pt x="116671" y="258"/>
                </a:cubicBezTo>
                <a:lnTo>
                  <a:pt x="116671" y="258"/>
                </a:lnTo>
                <a:moveTo>
                  <a:pt x="233172" y="109728"/>
                </a:moveTo>
                <a:lnTo>
                  <a:pt x="233172" y="48005"/>
                </a:lnTo>
                <a:lnTo>
                  <a:pt x="212598" y="48005"/>
                </a:lnTo>
                <a:cubicBezTo>
                  <a:pt x="210069" y="48005"/>
                  <a:pt x="207625" y="47063"/>
                  <a:pt x="205784" y="45391"/>
                </a:cubicBezTo>
                <a:lnTo>
                  <a:pt x="189967" y="31332"/>
                </a:lnTo>
                <a:cubicBezTo>
                  <a:pt x="182165" y="24389"/>
                  <a:pt x="172092" y="20572"/>
                  <a:pt x="161635" y="20572"/>
                </a:cubicBezTo>
                <a:cubicBezTo>
                  <a:pt x="150747" y="20572"/>
                  <a:pt x="140290" y="24731"/>
                  <a:pt x="132359" y="32188"/>
                </a:cubicBezTo>
                <a:lnTo>
                  <a:pt x="102313" y="60563"/>
                </a:lnTo>
                <a:cubicBezTo>
                  <a:pt x="97899" y="64763"/>
                  <a:pt x="97984" y="71837"/>
                  <a:pt x="102527" y="75865"/>
                </a:cubicBezTo>
                <a:cubicBezTo>
                  <a:pt x="106513" y="79423"/>
                  <a:pt x="112556" y="79337"/>
                  <a:pt x="116457" y="75736"/>
                </a:cubicBezTo>
                <a:lnTo>
                  <a:pt x="147274" y="47274"/>
                </a:lnTo>
                <a:cubicBezTo>
                  <a:pt x="151433" y="43417"/>
                  <a:pt x="157948" y="43673"/>
                  <a:pt x="161805" y="47875"/>
                </a:cubicBezTo>
                <a:cubicBezTo>
                  <a:pt x="165662" y="52074"/>
                  <a:pt x="165407" y="58548"/>
                  <a:pt x="161204" y="62405"/>
                </a:cubicBezTo>
                <a:lnTo>
                  <a:pt x="160861" y="62747"/>
                </a:lnTo>
                <a:lnTo>
                  <a:pt x="192751" y="94638"/>
                </a:lnTo>
                <a:cubicBezTo>
                  <a:pt x="197039" y="98924"/>
                  <a:pt x="199823" y="104197"/>
                  <a:pt x="201066" y="109683"/>
                </a:cubicBezTo>
                <a:lnTo>
                  <a:pt x="233125" y="109683"/>
                </a:lnTo>
                <a:lnTo>
                  <a:pt x="233172" y="109728"/>
                </a:lnTo>
                <a:moveTo>
                  <a:pt x="27432" y="116586"/>
                </a:moveTo>
                <a:cubicBezTo>
                  <a:pt x="27432" y="112798"/>
                  <a:pt x="24362" y="109728"/>
                  <a:pt x="20574" y="109728"/>
                </a:cubicBezTo>
                <a:cubicBezTo>
                  <a:pt x="16786" y="109728"/>
                  <a:pt x="13716" y="112798"/>
                  <a:pt x="13716" y="116586"/>
                </a:cubicBezTo>
                <a:cubicBezTo>
                  <a:pt x="13716" y="120374"/>
                  <a:pt x="16786" y="123445"/>
                  <a:pt x="20574" y="123445"/>
                </a:cubicBezTo>
                <a:cubicBezTo>
                  <a:pt x="24362" y="123445"/>
                  <a:pt x="27432" y="120374"/>
                  <a:pt x="27432" y="116586"/>
                </a:cubicBezTo>
                <a:moveTo>
                  <a:pt x="253746" y="123445"/>
                </a:moveTo>
                <a:cubicBezTo>
                  <a:pt x="257534" y="123445"/>
                  <a:pt x="260604" y="120374"/>
                  <a:pt x="260604" y="116586"/>
                </a:cubicBezTo>
                <a:cubicBezTo>
                  <a:pt x="260604" y="112798"/>
                  <a:pt x="257534" y="109728"/>
                  <a:pt x="253746" y="109728"/>
                </a:cubicBezTo>
                <a:cubicBezTo>
                  <a:pt x="249958" y="109728"/>
                  <a:pt x="246888" y="112798"/>
                  <a:pt x="246888" y="116586"/>
                </a:cubicBezTo>
                <a:cubicBezTo>
                  <a:pt x="246888" y="120374"/>
                  <a:pt x="249958" y="123445"/>
                  <a:pt x="253746" y="123445"/>
                </a:cubicBezTo>
              </a:path>
            </a:pathLst>
          </a:custGeom>
          <a:solidFill>
            <a:srgbClr val="FFFFFF"/>
          </a:solidFill>
          <a:ln/>
        </p:spPr>
        <p:txBody>
          <a:bodyPr wrap="square" lIns="0" tIns="0" rIns="0" bIns="0" rtlCol="0" anchor="ctr"/>
          <a:lstStyle/>
          <a:p>
            <a:pPr indent="0" marL="0">
              <a:buNone/>
            </a:pPr>
            <a:endParaRPr lang="en-US" dirty="0"/>
          </a:p>
        </p:txBody>
      </p:sp>
      <p:sp>
        <p:nvSpPr>
          <p:cNvPr id="19" name="Text 17"/>
          <p:cNvSpPr/>
          <p:nvPr/>
        </p:nvSpPr>
        <p:spPr>
          <a:xfrm>
            <a:off x="6948767" y="2296218"/>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Evaluate how resources are optimized in security operations. False positive rates should decline through ongoing human feedback. Analyst focus shifts towards high-value work. The ratio of alerts requiring human intervention decreases, improving operational workflow.</a:t>
            </a:r>
            <a:endParaRPr lang="en-US" sz="1492" dirty="0"/>
          </a:p>
        </p:txBody>
      </p:sp>
      <p:sp>
        <p:nvSpPr>
          <p:cNvPr id="20" name="Text 18"/>
          <p:cNvSpPr/>
          <p:nvPr/>
        </p:nvSpPr>
        <p:spPr>
          <a:xfrm>
            <a:off x="6948767"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Efficiency Metrics</a:t>
            </a:r>
            <a:endParaRPr lang="en-US" sz="2030" dirty="0"/>
          </a:p>
        </p:txBody>
      </p:sp>
      <p:sp>
        <p:nvSpPr>
          <p:cNvPr id="21" name="Text 19"/>
          <p:cNvSpPr/>
          <p:nvPr/>
        </p:nvSpPr>
        <p:spPr>
          <a:xfrm>
            <a:off x="6404508" y="1746007"/>
            <a:ext cx="262688" cy="274320"/>
          </a:xfrm>
          <a:custGeom>
            <a:avLst/>
            <a:gdLst/>
            <a:ahLst/>
            <a:cxnLst/>
            <a:rect l="l" t="t" r="r" b="b"/>
            <a:pathLst>
              <a:path w="262688" h="274320">
                <a:moveTo>
                  <a:pt x="131347" y="0"/>
                </a:moveTo>
                <a:cubicBezTo>
                  <a:pt x="140454" y="0"/>
                  <a:pt x="149349" y="911"/>
                  <a:pt x="158028" y="2573"/>
                </a:cubicBezTo>
                <a:cubicBezTo>
                  <a:pt x="162260" y="3377"/>
                  <a:pt x="169707" y="5840"/>
                  <a:pt x="173779" y="13343"/>
                </a:cubicBezTo>
                <a:cubicBezTo>
                  <a:pt x="174850" y="15326"/>
                  <a:pt x="175707" y="17414"/>
                  <a:pt x="176243" y="19666"/>
                </a:cubicBezTo>
                <a:lnTo>
                  <a:pt x="181226" y="40295"/>
                </a:lnTo>
                <a:cubicBezTo>
                  <a:pt x="181977" y="43403"/>
                  <a:pt x="187226" y="46456"/>
                  <a:pt x="190281" y="45545"/>
                </a:cubicBezTo>
                <a:lnTo>
                  <a:pt x="210642" y="39543"/>
                </a:lnTo>
                <a:cubicBezTo>
                  <a:pt x="212785" y="38901"/>
                  <a:pt x="214981" y="38578"/>
                  <a:pt x="217177" y="38525"/>
                </a:cubicBezTo>
                <a:cubicBezTo>
                  <a:pt x="225804" y="38257"/>
                  <a:pt x="231643" y="43562"/>
                  <a:pt x="234483" y="46777"/>
                </a:cubicBezTo>
                <a:cubicBezTo>
                  <a:pt x="246325" y="60224"/>
                  <a:pt x="255432" y="76030"/>
                  <a:pt x="261220" y="93014"/>
                </a:cubicBezTo>
                <a:cubicBezTo>
                  <a:pt x="262612" y="97085"/>
                  <a:pt x="264219" y="104694"/>
                  <a:pt x="259772" y="111980"/>
                </a:cubicBezTo>
                <a:cubicBezTo>
                  <a:pt x="258593" y="113909"/>
                  <a:pt x="257148" y="115730"/>
                  <a:pt x="255485" y="117338"/>
                </a:cubicBezTo>
                <a:lnTo>
                  <a:pt x="240107" y="131964"/>
                </a:lnTo>
                <a:cubicBezTo>
                  <a:pt x="237856" y="134107"/>
                  <a:pt x="237856" y="140268"/>
                  <a:pt x="240107" y="142413"/>
                </a:cubicBezTo>
                <a:lnTo>
                  <a:pt x="255485" y="157040"/>
                </a:lnTo>
                <a:cubicBezTo>
                  <a:pt x="257145" y="158647"/>
                  <a:pt x="258593" y="160469"/>
                  <a:pt x="259772" y="162397"/>
                </a:cubicBezTo>
                <a:cubicBezTo>
                  <a:pt x="264164" y="169683"/>
                  <a:pt x="262559" y="177293"/>
                  <a:pt x="261220" y="181364"/>
                </a:cubicBezTo>
                <a:cubicBezTo>
                  <a:pt x="255432" y="198347"/>
                  <a:pt x="246325" y="214101"/>
                  <a:pt x="234483" y="227600"/>
                </a:cubicBezTo>
                <a:cubicBezTo>
                  <a:pt x="231643" y="230816"/>
                  <a:pt x="225749" y="236118"/>
                  <a:pt x="217177" y="235852"/>
                </a:cubicBezTo>
                <a:cubicBezTo>
                  <a:pt x="214981" y="235797"/>
                  <a:pt x="212785" y="235424"/>
                  <a:pt x="210642" y="234834"/>
                </a:cubicBezTo>
                <a:lnTo>
                  <a:pt x="190281" y="228780"/>
                </a:lnTo>
                <a:cubicBezTo>
                  <a:pt x="187226" y="227869"/>
                  <a:pt x="181977" y="230922"/>
                  <a:pt x="181226" y="234030"/>
                </a:cubicBezTo>
                <a:lnTo>
                  <a:pt x="176243" y="254659"/>
                </a:lnTo>
                <a:cubicBezTo>
                  <a:pt x="175707" y="256909"/>
                  <a:pt x="174850" y="259054"/>
                  <a:pt x="173779" y="260982"/>
                </a:cubicBezTo>
                <a:cubicBezTo>
                  <a:pt x="169652" y="268482"/>
                  <a:pt x="162205" y="270893"/>
                  <a:pt x="158028" y="271752"/>
                </a:cubicBezTo>
                <a:cubicBezTo>
                  <a:pt x="149349" y="273412"/>
                  <a:pt x="140454" y="274323"/>
                  <a:pt x="131347" y="274323"/>
                </a:cubicBezTo>
                <a:cubicBezTo>
                  <a:pt x="122239" y="274323"/>
                  <a:pt x="113345" y="273412"/>
                  <a:pt x="104665" y="271749"/>
                </a:cubicBezTo>
                <a:cubicBezTo>
                  <a:pt x="100434" y="270946"/>
                  <a:pt x="92986" y="268482"/>
                  <a:pt x="88915" y="260980"/>
                </a:cubicBezTo>
                <a:cubicBezTo>
                  <a:pt x="87843" y="258996"/>
                  <a:pt x="86986" y="256909"/>
                  <a:pt x="86451" y="254657"/>
                </a:cubicBezTo>
                <a:lnTo>
                  <a:pt x="81467" y="234028"/>
                </a:lnTo>
                <a:cubicBezTo>
                  <a:pt x="80716" y="230920"/>
                  <a:pt x="75468" y="227866"/>
                  <a:pt x="72413" y="228777"/>
                </a:cubicBezTo>
                <a:lnTo>
                  <a:pt x="52052" y="234777"/>
                </a:lnTo>
                <a:cubicBezTo>
                  <a:pt x="49908" y="235419"/>
                  <a:pt x="47712" y="235742"/>
                  <a:pt x="45516" y="235794"/>
                </a:cubicBezTo>
                <a:cubicBezTo>
                  <a:pt x="36889" y="236063"/>
                  <a:pt x="31050" y="230758"/>
                  <a:pt x="28210" y="227543"/>
                </a:cubicBezTo>
                <a:cubicBezTo>
                  <a:pt x="16423" y="214096"/>
                  <a:pt x="7261" y="198289"/>
                  <a:pt x="1474" y="181306"/>
                </a:cubicBezTo>
                <a:cubicBezTo>
                  <a:pt x="81" y="177235"/>
                  <a:pt x="-1526" y="169626"/>
                  <a:pt x="2921" y="162340"/>
                </a:cubicBezTo>
                <a:cubicBezTo>
                  <a:pt x="4101" y="160411"/>
                  <a:pt x="5545" y="158590"/>
                  <a:pt x="7208" y="156982"/>
                </a:cubicBezTo>
                <a:lnTo>
                  <a:pt x="22586" y="142356"/>
                </a:lnTo>
                <a:cubicBezTo>
                  <a:pt x="24837" y="140213"/>
                  <a:pt x="24837" y="134052"/>
                  <a:pt x="22586" y="131907"/>
                </a:cubicBezTo>
                <a:lnTo>
                  <a:pt x="7156" y="117280"/>
                </a:lnTo>
                <a:cubicBezTo>
                  <a:pt x="5495" y="115672"/>
                  <a:pt x="4048" y="113851"/>
                  <a:pt x="2869" y="111923"/>
                </a:cubicBezTo>
                <a:cubicBezTo>
                  <a:pt x="-1524" y="104637"/>
                  <a:pt x="81" y="97027"/>
                  <a:pt x="1476" y="93008"/>
                </a:cubicBezTo>
                <a:cubicBezTo>
                  <a:pt x="7263" y="76025"/>
                  <a:pt x="16371" y="60271"/>
                  <a:pt x="28213" y="46772"/>
                </a:cubicBezTo>
                <a:cubicBezTo>
                  <a:pt x="31052" y="43556"/>
                  <a:pt x="36947" y="38254"/>
                  <a:pt x="45519" y="38520"/>
                </a:cubicBezTo>
                <a:cubicBezTo>
                  <a:pt x="47715" y="38575"/>
                  <a:pt x="49911" y="38948"/>
                  <a:pt x="52054" y="39538"/>
                </a:cubicBezTo>
                <a:lnTo>
                  <a:pt x="72415" y="45540"/>
                </a:lnTo>
                <a:cubicBezTo>
                  <a:pt x="75470" y="46451"/>
                  <a:pt x="80719" y="43397"/>
                  <a:pt x="81470" y="40289"/>
                </a:cubicBezTo>
                <a:lnTo>
                  <a:pt x="86453" y="19661"/>
                </a:lnTo>
                <a:cubicBezTo>
                  <a:pt x="86989" y="17411"/>
                  <a:pt x="87845" y="15266"/>
                  <a:pt x="88917" y="13337"/>
                </a:cubicBezTo>
                <a:cubicBezTo>
                  <a:pt x="93044" y="5838"/>
                  <a:pt x="100491" y="3426"/>
                  <a:pt x="104668" y="2568"/>
                </a:cubicBezTo>
                <a:cubicBezTo>
                  <a:pt x="113347" y="908"/>
                  <a:pt x="122242" y="-5"/>
                  <a:pt x="131349" y="-5"/>
                </a:cubicBezTo>
                <a:lnTo>
                  <a:pt x="131347" y="0"/>
                </a:lnTo>
                <a:moveTo>
                  <a:pt x="111041" y="27539"/>
                </a:moveTo>
                <a:lnTo>
                  <a:pt x="106486" y="46344"/>
                </a:lnTo>
                <a:cubicBezTo>
                  <a:pt x="102306" y="63650"/>
                  <a:pt x="82216" y="75221"/>
                  <a:pt x="65123" y="70240"/>
                </a:cubicBezTo>
                <a:lnTo>
                  <a:pt x="46638" y="64775"/>
                </a:lnTo>
                <a:cubicBezTo>
                  <a:pt x="37798" y="75117"/>
                  <a:pt x="30832" y="87119"/>
                  <a:pt x="26277" y="99976"/>
                </a:cubicBezTo>
                <a:lnTo>
                  <a:pt x="40315" y="113316"/>
                </a:lnTo>
                <a:cubicBezTo>
                  <a:pt x="53173" y="125531"/>
                  <a:pt x="53173" y="148786"/>
                  <a:pt x="40315" y="161001"/>
                </a:cubicBezTo>
                <a:lnTo>
                  <a:pt x="26277" y="174341"/>
                </a:lnTo>
                <a:cubicBezTo>
                  <a:pt x="30832" y="187201"/>
                  <a:pt x="37795" y="199200"/>
                  <a:pt x="46638" y="209542"/>
                </a:cubicBezTo>
                <a:lnTo>
                  <a:pt x="65175" y="204078"/>
                </a:lnTo>
                <a:cubicBezTo>
                  <a:pt x="82213" y="199041"/>
                  <a:pt x="102359" y="210667"/>
                  <a:pt x="106538" y="227974"/>
                </a:cubicBezTo>
                <a:lnTo>
                  <a:pt x="111093" y="246778"/>
                </a:lnTo>
                <a:cubicBezTo>
                  <a:pt x="124272" y="249189"/>
                  <a:pt x="138578" y="249189"/>
                  <a:pt x="151760" y="246778"/>
                </a:cubicBezTo>
                <a:lnTo>
                  <a:pt x="156315" y="227974"/>
                </a:lnTo>
                <a:cubicBezTo>
                  <a:pt x="160495" y="210667"/>
                  <a:pt x="180585" y="199096"/>
                  <a:pt x="197678" y="204078"/>
                </a:cubicBezTo>
                <a:lnTo>
                  <a:pt x="216216" y="209542"/>
                </a:lnTo>
                <a:cubicBezTo>
                  <a:pt x="225055" y="199200"/>
                  <a:pt x="232022" y="187199"/>
                  <a:pt x="236577" y="174341"/>
                </a:cubicBezTo>
                <a:lnTo>
                  <a:pt x="222539" y="161001"/>
                </a:lnTo>
                <a:cubicBezTo>
                  <a:pt x="209680" y="148786"/>
                  <a:pt x="209680" y="125531"/>
                  <a:pt x="222539" y="113316"/>
                </a:cubicBezTo>
                <a:lnTo>
                  <a:pt x="236577" y="99976"/>
                </a:lnTo>
                <a:cubicBezTo>
                  <a:pt x="232022" y="87119"/>
                  <a:pt x="225058" y="75114"/>
                  <a:pt x="216216" y="64775"/>
                </a:cubicBezTo>
                <a:lnTo>
                  <a:pt x="197678" y="70240"/>
                </a:lnTo>
                <a:cubicBezTo>
                  <a:pt x="180640" y="75276"/>
                  <a:pt x="160495" y="63650"/>
                  <a:pt x="156315" y="46344"/>
                </a:cubicBezTo>
                <a:lnTo>
                  <a:pt x="151760" y="27539"/>
                </a:lnTo>
                <a:cubicBezTo>
                  <a:pt x="138581" y="25128"/>
                  <a:pt x="124275" y="25128"/>
                  <a:pt x="111093" y="27539"/>
                </a:cubicBezTo>
                <a:lnTo>
                  <a:pt x="111041" y="27539"/>
                </a:lnTo>
                <a:moveTo>
                  <a:pt x="105629" y="137160"/>
                </a:moveTo>
                <a:cubicBezTo>
                  <a:pt x="105629" y="151364"/>
                  <a:pt x="117143" y="162878"/>
                  <a:pt x="131347" y="162878"/>
                </a:cubicBezTo>
                <a:cubicBezTo>
                  <a:pt x="145550" y="162878"/>
                  <a:pt x="157064" y="151364"/>
                  <a:pt x="157064" y="137160"/>
                </a:cubicBezTo>
                <a:cubicBezTo>
                  <a:pt x="157064" y="122956"/>
                  <a:pt x="145550" y="111443"/>
                  <a:pt x="131347" y="111443"/>
                </a:cubicBezTo>
                <a:cubicBezTo>
                  <a:pt x="117143" y="111443"/>
                  <a:pt x="105629" y="122956"/>
                  <a:pt x="105629" y="137160"/>
                </a:cubicBezTo>
                <a:lnTo>
                  <a:pt x="105629" y="137160"/>
                </a:lnTo>
                <a:moveTo>
                  <a:pt x="131347" y="188595"/>
                </a:moveTo>
                <a:cubicBezTo>
                  <a:pt x="102940" y="188595"/>
                  <a:pt x="79912" y="165566"/>
                  <a:pt x="79912" y="137160"/>
                </a:cubicBezTo>
                <a:cubicBezTo>
                  <a:pt x="79912" y="108754"/>
                  <a:pt x="102940" y="85725"/>
                  <a:pt x="131347" y="85725"/>
                </a:cubicBezTo>
                <a:cubicBezTo>
                  <a:pt x="159754" y="85725"/>
                  <a:pt x="182781" y="108754"/>
                  <a:pt x="182781" y="137160"/>
                </a:cubicBezTo>
                <a:cubicBezTo>
                  <a:pt x="182781" y="165566"/>
                  <a:pt x="159754" y="188595"/>
                  <a:pt x="131347" y="188595"/>
                </a:cubicBezTo>
                <a:lnTo>
                  <a:pt x="131347" y="188595"/>
                </a:lnTo>
              </a:path>
            </a:pathLst>
          </a:custGeom>
          <a:solidFill>
            <a:srgbClr val="FFFFFF"/>
          </a:solidFill>
          <a:ln/>
        </p:spPr>
        <p:txBody>
          <a:bodyPr wrap="square" lIns="0" tIns="0" rIns="0" bIns="0" rtlCol="0" anchor="ctr"/>
          <a:lstStyle/>
          <a:p>
            <a:pPr indent="0" marL="0">
              <a:buNone/>
            </a:pPr>
            <a:endParaRPr lang="en-US" dirty="0"/>
          </a:p>
        </p:txBody>
      </p:sp>
      <p:sp>
        <p:nvSpPr>
          <p:cNvPr id="22" name="Text 20"/>
          <p:cNvSpPr/>
          <p:nvPr/>
        </p:nvSpPr>
        <p:spPr>
          <a:xfrm>
            <a:off x="1138578" y="4751563"/>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Track the speed and effectiveness of reactions. Mean Time to Respond (MTTR) should decrease as AI accelerates triage processes. Containment effectiveness improves when humans apply context-aware decisions. Consistency of response increases with AI-supported playbooks guiding actions.</a:t>
            </a:r>
            <a:endParaRPr lang="en-US" sz="1492" dirty="0"/>
          </a:p>
        </p:txBody>
      </p:sp>
      <p:sp>
        <p:nvSpPr>
          <p:cNvPr id="23" name="Text 21"/>
          <p:cNvSpPr/>
          <p:nvPr/>
        </p:nvSpPr>
        <p:spPr>
          <a:xfrm>
            <a:off x="1138578" y="4178352"/>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Response Metrics</a:t>
            </a:r>
            <a:endParaRPr lang="en-US" sz="2030" dirty="0"/>
          </a:p>
        </p:txBody>
      </p:sp>
      <p:sp>
        <p:nvSpPr>
          <p:cNvPr id="24" name="Text 22"/>
          <p:cNvSpPr/>
          <p:nvPr/>
        </p:nvSpPr>
        <p:spPr>
          <a:xfrm>
            <a:off x="614199" y="4202888"/>
            <a:ext cx="222929" cy="274320"/>
          </a:xfrm>
          <a:custGeom>
            <a:avLst/>
            <a:gdLst/>
            <a:ahLst/>
            <a:cxnLst/>
            <a:rect l="l" t="t" r="r" b="b"/>
            <a:pathLst>
              <a:path w="222929" h="274320">
                <a:moveTo>
                  <a:pt x="68593" y="12860"/>
                </a:moveTo>
                <a:cubicBezTo>
                  <a:pt x="68593" y="5733"/>
                  <a:pt x="74327" y="0"/>
                  <a:pt x="81454" y="0"/>
                </a:cubicBezTo>
                <a:lnTo>
                  <a:pt x="141473" y="0"/>
                </a:lnTo>
                <a:cubicBezTo>
                  <a:pt x="148600" y="0"/>
                  <a:pt x="154333" y="5733"/>
                  <a:pt x="154333" y="12860"/>
                </a:cubicBezTo>
                <a:cubicBezTo>
                  <a:pt x="154333" y="19987"/>
                  <a:pt x="148600" y="25720"/>
                  <a:pt x="141473" y="25720"/>
                </a:cubicBezTo>
                <a:lnTo>
                  <a:pt x="124325" y="25720"/>
                </a:lnTo>
                <a:lnTo>
                  <a:pt x="124325" y="52192"/>
                </a:lnTo>
                <a:cubicBezTo>
                  <a:pt x="147583" y="54872"/>
                  <a:pt x="168697" y="64679"/>
                  <a:pt x="185309" y="79468"/>
                </a:cubicBezTo>
                <a:lnTo>
                  <a:pt x="200957" y="63766"/>
                </a:lnTo>
                <a:cubicBezTo>
                  <a:pt x="205995" y="58729"/>
                  <a:pt x="214138" y="58729"/>
                  <a:pt x="219123" y="63766"/>
                </a:cubicBezTo>
                <a:cubicBezTo>
                  <a:pt x="224108" y="68802"/>
                  <a:pt x="224161" y="76949"/>
                  <a:pt x="219123" y="81931"/>
                </a:cubicBezTo>
                <a:lnTo>
                  <a:pt x="202510" y="98544"/>
                </a:lnTo>
                <a:cubicBezTo>
                  <a:pt x="215371" y="116709"/>
                  <a:pt x="222928" y="138896"/>
                  <a:pt x="222928" y="162850"/>
                </a:cubicBezTo>
                <a:cubicBezTo>
                  <a:pt x="222928" y="224424"/>
                  <a:pt x="173037" y="274314"/>
                  <a:pt x="111464" y="274314"/>
                </a:cubicBezTo>
                <a:cubicBezTo>
                  <a:pt x="49891" y="274314"/>
                  <a:pt x="0" y="224476"/>
                  <a:pt x="0" y="162905"/>
                </a:cubicBezTo>
                <a:cubicBezTo>
                  <a:pt x="0" y="105674"/>
                  <a:pt x="43085" y="58567"/>
                  <a:pt x="98603" y="52192"/>
                </a:cubicBezTo>
                <a:lnTo>
                  <a:pt x="98603" y="25720"/>
                </a:lnTo>
                <a:lnTo>
                  <a:pt x="81456" y="25720"/>
                </a:lnTo>
                <a:cubicBezTo>
                  <a:pt x="74329" y="25720"/>
                  <a:pt x="68595" y="19987"/>
                  <a:pt x="68595" y="12860"/>
                </a:cubicBezTo>
                <a:lnTo>
                  <a:pt x="68593" y="12860"/>
                </a:lnTo>
                <a:moveTo>
                  <a:pt x="111464" y="248652"/>
                </a:moveTo>
                <a:cubicBezTo>
                  <a:pt x="158819" y="248652"/>
                  <a:pt x="197207" y="210264"/>
                  <a:pt x="197207" y="162910"/>
                </a:cubicBezTo>
                <a:cubicBezTo>
                  <a:pt x="197207" y="115557"/>
                  <a:pt x="158819" y="77169"/>
                  <a:pt x="111464" y="77169"/>
                </a:cubicBezTo>
                <a:cubicBezTo>
                  <a:pt x="64110" y="77169"/>
                  <a:pt x="25722" y="115557"/>
                  <a:pt x="25722" y="162910"/>
                </a:cubicBezTo>
                <a:cubicBezTo>
                  <a:pt x="25722" y="210264"/>
                  <a:pt x="64110" y="248652"/>
                  <a:pt x="111464" y="248652"/>
                </a:cubicBezTo>
                <a:lnTo>
                  <a:pt x="111464" y="248652"/>
                </a:lnTo>
                <a:moveTo>
                  <a:pt x="124325" y="115752"/>
                </a:moveTo>
                <a:lnTo>
                  <a:pt x="124325" y="171483"/>
                </a:lnTo>
                <a:cubicBezTo>
                  <a:pt x="124325" y="178610"/>
                  <a:pt x="118591" y="184343"/>
                  <a:pt x="111464" y="184343"/>
                </a:cubicBezTo>
                <a:cubicBezTo>
                  <a:pt x="104337" y="184343"/>
                  <a:pt x="98604" y="178610"/>
                  <a:pt x="98604" y="171483"/>
                </a:cubicBezTo>
                <a:lnTo>
                  <a:pt x="98604" y="115752"/>
                </a:lnTo>
                <a:cubicBezTo>
                  <a:pt x="98604" y="108625"/>
                  <a:pt x="104337" y="102892"/>
                  <a:pt x="111464" y="102892"/>
                </a:cubicBezTo>
                <a:cubicBezTo>
                  <a:pt x="118591" y="102892"/>
                  <a:pt x="124325" y="108625"/>
                  <a:pt x="124325" y="115752"/>
                </a:cubicBezTo>
                <a:lnTo>
                  <a:pt x="124325" y="115752"/>
                </a:lnTo>
              </a:path>
            </a:pathLst>
          </a:custGeom>
          <a:solidFill>
            <a:srgbClr val="FFFFFF"/>
          </a:solidFill>
          <a:ln/>
        </p:spPr>
        <p:txBody>
          <a:bodyPr wrap="square" lIns="0" tIns="0" rIns="0" bIns="0" rtlCol="0" anchor="ctr"/>
          <a:lstStyle/>
          <a:p>
            <a:pPr indent="0" marL="0">
              <a:buNone/>
            </a:pPr>
            <a:endParaRPr lang="en-US" dirty="0"/>
          </a:p>
        </p:txBody>
      </p:sp>
      <p:sp>
        <p:nvSpPr>
          <p:cNvPr id="25" name="Text 23"/>
          <p:cNvSpPr/>
          <p:nvPr/>
        </p:nvSpPr>
        <p:spPr>
          <a:xfrm>
            <a:off x="1138578" y="2296218"/>
            <a:ext cx="4480560" cy="1416427"/>
          </a:xfrm>
          <a:prstGeom prst="rect">
            <a:avLst/>
          </a:prstGeom>
          <a:noFill/>
          <a:ln/>
        </p:spPr>
        <p:txBody>
          <a:bodyPr wrap="square" lIns="0" tIns="0" rIns="0" bIns="0" rtlCol="0" anchor="t"/>
          <a:lstStyle/>
          <a:p>
            <a:pPr algn="l" marL="0" indent="0">
              <a:lnSpc>
                <a:spcPct val="100000"/>
              </a:lnSpc>
              <a:spcBef>
                <a:spcPts val="1243"/>
              </a:spcBef>
              <a:buNone/>
            </a:pPr>
            <a:r>
              <a:rPr lang="en-US" sz="1492" dirty="0">
                <a:solidFill>
                  <a:srgbClr val="FFFFFF"/>
                </a:solidFill>
                <a:latin typeface="Figtree Regular" pitchFamily="34" charset="0"/>
                <a:ea typeface="Figtree Regular" pitchFamily="34" charset="-122"/>
                <a:cs typeface="Figtree Regular" pitchFamily="34" charset="-120"/>
              </a:rPr>
              <a:t>Measure how quickly threats are discovered and the breadth of coverage. Mean Time to Detect (MTTD) should decrease as AI enables faster threat surfacing. Detection coverage expands with AI monitoring diverse data sources. The discovery of novel threats improves as humans guide AI learning.</a:t>
            </a:r>
            <a:endParaRPr lang="en-US" sz="1492" dirty="0"/>
          </a:p>
        </p:txBody>
      </p:sp>
      <p:sp>
        <p:nvSpPr>
          <p:cNvPr id="26" name="Text 24"/>
          <p:cNvSpPr/>
          <p:nvPr/>
        </p:nvSpPr>
        <p:spPr>
          <a:xfrm>
            <a:off x="1138578" y="1723336"/>
            <a:ext cx="4480560" cy="491892"/>
          </a:xfrm>
          <a:prstGeom prst="rect">
            <a:avLst/>
          </a:prstGeom>
          <a:noFill/>
          <a:ln/>
        </p:spPr>
        <p:txBody>
          <a:bodyPr wrap="square" lIns="0" tIns="0" rIns="0" bIns="0" rtlCol="0" anchor="t"/>
          <a:lstStyle/>
          <a:p>
            <a:pPr algn="l" marL="0" indent="0">
              <a:lnSpc>
                <a:spcPct val="90000"/>
              </a:lnSpc>
              <a:buNone/>
            </a:pPr>
            <a:r>
              <a:rPr lang="en-US" sz="2030" dirty="0">
                <a:solidFill>
                  <a:srgbClr val="FFFFFF"/>
                </a:solidFill>
                <a:latin typeface="Figtree Regular" pitchFamily="34" charset="0"/>
                <a:ea typeface="Figtree Regular" pitchFamily="34" charset="-122"/>
                <a:cs typeface="Figtree Regular" pitchFamily="34" charset="-120"/>
              </a:rPr>
              <a:t>Detection Metrics</a:t>
            </a:r>
            <a:endParaRPr lang="en-US" sz="2030" dirty="0"/>
          </a:p>
        </p:txBody>
      </p:sp>
      <p:sp>
        <p:nvSpPr>
          <p:cNvPr id="27" name="Text 25"/>
          <p:cNvSpPr/>
          <p:nvPr/>
        </p:nvSpPr>
        <p:spPr>
          <a:xfrm>
            <a:off x="588503" y="1746044"/>
            <a:ext cx="274320" cy="274246"/>
          </a:xfrm>
          <a:custGeom>
            <a:avLst/>
            <a:gdLst/>
            <a:ahLst/>
            <a:cxnLst/>
            <a:rect l="l" t="t" r="r" b="b"/>
            <a:pathLst>
              <a:path w="274320" h="274246">
                <a:moveTo>
                  <a:pt x="197148" y="111432"/>
                </a:moveTo>
                <a:cubicBezTo>
                  <a:pt x="197148" y="64091"/>
                  <a:pt x="158771" y="25716"/>
                  <a:pt x="111431" y="25716"/>
                </a:cubicBezTo>
                <a:cubicBezTo>
                  <a:pt x="64092" y="25716"/>
                  <a:pt x="25715" y="64091"/>
                  <a:pt x="25715" y="111432"/>
                </a:cubicBezTo>
                <a:cubicBezTo>
                  <a:pt x="25715" y="158772"/>
                  <a:pt x="64092" y="197147"/>
                  <a:pt x="111431" y="197147"/>
                </a:cubicBezTo>
                <a:cubicBezTo>
                  <a:pt x="158771" y="197147"/>
                  <a:pt x="197148" y="158772"/>
                  <a:pt x="197148" y="111432"/>
                </a:cubicBezTo>
                <a:lnTo>
                  <a:pt x="197148" y="111432"/>
                </a:lnTo>
                <a:moveTo>
                  <a:pt x="180593" y="198809"/>
                </a:moveTo>
                <a:cubicBezTo>
                  <a:pt x="161629" y="213863"/>
                  <a:pt x="137574" y="222864"/>
                  <a:pt x="111431" y="222864"/>
                </a:cubicBezTo>
                <a:cubicBezTo>
                  <a:pt x="49877" y="222864"/>
                  <a:pt x="0" y="172986"/>
                  <a:pt x="0" y="111432"/>
                </a:cubicBezTo>
                <a:cubicBezTo>
                  <a:pt x="0" y="49877"/>
                  <a:pt x="49877" y="0"/>
                  <a:pt x="111431" y="0"/>
                </a:cubicBezTo>
                <a:cubicBezTo>
                  <a:pt x="172986" y="0"/>
                  <a:pt x="222863" y="49877"/>
                  <a:pt x="222863" y="111432"/>
                </a:cubicBezTo>
                <a:cubicBezTo>
                  <a:pt x="222863" y="137576"/>
                  <a:pt x="213863" y="161630"/>
                  <a:pt x="198808" y="180594"/>
                </a:cubicBezTo>
                <a:lnTo>
                  <a:pt x="270543" y="252329"/>
                </a:lnTo>
                <a:cubicBezTo>
                  <a:pt x="275579" y="257364"/>
                  <a:pt x="275579" y="265509"/>
                  <a:pt x="270543" y="270489"/>
                </a:cubicBezTo>
                <a:cubicBezTo>
                  <a:pt x="265506" y="275472"/>
                  <a:pt x="257364" y="275524"/>
                  <a:pt x="252383" y="270489"/>
                </a:cubicBezTo>
                <a:lnTo>
                  <a:pt x="180593" y="198809"/>
                </a:lnTo>
              </a:path>
            </a:pathLst>
          </a:custGeom>
          <a:solidFill>
            <a:srgbClr val="FFFFFF"/>
          </a:solidFill>
          <a:ln/>
        </p:spPr>
        <p:txBody>
          <a:bodyPr wrap="square" lIns="0" tIns="0" rIns="0" bIns="0" rtlCol="0" anchor="ctr"/>
          <a:lstStyle/>
          <a:p>
            <a:pPr indent="0" marL="0">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B3041">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671147"/>
            <a:ext cx="7586986" cy="4305530"/>
          </a:xfrm>
          <a:custGeom>
            <a:avLst/>
            <a:gdLst/>
            <a:ahLst/>
            <a:cxnLst/>
            <a:rect l="l" t="t" r="r" b="b"/>
            <a:pathLst>
              <a:path w="7586986" h="4305530">
                <a:moveTo>
                  <a:pt x="164182" y="4305530"/>
                </a:moveTo>
                <a:cubicBezTo>
                  <a:pt x="73518" y="4305530"/>
                  <a:pt x="0" y="4232035"/>
                  <a:pt x="0" y="4141360"/>
                </a:cubicBezTo>
                <a:lnTo>
                  <a:pt x="0" y="164170"/>
                </a:lnTo>
                <a:cubicBezTo>
                  <a:pt x="0" y="73495"/>
                  <a:pt x="73518" y="0"/>
                  <a:pt x="164182" y="0"/>
                </a:cubicBezTo>
                <a:lnTo>
                  <a:pt x="7422804" y="0"/>
                </a:lnTo>
                <a:cubicBezTo>
                  <a:pt x="7513468" y="0"/>
                  <a:pt x="7586986" y="73495"/>
                  <a:pt x="7586986" y="164170"/>
                </a:cubicBezTo>
                <a:lnTo>
                  <a:pt x="7586986" y="4141360"/>
                </a:lnTo>
                <a:cubicBezTo>
                  <a:pt x="7586986" y="4232035"/>
                  <a:pt x="7513468" y="4305530"/>
                  <a:pt x="7422804" y="4305530"/>
                </a:cubicBezTo>
                <a:lnTo>
                  <a:pt x="164182"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16769" y="2041912"/>
            <a:ext cx="6769440" cy="3564000"/>
          </a:xfrm>
          <a:prstGeom prst="rect">
            <a:avLst/>
          </a:prstGeom>
          <a:noFill/>
          <a:ln/>
        </p:spPr>
        <p:txBody>
          <a:bodyPr wrap="square" lIns="0" tIns="0" rIns="0" bIns="0" rtlCol="0" anchor="t"/>
          <a:lstStyle/>
          <a:p>
            <a:pPr algn="l" marL="0" indent="0">
              <a:lnSpc>
                <a:spcPct val="100000"/>
              </a:lnSpc>
              <a:spcBef>
                <a:spcPts val="1269"/>
              </a:spcBef>
              <a:buNone/>
            </a:pPr>
            <a:r>
              <a:rPr lang="en-US" sz="2030" dirty="0">
                <a:solidFill>
                  <a:srgbClr val="FFFFFF"/>
                </a:solidFill>
                <a:latin typeface="Figtree Regular" pitchFamily="34" charset="0"/>
                <a:ea typeface="Figtree Regular" pitchFamily="34" charset="-122"/>
                <a:cs typeface="Figtree Regular" pitchFamily="34" charset="-120"/>
              </a:rPr>
              <a:t>AI-Driven Discovery Phase</a:t>
            </a:r>
            <a:endParaRPr lang="en-US" sz="2030" dirty="0"/>
          </a:p>
          <a:p>
            <a:pPr algn="l" marL="142875" indent="0">
              <a:lnSpc>
                <a:spcPct val="100000"/>
              </a:lnSpc>
              <a:spcBef>
                <a:spcPts val="1269"/>
              </a:spcBef>
              <a:buNone/>
            </a:pPr>
            <a:r>
              <a:rPr lang="en-US" sz="1725" dirty="0">
                <a:solidFill>
                  <a:srgbClr val="FFFFFF"/>
                </a:solidFill>
                <a:latin typeface="Figtree Regular" pitchFamily="34" charset="0"/>
                <a:ea typeface="Figtree Regular" pitchFamily="34" charset="-122"/>
                <a:cs typeface="Figtree Regular" pitchFamily="34" charset="-120"/>
              </a:rPr>
              <a:t>During the discovery phase of investigations, AI excels at processing vast amounts of data quickly and efficiently. It can analyze months of logs within minutes to establish a precise timeline of events related to an incident. AI correlates events across multiple systems that the attacker has accessed, identifying related indicators of compromise that might otherwise go unnoticed. It also searches threat intelligence databases for similar attacks, allowing analysts to understand potential threat actors. By assembling this comprehensive evidence package rapidly, AI provides a foundation that would take human analysts days to build, enabling faster and more informed human interpretation and response.</a:t>
            </a:r>
            <a:endParaRPr lang="en-US" sz="2030" dirty="0"/>
          </a:p>
        </p:txBody>
      </p:sp>
      <p:sp>
        <p:nvSpPr>
          <p:cNvPr id="8" name="Text 6"/>
          <p:cNvSpPr/>
          <p:nvPr/>
        </p:nvSpPr>
        <p:spPr>
          <a:xfrm>
            <a:off x="1" y="0"/>
            <a:ext cx="8534400"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9" name="Text 7"/>
          <p:cNvSpPr/>
          <p:nvPr/>
        </p:nvSpPr>
        <p:spPr>
          <a:xfrm>
            <a:off x="-1" y="447"/>
            <a:ext cx="8534401"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0" name="Text 8"/>
          <p:cNvSpPr/>
          <p:nvPr>
            <p:ph type="title"/>
          </p:nvPr>
        </p:nvSpPr>
        <p:spPr>
          <a:xfrm>
            <a:off x="505462" y="289560"/>
            <a:ext cx="7589520"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Detective Lens: AI-Driven Discovery Phase</a:t>
            </a:r>
            <a:endParaRPr lang="en-US" sz="2800" dirty="0"/>
          </a:p>
        </p:txBody>
      </p:sp>
      <p:sp>
        <p:nvSpPr>
          <p:cNvPr id="11" name="Text 9"/>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0" y="0"/>
            <a:ext cx="12192000" cy="6858000"/>
          </a:xfrm>
          <a:prstGeom prst="rect">
            <a:avLst/>
          </a:prstGeom>
          <a:solidFill>
            <a:srgbClr val="04131A"/>
          </a:solidFill>
          <a:ln/>
        </p:spPr>
        <p:txBody>
          <a:bodyPr wrap="square" lIns="0" tIns="0" rIns="0" bIns="0" rtlCol="0" anchor="ctr"/>
          <a:lstStyle/>
          <a:p>
            <a:pPr indent="0" marL="0">
              <a:buNone/>
            </a:pPr>
            <a:endParaRPr lang="en-US" dirty="0"/>
          </a:p>
        </p:txBody>
      </p:sp>
      <p:sp>
        <p:nvSpPr>
          <p:cNvPr id="3" name="Text 1"/>
          <p:cNvSpPr/>
          <p:nvPr/>
        </p:nvSpPr>
        <p:spPr>
          <a:xfrm>
            <a:off x="0" y="22"/>
            <a:ext cx="12198346" cy="6857978"/>
          </a:xfrm>
          <a:custGeom>
            <a:avLst/>
            <a:gdLst/>
            <a:ahLst/>
            <a:cxnLst/>
            <a:rect l="l" t="t" r="r" b="b"/>
            <a:pathLst>
              <a:path w="12198346" h="6857978">
                <a:moveTo>
                  <a:pt x="4260882" y="6850091"/>
                </a:moveTo>
                <a:lnTo>
                  <a:pt x="4260882" y="6851669"/>
                </a:lnTo>
                <a:lnTo>
                  <a:pt x="4267225" y="6851669"/>
                </a:lnTo>
                <a:lnTo>
                  <a:pt x="4267225" y="6850091"/>
                </a:lnTo>
                <a:lnTo>
                  <a:pt x="4260882" y="6850091"/>
                </a:lnTo>
                <a:moveTo>
                  <a:pt x="4267225" y="6248372"/>
                </a:moveTo>
                <a:lnTo>
                  <a:pt x="4267225" y="6248372"/>
                </a:lnTo>
                <a:lnTo>
                  <a:pt x="4273569" y="6248372"/>
                </a:lnTo>
                <a:lnTo>
                  <a:pt x="4273569" y="6845428"/>
                </a:lnTo>
                <a:lnTo>
                  <a:pt x="4870434" y="6845428"/>
                </a:lnTo>
                <a:lnTo>
                  <a:pt x="4870434" y="6851737"/>
                </a:lnTo>
                <a:lnTo>
                  <a:pt x="4876777" y="6851737"/>
                </a:lnTo>
                <a:lnTo>
                  <a:pt x="4876777" y="6845428"/>
                </a:lnTo>
                <a:lnTo>
                  <a:pt x="4870434" y="6845428"/>
                </a:lnTo>
                <a:lnTo>
                  <a:pt x="4870434" y="6248372"/>
                </a:lnTo>
                <a:lnTo>
                  <a:pt x="4883120" y="6248372"/>
                </a:lnTo>
                <a:lnTo>
                  <a:pt x="4883120" y="6845428"/>
                </a:lnTo>
                <a:lnTo>
                  <a:pt x="5479985" y="6845428"/>
                </a:lnTo>
                <a:lnTo>
                  <a:pt x="5479985" y="6851737"/>
                </a:lnTo>
                <a:lnTo>
                  <a:pt x="5486328" y="6851737"/>
                </a:lnTo>
                <a:lnTo>
                  <a:pt x="5486328" y="6845428"/>
                </a:lnTo>
                <a:lnTo>
                  <a:pt x="5479985" y="6845428"/>
                </a:lnTo>
                <a:lnTo>
                  <a:pt x="5479985" y="6248372"/>
                </a:lnTo>
                <a:lnTo>
                  <a:pt x="5492671" y="6248372"/>
                </a:lnTo>
                <a:lnTo>
                  <a:pt x="5492671" y="6845428"/>
                </a:lnTo>
                <a:lnTo>
                  <a:pt x="6089536" y="6845428"/>
                </a:lnTo>
                <a:lnTo>
                  <a:pt x="6089536" y="6851737"/>
                </a:lnTo>
                <a:lnTo>
                  <a:pt x="6095880" y="6851737"/>
                </a:lnTo>
                <a:lnTo>
                  <a:pt x="6095880" y="6850160"/>
                </a:lnTo>
                <a:lnTo>
                  <a:pt x="6095880" y="6845428"/>
                </a:lnTo>
                <a:lnTo>
                  <a:pt x="6089536" y="6845428"/>
                </a:lnTo>
                <a:lnTo>
                  <a:pt x="6089536" y="6248372"/>
                </a:lnTo>
                <a:lnTo>
                  <a:pt x="6095880" y="6248372"/>
                </a:lnTo>
                <a:lnTo>
                  <a:pt x="6095880" y="6248372"/>
                </a:lnTo>
                <a:lnTo>
                  <a:pt x="5492671" y="6248372"/>
                </a:lnTo>
                <a:lnTo>
                  <a:pt x="5486328" y="6248372"/>
                </a:lnTo>
                <a:lnTo>
                  <a:pt x="4883120" y="6248372"/>
                </a:lnTo>
                <a:lnTo>
                  <a:pt x="4876777" y="6248372"/>
                </a:lnTo>
                <a:lnTo>
                  <a:pt x="4273568" y="6248372"/>
                </a:lnTo>
                <a:lnTo>
                  <a:pt x="4267225" y="6248372"/>
                </a:lnTo>
                <a:moveTo>
                  <a:pt x="1212881" y="6240554"/>
                </a:moveTo>
                <a:lnTo>
                  <a:pt x="1212881" y="6242200"/>
                </a:lnTo>
                <a:lnTo>
                  <a:pt x="1219225" y="6242200"/>
                </a:lnTo>
                <a:lnTo>
                  <a:pt x="1219225" y="6240554"/>
                </a:lnTo>
                <a:lnTo>
                  <a:pt x="1212881" y="6240554"/>
                </a:lnTo>
                <a:moveTo>
                  <a:pt x="1219225" y="5638767"/>
                </a:moveTo>
                <a:lnTo>
                  <a:pt x="1219225" y="5643499"/>
                </a:lnTo>
                <a:lnTo>
                  <a:pt x="1225568" y="5643499"/>
                </a:lnTo>
                <a:lnTo>
                  <a:pt x="1225568" y="6235891"/>
                </a:lnTo>
                <a:lnTo>
                  <a:pt x="1822433" y="6235891"/>
                </a:lnTo>
                <a:lnTo>
                  <a:pt x="1822433" y="6242132"/>
                </a:lnTo>
                <a:lnTo>
                  <a:pt x="1828776" y="6242132"/>
                </a:lnTo>
                <a:lnTo>
                  <a:pt x="1828776" y="6235891"/>
                </a:lnTo>
                <a:lnTo>
                  <a:pt x="1822433" y="6235891"/>
                </a:lnTo>
                <a:lnTo>
                  <a:pt x="1822433" y="5643499"/>
                </a:lnTo>
                <a:lnTo>
                  <a:pt x="1835119" y="5643499"/>
                </a:lnTo>
                <a:lnTo>
                  <a:pt x="1835119" y="6235891"/>
                </a:lnTo>
                <a:lnTo>
                  <a:pt x="2431984" y="6235891"/>
                </a:lnTo>
                <a:lnTo>
                  <a:pt x="2431984" y="6242132"/>
                </a:lnTo>
                <a:lnTo>
                  <a:pt x="2438327" y="6242132"/>
                </a:lnTo>
                <a:lnTo>
                  <a:pt x="2438327" y="6235891"/>
                </a:lnTo>
                <a:lnTo>
                  <a:pt x="2431984" y="6235891"/>
                </a:lnTo>
                <a:lnTo>
                  <a:pt x="2431984" y="5643499"/>
                </a:lnTo>
                <a:lnTo>
                  <a:pt x="2444670" y="5643499"/>
                </a:lnTo>
                <a:lnTo>
                  <a:pt x="2444670" y="6235891"/>
                </a:lnTo>
                <a:lnTo>
                  <a:pt x="3041536" y="6235891"/>
                </a:lnTo>
                <a:lnTo>
                  <a:pt x="3041536" y="6242132"/>
                </a:lnTo>
                <a:lnTo>
                  <a:pt x="3047879" y="6242132"/>
                </a:lnTo>
                <a:lnTo>
                  <a:pt x="3047879" y="6235891"/>
                </a:lnTo>
                <a:lnTo>
                  <a:pt x="3041536" y="6235891"/>
                </a:lnTo>
                <a:lnTo>
                  <a:pt x="3041536" y="5643499"/>
                </a:lnTo>
                <a:lnTo>
                  <a:pt x="3054222" y="5643499"/>
                </a:lnTo>
                <a:lnTo>
                  <a:pt x="3054222" y="6235891"/>
                </a:lnTo>
                <a:lnTo>
                  <a:pt x="3651087" y="6235891"/>
                </a:lnTo>
                <a:lnTo>
                  <a:pt x="3651087" y="6242132"/>
                </a:lnTo>
                <a:lnTo>
                  <a:pt x="3657430" y="6242132"/>
                </a:lnTo>
                <a:lnTo>
                  <a:pt x="3657430" y="6238840"/>
                </a:lnTo>
                <a:lnTo>
                  <a:pt x="3657430" y="6238840"/>
                </a:lnTo>
                <a:lnTo>
                  <a:pt x="3657430" y="6235891"/>
                </a:lnTo>
                <a:lnTo>
                  <a:pt x="3651087" y="6235891"/>
                </a:lnTo>
                <a:lnTo>
                  <a:pt x="3651087" y="5643499"/>
                </a:lnTo>
                <a:lnTo>
                  <a:pt x="3663773" y="5643499"/>
                </a:lnTo>
                <a:lnTo>
                  <a:pt x="3663773" y="6235891"/>
                </a:lnTo>
                <a:lnTo>
                  <a:pt x="4260638" y="6235891"/>
                </a:lnTo>
                <a:lnTo>
                  <a:pt x="4260638" y="6238840"/>
                </a:lnTo>
                <a:lnTo>
                  <a:pt x="4266981" y="6238840"/>
                </a:lnTo>
                <a:lnTo>
                  <a:pt x="4266981" y="6242132"/>
                </a:lnTo>
                <a:lnTo>
                  <a:pt x="4266981" y="6242132"/>
                </a:lnTo>
                <a:lnTo>
                  <a:pt x="4266981" y="6235891"/>
                </a:lnTo>
                <a:lnTo>
                  <a:pt x="4260638" y="6235891"/>
                </a:lnTo>
                <a:lnTo>
                  <a:pt x="4260638" y="5643499"/>
                </a:lnTo>
                <a:lnTo>
                  <a:pt x="4273324" y="5643499"/>
                </a:lnTo>
                <a:lnTo>
                  <a:pt x="4273324" y="6235891"/>
                </a:lnTo>
                <a:lnTo>
                  <a:pt x="4870190" y="6235891"/>
                </a:lnTo>
                <a:lnTo>
                  <a:pt x="4870190" y="6242132"/>
                </a:lnTo>
                <a:lnTo>
                  <a:pt x="4876533" y="6242132"/>
                </a:lnTo>
                <a:lnTo>
                  <a:pt x="4876533" y="6235891"/>
                </a:lnTo>
                <a:lnTo>
                  <a:pt x="4870190" y="6235891"/>
                </a:lnTo>
                <a:lnTo>
                  <a:pt x="4870190" y="5643499"/>
                </a:lnTo>
                <a:lnTo>
                  <a:pt x="4882876" y="5643499"/>
                </a:lnTo>
                <a:lnTo>
                  <a:pt x="4882876" y="6235891"/>
                </a:lnTo>
                <a:lnTo>
                  <a:pt x="5479741" y="6235891"/>
                </a:lnTo>
                <a:lnTo>
                  <a:pt x="5479741" y="6242132"/>
                </a:lnTo>
                <a:lnTo>
                  <a:pt x="5486084" y="6242132"/>
                </a:lnTo>
                <a:lnTo>
                  <a:pt x="5486084" y="6235891"/>
                </a:lnTo>
                <a:lnTo>
                  <a:pt x="5479741" y="6235891"/>
                </a:lnTo>
                <a:lnTo>
                  <a:pt x="5479741" y="5643499"/>
                </a:lnTo>
                <a:lnTo>
                  <a:pt x="5492427" y="5643499"/>
                </a:lnTo>
                <a:lnTo>
                  <a:pt x="5492427" y="6235891"/>
                </a:lnTo>
                <a:lnTo>
                  <a:pt x="6089292" y="6235891"/>
                </a:lnTo>
                <a:lnTo>
                  <a:pt x="6089292" y="6242132"/>
                </a:lnTo>
                <a:lnTo>
                  <a:pt x="6095635" y="6242132"/>
                </a:lnTo>
                <a:lnTo>
                  <a:pt x="6095635" y="6238840"/>
                </a:lnTo>
                <a:lnTo>
                  <a:pt x="6095635" y="6235891"/>
                </a:lnTo>
                <a:lnTo>
                  <a:pt x="6089292" y="6235891"/>
                </a:lnTo>
                <a:lnTo>
                  <a:pt x="6089292" y="5643499"/>
                </a:lnTo>
                <a:lnTo>
                  <a:pt x="6101978" y="5643499"/>
                </a:lnTo>
                <a:lnTo>
                  <a:pt x="6101978" y="6235891"/>
                </a:lnTo>
                <a:lnTo>
                  <a:pt x="6698844" y="6235891"/>
                </a:lnTo>
                <a:lnTo>
                  <a:pt x="6698844" y="6238840"/>
                </a:lnTo>
                <a:lnTo>
                  <a:pt x="6705187" y="6238840"/>
                </a:lnTo>
                <a:lnTo>
                  <a:pt x="6705187" y="6235891"/>
                </a:lnTo>
                <a:lnTo>
                  <a:pt x="6698844" y="6235891"/>
                </a:lnTo>
                <a:lnTo>
                  <a:pt x="6698844" y="5643499"/>
                </a:lnTo>
                <a:lnTo>
                  <a:pt x="6711530" y="5643499"/>
                </a:lnTo>
                <a:lnTo>
                  <a:pt x="6711530" y="6235891"/>
                </a:lnTo>
                <a:lnTo>
                  <a:pt x="7308395" y="6235891"/>
                </a:lnTo>
                <a:lnTo>
                  <a:pt x="7308395" y="6242132"/>
                </a:lnTo>
                <a:lnTo>
                  <a:pt x="7314738" y="6242132"/>
                </a:lnTo>
                <a:lnTo>
                  <a:pt x="7314738" y="6235891"/>
                </a:lnTo>
                <a:lnTo>
                  <a:pt x="7308395" y="6235891"/>
                </a:lnTo>
                <a:lnTo>
                  <a:pt x="7308395" y="5643499"/>
                </a:lnTo>
                <a:lnTo>
                  <a:pt x="7321081" y="5643499"/>
                </a:lnTo>
                <a:lnTo>
                  <a:pt x="7321081" y="6235891"/>
                </a:lnTo>
                <a:lnTo>
                  <a:pt x="7917946" y="6235891"/>
                </a:lnTo>
                <a:lnTo>
                  <a:pt x="7917946" y="6242132"/>
                </a:lnTo>
                <a:lnTo>
                  <a:pt x="7924289" y="6242132"/>
                </a:lnTo>
                <a:lnTo>
                  <a:pt x="7924289" y="6235891"/>
                </a:lnTo>
                <a:lnTo>
                  <a:pt x="7917946" y="6235891"/>
                </a:lnTo>
                <a:lnTo>
                  <a:pt x="7917946" y="5643499"/>
                </a:lnTo>
                <a:lnTo>
                  <a:pt x="7930632" y="5643499"/>
                </a:lnTo>
                <a:lnTo>
                  <a:pt x="7930632" y="6235891"/>
                </a:lnTo>
                <a:lnTo>
                  <a:pt x="8527498" y="6235891"/>
                </a:lnTo>
                <a:lnTo>
                  <a:pt x="8527498" y="6242132"/>
                </a:lnTo>
                <a:lnTo>
                  <a:pt x="8533841" y="6242132"/>
                </a:lnTo>
                <a:lnTo>
                  <a:pt x="8533841" y="6235891"/>
                </a:lnTo>
                <a:lnTo>
                  <a:pt x="8527498" y="6235891"/>
                </a:lnTo>
                <a:lnTo>
                  <a:pt x="8527498" y="5643499"/>
                </a:lnTo>
                <a:lnTo>
                  <a:pt x="8540184" y="5643499"/>
                </a:lnTo>
                <a:lnTo>
                  <a:pt x="8540184" y="6235891"/>
                </a:lnTo>
                <a:lnTo>
                  <a:pt x="9137049" y="6235891"/>
                </a:lnTo>
                <a:lnTo>
                  <a:pt x="9137049" y="6242132"/>
                </a:lnTo>
                <a:lnTo>
                  <a:pt x="9143392" y="6242132"/>
                </a:lnTo>
                <a:lnTo>
                  <a:pt x="9143392" y="6235891"/>
                </a:lnTo>
                <a:lnTo>
                  <a:pt x="9137049" y="6235891"/>
                </a:lnTo>
                <a:lnTo>
                  <a:pt x="9137049" y="5643499"/>
                </a:lnTo>
                <a:lnTo>
                  <a:pt x="9149735" y="5643499"/>
                </a:lnTo>
                <a:lnTo>
                  <a:pt x="9149735" y="6235891"/>
                </a:lnTo>
                <a:lnTo>
                  <a:pt x="9746600" y="6235891"/>
                </a:lnTo>
                <a:lnTo>
                  <a:pt x="9746600" y="6242132"/>
                </a:lnTo>
                <a:lnTo>
                  <a:pt x="9752943" y="6242132"/>
                </a:lnTo>
                <a:lnTo>
                  <a:pt x="9752943" y="6235891"/>
                </a:lnTo>
                <a:lnTo>
                  <a:pt x="9746600" y="6235891"/>
                </a:lnTo>
                <a:lnTo>
                  <a:pt x="9746600" y="5643499"/>
                </a:lnTo>
                <a:lnTo>
                  <a:pt x="9759286" y="5643499"/>
                </a:lnTo>
                <a:lnTo>
                  <a:pt x="9759286" y="6235891"/>
                </a:lnTo>
                <a:lnTo>
                  <a:pt x="10356152" y="6235891"/>
                </a:lnTo>
                <a:lnTo>
                  <a:pt x="10356152" y="6242132"/>
                </a:lnTo>
                <a:lnTo>
                  <a:pt x="10362495" y="6242132"/>
                </a:lnTo>
                <a:lnTo>
                  <a:pt x="10362495" y="6240486"/>
                </a:lnTo>
                <a:lnTo>
                  <a:pt x="10362495" y="6235891"/>
                </a:lnTo>
                <a:lnTo>
                  <a:pt x="10356152" y="6235891"/>
                </a:lnTo>
                <a:lnTo>
                  <a:pt x="10356152" y="5643499"/>
                </a:lnTo>
                <a:lnTo>
                  <a:pt x="10362495" y="5643499"/>
                </a:lnTo>
                <a:lnTo>
                  <a:pt x="10362495" y="5638767"/>
                </a:lnTo>
                <a:lnTo>
                  <a:pt x="9759286" y="5638767"/>
                </a:lnTo>
                <a:lnTo>
                  <a:pt x="9752943" y="5638767"/>
                </a:lnTo>
                <a:lnTo>
                  <a:pt x="9149735" y="5638767"/>
                </a:lnTo>
                <a:lnTo>
                  <a:pt x="9143392" y="5638767"/>
                </a:lnTo>
                <a:lnTo>
                  <a:pt x="8540184" y="5638767"/>
                </a:lnTo>
                <a:lnTo>
                  <a:pt x="8533840" y="5638767"/>
                </a:lnTo>
                <a:lnTo>
                  <a:pt x="7930632" y="5638767"/>
                </a:lnTo>
                <a:lnTo>
                  <a:pt x="7924289" y="5638767"/>
                </a:lnTo>
                <a:lnTo>
                  <a:pt x="7321081" y="5638767"/>
                </a:lnTo>
                <a:lnTo>
                  <a:pt x="7314738" y="5638767"/>
                </a:lnTo>
                <a:lnTo>
                  <a:pt x="6711529" y="5638767"/>
                </a:lnTo>
                <a:lnTo>
                  <a:pt x="6705186" y="5638767"/>
                </a:lnTo>
                <a:lnTo>
                  <a:pt x="6101978" y="5638767"/>
                </a:lnTo>
                <a:lnTo>
                  <a:pt x="6095635" y="5638767"/>
                </a:lnTo>
                <a:lnTo>
                  <a:pt x="5492426" y="5638767"/>
                </a:lnTo>
                <a:lnTo>
                  <a:pt x="5486083" y="5638767"/>
                </a:lnTo>
                <a:lnTo>
                  <a:pt x="4882875" y="5638767"/>
                </a:lnTo>
                <a:lnTo>
                  <a:pt x="4876532" y="5638767"/>
                </a:lnTo>
                <a:lnTo>
                  <a:pt x="4273324" y="5638767"/>
                </a:lnTo>
                <a:lnTo>
                  <a:pt x="4266980" y="5638767"/>
                </a:lnTo>
                <a:lnTo>
                  <a:pt x="3663772" y="5638767"/>
                </a:lnTo>
                <a:lnTo>
                  <a:pt x="3657429" y="5638767"/>
                </a:lnTo>
                <a:lnTo>
                  <a:pt x="3054221" y="5638767"/>
                </a:lnTo>
                <a:lnTo>
                  <a:pt x="3047878" y="5638767"/>
                </a:lnTo>
                <a:lnTo>
                  <a:pt x="3047878" y="5638767"/>
                </a:lnTo>
                <a:lnTo>
                  <a:pt x="2444669" y="5638767"/>
                </a:lnTo>
                <a:lnTo>
                  <a:pt x="2438326" y="5638767"/>
                </a:lnTo>
                <a:lnTo>
                  <a:pt x="2438326" y="5638767"/>
                </a:lnTo>
                <a:lnTo>
                  <a:pt x="1835118" y="5638767"/>
                </a:lnTo>
                <a:lnTo>
                  <a:pt x="1828775" y="5638767"/>
                </a:lnTo>
                <a:lnTo>
                  <a:pt x="1828775" y="5638767"/>
                </a:lnTo>
                <a:lnTo>
                  <a:pt x="1225567" y="5638767"/>
                </a:lnTo>
                <a:lnTo>
                  <a:pt x="1219223" y="5638767"/>
                </a:lnTo>
                <a:lnTo>
                  <a:pt x="1219225" y="5638767"/>
                </a:lnTo>
                <a:moveTo>
                  <a:pt x="3651209" y="5630949"/>
                </a:moveTo>
                <a:lnTo>
                  <a:pt x="3651209" y="5632389"/>
                </a:lnTo>
                <a:lnTo>
                  <a:pt x="3657552" y="5632389"/>
                </a:lnTo>
                <a:lnTo>
                  <a:pt x="3657552" y="5630949"/>
                </a:lnTo>
                <a:lnTo>
                  <a:pt x="3651209" y="5630949"/>
                </a:lnTo>
                <a:moveTo>
                  <a:pt x="11588795" y="5029161"/>
                </a:moveTo>
                <a:lnTo>
                  <a:pt x="11588795" y="5625942"/>
                </a:lnTo>
                <a:lnTo>
                  <a:pt x="12185660" y="5625942"/>
                </a:lnTo>
                <a:lnTo>
                  <a:pt x="12185660" y="5632389"/>
                </a:lnTo>
                <a:lnTo>
                  <a:pt x="12192003" y="5632389"/>
                </a:lnTo>
                <a:lnTo>
                  <a:pt x="12192003" y="5625942"/>
                </a:lnTo>
                <a:lnTo>
                  <a:pt x="12185660" y="5625942"/>
                </a:lnTo>
                <a:lnTo>
                  <a:pt x="12185660" y="5029161"/>
                </a:lnTo>
                <a:lnTo>
                  <a:pt x="11588795" y="5029161"/>
                </a:lnTo>
                <a:moveTo>
                  <a:pt x="10979121" y="5029161"/>
                </a:moveTo>
                <a:lnTo>
                  <a:pt x="10979121" y="5625942"/>
                </a:lnTo>
                <a:lnTo>
                  <a:pt x="11575986" y="5625942"/>
                </a:lnTo>
                <a:lnTo>
                  <a:pt x="11575986" y="5632389"/>
                </a:lnTo>
                <a:lnTo>
                  <a:pt x="11582330" y="5632389"/>
                </a:lnTo>
                <a:lnTo>
                  <a:pt x="11582330" y="5625942"/>
                </a:lnTo>
                <a:lnTo>
                  <a:pt x="11575986" y="5625942"/>
                </a:lnTo>
                <a:lnTo>
                  <a:pt x="11575986" y="5029161"/>
                </a:lnTo>
                <a:lnTo>
                  <a:pt x="10979121" y="5029161"/>
                </a:lnTo>
                <a:moveTo>
                  <a:pt x="10369570" y="5029161"/>
                </a:moveTo>
                <a:lnTo>
                  <a:pt x="10369570" y="5625942"/>
                </a:lnTo>
                <a:lnTo>
                  <a:pt x="10966435" y="5625942"/>
                </a:lnTo>
                <a:lnTo>
                  <a:pt x="10966435" y="5629234"/>
                </a:lnTo>
                <a:lnTo>
                  <a:pt x="10972778" y="5629234"/>
                </a:lnTo>
                <a:lnTo>
                  <a:pt x="10972778" y="5625942"/>
                </a:lnTo>
                <a:lnTo>
                  <a:pt x="10966435" y="5625942"/>
                </a:lnTo>
                <a:lnTo>
                  <a:pt x="10966435" y="5029161"/>
                </a:lnTo>
                <a:lnTo>
                  <a:pt x="10369570" y="5029161"/>
                </a:lnTo>
                <a:moveTo>
                  <a:pt x="9759897" y="5029161"/>
                </a:moveTo>
                <a:lnTo>
                  <a:pt x="9759897" y="5625942"/>
                </a:lnTo>
                <a:lnTo>
                  <a:pt x="10356762" y="5625942"/>
                </a:lnTo>
                <a:lnTo>
                  <a:pt x="10356762" y="5632389"/>
                </a:lnTo>
                <a:lnTo>
                  <a:pt x="10363105" y="5632389"/>
                </a:lnTo>
                <a:lnTo>
                  <a:pt x="10363105" y="5629303"/>
                </a:lnTo>
                <a:lnTo>
                  <a:pt x="10363105" y="5626011"/>
                </a:lnTo>
                <a:lnTo>
                  <a:pt x="10356762" y="5626011"/>
                </a:lnTo>
                <a:lnTo>
                  <a:pt x="10356762" y="5029230"/>
                </a:lnTo>
                <a:lnTo>
                  <a:pt x="9759897" y="5029161"/>
                </a:lnTo>
                <a:moveTo>
                  <a:pt x="9150345" y="5029161"/>
                </a:moveTo>
                <a:lnTo>
                  <a:pt x="9150345" y="5625942"/>
                </a:lnTo>
                <a:lnTo>
                  <a:pt x="9747210" y="5625942"/>
                </a:lnTo>
                <a:lnTo>
                  <a:pt x="9747210" y="5632389"/>
                </a:lnTo>
                <a:lnTo>
                  <a:pt x="9753554" y="5632389"/>
                </a:lnTo>
                <a:lnTo>
                  <a:pt x="9753554" y="5625942"/>
                </a:lnTo>
                <a:lnTo>
                  <a:pt x="9747210" y="5625942"/>
                </a:lnTo>
                <a:lnTo>
                  <a:pt x="9747210" y="5029161"/>
                </a:lnTo>
                <a:lnTo>
                  <a:pt x="9150345" y="5029161"/>
                </a:lnTo>
                <a:moveTo>
                  <a:pt x="8540794" y="5029161"/>
                </a:moveTo>
                <a:lnTo>
                  <a:pt x="8540794" y="5625942"/>
                </a:lnTo>
                <a:lnTo>
                  <a:pt x="9137659" y="5625942"/>
                </a:lnTo>
                <a:lnTo>
                  <a:pt x="9137659" y="5632389"/>
                </a:lnTo>
                <a:lnTo>
                  <a:pt x="9144002" y="5632389"/>
                </a:lnTo>
                <a:lnTo>
                  <a:pt x="9144002" y="5625942"/>
                </a:lnTo>
                <a:lnTo>
                  <a:pt x="9137659" y="5625942"/>
                </a:lnTo>
                <a:lnTo>
                  <a:pt x="9137659" y="5029161"/>
                </a:lnTo>
                <a:lnTo>
                  <a:pt x="8540794" y="5029161"/>
                </a:lnTo>
                <a:moveTo>
                  <a:pt x="7931121" y="5029161"/>
                </a:moveTo>
                <a:lnTo>
                  <a:pt x="7931121" y="5625942"/>
                </a:lnTo>
                <a:lnTo>
                  <a:pt x="8527986" y="5625942"/>
                </a:lnTo>
                <a:lnTo>
                  <a:pt x="8527986" y="5632389"/>
                </a:lnTo>
                <a:lnTo>
                  <a:pt x="8534329" y="5632389"/>
                </a:lnTo>
                <a:lnTo>
                  <a:pt x="8534329" y="5625942"/>
                </a:lnTo>
                <a:lnTo>
                  <a:pt x="8527986" y="5625942"/>
                </a:lnTo>
                <a:lnTo>
                  <a:pt x="8527986" y="5029161"/>
                </a:lnTo>
                <a:lnTo>
                  <a:pt x="7931121" y="5029161"/>
                </a:lnTo>
                <a:moveTo>
                  <a:pt x="7321569" y="5029161"/>
                </a:moveTo>
                <a:lnTo>
                  <a:pt x="7321569" y="5625942"/>
                </a:lnTo>
                <a:lnTo>
                  <a:pt x="7918434" y="5625942"/>
                </a:lnTo>
                <a:lnTo>
                  <a:pt x="7918434" y="5632389"/>
                </a:lnTo>
                <a:lnTo>
                  <a:pt x="7924778" y="5632389"/>
                </a:lnTo>
                <a:lnTo>
                  <a:pt x="7924778" y="5625942"/>
                </a:lnTo>
                <a:lnTo>
                  <a:pt x="7918434" y="5625942"/>
                </a:lnTo>
                <a:lnTo>
                  <a:pt x="7918434" y="5029161"/>
                </a:lnTo>
                <a:lnTo>
                  <a:pt x="7321569" y="5029161"/>
                </a:lnTo>
                <a:moveTo>
                  <a:pt x="6102345" y="5029161"/>
                </a:moveTo>
                <a:lnTo>
                  <a:pt x="6102345" y="5625942"/>
                </a:lnTo>
                <a:lnTo>
                  <a:pt x="6699210" y="5625942"/>
                </a:lnTo>
                <a:lnTo>
                  <a:pt x="6699210" y="5632389"/>
                </a:lnTo>
                <a:lnTo>
                  <a:pt x="6705553" y="5632389"/>
                </a:lnTo>
                <a:lnTo>
                  <a:pt x="6705553" y="5630949"/>
                </a:lnTo>
                <a:lnTo>
                  <a:pt x="6705553" y="5625942"/>
                </a:lnTo>
                <a:lnTo>
                  <a:pt x="6699210" y="5625942"/>
                </a:lnTo>
                <a:lnTo>
                  <a:pt x="6699210" y="5029161"/>
                </a:lnTo>
                <a:lnTo>
                  <a:pt x="6102345" y="5029161"/>
                </a:lnTo>
                <a:moveTo>
                  <a:pt x="5492793" y="5029161"/>
                </a:moveTo>
                <a:lnTo>
                  <a:pt x="5492793" y="5625942"/>
                </a:lnTo>
                <a:lnTo>
                  <a:pt x="6089658" y="5625942"/>
                </a:lnTo>
                <a:lnTo>
                  <a:pt x="6089658" y="5632389"/>
                </a:lnTo>
                <a:lnTo>
                  <a:pt x="6096001" y="5632389"/>
                </a:lnTo>
                <a:lnTo>
                  <a:pt x="6096001" y="5625942"/>
                </a:lnTo>
                <a:lnTo>
                  <a:pt x="6089658" y="5625942"/>
                </a:lnTo>
                <a:lnTo>
                  <a:pt x="6089658" y="5029161"/>
                </a:lnTo>
                <a:lnTo>
                  <a:pt x="5492793" y="5029161"/>
                </a:lnTo>
                <a:moveTo>
                  <a:pt x="4883120" y="5029161"/>
                </a:moveTo>
                <a:lnTo>
                  <a:pt x="4883120" y="5625942"/>
                </a:lnTo>
                <a:lnTo>
                  <a:pt x="5479985" y="5625942"/>
                </a:lnTo>
                <a:lnTo>
                  <a:pt x="5479985" y="5632389"/>
                </a:lnTo>
                <a:lnTo>
                  <a:pt x="5486328" y="5632389"/>
                </a:lnTo>
                <a:lnTo>
                  <a:pt x="5486328" y="5625942"/>
                </a:lnTo>
                <a:lnTo>
                  <a:pt x="5479985" y="5625942"/>
                </a:lnTo>
                <a:lnTo>
                  <a:pt x="5479985" y="5029161"/>
                </a:lnTo>
                <a:lnTo>
                  <a:pt x="4883120" y="5029161"/>
                </a:lnTo>
                <a:moveTo>
                  <a:pt x="4273569" y="5029161"/>
                </a:moveTo>
                <a:lnTo>
                  <a:pt x="4273569" y="5625942"/>
                </a:lnTo>
                <a:lnTo>
                  <a:pt x="4870434" y="5625942"/>
                </a:lnTo>
                <a:lnTo>
                  <a:pt x="4870434" y="5632389"/>
                </a:lnTo>
                <a:lnTo>
                  <a:pt x="4876777" y="5632389"/>
                </a:lnTo>
                <a:lnTo>
                  <a:pt x="4876777" y="5625942"/>
                </a:lnTo>
                <a:lnTo>
                  <a:pt x="4870434" y="5625942"/>
                </a:lnTo>
                <a:lnTo>
                  <a:pt x="4870434" y="5029161"/>
                </a:lnTo>
                <a:lnTo>
                  <a:pt x="4273569" y="5029161"/>
                </a:lnTo>
                <a:moveTo>
                  <a:pt x="3663895" y="5029161"/>
                </a:moveTo>
                <a:lnTo>
                  <a:pt x="3663895" y="5625942"/>
                </a:lnTo>
                <a:lnTo>
                  <a:pt x="4260760" y="5625942"/>
                </a:lnTo>
                <a:lnTo>
                  <a:pt x="4260760" y="5632389"/>
                </a:lnTo>
                <a:lnTo>
                  <a:pt x="4267103" y="5632389"/>
                </a:lnTo>
                <a:lnTo>
                  <a:pt x="4267103" y="5625942"/>
                </a:lnTo>
                <a:lnTo>
                  <a:pt x="4260760" y="5625942"/>
                </a:lnTo>
                <a:lnTo>
                  <a:pt x="4260760" y="5029161"/>
                </a:lnTo>
                <a:lnTo>
                  <a:pt x="3663895" y="5029161"/>
                </a:lnTo>
                <a:moveTo>
                  <a:pt x="2444793" y="5029161"/>
                </a:moveTo>
                <a:lnTo>
                  <a:pt x="2444793" y="5625942"/>
                </a:lnTo>
                <a:lnTo>
                  <a:pt x="3041658" y="5625942"/>
                </a:lnTo>
                <a:lnTo>
                  <a:pt x="3041658" y="5632389"/>
                </a:lnTo>
                <a:lnTo>
                  <a:pt x="3048001" y="5632389"/>
                </a:lnTo>
                <a:lnTo>
                  <a:pt x="3048001" y="5625942"/>
                </a:lnTo>
                <a:lnTo>
                  <a:pt x="3041658" y="5625942"/>
                </a:lnTo>
                <a:lnTo>
                  <a:pt x="3041658" y="5029161"/>
                </a:lnTo>
                <a:lnTo>
                  <a:pt x="2444793" y="5029161"/>
                </a:lnTo>
                <a:moveTo>
                  <a:pt x="1835119" y="5029161"/>
                </a:moveTo>
                <a:lnTo>
                  <a:pt x="1835119" y="5625942"/>
                </a:lnTo>
                <a:lnTo>
                  <a:pt x="2431984" y="5625942"/>
                </a:lnTo>
                <a:lnTo>
                  <a:pt x="2431984" y="5632389"/>
                </a:lnTo>
                <a:lnTo>
                  <a:pt x="2438327" y="5632389"/>
                </a:lnTo>
                <a:lnTo>
                  <a:pt x="2438327" y="5625942"/>
                </a:lnTo>
                <a:lnTo>
                  <a:pt x="2431984" y="5625942"/>
                </a:lnTo>
                <a:lnTo>
                  <a:pt x="2431984" y="5029161"/>
                </a:lnTo>
                <a:lnTo>
                  <a:pt x="1835119" y="5029161"/>
                </a:lnTo>
                <a:moveTo>
                  <a:pt x="1225568" y="5029161"/>
                </a:moveTo>
                <a:lnTo>
                  <a:pt x="1225568" y="5625942"/>
                </a:lnTo>
                <a:lnTo>
                  <a:pt x="1822433" y="5625942"/>
                </a:lnTo>
                <a:lnTo>
                  <a:pt x="1822433" y="5632389"/>
                </a:lnTo>
                <a:lnTo>
                  <a:pt x="1828776" y="5632389"/>
                </a:lnTo>
                <a:lnTo>
                  <a:pt x="1828776" y="5625942"/>
                </a:lnTo>
                <a:lnTo>
                  <a:pt x="1822433" y="5625942"/>
                </a:lnTo>
                <a:lnTo>
                  <a:pt x="1822433" y="5029161"/>
                </a:lnTo>
                <a:lnTo>
                  <a:pt x="1225568" y="5029161"/>
                </a:lnTo>
                <a:moveTo>
                  <a:pt x="616017" y="5029161"/>
                </a:moveTo>
                <a:lnTo>
                  <a:pt x="616017" y="5625942"/>
                </a:lnTo>
                <a:lnTo>
                  <a:pt x="1212882" y="5625942"/>
                </a:lnTo>
                <a:lnTo>
                  <a:pt x="1212882" y="5629234"/>
                </a:lnTo>
                <a:lnTo>
                  <a:pt x="1219225" y="5629234"/>
                </a:lnTo>
                <a:lnTo>
                  <a:pt x="1219225" y="5632320"/>
                </a:lnTo>
                <a:lnTo>
                  <a:pt x="1219225" y="5632320"/>
                </a:lnTo>
                <a:lnTo>
                  <a:pt x="1219225" y="5625874"/>
                </a:lnTo>
                <a:lnTo>
                  <a:pt x="1212882" y="5625874"/>
                </a:lnTo>
                <a:lnTo>
                  <a:pt x="1212882" y="5029092"/>
                </a:lnTo>
                <a:lnTo>
                  <a:pt x="616017" y="5029092"/>
                </a:lnTo>
                <a:lnTo>
                  <a:pt x="616017" y="5029161"/>
                </a:lnTo>
                <a:moveTo>
                  <a:pt x="11588795" y="4419555"/>
                </a:moveTo>
                <a:lnTo>
                  <a:pt x="11588795" y="5016474"/>
                </a:lnTo>
                <a:lnTo>
                  <a:pt x="11588795" y="5016611"/>
                </a:lnTo>
                <a:lnTo>
                  <a:pt x="12185660" y="5016611"/>
                </a:lnTo>
                <a:lnTo>
                  <a:pt x="12185660" y="5016474"/>
                </a:lnTo>
                <a:lnTo>
                  <a:pt x="12185660" y="4419555"/>
                </a:lnTo>
                <a:lnTo>
                  <a:pt x="11588795" y="4419555"/>
                </a:lnTo>
                <a:moveTo>
                  <a:pt x="10979121" y="4419555"/>
                </a:moveTo>
                <a:lnTo>
                  <a:pt x="10979121" y="5016474"/>
                </a:lnTo>
                <a:lnTo>
                  <a:pt x="10979121" y="5016611"/>
                </a:lnTo>
                <a:lnTo>
                  <a:pt x="11575986" y="5016611"/>
                </a:lnTo>
                <a:lnTo>
                  <a:pt x="11575986" y="5016474"/>
                </a:lnTo>
                <a:lnTo>
                  <a:pt x="11575986" y="4419555"/>
                </a:lnTo>
                <a:lnTo>
                  <a:pt x="10979121" y="4419555"/>
                </a:lnTo>
                <a:moveTo>
                  <a:pt x="10369570" y="4419555"/>
                </a:moveTo>
                <a:lnTo>
                  <a:pt x="10369570" y="5016474"/>
                </a:lnTo>
                <a:lnTo>
                  <a:pt x="10369570" y="5016611"/>
                </a:lnTo>
                <a:lnTo>
                  <a:pt x="10966435" y="5016611"/>
                </a:lnTo>
                <a:lnTo>
                  <a:pt x="10966435" y="5016474"/>
                </a:lnTo>
                <a:lnTo>
                  <a:pt x="10966435" y="4419555"/>
                </a:lnTo>
                <a:lnTo>
                  <a:pt x="10369570" y="4419555"/>
                </a:lnTo>
                <a:moveTo>
                  <a:pt x="9759897" y="4419555"/>
                </a:moveTo>
                <a:lnTo>
                  <a:pt x="9759897" y="5016474"/>
                </a:lnTo>
                <a:lnTo>
                  <a:pt x="9759897" y="5016611"/>
                </a:lnTo>
                <a:lnTo>
                  <a:pt x="10356762" y="5016611"/>
                </a:lnTo>
                <a:lnTo>
                  <a:pt x="10356762" y="5016474"/>
                </a:lnTo>
                <a:lnTo>
                  <a:pt x="10356762" y="4419555"/>
                </a:lnTo>
                <a:lnTo>
                  <a:pt x="9759897" y="4419555"/>
                </a:lnTo>
                <a:moveTo>
                  <a:pt x="9150345" y="4419555"/>
                </a:moveTo>
                <a:lnTo>
                  <a:pt x="9150345" y="5016474"/>
                </a:lnTo>
                <a:lnTo>
                  <a:pt x="9150345" y="5016611"/>
                </a:lnTo>
                <a:lnTo>
                  <a:pt x="9747210" y="5016611"/>
                </a:lnTo>
                <a:lnTo>
                  <a:pt x="9747210" y="5016474"/>
                </a:lnTo>
                <a:lnTo>
                  <a:pt x="9747210" y="4419555"/>
                </a:lnTo>
                <a:lnTo>
                  <a:pt x="9150345" y="4419555"/>
                </a:lnTo>
                <a:moveTo>
                  <a:pt x="7931121" y="4419555"/>
                </a:moveTo>
                <a:lnTo>
                  <a:pt x="7931121" y="5016474"/>
                </a:lnTo>
                <a:lnTo>
                  <a:pt x="7931121" y="5016611"/>
                </a:lnTo>
                <a:lnTo>
                  <a:pt x="8527986" y="5016611"/>
                </a:lnTo>
                <a:lnTo>
                  <a:pt x="8527986" y="5016474"/>
                </a:lnTo>
                <a:lnTo>
                  <a:pt x="8527986" y="4419555"/>
                </a:lnTo>
                <a:lnTo>
                  <a:pt x="7931121" y="4419555"/>
                </a:lnTo>
                <a:moveTo>
                  <a:pt x="7321569" y="4419555"/>
                </a:moveTo>
                <a:lnTo>
                  <a:pt x="7321569" y="5016474"/>
                </a:lnTo>
                <a:lnTo>
                  <a:pt x="7321569" y="5016611"/>
                </a:lnTo>
                <a:lnTo>
                  <a:pt x="7918434" y="5016611"/>
                </a:lnTo>
                <a:lnTo>
                  <a:pt x="7918434" y="5016474"/>
                </a:lnTo>
                <a:lnTo>
                  <a:pt x="7918434" y="4419555"/>
                </a:lnTo>
                <a:lnTo>
                  <a:pt x="7321569" y="4419555"/>
                </a:lnTo>
                <a:moveTo>
                  <a:pt x="6711896" y="4419555"/>
                </a:moveTo>
                <a:lnTo>
                  <a:pt x="6711896" y="5016474"/>
                </a:lnTo>
                <a:lnTo>
                  <a:pt x="6711896" y="5016611"/>
                </a:lnTo>
                <a:lnTo>
                  <a:pt x="7308761" y="5016611"/>
                </a:lnTo>
                <a:lnTo>
                  <a:pt x="7308761" y="5016474"/>
                </a:lnTo>
                <a:lnTo>
                  <a:pt x="7308761" y="4419555"/>
                </a:lnTo>
                <a:lnTo>
                  <a:pt x="6711896" y="4419555"/>
                </a:lnTo>
                <a:moveTo>
                  <a:pt x="6102345" y="4419555"/>
                </a:moveTo>
                <a:lnTo>
                  <a:pt x="6102345" y="5016474"/>
                </a:lnTo>
                <a:lnTo>
                  <a:pt x="6102345" y="5016611"/>
                </a:lnTo>
                <a:lnTo>
                  <a:pt x="6699210" y="5016611"/>
                </a:lnTo>
                <a:lnTo>
                  <a:pt x="6699210" y="5016474"/>
                </a:lnTo>
                <a:lnTo>
                  <a:pt x="6699210" y="4419555"/>
                </a:lnTo>
                <a:lnTo>
                  <a:pt x="6102345" y="4419555"/>
                </a:lnTo>
                <a:moveTo>
                  <a:pt x="5492793" y="4419555"/>
                </a:moveTo>
                <a:lnTo>
                  <a:pt x="5492793" y="5016611"/>
                </a:lnTo>
                <a:lnTo>
                  <a:pt x="6089658" y="5016611"/>
                </a:lnTo>
                <a:lnTo>
                  <a:pt x="6089658" y="5016474"/>
                </a:lnTo>
                <a:lnTo>
                  <a:pt x="6089658" y="4419555"/>
                </a:lnTo>
                <a:lnTo>
                  <a:pt x="5492793" y="4419555"/>
                </a:lnTo>
                <a:moveTo>
                  <a:pt x="4273569" y="4419555"/>
                </a:moveTo>
                <a:lnTo>
                  <a:pt x="4273569" y="5016611"/>
                </a:lnTo>
                <a:lnTo>
                  <a:pt x="4870434" y="5016611"/>
                </a:lnTo>
                <a:lnTo>
                  <a:pt x="4870434" y="5016474"/>
                </a:lnTo>
                <a:lnTo>
                  <a:pt x="4870434" y="4419555"/>
                </a:lnTo>
                <a:lnTo>
                  <a:pt x="4273569" y="4419555"/>
                </a:lnTo>
                <a:moveTo>
                  <a:pt x="3664017" y="4419555"/>
                </a:moveTo>
                <a:lnTo>
                  <a:pt x="3664017" y="5016611"/>
                </a:lnTo>
                <a:lnTo>
                  <a:pt x="4260882" y="5016611"/>
                </a:lnTo>
                <a:lnTo>
                  <a:pt x="4260882" y="5016474"/>
                </a:lnTo>
                <a:lnTo>
                  <a:pt x="4260882" y="5016474"/>
                </a:lnTo>
                <a:lnTo>
                  <a:pt x="4260882" y="4419555"/>
                </a:lnTo>
                <a:lnTo>
                  <a:pt x="3664017" y="4419555"/>
                </a:lnTo>
                <a:moveTo>
                  <a:pt x="3054344" y="4419555"/>
                </a:moveTo>
                <a:lnTo>
                  <a:pt x="3054344" y="5016611"/>
                </a:lnTo>
                <a:lnTo>
                  <a:pt x="3651209" y="5016611"/>
                </a:lnTo>
                <a:lnTo>
                  <a:pt x="3651209" y="5016474"/>
                </a:lnTo>
                <a:lnTo>
                  <a:pt x="3651209" y="5016474"/>
                </a:lnTo>
                <a:lnTo>
                  <a:pt x="3651209" y="4419555"/>
                </a:lnTo>
                <a:lnTo>
                  <a:pt x="3054344" y="4419555"/>
                </a:lnTo>
                <a:moveTo>
                  <a:pt x="2444793" y="4419555"/>
                </a:moveTo>
                <a:lnTo>
                  <a:pt x="2444793" y="5016611"/>
                </a:lnTo>
                <a:lnTo>
                  <a:pt x="3041658" y="5016611"/>
                </a:lnTo>
                <a:lnTo>
                  <a:pt x="3041658" y="5016474"/>
                </a:lnTo>
                <a:lnTo>
                  <a:pt x="3041658" y="5016474"/>
                </a:lnTo>
                <a:lnTo>
                  <a:pt x="3041658" y="4419555"/>
                </a:lnTo>
                <a:lnTo>
                  <a:pt x="2444793" y="4419555"/>
                </a:lnTo>
                <a:moveTo>
                  <a:pt x="1835119" y="4419555"/>
                </a:moveTo>
                <a:lnTo>
                  <a:pt x="1835119" y="5016611"/>
                </a:lnTo>
                <a:lnTo>
                  <a:pt x="2431984" y="5016611"/>
                </a:lnTo>
                <a:lnTo>
                  <a:pt x="2431984" y="5016474"/>
                </a:lnTo>
                <a:lnTo>
                  <a:pt x="2431984" y="5016474"/>
                </a:lnTo>
                <a:lnTo>
                  <a:pt x="2431984" y="4419555"/>
                </a:lnTo>
                <a:lnTo>
                  <a:pt x="1835119" y="4419555"/>
                </a:lnTo>
                <a:moveTo>
                  <a:pt x="1225568" y="4419555"/>
                </a:moveTo>
                <a:lnTo>
                  <a:pt x="1225568" y="5016611"/>
                </a:lnTo>
                <a:lnTo>
                  <a:pt x="1822433" y="5016611"/>
                </a:lnTo>
                <a:lnTo>
                  <a:pt x="1822433" y="5016474"/>
                </a:lnTo>
                <a:lnTo>
                  <a:pt x="1822433" y="5016474"/>
                </a:lnTo>
                <a:lnTo>
                  <a:pt x="1822433" y="4419555"/>
                </a:lnTo>
                <a:lnTo>
                  <a:pt x="1225568" y="4419555"/>
                </a:lnTo>
                <a:moveTo>
                  <a:pt x="616017" y="4419555"/>
                </a:moveTo>
                <a:lnTo>
                  <a:pt x="616017" y="5016611"/>
                </a:lnTo>
                <a:lnTo>
                  <a:pt x="1212882" y="5016611"/>
                </a:lnTo>
                <a:lnTo>
                  <a:pt x="1212882" y="5016474"/>
                </a:lnTo>
                <a:lnTo>
                  <a:pt x="1212882" y="5016474"/>
                </a:lnTo>
                <a:lnTo>
                  <a:pt x="1212882" y="4419555"/>
                </a:lnTo>
                <a:lnTo>
                  <a:pt x="616017" y="4419555"/>
                </a:lnTo>
                <a:moveTo>
                  <a:pt x="2432106" y="4411737"/>
                </a:moveTo>
                <a:lnTo>
                  <a:pt x="2432106" y="4413315"/>
                </a:lnTo>
                <a:lnTo>
                  <a:pt x="2438449" y="4413315"/>
                </a:lnTo>
                <a:lnTo>
                  <a:pt x="2438449" y="4411737"/>
                </a:lnTo>
                <a:lnTo>
                  <a:pt x="2432106" y="4411737"/>
                </a:lnTo>
                <a:moveTo>
                  <a:pt x="11588795" y="3809950"/>
                </a:moveTo>
                <a:lnTo>
                  <a:pt x="11588795" y="4407005"/>
                </a:lnTo>
                <a:lnTo>
                  <a:pt x="12185660" y="4407005"/>
                </a:lnTo>
                <a:lnTo>
                  <a:pt x="12185660" y="4413315"/>
                </a:lnTo>
                <a:lnTo>
                  <a:pt x="12192003" y="4413315"/>
                </a:lnTo>
                <a:lnTo>
                  <a:pt x="12192003" y="4407005"/>
                </a:lnTo>
                <a:lnTo>
                  <a:pt x="12185660" y="4407005"/>
                </a:lnTo>
                <a:lnTo>
                  <a:pt x="12185660" y="3809950"/>
                </a:lnTo>
                <a:lnTo>
                  <a:pt x="11588795" y="3809950"/>
                </a:lnTo>
                <a:moveTo>
                  <a:pt x="10979121" y="3809950"/>
                </a:moveTo>
                <a:lnTo>
                  <a:pt x="10979121" y="4407005"/>
                </a:lnTo>
                <a:lnTo>
                  <a:pt x="11575986" y="4407005"/>
                </a:lnTo>
                <a:lnTo>
                  <a:pt x="11575986" y="4413315"/>
                </a:lnTo>
                <a:lnTo>
                  <a:pt x="11582330" y="4413315"/>
                </a:lnTo>
                <a:lnTo>
                  <a:pt x="11582330" y="4407005"/>
                </a:lnTo>
                <a:lnTo>
                  <a:pt x="11575986" y="4407005"/>
                </a:lnTo>
                <a:lnTo>
                  <a:pt x="11575986" y="3809950"/>
                </a:lnTo>
                <a:lnTo>
                  <a:pt x="10979121" y="3809950"/>
                </a:lnTo>
                <a:moveTo>
                  <a:pt x="10369570" y="3809950"/>
                </a:moveTo>
                <a:lnTo>
                  <a:pt x="10369570" y="4407005"/>
                </a:lnTo>
                <a:lnTo>
                  <a:pt x="10966435" y="4407005"/>
                </a:lnTo>
                <a:lnTo>
                  <a:pt x="10966435" y="4413315"/>
                </a:lnTo>
                <a:lnTo>
                  <a:pt x="10972778" y="4413315"/>
                </a:lnTo>
                <a:lnTo>
                  <a:pt x="10972778" y="4407005"/>
                </a:lnTo>
                <a:lnTo>
                  <a:pt x="10966435" y="4407005"/>
                </a:lnTo>
                <a:lnTo>
                  <a:pt x="10966435" y="3809950"/>
                </a:lnTo>
                <a:lnTo>
                  <a:pt x="10369570" y="3809950"/>
                </a:lnTo>
                <a:moveTo>
                  <a:pt x="9150345" y="3809950"/>
                </a:moveTo>
                <a:lnTo>
                  <a:pt x="9150345" y="4407005"/>
                </a:lnTo>
                <a:lnTo>
                  <a:pt x="9747210" y="4407005"/>
                </a:lnTo>
                <a:lnTo>
                  <a:pt x="9747210" y="4413315"/>
                </a:lnTo>
                <a:lnTo>
                  <a:pt x="9753554" y="4413315"/>
                </a:lnTo>
                <a:lnTo>
                  <a:pt x="9753554" y="4411737"/>
                </a:lnTo>
                <a:lnTo>
                  <a:pt x="9753554" y="4407005"/>
                </a:lnTo>
                <a:lnTo>
                  <a:pt x="9747210" y="4407005"/>
                </a:lnTo>
                <a:lnTo>
                  <a:pt x="9747210" y="3809950"/>
                </a:lnTo>
                <a:lnTo>
                  <a:pt x="9150345" y="3809950"/>
                </a:lnTo>
                <a:moveTo>
                  <a:pt x="8540794" y="3809950"/>
                </a:moveTo>
                <a:lnTo>
                  <a:pt x="8540794" y="4407005"/>
                </a:lnTo>
                <a:lnTo>
                  <a:pt x="9137659" y="4407005"/>
                </a:lnTo>
                <a:lnTo>
                  <a:pt x="9137659" y="4410023"/>
                </a:lnTo>
                <a:lnTo>
                  <a:pt x="9144002" y="4410023"/>
                </a:lnTo>
                <a:lnTo>
                  <a:pt x="9144002" y="4407005"/>
                </a:lnTo>
                <a:lnTo>
                  <a:pt x="9137659" y="4407005"/>
                </a:lnTo>
                <a:lnTo>
                  <a:pt x="9137659" y="3809950"/>
                </a:lnTo>
                <a:lnTo>
                  <a:pt x="8540794" y="3809950"/>
                </a:lnTo>
                <a:moveTo>
                  <a:pt x="7931121" y="3809950"/>
                </a:moveTo>
                <a:lnTo>
                  <a:pt x="7931121" y="4407005"/>
                </a:lnTo>
                <a:lnTo>
                  <a:pt x="8527986" y="4407005"/>
                </a:lnTo>
                <a:lnTo>
                  <a:pt x="8527986" y="4413315"/>
                </a:lnTo>
                <a:lnTo>
                  <a:pt x="8534329" y="4413315"/>
                </a:lnTo>
                <a:lnTo>
                  <a:pt x="8534329" y="4410091"/>
                </a:lnTo>
                <a:lnTo>
                  <a:pt x="8534329" y="4407074"/>
                </a:lnTo>
                <a:lnTo>
                  <a:pt x="8527986" y="4407074"/>
                </a:lnTo>
                <a:lnTo>
                  <a:pt x="8527986" y="3810018"/>
                </a:lnTo>
                <a:lnTo>
                  <a:pt x="7931121" y="3809950"/>
                </a:lnTo>
                <a:moveTo>
                  <a:pt x="7321569" y="3809950"/>
                </a:moveTo>
                <a:lnTo>
                  <a:pt x="7321569" y="4407005"/>
                </a:lnTo>
                <a:lnTo>
                  <a:pt x="7918434" y="4407005"/>
                </a:lnTo>
                <a:lnTo>
                  <a:pt x="7918434" y="4413315"/>
                </a:lnTo>
                <a:lnTo>
                  <a:pt x="7924778" y="4413315"/>
                </a:lnTo>
                <a:lnTo>
                  <a:pt x="7924778" y="4407005"/>
                </a:lnTo>
                <a:lnTo>
                  <a:pt x="7918434" y="4407005"/>
                </a:lnTo>
                <a:lnTo>
                  <a:pt x="7918434" y="3809950"/>
                </a:lnTo>
                <a:lnTo>
                  <a:pt x="7321569" y="3809950"/>
                </a:lnTo>
                <a:moveTo>
                  <a:pt x="6711896" y="3809950"/>
                </a:moveTo>
                <a:lnTo>
                  <a:pt x="6711896" y="4407005"/>
                </a:lnTo>
                <a:lnTo>
                  <a:pt x="7308761" y="4407005"/>
                </a:lnTo>
                <a:lnTo>
                  <a:pt x="7308761" y="4413315"/>
                </a:lnTo>
                <a:lnTo>
                  <a:pt x="7315104" y="4413315"/>
                </a:lnTo>
                <a:lnTo>
                  <a:pt x="7315104" y="4407005"/>
                </a:lnTo>
                <a:lnTo>
                  <a:pt x="7308761" y="4407005"/>
                </a:lnTo>
                <a:lnTo>
                  <a:pt x="7308761" y="3809950"/>
                </a:lnTo>
                <a:lnTo>
                  <a:pt x="6711896" y="3809950"/>
                </a:lnTo>
                <a:moveTo>
                  <a:pt x="6102345" y="3809950"/>
                </a:moveTo>
                <a:lnTo>
                  <a:pt x="6102345" y="4407005"/>
                </a:lnTo>
                <a:lnTo>
                  <a:pt x="6699210" y="4407005"/>
                </a:lnTo>
                <a:lnTo>
                  <a:pt x="6699210" y="4413315"/>
                </a:lnTo>
                <a:lnTo>
                  <a:pt x="6705553" y="4413315"/>
                </a:lnTo>
                <a:lnTo>
                  <a:pt x="6705553" y="4407005"/>
                </a:lnTo>
                <a:lnTo>
                  <a:pt x="6699210" y="4407005"/>
                </a:lnTo>
                <a:lnTo>
                  <a:pt x="6699210" y="3809950"/>
                </a:lnTo>
                <a:lnTo>
                  <a:pt x="6102345" y="3809950"/>
                </a:lnTo>
                <a:moveTo>
                  <a:pt x="5492793" y="3809950"/>
                </a:moveTo>
                <a:lnTo>
                  <a:pt x="5492793" y="4407005"/>
                </a:lnTo>
                <a:lnTo>
                  <a:pt x="6089658" y="4407005"/>
                </a:lnTo>
                <a:lnTo>
                  <a:pt x="6089658" y="4413315"/>
                </a:lnTo>
                <a:lnTo>
                  <a:pt x="6096001" y="4413315"/>
                </a:lnTo>
                <a:lnTo>
                  <a:pt x="6096001" y="4407005"/>
                </a:lnTo>
                <a:lnTo>
                  <a:pt x="6089658" y="4407005"/>
                </a:lnTo>
                <a:lnTo>
                  <a:pt x="6089658" y="3809950"/>
                </a:lnTo>
                <a:lnTo>
                  <a:pt x="5492793" y="3809950"/>
                </a:lnTo>
                <a:moveTo>
                  <a:pt x="4883120" y="3809950"/>
                </a:moveTo>
                <a:lnTo>
                  <a:pt x="4883120" y="4407005"/>
                </a:lnTo>
                <a:lnTo>
                  <a:pt x="5479985" y="4407005"/>
                </a:lnTo>
                <a:lnTo>
                  <a:pt x="5479985" y="4410023"/>
                </a:lnTo>
                <a:lnTo>
                  <a:pt x="5486328" y="4410023"/>
                </a:lnTo>
                <a:lnTo>
                  <a:pt x="5486328" y="4413246"/>
                </a:lnTo>
                <a:lnTo>
                  <a:pt x="5486328" y="4413246"/>
                </a:lnTo>
                <a:lnTo>
                  <a:pt x="5486328" y="4406937"/>
                </a:lnTo>
                <a:lnTo>
                  <a:pt x="5479985" y="4406937"/>
                </a:lnTo>
                <a:lnTo>
                  <a:pt x="5479985" y="3809881"/>
                </a:lnTo>
                <a:lnTo>
                  <a:pt x="4883120" y="3809950"/>
                </a:lnTo>
                <a:moveTo>
                  <a:pt x="4273569" y="3809950"/>
                </a:moveTo>
                <a:lnTo>
                  <a:pt x="4273569" y="4407005"/>
                </a:lnTo>
                <a:lnTo>
                  <a:pt x="4870434" y="4407005"/>
                </a:lnTo>
                <a:lnTo>
                  <a:pt x="4870434" y="4413315"/>
                </a:lnTo>
                <a:lnTo>
                  <a:pt x="4876777" y="4413315"/>
                </a:lnTo>
                <a:lnTo>
                  <a:pt x="4876777" y="4410091"/>
                </a:lnTo>
                <a:lnTo>
                  <a:pt x="4876777" y="4407074"/>
                </a:lnTo>
                <a:lnTo>
                  <a:pt x="4870434" y="4407074"/>
                </a:lnTo>
                <a:lnTo>
                  <a:pt x="4870434" y="3810018"/>
                </a:lnTo>
                <a:lnTo>
                  <a:pt x="4273569" y="3809950"/>
                </a:lnTo>
                <a:moveTo>
                  <a:pt x="3664017" y="3809950"/>
                </a:moveTo>
                <a:lnTo>
                  <a:pt x="3664017" y="4407005"/>
                </a:lnTo>
                <a:lnTo>
                  <a:pt x="4260882" y="4407005"/>
                </a:lnTo>
                <a:lnTo>
                  <a:pt x="4260882" y="4413315"/>
                </a:lnTo>
                <a:lnTo>
                  <a:pt x="4267225" y="4413315"/>
                </a:lnTo>
                <a:lnTo>
                  <a:pt x="4267225" y="4407005"/>
                </a:lnTo>
                <a:lnTo>
                  <a:pt x="4260882" y="4407005"/>
                </a:lnTo>
                <a:lnTo>
                  <a:pt x="4260882" y="3809950"/>
                </a:lnTo>
                <a:lnTo>
                  <a:pt x="3664017" y="3809950"/>
                </a:lnTo>
                <a:moveTo>
                  <a:pt x="3054344" y="3809950"/>
                </a:moveTo>
                <a:lnTo>
                  <a:pt x="3054344" y="4407005"/>
                </a:lnTo>
                <a:lnTo>
                  <a:pt x="3651209" y="4407005"/>
                </a:lnTo>
                <a:lnTo>
                  <a:pt x="3651209" y="4413315"/>
                </a:lnTo>
                <a:lnTo>
                  <a:pt x="3657552" y="4413315"/>
                </a:lnTo>
                <a:lnTo>
                  <a:pt x="3657552" y="4407005"/>
                </a:lnTo>
                <a:lnTo>
                  <a:pt x="3651209" y="4407005"/>
                </a:lnTo>
                <a:lnTo>
                  <a:pt x="3651209" y="3809950"/>
                </a:lnTo>
                <a:lnTo>
                  <a:pt x="3054344" y="3809950"/>
                </a:lnTo>
                <a:moveTo>
                  <a:pt x="2444793" y="3809950"/>
                </a:moveTo>
                <a:lnTo>
                  <a:pt x="2444793" y="4407005"/>
                </a:lnTo>
                <a:lnTo>
                  <a:pt x="3041658" y="4407005"/>
                </a:lnTo>
                <a:lnTo>
                  <a:pt x="3041658" y="4413315"/>
                </a:lnTo>
                <a:lnTo>
                  <a:pt x="3048001" y="4413315"/>
                </a:lnTo>
                <a:lnTo>
                  <a:pt x="3048001" y="4407005"/>
                </a:lnTo>
                <a:lnTo>
                  <a:pt x="3041658" y="4407005"/>
                </a:lnTo>
                <a:lnTo>
                  <a:pt x="3041658" y="3809950"/>
                </a:lnTo>
                <a:lnTo>
                  <a:pt x="2444793" y="3809950"/>
                </a:lnTo>
                <a:moveTo>
                  <a:pt x="1225568" y="3809950"/>
                </a:moveTo>
                <a:lnTo>
                  <a:pt x="1225568" y="4407005"/>
                </a:lnTo>
                <a:lnTo>
                  <a:pt x="1822433" y="4407005"/>
                </a:lnTo>
                <a:lnTo>
                  <a:pt x="1822433" y="4413315"/>
                </a:lnTo>
                <a:lnTo>
                  <a:pt x="1828776" y="4413315"/>
                </a:lnTo>
                <a:lnTo>
                  <a:pt x="1828776" y="4407005"/>
                </a:lnTo>
                <a:lnTo>
                  <a:pt x="1822433" y="4407005"/>
                </a:lnTo>
                <a:lnTo>
                  <a:pt x="1822433" y="3809950"/>
                </a:lnTo>
                <a:lnTo>
                  <a:pt x="1225568" y="3809950"/>
                </a:lnTo>
                <a:moveTo>
                  <a:pt x="616017" y="3809950"/>
                </a:moveTo>
                <a:lnTo>
                  <a:pt x="616017" y="4407005"/>
                </a:lnTo>
                <a:lnTo>
                  <a:pt x="1212882" y="4407005"/>
                </a:lnTo>
                <a:lnTo>
                  <a:pt x="1212882" y="4413315"/>
                </a:lnTo>
                <a:lnTo>
                  <a:pt x="1219225" y="4413315"/>
                </a:lnTo>
                <a:lnTo>
                  <a:pt x="1219225" y="4407005"/>
                </a:lnTo>
                <a:lnTo>
                  <a:pt x="1212882" y="4407005"/>
                </a:lnTo>
                <a:lnTo>
                  <a:pt x="1212882" y="3809950"/>
                </a:lnTo>
                <a:lnTo>
                  <a:pt x="616017" y="3809950"/>
                </a:lnTo>
                <a:moveTo>
                  <a:pt x="3651209" y="3802132"/>
                </a:moveTo>
                <a:lnTo>
                  <a:pt x="3651209" y="3803709"/>
                </a:lnTo>
                <a:lnTo>
                  <a:pt x="3657552" y="3803709"/>
                </a:lnTo>
                <a:lnTo>
                  <a:pt x="3657552" y="3802132"/>
                </a:lnTo>
                <a:lnTo>
                  <a:pt x="3651209" y="3802132"/>
                </a:lnTo>
                <a:moveTo>
                  <a:pt x="616017" y="3200413"/>
                </a:moveTo>
                <a:lnTo>
                  <a:pt x="616017" y="3797400"/>
                </a:lnTo>
                <a:lnTo>
                  <a:pt x="1212882" y="3797400"/>
                </a:lnTo>
                <a:lnTo>
                  <a:pt x="1212882" y="3803709"/>
                </a:lnTo>
                <a:lnTo>
                  <a:pt x="1219225" y="3803709"/>
                </a:lnTo>
                <a:lnTo>
                  <a:pt x="1219225" y="3797400"/>
                </a:lnTo>
                <a:lnTo>
                  <a:pt x="1212882" y="3797400"/>
                </a:lnTo>
                <a:lnTo>
                  <a:pt x="1212882" y="3200413"/>
                </a:lnTo>
                <a:lnTo>
                  <a:pt x="616017" y="3200413"/>
                </a:lnTo>
                <a:moveTo>
                  <a:pt x="9150345" y="3200413"/>
                </a:moveTo>
                <a:lnTo>
                  <a:pt x="9150345" y="3797400"/>
                </a:lnTo>
                <a:lnTo>
                  <a:pt x="9747210" y="3797400"/>
                </a:lnTo>
                <a:lnTo>
                  <a:pt x="9747210" y="3803709"/>
                </a:lnTo>
                <a:lnTo>
                  <a:pt x="9753554" y="3803709"/>
                </a:lnTo>
                <a:lnTo>
                  <a:pt x="9753554" y="3800486"/>
                </a:lnTo>
                <a:lnTo>
                  <a:pt x="9753554" y="3797468"/>
                </a:lnTo>
                <a:lnTo>
                  <a:pt x="9747210" y="3797468"/>
                </a:lnTo>
                <a:lnTo>
                  <a:pt x="9747210" y="3200481"/>
                </a:lnTo>
                <a:lnTo>
                  <a:pt x="9150345" y="3200413"/>
                </a:lnTo>
                <a:moveTo>
                  <a:pt x="8540794" y="3200413"/>
                </a:moveTo>
                <a:lnTo>
                  <a:pt x="8540794" y="3797400"/>
                </a:lnTo>
                <a:lnTo>
                  <a:pt x="9137659" y="3797400"/>
                </a:lnTo>
                <a:lnTo>
                  <a:pt x="9137659" y="3803709"/>
                </a:lnTo>
                <a:lnTo>
                  <a:pt x="9144002" y="3803709"/>
                </a:lnTo>
                <a:lnTo>
                  <a:pt x="9144002" y="3797400"/>
                </a:lnTo>
                <a:lnTo>
                  <a:pt x="9137659" y="3797400"/>
                </a:lnTo>
                <a:lnTo>
                  <a:pt x="9137659" y="3200413"/>
                </a:lnTo>
                <a:lnTo>
                  <a:pt x="8540794" y="3200413"/>
                </a:lnTo>
                <a:moveTo>
                  <a:pt x="7931121" y="3200413"/>
                </a:moveTo>
                <a:lnTo>
                  <a:pt x="7931121" y="3797400"/>
                </a:lnTo>
                <a:lnTo>
                  <a:pt x="8527986" y="3797400"/>
                </a:lnTo>
                <a:lnTo>
                  <a:pt x="8527986" y="3803709"/>
                </a:lnTo>
                <a:lnTo>
                  <a:pt x="8534329" y="3803709"/>
                </a:lnTo>
                <a:lnTo>
                  <a:pt x="8534329" y="3797400"/>
                </a:lnTo>
                <a:lnTo>
                  <a:pt x="8527986" y="3797400"/>
                </a:lnTo>
                <a:lnTo>
                  <a:pt x="8527986" y="3200413"/>
                </a:lnTo>
                <a:lnTo>
                  <a:pt x="7931121" y="3200413"/>
                </a:lnTo>
                <a:moveTo>
                  <a:pt x="7321569" y="3200413"/>
                </a:moveTo>
                <a:lnTo>
                  <a:pt x="7321569" y="3797400"/>
                </a:lnTo>
                <a:lnTo>
                  <a:pt x="7918434" y="3797400"/>
                </a:lnTo>
                <a:lnTo>
                  <a:pt x="7918434" y="3803709"/>
                </a:lnTo>
                <a:lnTo>
                  <a:pt x="7924778" y="3803709"/>
                </a:lnTo>
                <a:lnTo>
                  <a:pt x="7924778" y="3797400"/>
                </a:lnTo>
                <a:lnTo>
                  <a:pt x="7918434" y="3797400"/>
                </a:lnTo>
                <a:lnTo>
                  <a:pt x="7918434" y="3200413"/>
                </a:lnTo>
                <a:lnTo>
                  <a:pt x="7321569" y="3200413"/>
                </a:lnTo>
                <a:moveTo>
                  <a:pt x="6102345" y="3200413"/>
                </a:moveTo>
                <a:lnTo>
                  <a:pt x="6102345" y="3797400"/>
                </a:lnTo>
                <a:lnTo>
                  <a:pt x="6699210" y="3797400"/>
                </a:lnTo>
                <a:lnTo>
                  <a:pt x="6699210" y="3803709"/>
                </a:lnTo>
                <a:lnTo>
                  <a:pt x="6705553" y="3803709"/>
                </a:lnTo>
                <a:lnTo>
                  <a:pt x="6705553" y="3802132"/>
                </a:lnTo>
                <a:lnTo>
                  <a:pt x="6705553" y="3797400"/>
                </a:lnTo>
                <a:lnTo>
                  <a:pt x="6699210" y="3797400"/>
                </a:lnTo>
                <a:lnTo>
                  <a:pt x="6699210" y="3200413"/>
                </a:lnTo>
                <a:lnTo>
                  <a:pt x="6102345" y="3200413"/>
                </a:lnTo>
                <a:moveTo>
                  <a:pt x="5492793" y="3200413"/>
                </a:moveTo>
                <a:lnTo>
                  <a:pt x="5492793" y="3797400"/>
                </a:lnTo>
                <a:lnTo>
                  <a:pt x="6089658" y="3797400"/>
                </a:lnTo>
                <a:lnTo>
                  <a:pt x="6089658" y="3803709"/>
                </a:lnTo>
                <a:lnTo>
                  <a:pt x="6096001" y="3803709"/>
                </a:lnTo>
                <a:lnTo>
                  <a:pt x="6096001" y="3797400"/>
                </a:lnTo>
                <a:lnTo>
                  <a:pt x="6089658" y="3797400"/>
                </a:lnTo>
                <a:lnTo>
                  <a:pt x="6089658" y="3200413"/>
                </a:lnTo>
                <a:lnTo>
                  <a:pt x="5492793" y="3200413"/>
                </a:lnTo>
                <a:moveTo>
                  <a:pt x="4883120" y="3200413"/>
                </a:moveTo>
                <a:lnTo>
                  <a:pt x="4883120" y="3797400"/>
                </a:lnTo>
                <a:lnTo>
                  <a:pt x="5479985" y="3797400"/>
                </a:lnTo>
                <a:lnTo>
                  <a:pt x="5479985" y="3803709"/>
                </a:lnTo>
                <a:lnTo>
                  <a:pt x="5486328" y="3803709"/>
                </a:lnTo>
                <a:lnTo>
                  <a:pt x="5486328" y="3797400"/>
                </a:lnTo>
                <a:lnTo>
                  <a:pt x="5479985" y="3797400"/>
                </a:lnTo>
                <a:lnTo>
                  <a:pt x="5479985" y="3200413"/>
                </a:lnTo>
                <a:lnTo>
                  <a:pt x="4883120" y="3200413"/>
                </a:lnTo>
                <a:moveTo>
                  <a:pt x="4273569" y="3200413"/>
                </a:moveTo>
                <a:lnTo>
                  <a:pt x="4273569" y="3797400"/>
                </a:lnTo>
                <a:lnTo>
                  <a:pt x="4870434" y="3797400"/>
                </a:lnTo>
                <a:lnTo>
                  <a:pt x="4870434" y="3803709"/>
                </a:lnTo>
                <a:lnTo>
                  <a:pt x="4876777" y="3803709"/>
                </a:lnTo>
                <a:lnTo>
                  <a:pt x="4876777" y="3797400"/>
                </a:lnTo>
                <a:lnTo>
                  <a:pt x="4870434" y="3797400"/>
                </a:lnTo>
                <a:lnTo>
                  <a:pt x="4870434" y="3200413"/>
                </a:lnTo>
                <a:lnTo>
                  <a:pt x="4273569" y="3200413"/>
                </a:lnTo>
                <a:moveTo>
                  <a:pt x="3664017" y="3200413"/>
                </a:moveTo>
                <a:lnTo>
                  <a:pt x="3664017" y="3797400"/>
                </a:lnTo>
                <a:lnTo>
                  <a:pt x="4260882" y="3797400"/>
                </a:lnTo>
                <a:lnTo>
                  <a:pt x="4260882" y="3803709"/>
                </a:lnTo>
                <a:lnTo>
                  <a:pt x="4267225" y="3803709"/>
                </a:lnTo>
                <a:lnTo>
                  <a:pt x="4267225" y="3797400"/>
                </a:lnTo>
                <a:lnTo>
                  <a:pt x="4260882" y="3797400"/>
                </a:lnTo>
                <a:lnTo>
                  <a:pt x="4260882" y="3200413"/>
                </a:lnTo>
                <a:lnTo>
                  <a:pt x="3664017" y="3200413"/>
                </a:lnTo>
                <a:moveTo>
                  <a:pt x="2444793" y="3200413"/>
                </a:moveTo>
                <a:lnTo>
                  <a:pt x="2444793" y="3797400"/>
                </a:lnTo>
                <a:lnTo>
                  <a:pt x="3041658" y="3797400"/>
                </a:lnTo>
                <a:lnTo>
                  <a:pt x="3041658" y="3803709"/>
                </a:lnTo>
                <a:lnTo>
                  <a:pt x="3048001" y="3803709"/>
                </a:lnTo>
                <a:lnTo>
                  <a:pt x="3048001" y="3797400"/>
                </a:lnTo>
                <a:lnTo>
                  <a:pt x="3041658" y="3797400"/>
                </a:lnTo>
                <a:lnTo>
                  <a:pt x="3041658" y="3200413"/>
                </a:lnTo>
                <a:lnTo>
                  <a:pt x="2444793" y="3200413"/>
                </a:lnTo>
                <a:moveTo>
                  <a:pt x="1835119" y="3200413"/>
                </a:moveTo>
                <a:lnTo>
                  <a:pt x="1835119" y="3797400"/>
                </a:lnTo>
                <a:lnTo>
                  <a:pt x="2431984" y="3797400"/>
                </a:lnTo>
                <a:lnTo>
                  <a:pt x="2431984" y="3800417"/>
                </a:lnTo>
                <a:lnTo>
                  <a:pt x="2438327" y="3800417"/>
                </a:lnTo>
                <a:lnTo>
                  <a:pt x="2438327" y="3803640"/>
                </a:lnTo>
                <a:lnTo>
                  <a:pt x="2438327" y="3803640"/>
                </a:lnTo>
                <a:lnTo>
                  <a:pt x="2438327" y="3797331"/>
                </a:lnTo>
                <a:lnTo>
                  <a:pt x="2431984" y="3797331"/>
                </a:lnTo>
                <a:lnTo>
                  <a:pt x="2431984" y="3200344"/>
                </a:lnTo>
                <a:lnTo>
                  <a:pt x="1835119" y="3200344"/>
                </a:lnTo>
                <a:lnTo>
                  <a:pt x="1835119" y="3200413"/>
                </a:lnTo>
                <a:moveTo>
                  <a:pt x="1225568" y="3200413"/>
                </a:moveTo>
                <a:lnTo>
                  <a:pt x="1225568" y="3200413"/>
                </a:lnTo>
                <a:lnTo>
                  <a:pt x="1225568" y="3200413"/>
                </a:lnTo>
                <a:lnTo>
                  <a:pt x="1225568" y="3797400"/>
                </a:lnTo>
                <a:lnTo>
                  <a:pt x="1822433" y="3797400"/>
                </a:lnTo>
                <a:lnTo>
                  <a:pt x="1822433" y="3803709"/>
                </a:lnTo>
                <a:lnTo>
                  <a:pt x="1828776" y="3803709"/>
                </a:lnTo>
                <a:lnTo>
                  <a:pt x="1828776" y="3800486"/>
                </a:lnTo>
                <a:lnTo>
                  <a:pt x="1828776" y="3800486"/>
                </a:lnTo>
                <a:lnTo>
                  <a:pt x="1828776" y="3797468"/>
                </a:lnTo>
                <a:lnTo>
                  <a:pt x="1822433" y="3797468"/>
                </a:lnTo>
                <a:lnTo>
                  <a:pt x="1822433" y="3200481"/>
                </a:lnTo>
                <a:lnTo>
                  <a:pt x="1225568" y="3200413"/>
                </a:lnTo>
                <a:moveTo>
                  <a:pt x="11588795" y="3200413"/>
                </a:moveTo>
                <a:lnTo>
                  <a:pt x="11588795" y="3797400"/>
                </a:lnTo>
                <a:lnTo>
                  <a:pt x="12185660" y="3797400"/>
                </a:lnTo>
                <a:lnTo>
                  <a:pt x="12185660" y="3803709"/>
                </a:lnTo>
                <a:lnTo>
                  <a:pt x="12192003" y="3803709"/>
                </a:lnTo>
                <a:lnTo>
                  <a:pt x="12192003" y="3797400"/>
                </a:lnTo>
                <a:lnTo>
                  <a:pt x="12185660" y="3797400"/>
                </a:lnTo>
                <a:lnTo>
                  <a:pt x="12185660" y="3200413"/>
                </a:lnTo>
                <a:lnTo>
                  <a:pt x="11588795" y="3200413"/>
                </a:lnTo>
                <a:moveTo>
                  <a:pt x="10979121" y="3200413"/>
                </a:moveTo>
                <a:lnTo>
                  <a:pt x="10979121" y="3797400"/>
                </a:lnTo>
                <a:lnTo>
                  <a:pt x="11575986" y="3797400"/>
                </a:lnTo>
                <a:lnTo>
                  <a:pt x="11575986" y="3803709"/>
                </a:lnTo>
                <a:lnTo>
                  <a:pt x="11582330" y="3803709"/>
                </a:lnTo>
                <a:lnTo>
                  <a:pt x="11582330" y="3797400"/>
                </a:lnTo>
                <a:lnTo>
                  <a:pt x="11575986" y="3797400"/>
                </a:lnTo>
                <a:lnTo>
                  <a:pt x="11575986" y="3200413"/>
                </a:lnTo>
                <a:lnTo>
                  <a:pt x="10979121" y="3200413"/>
                </a:lnTo>
                <a:moveTo>
                  <a:pt x="10369570" y="3200413"/>
                </a:moveTo>
                <a:lnTo>
                  <a:pt x="10369570" y="3797400"/>
                </a:lnTo>
                <a:lnTo>
                  <a:pt x="10966435" y="3797400"/>
                </a:lnTo>
                <a:lnTo>
                  <a:pt x="10966435" y="3803709"/>
                </a:lnTo>
                <a:lnTo>
                  <a:pt x="10972778" y="3803709"/>
                </a:lnTo>
                <a:lnTo>
                  <a:pt x="10972778" y="3797400"/>
                </a:lnTo>
                <a:lnTo>
                  <a:pt x="10966435" y="3797400"/>
                </a:lnTo>
                <a:lnTo>
                  <a:pt x="10966435" y="3200413"/>
                </a:lnTo>
                <a:lnTo>
                  <a:pt x="10369570" y="3200413"/>
                </a:lnTo>
                <a:moveTo>
                  <a:pt x="9759897" y="3200413"/>
                </a:moveTo>
                <a:lnTo>
                  <a:pt x="9759897" y="3200413"/>
                </a:lnTo>
                <a:lnTo>
                  <a:pt x="9759897" y="3797400"/>
                </a:lnTo>
                <a:lnTo>
                  <a:pt x="10356762" y="3797400"/>
                </a:lnTo>
                <a:lnTo>
                  <a:pt x="10356762" y="3800417"/>
                </a:lnTo>
                <a:lnTo>
                  <a:pt x="10363105" y="3800417"/>
                </a:lnTo>
                <a:lnTo>
                  <a:pt x="10363105" y="3797400"/>
                </a:lnTo>
                <a:lnTo>
                  <a:pt x="10356762" y="3797400"/>
                </a:lnTo>
                <a:lnTo>
                  <a:pt x="10356762" y="3200413"/>
                </a:lnTo>
                <a:lnTo>
                  <a:pt x="9759897" y="3200413"/>
                </a:lnTo>
                <a:moveTo>
                  <a:pt x="11575986" y="3192526"/>
                </a:moveTo>
                <a:lnTo>
                  <a:pt x="11575986" y="3193966"/>
                </a:lnTo>
                <a:lnTo>
                  <a:pt x="11582330" y="3193966"/>
                </a:lnTo>
                <a:lnTo>
                  <a:pt x="11582330" y="3192526"/>
                </a:lnTo>
                <a:lnTo>
                  <a:pt x="11575986" y="3192526"/>
                </a:lnTo>
                <a:moveTo>
                  <a:pt x="4273569" y="2590807"/>
                </a:moveTo>
                <a:lnTo>
                  <a:pt x="4273569" y="3187657"/>
                </a:lnTo>
                <a:lnTo>
                  <a:pt x="4870434" y="3187657"/>
                </a:lnTo>
                <a:lnTo>
                  <a:pt x="4870434" y="3194035"/>
                </a:lnTo>
                <a:lnTo>
                  <a:pt x="4876777" y="3194035"/>
                </a:lnTo>
                <a:lnTo>
                  <a:pt x="4876777" y="3192595"/>
                </a:lnTo>
                <a:lnTo>
                  <a:pt x="4876777" y="3187657"/>
                </a:lnTo>
                <a:lnTo>
                  <a:pt x="4870434" y="3187657"/>
                </a:lnTo>
                <a:lnTo>
                  <a:pt x="4870434" y="2590807"/>
                </a:lnTo>
                <a:lnTo>
                  <a:pt x="4273569" y="2590807"/>
                </a:lnTo>
                <a:moveTo>
                  <a:pt x="3664017" y="2590807"/>
                </a:moveTo>
                <a:lnTo>
                  <a:pt x="3664017" y="3187657"/>
                </a:lnTo>
                <a:lnTo>
                  <a:pt x="4260882" y="3187657"/>
                </a:lnTo>
                <a:lnTo>
                  <a:pt x="4260882" y="3194035"/>
                </a:lnTo>
                <a:lnTo>
                  <a:pt x="4267225" y="3194035"/>
                </a:lnTo>
                <a:lnTo>
                  <a:pt x="4267225" y="3187657"/>
                </a:lnTo>
                <a:lnTo>
                  <a:pt x="4260882" y="3187657"/>
                </a:lnTo>
                <a:lnTo>
                  <a:pt x="4260882" y="2590807"/>
                </a:lnTo>
                <a:lnTo>
                  <a:pt x="3664017" y="2590807"/>
                </a:lnTo>
                <a:moveTo>
                  <a:pt x="3054344" y="2590807"/>
                </a:moveTo>
                <a:lnTo>
                  <a:pt x="3054344" y="3187657"/>
                </a:lnTo>
                <a:lnTo>
                  <a:pt x="3651209" y="3187657"/>
                </a:lnTo>
                <a:lnTo>
                  <a:pt x="3651209" y="3190880"/>
                </a:lnTo>
                <a:lnTo>
                  <a:pt x="3657552" y="3190880"/>
                </a:lnTo>
                <a:lnTo>
                  <a:pt x="3657552" y="3194035"/>
                </a:lnTo>
                <a:lnTo>
                  <a:pt x="3657552" y="3194035"/>
                </a:lnTo>
                <a:lnTo>
                  <a:pt x="3657552" y="3187657"/>
                </a:lnTo>
                <a:lnTo>
                  <a:pt x="3651209" y="3187657"/>
                </a:lnTo>
                <a:lnTo>
                  <a:pt x="3651209" y="2590807"/>
                </a:lnTo>
                <a:lnTo>
                  <a:pt x="3054344" y="2590807"/>
                </a:lnTo>
                <a:moveTo>
                  <a:pt x="2444793" y="2590807"/>
                </a:moveTo>
                <a:lnTo>
                  <a:pt x="2444793" y="3187657"/>
                </a:lnTo>
                <a:lnTo>
                  <a:pt x="3041658" y="3187657"/>
                </a:lnTo>
                <a:lnTo>
                  <a:pt x="3041658" y="3194035"/>
                </a:lnTo>
                <a:lnTo>
                  <a:pt x="3048001" y="3194035"/>
                </a:lnTo>
                <a:lnTo>
                  <a:pt x="3048001" y="3190880"/>
                </a:lnTo>
                <a:lnTo>
                  <a:pt x="3048001" y="3190880"/>
                </a:lnTo>
                <a:lnTo>
                  <a:pt x="3048001" y="3187657"/>
                </a:lnTo>
                <a:lnTo>
                  <a:pt x="3041658" y="3187657"/>
                </a:lnTo>
                <a:lnTo>
                  <a:pt x="3041658" y="2590807"/>
                </a:lnTo>
                <a:lnTo>
                  <a:pt x="2444793" y="2590807"/>
                </a:lnTo>
                <a:moveTo>
                  <a:pt x="1835119" y="2590807"/>
                </a:moveTo>
                <a:lnTo>
                  <a:pt x="1835119" y="3187657"/>
                </a:lnTo>
                <a:lnTo>
                  <a:pt x="2431984" y="3187657"/>
                </a:lnTo>
                <a:lnTo>
                  <a:pt x="2431984" y="3194035"/>
                </a:lnTo>
                <a:lnTo>
                  <a:pt x="2438327" y="3194035"/>
                </a:lnTo>
                <a:lnTo>
                  <a:pt x="2438327" y="3187657"/>
                </a:lnTo>
                <a:lnTo>
                  <a:pt x="2431984" y="3187657"/>
                </a:lnTo>
                <a:lnTo>
                  <a:pt x="2431984" y="2590807"/>
                </a:lnTo>
                <a:lnTo>
                  <a:pt x="1835119" y="2590807"/>
                </a:lnTo>
                <a:moveTo>
                  <a:pt x="1225568" y="2590807"/>
                </a:moveTo>
                <a:lnTo>
                  <a:pt x="1225568" y="3187657"/>
                </a:lnTo>
                <a:lnTo>
                  <a:pt x="1822433" y="3187657"/>
                </a:lnTo>
                <a:lnTo>
                  <a:pt x="1822433" y="3194035"/>
                </a:lnTo>
                <a:lnTo>
                  <a:pt x="1828776" y="3194035"/>
                </a:lnTo>
                <a:lnTo>
                  <a:pt x="1828776" y="3187657"/>
                </a:lnTo>
                <a:lnTo>
                  <a:pt x="1822433" y="3187657"/>
                </a:lnTo>
                <a:lnTo>
                  <a:pt x="1822433" y="2590807"/>
                </a:lnTo>
                <a:lnTo>
                  <a:pt x="1225568" y="2590807"/>
                </a:lnTo>
                <a:moveTo>
                  <a:pt x="616017" y="2590807"/>
                </a:moveTo>
                <a:lnTo>
                  <a:pt x="616017" y="2590807"/>
                </a:lnTo>
                <a:lnTo>
                  <a:pt x="616017" y="2590807"/>
                </a:lnTo>
                <a:lnTo>
                  <a:pt x="616017" y="3187657"/>
                </a:lnTo>
                <a:lnTo>
                  <a:pt x="1212882" y="3187657"/>
                </a:lnTo>
                <a:lnTo>
                  <a:pt x="1212882" y="3194035"/>
                </a:lnTo>
                <a:lnTo>
                  <a:pt x="1219225" y="3194035"/>
                </a:lnTo>
                <a:lnTo>
                  <a:pt x="1219225" y="3187657"/>
                </a:lnTo>
                <a:lnTo>
                  <a:pt x="1212882" y="3187657"/>
                </a:lnTo>
                <a:lnTo>
                  <a:pt x="1212882" y="2590807"/>
                </a:lnTo>
                <a:lnTo>
                  <a:pt x="616017" y="2590807"/>
                </a:lnTo>
                <a:moveTo>
                  <a:pt x="10369570" y="2590807"/>
                </a:moveTo>
                <a:lnTo>
                  <a:pt x="10369570" y="3187657"/>
                </a:lnTo>
                <a:lnTo>
                  <a:pt x="10966435" y="3187657"/>
                </a:lnTo>
                <a:lnTo>
                  <a:pt x="10966435" y="3194035"/>
                </a:lnTo>
                <a:lnTo>
                  <a:pt x="10972778" y="3194035"/>
                </a:lnTo>
                <a:lnTo>
                  <a:pt x="10972778" y="3192595"/>
                </a:lnTo>
                <a:lnTo>
                  <a:pt x="10972778" y="3187657"/>
                </a:lnTo>
                <a:lnTo>
                  <a:pt x="10966435" y="3187657"/>
                </a:lnTo>
                <a:lnTo>
                  <a:pt x="10966435" y="2590807"/>
                </a:lnTo>
                <a:lnTo>
                  <a:pt x="10369570" y="2590807"/>
                </a:lnTo>
                <a:moveTo>
                  <a:pt x="9759897" y="2590807"/>
                </a:moveTo>
                <a:lnTo>
                  <a:pt x="9759897" y="3187657"/>
                </a:lnTo>
                <a:lnTo>
                  <a:pt x="10356762" y="3187657"/>
                </a:lnTo>
                <a:lnTo>
                  <a:pt x="10356762" y="3194035"/>
                </a:lnTo>
                <a:lnTo>
                  <a:pt x="10363105" y="3194035"/>
                </a:lnTo>
                <a:lnTo>
                  <a:pt x="10363105" y="3187657"/>
                </a:lnTo>
                <a:lnTo>
                  <a:pt x="10356762" y="3187657"/>
                </a:lnTo>
                <a:lnTo>
                  <a:pt x="10356762" y="2590807"/>
                </a:lnTo>
                <a:lnTo>
                  <a:pt x="9759897" y="2590807"/>
                </a:lnTo>
                <a:moveTo>
                  <a:pt x="9150345" y="2590807"/>
                </a:moveTo>
                <a:lnTo>
                  <a:pt x="9150345" y="3187657"/>
                </a:lnTo>
                <a:lnTo>
                  <a:pt x="9747210" y="3187657"/>
                </a:lnTo>
                <a:lnTo>
                  <a:pt x="9747210" y="3194035"/>
                </a:lnTo>
                <a:lnTo>
                  <a:pt x="9753554" y="3194035"/>
                </a:lnTo>
                <a:lnTo>
                  <a:pt x="9753554" y="3187657"/>
                </a:lnTo>
                <a:lnTo>
                  <a:pt x="9747210" y="3187657"/>
                </a:lnTo>
                <a:lnTo>
                  <a:pt x="9747210" y="2590807"/>
                </a:lnTo>
                <a:lnTo>
                  <a:pt x="9150345" y="2590807"/>
                </a:lnTo>
                <a:moveTo>
                  <a:pt x="8540794" y="2590807"/>
                </a:moveTo>
                <a:lnTo>
                  <a:pt x="8540794" y="3187657"/>
                </a:lnTo>
                <a:lnTo>
                  <a:pt x="9137659" y="3187657"/>
                </a:lnTo>
                <a:lnTo>
                  <a:pt x="9137659" y="3194035"/>
                </a:lnTo>
                <a:lnTo>
                  <a:pt x="9144002" y="3194035"/>
                </a:lnTo>
                <a:lnTo>
                  <a:pt x="9144002" y="3187657"/>
                </a:lnTo>
                <a:lnTo>
                  <a:pt x="9137659" y="3187657"/>
                </a:lnTo>
                <a:lnTo>
                  <a:pt x="9137659" y="2590807"/>
                </a:lnTo>
                <a:lnTo>
                  <a:pt x="8540794" y="2590807"/>
                </a:lnTo>
                <a:moveTo>
                  <a:pt x="7931121" y="2590807"/>
                </a:moveTo>
                <a:lnTo>
                  <a:pt x="7931121" y="3187657"/>
                </a:lnTo>
                <a:lnTo>
                  <a:pt x="8527986" y="3187657"/>
                </a:lnTo>
                <a:lnTo>
                  <a:pt x="8527986" y="3194035"/>
                </a:lnTo>
                <a:lnTo>
                  <a:pt x="8534329" y="3194035"/>
                </a:lnTo>
                <a:lnTo>
                  <a:pt x="8534329" y="3187657"/>
                </a:lnTo>
                <a:lnTo>
                  <a:pt x="8527986" y="3187657"/>
                </a:lnTo>
                <a:lnTo>
                  <a:pt x="8527986" y="2590807"/>
                </a:lnTo>
                <a:lnTo>
                  <a:pt x="7931121" y="2590807"/>
                </a:lnTo>
                <a:moveTo>
                  <a:pt x="7321569" y="2590807"/>
                </a:moveTo>
                <a:lnTo>
                  <a:pt x="7321569" y="3187657"/>
                </a:lnTo>
                <a:lnTo>
                  <a:pt x="7918434" y="3187657"/>
                </a:lnTo>
                <a:lnTo>
                  <a:pt x="7918434" y="3194035"/>
                </a:lnTo>
                <a:lnTo>
                  <a:pt x="7924778" y="3194035"/>
                </a:lnTo>
                <a:lnTo>
                  <a:pt x="7924778" y="3187657"/>
                </a:lnTo>
                <a:lnTo>
                  <a:pt x="7918434" y="3187657"/>
                </a:lnTo>
                <a:lnTo>
                  <a:pt x="7918434" y="2590807"/>
                </a:lnTo>
                <a:lnTo>
                  <a:pt x="7321569" y="2590807"/>
                </a:lnTo>
                <a:moveTo>
                  <a:pt x="6711896" y="2590807"/>
                </a:moveTo>
                <a:lnTo>
                  <a:pt x="6711896" y="3187657"/>
                </a:lnTo>
                <a:lnTo>
                  <a:pt x="7308761" y="3187657"/>
                </a:lnTo>
                <a:lnTo>
                  <a:pt x="7308761" y="3190880"/>
                </a:lnTo>
                <a:lnTo>
                  <a:pt x="7315104" y="3190880"/>
                </a:lnTo>
                <a:lnTo>
                  <a:pt x="7315104" y="3187657"/>
                </a:lnTo>
                <a:lnTo>
                  <a:pt x="7308761" y="3187657"/>
                </a:lnTo>
                <a:lnTo>
                  <a:pt x="7308761" y="2590807"/>
                </a:lnTo>
                <a:lnTo>
                  <a:pt x="6711896" y="2590807"/>
                </a:lnTo>
                <a:moveTo>
                  <a:pt x="6102345" y="2590807"/>
                </a:moveTo>
                <a:lnTo>
                  <a:pt x="6102345" y="3187657"/>
                </a:lnTo>
                <a:lnTo>
                  <a:pt x="6699210" y="3187657"/>
                </a:lnTo>
                <a:lnTo>
                  <a:pt x="6699210" y="3194035"/>
                </a:lnTo>
                <a:lnTo>
                  <a:pt x="6705553" y="3194035"/>
                </a:lnTo>
                <a:lnTo>
                  <a:pt x="6705553" y="3190880"/>
                </a:lnTo>
                <a:lnTo>
                  <a:pt x="6705553" y="3187657"/>
                </a:lnTo>
                <a:lnTo>
                  <a:pt x="6699210" y="3187657"/>
                </a:lnTo>
                <a:lnTo>
                  <a:pt x="6699210" y="2590807"/>
                </a:lnTo>
                <a:lnTo>
                  <a:pt x="6102345" y="2590807"/>
                </a:lnTo>
                <a:moveTo>
                  <a:pt x="5492793" y="2590807"/>
                </a:moveTo>
                <a:lnTo>
                  <a:pt x="5492793" y="3187657"/>
                </a:lnTo>
                <a:lnTo>
                  <a:pt x="6089658" y="3187657"/>
                </a:lnTo>
                <a:lnTo>
                  <a:pt x="6089658" y="3194035"/>
                </a:lnTo>
                <a:lnTo>
                  <a:pt x="6096001" y="3194035"/>
                </a:lnTo>
                <a:lnTo>
                  <a:pt x="6096001" y="3187657"/>
                </a:lnTo>
                <a:lnTo>
                  <a:pt x="6089658" y="3187657"/>
                </a:lnTo>
                <a:lnTo>
                  <a:pt x="6089658" y="2590807"/>
                </a:lnTo>
                <a:lnTo>
                  <a:pt x="5492793" y="2590807"/>
                </a:lnTo>
                <a:moveTo>
                  <a:pt x="11588795" y="2590807"/>
                </a:moveTo>
                <a:lnTo>
                  <a:pt x="11588795" y="3187657"/>
                </a:lnTo>
                <a:lnTo>
                  <a:pt x="12185660" y="3187657"/>
                </a:lnTo>
                <a:lnTo>
                  <a:pt x="12185660" y="3194035"/>
                </a:lnTo>
                <a:lnTo>
                  <a:pt x="12192003" y="3194035"/>
                </a:lnTo>
                <a:lnTo>
                  <a:pt x="12192003" y="3187657"/>
                </a:lnTo>
                <a:lnTo>
                  <a:pt x="12185660" y="3187657"/>
                </a:lnTo>
                <a:lnTo>
                  <a:pt x="12185660" y="2590807"/>
                </a:lnTo>
                <a:lnTo>
                  <a:pt x="11588795" y="2590807"/>
                </a:lnTo>
                <a:moveTo>
                  <a:pt x="616017" y="1981201"/>
                </a:moveTo>
                <a:lnTo>
                  <a:pt x="616017" y="2578257"/>
                </a:lnTo>
                <a:lnTo>
                  <a:pt x="1212882" y="2578257"/>
                </a:lnTo>
                <a:lnTo>
                  <a:pt x="1212882" y="2581274"/>
                </a:lnTo>
                <a:lnTo>
                  <a:pt x="1219225" y="2581274"/>
                </a:lnTo>
                <a:lnTo>
                  <a:pt x="1219225" y="2578257"/>
                </a:lnTo>
                <a:lnTo>
                  <a:pt x="1212882" y="2578257"/>
                </a:lnTo>
                <a:lnTo>
                  <a:pt x="1212882" y="1981201"/>
                </a:lnTo>
                <a:lnTo>
                  <a:pt x="616017" y="1981201"/>
                </a:lnTo>
                <a:moveTo>
                  <a:pt x="1835119" y="1981201"/>
                </a:moveTo>
                <a:lnTo>
                  <a:pt x="1835119" y="2578257"/>
                </a:lnTo>
                <a:lnTo>
                  <a:pt x="2431984" y="2578257"/>
                </a:lnTo>
                <a:lnTo>
                  <a:pt x="2431984" y="2581274"/>
                </a:lnTo>
                <a:lnTo>
                  <a:pt x="2438327" y="2581274"/>
                </a:lnTo>
                <a:lnTo>
                  <a:pt x="2438327" y="2578257"/>
                </a:lnTo>
                <a:lnTo>
                  <a:pt x="2431984" y="2578257"/>
                </a:lnTo>
                <a:lnTo>
                  <a:pt x="2431984" y="1981201"/>
                </a:lnTo>
                <a:lnTo>
                  <a:pt x="1835119" y="1981201"/>
                </a:lnTo>
                <a:moveTo>
                  <a:pt x="3664017" y="1981201"/>
                </a:moveTo>
                <a:lnTo>
                  <a:pt x="3664017" y="2575102"/>
                </a:lnTo>
                <a:lnTo>
                  <a:pt x="4260882" y="2575102"/>
                </a:lnTo>
                <a:lnTo>
                  <a:pt x="4260882" y="2581274"/>
                </a:lnTo>
                <a:lnTo>
                  <a:pt x="4267225" y="2581274"/>
                </a:lnTo>
                <a:lnTo>
                  <a:pt x="4267225" y="2575102"/>
                </a:lnTo>
                <a:lnTo>
                  <a:pt x="4260882" y="2575102"/>
                </a:lnTo>
                <a:lnTo>
                  <a:pt x="4260882" y="1981201"/>
                </a:lnTo>
                <a:lnTo>
                  <a:pt x="3664017" y="1981201"/>
                </a:lnTo>
                <a:moveTo>
                  <a:pt x="3054344" y="1981201"/>
                </a:moveTo>
                <a:lnTo>
                  <a:pt x="3054344" y="2578257"/>
                </a:lnTo>
                <a:lnTo>
                  <a:pt x="3651209" y="2578257"/>
                </a:lnTo>
                <a:lnTo>
                  <a:pt x="3651209" y="2581274"/>
                </a:lnTo>
                <a:lnTo>
                  <a:pt x="3657552" y="2581274"/>
                </a:lnTo>
                <a:lnTo>
                  <a:pt x="3657552" y="2578257"/>
                </a:lnTo>
                <a:lnTo>
                  <a:pt x="3651209" y="2578257"/>
                </a:lnTo>
                <a:lnTo>
                  <a:pt x="3651209" y="1981201"/>
                </a:lnTo>
                <a:lnTo>
                  <a:pt x="3054344" y="1981201"/>
                </a:lnTo>
                <a:moveTo>
                  <a:pt x="2444793" y="1981201"/>
                </a:moveTo>
                <a:lnTo>
                  <a:pt x="2444793" y="1981201"/>
                </a:lnTo>
                <a:lnTo>
                  <a:pt x="2444793" y="1981201"/>
                </a:lnTo>
                <a:lnTo>
                  <a:pt x="2444793" y="2578257"/>
                </a:lnTo>
                <a:lnTo>
                  <a:pt x="3041658" y="2578257"/>
                </a:lnTo>
                <a:lnTo>
                  <a:pt x="3041658" y="2581274"/>
                </a:lnTo>
                <a:lnTo>
                  <a:pt x="3048001" y="2581274"/>
                </a:lnTo>
                <a:lnTo>
                  <a:pt x="3048001" y="2578257"/>
                </a:lnTo>
                <a:lnTo>
                  <a:pt x="3041658" y="2578257"/>
                </a:lnTo>
                <a:lnTo>
                  <a:pt x="3041658" y="1981201"/>
                </a:lnTo>
                <a:lnTo>
                  <a:pt x="2444793" y="1981201"/>
                </a:lnTo>
                <a:moveTo>
                  <a:pt x="4273569" y="1981201"/>
                </a:moveTo>
                <a:lnTo>
                  <a:pt x="4273569" y="1981201"/>
                </a:lnTo>
                <a:lnTo>
                  <a:pt x="4273569" y="1981201"/>
                </a:lnTo>
                <a:lnTo>
                  <a:pt x="4273569" y="2575102"/>
                </a:lnTo>
                <a:lnTo>
                  <a:pt x="4870434" y="2575102"/>
                </a:lnTo>
                <a:lnTo>
                  <a:pt x="4870434" y="2581274"/>
                </a:lnTo>
                <a:lnTo>
                  <a:pt x="4876777" y="2581274"/>
                </a:lnTo>
                <a:lnTo>
                  <a:pt x="4876777" y="2575102"/>
                </a:lnTo>
                <a:lnTo>
                  <a:pt x="4870434" y="2575102"/>
                </a:lnTo>
                <a:lnTo>
                  <a:pt x="4870434" y="1981201"/>
                </a:lnTo>
                <a:lnTo>
                  <a:pt x="4273569" y="1981201"/>
                </a:lnTo>
                <a:moveTo>
                  <a:pt x="5492793" y="1981201"/>
                </a:moveTo>
                <a:lnTo>
                  <a:pt x="5492793" y="2575102"/>
                </a:lnTo>
                <a:lnTo>
                  <a:pt x="6089658" y="2575102"/>
                </a:lnTo>
                <a:lnTo>
                  <a:pt x="6089658" y="2581274"/>
                </a:lnTo>
                <a:lnTo>
                  <a:pt x="6096001" y="2581274"/>
                </a:lnTo>
                <a:lnTo>
                  <a:pt x="6096001" y="2575102"/>
                </a:lnTo>
                <a:lnTo>
                  <a:pt x="6089658" y="2575102"/>
                </a:lnTo>
                <a:lnTo>
                  <a:pt x="6089658" y="1981201"/>
                </a:lnTo>
                <a:lnTo>
                  <a:pt x="5492793" y="1981201"/>
                </a:lnTo>
                <a:moveTo>
                  <a:pt x="4883120" y="1981201"/>
                </a:moveTo>
                <a:lnTo>
                  <a:pt x="4883120" y="1981201"/>
                </a:lnTo>
                <a:lnTo>
                  <a:pt x="4883120" y="2575102"/>
                </a:lnTo>
                <a:lnTo>
                  <a:pt x="5479985" y="2575102"/>
                </a:lnTo>
                <a:lnTo>
                  <a:pt x="5479985" y="2581274"/>
                </a:lnTo>
                <a:lnTo>
                  <a:pt x="5486328" y="2581274"/>
                </a:lnTo>
                <a:lnTo>
                  <a:pt x="5486328" y="2581274"/>
                </a:lnTo>
                <a:lnTo>
                  <a:pt x="5486328" y="2575102"/>
                </a:lnTo>
                <a:lnTo>
                  <a:pt x="5479985" y="2575102"/>
                </a:lnTo>
                <a:lnTo>
                  <a:pt x="5479985" y="1981201"/>
                </a:lnTo>
                <a:lnTo>
                  <a:pt x="4883120" y="1981201"/>
                </a:lnTo>
                <a:moveTo>
                  <a:pt x="6711896" y="1981201"/>
                </a:moveTo>
                <a:lnTo>
                  <a:pt x="6711896" y="2575102"/>
                </a:lnTo>
                <a:lnTo>
                  <a:pt x="7308761" y="2575102"/>
                </a:lnTo>
                <a:lnTo>
                  <a:pt x="7308761" y="2581274"/>
                </a:lnTo>
                <a:lnTo>
                  <a:pt x="7315104" y="2581274"/>
                </a:lnTo>
                <a:lnTo>
                  <a:pt x="7315104" y="2575102"/>
                </a:lnTo>
                <a:lnTo>
                  <a:pt x="7308761" y="2575102"/>
                </a:lnTo>
                <a:lnTo>
                  <a:pt x="7308761" y="1981201"/>
                </a:lnTo>
                <a:lnTo>
                  <a:pt x="6711896" y="1981201"/>
                </a:lnTo>
                <a:moveTo>
                  <a:pt x="6102345" y="1981201"/>
                </a:moveTo>
                <a:lnTo>
                  <a:pt x="6102345" y="1981201"/>
                </a:lnTo>
                <a:lnTo>
                  <a:pt x="6102345" y="2575102"/>
                </a:lnTo>
                <a:lnTo>
                  <a:pt x="6699210" y="2575102"/>
                </a:lnTo>
                <a:lnTo>
                  <a:pt x="6699210" y="2581274"/>
                </a:lnTo>
                <a:lnTo>
                  <a:pt x="6705553" y="2581274"/>
                </a:lnTo>
                <a:lnTo>
                  <a:pt x="6705553" y="2575102"/>
                </a:lnTo>
                <a:lnTo>
                  <a:pt x="6699210" y="2575102"/>
                </a:lnTo>
                <a:lnTo>
                  <a:pt x="6699210" y="1981201"/>
                </a:lnTo>
                <a:lnTo>
                  <a:pt x="6102345" y="1981201"/>
                </a:lnTo>
                <a:moveTo>
                  <a:pt x="7931121" y="1981201"/>
                </a:moveTo>
                <a:lnTo>
                  <a:pt x="7931121" y="2575102"/>
                </a:lnTo>
                <a:lnTo>
                  <a:pt x="8527986" y="2575102"/>
                </a:lnTo>
                <a:lnTo>
                  <a:pt x="8527986" y="2581274"/>
                </a:lnTo>
                <a:lnTo>
                  <a:pt x="8534329" y="2581274"/>
                </a:lnTo>
                <a:lnTo>
                  <a:pt x="8534329" y="2575102"/>
                </a:lnTo>
                <a:lnTo>
                  <a:pt x="8527986" y="2575102"/>
                </a:lnTo>
                <a:lnTo>
                  <a:pt x="8527986" y="1981201"/>
                </a:lnTo>
                <a:lnTo>
                  <a:pt x="7931121" y="1981201"/>
                </a:lnTo>
                <a:moveTo>
                  <a:pt x="7321569" y="1981201"/>
                </a:moveTo>
                <a:lnTo>
                  <a:pt x="7321569" y="1981201"/>
                </a:lnTo>
                <a:lnTo>
                  <a:pt x="7321569" y="2575102"/>
                </a:lnTo>
                <a:lnTo>
                  <a:pt x="7918434" y="2575102"/>
                </a:lnTo>
                <a:lnTo>
                  <a:pt x="7918434" y="2581274"/>
                </a:lnTo>
                <a:lnTo>
                  <a:pt x="7924778" y="2581274"/>
                </a:lnTo>
                <a:lnTo>
                  <a:pt x="7924778" y="2575102"/>
                </a:lnTo>
                <a:lnTo>
                  <a:pt x="7918434" y="2575102"/>
                </a:lnTo>
                <a:lnTo>
                  <a:pt x="7918434" y="1981201"/>
                </a:lnTo>
                <a:lnTo>
                  <a:pt x="7321569" y="1981201"/>
                </a:lnTo>
                <a:moveTo>
                  <a:pt x="9759897" y="1981201"/>
                </a:moveTo>
                <a:lnTo>
                  <a:pt x="9759897" y="2575102"/>
                </a:lnTo>
                <a:lnTo>
                  <a:pt x="10356762" y="2575102"/>
                </a:lnTo>
                <a:lnTo>
                  <a:pt x="10356762" y="2581274"/>
                </a:lnTo>
                <a:lnTo>
                  <a:pt x="10363105" y="2581274"/>
                </a:lnTo>
                <a:lnTo>
                  <a:pt x="10363105" y="2575102"/>
                </a:lnTo>
                <a:lnTo>
                  <a:pt x="10356762" y="2575102"/>
                </a:lnTo>
                <a:lnTo>
                  <a:pt x="10356762" y="1981201"/>
                </a:lnTo>
                <a:lnTo>
                  <a:pt x="9759897" y="1981201"/>
                </a:lnTo>
                <a:moveTo>
                  <a:pt x="9150345" y="1981201"/>
                </a:moveTo>
                <a:lnTo>
                  <a:pt x="9150345" y="2575102"/>
                </a:lnTo>
                <a:lnTo>
                  <a:pt x="9747210" y="2575102"/>
                </a:lnTo>
                <a:lnTo>
                  <a:pt x="9747210" y="2581274"/>
                </a:lnTo>
                <a:lnTo>
                  <a:pt x="9753554" y="2581274"/>
                </a:lnTo>
                <a:lnTo>
                  <a:pt x="9753554" y="2575102"/>
                </a:lnTo>
                <a:lnTo>
                  <a:pt x="9747210" y="2575102"/>
                </a:lnTo>
                <a:lnTo>
                  <a:pt x="9747210" y="1981201"/>
                </a:lnTo>
                <a:lnTo>
                  <a:pt x="9150345" y="1981201"/>
                </a:lnTo>
                <a:moveTo>
                  <a:pt x="10979121" y="1981201"/>
                </a:moveTo>
                <a:lnTo>
                  <a:pt x="10979121" y="2575102"/>
                </a:lnTo>
                <a:lnTo>
                  <a:pt x="11575986" y="2575102"/>
                </a:lnTo>
                <a:lnTo>
                  <a:pt x="11575986" y="2581274"/>
                </a:lnTo>
                <a:lnTo>
                  <a:pt x="11582330" y="2581274"/>
                </a:lnTo>
                <a:lnTo>
                  <a:pt x="11582330" y="2575102"/>
                </a:lnTo>
                <a:lnTo>
                  <a:pt x="11575986" y="2575102"/>
                </a:lnTo>
                <a:lnTo>
                  <a:pt x="11575986" y="1981201"/>
                </a:lnTo>
                <a:lnTo>
                  <a:pt x="10979121" y="1981201"/>
                </a:lnTo>
                <a:moveTo>
                  <a:pt x="10369570" y="1981201"/>
                </a:moveTo>
                <a:lnTo>
                  <a:pt x="10369570" y="1981201"/>
                </a:lnTo>
                <a:lnTo>
                  <a:pt x="10369570" y="2575102"/>
                </a:lnTo>
                <a:lnTo>
                  <a:pt x="10966435" y="2575102"/>
                </a:lnTo>
                <a:lnTo>
                  <a:pt x="10966435" y="2581274"/>
                </a:lnTo>
                <a:lnTo>
                  <a:pt x="10972778" y="2581274"/>
                </a:lnTo>
                <a:lnTo>
                  <a:pt x="10972778" y="2575102"/>
                </a:lnTo>
                <a:lnTo>
                  <a:pt x="10966435" y="2575102"/>
                </a:lnTo>
                <a:lnTo>
                  <a:pt x="10966435" y="1981201"/>
                </a:lnTo>
                <a:lnTo>
                  <a:pt x="10369570" y="1981201"/>
                </a:lnTo>
                <a:moveTo>
                  <a:pt x="11588795" y="1981201"/>
                </a:moveTo>
                <a:lnTo>
                  <a:pt x="11588795" y="1981201"/>
                </a:lnTo>
                <a:lnTo>
                  <a:pt x="11588795" y="2575102"/>
                </a:lnTo>
                <a:lnTo>
                  <a:pt x="12185660" y="2575102"/>
                </a:lnTo>
                <a:lnTo>
                  <a:pt x="12185660" y="2581274"/>
                </a:lnTo>
                <a:lnTo>
                  <a:pt x="12192003" y="2581274"/>
                </a:lnTo>
                <a:lnTo>
                  <a:pt x="12192003" y="2575102"/>
                </a:lnTo>
                <a:lnTo>
                  <a:pt x="12185660" y="2575102"/>
                </a:lnTo>
                <a:lnTo>
                  <a:pt x="12185660" y="1981201"/>
                </a:lnTo>
                <a:lnTo>
                  <a:pt x="11588795" y="1981201"/>
                </a:lnTo>
                <a:moveTo>
                  <a:pt x="616017" y="1371596"/>
                </a:moveTo>
                <a:lnTo>
                  <a:pt x="616017" y="1968445"/>
                </a:lnTo>
                <a:lnTo>
                  <a:pt x="1212882" y="1968445"/>
                </a:lnTo>
                <a:lnTo>
                  <a:pt x="1212882" y="1974823"/>
                </a:lnTo>
                <a:lnTo>
                  <a:pt x="1219225" y="1974823"/>
                </a:lnTo>
                <a:lnTo>
                  <a:pt x="1219225" y="1971669"/>
                </a:lnTo>
                <a:lnTo>
                  <a:pt x="1219225" y="1971669"/>
                </a:lnTo>
                <a:lnTo>
                  <a:pt x="1219225" y="1968445"/>
                </a:lnTo>
                <a:lnTo>
                  <a:pt x="1212882" y="1968445"/>
                </a:lnTo>
                <a:lnTo>
                  <a:pt x="1212882" y="1371596"/>
                </a:lnTo>
                <a:lnTo>
                  <a:pt x="616017" y="1371596"/>
                </a:lnTo>
                <a:moveTo>
                  <a:pt x="3054344" y="1371596"/>
                </a:moveTo>
                <a:lnTo>
                  <a:pt x="3054344" y="1968445"/>
                </a:lnTo>
                <a:lnTo>
                  <a:pt x="3651209" y="1968445"/>
                </a:lnTo>
                <a:lnTo>
                  <a:pt x="3651209" y="1974823"/>
                </a:lnTo>
                <a:lnTo>
                  <a:pt x="3657552" y="1974823"/>
                </a:lnTo>
                <a:lnTo>
                  <a:pt x="3657552" y="1968445"/>
                </a:lnTo>
                <a:lnTo>
                  <a:pt x="3651209" y="1968445"/>
                </a:lnTo>
                <a:lnTo>
                  <a:pt x="3651209" y="1371596"/>
                </a:lnTo>
                <a:lnTo>
                  <a:pt x="3054344" y="1371596"/>
                </a:lnTo>
                <a:moveTo>
                  <a:pt x="2444793" y="1371596"/>
                </a:moveTo>
                <a:lnTo>
                  <a:pt x="2444793" y="1968445"/>
                </a:lnTo>
                <a:lnTo>
                  <a:pt x="3041658" y="1968445"/>
                </a:lnTo>
                <a:lnTo>
                  <a:pt x="3041658" y="1974823"/>
                </a:lnTo>
                <a:lnTo>
                  <a:pt x="3048001" y="1974823"/>
                </a:lnTo>
                <a:lnTo>
                  <a:pt x="3048001" y="1968445"/>
                </a:lnTo>
                <a:lnTo>
                  <a:pt x="3041658" y="1968445"/>
                </a:lnTo>
                <a:lnTo>
                  <a:pt x="3041658" y="1371596"/>
                </a:lnTo>
                <a:lnTo>
                  <a:pt x="2444793" y="1371596"/>
                </a:lnTo>
                <a:moveTo>
                  <a:pt x="1835119" y="1371596"/>
                </a:moveTo>
                <a:lnTo>
                  <a:pt x="1835119" y="1968445"/>
                </a:lnTo>
                <a:lnTo>
                  <a:pt x="2431984" y="1968445"/>
                </a:lnTo>
                <a:lnTo>
                  <a:pt x="2431984" y="1974823"/>
                </a:lnTo>
                <a:lnTo>
                  <a:pt x="2438327" y="1974823"/>
                </a:lnTo>
                <a:lnTo>
                  <a:pt x="2438327" y="1968445"/>
                </a:lnTo>
                <a:lnTo>
                  <a:pt x="2431984" y="1968445"/>
                </a:lnTo>
                <a:lnTo>
                  <a:pt x="2431984" y="1371596"/>
                </a:lnTo>
                <a:lnTo>
                  <a:pt x="1835119" y="1371596"/>
                </a:lnTo>
                <a:moveTo>
                  <a:pt x="1225568" y="1371596"/>
                </a:moveTo>
                <a:lnTo>
                  <a:pt x="1225568" y="1371596"/>
                </a:lnTo>
                <a:lnTo>
                  <a:pt x="1225568" y="1371596"/>
                </a:lnTo>
                <a:lnTo>
                  <a:pt x="1225568" y="1968445"/>
                </a:lnTo>
                <a:lnTo>
                  <a:pt x="1822433" y="1968445"/>
                </a:lnTo>
                <a:lnTo>
                  <a:pt x="1822433" y="1828817"/>
                </a:lnTo>
                <a:lnTo>
                  <a:pt x="1822433" y="1828817"/>
                </a:lnTo>
                <a:lnTo>
                  <a:pt x="1822433" y="1371596"/>
                </a:lnTo>
                <a:lnTo>
                  <a:pt x="1225568" y="1371596"/>
                </a:lnTo>
                <a:moveTo>
                  <a:pt x="6102345" y="1371596"/>
                </a:moveTo>
                <a:lnTo>
                  <a:pt x="6102345" y="1828817"/>
                </a:lnTo>
                <a:lnTo>
                  <a:pt x="6102345" y="1968445"/>
                </a:lnTo>
                <a:lnTo>
                  <a:pt x="6699210" y="1968445"/>
                </a:lnTo>
                <a:lnTo>
                  <a:pt x="6699210" y="1828817"/>
                </a:lnTo>
                <a:lnTo>
                  <a:pt x="6699210" y="1371596"/>
                </a:lnTo>
                <a:lnTo>
                  <a:pt x="6102345" y="1371596"/>
                </a:lnTo>
                <a:moveTo>
                  <a:pt x="5492793" y="1371596"/>
                </a:moveTo>
                <a:lnTo>
                  <a:pt x="5492793" y="1968445"/>
                </a:lnTo>
                <a:lnTo>
                  <a:pt x="6089658" y="1968445"/>
                </a:lnTo>
                <a:lnTo>
                  <a:pt x="6089658" y="1828817"/>
                </a:lnTo>
                <a:lnTo>
                  <a:pt x="6089658" y="1371596"/>
                </a:lnTo>
                <a:lnTo>
                  <a:pt x="5492793" y="1371596"/>
                </a:lnTo>
                <a:moveTo>
                  <a:pt x="4883120" y="1371596"/>
                </a:moveTo>
                <a:lnTo>
                  <a:pt x="4883120" y="1968445"/>
                </a:lnTo>
                <a:lnTo>
                  <a:pt x="5479985" y="1968445"/>
                </a:lnTo>
                <a:lnTo>
                  <a:pt x="5479985" y="1828817"/>
                </a:lnTo>
                <a:lnTo>
                  <a:pt x="5479985" y="1828817"/>
                </a:lnTo>
                <a:lnTo>
                  <a:pt x="5479985" y="1371596"/>
                </a:lnTo>
                <a:lnTo>
                  <a:pt x="4883120" y="1371596"/>
                </a:lnTo>
                <a:moveTo>
                  <a:pt x="3664017" y="1371596"/>
                </a:moveTo>
                <a:lnTo>
                  <a:pt x="3664017" y="1371596"/>
                </a:lnTo>
                <a:lnTo>
                  <a:pt x="3664017" y="1371596"/>
                </a:lnTo>
                <a:lnTo>
                  <a:pt x="3664017" y="1968445"/>
                </a:lnTo>
                <a:lnTo>
                  <a:pt x="4260882" y="1968445"/>
                </a:lnTo>
                <a:lnTo>
                  <a:pt x="4260882" y="1828817"/>
                </a:lnTo>
                <a:lnTo>
                  <a:pt x="4260882" y="1828817"/>
                </a:lnTo>
                <a:lnTo>
                  <a:pt x="4260882" y="1371596"/>
                </a:lnTo>
                <a:lnTo>
                  <a:pt x="3664017" y="1371596"/>
                </a:lnTo>
                <a:moveTo>
                  <a:pt x="8540794" y="1371596"/>
                </a:moveTo>
                <a:lnTo>
                  <a:pt x="8540794" y="1828817"/>
                </a:lnTo>
                <a:lnTo>
                  <a:pt x="8540794" y="1968445"/>
                </a:lnTo>
                <a:lnTo>
                  <a:pt x="9137659" y="1968445"/>
                </a:lnTo>
                <a:lnTo>
                  <a:pt x="9137659" y="1828817"/>
                </a:lnTo>
                <a:lnTo>
                  <a:pt x="9137659" y="1371596"/>
                </a:lnTo>
                <a:lnTo>
                  <a:pt x="8540794" y="1371596"/>
                </a:lnTo>
                <a:moveTo>
                  <a:pt x="7931121" y="1371596"/>
                </a:moveTo>
                <a:lnTo>
                  <a:pt x="7931121" y="1828817"/>
                </a:lnTo>
                <a:lnTo>
                  <a:pt x="7931121" y="1968445"/>
                </a:lnTo>
                <a:lnTo>
                  <a:pt x="8527986" y="1968445"/>
                </a:lnTo>
                <a:lnTo>
                  <a:pt x="8527986" y="1828817"/>
                </a:lnTo>
                <a:lnTo>
                  <a:pt x="8527986" y="1371596"/>
                </a:lnTo>
                <a:lnTo>
                  <a:pt x="7931121" y="1371596"/>
                </a:lnTo>
                <a:moveTo>
                  <a:pt x="7321569" y="1371596"/>
                </a:moveTo>
                <a:lnTo>
                  <a:pt x="7321569" y="1828817"/>
                </a:lnTo>
                <a:lnTo>
                  <a:pt x="7321569" y="1968445"/>
                </a:lnTo>
                <a:lnTo>
                  <a:pt x="7918434" y="1968445"/>
                </a:lnTo>
                <a:lnTo>
                  <a:pt x="7918434" y="1828817"/>
                </a:lnTo>
                <a:lnTo>
                  <a:pt x="7918434" y="1371596"/>
                </a:lnTo>
                <a:lnTo>
                  <a:pt x="7321569" y="1371596"/>
                </a:lnTo>
                <a:moveTo>
                  <a:pt x="11588795" y="1371596"/>
                </a:moveTo>
                <a:lnTo>
                  <a:pt x="11588795" y="1828817"/>
                </a:lnTo>
                <a:lnTo>
                  <a:pt x="11588795" y="1968445"/>
                </a:lnTo>
                <a:lnTo>
                  <a:pt x="12185660" y="1968445"/>
                </a:lnTo>
                <a:lnTo>
                  <a:pt x="12185660" y="1828817"/>
                </a:lnTo>
                <a:lnTo>
                  <a:pt x="12185660" y="1371596"/>
                </a:lnTo>
                <a:lnTo>
                  <a:pt x="11588795" y="1371596"/>
                </a:lnTo>
                <a:moveTo>
                  <a:pt x="10979121" y="1371596"/>
                </a:moveTo>
                <a:lnTo>
                  <a:pt x="10979121" y="1828817"/>
                </a:lnTo>
                <a:lnTo>
                  <a:pt x="10979121" y="1968445"/>
                </a:lnTo>
                <a:lnTo>
                  <a:pt x="11575986" y="1968445"/>
                </a:lnTo>
                <a:lnTo>
                  <a:pt x="11575986" y="1828817"/>
                </a:lnTo>
                <a:lnTo>
                  <a:pt x="11575986" y="1371596"/>
                </a:lnTo>
                <a:lnTo>
                  <a:pt x="10979121" y="1371596"/>
                </a:lnTo>
                <a:moveTo>
                  <a:pt x="10369570" y="1371596"/>
                </a:moveTo>
                <a:lnTo>
                  <a:pt x="10369570" y="1828817"/>
                </a:lnTo>
                <a:lnTo>
                  <a:pt x="10369570" y="1968445"/>
                </a:lnTo>
                <a:lnTo>
                  <a:pt x="10966435" y="1968445"/>
                </a:lnTo>
                <a:lnTo>
                  <a:pt x="10966435" y="1828817"/>
                </a:lnTo>
                <a:lnTo>
                  <a:pt x="10966435" y="1371596"/>
                </a:lnTo>
                <a:lnTo>
                  <a:pt x="10369570" y="1371596"/>
                </a:lnTo>
                <a:moveTo>
                  <a:pt x="9759897" y="1371596"/>
                </a:moveTo>
                <a:lnTo>
                  <a:pt x="9759897" y="1828817"/>
                </a:lnTo>
                <a:lnTo>
                  <a:pt x="9759897" y="1968445"/>
                </a:lnTo>
                <a:lnTo>
                  <a:pt x="10356762" y="1968445"/>
                </a:lnTo>
                <a:lnTo>
                  <a:pt x="10356762" y="1828817"/>
                </a:lnTo>
                <a:lnTo>
                  <a:pt x="10356762" y="1371596"/>
                </a:lnTo>
                <a:lnTo>
                  <a:pt x="9759897" y="1371596"/>
                </a:lnTo>
                <a:moveTo>
                  <a:pt x="9150345" y="1371596"/>
                </a:moveTo>
                <a:lnTo>
                  <a:pt x="9150345" y="1371596"/>
                </a:lnTo>
                <a:lnTo>
                  <a:pt x="9150345" y="1828817"/>
                </a:lnTo>
                <a:lnTo>
                  <a:pt x="9150345" y="1968445"/>
                </a:lnTo>
                <a:lnTo>
                  <a:pt x="9747210" y="1968445"/>
                </a:lnTo>
                <a:lnTo>
                  <a:pt x="9747210" y="1828817"/>
                </a:lnTo>
                <a:lnTo>
                  <a:pt x="9747210" y="1371596"/>
                </a:lnTo>
                <a:lnTo>
                  <a:pt x="9150345" y="1371596"/>
                </a:lnTo>
                <a:moveTo>
                  <a:pt x="616017" y="761990"/>
                </a:moveTo>
                <a:lnTo>
                  <a:pt x="616017" y="761990"/>
                </a:lnTo>
                <a:lnTo>
                  <a:pt x="616017" y="761990"/>
                </a:lnTo>
                <a:lnTo>
                  <a:pt x="616017" y="1355891"/>
                </a:lnTo>
                <a:lnTo>
                  <a:pt x="1212882" y="1355891"/>
                </a:lnTo>
                <a:lnTo>
                  <a:pt x="1212882" y="1362063"/>
                </a:lnTo>
                <a:lnTo>
                  <a:pt x="1219225" y="1362063"/>
                </a:lnTo>
                <a:lnTo>
                  <a:pt x="1219225" y="1355891"/>
                </a:lnTo>
                <a:lnTo>
                  <a:pt x="1212882" y="1355891"/>
                </a:lnTo>
                <a:lnTo>
                  <a:pt x="1212882" y="761990"/>
                </a:lnTo>
                <a:lnTo>
                  <a:pt x="616017" y="761990"/>
                </a:lnTo>
                <a:moveTo>
                  <a:pt x="1225568" y="761990"/>
                </a:moveTo>
                <a:lnTo>
                  <a:pt x="1225568" y="761990"/>
                </a:lnTo>
                <a:lnTo>
                  <a:pt x="1225568" y="761990"/>
                </a:lnTo>
                <a:lnTo>
                  <a:pt x="1225568" y="1355891"/>
                </a:lnTo>
                <a:lnTo>
                  <a:pt x="1822433" y="1355891"/>
                </a:lnTo>
                <a:lnTo>
                  <a:pt x="1822433" y="1362063"/>
                </a:lnTo>
                <a:lnTo>
                  <a:pt x="1828776" y="1362063"/>
                </a:lnTo>
                <a:lnTo>
                  <a:pt x="1828776" y="1355891"/>
                </a:lnTo>
                <a:lnTo>
                  <a:pt x="1822433" y="1355891"/>
                </a:lnTo>
                <a:lnTo>
                  <a:pt x="1822433" y="761990"/>
                </a:lnTo>
                <a:lnTo>
                  <a:pt x="1225568" y="761990"/>
                </a:lnTo>
                <a:moveTo>
                  <a:pt x="1835241" y="761990"/>
                </a:moveTo>
                <a:lnTo>
                  <a:pt x="1835241" y="761990"/>
                </a:lnTo>
                <a:lnTo>
                  <a:pt x="1835241" y="761990"/>
                </a:lnTo>
                <a:lnTo>
                  <a:pt x="1835241" y="1355891"/>
                </a:lnTo>
                <a:lnTo>
                  <a:pt x="2432106" y="1355891"/>
                </a:lnTo>
                <a:lnTo>
                  <a:pt x="2432106" y="1362063"/>
                </a:lnTo>
                <a:lnTo>
                  <a:pt x="2438449" y="1362063"/>
                </a:lnTo>
                <a:lnTo>
                  <a:pt x="2438449" y="1355891"/>
                </a:lnTo>
                <a:lnTo>
                  <a:pt x="2432106" y="1355891"/>
                </a:lnTo>
                <a:lnTo>
                  <a:pt x="2432106" y="761990"/>
                </a:lnTo>
                <a:lnTo>
                  <a:pt x="1835241" y="761990"/>
                </a:lnTo>
                <a:moveTo>
                  <a:pt x="2444793" y="761990"/>
                </a:moveTo>
                <a:lnTo>
                  <a:pt x="2444793" y="761990"/>
                </a:lnTo>
                <a:lnTo>
                  <a:pt x="2444793" y="761990"/>
                </a:lnTo>
                <a:lnTo>
                  <a:pt x="2444793" y="1355891"/>
                </a:lnTo>
                <a:lnTo>
                  <a:pt x="3041658" y="1355891"/>
                </a:lnTo>
                <a:lnTo>
                  <a:pt x="3041658" y="1362063"/>
                </a:lnTo>
                <a:lnTo>
                  <a:pt x="3048001" y="1362063"/>
                </a:lnTo>
                <a:lnTo>
                  <a:pt x="3048001" y="1355891"/>
                </a:lnTo>
                <a:lnTo>
                  <a:pt x="3041658" y="1355891"/>
                </a:lnTo>
                <a:lnTo>
                  <a:pt x="3041658" y="761990"/>
                </a:lnTo>
                <a:lnTo>
                  <a:pt x="2444793" y="761990"/>
                </a:lnTo>
                <a:moveTo>
                  <a:pt x="3664017" y="761990"/>
                </a:moveTo>
                <a:lnTo>
                  <a:pt x="3664017" y="761990"/>
                </a:lnTo>
                <a:lnTo>
                  <a:pt x="3664017" y="761990"/>
                </a:lnTo>
                <a:lnTo>
                  <a:pt x="3664017" y="1355891"/>
                </a:lnTo>
                <a:lnTo>
                  <a:pt x="4260882" y="1355891"/>
                </a:lnTo>
                <a:lnTo>
                  <a:pt x="4260882" y="1362063"/>
                </a:lnTo>
                <a:lnTo>
                  <a:pt x="4267225" y="1362063"/>
                </a:lnTo>
                <a:lnTo>
                  <a:pt x="4267225" y="1362063"/>
                </a:lnTo>
                <a:lnTo>
                  <a:pt x="4267225" y="1355891"/>
                </a:lnTo>
                <a:lnTo>
                  <a:pt x="4260882" y="1355891"/>
                </a:lnTo>
                <a:lnTo>
                  <a:pt x="4260882" y="761990"/>
                </a:lnTo>
                <a:lnTo>
                  <a:pt x="3664017" y="761990"/>
                </a:lnTo>
                <a:moveTo>
                  <a:pt x="4273569" y="761990"/>
                </a:moveTo>
                <a:lnTo>
                  <a:pt x="4273569" y="761990"/>
                </a:lnTo>
                <a:lnTo>
                  <a:pt x="4273569" y="761990"/>
                </a:lnTo>
                <a:lnTo>
                  <a:pt x="4273569" y="1355891"/>
                </a:lnTo>
                <a:lnTo>
                  <a:pt x="4870434" y="1355891"/>
                </a:lnTo>
                <a:lnTo>
                  <a:pt x="4870434" y="1362063"/>
                </a:lnTo>
                <a:lnTo>
                  <a:pt x="4876777" y="1362063"/>
                </a:lnTo>
                <a:lnTo>
                  <a:pt x="4876777" y="1355891"/>
                </a:lnTo>
                <a:lnTo>
                  <a:pt x="4870434" y="1355891"/>
                </a:lnTo>
                <a:lnTo>
                  <a:pt x="4870434" y="761990"/>
                </a:lnTo>
                <a:lnTo>
                  <a:pt x="4273569" y="761990"/>
                </a:lnTo>
                <a:moveTo>
                  <a:pt x="4883120" y="761990"/>
                </a:moveTo>
                <a:lnTo>
                  <a:pt x="4883120" y="761990"/>
                </a:lnTo>
                <a:lnTo>
                  <a:pt x="4883120" y="1355891"/>
                </a:lnTo>
                <a:lnTo>
                  <a:pt x="5479985" y="1355891"/>
                </a:lnTo>
                <a:lnTo>
                  <a:pt x="5479985" y="1362063"/>
                </a:lnTo>
                <a:lnTo>
                  <a:pt x="5486328" y="1362063"/>
                </a:lnTo>
                <a:lnTo>
                  <a:pt x="5486328" y="1355891"/>
                </a:lnTo>
                <a:lnTo>
                  <a:pt x="5479985" y="1355891"/>
                </a:lnTo>
                <a:lnTo>
                  <a:pt x="5479985" y="761990"/>
                </a:lnTo>
                <a:lnTo>
                  <a:pt x="4883120" y="761990"/>
                </a:lnTo>
                <a:moveTo>
                  <a:pt x="5492793" y="761990"/>
                </a:moveTo>
                <a:lnTo>
                  <a:pt x="5492793" y="761990"/>
                </a:lnTo>
                <a:lnTo>
                  <a:pt x="5492793" y="761990"/>
                </a:lnTo>
                <a:lnTo>
                  <a:pt x="5492793" y="1355891"/>
                </a:lnTo>
                <a:lnTo>
                  <a:pt x="6089658" y="1355891"/>
                </a:lnTo>
                <a:lnTo>
                  <a:pt x="6089658" y="1362063"/>
                </a:lnTo>
                <a:lnTo>
                  <a:pt x="6096001" y="1362063"/>
                </a:lnTo>
                <a:lnTo>
                  <a:pt x="6096001" y="1355891"/>
                </a:lnTo>
                <a:lnTo>
                  <a:pt x="6089658" y="1355891"/>
                </a:lnTo>
                <a:lnTo>
                  <a:pt x="6089658" y="761990"/>
                </a:lnTo>
                <a:lnTo>
                  <a:pt x="5492793" y="761990"/>
                </a:lnTo>
                <a:moveTo>
                  <a:pt x="6102345" y="761990"/>
                </a:moveTo>
                <a:lnTo>
                  <a:pt x="6102345" y="761990"/>
                </a:lnTo>
                <a:lnTo>
                  <a:pt x="6102345" y="1355891"/>
                </a:lnTo>
                <a:lnTo>
                  <a:pt x="6699210" y="1355891"/>
                </a:lnTo>
                <a:lnTo>
                  <a:pt x="6699210" y="1362063"/>
                </a:lnTo>
                <a:lnTo>
                  <a:pt x="6705553" y="1362063"/>
                </a:lnTo>
                <a:lnTo>
                  <a:pt x="6705553" y="1355891"/>
                </a:lnTo>
                <a:lnTo>
                  <a:pt x="6699210" y="1355891"/>
                </a:lnTo>
                <a:lnTo>
                  <a:pt x="6699210" y="761990"/>
                </a:lnTo>
                <a:lnTo>
                  <a:pt x="6102345" y="761990"/>
                </a:lnTo>
                <a:moveTo>
                  <a:pt x="6711896" y="761990"/>
                </a:moveTo>
                <a:lnTo>
                  <a:pt x="6711896" y="761990"/>
                </a:lnTo>
                <a:lnTo>
                  <a:pt x="6711896" y="1355891"/>
                </a:lnTo>
                <a:lnTo>
                  <a:pt x="7308761" y="1355891"/>
                </a:lnTo>
                <a:lnTo>
                  <a:pt x="7308761" y="1362063"/>
                </a:lnTo>
                <a:lnTo>
                  <a:pt x="7315104" y="1362063"/>
                </a:lnTo>
                <a:lnTo>
                  <a:pt x="7315104" y="1355891"/>
                </a:lnTo>
                <a:lnTo>
                  <a:pt x="7308761" y="1355891"/>
                </a:lnTo>
                <a:lnTo>
                  <a:pt x="7308761" y="761990"/>
                </a:lnTo>
                <a:lnTo>
                  <a:pt x="6711896" y="761990"/>
                </a:lnTo>
                <a:moveTo>
                  <a:pt x="7321569" y="761990"/>
                </a:moveTo>
                <a:lnTo>
                  <a:pt x="7321569" y="761990"/>
                </a:lnTo>
                <a:lnTo>
                  <a:pt x="7321569" y="1355891"/>
                </a:lnTo>
                <a:lnTo>
                  <a:pt x="7918434" y="1355891"/>
                </a:lnTo>
                <a:lnTo>
                  <a:pt x="7918434" y="1362063"/>
                </a:lnTo>
                <a:lnTo>
                  <a:pt x="7924778" y="1362063"/>
                </a:lnTo>
                <a:lnTo>
                  <a:pt x="7924778" y="1355891"/>
                </a:lnTo>
                <a:lnTo>
                  <a:pt x="7918434" y="1355891"/>
                </a:lnTo>
                <a:lnTo>
                  <a:pt x="7918434" y="761990"/>
                </a:lnTo>
                <a:lnTo>
                  <a:pt x="7321569" y="761990"/>
                </a:lnTo>
                <a:moveTo>
                  <a:pt x="7931121" y="761990"/>
                </a:moveTo>
                <a:lnTo>
                  <a:pt x="7931121" y="761990"/>
                </a:lnTo>
                <a:lnTo>
                  <a:pt x="7931121" y="1355891"/>
                </a:lnTo>
                <a:lnTo>
                  <a:pt x="8527986" y="1355891"/>
                </a:lnTo>
                <a:lnTo>
                  <a:pt x="8527986" y="1362063"/>
                </a:lnTo>
                <a:lnTo>
                  <a:pt x="8534329" y="1362063"/>
                </a:lnTo>
                <a:lnTo>
                  <a:pt x="8534329" y="1355891"/>
                </a:lnTo>
                <a:lnTo>
                  <a:pt x="8527986" y="1355891"/>
                </a:lnTo>
                <a:lnTo>
                  <a:pt x="8527986" y="761990"/>
                </a:lnTo>
                <a:lnTo>
                  <a:pt x="7931121" y="761990"/>
                </a:lnTo>
                <a:moveTo>
                  <a:pt x="9150345" y="761990"/>
                </a:moveTo>
                <a:lnTo>
                  <a:pt x="9150345" y="761990"/>
                </a:lnTo>
                <a:lnTo>
                  <a:pt x="9150345" y="1355891"/>
                </a:lnTo>
                <a:lnTo>
                  <a:pt x="9747210" y="1355891"/>
                </a:lnTo>
                <a:lnTo>
                  <a:pt x="9747210" y="1362063"/>
                </a:lnTo>
                <a:lnTo>
                  <a:pt x="9753554" y="1362063"/>
                </a:lnTo>
                <a:lnTo>
                  <a:pt x="9753554" y="1355891"/>
                </a:lnTo>
                <a:lnTo>
                  <a:pt x="9747210" y="1355891"/>
                </a:lnTo>
                <a:lnTo>
                  <a:pt x="9747210" y="761990"/>
                </a:lnTo>
                <a:lnTo>
                  <a:pt x="9150345" y="761990"/>
                </a:lnTo>
                <a:moveTo>
                  <a:pt x="9759897" y="761990"/>
                </a:moveTo>
                <a:lnTo>
                  <a:pt x="9759897" y="761990"/>
                </a:lnTo>
                <a:lnTo>
                  <a:pt x="9759897" y="1355891"/>
                </a:lnTo>
                <a:lnTo>
                  <a:pt x="10356762" y="1355891"/>
                </a:lnTo>
                <a:lnTo>
                  <a:pt x="10356762" y="1362063"/>
                </a:lnTo>
                <a:lnTo>
                  <a:pt x="10363105" y="1362063"/>
                </a:lnTo>
                <a:lnTo>
                  <a:pt x="10363105" y="1355891"/>
                </a:lnTo>
                <a:lnTo>
                  <a:pt x="10356762" y="1355891"/>
                </a:lnTo>
                <a:lnTo>
                  <a:pt x="10356762" y="761990"/>
                </a:lnTo>
                <a:lnTo>
                  <a:pt x="9759897" y="761990"/>
                </a:lnTo>
                <a:moveTo>
                  <a:pt x="10369570" y="761990"/>
                </a:moveTo>
                <a:lnTo>
                  <a:pt x="10369570" y="761990"/>
                </a:lnTo>
                <a:lnTo>
                  <a:pt x="10369570" y="1355891"/>
                </a:lnTo>
                <a:lnTo>
                  <a:pt x="10966435" y="1355891"/>
                </a:lnTo>
                <a:lnTo>
                  <a:pt x="10966435" y="1362063"/>
                </a:lnTo>
                <a:lnTo>
                  <a:pt x="10972778" y="1362063"/>
                </a:lnTo>
                <a:lnTo>
                  <a:pt x="10972778" y="1355891"/>
                </a:lnTo>
                <a:lnTo>
                  <a:pt x="10966435" y="1355891"/>
                </a:lnTo>
                <a:lnTo>
                  <a:pt x="10966435" y="761990"/>
                </a:lnTo>
                <a:lnTo>
                  <a:pt x="10369570" y="761990"/>
                </a:lnTo>
                <a:moveTo>
                  <a:pt x="10979121" y="761990"/>
                </a:moveTo>
                <a:lnTo>
                  <a:pt x="10979121" y="761990"/>
                </a:lnTo>
                <a:lnTo>
                  <a:pt x="10979121" y="1355891"/>
                </a:lnTo>
                <a:lnTo>
                  <a:pt x="11575986" y="1355891"/>
                </a:lnTo>
                <a:lnTo>
                  <a:pt x="11575986" y="1362063"/>
                </a:lnTo>
                <a:lnTo>
                  <a:pt x="11582330" y="1362063"/>
                </a:lnTo>
                <a:lnTo>
                  <a:pt x="11582330" y="1355891"/>
                </a:lnTo>
                <a:lnTo>
                  <a:pt x="11575986" y="1355891"/>
                </a:lnTo>
                <a:lnTo>
                  <a:pt x="11575986" y="761990"/>
                </a:lnTo>
                <a:lnTo>
                  <a:pt x="10979121" y="761990"/>
                </a:lnTo>
                <a:moveTo>
                  <a:pt x="11588795" y="761990"/>
                </a:moveTo>
                <a:lnTo>
                  <a:pt x="11588795" y="761990"/>
                </a:lnTo>
                <a:lnTo>
                  <a:pt x="11588795" y="1355891"/>
                </a:lnTo>
                <a:lnTo>
                  <a:pt x="12185660" y="1355891"/>
                </a:lnTo>
                <a:lnTo>
                  <a:pt x="12185660" y="1362063"/>
                </a:lnTo>
                <a:lnTo>
                  <a:pt x="12192003" y="1362063"/>
                </a:lnTo>
                <a:lnTo>
                  <a:pt x="12192003" y="1355891"/>
                </a:lnTo>
                <a:lnTo>
                  <a:pt x="12185660" y="1355891"/>
                </a:lnTo>
                <a:lnTo>
                  <a:pt x="12185660" y="761990"/>
                </a:lnTo>
                <a:lnTo>
                  <a:pt x="11588795" y="761990"/>
                </a:lnTo>
                <a:moveTo>
                  <a:pt x="12185660" y="0"/>
                </a:moveTo>
                <a:lnTo>
                  <a:pt x="12198346" y="0"/>
                </a:lnTo>
                <a:lnTo>
                  <a:pt x="12198346" y="609606"/>
                </a:lnTo>
                <a:lnTo>
                  <a:pt x="12198346" y="754172"/>
                </a:lnTo>
                <a:lnTo>
                  <a:pt x="12198346" y="762058"/>
                </a:lnTo>
                <a:lnTo>
                  <a:pt x="12198346" y="1362132"/>
                </a:lnTo>
                <a:lnTo>
                  <a:pt x="12198346" y="1363777"/>
                </a:lnTo>
                <a:lnTo>
                  <a:pt x="12198346" y="1371664"/>
                </a:lnTo>
                <a:lnTo>
                  <a:pt x="12198346" y="1828886"/>
                </a:lnTo>
                <a:lnTo>
                  <a:pt x="12198346" y="1974892"/>
                </a:lnTo>
                <a:lnTo>
                  <a:pt x="12198346" y="1981270"/>
                </a:lnTo>
                <a:lnTo>
                  <a:pt x="12198346" y="2581343"/>
                </a:lnTo>
                <a:lnTo>
                  <a:pt x="12198346" y="2582989"/>
                </a:lnTo>
                <a:lnTo>
                  <a:pt x="12198346" y="2590876"/>
                </a:lnTo>
                <a:lnTo>
                  <a:pt x="12198346" y="3194103"/>
                </a:lnTo>
                <a:lnTo>
                  <a:pt x="12198346" y="3200481"/>
                </a:lnTo>
                <a:lnTo>
                  <a:pt x="12198346" y="3200481"/>
                </a:lnTo>
                <a:lnTo>
                  <a:pt x="12198346" y="3803778"/>
                </a:lnTo>
                <a:lnTo>
                  <a:pt x="12198346" y="3810087"/>
                </a:lnTo>
                <a:lnTo>
                  <a:pt x="12198346" y="4413383"/>
                </a:lnTo>
                <a:lnTo>
                  <a:pt x="12198346" y="4419693"/>
                </a:lnTo>
                <a:lnTo>
                  <a:pt x="12198346" y="5016611"/>
                </a:lnTo>
                <a:lnTo>
                  <a:pt x="12198346" y="5023058"/>
                </a:lnTo>
                <a:lnTo>
                  <a:pt x="12198346" y="5029367"/>
                </a:lnTo>
                <a:lnTo>
                  <a:pt x="12198346" y="5632526"/>
                </a:lnTo>
                <a:lnTo>
                  <a:pt x="12198346" y="5638973"/>
                </a:lnTo>
                <a:lnTo>
                  <a:pt x="12192003" y="5638973"/>
                </a:lnTo>
                <a:lnTo>
                  <a:pt x="11588795" y="5638973"/>
                </a:lnTo>
                <a:lnTo>
                  <a:pt x="11582451" y="5638973"/>
                </a:lnTo>
                <a:lnTo>
                  <a:pt x="10979243" y="5638973"/>
                </a:lnTo>
                <a:lnTo>
                  <a:pt x="10972900" y="5638973"/>
                </a:lnTo>
                <a:lnTo>
                  <a:pt x="10972900" y="5643705"/>
                </a:lnTo>
                <a:lnTo>
                  <a:pt x="10979243" y="5643705"/>
                </a:lnTo>
                <a:lnTo>
                  <a:pt x="10979243" y="6236097"/>
                </a:lnTo>
                <a:lnTo>
                  <a:pt x="11576108" y="6236097"/>
                </a:lnTo>
                <a:lnTo>
                  <a:pt x="11576108" y="6242338"/>
                </a:lnTo>
                <a:lnTo>
                  <a:pt x="11582451" y="6242338"/>
                </a:lnTo>
                <a:lnTo>
                  <a:pt x="11582451" y="6236097"/>
                </a:lnTo>
                <a:lnTo>
                  <a:pt x="11576108" y="6236097"/>
                </a:lnTo>
                <a:lnTo>
                  <a:pt x="11576108" y="5643705"/>
                </a:lnTo>
                <a:lnTo>
                  <a:pt x="11588794" y="5643705"/>
                </a:lnTo>
                <a:lnTo>
                  <a:pt x="11588794" y="6236097"/>
                </a:lnTo>
                <a:lnTo>
                  <a:pt x="12185659" y="6236097"/>
                </a:lnTo>
                <a:lnTo>
                  <a:pt x="12185659" y="6242338"/>
                </a:lnTo>
                <a:lnTo>
                  <a:pt x="12192003" y="6242338"/>
                </a:lnTo>
                <a:lnTo>
                  <a:pt x="12192003" y="6236097"/>
                </a:lnTo>
                <a:lnTo>
                  <a:pt x="12185659" y="6236097"/>
                </a:lnTo>
                <a:lnTo>
                  <a:pt x="12185659" y="5643705"/>
                </a:lnTo>
                <a:lnTo>
                  <a:pt x="12198346" y="5643705"/>
                </a:lnTo>
                <a:lnTo>
                  <a:pt x="12198346" y="6242338"/>
                </a:lnTo>
                <a:lnTo>
                  <a:pt x="12198346" y="6248578"/>
                </a:lnTo>
                <a:lnTo>
                  <a:pt x="12192003" y="6248578"/>
                </a:lnTo>
                <a:lnTo>
                  <a:pt x="11588794" y="6248578"/>
                </a:lnTo>
                <a:lnTo>
                  <a:pt x="11582451" y="6248578"/>
                </a:lnTo>
                <a:lnTo>
                  <a:pt x="10979243" y="6248578"/>
                </a:lnTo>
                <a:lnTo>
                  <a:pt x="10972900" y="6248578"/>
                </a:lnTo>
                <a:lnTo>
                  <a:pt x="10369691" y="6248578"/>
                </a:lnTo>
                <a:lnTo>
                  <a:pt x="10363348" y="6248578"/>
                </a:lnTo>
                <a:lnTo>
                  <a:pt x="9760140" y="6248578"/>
                </a:lnTo>
                <a:lnTo>
                  <a:pt x="9753797" y="6248578"/>
                </a:lnTo>
                <a:lnTo>
                  <a:pt x="9150589" y="6248578"/>
                </a:lnTo>
                <a:lnTo>
                  <a:pt x="9144245" y="6248578"/>
                </a:lnTo>
                <a:lnTo>
                  <a:pt x="8541037" y="6248578"/>
                </a:lnTo>
                <a:lnTo>
                  <a:pt x="8534694" y="6248578"/>
                </a:lnTo>
                <a:lnTo>
                  <a:pt x="7931486" y="6248578"/>
                </a:lnTo>
                <a:lnTo>
                  <a:pt x="7925143" y="6248578"/>
                </a:lnTo>
                <a:lnTo>
                  <a:pt x="7321934" y="6248578"/>
                </a:lnTo>
                <a:lnTo>
                  <a:pt x="7315591" y="6248578"/>
                </a:lnTo>
                <a:lnTo>
                  <a:pt x="6712383" y="6248578"/>
                </a:lnTo>
                <a:lnTo>
                  <a:pt x="6706040" y="6248578"/>
                </a:lnTo>
                <a:lnTo>
                  <a:pt x="6706040" y="6248578"/>
                </a:lnTo>
                <a:lnTo>
                  <a:pt x="6712383" y="6248578"/>
                </a:lnTo>
                <a:lnTo>
                  <a:pt x="6712383" y="6845634"/>
                </a:lnTo>
                <a:lnTo>
                  <a:pt x="7309248" y="6845634"/>
                </a:lnTo>
                <a:lnTo>
                  <a:pt x="7309248" y="6851943"/>
                </a:lnTo>
                <a:lnTo>
                  <a:pt x="7315591" y="6851943"/>
                </a:lnTo>
                <a:lnTo>
                  <a:pt x="7315591" y="6845634"/>
                </a:lnTo>
                <a:lnTo>
                  <a:pt x="7309248" y="6845634"/>
                </a:lnTo>
                <a:lnTo>
                  <a:pt x="7309248" y="6248578"/>
                </a:lnTo>
                <a:lnTo>
                  <a:pt x="7321934" y="6248578"/>
                </a:lnTo>
                <a:lnTo>
                  <a:pt x="7321934" y="6845634"/>
                </a:lnTo>
                <a:lnTo>
                  <a:pt x="7918799" y="6845634"/>
                </a:lnTo>
                <a:lnTo>
                  <a:pt x="7918799" y="6851943"/>
                </a:lnTo>
                <a:lnTo>
                  <a:pt x="7925143" y="6851943"/>
                </a:lnTo>
                <a:lnTo>
                  <a:pt x="7925143" y="6845634"/>
                </a:lnTo>
                <a:lnTo>
                  <a:pt x="7918799" y="6845634"/>
                </a:lnTo>
                <a:lnTo>
                  <a:pt x="7918799" y="6248578"/>
                </a:lnTo>
                <a:lnTo>
                  <a:pt x="7931486" y="6248578"/>
                </a:lnTo>
                <a:lnTo>
                  <a:pt x="7931486" y="6845634"/>
                </a:lnTo>
                <a:lnTo>
                  <a:pt x="8528351" y="6845634"/>
                </a:lnTo>
                <a:lnTo>
                  <a:pt x="8528351" y="6851943"/>
                </a:lnTo>
                <a:lnTo>
                  <a:pt x="8534694" y="6851943"/>
                </a:lnTo>
                <a:lnTo>
                  <a:pt x="8534694" y="6845634"/>
                </a:lnTo>
                <a:lnTo>
                  <a:pt x="8528351" y="6845634"/>
                </a:lnTo>
                <a:lnTo>
                  <a:pt x="8528351" y="6248578"/>
                </a:lnTo>
                <a:lnTo>
                  <a:pt x="8541037" y="6248578"/>
                </a:lnTo>
                <a:lnTo>
                  <a:pt x="8541037" y="6845634"/>
                </a:lnTo>
                <a:lnTo>
                  <a:pt x="9137902" y="6845634"/>
                </a:lnTo>
                <a:lnTo>
                  <a:pt x="9137902" y="6851943"/>
                </a:lnTo>
                <a:lnTo>
                  <a:pt x="9144245" y="6851943"/>
                </a:lnTo>
                <a:lnTo>
                  <a:pt x="9144245" y="6845634"/>
                </a:lnTo>
                <a:lnTo>
                  <a:pt x="9137902" y="6845634"/>
                </a:lnTo>
                <a:lnTo>
                  <a:pt x="9137902" y="6248578"/>
                </a:lnTo>
                <a:lnTo>
                  <a:pt x="9150588" y="6248578"/>
                </a:lnTo>
                <a:lnTo>
                  <a:pt x="9150588" y="6845634"/>
                </a:lnTo>
                <a:lnTo>
                  <a:pt x="9747453" y="6845634"/>
                </a:lnTo>
                <a:lnTo>
                  <a:pt x="9747453" y="6851943"/>
                </a:lnTo>
                <a:lnTo>
                  <a:pt x="9753797" y="6851943"/>
                </a:lnTo>
                <a:lnTo>
                  <a:pt x="9753797" y="6845634"/>
                </a:lnTo>
                <a:lnTo>
                  <a:pt x="9747453" y="6845634"/>
                </a:lnTo>
                <a:lnTo>
                  <a:pt x="9747453" y="6248578"/>
                </a:lnTo>
                <a:lnTo>
                  <a:pt x="9760140" y="6248578"/>
                </a:lnTo>
                <a:lnTo>
                  <a:pt x="9760140" y="6845634"/>
                </a:lnTo>
                <a:lnTo>
                  <a:pt x="10357005" y="6845634"/>
                </a:lnTo>
                <a:lnTo>
                  <a:pt x="10357005" y="6851943"/>
                </a:lnTo>
                <a:lnTo>
                  <a:pt x="10363348" y="6851943"/>
                </a:lnTo>
                <a:lnTo>
                  <a:pt x="10363348" y="6845634"/>
                </a:lnTo>
                <a:lnTo>
                  <a:pt x="10357005" y="6845634"/>
                </a:lnTo>
                <a:lnTo>
                  <a:pt x="10357005" y="6248578"/>
                </a:lnTo>
                <a:lnTo>
                  <a:pt x="10369691" y="6248578"/>
                </a:lnTo>
                <a:lnTo>
                  <a:pt x="10369691" y="6845634"/>
                </a:lnTo>
                <a:lnTo>
                  <a:pt x="10966556" y="6845634"/>
                </a:lnTo>
                <a:lnTo>
                  <a:pt x="10966556" y="6851943"/>
                </a:lnTo>
                <a:lnTo>
                  <a:pt x="10972899" y="6851943"/>
                </a:lnTo>
                <a:lnTo>
                  <a:pt x="10972899" y="6845634"/>
                </a:lnTo>
                <a:lnTo>
                  <a:pt x="10966556" y="6845634"/>
                </a:lnTo>
                <a:lnTo>
                  <a:pt x="10966556" y="6248578"/>
                </a:lnTo>
                <a:lnTo>
                  <a:pt x="10979242" y="6248578"/>
                </a:lnTo>
                <a:lnTo>
                  <a:pt x="10979242" y="6845634"/>
                </a:lnTo>
                <a:lnTo>
                  <a:pt x="11576107" y="6845634"/>
                </a:lnTo>
                <a:lnTo>
                  <a:pt x="11576107" y="6851943"/>
                </a:lnTo>
                <a:lnTo>
                  <a:pt x="11582450" y="6851943"/>
                </a:lnTo>
                <a:lnTo>
                  <a:pt x="11582450" y="6845634"/>
                </a:lnTo>
                <a:lnTo>
                  <a:pt x="11576107" y="6845634"/>
                </a:lnTo>
                <a:lnTo>
                  <a:pt x="11576107" y="6248578"/>
                </a:lnTo>
                <a:lnTo>
                  <a:pt x="11588794" y="6248578"/>
                </a:lnTo>
                <a:lnTo>
                  <a:pt x="11588794" y="6845634"/>
                </a:lnTo>
                <a:lnTo>
                  <a:pt x="12185659" y="6845634"/>
                </a:lnTo>
                <a:lnTo>
                  <a:pt x="12185659" y="6851943"/>
                </a:lnTo>
                <a:lnTo>
                  <a:pt x="12192002" y="6851943"/>
                </a:lnTo>
                <a:lnTo>
                  <a:pt x="12192002" y="6845634"/>
                </a:lnTo>
                <a:lnTo>
                  <a:pt x="12185659" y="6845634"/>
                </a:lnTo>
                <a:lnTo>
                  <a:pt x="12185659" y="6248578"/>
                </a:lnTo>
                <a:lnTo>
                  <a:pt x="12198345" y="6248578"/>
                </a:lnTo>
                <a:lnTo>
                  <a:pt x="12198345" y="6851875"/>
                </a:lnTo>
                <a:lnTo>
                  <a:pt x="12198345" y="6858184"/>
                </a:lnTo>
                <a:lnTo>
                  <a:pt x="12192002" y="6858184"/>
                </a:lnTo>
                <a:lnTo>
                  <a:pt x="11588793" y="6858184"/>
                </a:lnTo>
                <a:lnTo>
                  <a:pt x="11582450" y="6858184"/>
                </a:lnTo>
                <a:lnTo>
                  <a:pt x="10979242" y="6858184"/>
                </a:lnTo>
                <a:lnTo>
                  <a:pt x="10972899" y="6858184"/>
                </a:lnTo>
                <a:lnTo>
                  <a:pt x="10369691" y="6858184"/>
                </a:lnTo>
                <a:lnTo>
                  <a:pt x="10363347" y="6858184"/>
                </a:lnTo>
                <a:lnTo>
                  <a:pt x="9760139" y="6858184"/>
                </a:lnTo>
                <a:lnTo>
                  <a:pt x="9753796" y="6858184"/>
                </a:lnTo>
                <a:lnTo>
                  <a:pt x="9150588" y="6858184"/>
                </a:lnTo>
                <a:lnTo>
                  <a:pt x="9144245" y="6858184"/>
                </a:lnTo>
                <a:lnTo>
                  <a:pt x="8541036" y="6858184"/>
                </a:lnTo>
                <a:lnTo>
                  <a:pt x="8534693" y="6858184"/>
                </a:lnTo>
                <a:lnTo>
                  <a:pt x="7931485" y="6858184"/>
                </a:lnTo>
                <a:lnTo>
                  <a:pt x="7925142" y="6858184"/>
                </a:lnTo>
                <a:lnTo>
                  <a:pt x="7321934" y="6858184"/>
                </a:lnTo>
                <a:lnTo>
                  <a:pt x="7315590" y="6858184"/>
                </a:lnTo>
                <a:lnTo>
                  <a:pt x="6712382" y="6858184"/>
                </a:lnTo>
                <a:lnTo>
                  <a:pt x="6706039" y="6858184"/>
                </a:lnTo>
                <a:lnTo>
                  <a:pt x="6102831" y="6858184"/>
                </a:lnTo>
                <a:lnTo>
                  <a:pt x="6096487" y="6858184"/>
                </a:lnTo>
                <a:lnTo>
                  <a:pt x="5493279" y="6858184"/>
                </a:lnTo>
                <a:lnTo>
                  <a:pt x="5486936" y="6858184"/>
                </a:lnTo>
                <a:lnTo>
                  <a:pt x="4883728" y="6858184"/>
                </a:lnTo>
                <a:lnTo>
                  <a:pt x="4877385" y="6858184"/>
                </a:lnTo>
                <a:lnTo>
                  <a:pt x="4274176" y="6858184"/>
                </a:lnTo>
                <a:lnTo>
                  <a:pt x="4267833" y="6858184"/>
                </a:lnTo>
                <a:lnTo>
                  <a:pt x="3664625" y="6858184"/>
                </a:lnTo>
                <a:lnTo>
                  <a:pt x="3658282" y="6858184"/>
                </a:lnTo>
                <a:lnTo>
                  <a:pt x="3055074" y="6858184"/>
                </a:lnTo>
                <a:lnTo>
                  <a:pt x="3048730" y="6858184"/>
                </a:lnTo>
                <a:lnTo>
                  <a:pt x="2445522" y="6858184"/>
                </a:lnTo>
                <a:lnTo>
                  <a:pt x="2439179" y="6858184"/>
                </a:lnTo>
                <a:lnTo>
                  <a:pt x="2439179" y="6858184"/>
                </a:lnTo>
                <a:lnTo>
                  <a:pt x="1835971" y="6858184"/>
                </a:lnTo>
                <a:lnTo>
                  <a:pt x="1829628" y="6858184"/>
                </a:lnTo>
                <a:lnTo>
                  <a:pt x="1829628" y="6858184"/>
                </a:lnTo>
                <a:lnTo>
                  <a:pt x="1226419" y="6858184"/>
                </a:lnTo>
                <a:lnTo>
                  <a:pt x="1220076" y="6858184"/>
                </a:lnTo>
                <a:lnTo>
                  <a:pt x="1220076" y="6858184"/>
                </a:lnTo>
                <a:lnTo>
                  <a:pt x="616868" y="6858184"/>
                </a:lnTo>
                <a:lnTo>
                  <a:pt x="610525" y="6858184"/>
                </a:lnTo>
                <a:lnTo>
                  <a:pt x="973" y="6858184"/>
                </a:lnTo>
                <a:lnTo>
                  <a:pt x="973" y="6845634"/>
                </a:lnTo>
                <a:lnTo>
                  <a:pt x="604182" y="6845634"/>
                </a:lnTo>
                <a:lnTo>
                  <a:pt x="604182" y="6851943"/>
                </a:lnTo>
                <a:lnTo>
                  <a:pt x="610525" y="6851943"/>
                </a:lnTo>
                <a:lnTo>
                  <a:pt x="610525" y="6845634"/>
                </a:lnTo>
                <a:lnTo>
                  <a:pt x="604182" y="6845634"/>
                </a:lnTo>
                <a:lnTo>
                  <a:pt x="604182" y="6248578"/>
                </a:lnTo>
                <a:lnTo>
                  <a:pt x="616868" y="6248578"/>
                </a:lnTo>
                <a:lnTo>
                  <a:pt x="616868" y="6845634"/>
                </a:lnTo>
                <a:lnTo>
                  <a:pt x="1213733" y="6845634"/>
                </a:lnTo>
                <a:lnTo>
                  <a:pt x="1213733" y="6851943"/>
                </a:lnTo>
                <a:lnTo>
                  <a:pt x="1220076" y="6851943"/>
                </a:lnTo>
                <a:lnTo>
                  <a:pt x="1220076" y="6845634"/>
                </a:lnTo>
                <a:lnTo>
                  <a:pt x="1213733" y="6845634"/>
                </a:lnTo>
                <a:lnTo>
                  <a:pt x="1213733" y="6248578"/>
                </a:lnTo>
                <a:lnTo>
                  <a:pt x="1226419" y="6248578"/>
                </a:lnTo>
                <a:lnTo>
                  <a:pt x="1226419" y="6845634"/>
                </a:lnTo>
                <a:lnTo>
                  <a:pt x="1823284" y="6845634"/>
                </a:lnTo>
                <a:lnTo>
                  <a:pt x="1823284" y="6851943"/>
                </a:lnTo>
                <a:lnTo>
                  <a:pt x="1829627" y="6851943"/>
                </a:lnTo>
                <a:lnTo>
                  <a:pt x="1829627" y="6845634"/>
                </a:lnTo>
                <a:lnTo>
                  <a:pt x="1823284" y="6845634"/>
                </a:lnTo>
                <a:lnTo>
                  <a:pt x="1823284" y="6248578"/>
                </a:lnTo>
                <a:lnTo>
                  <a:pt x="1835971" y="6248578"/>
                </a:lnTo>
                <a:lnTo>
                  <a:pt x="1835971" y="6845634"/>
                </a:lnTo>
                <a:lnTo>
                  <a:pt x="2432836" y="6845634"/>
                </a:lnTo>
                <a:lnTo>
                  <a:pt x="2432836" y="6851943"/>
                </a:lnTo>
                <a:lnTo>
                  <a:pt x="2439179" y="6851943"/>
                </a:lnTo>
                <a:lnTo>
                  <a:pt x="2439179" y="6845634"/>
                </a:lnTo>
                <a:lnTo>
                  <a:pt x="2432836" y="6845634"/>
                </a:lnTo>
                <a:lnTo>
                  <a:pt x="2432836" y="6248578"/>
                </a:lnTo>
                <a:lnTo>
                  <a:pt x="2445522" y="6248578"/>
                </a:lnTo>
                <a:lnTo>
                  <a:pt x="2445522" y="6845634"/>
                </a:lnTo>
                <a:lnTo>
                  <a:pt x="3042387" y="6845634"/>
                </a:lnTo>
                <a:lnTo>
                  <a:pt x="3042387" y="6851943"/>
                </a:lnTo>
                <a:lnTo>
                  <a:pt x="3048730" y="6851943"/>
                </a:lnTo>
                <a:lnTo>
                  <a:pt x="3048730" y="6845634"/>
                </a:lnTo>
                <a:lnTo>
                  <a:pt x="3042387" y="6845634"/>
                </a:lnTo>
                <a:lnTo>
                  <a:pt x="3042387" y="6248578"/>
                </a:lnTo>
                <a:lnTo>
                  <a:pt x="3055073" y="6248578"/>
                </a:lnTo>
                <a:lnTo>
                  <a:pt x="3055073" y="6845634"/>
                </a:lnTo>
                <a:lnTo>
                  <a:pt x="3651938" y="6845634"/>
                </a:lnTo>
                <a:lnTo>
                  <a:pt x="3651938" y="6851943"/>
                </a:lnTo>
                <a:lnTo>
                  <a:pt x="3658281" y="6851943"/>
                </a:lnTo>
                <a:lnTo>
                  <a:pt x="3658281" y="6845634"/>
                </a:lnTo>
                <a:lnTo>
                  <a:pt x="3651938" y="6845634"/>
                </a:lnTo>
                <a:lnTo>
                  <a:pt x="3651938" y="6248578"/>
                </a:lnTo>
                <a:lnTo>
                  <a:pt x="3658281" y="6248578"/>
                </a:lnTo>
                <a:lnTo>
                  <a:pt x="3658281" y="6248578"/>
                </a:lnTo>
                <a:lnTo>
                  <a:pt x="3055073" y="6248578"/>
                </a:lnTo>
                <a:lnTo>
                  <a:pt x="3048730" y="6248578"/>
                </a:lnTo>
                <a:lnTo>
                  <a:pt x="3048730" y="6248578"/>
                </a:lnTo>
                <a:lnTo>
                  <a:pt x="2445522" y="6248578"/>
                </a:lnTo>
                <a:lnTo>
                  <a:pt x="2439179" y="6248578"/>
                </a:lnTo>
                <a:lnTo>
                  <a:pt x="1835970" y="6248578"/>
                </a:lnTo>
                <a:lnTo>
                  <a:pt x="1829627" y="6248578"/>
                </a:lnTo>
                <a:lnTo>
                  <a:pt x="1829627" y="6248578"/>
                </a:lnTo>
                <a:lnTo>
                  <a:pt x="1226419" y="6248578"/>
                </a:lnTo>
                <a:lnTo>
                  <a:pt x="1220076" y="6248578"/>
                </a:lnTo>
                <a:lnTo>
                  <a:pt x="1220076" y="6248578"/>
                </a:lnTo>
                <a:lnTo>
                  <a:pt x="616867" y="6248578"/>
                </a:lnTo>
                <a:lnTo>
                  <a:pt x="610524" y="6248578"/>
                </a:lnTo>
                <a:lnTo>
                  <a:pt x="610524" y="6248578"/>
                </a:lnTo>
                <a:lnTo>
                  <a:pt x="973" y="6248578"/>
                </a:lnTo>
                <a:lnTo>
                  <a:pt x="973" y="6236097"/>
                </a:lnTo>
                <a:lnTo>
                  <a:pt x="604181" y="6236097"/>
                </a:lnTo>
                <a:lnTo>
                  <a:pt x="604181" y="6242338"/>
                </a:lnTo>
                <a:lnTo>
                  <a:pt x="610524" y="6242338"/>
                </a:lnTo>
                <a:lnTo>
                  <a:pt x="610524" y="6236097"/>
                </a:lnTo>
                <a:lnTo>
                  <a:pt x="604181" y="6236097"/>
                </a:lnTo>
                <a:lnTo>
                  <a:pt x="604181" y="5643705"/>
                </a:lnTo>
                <a:lnTo>
                  <a:pt x="610524" y="5643705"/>
                </a:lnTo>
                <a:lnTo>
                  <a:pt x="610524" y="5638973"/>
                </a:lnTo>
                <a:lnTo>
                  <a:pt x="973" y="5638973"/>
                </a:lnTo>
                <a:lnTo>
                  <a:pt x="973" y="5626148"/>
                </a:lnTo>
                <a:lnTo>
                  <a:pt x="604181" y="5626148"/>
                </a:lnTo>
                <a:lnTo>
                  <a:pt x="604181" y="5632595"/>
                </a:lnTo>
                <a:lnTo>
                  <a:pt x="610524" y="5632595"/>
                </a:lnTo>
                <a:lnTo>
                  <a:pt x="610524" y="5629509"/>
                </a:lnTo>
                <a:lnTo>
                  <a:pt x="610524" y="5629509"/>
                </a:lnTo>
                <a:lnTo>
                  <a:pt x="610524" y="5626217"/>
                </a:lnTo>
                <a:lnTo>
                  <a:pt x="604181" y="5626217"/>
                </a:lnTo>
                <a:lnTo>
                  <a:pt x="604181" y="5029436"/>
                </a:lnTo>
                <a:lnTo>
                  <a:pt x="973" y="5029436"/>
                </a:lnTo>
                <a:lnTo>
                  <a:pt x="973" y="5016886"/>
                </a:lnTo>
                <a:lnTo>
                  <a:pt x="604181" y="5016886"/>
                </a:lnTo>
                <a:lnTo>
                  <a:pt x="604181" y="5016748"/>
                </a:lnTo>
                <a:lnTo>
                  <a:pt x="604181" y="5016748"/>
                </a:lnTo>
                <a:lnTo>
                  <a:pt x="604181" y="4419830"/>
                </a:lnTo>
                <a:lnTo>
                  <a:pt x="973" y="4419830"/>
                </a:lnTo>
                <a:lnTo>
                  <a:pt x="973" y="4407280"/>
                </a:lnTo>
                <a:lnTo>
                  <a:pt x="604181" y="4407280"/>
                </a:lnTo>
                <a:lnTo>
                  <a:pt x="604181" y="4413589"/>
                </a:lnTo>
                <a:lnTo>
                  <a:pt x="610524" y="4413589"/>
                </a:lnTo>
                <a:lnTo>
                  <a:pt x="610524" y="4407280"/>
                </a:lnTo>
                <a:lnTo>
                  <a:pt x="604181" y="4407280"/>
                </a:lnTo>
                <a:lnTo>
                  <a:pt x="604181" y="3810224"/>
                </a:lnTo>
                <a:lnTo>
                  <a:pt x="973" y="3810224"/>
                </a:lnTo>
                <a:lnTo>
                  <a:pt x="973" y="3797674"/>
                </a:lnTo>
                <a:lnTo>
                  <a:pt x="604181" y="3797674"/>
                </a:lnTo>
                <a:lnTo>
                  <a:pt x="604181" y="3803983"/>
                </a:lnTo>
                <a:lnTo>
                  <a:pt x="610524" y="3803983"/>
                </a:lnTo>
                <a:lnTo>
                  <a:pt x="610524" y="3797674"/>
                </a:lnTo>
                <a:lnTo>
                  <a:pt x="604181" y="3797674"/>
                </a:lnTo>
                <a:lnTo>
                  <a:pt x="604181" y="3200687"/>
                </a:lnTo>
                <a:lnTo>
                  <a:pt x="973" y="3200687"/>
                </a:lnTo>
                <a:lnTo>
                  <a:pt x="973" y="3187931"/>
                </a:lnTo>
                <a:lnTo>
                  <a:pt x="604181" y="3187931"/>
                </a:lnTo>
                <a:lnTo>
                  <a:pt x="604181" y="3194309"/>
                </a:lnTo>
                <a:lnTo>
                  <a:pt x="610524" y="3194309"/>
                </a:lnTo>
                <a:lnTo>
                  <a:pt x="610524" y="3187931"/>
                </a:lnTo>
                <a:lnTo>
                  <a:pt x="604181" y="3187931"/>
                </a:lnTo>
                <a:lnTo>
                  <a:pt x="604181" y="2591081"/>
                </a:lnTo>
                <a:lnTo>
                  <a:pt x="973" y="2591081"/>
                </a:lnTo>
                <a:lnTo>
                  <a:pt x="973" y="2578531"/>
                </a:lnTo>
                <a:lnTo>
                  <a:pt x="604181" y="2578531"/>
                </a:lnTo>
                <a:lnTo>
                  <a:pt x="604181" y="2581549"/>
                </a:lnTo>
                <a:lnTo>
                  <a:pt x="610524" y="2581549"/>
                </a:lnTo>
                <a:lnTo>
                  <a:pt x="610524" y="2578531"/>
                </a:lnTo>
                <a:lnTo>
                  <a:pt x="604181" y="2578531"/>
                </a:lnTo>
                <a:lnTo>
                  <a:pt x="604181" y="1981476"/>
                </a:lnTo>
                <a:lnTo>
                  <a:pt x="973" y="1981476"/>
                </a:lnTo>
                <a:lnTo>
                  <a:pt x="973" y="1968720"/>
                </a:lnTo>
                <a:lnTo>
                  <a:pt x="604181" y="1968720"/>
                </a:lnTo>
                <a:lnTo>
                  <a:pt x="604181" y="1975098"/>
                </a:lnTo>
                <a:lnTo>
                  <a:pt x="610524" y="1975098"/>
                </a:lnTo>
                <a:lnTo>
                  <a:pt x="610524" y="1968720"/>
                </a:lnTo>
                <a:lnTo>
                  <a:pt x="604181" y="1968720"/>
                </a:lnTo>
                <a:lnTo>
                  <a:pt x="604181" y="1371870"/>
                </a:lnTo>
                <a:lnTo>
                  <a:pt x="973" y="1371870"/>
                </a:lnTo>
                <a:lnTo>
                  <a:pt x="973" y="1356165"/>
                </a:lnTo>
                <a:lnTo>
                  <a:pt x="604181" y="1356165"/>
                </a:lnTo>
                <a:lnTo>
                  <a:pt x="604181" y="1362337"/>
                </a:lnTo>
                <a:lnTo>
                  <a:pt x="610524" y="1362337"/>
                </a:lnTo>
                <a:lnTo>
                  <a:pt x="610524" y="1356165"/>
                </a:lnTo>
                <a:lnTo>
                  <a:pt x="604181" y="1356165"/>
                </a:lnTo>
                <a:lnTo>
                  <a:pt x="604181" y="762264"/>
                </a:lnTo>
                <a:lnTo>
                  <a:pt x="973" y="762264"/>
                </a:lnTo>
                <a:lnTo>
                  <a:pt x="973" y="746560"/>
                </a:lnTo>
                <a:lnTo>
                  <a:pt x="604181" y="746560"/>
                </a:lnTo>
                <a:lnTo>
                  <a:pt x="604181" y="609880"/>
                </a:lnTo>
                <a:lnTo>
                  <a:pt x="604181" y="609880"/>
                </a:lnTo>
                <a:lnTo>
                  <a:pt x="604181" y="275"/>
                </a:lnTo>
                <a:lnTo>
                  <a:pt x="616868" y="275"/>
                </a:lnTo>
                <a:lnTo>
                  <a:pt x="616868" y="746560"/>
                </a:lnTo>
                <a:lnTo>
                  <a:pt x="1213733" y="746560"/>
                </a:lnTo>
                <a:lnTo>
                  <a:pt x="1213733" y="609880"/>
                </a:lnTo>
                <a:lnTo>
                  <a:pt x="1213733" y="609880"/>
                </a:lnTo>
                <a:lnTo>
                  <a:pt x="1213733" y="275"/>
                </a:lnTo>
                <a:lnTo>
                  <a:pt x="1226419" y="275"/>
                </a:lnTo>
                <a:lnTo>
                  <a:pt x="1226419" y="746560"/>
                </a:lnTo>
                <a:lnTo>
                  <a:pt x="1823284" y="746560"/>
                </a:lnTo>
                <a:lnTo>
                  <a:pt x="1823284" y="609880"/>
                </a:lnTo>
                <a:lnTo>
                  <a:pt x="1823284" y="609880"/>
                </a:lnTo>
                <a:lnTo>
                  <a:pt x="1823284" y="275"/>
                </a:lnTo>
                <a:lnTo>
                  <a:pt x="1835970" y="275"/>
                </a:lnTo>
                <a:lnTo>
                  <a:pt x="1835970" y="746560"/>
                </a:lnTo>
                <a:lnTo>
                  <a:pt x="2432835" y="746560"/>
                </a:lnTo>
                <a:lnTo>
                  <a:pt x="2432835" y="609880"/>
                </a:lnTo>
                <a:lnTo>
                  <a:pt x="2432835" y="609880"/>
                </a:lnTo>
                <a:lnTo>
                  <a:pt x="2432835" y="275"/>
                </a:lnTo>
                <a:lnTo>
                  <a:pt x="2445522" y="275"/>
                </a:lnTo>
                <a:lnTo>
                  <a:pt x="2445522" y="746560"/>
                </a:lnTo>
                <a:lnTo>
                  <a:pt x="3042387" y="746560"/>
                </a:lnTo>
                <a:lnTo>
                  <a:pt x="3042387" y="609881"/>
                </a:lnTo>
                <a:lnTo>
                  <a:pt x="3042387" y="609881"/>
                </a:lnTo>
                <a:lnTo>
                  <a:pt x="3042387" y="275"/>
                </a:lnTo>
                <a:lnTo>
                  <a:pt x="3055073" y="275"/>
                </a:lnTo>
                <a:lnTo>
                  <a:pt x="3055073" y="746560"/>
                </a:lnTo>
                <a:lnTo>
                  <a:pt x="3651938" y="746560"/>
                </a:lnTo>
                <a:lnTo>
                  <a:pt x="3651938" y="609881"/>
                </a:lnTo>
                <a:lnTo>
                  <a:pt x="3651938" y="609881"/>
                </a:lnTo>
                <a:lnTo>
                  <a:pt x="3651938" y="275"/>
                </a:lnTo>
                <a:lnTo>
                  <a:pt x="3664624" y="275"/>
                </a:lnTo>
                <a:lnTo>
                  <a:pt x="3664624" y="746560"/>
                </a:lnTo>
                <a:lnTo>
                  <a:pt x="4261489" y="746560"/>
                </a:lnTo>
                <a:lnTo>
                  <a:pt x="4261489" y="609881"/>
                </a:lnTo>
                <a:lnTo>
                  <a:pt x="4261489" y="609881"/>
                </a:lnTo>
                <a:lnTo>
                  <a:pt x="4261489" y="275"/>
                </a:lnTo>
                <a:lnTo>
                  <a:pt x="4274176" y="275"/>
                </a:lnTo>
                <a:lnTo>
                  <a:pt x="4274176" y="746560"/>
                </a:lnTo>
                <a:lnTo>
                  <a:pt x="4871041" y="746560"/>
                </a:lnTo>
                <a:lnTo>
                  <a:pt x="4871041" y="609881"/>
                </a:lnTo>
                <a:lnTo>
                  <a:pt x="4871041" y="275"/>
                </a:lnTo>
                <a:lnTo>
                  <a:pt x="4883727" y="275"/>
                </a:lnTo>
                <a:lnTo>
                  <a:pt x="4883727" y="746560"/>
                </a:lnTo>
                <a:lnTo>
                  <a:pt x="5480592" y="746560"/>
                </a:lnTo>
                <a:lnTo>
                  <a:pt x="5480592" y="609881"/>
                </a:lnTo>
                <a:lnTo>
                  <a:pt x="5480592" y="609881"/>
                </a:lnTo>
                <a:lnTo>
                  <a:pt x="5480592" y="275"/>
                </a:lnTo>
                <a:lnTo>
                  <a:pt x="5493278" y="275"/>
                </a:lnTo>
                <a:lnTo>
                  <a:pt x="5493278" y="746560"/>
                </a:lnTo>
                <a:lnTo>
                  <a:pt x="6090143" y="746560"/>
                </a:lnTo>
                <a:lnTo>
                  <a:pt x="6090143" y="609881"/>
                </a:lnTo>
                <a:lnTo>
                  <a:pt x="6090143" y="275"/>
                </a:lnTo>
                <a:lnTo>
                  <a:pt x="6102830" y="275"/>
                </a:lnTo>
                <a:lnTo>
                  <a:pt x="6102830" y="609881"/>
                </a:lnTo>
                <a:lnTo>
                  <a:pt x="6102830" y="746560"/>
                </a:lnTo>
                <a:lnTo>
                  <a:pt x="6699695" y="746560"/>
                </a:lnTo>
                <a:lnTo>
                  <a:pt x="6699695" y="609881"/>
                </a:lnTo>
                <a:lnTo>
                  <a:pt x="6699695" y="275"/>
                </a:lnTo>
                <a:lnTo>
                  <a:pt x="6712381" y="275"/>
                </a:lnTo>
                <a:lnTo>
                  <a:pt x="6712381" y="609881"/>
                </a:lnTo>
                <a:lnTo>
                  <a:pt x="6712381" y="746560"/>
                </a:lnTo>
                <a:lnTo>
                  <a:pt x="7309246" y="746560"/>
                </a:lnTo>
                <a:lnTo>
                  <a:pt x="7309246" y="609881"/>
                </a:lnTo>
                <a:lnTo>
                  <a:pt x="7309246" y="275"/>
                </a:lnTo>
                <a:lnTo>
                  <a:pt x="7321932" y="275"/>
                </a:lnTo>
                <a:lnTo>
                  <a:pt x="7321932" y="609881"/>
                </a:lnTo>
                <a:lnTo>
                  <a:pt x="7321932" y="746560"/>
                </a:lnTo>
                <a:lnTo>
                  <a:pt x="7918797" y="746560"/>
                </a:lnTo>
                <a:lnTo>
                  <a:pt x="7918797" y="609881"/>
                </a:lnTo>
                <a:lnTo>
                  <a:pt x="7918797" y="275"/>
                </a:lnTo>
                <a:lnTo>
                  <a:pt x="7931484" y="275"/>
                </a:lnTo>
                <a:lnTo>
                  <a:pt x="7931484" y="609881"/>
                </a:lnTo>
                <a:lnTo>
                  <a:pt x="7931484" y="746560"/>
                </a:lnTo>
                <a:lnTo>
                  <a:pt x="8528349" y="746560"/>
                </a:lnTo>
                <a:lnTo>
                  <a:pt x="8528349" y="609881"/>
                </a:lnTo>
                <a:lnTo>
                  <a:pt x="8528349" y="275"/>
                </a:lnTo>
                <a:lnTo>
                  <a:pt x="8541035" y="275"/>
                </a:lnTo>
                <a:lnTo>
                  <a:pt x="8541035" y="609881"/>
                </a:lnTo>
                <a:lnTo>
                  <a:pt x="8541035" y="746560"/>
                </a:lnTo>
                <a:lnTo>
                  <a:pt x="9137900" y="746560"/>
                </a:lnTo>
                <a:lnTo>
                  <a:pt x="9137900" y="609881"/>
                </a:lnTo>
                <a:lnTo>
                  <a:pt x="9137900" y="275"/>
                </a:lnTo>
                <a:lnTo>
                  <a:pt x="9150586" y="275"/>
                </a:lnTo>
                <a:lnTo>
                  <a:pt x="9150586" y="609881"/>
                </a:lnTo>
                <a:lnTo>
                  <a:pt x="9150586" y="746560"/>
                </a:lnTo>
                <a:lnTo>
                  <a:pt x="9747451" y="746560"/>
                </a:lnTo>
                <a:lnTo>
                  <a:pt x="9747451" y="609881"/>
                </a:lnTo>
                <a:lnTo>
                  <a:pt x="9747451" y="275"/>
                </a:lnTo>
                <a:lnTo>
                  <a:pt x="9760137" y="275"/>
                </a:lnTo>
                <a:lnTo>
                  <a:pt x="9760137" y="609881"/>
                </a:lnTo>
                <a:lnTo>
                  <a:pt x="9760137" y="746560"/>
                </a:lnTo>
                <a:lnTo>
                  <a:pt x="10357003" y="746560"/>
                </a:lnTo>
                <a:lnTo>
                  <a:pt x="10357003" y="609881"/>
                </a:lnTo>
                <a:lnTo>
                  <a:pt x="10357003" y="275"/>
                </a:lnTo>
                <a:lnTo>
                  <a:pt x="10369689" y="275"/>
                </a:lnTo>
                <a:lnTo>
                  <a:pt x="10369689" y="609881"/>
                </a:lnTo>
                <a:lnTo>
                  <a:pt x="10369689" y="746560"/>
                </a:lnTo>
                <a:lnTo>
                  <a:pt x="10966554" y="746560"/>
                </a:lnTo>
                <a:lnTo>
                  <a:pt x="10966554" y="609881"/>
                </a:lnTo>
                <a:lnTo>
                  <a:pt x="10966554" y="275"/>
                </a:lnTo>
                <a:lnTo>
                  <a:pt x="10979240" y="275"/>
                </a:lnTo>
                <a:lnTo>
                  <a:pt x="10979240" y="609881"/>
                </a:lnTo>
                <a:lnTo>
                  <a:pt x="10979240" y="746560"/>
                </a:lnTo>
                <a:lnTo>
                  <a:pt x="11576105" y="746560"/>
                </a:lnTo>
                <a:lnTo>
                  <a:pt x="11576105" y="609881"/>
                </a:lnTo>
                <a:lnTo>
                  <a:pt x="11576105" y="275"/>
                </a:lnTo>
                <a:lnTo>
                  <a:pt x="11588791" y="275"/>
                </a:lnTo>
                <a:lnTo>
                  <a:pt x="11588791" y="609881"/>
                </a:lnTo>
                <a:lnTo>
                  <a:pt x="11588791" y="746560"/>
                </a:lnTo>
                <a:lnTo>
                  <a:pt x="12185657" y="746560"/>
                </a:lnTo>
                <a:lnTo>
                  <a:pt x="12185657" y="609881"/>
                </a:lnTo>
                <a:lnTo>
                  <a:pt x="12185660" y="0"/>
                </a:lnTo>
              </a:path>
            </a:pathLst>
          </a:custGeom>
          <a:gradFill>
            <a:gsLst>
              <a:gs pos="0">
                <a:srgbClr val="000000">
                  <a:alpha val="50230"/>
                </a:srgbClr>
              </a:gs>
              <a:gs pos="55000">
                <a:srgbClr val="0D3B4F">
                  <a:alpha val="74860"/>
                </a:srgbClr>
              </a:gs>
              <a:gs pos="100000">
                <a:srgbClr val="000000">
                  <a:alpha val="100000"/>
                </a:srgbClr>
              </a:gs>
            </a:gsLst>
            <a:lin ang="18900000"/>
          </a:gradFill>
          <a:ln/>
        </p:spPr>
        <p:txBody>
          <a:bodyPr wrap="square" lIns="0" tIns="0" rIns="0" bIns="0" rtlCol="0" anchor="ctr"/>
          <a:lstStyle/>
          <a:p>
            <a:pPr indent="0" marL="0">
              <a:buNone/>
            </a:pPr>
            <a:endParaRPr lang="en-US" dirty="0"/>
          </a:p>
        </p:txBody>
      </p:sp>
      <p:sp>
        <p:nvSpPr>
          <p:cNvPr id="4" name="Text 2"/>
          <p:cNvSpPr/>
          <p:nvPr/>
        </p:nvSpPr>
        <p:spPr>
          <a:xfrm>
            <a:off x="8534400" y="-1"/>
            <a:ext cx="3657600" cy="6857553"/>
          </a:xfrm>
          <a:prstGeom prst="rect">
            <a:avLst/>
          </a:prstGeom>
          <a:solidFill>
            <a:srgbClr val="000000">
              <a:alpha val="50000"/>
            </a:srgbClr>
          </a:solidFill>
          <a:ln w="6346">
            <a:solidFill>
              <a:srgbClr val="FFFFFF">
                <a:alpha val="20000"/>
              </a:srgbClr>
            </a:solidFill>
          </a:ln>
        </p:spPr>
        <p:txBody>
          <a:bodyPr wrap="square" lIns="0" tIns="0" rIns="0" bIns="0" rtlCol="0" anchor="ctr"/>
          <a:lstStyle/>
          <a:p>
            <a:pPr indent="0" marL="0">
              <a:buNone/>
            </a:pPr>
            <a:endParaRPr lang="en-US" dirty="0"/>
          </a:p>
        </p:txBody>
      </p:sp>
      <p:sp>
        <p:nvSpPr>
          <p:cNvPr id="5" name="Text 3"/>
          <p:cNvSpPr/>
          <p:nvPr/>
        </p:nvSpPr>
        <p:spPr>
          <a:xfrm>
            <a:off x="505464" y="6495651"/>
            <a:ext cx="6207291" cy="182880"/>
          </a:xfrm>
          <a:prstGeom prst="rect">
            <a:avLst/>
          </a:prstGeom>
          <a:noFill/>
          <a:ln/>
        </p:spPr>
        <p:txBody>
          <a:bodyPr wrap="square" lIns="0" tIns="0" rIns="0" bIns="0" rtlCol="0" anchor="ctr"/>
          <a:lstStyle/>
          <a:p>
            <a:pPr algn="l" marL="0" indent="0">
              <a:lnSpc>
                <a:spcPct val="90000"/>
              </a:lnSpc>
              <a:spcBef>
                <a:spcPts val="1000"/>
              </a:spcBef>
              <a:buNone/>
            </a:pPr>
            <a:r>
              <a:rPr lang="en-US" sz="800" dirty="0">
                <a:solidFill>
                  <a:srgbClr val="A6A6A6"/>
                </a:solidFill>
                <a:latin typeface="Figtree Regular" pitchFamily="34" charset="0"/>
                <a:ea typeface="Figtree Regular" pitchFamily="34" charset="-122"/>
                <a:cs typeface="Figtree Regular" pitchFamily="34" charset="-120"/>
              </a:rPr>
              <a:t>Harnessing AI and Human Expertise: Advancing Cybersecurity in an Evolving Digital Landscape</a:t>
            </a:r>
            <a:endParaRPr lang="en-US" sz="800" dirty="0"/>
          </a:p>
        </p:txBody>
      </p:sp>
      <p:sp>
        <p:nvSpPr>
          <p:cNvPr id="6" name="Text 4"/>
          <p:cNvSpPr/>
          <p:nvPr/>
        </p:nvSpPr>
        <p:spPr>
          <a:xfrm>
            <a:off x="507996" y="1713796"/>
            <a:ext cx="7481459" cy="4305530"/>
          </a:xfrm>
          <a:custGeom>
            <a:avLst/>
            <a:gdLst/>
            <a:ahLst/>
            <a:cxnLst/>
            <a:rect l="l" t="t" r="r" b="b"/>
            <a:pathLst>
              <a:path w="7481459" h="4305530">
                <a:moveTo>
                  <a:pt x="204393" y="4305530"/>
                </a:moveTo>
                <a:cubicBezTo>
                  <a:pt x="91498" y="4305530"/>
                  <a:pt x="0" y="4214038"/>
                  <a:pt x="0" y="4101146"/>
                </a:cubicBezTo>
                <a:lnTo>
                  <a:pt x="0" y="204384"/>
                </a:lnTo>
                <a:cubicBezTo>
                  <a:pt x="0" y="91493"/>
                  <a:pt x="91498" y="0"/>
                  <a:pt x="204393" y="0"/>
                </a:cubicBezTo>
                <a:lnTo>
                  <a:pt x="7277066" y="0"/>
                </a:lnTo>
                <a:cubicBezTo>
                  <a:pt x="7389961" y="0"/>
                  <a:pt x="7481459" y="91492"/>
                  <a:pt x="7481459" y="204384"/>
                </a:cubicBezTo>
                <a:lnTo>
                  <a:pt x="7481459" y="4101146"/>
                </a:lnTo>
                <a:cubicBezTo>
                  <a:pt x="7481459" y="4214037"/>
                  <a:pt x="7389961" y="4305530"/>
                  <a:pt x="7277066" y="4305530"/>
                </a:cubicBezTo>
                <a:lnTo>
                  <a:pt x="204393" y="4305530"/>
                </a:lnTo>
              </a:path>
            </a:pathLst>
          </a:custGeom>
          <a:solidFill>
            <a:srgbClr val="0B3041"/>
          </a:solidFill>
          <a:ln/>
        </p:spPr>
        <p:txBody>
          <a:bodyPr wrap="square" lIns="0" tIns="0" rIns="0" bIns="0" rtlCol="0" anchor="ctr"/>
          <a:lstStyle/>
          <a:p>
            <a:pPr indent="0" marL="0">
              <a:buNone/>
            </a:pPr>
            <a:endParaRPr lang="en-US" dirty="0"/>
          </a:p>
        </p:txBody>
      </p:sp>
      <p:sp>
        <p:nvSpPr>
          <p:cNvPr id="7" name="Text 5"/>
          <p:cNvSpPr/>
          <p:nvPr/>
        </p:nvSpPr>
        <p:spPr>
          <a:xfrm>
            <a:off x="901874" y="2715637"/>
            <a:ext cx="6637362" cy="2932924"/>
          </a:xfrm>
          <a:prstGeom prst="rect">
            <a:avLst/>
          </a:prstGeom>
          <a:noFill/>
          <a:ln/>
        </p:spPr>
        <p:txBody>
          <a:bodyPr wrap="square" lIns="0" tIns="0" rIns="0" bIns="0" rtlCol="0" anchor="t"/>
          <a:lstStyle/>
          <a:p>
            <a:pPr algn="l" marL="0" indent="0">
              <a:lnSpc>
                <a:spcPct val="100000"/>
              </a:lnSpc>
              <a:spcBef>
                <a:spcPts val="1199"/>
              </a:spcBef>
              <a:buNone/>
            </a:pPr>
            <a:r>
              <a:rPr lang="en-US" sz="1679" dirty="0">
                <a:solidFill>
                  <a:srgbClr val="FFFFFF"/>
                </a:solidFill>
                <a:latin typeface="Figtree Regular" pitchFamily="34" charset="0"/>
                <a:ea typeface="Figtree Regular" pitchFamily="34" charset="-122"/>
                <a:cs typeface="Figtree Regular" pitchFamily="34" charset="-120"/>
              </a:rPr>
              <a:t>Human Interpretation Phase</a:t>
            </a:r>
            <a:endParaRPr lang="en-US" sz="1679" dirty="0"/>
          </a:p>
          <a:p>
            <a:pPr algn="l" marL="142875" indent="0">
              <a:lnSpc>
                <a:spcPct val="100000"/>
              </a:lnSpc>
              <a:spcBef>
                <a:spcPts val="1199"/>
              </a:spcBef>
              <a:buNone/>
            </a:pPr>
            <a:r>
              <a:rPr lang="en-US" sz="1427" dirty="0">
                <a:solidFill>
                  <a:srgbClr val="FFFFFF"/>
                </a:solidFill>
                <a:latin typeface="Figtree Regular" pitchFamily="34" charset="0"/>
                <a:ea typeface="Figtree Regular" pitchFamily="34" charset="-122"/>
                <a:cs typeface="Figtree Regular" pitchFamily="34" charset="-120"/>
              </a:rPr>
              <a:t>After AI assembles the evidence, human analysts take on the critical role of interpretation. They analyze what the attack pattern reveals about the adversary's capability and intent, considering why specific systems or data were targeted. Analysts apply investigative intuition and organizational context to understand what defenses failed and what stealth tactics the attacker might have used. This phase involves strategic questioning that AI cannot perform, such as evaluating the sufficiency of evidence, deciding on further investigation, assessing confidence in threat attribution, determining appropriate remediation actions, and deciding who to inform within the organization or externally. Human insight transforms raw AI data into meaningful understanding necessary for effective response and risk management.</a:t>
            </a:r>
            <a:endParaRPr lang="en-US" sz="1679" dirty="0"/>
          </a:p>
        </p:txBody>
      </p:sp>
      <p:sp>
        <p:nvSpPr>
          <p:cNvPr id="8" name="Text 6"/>
          <p:cNvSpPr/>
          <p:nvPr/>
        </p:nvSpPr>
        <p:spPr>
          <a:xfrm>
            <a:off x="811875" y="1999430"/>
            <a:ext cx="457200" cy="457077"/>
          </a:xfrm>
          <a:custGeom>
            <a:avLst/>
            <a:gdLst/>
            <a:ahLst/>
            <a:cxnLst/>
            <a:rect l="l" t="t" r="r" b="b"/>
            <a:pathLst>
              <a:path w="457200" h="457077">
                <a:moveTo>
                  <a:pt x="328580" y="185720"/>
                </a:moveTo>
                <a:cubicBezTo>
                  <a:pt x="328580" y="106819"/>
                  <a:pt x="264618" y="42860"/>
                  <a:pt x="185719" y="42860"/>
                </a:cubicBezTo>
                <a:cubicBezTo>
                  <a:pt x="106820" y="42860"/>
                  <a:pt x="42858" y="106819"/>
                  <a:pt x="42858" y="185720"/>
                </a:cubicBezTo>
                <a:cubicBezTo>
                  <a:pt x="42858" y="264620"/>
                  <a:pt x="106820" y="328579"/>
                  <a:pt x="185719" y="328579"/>
                </a:cubicBezTo>
                <a:cubicBezTo>
                  <a:pt x="264618" y="328579"/>
                  <a:pt x="328580" y="264620"/>
                  <a:pt x="328580" y="185720"/>
                </a:cubicBezTo>
                <a:moveTo>
                  <a:pt x="300988" y="331349"/>
                </a:moveTo>
                <a:cubicBezTo>
                  <a:pt x="269382" y="356438"/>
                  <a:pt x="229290" y="371439"/>
                  <a:pt x="185719" y="371439"/>
                </a:cubicBezTo>
                <a:cubicBezTo>
                  <a:pt x="83128" y="371439"/>
                  <a:pt x="0" y="288311"/>
                  <a:pt x="0" y="185720"/>
                </a:cubicBezTo>
                <a:cubicBezTo>
                  <a:pt x="0" y="83129"/>
                  <a:pt x="83128" y="0"/>
                  <a:pt x="185719" y="0"/>
                </a:cubicBezTo>
                <a:cubicBezTo>
                  <a:pt x="288310" y="0"/>
                  <a:pt x="371438" y="83129"/>
                  <a:pt x="371438" y="185720"/>
                </a:cubicBezTo>
                <a:cubicBezTo>
                  <a:pt x="371438" y="229293"/>
                  <a:pt x="356438" y="269383"/>
                  <a:pt x="331347" y="300990"/>
                </a:cubicBezTo>
                <a:lnTo>
                  <a:pt x="450904" y="420548"/>
                </a:lnTo>
                <a:cubicBezTo>
                  <a:pt x="459299" y="428940"/>
                  <a:pt x="459299" y="442515"/>
                  <a:pt x="450904" y="450815"/>
                </a:cubicBezTo>
                <a:cubicBezTo>
                  <a:pt x="442510" y="459121"/>
                  <a:pt x="428940" y="459207"/>
                  <a:pt x="420638" y="450815"/>
                </a:cubicBezTo>
                <a:lnTo>
                  <a:pt x="300988" y="331349"/>
                </a:lnTo>
              </a:path>
            </a:pathLst>
          </a:custGeom>
          <a:solidFill>
            <a:srgbClr val="FFFFFF"/>
          </a:solidFill>
          <a:ln/>
        </p:spPr>
        <p:txBody>
          <a:bodyPr wrap="square" lIns="0" tIns="0" rIns="0" bIns="0" rtlCol="0" anchor="ctr"/>
          <a:lstStyle/>
          <a:p>
            <a:pPr indent="0" marL="0">
              <a:buNone/>
            </a:pPr>
            <a:endParaRPr lang="en-US" dirty="0"/>
          </a:p>
        </p:txBody>
      </p:sp>
      <p:sp>
        <p:nvSpPr>
          <p:cNvPr id="9" name="Text 7"/>
          <p:cNvSpPr/>
          <p:nvPr/>
        </p:nvSpPr>
        <p:spPr>
          <a:xfrm>
            <a:off x="0" y="0"/>
            <a:ext cx="12191937" cy="1384120"/>
          </a:xfrm>
          <a:prstGeom prst="rect">
            <a:avLst/>
          </a:prstGeom>
          <a:solidFill>
            <a:srgbClr val="000000"/>
          </a:solidFill>
          <a:ln/>
        </p:spPr>
        <p:txBody>
          <a:bodyPr wrap="square" lIns="0" tIns="0" rIns="0" bIns="0" rtlCol="0" anchor="ctr"/>
          <a:lstStyle/>
          <a:p>
            <a:pPr indent="0" marL="0">
              <a:buNone/>
            </a:pPr>
            <a:endParaRPr lang="en-US" dirty="0"/>
          </a:p>
        </p:txBody>
      </p:sp>
      <p:sp>
        <p:nvSpPr>
          <p:cNvPr id="10" name="Text 8"/>
          <p:cNvSpPr/>
          <p:nvPr/>
        </p:nvSpPr>
        <p:spPr>
          <a:xfrm>
            <a:off x="-1" y="447"/>
            <a:ext cx="12191937" cy="1384120"/>
          </a:xfrm>
          <a:prstGeom prst="rect">
            <a:avLst/>
          </a:prstGeom>
          <a:solidFill>
            <a:srgbClr val="0B3041">
              <a:alpha val="40000"/>
            </a:srgbClr>
          </a:solidFill>
          <a:ln/>
        </p:spPr>
        <p:txBody>
          <a:bodyPr wrap="square" lIns="0" tIns="0" rIns="0" bIns="0" rtlCol="0" anchor="ctr"/>
          <a:lstStyle/>
          <a:p>
            <a:pPr indent="0" marL="0">
              <a:buNone/>
            </a:pPr>
            <a:endParaRPr lang="en-US" dirty="0"/>
          </a:p>
        </p:txBody>
      </p:sp>
      <p:sp>
        <p:nvSpPr>
          <p:cNvPr id="11" name="Text 9"/>
          <p:cNvSpPr/>
          <p:nvPr>
            <p:ph type="title"/>
          </p:nvPr>
        </p:nvSpPr>
        <p:spPr>
          <a:xfrm>
            <a:off x="505463" y="289560"/>
            <a:ext cx="7483992" cy="877824"/>
          </a:xfrm>
          <a:prstGeom prst="rect">
            <a:avLst/>
          </a:prstGeom>
          <a:noFill/>
          <a:ln/>
        </p:spPr>
        <p:txBody>
          <a:bodyPr wrap="square" lIns="0" tIns="0" rIns="0" bIns="0" rtlCol="0" anchor="t"/>
          <a:lstStyle/>
          <a:p>
            <a:pPr algn="l" marL="0" indent="0">
              <a:lnSpc>
                <a:spcPct val="90000"/>
              </a:lnSpc>
              <a:spcBef>
                <a:spcPts val="1000"/>
              </a:spcBef>
              <a:buNone/>
            </a:pPr>
            <a:r>
              <a:rPr lang="en-US" sz="2800" dirty="0">
                <a:solidFill>
                  <a:srgbClr val="FFFFFF"/>
                </a:solidFill>
                <a:latin typeface="Figtree Regular" pitchFamily="34" charset="0"/>
                <a:ea typeface="Figtree Regular" pitchFamily="34" charset="-122"/>
                <a:cs typeface="Figtree Regular" pitchFamily="34" charset="-120"/>
              </a:rPr>
              <a:t>The Detective Lens: Human Interpretation Phase</a:t>
            </a:r>
            <a:endParaRPr lang="en-US" sz="2800" dirty="0"/>
          </a:p>
        </p:txBody>
      </p:sp>
      <p:sp>
        <p:nvSpPr>
          <p:cNvPr id="12" name="Text 10"/>
          <p:cNvSpPr/>
          <p:nvPr/>
        </p:nvSpPr>
        <p:spPr>
          <a:xfrm>
            <a:off x="10772135" y="6129891"/>
            <a:ext cx="914400" cy="548640"/>
          </a:xfrm>
          <a:prstGeom prst="rect">
            <a:avLst/>
          </a:prstGeom>
          <a:noFill/>
          <a:ln/>
        </p:spPr>
        <p:txBody>
          <a:bodyPr wrap="square" lIns="0" tIns="0" rIns="0" bIns="0" rtlCol="0" anchor="ctr"/>
          <a:lstStyle/>
          <a:p>
            <a:pPr indent="0" marL="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22D335FCCC4C4BB928D417B8BF84D4" ma:contentTypeVersion="24" ma:contentTypeDescription="Create a new document." ma:contentTypeScope="" ma:versionID="a7f1f5007c6c53ad583af594c9d696d7">
  <xsd:schema xmlns:xsd="http://www.w3.org/2001/XMLSchema" xmlns:xs="http://www.w3.org/2001/XMLSchema" xmlns:p="http://schemas.microsoft.com/office/2006/metadata/properties" xmlns:ns1="http://schemas.microsoft.com/sharepoint/v3" xmlns:ns2="e91edc37-9a59-494a-bb7c-e2689ba07361" xmlns:ns3="f368a68e-44f2-47c0-8dfd-1123d85a2df9" targetNamespace="http://schemas.microsoft.com/office/2006/metadata/properties" ma:root="true" ma:fieldsID="18f7944d9b0d3a729b58adb5a1be051f" ns1:_="" ns2:_="" ns3:_="">
    <xsd:import namespace="http://schemas.microsoft.com/sharepoint/v3"/>
    <xsd:import namespace="e91edc37-9a59-494a-bb7c-e2689ba07361"/>
    <xsd:import namespace="f368a68e-44f2-47c0-8dfd-1123d85a2df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1:_ip_UnifiedCompliancePolicyProperties" minOccurs="0"/>
                <xsd:element ref="ns1:_ip_UnifiedCompliancePolicyUIAction"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element ref="ns2:MediaServiceBillingMetadata" minOccurs="0"/>
                <xsd:element ref="ns2:Pagenumber" minOccurs="0"/>
                <xsd:element ref="ns2:LogImag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1edc37-9a59-494a-bb7c-e2689ba073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87414def-154c-4d25-b3bb-ada8546948f6" ma:termSetId="09814cd3-568e-fe90-9814-8d621ff8fb84" ma:anchorId="fba54fb3-c3e1-fe81-a776-ca4b69148c4d" ma:open="true" ma:isKeyword="false">
      <xsd:complexType>
        <xsd:sequence>
          <xsd:element ref="pc:Terms" minOccurs="0" maxOccurs="1"/>
        </xsd:sequence>
      </xsd:complexType>
    </xsd:element>
    <xsd:element name="_Flow_SignoffStatus" ma:index="26" nillable="true" ma:displayName="Sign-off status" ma:internalName="Sign_x002d_off_x0020_status">
      <xsd:simpleType>
        <xsd:restriction base="dms:Text"/>
      </xsd:simple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element name="Pagenumber" ma:index="30" nillable="true" ma:displayName="Page number" ma:format="Dropdown" ma:internalName="Pagenumber" ma:percentage="FALSE">
      <xsd:simpleType>
        <xsd:restriction base="dms:Number"/>
      </xsd:simpleType>
    </xsd:element>
    <xsd:element name="LogImages" ma:index="31" nillable="true" ma:displayName="Log Images" ma:format="Dropdown" ma:internalName="LogImag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68a68e-44f2-47c0-8dfd-1123d85a2df9"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422a70d-5799-49d6-8809-6e12b08b72ba}" ma:internalName="TaxCatchAll" ma:showField="CatchAllData" ma:web="f368a68e-44f2-47c0-8dfd-1123d85a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91edc37-9a59-494a-bb7c-e2689ba07361">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TaxCatchAll xmlns="f368a68e-44f2-47c0-8dfd-1123d85a2df9" xsi:nil="true"/>
    <LogImages xmlns="e91edc37-9a59-494a-bb7c-e2689ba07361" xsi:nil="true"/>
    <_Flow_SignoffStatus xmlns="e91edc37-9a59-494a-bb7c-e2689ba07361" xsi:nil="true"/>
    <Pagenumber xmlns="e91edc37-9a59-494a-bb7c-e2689ba07361" xsi:nil="true"/>
  </documentManagement>
</p:properties>
</file>

<file path=customXml/itemProps1.xml><?xml version="1.0" encoding="utf-8"?>
<ds:datastoreItem xmlns:ds="http://schemas.openxmlformats.org/officeDocument/2006/customXml" ds:itemID="{97CD6522-1B25-4856-A221-7A897B478DAA}"/>
</file>

<file path=customXml/itemProps2.xml><?xml version="1.0" encoding="utf-8"?>
<ds:datastoreItem xmlns:ds="http://schemas.openxmlformats.org/officeDocument/2006/customXml" ds:itemID="{702C0E3B-874B-42DE-9D9C-3CCE6048A110}"/>
</file>

<file path=customXml/itemProps3.xml><?xml version="1.0" encoding="utf-8"?>
<ds:datastoreItem xmlns:ds="http://schemas.openxmlformats.org/officeDocument/2006/customXml" ds:itemID="{A9A72177-B125-4386-A8B3-5DFF8837B160}"/>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SlideSpeak</dc:creator>
  <cp:lastModifiedBy>SlideSpeak</cp:lastModifiedBy>
  <cp:revision>1</cp:revision>
  <dcterms:created xsi:type="dcterms:W3CDTF">2026-03-05T21:35:30Z</dcterms:created>
  <dcterms:modified xsi:type="dcterms:W3CDTF">2026-03-05T21:35:30Z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0x0101002322D335FCCC4C4BB928D417B8BF84D4</vt:lpwstr>
  </property>
</Properties>
</file>